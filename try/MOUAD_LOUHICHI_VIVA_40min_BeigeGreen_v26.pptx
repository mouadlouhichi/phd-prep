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a:t>
            </a:r>
          </a:p>
          <a:p/>
          <a:p>
            <a:r>
              <a:t>My name is Mouad Louhichi, and the thesis I am defending, supervised by Professor Mohamed Lazaar, is entitled Cooperative Game Theory for Explainable AI in Recommendation Systems, A Shapley Framework for Actionable Insight.</a:t>
            </a:r>
          </a:p>
          <a:p/>
          <a:p>
            <a:r>
              <a:t>The idea to keep in mind: Shapley attribution is not only a post-hoc explanation method. In this thesis it becomes a unified framework that explains black-box models, stays consistent across levels of detail, and guides how recommendation systems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36 minutes.</a:t>
            </a:r>
          </a:p>
          <a:p/>
          <a:p>
            <a:r>
              <a:t>I will start with the motivation behind this research and introduce the concept of actionable insight, which is the central idea of this thesis.</a:t>
            </a:r>
          </a:p>
          <a:p/>
          <a:p>
            <a:r>
              <a:t>Then, I will present the research context, the limitations of existing approaches, and the research questions that motivated this work.</a:t>
            </a:r>
          </a:p>
          <a:p/>
          <a:p>
            <a:r>
              <a:t>After that, I will describe the common experimental protocol before presenting the three contributions.</a:t>
            </a:r>
          </a:p>
          <a:p/>
          <a:p>
            <a:r>
              <a:t>Each contribution follows the same structure: the research gap, the objectives, the methodology, the evaluation protocol, the results, and the main findings.</a:t>
            </a:r>
          </a:p>
          <a:p/>
          <a:p>
            <a:r>
              <a:t>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Today, black-box AI systems shape what billions of people see, buy and watch every day. Recommenders already influence news, study, health and credit decisions, so an unexplained ranking is a governance problem, not only a technical one.</a:t>
            </a:r>
          </a:p>
          <a:p/>
          <a:p>
            <a:r>
              <a:t>But these state-of-the-art systems stay black boxes for users and designers. Deep and graph models hide their logic and are hard to audit, and regulation now pushes back: under the EU AI Act, high-risk systems must be transparent enough to be interpreted, and an affected person can ask for an explanation of a decision.</a:t>
            </a:r>
          </a:p>
          <a:p/>
          <a:p>
            <a:r>
              <a:t>So the real question is how to build transparency into the model, instead of adding it afterwards. What we want is insight that is accountable, auditable and actionable, not just accurate.</a:t>
            </a:r>
          </a:p>
          <a:p/>
          <a:p>
            <a:r>
              <a:t>That is the core tension you see on this slide: as models gain power, they lose the transparency needed for trustworthy use.</a:t>
            </a:r>
          </a:p>
          <a:p/>
          <a:p>
            <a:r>
              <a:t>This thesis treats accuracy and interpretability as two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by looking at the evolution of recommendation systems.</a:t>
            </a:r>
          </a:p>
          <a:p/>
          <a:p>
            <a:r>
              <a:t>Early similarity-based approaches were easier to explain because they relied on visible features.</a:t>
            </a:r>
          </a:p>
          <a:p/>
          <a:p>
            <a:r>
              <a:t>Then matrix factorization improved accuracy and scalability, but introduced latent factors whose meanings were hidden.</a:t>
            </a:r>
          </a:p>
          <a:p/>
          <a:p>
            <a:r>
              <a:t>Later, neural and graph-based approaches increased modelling power through hidden representations and message passing.</a:t>
            </a:r>
          </a:p>
          <a:p/>
          <a:p>
            <a:r>
              <a:t>Finally, hypergraph models introduced richer relationships between users, items and contexts.</a:t>
            </a:r>
          </a:p>
          <a:p/>
          <a:p>
            <a:r>
              <a:t>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thesis is three contributions that build on each other.</a:t>
            </a:r>
          </a:p>
          <a:p/>
          <a:p>
            <a:r>
              <a:t>C1 explains a black-box partition: the features are the players, the Silhouette of the clustering is the value function, and a LightGBM surrogate with TreeSHAP brings the attribution back to the original variables.</a:t>
            </a:r>
          </a:p>
          <a:p/>
          <a:p>
            <a:r>
              <a:t>C2 keeps that explanation consistent across levels and at scale, through the cross-level aggregation of Proposition 6.1.</a:t>
            </a:r>
          </a:p>
          <a:p/>
          <a:p>
            <a:r>
              <a:t>C3, DyHuCoG, moves attribution inside the model: preference-aware Monte Carlo Shapley becomes an in-training signal on a hypergraph.</a:t>
            </a:r>
          </a:p>
          <a:p/>
          <a:p>
            <a:r>
              <a:t>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[24] Arrieta 2020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in systems used at global scale.</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transparency duties.</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8" name="Rounded Rectangle 37"/>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2017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2009   [12] He 2020   [16] Feng 2019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0" name="TextBox 39"/>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41" name="Rounded Rectangle 40"/>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high-risk systems must be transparent (Art. 13) and </a:t>
            </a:r>
            <a:r>
              <a:rPr lang="en-US" sz="1843" b="true">
                <a:solidFill>
                  <a:srgbClr val="FFFFFF"/>
                </a:solidFill>
                <a:latin typeface="Nunito Bold"/>
                <a:ea typeface="Nunito Bold"/>
                <a:cs typeface="Nunito Bold"/>
                <a:sym typeface="Nunito Bold"/>
              </a:rPr>
              <a:t>decisions can be challenged (Art. 86)</a:t>
            </a:r>
            <a:r>
              <a:rPr lang="en-US" sz="1843" b="true">
                <a:solidFill>
                  <a:srgbClr val="FFFFFF"/>
                </a:solidFill>
                <a:latin typeface="Nunito Semi-Bold"/>
                <a:ea typeface="Nunito Semi-Bold"/>
                <a:cs typeface="Nunito Semi-Bold"/>
                <a:sym typeface="Nunito Semi-Bold"/>
              </a:rPr>
              <a:t>.</a:t>
            </a:r>
          </a:p>
        </p:txBody>
      </p:sp>
      <p:sp>
        <p:nvSpPr>
          <p:cNvPr id="44" name="Rounded Rectangle 43"/>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6" name="TextBox 45"/>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2009   [22]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[13] Xia 2022   [14] Xiangyi 2025   [16] Feng 2019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2021   [21] Zhang 2020</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[24] Arrieta 2020</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[14] Xiangyi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2016   [10] Koren 2009   [11] He 2017   [12] He 2020   [13] Xia 2022   [14] Xiangyi 2025   [15] Zhang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1987   [23] Zhu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805672"/>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2017   [6] Lundberg 2020   [7] Ribeiro 2016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1953   [5] Lundberg 2017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280146"/>
            <a:ext cx="8092440" cy="1074166"/>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2020   [7] Ribeiro 2016   [17] Rousseeuw 1987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808595"/>
            <a:ext cx="6557986" cy="814197"/>
          </a:xfrm>
          <a:prstGeom prst="rect">
            <a:avLst/>
          </a:prstGeom>
        </p:spPr>
      </p:pic>
      <p:sp>
        <p:nvSpPr>
          <p:cNvPr id="36" name="TextBox 35"/>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   [18] Gramegna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1987   [19]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3" name="TextBox 32"/>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731250"/>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   [18] Gramegna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[13] Xia 2022   [14] Xiangyi 2025   [21] Zhang 2020   [23] Zhu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   [27]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   [8] Castro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   [2] Louhichi 2025   [3]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2020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   [8] Castro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