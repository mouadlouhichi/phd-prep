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a:t>
            </a:r>
          </a:p>
          <a:p/>
          <a:p>
            <a:r>
              <a:t>My name is Mouad Louhichi, and the thesis I am defending, supervised by Professor Mohamed Lazaar, is entitled Cooperative Game Theory for Explainable AI in Recommendation Systems, A Shapley Framework for Actionable Insight.</a:t>
            </a:r>
          </a:p>
          <a:p/>
          <a:p>
            <a:r>
              <a:t>The idea to keep in mind: Shapley attribution is not only a post-hoc explanation method. In this thesis it becomes a unified framework that explains black-box models, stays consistent across levels of detail, and guides how recommendation systems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thirty-six minutes.</a:t>
            </a:r>
          </a:p>
          <a:p/>
          <a:p>
            <a:r>
              <a:t>I will start with the motivation behind this research and introduce the concept of actionable insight, which is the central idea of this thesis.</a:t>
            </a:r>
          </a:p>
          <a:p/>
          <a:p>
            <a:r>
              <a:t>Then, I will present the research context, the limitations of existing approaches, and the research questions that motivated this work.</a:t>
            </a:r>
          </a:p>
          <a:p/>
          <a:p>
            <a:r>
              <a:t>After that, I will describe the common experimental protocol before presenting the three contributions.</a:t>
            </a:r>
          </a:p>
          <a:p/>
          <a:p>
            <a:r>
              <a:t>Each contribution follows the same structure: the research gap, the objectives, the methodology, the evaluation protocol, the results, and the main findings.</a:t>
            </a:r>
          </a:p>
          <a:p/>
          <a:p>
            <a:r>
              <a:t>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Today, black-box AI systems shape what billions of people see, buy and watch every day. Recommenders already influence news, study, health and credit decisions, and the market behind them is projected above 15 billion dollars by 2029.</a:t>
            </a:r>
          </a:p>
          <a:p/>
          <a:p>
            <a:r>
              <a:t>But these state-of-the-art systems stay black boxes for users and designers. Deep and graph models hide their logic and are hard to audit, and regulation now pushes back: under the EU AI Act, high-risk systems must explain themselves.</a:t>
            </a:r>
          </a:p>
          <a:p/>
          <a:p>
            <a:r>
              <a:t>So the real question is how to build transparency into the model, instead of adding it afterwards. What we want is insight that is accountable, auditable and actionable, not just accurate.</a:t>
            </a:r>
          </a:p>
          <a:p/>
          <a:p>
            <a:r>
              <a:t>That is the core tension you see on this slide: as models gain power, they lose the transparency needed for trustworthy use.</a:t>
            </a:r>
          </a:p>
          <a:p/>
          <a:p>
            <a:r>
              <a:t>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by looking at the evolution of recommendation systems.</a:t>
            </a:r>
          </a:p>
          <a:p/>
          <a:p>
            <a:r>
              <a:t>Early similarity-based approaches were easier to explain because they relied on visible features.</a:t>
            </a:r>
          </a:p>
          <a:p/>
          <a:p>
            <a:r>
              <a:t>Then matrix factorization improved accuracy and scalability, but introduced latent factors whose meanings were hidden.</a:t>
            </a:r>
          </a:p>
          <a:p/>
          <a:p>
            <a:r>
              <a:t>Later, neural and graph-based approaches increased modelling power through hidden representations and message passing.</a:t>
            </a:r>
          </a:p>
          <a:p/>
          <a:p>
            <a:r>
              <a:t>Finally, hypergraph models introduced richer relationships between users, items and contexts.</a:t>
            </a:r>
          </a:p>
          <a:p/>
          <a:p>
            <a:r>
              <a:t>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limitations of current recommendation systems appear.</a:t>
            </a:r>
          </a:p>
          <a:p/>
          <a:p>
            <a:r>
              <a:t>First, data sparsity: the interaction matrix is almost empty in many real-world scenarios. Second, cold-start, when new users or items lack history. Third, popularity bias, where popular items take exposure from relevant but less popular ones.</a:t>
            </a:r>
          </a:p>
          <a:p/>
          <a:p>
            <a:r>
              <a:t>And above all, the absence of interpretability. For clustering it is even harder, because existing approaches rarely give local and global explanations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research questions follow, mapped on the slide to the contributions.</a:t>
            </a:r>
          </a:p>
          <a:p/>
          <a:p>
            <a:r>
              <a:t>RQ1 asks whether Shapley values can explain black-box clustering faithfully at instance and cluster level. RQ2 extends this to large-scale, multi-level clustering while staying feasible and consistent. RQ3 asks whether cooperative attribution can move beyond post-hoc and become part of how a recommender learns, and RQ4 whether ranking, context and diversity improve together. RQ5 asks what one cooperative-game view brings to both explanation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contributions, as the slide maps them.</a:t>
            </a:r>
          </a:p>
          <a:p/>
          <a:p>
            <a:r>
              <a:t>The first introduces a Shapley-based framework for explaining black-box clustering, evaluated on Wine Quality. The second extends it to large-scale multi-level clustering on Beijing Air Quality, with a formal consistency argument. The third, DyHuCoG, integrates cooperative attribution directly into hypergraph recommendation learning.</a:t>
            </a:r>
          </a:p>
          <a:p/>
          <a:p>
            <a:r>
              <a:t>Together they follow one progression: from explanation, to scalability,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a:t>
            </a:r>
          </a:p>
          <a:p/>
          <a:p>
            <a:r>
              <a:t>The first contribution introduces a Shapley-based framework for explaining black-box clustering. It is evaluated on the Wine Quality dataset and focuses on faithful feature attribution.</a:t>
            </a:r>
          </a:p>
          <a:p/>
          <a:p>
            <a:r>
              <a:t>The second contribution extends this idea to large-scale multi-level clustering using Beijing Air Quality data, with a formal approach to maintain consistency across levels.</a:t>
            </a:r>
          </a:p>
          <a:p/>
          <a:p>
            <a:r>
              <a:t>The third contribution, called DyHuCoG, moves beyond explanation and integrates cooperative attribution directly into hypergraph recommendation learning.</a:t>
            </a:r>
          </a:p>
          <a:p/>
          <a:p>
            <a:r>
              <a:t>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a:t>
            </a:r>
          </a:p>
          <a:p/>
          <a:p>
            <a:r>
              <a:t>The first objective is to provide explanations at both cluster level and individual sample level.</a:t>
            </a:r>
          </a:p>
          <a:p/>
          <a:p>
            <a:r>
              <a:t>The second objective is to keep the explanations in the original feature space, because explanations are only useful when domain experts can understand them.</a:t>
            </a:r>
          </a:p>
          <a:p/>
          <a:p>
            <a:r>
              <a:t>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As the slide says, direct TreeSHAP on K-Means is impossible, because TreeSHAP explains tree models, not centroids, and explaining the PCA representation would move attribution away from the interpretable variables.</a:t>
            </a:r>
          </a:p>
          <a:p/>
          <a:p>
            <a:r>
              <a:t>So the surrogate keeps the domain terms that make the analysis actionable, with a fidelity floor of macro-F1 about 0.82.</a:t>
            </a:r>
          </a:p>
          <a:p/>
          <a:p>
            <a:r>
              <a:t>The pipeline on the slide has four steps. K-Means produces the cluster labels. A LightGBM multiclass surrogate learns to predict them from the original features. TreeSHAP then gives fast, exact attribution in that same feature space, and the outputs are global importance, cluster profiles and local force plots.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a:t>
            </a:r>
          </a:p>
          <a:p/>
          <a:p>
            <a:r>
              <a:t>The most important factors include density, pH, fixed acidity, sulfur dioxide variables, and alcohol content, all real physicochemical properties of wine.</a:t>
            </a:r>
          </a:p>
          <a:p/>
          <a:p>
            <a:r>
              <a:t>And the explanation is not limited to a global ranking: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a:t>
            </a:r>
          </a:p>
          <a:p/>
          <a:p>
            <a:r>
              <a:t>Shapley values can explain black-box clustering when the surrogate model provides sufficient fidelity.</a:t>
            </a:r>
          </a:p>
          <a:p/>
          <a:p>
            <a:r>
              <a:t>They provide both global and local explanations while keeping the attribution connected to the original features.</a:t>
            </a:r>
          </a:p>
          <a:p/>
          <a:p>
            <a:r>
              <a:t>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a:t>
            </a:r>
          </a:p>
          <a:p/>
          <a:p>
            <a:r>
              <a:t>However, real-world datasets are often much larger and may contain hierarchical structures.</a:t>
            </a:r>
          </a:p>
          <a:p/>
          <a:p>
            <a:r>
              <a:t>Therefore,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a:t>
            </a:r>
          </a:p>
          <a:p/>
          <a:p>
            <a:r>
              <a:t>When a large cluster is divided into smaller sub-clusters, the explanation should help us understand both the global structure and the specific characteristics of each sub-group.</a:t>
            </a:r>
          </a:p>
          <a:p/>
          <a:p>
            <a:r>
              <a:t>However, existing approaches do not provide a formal relationship between the explanation of a parent cluster and the explanations of its children.</a:t>
            </a:r>
          </a:p>
          <a:p/>
          <a:p>
            <a:r>
              <a:t>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a:t>
            </a:r>
          </a:p>
          <a:p/>
          <a:p>
            <a:r>
              <a:t>First, to design a multi-level explanation framework where each level has its own surrogate model.</a:t>
            </a:r>
          </a:p>
          <a:p/>
          <a:p>
            <a:r>
              <a:t>Second, to establish a formal relationship between explanations at different levels of the hierarchy.</a:t>
            </a:r>
          </a:p>
          <a:p/>
          <a:p>
            <a:r>
              <a:t>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a:t>
            </a:r>
          </a:p>
          <a:p/>
          <a:p>
            <a:r>
              <a:t>First, the complete dataset is partitioned into coarse clusters.</a:t>
            </a:r>
          </a:p>
          <a:p/>
          <a:p>
            <a:r>
              <a:t>Then, each cluster can be further divided into smaller sub-clusters.</a:t>
            </a:r>
          </a:p>
          <a:p/>
          <a:p>
            <a:r>
              <a:t>At every level, a surrogate model is trained and SHAP values are computed using the same original feature space.</a:t>
            </a:r>
          </a:p>
          <a:p/>
          <a:p>
            <a:r>
              <a:t>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a:t>
            </a:r>
          </a:p>
          <a:p/>
          <a:p>
            <a:r>
              <a:t>This proposition establishes a relationship between the explanation of a parent cluster and the explanations of its child clusters.</a:t>
            </a:r>
          </a:p>
          <a:p/>
          <a:p>
            <a:r>
              <a:t>The parent attribution can be expressed as a size-weighted combination of child attributions, plus a residual term.</a:t>
            </a:r>
          </a:p>
          <a:p/>
          <a:p>
            <a:r>
              <a:t>This residual mainly reflects the difference introduced by surrogate approximation.</a:t>
            </a:r>
          </a:p>
          <a:p/>
          <a:p>
            <a:r>
              <a:t>Therefore,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a:t>
            </a:r>
          </a:p>
          <a:p/>
          <a:p>
            <a:r>
              <a:t>At the global level, variables such as temperature and dew point explain the main environmental regimes.</a:t>
            </a:r>
          </a:p>
          <a:p/>
          <a:p>
            <a:r>
              <a:t>However, inside each regime, different variables become important.</a:t>
            </a:r>
          </a:p>
          <a:p/>
          <a:p>
            <a:r>
              <a:t>For example, one cluster may be characterized by warmer conditions and ozone-related behaviour, while another may correspond to winter pollution involving particulate matter and other pollutants.</a:t>
            </a:r>
          </a:p>
          <a:p/>
          <a:p>
            <a:r>
              <a:t>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some limitations remain.</a:t>
            </a:r>
          </a:p>
          <a:p/>
          <a:p>
            <a:r>
              <a:t>The clustering process is still static, even though the air-quality data have a temporal dimension.</a:t>
            </a:r>
          </a:p>
          <a:p/>
          <a:p>
            <a:r>
              <a:t>The explanations continue to depend on surrogate models and approximation techniques.</a:t>
            </a:r>
          </a:p>
          <a:p/>
          <a:p>
            <a:r>
              <a:t>Most importantly, attribution is still post-hoc: it explains what the model has already learned, but it does not participate in the learning process itself.</a:t>
            </a:r>
          </a:p>
          <a:p/>
          <a:p>
            <a:r>
              <a:t>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a:t>
            </a:r>
          </a:p>
          <a:p/>
          <a:p>
            <a:r>
              <a:t>However, in real recommendation scenarios, not every interaction contributes equally to the final prediction.</a:t>
            </a:r>
          </a:p>
          <a:p/>
          <a:p>
            <a:r>
              <a:t>Some user-item-context relationships are more informative than others.</a:t>
            </a:r>
          </a:p>
          <a:p/>
          <a:p>
            <a:r>
              <a:t>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on the slide: can cooperative attribution become part of how a recommender learns, and can it improve ranking, context and diversity together?</a:t>
            </a:r>
          </a:p>
          <a:p/>
          <a:p>
            <a:r>
              <a:t>The slide lists three objectives. First, model recommendation as a cooperative game over users, items and contexts. Second, put preference-aware Monte Carlo Shapley inside message passing as dynamic hyperedge weights. Third, optimise ranking accuracy, diversity and contextual relevance together.</a:t>
            </a:r>
          </a:p>
          <a:p/>
          <a:p>
            <a:r>
              <a:t>The first objective is to model recommendation as a cooperative game involving users, items, and contextual information.</a:t>
            </a:r>
          </a:p>
          <a:p/>
          <a:p>
            <a:r>
              <a:t>The second objective is to introduce a preference-aware Monte Carlo Shapley estimation mechanism inside hypergraph message passing.</a:t>
            </a:r>
          </a:p>
          <a:p/>
          <a:p>
            <a:r>
              <a:t>The third objective is to optimize several objectives together: ranking accuracy, diversity, and contextual relevance.</a:t>
            </a:r>
          </a:p>
          <a:p/>
          <a:p>
            <a:r>
              <a:t>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a:t>
            </a:r>
          </a:p>
          <a:p/>
          <a:p>
            <a:r>
              <a:t>The players are the different elements involved in the recommendation process: users, items, and contextual information.</a:t>
            </a:r>
          </a:p>
          <a:p/>
          <a:p>
            <a:r>
              <a:t>Their interactions are represented through hyperedges, which allow modelling higher-order relationships.</a:t>
            </a:r>
          </a:p>
          <a:p/>
          <a:p>
            <a:r>
              <a:t>The contribution of each element is estimated through Shapley values.</a:t>
            </a:r>
          </a:p>
          <a:p/>
          <a:p>
            <a:r>
              <a:t>Therefore,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a:t>
            </a:r>
          </a:p>
          <a:p/>
          <a:p>
            <a:r>
              <a:t>Therefore, DyHuCoG uses Monte Carlo approximation: we sample a limited number of permutations and estimate the average marginal contribution.</a:t>
            </a:r>
          </a:p>
          <a:p/>
          <a:p>
            <a:r>
              <a:t>This preserves the main properties of Shapley attribution, and the table shows M = 50 reaches about 99 percent accuracy.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a:t>
            </a:r>
          </a:p>
          <a:p/>
          <a:p>
            <a:r>
              <a:t>Despite the higher difficulty, DyHuCoG continues to outperform the baselines.</a:t>
            </a:r>
          </a:p>
          <a:p/>
          <a:p>
            <a:r>
              <a:t>The improvement compared with HPCF reaches approximately 13.3 percent in NDCG.</a:t>
            </a:r>
          </a:p>
          <a:p/>
          <a:p>
            <a:r>
              <a:t>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removing one component at a time.</a:t>
            </a:r>
          </a:p>
          <a:p/>
          <a:p>
            <a:r>
              <a:t>The results show that each component plays an important role. Removing contextual information produces the largest degradation, and removing Shapley weighting also reduces performance, so cooperative attribution contributes directly to learning.</a:t>
            </a:r>
          </a:p>
          <a:p/>
          <a:p>
            <a:r>
              <a:t>The tables give the drops: context 8.2 and 11.0 percent, hypergraph 6.8 and 8.9, Shapley weighting 4.6 and 6.1.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a:t>
            </a:r>
          </a:p>
          <a:p/>
          <a:p>
            <a:r>
              <a:t>For the third question, the answer is yes: Shapley attribution can move beyond post-hoc explanation and become part of the learning process.</a:t>
            </a:r>
          </a:p>
          <a:p/>
          <a:p>
            <a:r>
              <a:t>For the fourth question, the answer is also yes: DyHuCoG improves recommendation quality while maintaining diversity and contextual relevance.</a:t>
            </a:r>
          </a:p>
          <a:p/>
          <a:p>
            <a:r>
              <a:t>Therefore,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a:t>
            </a:r>
          </a:p>
          <a:p/>
          <a:p>
            <a:r>
              <a:t>Instead of generating explanations after training, the model uses attribution information while learning.</a:t>
            </a:r>
          </a:p>
          <a:p/>
          <a:p>
            <a:r>
              <a:t>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explains black-box clustering with Shapley attribution and meaningful domain variables. The second keeps the explanation consistent across levels at scale. The third uses attribution to guide what the recommender learns.</a:t>
            </a:r>
          </a:p>
          <a:p/>
          <a:p>
            <a:r>
              <a:t>One cooperative-game definition, three value functions: the same Shapley logic runs through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contribution explains black-box clustering using Shapley attribution and meaningful domain variables.</a:t>
            </a:r>
          </a:p>
          <a:p/>
          <a:p>
            <a:r>
              <a:t>The second contribution extends this idea to large-scale and multi-level structures while maintaining consistency between explanations.</a:t>
            </a:r>
          </a:p>
          <a:p/>
          <a:p>
            <a:r>
              <a:t>The third contribution moves beyond explanation and uses attribution to guide the learning process of recommendation systems.</a:t>
            </a:r>
          </a:p>
          <a:p/>
          <a:p>
            <a:r>
              <a:t>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provides a common framework for explainable AI across clustering and recommendation.</a:t>
            </a:r>
          </a:p>
          <a:p/>
          <a:p>
            <a:r>
              <a:t>As the slide sums up, Shapley attribution is a common formal language. It explains black-box clustering with meaningful variables, stays consistent at scale and across levels, and through DyHuCoG becomes part of the learning process itself.</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provides a common framework for explainable artificial intelligence across clustering and recommendation tasks.</a:t>
            </a:r>
          </a:p>
          <a:p/>
          <a:p>
            <a:r>
              <a:t>The main contributions demonstrate four important points.</a:t>
            </a:r>
          </a:p>
          <a:p/>
          <a:p>
            <a:r>
              <a:t>First, Shapley attribution provides a principled way to measure contribution.</a:t>
            </a:r>
          </a:p>
          <a:p/>
          <a:p>
            <a:r>
              <a:t>Second, it can explain black-box clustering using meaningful variables.</a:t>
            </a:r>
          </a:p>
          <a:p/>
          <a:p>
            <a:r>
              <a:t>Third, it can remain interpretable when moving to large-scale and multi-level structures.</a:t>
            </a:r>
          </a:p>
          <a:p/>
          <a:p>
            <a:r>
              <a:t>Finally, it can become part of the learning process itself through DyHuCoG.</a:t>
            </a:r>
          </a:p>
          <a:p/>
          <a:p>
            <a:r>
              <a:t>The main message is that explanation does not have to remain a description of what happened. It can become a mechanism that helps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a:t>
            </a:r>
          </a:p>
          <a:p/>
          <a:p>
            <a:r>
              <a:t>For recommendation, NDCG@20 is used as the main ranking metric. In addition, coverage and intra-list diversity are evaluated because recommendation quality is not only about accuracy, but also about providing diverse and less biased results.</a:t>
            </a:r>
          </a:p>
          <a:p/>
          <a:p>
            <a:r>
              <a:t>For clustering, metrics such as Silhouette and Davies-Bouldin are used to evaluate the quality of the obtained partitions.</a:t>
            </a:r>
          </a:p>
          <a:p/>
          <a:p>
            <a:r>
              <a:t>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a:t>
            </a:r>
          </a:p>
          <a:p/>
          <a:p>
            <a:r>
              <a:t>The Shapley value shares the total fairly, as the average marginal contribution over every arrival order. As the slide shows, one arrival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a:t>
            </a:r>
          </a:p>
          <a:p/>
          <a:p>
            <a:r>
              <a:t>The Beijing Air Quality dataset is first clustered at a global level.</a:t>
            </a:r>
          </a:p>
          <a:p/>
          <a:p>
            <a:r>
              <a:t>Then, each cluster is further divided to create a multi-level structure.</a:t>
            </a:r>
          </a:p>
          <a:p/>
          <a:p>
            <a:r>
              <a:t>At each level, a dedicated surrogate model is trained and SHAP explanations are computed.</a:t>
            </a:r>
          </a:p>
          <a:p/>
          <a:p>
            <a:r>
              <a:t>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an improvement of approximately 9.8 percent, and Recall improves as well.</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4.png"/><Relationship Id="rId6"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6.png"/><Relationship Id="rId6" Type="http://schemas.openxmlformats.org/officeDocument/2006/relationships/image" Target="../media/image7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7.png"/><Relationship Id="rId6" Type="http://schemas.openxmlformats.org/officeDocument/2006/relationships/image" Target="../media/image8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28" name="Picture 27"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4472C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4472C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4472C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4472C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1F7A8C"/>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netflix.png"/>
          <p:cNvPicPr>
            <a:picLocks noChangeAspect="1"/>
          </p:cNvPicPr>
          <p:nvPr/>
        </p:nvPicPr>
        <p:blipFill>
          <a:blip r:embed="rId5"/>
          <a:stretch>
            <a:fillRect/>
          </a:stretch>
        </p:blipFill>
        <p:spPr>
          <a:xfrm>
            <a:off x="1383030" y="3887423"/>
            <a:ext cx="3108960" cy="1695796"/>
          </a:xfrm>
          <a:prstGeom prst="rect">
            <a:avLst/>
          </a:prstGeom>
        </p:spPr>
      </p:pic>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spotify.png"/>
          <p:cNvPicPr>
            <a:picLocks noChangeAspect="1"/>
          </p:cNvPicPr>
          <p:nvPr/>
        </p:nvPicPr>
        <p:blipFill>
          <a:blip r:embed="rId6"/>
          <a:stretch>
            <a:fillRect/>
          </a:stretch>
        </p:blipFill>
        <p:spPr>
          <a:xfrm>
            <a:off x="6069330" y="3729482"/>
            <a:ext cx="2011680" cy="2011680"/>
          </a:xfrm>
          <a:prstGeom prst="rect">
            <a:avLst/>
          </a:prstGeom>
        </p:spPr>
      </p:pic>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6" name="Picture 35" descr="yelp.png"/>
          <p:cNvPicPr>
            <a:picLocks noChangeAspect="1"/>
          </p:cNvPicPr>
          <p:nvPr/>
        </p:nvPicPr>
        <p:blipFill>
          <a:blip r:embed="rId7"/>
          <a:stretch>
            <a:fillRect/>
          </a:stretch>
        </p:blipFill>
        <p:spPr>
          <a:xfrm>
            <a:off x="9658350" y="3737032"/>
            <a:ext cx="3108960" cy="1996579"/>
          </a:xfrm>
          <a:prstGeom prst="rect">
            <a:avLst/>
          </a:prstGeom>
        </p:spPr>
      </p:pic>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0" name="Picture 39" descr="amazon.png"/>
          <p:cNvPicPr>
            <a:picLocks noChangeAspect="1"/>
          </p:cNvPicPr>
          <p:nvPr/>
        </p:nvPicPr>
        <p:blipFill>
          <a:blip r:embed="rId8"/>
          <a:stretch>
            <a:fillRect/>
          </a:stretch>
        </p:blipFill>
        <p:spPr>
          <a:xfrm>
            <a:off x="14344650" y="3729482"/>
            <a:ext cx="2011680" cy="2011680"/>
          </a:xfrm>
          <a:prstGeom prst="rect">
            <a:avLst/>
          </a:prstGeom>
        </p:spPr>
      </p:pic>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1" name="Picture 30"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1" name="Picture 30"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1" name="Picture 30"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1" name="Picture 30"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3" name="Picture 22" descr="image.png"/>
          <p:cNvPicPr>
            <a:picLocks noChangeAspect="1"/>
          </p:cNvPicPr>
          <p:nvPr/>
        </p:nvPicPr>
        <p:blipFill>
          <a:blip r:embed="rId3"/>
          <a:stretch>
            <a:fillRect/>
          </a:stretch>
        </p:blipFill>
        <p:spPr>
          <a:xfrm>
            <a:off x="12978774"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1"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1"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2" name="Rounded Rectangle 31"/>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4"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8" name="Rounded Rectangle 37"/>
          <p:cNvSpPr/>
          <p:nvPr/>
        </p:nvSpPr>
        <p:spPr>
          <a:xfrm>
            <a:off x="9166860" y="7971790"/>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206230"/>
            <a:ext cx="8092440" cy="148082"/>
          </a:xfrm>
          <a:prstGeom prst="roundRect">
            <a:avLst>
              <a:gd name="adj" fmla="val 5000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1" name="TextBox 30"/>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2" name="Rounded Rectangle 31"/>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4" name="TextBox 33"/>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TextBox 31"/>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3" name="Rounded Rectangle 32"/>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5" name="TextBox 34"/>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6" name="Rounded Rectangle 35"/>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8" name="TextBox 37"/>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TextBox 36"/>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8" name="Rounded Rectangle 37"/>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0" name="TextBox 39"/>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4472C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4472C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539881"/>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27074"/>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4" name="Rounded Rectangle 13"/>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