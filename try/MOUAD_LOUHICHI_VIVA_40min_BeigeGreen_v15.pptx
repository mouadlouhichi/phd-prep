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71" r:id="rId25"/>
    <p:sldId id="272" r:id="rId27"/>
    <p:sldId id="273" r:id="rId28"/>
    <p:sldId id="274" r:id="rId29"/>
    <p:sldId id="275" r:id="rId30"/>
    <p:sldId id="276" r:id="rId31"/>
    <p:sldId id="277" r:id="rId32"/>
    <p:sldId id="278" r:id="rId33"/>
    <p:sldId id="279" r:id="rId34"/>
    <p:sldId id="280" r:id="rId35"/>
    <p:sldId id="281" r:id="rId36"/>
    <p:sldId id="282" r:id="rId37"/>
    <p:sldId id="283" r:id="rId38"/>
    <p:sldId id="284" r:id="rId39"/>
    <p:sldId id="285" r:id="rId40"/>
    <p:sldId id="286" r:id="rId41"/>
    <p:sldId id="287" r:id="rId42"/>
    <p:sldId id="288" r:id="rId43"/>
    <p:sldId id="289" r:id="rId44"/>
    <p:sldId id="290" r:id="rId45"/>
    <p:sldId id="291" r:id="rId46"/>
    <p:sldId id="292" r:id="rId47"/>
    <p:sldId id="293" r:id="rId48"/>
    <p:sldId id="294" r:id="rId49"/>
    <p:sldId id="295" r:id="rId50"/>
    <p:sldId id="296" r:id="rId51"/>
    <p:sldId id="297" r:id="rId52"/>
    <p:sldId id="298" r:id="rId53"/>
    <p:sldId id="299" r:id="rId54"/>
    <p:sldId id="300" r:id="rId55"/>
    <p:sldId id="301" r:id="rId56"/>
    <p:sldId id="302" r:id="rId57"/>
    <p:sldId id="303" r:id="rId58"/>
    <p:sldId id="304" r:id="rId59"/>
    <p:sldId id="305" r:id="rId60"/>
    <p:sldId id="306" r:id="rId61"/>
    <p:sldId id="307" r:id="rId62"/>
    <p:sldId id="308" r:id="rId63"/>
    <p:sldId id="309" r:id="rId64"/>
    <p:sldId id="310" r:id="rId65"/>
    <p:sldId id="311" r:id="rId66"/>
    <p:sldId id="312" r:id="rId67"/>
    <p:sldId id="313" r:id="rId68"/>
    <p:sldId id="314" r:id="rId69"/>
    <p:sldId id="315" r:id="rId70"/>
    <p:sldId id="316" r:id="rId71"/>
    <p:sldId id="317" r:id="rId72"/>
    <p:sldId id="318" r:id="rId73"/>
    <p:sldId id="319" r:id="rId74"/>
    <p:sldId id="320" r:id="rId75"/>
    <p:sldId id="321" r:id="rId76"/>
    <p:sldId id="322" r:id="rId77"/>
    <p:sldId id="323" r:id="rId78"/>
    <p:sldId id="324" r:id="rId79"/>
    <p:sldId id="325" r:id="rId80"/>
    <p:sldId id="326" r:id="rId81"/>
    <p:sldId id="327" r:id="rId82"/>
    <p:sldId id="328" r:id="rId83"/>
    <p:sldId id="329" r:id="rId84"/>
    <p:sldId id="330" r:id="rId85"/>
    <p:sldId id="331" r:id="rId86"/>
    <p:sldId id="332" r:id="rId87"/>
    <p:sldId id="333" r:id="rId88"/>
    <p:sldId id="334" r:id="rId89"/>
    <p:sldId id="335" r:id="rId90"/>
    <p:sldId id="336" r:id="rId91"/>
    <p:sldId id="337" r:id="rId92"/>
    <p:sldId id="338" r:id="rId93"/>
    <p:sldId id="339" r:id="rId94"/>
    <p:sldId id="340" r:id="rId95"/>
    <p:sldId id="341" r:id="rId96"/>
    <p:sldId id="342" r:id="rId97"/>
    <p:sldId id="343" r:id="rId98"/>
    <p:sldId id="344" r:id="rId99"/>
    <p:sldId id="345" r:id="rId100"/>
    <p:sldId id="346" r:id="rId101"/>
    <p:sldId id="347" r:id="rId102"/>
    <p:sldId id="348" r:id="rId103"/>
    <p:sldId id="349" r:id="rId104"/>
  </p:sldIdLst>
  <p:sldSz cx="18288000" cy="10287000"/>
  <p:notesSz cx="6858000" cy="9144000"/>
  <p:embeddedFontLst>
    <p:embeddedFont>
      <p:font typeface="Roca Two Bold" charset="1" panose="00000800000000000000"/>
      <p:regular r:id="rId21"/>
    </p:embeddedFont>
    <p:embeddedFont>
      <p:font typeface="Nunito Semi-Bold" charset="1" panose="00000000000000000000"/>
      <p:regular r:id="rId22"/>
    </p:embeddedFont>
    <p:embeddedFont>
      <p:font typeface="Nunito Bold" charset="1" panose="00000000000000000000"/>
      <p:regular r:id="rId23"/>
    </p:embeddedFont>
    <p:embeddedFont>
      <p:font typeface="Nunito Ultra-Bold" charset="1" panose="0000000000000000000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21" Type="http://schemas.openxmlformats.org/officeDocument/2006/relationships/font" Target="fonts/font21.fntdata"/><Relationship Id="rId22" Type="http://schemas.openxmlformats.org/officeDocument/2006/relationships/font" Target="fonts/font22.fntdata"/><Relationship Id="rId23" Type="http://schemas.openxmlformats.org/officeDocument/2006/relationships/font" Target="fonts/font23.fntdata"/><Relationship Id="rId24" Type="http://schemas.openxmlformats.org/officeDocument/2006/relationships/font" Target="fonts/font24.fntdata"/><Relationship Id="rId25" Type="http://schemas.openxmlformats.org/officeDocument/2006/relationships/slide" Target="slides/slide16.xml"/><Relationship Id="rId26" Type="http://schemas.openxmlformats.org/officeDocument/2006/relationships/notesMaster" Target="notesMasters/notesMaster1.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19.xml"/><Relationship Id="rId30" Type="http://schemas.openxmlformats.org/officeDocument/2006/relationships/slide" Target="slides/slide20.xml"/><Relationship Id="rId31" Type="http://schemas.openxmlformats.org/officeDocument/2006/relationships/slide" Target="slides/slide21.xml"/><Relationship Id="rId32" Type="http://schemas.openxmlformats.org/officeDocument/2006/relationships/slide" Target="slides/slide22.xml"/><Relationship Id="rId33" Type="http://schemas.openxmlformats.org/officeDocument/2006/relationships/slide" Target="slides/slide23.xml"/><Relationship Id="rId34" Type="http://schemas.openxmlformats.org/officeDocument/2006/relationships/slide" Target="slides/slide24.xml"/><Relationship Id="rId35" Type="http://schemas.openxmlformats.org/officeDocument/2006/relationships/slide" Target="slides/slide25.xml"/><Relationship Id="rId36" Type="http://schemas.openxmlformats.org/officeDocument/2006/relationships/slide" Target="slides/slide26.xml"/><Relationship Id="rId37" Type="http://schemas.openxmlformats.org/officeDocument/2006/relationships/slide" Target="slides/slide27.xml"/><Relationship Id="rId38" Type="http://schemas.openxmlformats.org/officeDocument/2006/relationships/slide" Target="slides/slide28.xml"/><Relationship Id="rId39" Type="http://schemas.openxmlformats.org/officeDocument/2006/relationships/slide" Target="slides/slide29.xml"/><Relationship Id="rId40" Type="http://schemas.openxmlformats.org/officeDocument/2006/relationships/slide" Target="slides/slide30.xml"/><Relationship Id="rId41" Type="http://schemas.openxmlformats.org/officeDocument/2006/relationships/slide" Target="slides/slide31.xml"/><Relationship Id="rId42" Type="http://schemas.openxmlformats.org/officeDocument/2006/relationships/slide" Target="slides/slide32.xml"/><Relationship Id="rId43" Type="http://schemas.openxmlformats.org/officeDocument/2006/relationships/slide" Target="slides/slide33.xml"/><Relationship Id="rId44" Type="http://schemas.openxmlformats.org/officeDocument/2006/relationships/slide" Target="slides/slide34.xml"/><Relationship Id="rId45" Type="http://schemas.openxmlformats.org/officeDocument/2006/relationships/slide" Target="slides/slide35.xml"/><Relationship Id="rId46" Type="http://schemas.openxmlformats.org/officeDocument/2006/relationships/slide" Target="slides/slide36.xml"/><Relationship Id="rId47" Type="http://schemas.openxmlformats.org/officeDocument/2006/relationships/slide" Target="slides/slide37.xml"/><Relationship Id="rId48" Type="http://schemas.openxmlformats.org/officeDocument/2006/relationships/slide" Target="slides/slide38.xml"/><Relationship Id="rId49" Type="http://schemas.openxmlformats.org/officeDocument/2006/relationships/slide" Target="slides/slide39.xml"/><Relationship Id="rId50" Type="http://schemas.openxmlformats.org/officeDocument/2006/relationships/slide" Target="slides/slide40.xml"/><Relationship Id="rId51" Type="http://schemas.openxmlformats.org/officeDocument/2006/relationships/slide" Target="slides/slide41.xml"/><Relationship Id="rId52" Type="http://schemas.openxmlformats.org/officeDocument/2006/relationships/slide" Target="slides/slide42.xml"/><Relationship Id="rId53" Type="http://schemas.openxmlformats.org/officeDocument/2006/relationships/slide" Target="slides/slide43.xml"/><Relationship Id="rId54" Type="http://schemas.openxmlformats.org/officeDocument/2006/relationships/slide" Target="slides/slide44.xml"/><Relationship Id="rId55" Type="http://schemas.openxmlformats.org/officeDocument/2006/relationships/slide" Target="slides/slide45.xml"/><Relationship Id="rId56" Type="http://schemas.openxmlformats.org/officeDocument/2006/relationships/slide" Target="slides/slide46.xml"/><Relationship Id="rId57" Type="http://schemas.openxmlformats.org/officeDocument/2006/relationships/slide" Target="slides/slide47.xml"/><Relationship Id="rId58" Type="http://schemas.openxmlformats.org/officeDocument/2006/relationships/slide" Target="slides/slide48.xml"/><Relationship Id="rId59" Type="http://schemas.openxmlformats.org/officeDocument/2006/relationships/slide" Target="slides/slide49.xml"/><Relationship Id="rId60" Type="http://schemas.openxmlformats.org/officeDocument/2006/relationships/slide" Target="slides/slide50.xml"/><Relationship Id="rId61" Type="http://schemas.openxmlformats.org/officeDocument/2006/relationships/slide" Target="slides/slide51.xml"/><Relationship Id="rId62" Type="http://schemas.openxmlformats.org/officeDocument/2006/relationships/slide" Target="slides/slide52.xml"/><Relationship Id="rId63" Type="http://schemas.openxmlformats.org/officeDocument/2006/relationships/slide" Target="slides/slide53.xml"/><Relationship Id="rId64" Type="http://schemas.openxmlformats.org/officeDocument/2006/relationships/slide" Target="slides/slide54.xml"/><Relationship Id="rId65" Type="http://schemas.openxmlformats.org/officeDocument/2006/relationships/slide" Target="slides/slide55.xml"/><Relationship Id="rId66" Type="http://schemas.openxmlformats.org/officeDocument/2006/relationships/slide" Target="slides/slide56.xml"/><Relationship Id="rId67" Type="http://schemas.openxmlformats.org/officeDocument/2006/relationships/slide" Target="slides/slide57.xml"/><Relationship Id="rId68" Type="http://schemas.openxmlformats.org/officeDocument/2006/relationships/slide" Target="slides/slide58.xml"/><Relationship Id="rId69" Type="http://schemas.openxmlformats.org/officeDocument/2006/relationships/slide" Target="slides/slide59.xml"/><Relationship Id="rId70" Type="http://schemas.openxmlformats.org/officeDocument/2006/relationships/slide" Target="slides/slide60.xml"/><Relationship Id="rId71" Type="http://schemas.openxmlformats.org/officeDocument/2006/relationships/slide" Target="slides/slide61.xml"/><Relationship Id="rId72" Type="http://schemas.openxmlformats.org/officeDocument/2006/relationships/slide" Target="slides/slide62.xml"/><Relationship Id="rId73" Type="http://schemas.openxmlformats.org/officeDocument/2006/relationships/slide" Target="slides/slide63.xml"/><Relationship Id="rId74" Type="http://schemas.openxmlformats.org/officeDocument/2006/relationships/slide" Target="slides/slide64.xml"/><Relationship Id="rId75" Type="http://schemas.openxmlformats.org/officeDocument/2006/relationships/slide" Target="slides/slide65.xml"/><Relationship Id="rId76" Type="http://schemas.openxmlformats.org/officeDocument/2006/relationships/slide" Target="slides/slide66.xml"/><Relationship Id="rId77" Type="http://schemas.openxmlformats.org/officeDocument/2006/relationships/slide" Target="slides/slide67.xml"/><Relationship Id="rId78" Type="http://schemas.openxmlformats.org/officeDocument/2006/relationships/slide" Target="slides/slide68.xml"/><Relationship Id="rId79" Type="http://schemas.openxmlformats.org/officeDocument/2006/relationships/slide" Target="slides/slide69.xml"/><Relationship Id="rId80" Type="http://schemas.openxmlformats.org/officeDocument/2006/relationships/slide" Target="slides/slide70.xml"/><Relationship Id="rId81" Type="http://schemas.openxmlformats.org/officeDocument/2006/relationships/slide" Target="slides/slide71.xml"/><Relationship Id="rId82" Type="http://schemas.openxmlformats.org/officeDocument/2006/relationships/slide" Target="slides/slide72.xml"/><Relationship Id="rId83" Type="http://schemas.openxmlformats.org/officeDocument/2006/relationships/slide" Target="slides/slide73.xml"/><Relationship Id="rId84" Type="http://schemas.openxmlformats.org/officeDocument/2006/relationships/slide" Target="slides/slide74.xml"/><Relationship Id="rId85" Type="http://schemas.openxmlformats.org/officeDocument/2006/relationships/slide" Target="slides/slide75.xml"/><Relationship Id="rId86" Type="http://schemas.openxmlformats.org/officeDocument/2006/relationships/slide" Target="slides/slide76.xml"/><Relationship Id="rId87" Type="http://schemas.openxmlformats.org/officeDocument/2006/relationships/slide" Target="slides/slide77.xml"/><Relationship Id="rId88" Type="http://schemas.openxmlformats.org/officeDocument/2006/relationships/slide" Target="slides/slide78.xml"/><Relationship Id="rId89" Type="http://schemas.openxmlformats.org/officeDocument/2006/relationships/slide" Target="slides/slide79.xml"/><Relationship Id="rId90" Type="http://schemas.openxmlformats.org/officeDocument/2006/relationships/slide" Target="slides/slide80.xml"/><Relationship Id="rId91" Type="http://schemas.openxmlformats.org/officeDocument/2006/relationships/slide" Target="slides/slide81.xml"/><Relationship Id="rId92" Type="http://schemas.openxmlformats.org/officeDocument/2006/relationships/slide" Target="slides/slide82.xml"/><Relationship Id="rId93" Type="http://schemas.openxmlformats.org/officeDocument/2006/relationships/slide" Target="slides/slide83.xml"/><Relationship Id="rId94" Type="http://schemas.openxmlformats.org/officeDocument/2006/relationships/slide" Target="slides/slide84.xml"/><Relationship Id="rId95" Type="http://schemas.openxmlformats.org/officeDocument/2006/relationships/slide" Target="slides/slide85.xml"/><Relationship Id="rId96" Type="http://schemas.openxmlformats.org/officeDocument/2006/relationships/slide" Target="slides/slide86.xml"/><Relationship Id="rId97" Type="http://schemas.openxmlformats.org/officeDocument/2006/relationships/slide" Target="slides/slide87.xml"/><Relationship Id="rId98" Type="http://schemas.openxmlformats.org/officeDocument/2006/relationships/slide" Target="slides/slide88.xml"/><Relationship Id="rId99" Type="http://schemas.openxmlformats.org/officeDocument/2006/relationships/slide" Target="slides/slide89.xml"/><Relationship Id="rId100" Type="http://schemas.openxmlformats.org/officeDocument/2006/relationships/slide" Target="slides/slide90.xml"/><Relationship Id="rId101" Type="http://schemas.openxmlformats.org/officeDocument/2006/relationships/slide" Target="slides/slide91.xml"/><Relationship Id="rId102" Type="http://schemas.openxmlformats.org/officeDocument/2006/relationships/slide" Target="slides/slide92.xml"/><Relationship Id="rId103" Type="http://schemas.openxmlformats.org/officeDocument/2006/relationships/slide" Target="slides/slide93.xml"/><Relationship Id="rId104" Type="http://schemas.openxmlformats.org/officeDocument/2006/relationships/slide" Target="slides/slide9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2.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8.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Mister President. Good morning, Professors. Thank you for the opportunity to present my work today. My name is Mouad Louhichi, and the thesis I am defending, supervised by Professor Mohamed Lazaar, is entitled: "Cooperative Game Theory for Explainable AI in Recommendation Systems: A Shapley Framework for Actionable Insight." The main idea I want you to keep in mind is this: Shapley attribution is not only a method to explain a model after it has been trained. In this thesis I show how it can become one framework that explains black-box models, stays consistent across levels of detail, and finally guides how recommenders learn.</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here is how I have organized the next forty minutes. I will start with the motivation behind this research and the concept of actionable insight, the central idea of this thesis. Then the research context, the limitations of existing approaches, and the research questions. After that, I will describe the common experimental protocol before presenting the three contributions. Each contribution follows the same structure: the research gap, the objectives, the methodology, the evaluation protocol, the results, and the main findings. Finally, I will conclude with the main outcomes of the thesis and the future perspectives.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let me start with the introduction, and more specifically with the motivation behind this research. The first question I want to address is: why has explainability become a core requirement for modern recommenders?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Recommenders now decide what we see, watch and buy. They are extremely accurate, but their reasoning is hard to understand. Three questions are behind this thesis. The first concerns scale: these models now shape the experience of billions of users. The second concerns transparency. Even state-of-the-art recommenders and clustering pipelines are often black boxes. We can observe their outputs, but understanding the reasons behind these outputs remains difficult. The third concerns trust. Instead of adding explanations after building complex models, can we integrate transparency directly into the model itself? This thesis starts from one idea: accuracy and interpretability are not competing objectives, but two goals to achieve together.</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That brings me to the definition the whole thesis turns on. An explanation is actionable when it points to something we can actually change, and when changing it clearly affects the model output. This factor should also be expressed in the language of the real-world domain, such as acidity in wine, pollution indicators in air quality, or user preferences in recommenders. In other words, a good explanation should not only describe what happened, but also help us decide what to change to improve the outcome.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let me put this in context. The history of this field is also the history of the interpretability problem. Early similarity-based approaches were easier to explain because they relied on visible features. Then matrix factorization improved recommendation accuracy and scalability, but introduced latent factors whose meanings were hidden. Later, neural and graph approaches added modelling power through hidden representations and message passing. Finally, hypergraph models introduced richer relationships between users, items, and contexts. But at each step, we gained predictive power while losing transparency. This growing gap is exactly what this thesis addresses.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recommenders are not only theoretical models. They are already part of everyday applications. Platforms such as Netflix, Spotify, Amazon, and Yelp use recommendation algorithms to personalize the experience of millions of users. Their performance is impressive, but the reasoning behind their decisions remains hidden. The user receives a recommendation, but often does not know why this specific item was selected. This situation, where AI is everywhere but its reasoning remains hidden, is the main motivation of this work.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Now I will move from the motivation to the research problem itself. To understand where the difficulty comes from, I will briefly review the main recommendation approaches and explain their respective limitations.</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family is content-based filtering. The principle is simple: the system recommends items according to their characteristics and the user's previous preferences. The main advantage of this approach is that it is naturally explainable. The recommendation can be linked to visible features that users and experts can understand. But this approach requires rich metadata and may suffer from over-specialization because it tends to recommend items similar to what the user already knows.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family is collaborative filtering. Here, the system does not rely on item features, but instead learns from the behaviour and preferences of similar users. This idea has been extremely successful because it can discover hidden patterns from user-item interactions. But it also introduces important limitations, especially the cold-start problem. New users and new items have limited interaction history, which makes accurate recommendation more difficult.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third family combines hybrid approaches and matrix factorization. Hybrid systems combine different sources of information to reduce the limitations of individual methods. Matrix factorization became one of the most successful approaches because it provides accurate and scalable recommendations. But the learned user and item factors are latent representations. They improve prediction performance, but their meaning is usually unknown. This is where the gap between accuracy and interpretability becomes stronger.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fourth family, and the most important for this thesis, is graph and hypergraph recommendation. These approaches represent users, items, and interactions as connected structures. Through message passing, information can propagate across multiple hops and capture more complex relationships. Hypergraph models go even further by representing higher-order relationships between several entities, such as a user, an item, and a context at the same time. But this additional modelling power introduces a new challenge: the importance of each message remains hidden. The model learns complex relationships, but it cannot explain which of them actually mattered.</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evolution leaves four limitations. The first limitation is data sparsity. In practice, the user-item interaction matrix is almost empty, which makes learning difficult. The second is cold-start: new users and new items have no history. The third is popularity bias: popular items get more exposure, and relevant but less popular ones are ignored. And the one this thesis targets is the absence of interpretability. For clustering problems, the challenge is even harder because existing approaches usually provide either local explanations or global explanations, but rarely both in a consistent way.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observations lead to three main problems that shape this research. First, complex AI models are difficult to explain in a way that is both faithful and actionable. Second, explanations often do not scale to large datasets or multi-level structures. Third, explanations are usually generated after training, meaning that they only describe the model behaviour without influencing the learning process itself. The central idea of this thesis is that Shapley attribution can provide a common cooperative-game framework to address these three challenges.</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this research gap, five research questions are defined. The first question asks how Shapley values can explain black-box clustering faithfully at both instance and cluster levels. The second question investigates how this explanation can be extended to large-scale and multi-level clustering while remaining consistent. The third question moves beyond explanation and asks whether cooperative attribution can become part of how recommendation models learn. The fourth question investigates whether this approach can improve ranking quality while maintaining context and diversity. Finally, the fifth asks what we gain from reading both tasks through one cooperative-game view.</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research questions lead to three main contributions. The first contribution introduces a Shapley-based framework for explaining black-box clustering. It is evaluated on the Wine Quality dataset and focuses on faithful feature attribution. The second contribution extends this idea to large-scale multi-level clustering using Beijing Air Quality data, with a formal approach to maintain consistency across levels. The third contribution, called DyHuCoG, moves beyond explanation and integrates cooperative attribution directly into hypergraph recommendation learning. Together, these three contributions follow a common progression: from explanation, to scalability, and finally to action.</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presenting the contributions, I will first describe the common experimental protocol used throughout the thesis. The objective is to make the evaluation consistent and reproducible across all experiments. I will present the datasets, the baselines, the evaluation metrics, and the computational environment.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datasets are used, covering both tasks: Wine Quality and Beijing Air Quality for clustering, MovieLens-1M and Amazon-Book for recommendation. The first dataset is the Portuguese White Wine Quality dataset. It contains 4,898 samples described by 11 physicochemical measurements, including acidity, density, sulphates, and alcohol. This dataset is particularly suitable for the first contribution because every variable has a clear meaning in the real domain. So when the explanation identifies an important factor, it can directly correspond to something a wine expert can understand and potentially influence.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dataset is Beijing Multi-Site Air Quality. It contains 383,585 hourly observations collected from monitoring stations, including pollutant measurements and weather variables. Compared with wine data, this dataset introduces several additional challenges: much larger scale, environmental complexity, and temporal variation. This makes it an appropriate test case for evaluating whether explanations can remain meaningful in large multi-level structures.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recommendation experiments, two datasets are considered. The first one is MovieLens-1M, containing approximately one million ratings from more than six thousand users over thousands of movies. It is a standard benchmark widely used in recommendation research, allowing comparison with existing methods.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second is Amazon-Book, which is much more sparse, with millions of interactions but a very low user-item density. This allows us to evaluate whether the proposed method remains effective when the available signal is limited.</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Regarding the experimental design, reproducibility and prevention of data leakage are important considerations. For clustering experiments, cross-validation is used. For recommendation experiments, I use user-level time-ordered splits with validation-based early stopping. All experiments are repeated using multiple random seeds to ensure that the results are not dependent on a specific initialization.</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proposed approaches are compared with strong existing baselines. For clustering explanation, the main comparison is performed against LIME-based explanations, which represent one of the most common post-hoc explanation approaches. For recommendation, the comparison includes classical matrix factorization methods and recent graph and hypergraph recommenders, including HPCF.</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Different evaluation metrics are used depending on the task. For recommendation, NDCG@20 is used as the main ranking metric. Also, coverage and intra-list diversity are evaluated because recommendation quality is not only about accuracy, but also about providing diverse and less biased results. For clustering, metrics such as Silhouette and Davies-Bouldin are used to evaluate the quality of the obtained partitions. These metrics allow us to evaluate both model performance and the quality of the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Finally, regarding the computational environment, clustering experiments were performed on a standard workstation, while recommendation experiments, especially DyHuCoG training, were performed using an RTX 4090 GPU. These configurations allow us to evaluate not only the performance of the proposed approaches, but also their practical computational requirements.</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With this experimental framework established, I can now move to the first contribution of this thesis. The objective here is to answer the following question: can we explain the decisions of a black-box clustering model using a principled attribution method?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difficulty comes from the nature of clustering itself. Unlike supervised learning, clustering does not have a predefined target variable. The model discovers groups directly from the data, which makes understanding the reason behind each cluster more challenging. Existing explanation approaches usually focus either on individual instances or on global cluster descriptions, but they rarely provide a unified explanation at both levels. So the first contribution investigates how Shapley attribution can provide a faithful explanation framework for black-box clustering.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contribution has three main objectives. The first objective is to provide explanations at both cluster level and individual sample level. The second objective is to keep the explanations in the original feature space, because explanations are only useful when domain experts can understand them. The third objective is to rely on a theoretically grounded attribution method based on cooperative game theory.</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Before the methodology, let me introduce the mathematical foundation of this work: cooperative game theory. In a cooperative game, we have a set of players, possible coalitions between these players, and a value function that measures the contribution of each coalition. The main question is how to fairly distribute the total contribution among the different players. The Shapley value provides this solution by calculating the average marginal contribution of each player across all possible orders of participation. In this thesis, the players are the input features, and the Shapley value measures how much each feature contributes to the clustering result.</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apply Shapley values to clustering, the clustering problem is reformulated as a cooperative game. The players correspond to the features, and the value function represents the quality of the clustering obtained using a subset of features. In this work, the Silhouette score is used to measure this quality. But evaluating every possible feature coalition is computationally expensive. So a surrogate model is introduced to approximate the clustering decisions and make Shapley computation practical.</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proposed pipeline contains four main steps. First, K-Means is applied to create the initial clusters. Second, a LightGBM classifier is trained to reproduce these cluster assignments. Third, TreeSHAP is applied to this surrogate model to compute feature contributions. Finally, the obtained explanations are compared with LIME. The key point is that the surrogate model must faithfully represent the original clustering behaviour.</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important choice concerns the number of clusters. From a purely geometric perspective, two clusters provide the best separation according to the clustering metrics. But three clusters are selected because they provide more meaningful chemical interpretations. This choice illustrates an important principle of this thesis: the goal is not only to optimize mathematical criteria, but also to obtain explanations that can support human understanding and decision-making.</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results show that several variables play a major role in explaining the wine clusters. The most important factors include density, pH, acidity, sulfur dioxide variables, and alcohol content. These variables are meaningful because they correspond to real physicochemical properties of wine. More importantly, the explanation is not limited to a global ranking. It also shows that different clusters are characterized by different combinations of important variables.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allows us to answer the first research question. Shapley values can explain black-box clustering when the surrogate model provides sufficient fidelity. They provide both global and local explanations while keeping the attribution connected to the original features. Compared with approaches such as LIME, the main advantage is that Shapley values are based on a formal cooperative-game foundation with desirable properties such as fairness and consistency.</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 the main achievement is the introduction of a Shapley-based framework for explaining black-box clustering. The approach provides explanations at different levels while maintaining the meaning of the original variables. So the explanations are not only mathematically grounded, but also understandable from a domain perspective.</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But this first contribution also presents some limitations. First, the quality of the explanation depends on the fidelity of the surrogate model. Second, the evaluation is performed on tabular data, so the generalization to other data types remains open. Finally, the explanation remains single-level. It explains one clustering structure, but does not explain how feature importance changes across different levels of organization. This limitation motivates the second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takeaway from Contribution I is that Shapley attribution provides a principled way to understand an unsupervised model. But real-world datasets are often much larger and may contain hierarchical structures. So the next question is whether the same explanation principle can remain meaningful when moving from one level of analysis to several levels.</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brings me to the second contribution of the thesis. The objective is to extend Shapley-based explanation from single-level clustering to large-scale and multi-level clustering. This contribution addresses the second research question.</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challenge in this case is not only scale, but also consistency across levels. When a large cluster is divided into smaller sub-clusters, the explanation should help us understand both the global structure and the specific characteristics of each sub-group. But existing approaches do not provide a formal relationship between the explanation of a parent cluster and the explanations of its children. This is the main research gap addressed in this contribution.</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contribution has three objectives. First, to design a multi-level explanation framework where each level has its own surrogate model. Second, to establish a formal relationship between explanations at different levels of the hierarchy. Third, to evaluate whether this framework remains practical and meaningful on a large environmental dataset.</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proposed approach follows a recursive strategy. First, the complete dataset is partitioned into coarse clusters. Then, each cluster can be further divided into smaller sub-clusters. At every level, a surrogate model is trained and SHAP values are computed using the same original feature space. This allows the importance of variables to be compared across different levels while preserving interpretability.</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theoretical contribution of this work is Proposition 6.1. This proposition establishes a relationship between the explanation of a parent cluster and the explanations of its child clusters. The parent attribution can be expressed as a size-weighted combination of child attributions, plus a residual term. This residual mainly reflects the difference introduced by surrogate approximation. So changes in importance across levels are not considered inconsistencies, but rather structured variations that can be interpreted.</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experimental protocol follows the same general principles as the first contribution. The Beijing Air Quality dataset is first clustered at a global level. Then, each cluster is further divided to create a multi-level structure. At each level, a dedicated surrogate model is trained and SHAP explanations are computed. Finally, the proposed relationship is evaluated through aggregation and sensitivity analysis.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clustering results show that the obtained structure is meaningful. The selected solution achieves a Silhouette score of approximately 0.63 and a Davies-Bouldin score around 0.55. The stability analysis also shows that the conclusions remain consistent under changes in modelling parameters such as the number of clusters, projection dimension, and surrogate complexity.</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global explanation reveals an interesting environmental interpretation. The most important variables are temperature, dew point, and pressure, followed by pollutants such as carbon monoxide, nitrogen dioxide, and particulate matter. This shows that pollution patterns are not determined only by pollutant concentrations themselves. Weather conditions influence how pollutants accumulate, disperse, and interact.</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When moving from the global level to individual clusters, the explanation changes. At the global level, variables such as temperature and dew point explain the main environmental regimes. But inside each regime, different variables become important. For example, one cluster may be characterized by warmer conditions and ozone-related behaviour, while another may correspond to winter pollution involving particulate matter and other pollutants. These differences are not contradictions. They provide a more detailed understanding of the data structure.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allows us to answer the second research question. Shapley explanations can be extended to large-scale and multi-level clustering when the hierarchy is explicitly defined and the approximation process is transparent. The main remaining limitation is that attribution is still performed after the model has been created.</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II, the main achievement is extending explainability from a single clustering level to a hierarchical and large-scale scenario. The explanation remains connected to the original variables while providing insight at different levels of detail.</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But some limitations remain. The clustering process is still static, even though the air-quality data have a temporal dimension. The explanations continue to depend on surrogate models and approximation techniques. Most importantly, attribution is still post-hoc: it explains what the model has already learned, but it does not participate in the learning process itself. This observation leads naturally to the third contribution, where explanation becomes part of model optimization.</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takeaway from Contribution II is that Shapley attribution stays consistent across levels of detail once the hierarchy is explicit. The explanation therefore becomes interpretable at scale. It still describes a partition that was computed in advance, which raises the question behind the third contribution: can attribution become part of the learning itself?</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brings me to the third contribution of this thesis: DyHuCoG, which stands for Dynamic Hypergraph Cooperative Game. This contribution represents the main transition of the thesis. In the first two contributions, Shapley values were used to explain models after they were trained. Here, the objective is different: can attribution become part of the learning process itself?</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limitation of existing hypergraph recommendation models is that they usually treat the different relationships in the graph structure in a similar way. But in real recommendation scenarios, not every interaction contributes equally to the final prediction. Some user-item-context relationships are more informative than others. The idea behind DyHuCoG is therefore to use cooperative attribution during training, so that the model can learn which relationships provide the most valuable information.</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contribution addresses two main research questions. The first question is whether cooperative attribution can move beyond post-hoc explanation and become part of the recommendation learning process. The second question is whether this integration can improve recommendation quality while maintaining contextual relevance and diversity. To answer these questions, DyHuCoG combines hypergraph learning with Shapley-based attribution. The first objective is to model recommendation as a cooperative game involving users, items, and contextual information. The second objective is to introduce a preference-aware Monte Carlo Shapley estimation mechanism inside hypergraph message passing. The third objective is to optimize several objectives together: ranking accuracy, diversity, and contextual relevance. The main idea is that the same mechanism used to explain importance can also guide the learning process.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formulate this idea, recommendation is represented as a cooperative game. The players are the different elements involved in the recommendation process: users, items, and contextual information. Their interactions are represented through hyperedges, which allow modelling higher-order relationships. The contribution of each element is estimated through Shapley values. So instead of learning only from the existence of a relationship, the model also considers the contribution of this relationship to the final objective.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challenge is that exact Shapley computation is computationally impossible for large recommenders. The number of possible coalitions grows exponentially with the number of players. So DyHuCoG uses Monte Carlo approximation. Instead of evaluating all possible coalitions, we sample a limited number of permutations and estimate the average marginal contribution. This provides a practical approximation while preserving the main properties of Shapley attribution.</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presents the architecture of DyHuCoG. The model starts from a hypergraph recommendation structure where information is propagated through message passing. The main modification is the introduction of Shapley-based weights inside this propagation process. Important relationships receive stronger influence, while less informative relationships contribute less. An attention mechanism is also introduced to stabilize the learning process. Finally, the objective function combines ranking optimization, diversity, contextual information, and regularization.</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evaluation is performed on two recommendation benchmarks: MovieLens-1M and Amazon-Book. The proposed method is compared with several baseline approaches, including recent graph and hypergraph recommenders. The evaluation considers ranking quality using NDCG and Recall, but also evaluates coverage and diversity. This is important because a recommendation system should not only be accurate, but should also provide varied and meaningful recommendations.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results on MovieLens-1M show that DyHuCoG achieves the best performance among the evaluated methods. Compared with the strongest baseline, HPCF, the NDCG score improves from 0.2528 to 0.2775, representing an improvement of approximately 9.8 percent. Recall also improves, while coverage and diversity remain higher. This shows that the proposed approach does not improve accuracy by simply recommending the most popular items, but also maintains recommendation variety.</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same evaluation is conducted on Amazon-Book, which represents a much more challenging sparse recommendation scenario. Despite the higher difficulty, DyHuCoG continues to outperform the baselines. The improvement compared with HPCF reaches approximately 13.3 percent in NDCG. This result is important because it shows that cooperative attribution remains useful even when the available interaction information is limited.</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understand the contribution of each component, an ablation study is performed. The results show that each component plays an important role. Removing contextual information produces a significant degradation, which confirms the importance of context-aware recommendation. Removing Shapley weighting also reduces performance, demonstrating that cooperative attribution contributes directly to the learning process. So the improvement comes from the combination of hypergraph modelling, context information, and cooperative attribution.</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Of course, integrating Shapley estimation into training introduces an additional computational cost. DyHuCoG requires more training time than traditional hypergraph recommenders because attribution is computed during learning. But inference remains practical, with recommendation latency at a reasonable level. So the additional computational complexity is a trade-off for obtaining a more accurate and interpretable model.</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verify that the improvements are not due to random variation, statistical validation is also performed. The comparison is conducted using user-level recommendation results. The statistical tests confirm that the improvements over the baseline are significant. The effect size also shows that the improvement is not only statistically detectable, but also practically meaningful.</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results allow us to answer the third and fourth research questions. For the third question, the answer is yes: Shapley attribution can move beyond post-hoc explanation and become part of the learning process. For the fourth question, the answer is also yes: DyHuCoG improves recommendation quality while maintaining diversity and contextual relevance. So attribution becomes not only an explanation mechanism, but also a learning mechanism.</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summarize Contribution III, DyHuCoG transforms the role of explanation. Instead of generating explanations after training, the model uses attribution information while learning. This creates a direct connection between what the model optimizes and what the explanation reveals.</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But this contribution also has limitations. First, the integration of Shapley estimation increases computational cost. Second, the effectiveness of the approach depends on the availability of meaningful contextual information. Third, Monte Carlo estimation can still be improved through more advanced sampling strategies. Finally, the current evaluation is offline, and a future direction is to evaluate how users perceive and benefit from these explanations.</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main message of DyHuCoG is that attribution can become a first-class component of artificial intelligence models. Explanation is no longer only an observation after the model is built. It becomes part of the methodology used to train the model itself.</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will now summarize the main outcomes of this thesis and present the future perspectives. The objective is to connect the three contributions and highlight the common idea that links them together.</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three contributions follow a common progression: explain, scale, and guide. The first contribution explains black-box clustering using Shapley attribution and meaningful domain variables. The second contribution extends this idea to large-scale and multi-level structures while maintaining consistency between explanations. The third contribution moves beyond explanation and uses attribution to guide the learning process of recommenders. Together, these contributions show how cooperative game theory can provide a unified perspective for explainable AI.</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research has resulted in three journal publications as first author. These publications correspond to the three main stages of the thesis: explainable clustering, multi-level explainability, and cooperative recommendation learning. They reflect the progressive development of the proposed framework.</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Several limitations remain open after this work. First, exact Shapley computation remains expensive, requiring approximation methods. Second, surrogate-based explanations depend on the quality of the approximation. Third, the current experiments are mainly offline and based on benchmark datasets. Finally, actionability should be evaluated more directly with human users to measure whether explanations actually improve understanding and decision-making.</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limitations naturally define several future research directions. The first direction is improving Shapley estimation through more efficient and adaptive sampling strategies. The second direction is extending the framework to dynamic and online recommenders where preferences evolve over time. The third direction is conducting user-centered evaluations to measure trust and usefulness. Finally, the framework could be extended toward other trustworthy AI objectives such as fairness.</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this thesis shows that cooperative game theory gives one common framework for explainable AI across clustering and recommendation. The main contributions demonstrate four important points. First, Shapley attribution provides a principled way to measure contribution. Second, it can explain black-box clustering using meaningful variables. Third, it can remain interpretable when moving to large-scale and multi-level structures. Finally, it can become part of the learning process itself through DyHuCoG. The main message is that explanation need not stay a description of what happened. It can become a way to understand, control and improve AI systems.</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slides contain the main references used throughout this thesis. I will not discuss them individually, but they represent the scientific foundations supporting the different contributions presented today.</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this is the second half of the reference list, including the datasets, the statistical tests, and the related article with the team.</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 that brings me to the end of the presentation.</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very much for your attention. I would be pleased to answer your questions and discuss any aspect of this work, including the methodology, theoretical foundations, or experimental results.</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complete Table 7.1: every baseline, both datasets, with mean and standard deviation over five seeds. Two points, if useful. The standard deviations are about one tenth of the gap between DyHuCoG and HPCF on every metric, so the ordering doesn't depend on the seed. The improvement is also consistent across all four metrics, not concentrated on one.</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full Table 7.6: paired t-tests of DyHuCoG against every baseline on per-user NDCG, on MovieLens-1M, over six thousand and forty users. Holm-Bonferroni gives each of the six p-values its own threshold, and every p-value is many orders of magnitude below it. Cohen's d is 1.33 against HPCF and larger against the weaker baselines, and above 0.8 is normally counted as large. Wilcoxon agrees.</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And finally, the cost figures. Table 7.3 gives training time, inference latency and memory for every model on both datasets: DyHuCoG trains in about two thousand seconds against eleven hundred for HPCF, and inference stays under two milliseconds per query. Table 7.4 is the Monte Carlo convergence study, where ten permutations give about ninety-five percent accuracy and fifty give ninety-nine. Fifty, then, is the knee of the curve.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jpg"/><Relationship Id="rId5" Type="http://schemas.openxmlformats.org/officeDocument/2006/relationships/notesSlide" Target="../notesSlides/notesSlide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image" Target="../media/image9.png"/><Relationship Id="rId4" Type="http://schemas.openxmlformats.org/officeDocument/2006/relationships/image" Target="../media/image11.png"/><Relationship Id="rId5" Type="http://schemas.openxmlformats.org/officeDocument/2006/relationships/notesSlide" Target="../notesSlides/notesSlide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9.xml"/><Relationship Id="rId4" Type="http://schemas.openxmlformats.org/officeDocument/2006/relationships/image" Target="../media/image56.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0.xml"/><Relationship Id="rId4" Type="http://schemas.openxmlformats.org/officeDocument/2006/relationships/image" Target="../media/image5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1.xml"/><Relationship Id="rId4" Type="http://schemas.openxmlformats.org/officeDocument/2006/relationships/image" Target="../media/image58.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2.xml"/><Relationship Id="rId4" Type="http://schemas.openxmlformats.org/officeDocument/2006/relationships/image" Target="../media/image59.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3.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8.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1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0.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3.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4.xml"/><Relationship Id="rId4" Type="http://schemas.openxmlformats.org/officeDocument/2006/relationships/image" Target="../media/image60.png"/><Relationship Id="rId5" Type="http://schemas.openxmlformats.org/officeDocument/2006/relationships/image" Target="../media/image61.png"/><Relationship Id="rId6" Type="http://schemas.openxmlformats.org/officeDocument/2006/relationships/image" Target="../media/image62.png"/><Relationship Id="rId7" Type="http://schemas.openxmlformats.org/officeDocument/2006/relationships/image" Target="../media/image63.png"/><Relationship Id="rId8" Type="http://schemas.openxmlformats.org/officeDocument/2006/relationships/image" Target="../media/image64.png"/><Relationship Id="rId9" Type="http://schemas.openxmlformats.org/officeDocument/2006/relationships/image" Target="../media/image65.png"/><Relationship Id="rId10" Type="http://schemas.openxmlformats.org/officeDocument/2006/relationships/image" Target="../media/image6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5.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8.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29.xml"/><Relationship Id="rId4" Type="http://schemas.openxmlformats.org/officeDocument/2006/relationships/image" Target="../media/image67.png"/><Relationship Id="rId5" Type="http://schemas.openxmlformats.org/officeDocument/2006/relationships/image" Target="../media/image68.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0.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3.xml"/><Relationship Id="rId4" Type="http://schemas.openxmlformats.org/officeDocument/2006/relationships/image" Target="../media/image69.png"/><Relationship Id="rId5" Type="http://schemas.openxmlformats.org/officeDocument/2006/relationships/image" Target="../media/image7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4.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5.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6.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8.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39.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0.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1.xml"/><Relationship Id="rId4" Type="http://schemas.openxmlformats.org/officeDocument/2006/relationships/image" Target="../media/image71.png"/><Relationship Id="rId5" Type="http://schemas.openxmlformats.org/officeDocument/2006/relationships/image" Target="../media/image72.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2.xml"/><Relationship Id="rId4" Type="http://schemas.openxmlformats.org/officeDocument/2006/relationships/image" Target="../media/image73.png"/><Relationship Id="rId5" Type="http://schemas.openxmlformats.org/officeDocument/2006/relationships/image" Target="../media/image74.png"/><Relationship Id="rId6" Type="http://schemas.openxmlformats.org/officeDocument/2006/relationships/image" Target="../media/image7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4.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5.xml"/><Relationship Id="rId4" Type="http://schemas.openxmlformats.org/officeDocument/2006/relationships/image" Target="../media/image76.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6.xml"/><Relationship Id="rId4" Type="http://schemas.openxmlformats.org/officeDocument/2006/relationships/image" Target="../media/image77.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8.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49.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0.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1.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3.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4.xml"/><Relationship Id="rId4" Type="http://schemas.openxmlformats.org/officeDocument/2006/relationships/image" Target="../media/image78.png"/><Relationship Id="rId5" Type="http://schemas.openxmlformats.org/officeDocument/2006/relationships/image" Target="../media/image79.png"/><Relationship Id="rId6" Type="http://schemas.openxmlformats.org/officeDocument/2006/relationships/image" Target="../media/image80.png"/><Relationship Id="rId7" Type="http://schemas.openxmlformats.org/officeDocument/2006/relationships/image" Target="../media/image81.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5.xml"/><Relationship Id="rId4" Type="http://schemas.openxmlformats.org/officeDocument/2006/relationships/image" Target="../media/image82.png"/><Relationship Id="rId5" Type="http://schemas.openxmlformats.org/officeDocument/2006/relationships/image" Target="../media/image83.png"/><Relationship Id="rId6" Type="http://schemas.openxmlformats.org/officeDocument/2006/relationships/image" Target="../media/image84.png"/><Relationship Id="rId7" Type="http://schemas.openxmlformats.org/officeDocument/2006/relationships/image" Target="../media/image85.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6.xml"/><Relationship Id="rId4" Type="http://schemas.openxmlformats.org/officeDocument/2006/relationships/image" Target="../media/image86.png"/><Relationship Id="rId5" Type="http://schemas.openxmlformats.org/officeDocument/2006/relationships/image" Target="../media/image87.png"/><Relationship Id="rId6" Type="http://schemas.openxmlformats.org/officeDocument/2006/relationships/image" Target="../media/image88.png"/><Relationship Id="rId7" Type="http://schemas.openxmlformats.org/officeDocument/2006/relationships/image" Target="../media/image89.png"/><Relationship Id="rId8" Type="http://schemas.openxmlformats.org/officeDocument/2006/relationships/image" Target="../media/image90.png"/><Relationship Id="rId9" Type="http://schemas.openxmlformats.org/officeDocument/2006/relationships/image" Target="../media/image91.png"/><Relationship Id="rId10" Type="http://schemas.openxmlformats.org/officeDocument/2006/relationships/image" Target="../media/image92.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8.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59.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0.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1.xml"/><Relationship Id="rId4" Type="http://schemas.openxmlformats.org/officeDocument/2006/relationships/image" Target="../media/image93.png"/></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2.xml"/><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3.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4.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5.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6.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8.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69.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70.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71.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7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73.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74.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1.png"/><Relationship Id="rId3" Type="http://schemas.openxmlformats.org/officeDocument/2006/relationships/image" Target="../media/image55.jpg"/><Relationship Id="rId4" Type="http://schemas.openxmlformats.org/officeDocument/2006/relationships/image" Target="../media/image26.png"/><Relationship Id="rId5" Type="http://schemas.openxmlformats.org/officeDocument/2006/relationships/image" Target="../media/image33.png"/><Relationship Id="rId6" Type="http://schemas.openxmlformats.org/officeDocument/2006/relationships/notesSlide" Target="../notesSlides/notesSlide75.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3.png"/><Relationship Id="rId3" Type="http://schemas.openxmlformats.org/officeDocument/2006/relationships/image" Target="../media/image54.png"/><Relationship Id="rId4" Type="http://schemas.openxmlformats.org/officeDocument/2006/relationships/image" Target="../media/image55.jpg"/><Relationship Id="rId5" Type="http://schemas.openxmlformats.org/officeDocument/2006/relationships/notesSlide" Target="../notesSlides/notesSlide76.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7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78.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5.jpg"/><Relationship Id="rId3" Type="http://schemas.openxmlformats.org/officeDocument/2006/relationships/notesSlide" Target="../notesSlides/notesSlide79.xml"/></Relationships>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um5_logo.png"/>
          <p:cNvPicPr>
            <a:picLocks noChangeAspect="1"/>
          </p:cNvPicPr>
          <p:nvPr/>
        </p:nvPicPr>
        <p:blipFill>
          <a:blip r:embed="rId2"/>
          <a:stretch>
            <a:fillRect/>
          </a:stretch>
        </p:blipFill>
        <p:spPr>
          <a:xfrm>
            <a:off x="1028700" y="457200"/>
            <a:ext cx="1255612" cy="914400"/>
          </a:xfrm>
          <a:prstGeom prst="rect">
            <a:avLst/>
          </a:prstGeom>
        </p:spPr>
      </p:pic>
      <p:pic>
        <p:nvPicPr>
          <p:cNvPr id="3" name="Picture 2" descr="ministry_logo.png"/>
          <p:cNvPicPr>
            <a:picLocks noChangeAspect="1"/>
          </p:cNvPicPr>
          <p:nvPr/>
        </p:nvPicPr>
        <p:blipFill>
          <a:blip r:embed="rId3"/>
          <a:stretch>
            <a:fillRect/>
          </a:stretch>
        </p:blipFill>
        <p:spPr>
          <a:xfrm>
            <a:off x="8001000" y="365760"/>
            <a:ext cx="2167205" cy="1143000"/>
          </a:xfrm>
          <a:prstGeom prst="rect">
            <a:avLst/>
          </a:prstGeom>
        </p:spPr>
      </p:pic>
      <p:pic>
        <p:nvPicPr>
          <p:cNvPr id="4" name="Picture 3" descr="ensias_logo.jpg"/>
          <p:cNvPicPr>
            <a:picLocks noChangeAspect="1"/>
          </p:cNvPicPr>
          <p:nvPr/>
        </p:nvPicPr>
        <p:blipFill>
          <a:blip r:embed="rId4"/>
          <a:stretch>
            <a:fillRect/>
          </a:stretch>
        </p:blipFill>
        <p:spPr>
          <a:xfrm>
            <a:off x="15796260" y="411480"/>
            <a:ext cx="1422050" cy="1005840"/>
          </a:xfrm>
          <a:prstGeom prst="rect">
            <a:avLst/>
          </a:prstGeom>
        </p:spPr>
      </p:pic>
      <p:sp>
        <p:nvSpPr>
          <p:cNvPr id="5" name="TextBox 4"/>
          <p:cNvSpPr txBox="1"/>
          <p:nvPr/>
        </p:nvSpPr>
        <p:spPr>
          <a:xfrm>
            <a:off x="1028700" y="1536192"/>
            <a:ext cx="16230600" cy="365760"/>
          </a:xfrm>
          <a:prstGeom prst="rect">
            <a:avLst/>
          </a:prstGeom>
          <a:noFill/>
        </p:spPr>
        <p:txBody>
          <a:bodyPr anchor="t" rtlCol="false" lIns="0" tIns="0" rIns="0" bIns="0" wrap="square"/>
          <a:lstStyle/>
          <a:p>
            <a:pPr algn="ctr">
              <a:lnSpc>
                <a:spcPts val="1900"/>
              </a:lnSpc>
              <a:spcBef>
                <a:spcPts val="0"/>
              </a:spcBef>
              <a:buNone/>
            </a:pPr>
            <a:r>
              <a:rPr lang="en-US" sz="1500" b="true">
                <a:solidFill>
                  <a:srgbClr val="8A8378"/>
                </a:solidFill>
                <a:latin typeface="Nunito Bold"/>
                <a:ea typeface="Nunito Bold"/>
                <a:cs typeface="Nunito Bold"/>
                <a:sym typeface="Nunito Bold"/>
              </a:rPr>
              <a:t>Doctoral Studies Center in Information and Engineering Sciences and Technologies (ST2I)</a:t>
            </a:r>
          </a:p>
        </p:txBody>
      </p:sp>
      <p:sp>
        <p:nvSpPr>
          <p:cNvPr id="6" name="TextBox 5"/>
          <p:cNvSpPr txBox="1"/>
          <p:nvPr/>
        </p:nvSpPr>
        <p:spPr>
          <a:xfrm>
            <a:off x="1028700" y="1938528"/>
            <a:ext cx="16230600" cy="365760"/>
          </a:xfrm>
          <a:prstGeom prst="rect">
            <a:avLst/>
          </a:prstGeom>
          <a:noFill/>
        </p:spPr>
        <p:txBody>
          <a:bodyPr anchor="t" rtlCol="false" lIns="0" tIns="0" rIns="0" bIns="0" wrap="square"/>
          <a:lstStyle/>
          <a:p>
            <a:pPr algn="ctr">
              <a:lnSpc>
                <a:spcPts val="1900"/>
              </a:lnSpc>
              <a:spcBef>
                <a:spcPts val="0"/>
              </a:spcBef>
              <a:buNone/>
            </a:pPr>
            <a:r>
              <a:rPr lang="en-US" sz="1400" b="true" spc="200">
                <a:solidFill>
                  <a:srgbClr val="1F7A8C"/>
                </a:solidFill>
                <a:latin typeface="Nunito Ultra-Bold"/>
                <a:ea typeface="Nunito Ultra-Bold"/>
                <a:cs typeface="Nunito Ultra-Bold"/>
                <a:sym typeface="Nunito Ultra-Bold"/>
              </a:rPr>
              <a:t>PHD THESIS DEFENCE  ·  COMPUTER SCIENCE</a:t>
            </a:r>
          </a:p>
        </p:txBody>
      </p:sp>
      <p:sp>
        <p:nvSpPr>
          <p:cNvPr id="7" name="TextBox 6"/>
          <p:cNvSpPr txBox="1"/>
          <p:nvPr/>
        </p:nvSpPr>
        <p:spPr>
          <a:xfrm>
            <a:off x="1028700" y="2286000"/>
            <a:ext cx="16230600" cy="1828800"/>
          </a:xfrm>
          <a:prstGeom prst="rect">
            <a:avLst/>
          </a:prstGeom>
          <a:noFill/>
        </p:spPr>
        <p:txBody>
          <a:bodyPr anchor="t" rtlCol="false" lIns="0" tIns="0" rIns="0" bIns="0" wrap="square"/>
          <a:lstStyle/>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Cooperative Game Theory for</a:t>
            </a:r>
          </a:p>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Explainable AI in Recommendation Systems</a:t>
            </a:r>
          </a:p>
        </p:txBody>
      </p:sp>
      <p:sp>
        <p:nvSpPr>
          <p:cNvPr id="8" name="TextBox 7"/>
          <p:cNvSpPr txBox="1"/>
          <p:nvPr/>
        </p:nvSpPr>
        <p:spPr>
          <a:xfrm>
            <a:off x="1028700" y="3913632"/>
            <a:ext cx="16230600" cy="457200"/>
          </a:xfrm>
          <a:prstGeom prst="rect">
            <a:avLst/>
          </a:prstGeom>
          <a:noFill/>
        </p:spPr>
        <p:txBody>
          <a:bodyPr anchor="t" rtlCol="false" lIns="0" tIns="0" rIns="0" bIns="0" wrap="square"/>
          <a:lstStyle/>
          <a:p>
            <a:pPr algn="ctr">
              <a:lnSpc>
                <a:spcPts val="3000"/>
              </a:lnSpc>
              <a:spcBef>
                <a:spcPts val="0"/>
              </a:spcBef>
              <a:buNone/>
            </a:pPr>
            <a:r>
              <a:rPr lang="en-US" sz="2500" b="true" spc="-100">
                <a:solidFill>
                  <a:srgbClr val="4472C4"/>
                </a:solidFill>
                <a:latin typeface="Nunito Bold"/>
                <a:ea typeface="Nunito Bold"/>
                <a:cs typeface="Nunito Bold"/>
                <a:sym typeface="Nunito Bold"/>
              </a:rPr>
              <a:t>A Shapley Framework for Actionable Insight</a:t>
            </a:r>
          </a:p>
        </p:txBody>
      </p:sp>
      <p:sp>
        <p:nvSpPr>
          <p:cNvPr id="9" name="Rounded Rectangle 8"/>
          <p:cNvSpPr/>
          <p:nvPr/>
        </p:nvSpPr>
        <p:spPr>
          <a:xfrm>
            <a:off x="2926080" y="4526280"/>
            <a:ext cx="6035040" cy="786384"/>
          </a:xfrm>
          <a:prstGeom prst="roundRect">
            <a:avLst>
              <a:gd name="adj" fmla="val 27906"/>
            </a:avLst>
          </a:prstGeom>
          <a:solidFill>
            <a:srgbClr val="4472C4"/>
          </a:solidFill>
          <a:ln>
            <a:noFill/>
          </a:ln>
        </p:spPr>
        <p:txBody>
          <a:bodyPr anchor="ctr" rtlCol="false" lIns="91440" tIns="45720" rIns="91440" bIns="45720" wrap="square"/>
          <a:lstStyle/>
          <a:p>
            <a:pPr algn="ctr">
              <a:lnSpc>
                <a:spcPts val="1400"/>
              </a:lnSpc>
              <a:spcBef>
                <a:spcPts val="0"/>
              </a:spcBef>
              <a:buNone/>
            </a:pPr>
            <a:r>
              <a:rPr lang="en-US" sz="1100" b="true" spc="150">
                <a:solidFill>
                  <a:srgbClr val="ECC665"/>
                </a:solidFill>
                <a:latin typeface="Nunito Ultra-Bold"/>
                <a:ea typeface="Nunito Ultra-Bold"/>
                <a:cs typeface="Nunito Ultra-Bold"/>
                <a:sym typeface="Nunito Ultra-Bold"/>
              </a:rPr>
              <a:t>PHD VIVA PRESENTED BY</a:t>
            </a:r>
          </a:p>
          <a:p>
            <a:pPr algn="ctr">
              <a:lnSpc>
                <a:spcPts val="2600"/>
              </a:lnSpc>
              <a:spcBef>
                <a:spcPts val="200"/>
              </a:spcBef>
              <a:buNone/>
            </a:pPr>
            <a:r>
              <a:rPr lang="en-US" sz="2200" b="true">
                <a:solidFill>
                  <a:srgbClr val="FFFFFF"/>
                </a:solidFill>
                <a:latin typeface="Nunito Ultra-Bold"/>
                <a:ea typeface="Nunito Ultra-Bold"/>
                <a:cs typeface="Nunito Ultra-Bold"/>
                <a:sym typeface="Nunito Ultra-Bold"/>
              </a:rPr>
              <a:t>Mouad LOUHICHI</a:t>
            </a:r>
          </a:p>
        </p:txBody>
      </p:sp>
      <p:sp>
        <p:nvSpPr>
          <p:cNvPr id="10" name="Rounded Rectangle 9"/>
          <p:cNvSpPr/>
          <p:nvPr/>
        </p:nvSpPr>
        <p:spPr>
          <a:xfrm>
            <a:off x="9326880" y="4526280"/>
            <a:ext cx="6035040" cy="786384"/>
          </a:xfrm>
          <a:prstGeom prst="roundRect">
            <a:avLst>
              <a:gd name="adj" fmla="val 27906"/>
            </a:avLst>
          </a:prstGeom>
          <a:solidFill>
            <a:srgbClr val="F6ECDF"/>
          </a:solidFill>
          <a:ln>
            <a:noFill/>
          </a:ln>
        </p:spPr>
        <p:txBody>
          <a:bodyPr anchor="ctr" rtlCol="false" lIns="91440" tIns="45720" rIns="91440" bIns="45720" wrap="square"/>
          <a:lstStyle/>
          <a:p>
            <a:pPr algn="ctr">
              <a:lnSpc>
                <a:spcPts val="1400"/>
              </a:lnSpc>
              <a:spcBef>
                <a:spcPts val="0"/>
              </a:spcBef>
              <a:buNone/>
            </a:pPr>
            <a:r>
              <a:rPr lang="en-US" sz="1100" b="true" spc="150">
                <a:solidFill>
                  <a:srgbClr val="1F7A8C"/>
                </a:solidFill>
                <a:latin typeface="Nunito Ultra-Bold"/>
                <a:ea typeface="Nunito Ultra-Bold"/>
                <a:cs typeface="Nunito Ultra-Bold"/>
                <a:sym typeface="Nunito Ultra-Bold"/>
              </a:rPr>
              <a:t>SUPERVISED BY</a:t>
            </a:r>
          </a:p>
          <a:p>
            <a:pPr algn="ctr">
              <a:lnSpc>
                <a:spcPts val="2400"/>
              </a:lnSpc>
              <a:spcBef>
                <a:spcPts val="200"/>
              </a:spcBef>
              <a:buNone/>
            </a:pPr>
            <a:r>
              <a:rPr lang="en-US" sz="2000" b="true">
                <a:solidFill>
                  <a:srgbClr val="111111"/>
                </a:solidFill>
                <a:latin typeface="Nunito Ultra-Bold"/>
                <a:ea typeface="Nunito Ultra-Bold"/>
                <a:cs typeface="Nunito Ultra-Bold"/>
                <a:sym typeface="Nunito Ultra-Bold"/>
              </a:rPr>
              <a:t>Pr. Mohamed LAZAAR  ·  PES, ENSIAS</a:t>
            </a:r>
          </a:p>
        </p:txBody>
      </p:sp>
      <p:sp>
        <p:nvSpPr>
          <p:cNvPr id="11" name="TextBox 10"/>
          <p:cNvSpPr txBox="1"/>
          <p:nvPr/>
        </p:nvSpPr>
        <p:spPr>
          <a:xfrm>
            <a:off x="1028700" y="5504688"/>
            <a:ext cx="16230600" cy="274320"/>
          </a:xfrm>
          <a:prstGeom prst="rect">
            <a:avLst/>
          </a:prstGeom>
          <a:noFill/>
        </p:spPr>
        <p:txBody>
          <a:bodyPr anchor="t" rtlCol="false" lIns="0" tIns="0" rIns="0" bIns="0" wrap="square"/>
          <a:lstStyle/>
          <a:p>
            <a:pPr algn="l">
              <a:lnSpc>
                <a:spcPts val="1500"/>
              </a:lnSpc>
              <a:spcBef>
                <a:spcPts val="0"/>
              </a:spcBef>
              <a:buNone/>
            </a:pPr>
            <a:r>
              <a:rPr lang="en-US" sz="1200" b="true" spc="200">
                <a:solidFill>
                  <a:srgbClr val="8A8378"/>
                </a:solidFill>
                <a:latin typeface="Nunito Ultra-Bold"/>
                <a:ea typeface="Nunito Ultra-Bold"/>
                <a:cs typeface="Nunito Ultra-Bold"/>
                <a:sym typeface="Nunito Ultra-Bold"/>
              </a:rPr>
              <a:t>JURY MEMBERS</a:t>
            </a:r>
          </a:p>
        </p:txBody>
      </p:sp>
      <p:graphicFrame>
        <p:nvGraphicFramePr>
          <p:cNvPr id="12" name="Table 11"/>
          <p:cNvGraphicFramePr>
            <a:graphicFrameLocks noGrp="1"/>
          </p:cNvGraphicFramePr>
          <p:nvPr/>
        </p:nvGraphicFramePr>
        <p:xfrm>
          <a:off x="1028700" y="5797296"/>
          <a:ext cx="16230599" cy="3552190"/>
        </p:xfrm>
        <a:graphic>
          <a:graphicData uri="http://schemas.openxmlformats.org/drawingml/2006/table">
            <a:tbl>
              <a:tblPr firstRow="0" bandRow="0" firstCol="0" lastRow="0" lastCol="0" bandCol="0">
                <a:tableStyleId>{2D5ABB26-0587-4C30-8999-92F81FD0307C}</a:tableStyleId>
              </a:tblPr>
              <a:tblGrid>
                <a:gridCol w="1971942"/>
                <a:gridCol w="5005699"/>
                <a:gridCol w="1365190"/>
                <a:gridCol w="7887768"/>
              </a:tblGrid>
              <a:tr h="340360">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Role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Name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560"/>
                        </a:lnSpc>
                        <a:spcBef>
                          <a:spcPts val="0"/>
                        </a:spcBef>
                        <a:buNone/>
                      </a:pPr>
                      <a:r>
                        <a:rPr lang="en-US" sz="1200" b="true">
                          <a:solidFill>
                            <a:srgbClr val="FFFFFF"/>
                          </a:solidFill>
                          <a:latin typeface="Nunito Bold"/>
                          <a:ea typeface="Nunito Bold"/>
                          <a:cs typeface="Nunito Bold"/>
                          <a:sym typeface="Nunito Bold"/>
                        </a:rPr>
                        <a:t>Grade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Institution</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President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Abdellatif EL AFIA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Supervisor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Mohamed LAZAAR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M'hamed AIT KBIR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FST, Abdelmalek Essaâdi University, Tangier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Oussama MAHBOUB</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ENSA, Abdelmalek Essaâdi University, Tetouan</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Noureddine KERZAZI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Hicham OMARA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FP Taza, Sidi Mohamed Ben Abdellah University, Fez</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Fatima OUZAYD</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Yasser EL MADANI EL ALAMI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Guest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Yassine AFOUDI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Faculty of Sciences, Cadi Ayyad University, Marrakech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13" name="TextBox 12"/>
          <p:cNvSpPr txBox="1"/>
          <p:nvPr/>
        </p:nvSpPr>
        <p:spPr>
          <a:xfrm>
            <a:off x="1028700" y="9514078"/>
            <a:ext cx="16230600" cy="274320"/>
          </a:xfrm>
          <a:prstGeom prst="rect">
            <a:avLst/>
          </a:prstGeom>
          <a:noFill/>
        </p:spPr>
        <p:txBody>
          <a:bodyPr anchor="t" rtlCol="false" lIns="0" tIns="0" rIns="0" bIns="0" wrap="square"/>
          <a:lstStyle/>
          <a:p>
            <a:pPr algn="ctr">
              <a:lnSpc>
                <a:spcPts val="1700"/>
              </a:lnSpc>
              <a:spcBef>
                <a:spcPts val="0"/>
              </a:spcBef>
              <a:buNone/>
            </a:pPr>
            <a:r>
              <a:rPr lang="en-US" sz="1400" b="true">
                <a:solidFill>
                  <a:srgbClr val="8A8378"/>
                </a:solidFill>
                <a:latin typeface="Nunito Bold"/>
                <a:ea typeface="Nunito Bold"/>
                <a:cs typeface="Nunito Bold"/>
                <a:sym typeface="Nunito Bold"/>
              </a:rPr>
              <a:t>Rabat, Morocco  ·  2026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02</a:t>
            </a:r>
          </a:p>
        </p:txBody>
      </p:sp>
      <p:sp>
        <p:nvSpPr>
          <p:cNvPr id="5" name="TextBox 4"/>
          <p:cNvSpPr txBox="1"/>
          <p:nvPr/>
        </p:nvSpPr>
        <p:spPr>
          <a:xfrm>
            <a:off x="1028700" y="1737360"/>
            <a:ext cx="16230600" cy="1463040"/>
          </a:xfrm>
          <a:prstGeom prst="rect">
            <a:avLst/>
          </a:prstGeom>
          <a:noFill/>
        </p:spPr>
        <p:txBody>
          <a:bodyPr anchor="t" rtlCol="false" lIns="0" tIns="0" rIns="0" bIns="0" wrap="square"/>
          <a:lstStyle/>
          <a:p>
            <a:pPr algn="ctr">
              <a:lnSpc>
                <a:spcPts val="9600"/>
              </a:lnSpc>
              <a:spcBef>
                <a:spcPts val="0"/>
              </a:spcBef>
              <a:buNone/>
            </a:pPr>
            <a:r>
              <a:rPr lang="en-US" sz="9200" b="true" spc="-500">
                <a:solidFill>
                  <a:srgbClr val="111111"/>
                </a:solidFill>
                <a:latin typeface="Roca Two Bold"/>
                <a:ea typeface="Roca Two Bold"/>
                <a:cs typeface="Roca Two Bold"/>
                <a:sym typeface="Roca Two Bold"/>
              </a:rPr>
              <a:t>Outline</a:t>
            </a:r>
          </a:p>
        </p:txBody>
      </p:sp>
      <p:pic>
        <p:nvPicPr>
          <p:cNvPr id="6" name="Picture 5" descr="image.png"/>
          <p:cNvPicPr>
            <a:picLocks noChangeAspect="1"/>
          </p:cNvPicPr>
          <p:nvPr/>
        </p:nvPicPr>
        <p:blipFill>
          <a:blip r:embed="rId3"/>
          <a:stretch>
            <a:fillRect/>
          </a:stretch>
        </p:blipFill>
        <p:spPr>
          <a:xfrm>
            <a:off x="11612880" y="1554480"/>
            <a:ext cx="548640" cy="301180"/>
          </a:xfrm>
          <a:prstGeom prst="rect">
            <a:avLst/>
          </a:prstGeom>
        </p:spPr>
      </p:pic>
      <p:pic>
        <p:nvPicPr>
          <p:cNvPr id="7" name="Picture 6" descr="image.png"/>
          <p:cNvPicPr>
            <a:picLocks noChangeAspect="1"/>
          </p:cNvPicPr>
          <p:nvPr/>
        </p:nvPicPr>
        <p:blipFill>
          <a:blip r:embed="rId4"/>
          <a:stretch>
            <a:fillRect/>
          </a:stretch>
        </p:blipFill>
        <p:spPr>
          <a:xfrm rot="10800000">
            <a:off x="5943600" y="2651760"/>
            <a:ext cx="502920" cy="276082"/>
          </a:xfrm>
          <a:prstGeom prst="rect">
            <a:avLst/>
          </a:prstGeom>
        </p:spPr>
      </p:pic>
      <p:sp>
        <p:nvSpPr>
          <p:cNvPr id="8" name="TextBox 7"/>
          <p:cNvSpPr txBox="1"/>
          <p:nvPr/>
        </p:nvSpPr>
        <p:spPr>
          <a:xfrm>
            <a:off x="1028700" y="3246120"/>
            <a:ext cx="16230600" cy="457200"/>
          </a:xfrm>
          <a:prstGeom prst="rect">
            <a:avLst/>
          </a:prstGeom>
          <a:noFill/>
        </p:spPr>
        <p:txBody>
          <a:bodyPr anchor="t" rtlCol="false" lIns="0" tIns="0" rIns="0" bIns="0" wrap="square"/>
          <a:lstStyle/>
          <a:p>
            <a:pPr algn="ctr">
              <a:lnSpc>
                <a:spcPts val="2600"/>
              </a:lnSpc>
              <a:spcBef>
                <a:spcPts val="0"/>
              </a:spcBef>
              <a:buNone/>
            </a:pPr>
            <a:r>
              <a:rPr lang="en-US" sz="2100" b="true">
                <a:solidFill>
                  <a:srgbClr val="8A8378"/>
                </a:solidFill>
                <a:latin typeface="Nunito Semi-Bold"/>
                <a:ea typeface="Nunito Semi-Bold"/>
                <a:cs typeface="Nunito Semi-Bold"/>
                <a:sym typeface="Nunito Semi-Bold"/>
              </a:rPr>
              <a:t>Seven parts  ·  each contribution follows the same structure: research gap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objectives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methodology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protocol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results </a:t>
            </a:r>
            <a:r>
              <a:rPr lang="en-US" sz="2100" b="true">
                <a:solidFill>
                  <a:srgbClr val="8A8378"/>
                </a:solidFill>
                <a:latin typeface="Calibri"/>
                <a:ea typeface="Calibri"/>
                <a:cs typeface="Calibri"/>
                <a:sym typeface="Calibri"/>
              </a:rPr>
              <a:t>→ </a:t>
            </a:r>
            <a:r>
              <a:rPr lang="en-US" sz="2100" b="true">
                <a:solidFill>
                  <a:srgbClr val="8A8378"/>
                </a:solidFill>
                <a:latin typeface="Nunito Semi-Bold"/>
                <a:ea typeface="Nunito Semi-Bold"/>
                <a:cs typeface="Nunito Semi-Bold"/>
                <a:sym typeface="Nunito Semi-Bold"/>
              </a:rPr>
              <a:t>findings</a:t>
            </a:r>
          </a:p>
        </p:txBody>
      </p:sp>
      <p:sp>
        <p:nvSpPr>
          <p:cNvPr id="9" name="Rounded Rectangle 8"/>
          <p:cNvSpPr/>
          <p:nvPr/>
        </p:nvSpPr>
        <p:spPr>
          <a:xfrm>
            <a:off x="1028700" y="406908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01</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Introduction</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Motivation · Actionable insight · Why XAI matters</a:t>
            </a:r>
          </a:p>
        </p:txBody>
      </p:sp>
      <p:sp>
        <p:nvSpPr>
          <p:cNvPr id="10" name="Rounded Rectangle 9"/>
          <p:cNvSpPr/>
          <p:nvPr/>
        </p:nvSpPr>
        <p:spPr>
          <a:xfrm>
            <a:off x="5154930" y="406908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02</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Context &amp; Problematic</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Four approaches · Limitations · Research questions</a:t>
            </a:r>
          </a:p>
        </p:txBody>
      </p:sp>
      <p:sp>
        <p:nvSpPr>
          <p:cNvPr id="11" name="Rounded Rectangle 10"/>
          <p:cNvSpPr/>
          <p:nvPr/>
        </p:nvSpPr>
        <p:spPr>
          <a:xfrm>
            <a:off x="9281160" y="406908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03</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Experimental Protocol</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Four datasets · Baselines · Metrics · Hardware</a:t>
            </a:r>
          </a:p>
        </p:txBody>
      </p:sp>
      <p:sp>
        <p:nvSpPr>
          <p:cNvPr id="12" name="Rounded Rectangle 11"/>
          <p:cNvSpPr/>
          <p:nvPr/>
        </p:nvSpPr>
        <p:spPr>
          <a:xfrm>
            <a:off x="13407390" y="406908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04</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Contribution I</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Deep dive: cooperative games · Explainable clustering (Wine)</a:t>
            </a:r>
          </a:p>
        </p:txBody>
      </p:sp>
      <p:sp>
        <p:nvSpPr>
          <p:cNvPr id="13" name="Rounded Rectangle 12"/>
          <p:cNvSpPr/>
          <p:nvPr/>
        </p:nvSpPr>
        <p:spPr>
          <a:xfrm>
            <a:off x="1028700" y="667512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05</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Contribution II</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Multi-level XAI for large-scale clustering (Beijing)</a:t>
            </a:r>
          </a:p>
        </p:txBody>
      </p:sp>
      <p:sp>
        <p:nvSpPr>
          <p:cNvPr id="14" name="Rounded Rectangle 13"/>
          <p:cNvSpPr/>
          <p:nvPr/>
        </p:nvSpPr>
        <p:spPr>
          <a:xfrm>
            <a:off x="5154930" y="6675120"/>
            <a:ext cx="3851910" cy="2331720"/>
          </a:xfrm>
          <a:prstGeom prst="roundRect">
            <a:avLst>
              <a:gd name="adj" fmla="val 15686"/>
            </a:avLst>
          </a:prstGeom>
          <a:noFill/>
          <a:ln w="28575">
            <a:solidFill>
              <a:srgbClr val="4472C4"/>
            </a:solidFill>
          </a:ln>
        </p:spPr>
        <p:txBody>
          <a:bodyPr anchor="t" rtlCol="false" lIns="365760" tIns="365760" rIns="320040" bIns="274320" wrap="square"/>
          <a:lstStyle/>
          <a:p>
            <a:pPr algn="l">
              <a:lnSpc>
                <a:spcPts val="3400"/>
              </a:lnSpc>
              <a:spcBef>
                <a:spcPts val="0"/>
              </a:spcBef>
              <a:buNone/>
            </a:pPr>
            <a:r>
              <a:rPr lang="en-US" sz="3000" b="true">
                <a:solidFill>
                  <a:srgbClr val="1F7A8C"/>
                </a:solidFill>
                <a:latin typeface="Nunito Ultra-Bold"/>
                <a:ea typeface="Nunito Ultra-Bold"/>
                <a:cs typeface="Nunito Ultra-Bold"/>
                <a:sym typeface="Nunito Ultra-Bold"/>
              </a:rPr>
              <a:t>06</a:t>
            </a:r>
          </a:p>
          <a:p>
            <a:pPr algn="l">
              <a:lnSpc>
                <a:spcPts val="2900"/>
              </a:lnSpc>
              <a:spcBef>
                <a:spcPts val="600"/>
              </a:spcBef>
              <a:buNone/>
            </a:pPr>
            <a:r>
              <a:rPr lang="en-US" sz="2500" b="true">
                <a:solidFill>
                  <a:srgbClr val="111111"/>
                </a:solidFill>
                <a:latin typeface="Nunito Ultra-Bold"/>
                <a:ea typeface="Nunito Ultra-Bold"/>
                <a:cs typeface="Nunito Ultra-Bold"/>
                <a:sym typeface="Nunito Ultra-Bold"/>
              </a:rPr>
              <a:t>Contribution III</a:t>
            </a:r>
          </a:p>
          <a:p>
            <a:pPr algn="l">
              <a:lnSpc>
                <a:spcPts val="2100"/>
              </a:lnSpc>
              <a:spcBef>
                <a:spcPts val="600"/>
              </a:spcBef>
              <a:buNone/>
            </a:pPr>
            <a:r>
              <a:rPr lang="en-US" sz="1700" b="true">
                <a:solidFill>
                  <a:srgbClr val="8A8378"/>
                </a:solidFill>
                <a:latin typeface="Nunito Semi-Bold"/>
                <a:ea typeface="Nunito Semi-Bold"/>
                <a:cs typeface="Nunito Semi-Bold"/>
                <a:sym typeface="Nunito Semi-Bold"/>
              </a:rPr>
              <a:t>DyHuCoG: a cooperative game on hypergraphs</a:t>
            </a:r>
          </a:p>
        </p:txBody>
      </p:sp>
      <p:sp>
        <p:nvSpPr>
          <p:cNvPr id="15" name="Rounded Rectangle 14"/>
          <p:cNvSpPr/>
          <p:nvPr/>
        </p:nvSpPr>
        <p:spPr>
          <a:xfrm>
            <a:off x="9281160" y="6675120"/>
            <a:ext cx="3851910" cy="2331720"/>
          </a:xfrm>
          <a:prstGeom prst="roundRect">
            <a:avLst>
              <a:gd name="adj" fmla="val 15686"/>
            </a:avLst>
          </a:prstGeom>
          <a:solidFill>
            <a:srgbClr val="4472C4"/>
          </a:solidFill>
          <a:ln>
            <a:noFill/>
          </a:ln>
        </p:spPr>
        <p:txBody>
          <a:bodyPr anchor="t" rtlCol="false" lIns="365760" tIns="365760" rIns="320040" bIns="274320" wrap="square"/>
          <a:lstStyle/>
          <a:p>
            <a:pPr algn="l">
              <a:lnSpc>
                <a:spcPts val="3400"/>
              </a:lnSpc>
              <a:spcBef>
                <a:spcPts val="0"/>
              </a:spcBef>
              <a:buNone/>
            </a:pPr>
            <a:r>
              <a:rPr lang="en-US" sz="3000" b="true">
                <a:solidFill>
                  <a:srgbClr val="ECC665"/>
                </a:solidFill>
                <a:latin typeface="Nunito Ultra-Bold"/>
                <a:ea typeface="Nunito Ultra-Bold"/>
                <a:cs typeface="Nunito Ultra-Bold"/>
                <a:sym typeface="Nunito Ultra-Bold"/>
              </a:rPr>
              <a:t>07</a:t>
            </a:r>
          </a:p>
          <a:p>
            <a:pPr algn="l">
              <a:lnSpc>
                <a:spcPts val="2900"/>
              </a:lnSpc>
              <a:spcBef>
                <a:spcPts val="600"/>
              </a:spcBef>
              <a:buNone/>
            </a:pPr>
            <a:r>
              <a:rPr lang="en-US" sz="2500" b="true">
                <a:solidFill>
                  <a:srgbClr val="FFFFFF"/>
                </a:solidFill>
                <a:latin typeface="Nunito Ultra-Bold"/>
                <a:ea typeface="Nunito Ultra-Bold"/>
                <a:cs typeface="Nunito Ultra-Bold"/>
                <a:sym typeface="Nunito Ultra-Bold"/>
              </a:rPr>
              <a:t>Conclusion &amp; Perspectives</a:t>
            </a:r>
          </a:p>
          <a:p>
            <a:pPr algn="l">
              <a:lnSpc>
                <a:spcPts val="2100"/>
              </a:lnSpc>
              <a:spcBef>
                <a:spcPts val="600"/>
              </a:spcBef>
              <a:buNone/>
            </a:pPr>
            <a:r>
              <a:rPr lang="en-US" sz="1700" b="true">
                <a:solidFill>
                  <a:srgbClr val="D6E4F7"/>
                </a:solidFill>
                <a:latin typeface="Nunito Semi-Bold"/>
                <a:ea typeface="Nunito Semi-Bold"/>
                <a:cs typeface="Nunito Semi-Bold"/>
                <a:sym typeface="Nunito Semi-Bold"/>
              </a:rPr>
              <a:t>Synthesis · Publications · Perspectives · References</a:t>
            </a:r>
          </a:p>
        </p:txBody>
      </p:sp>
      <p:sp>
        <p:nvSpPr>
          <p:cNvPr id="16" name="Rounded Rectangle 15"/>
          <p:cNvSpPr/>
          <p:nvPr/>
        </p:nvSpPr>
        <p:spPr>
          <a:xfrm>
            <a:off x="13407390" y="6675120"/>
            <a:ext cx="3851910" cy="2331720"/>
          </a:xfrm>
          <a:prstGeom prst="roundRect">
            <a:avLst>
              <a:gd name="adj" fmla="val 15686"/>
            </a:avLst>
          </a:prstGeom>
          <a:solidFill>
            <a:srgbClr val="ECC665"/>
          </a:solidFill>
          <a:ln>
            <a:noFill/>
          </a:ln>
        </p:spPr>
        <p:txBody>
          <a:bodyPr anchor="ctr" rtlCol="false" lIns="91440" tIns="45720" rIns="91440" bIns="45720" wrap="square"/>
          <a:lstStyle/>
          <a:p>
            <a:pPr algn="ctr">
              <a:lnSpc>
                <a:spcPts val="4800"/>
              </a:lnSpc>
              <a:spcBef>
                <a:spcPts val="0"/>
              </a:spcBef>
              <a:buNone/>
            </a:pPr>
            <a:r>
              <a:rPr lang="en-US" sz="4400" b="true" spc="-200">
                <a:solidFill>
                  <a:srgbClr val="111111"/>
                </a:solidFill>
                <a:latin typeface="Roca Two Bold"/>
                <a:ea typeface="Roca Two Bold"/>
                <a:cs typeface="Roca Two Bold"/>
                <a:sym typeface="Roca Two Bold"/>
              </a:rPr>
              <a:t>Q &amp; A</a:t>
            </a:r>
          </a:p>
          <a:p>
            <a:pPr algn="ctr">
              <a:lnSpc>
                <a:spcPts val="2100"/>
              </a:lnSpc>
              <a:spcBef>
                <a:spcPts val="600"/>
              </a:spcBef>
              <a:buNone/>
            </a:pPr>
            <a:r>
              <a:rPr lang="en-US" sz="1700" b="true">
                <a:solidFill>
                  <a:srgbClr val="111111"/>
                </a:solidFill>
                <a:latin typeface="Nunito Bold"/>
                <a:ea typeface="Nunito Bold"/>
                <a:cs typeface="Nunito Bold"/>
                <a:sym typeface="Nunito Bold"/>
              </a:rPr>
              <a:t>Discussion with the jury  ·  backup tables at the end</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03</a:t>
            </a:r>
          </a:p>
        </p:txBody>
      </p:sp>
      <p:sp>
        <p:nvSpPr>
          <p:cNvPr id="5" name="TextBox 4"/>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Introduction</a:t>
            </a:r>
          </a:p>
        </p:txBody>
      </p:sp>
      <p:sp>
        <p:nvSpPr>
          <p:cNvPr id="6" name="Oval 5"/>
          <p:cNvSpPr/>
          <p:nvPr/>
        </p:nvSpPr>
        <p:spPr>
          <a:xfrm>
            <a:off x="11961761"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7" name="TextBox 6"/>
          <p:cNvSpPr txBox="1"/>
          <p:nvPr/>
        </p:nvSpPr>
        <p:spPr>
          <a:xfrm>
            <a:off x="11961761"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01</a:t>
            </a:r>
          </a:p>
        </p:txBody>
      </p:sp>
      <p:sp>
        <p:nvSpPr>
          <p:cNvPr id="8" name="TextBox 7"/>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Why explainability is a core requirement for recommender systems</a:t>
            </a:r>
          </a:p>
        </p:txBody>
      </p:sp>
      <p:sp>
        <p:nvSpPr>
          <p:cNvPr id="9" name="Rectangle 8"/>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0" name="TextBox 9"/>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Motivation</a:t>
            </a:r>
          </a:p>
        </p:txBody>
      </p:sp>
      <p:cxnSp>
        <p:nvCxnSpPr>
          <p:cNvPr id="11" name="Connector 10"/>
          <p:cNvCxnSpPr/>
          <p:nvPr/>
        </p:nvCxnSpPr>
        <p:spPr>
          <a:xfrm>
            <a:off x="1028700" y="6464808"/>
            <a:ext cx="640080" cy="0"/>
          </a:xfrm>
          <a:prstGeom prst="line">
            <a:avLst/>
          </a:prstGeom>
          <a:ln w="31750">
            <a:solidFill>
              <a:srgbClr val="ECC665"/>
            </a:solidFill>
          </a:ln>
        </p:spPr>
      </p:cxnSp>
      <p:sp>
        <p:nvSpPr>
          <p:cNvPr id="12" name="TextBox 11"/>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Black-box AI systems shape what billions of people see, buy and watch every day: accurate, but not transparent.</a:t>
            </a:r>
          </a:p>
        </p:txBody>
      </p:sp>
      <p:sp>
        <p:nvSpPr>
          <p:cNvPr id="13" name="TextBox 12"/>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Actionable insight</a:t>
            </a:r>
          </a:p>
        </p:txBody>
      </p:sp>
      <p:cxnSp>
        <p:nvCxnSpPr>
          <p:cNvPr id="14" name="Connector 13"/>
          <p:cNvCxnSpPr/>
          <p:nvPr/>
        </p:nvCxnSpPr>
        <p:spPr>
          <a:xfrm>
            <a:off x="6576060" y="6464808"/>
            <a:ext cx="640080" cy="0"/>
          </a:xfrm>
          <a:prstGeom prst="line">
            <a:avLst/>
          </a:prstGeom>
          <a:ln w="31750">
            <a:solidFill>
              <a:srgbClr val="ECC665"/>
            </a:solidFill>
          </a:ln>
        </p:spPr>
      </p:cxnSp>
      <p:sp>
        <p:nvSpPr>
          <p:cNvPr id="15" name="TextBox 14"/>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An explanation is useful when it names a factor, in the domain's own words, that a designer can change.</a:t>
            </a:r>
          </a:p>
        </p:txBody>
      </p:sp>
      <p:sp>
        <p:nvSpPr>
          <p:cNvPr id="16" name="TextBox 15"/>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Research context</a:t>
            </a:r>
          </a:p>
        </p:txBody>
      </p:sp>
      <p:cxnSp>
        <p:nvCxnSpPr>
          <p:cNvPr id="17" name="Connector 16"/>
          <p:cNvCxnSpPr/>
          <p:nvPr/>
        </p:nvCxnSpPr>
        <p:spPr>
          <a:xfrm>
            <a:off x="12123420" y="6464808"/>
            <a:ext cx="640080" cy="0"/>
          </a:xfrm>
          <a:prstGeom prst="line">
            <a:avLst/>
          </a:prstGeom>
          <a:ln w="31750">
            <a:solidFill>
              <a:srgbClr val="ECC665"/>
            </a:solidFill>
          </a:ln>
        </p:spPr>
      </p:cxnSp>
      <p:sp>
        <p:nvSpPr>
          <p:cNvPr id="18" name="TextBox 17"/>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From matrix factorisation to hypergraph recommenders: each step added modelling power and removed transparency.</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[24] Arrieta, A. B. et al. Explainable Artificial Intelligence (XAI): Concepts, Taxonomies, Opportunities and Challenges. Information Fusion 58, 82–115 (2020).   [26] European Union. Regulation (EU) 2024/1689 (AI Act), Art. 13 (2024).  ·  Regulation (EU) 2016/679 (GDPR), Art. 22 (2016).  ·  OECD. Recommendation of the Council on Artificial Intelligence (2019).</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04</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6" name="Rounded Rectangle 5"/>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Motivation: Three Questions</a:t>
            </a:r>
          </a:p>
        </p:txBody>
      </p:sp>
      <p:sp>
        <p:nvSpPr>
          <p:cNvPr id="21" name="Rounded Rectangle 20"/>
          <p:cNvSpPr/>
          <p:nvPr/>
        </p:nvSpPr>
        <p:spPr>
          <a:xfrm>
            <a:off x="1028700" y="2559050"/>
            <a:ext cx="171580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Motivation</a:t>
            </a:r>
          </a:p>
        </p:txBody>
      </p:sp>
      <p:sp>
        <p:nvSpPr>
          <p:cNvPr id="22" name="Rounded Rectangle 21"/>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3" name="Rounded Rectangle 22"/>
          <p:cNvSpPr/>
          <p:nvPr/>
        </p:nvSpPr>
        <p:spPr>
          <a:xfrm>
            <a:off x="5545389" y="2559050"/>
            <a:ext cx="248457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Research Context</a:t>
            </a:r>
          </a:p>
        </p:txBody>
      </p:sp>
      <p:sp>
        <p:nvSpPr>
          <p:cNvPr id="24" name="Rounded Rectangle 23"/>
          <p:cNvSpPr/>
          <p:nvPr/>
        </p:nvSpPr>
        <p:spPr>
          <a:xfrm>
            <a:off x="102870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25" name="Rounded Rectangle 24"/>
          <p:cNvSpPr/>
          <p:nvPr/>
        </p:nvSpPr>
        <p:spPr>
          <a:xfrm>
            <a:off x="1485900" y="3354578"/>
            <a:ext cx="2168674"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Everywhere</a:t>
            </a:r>
          </a:p>
        </p:txBody>
      </p:sp>
      <p:sp>
        <p:nvSpPr>
          <p:cNvPr id="26" name="TextBox 25"/>
          <p:cNvSpPr txBox="1"/>
          <p:nvPr/>
        </p:nvSpPr>
        <p:spPr>
          <a:xfrm>
            <a:off x="148590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How do black-box AI systems shape what billions of users see, buy and watch every day?</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Recommenders shape news, study, health and credit decisions; market &gt; $15B by 2029.</a:t>
            </a:r>
          </a:p>
        </p:txBody>
      </p:sp>
      <p:sp>
        <p:nvSpPr>
          <p:cNvPr id="27" name="Rounded Rectangle 26"/>
          <p:cNvSpPr/>
          <p:nvPr/>
        </p:nvSpPr>
        <p:spPr>
          <a:xfrm>
            <a:off x="654558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28" name="Rounded Rectangle 27"/>
          <p:cNvSpPr/>
          <p:nvPr/>
        </p:nvSpPr>
        <p:spPr>
          <a:xfrm>
            <a:off x="7002780" y="3354578"/>
            <a:ext cx="248842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The Black Box</a:t>
            </a:r>
          </a:p>
        </p:txBody>
      </p:sp>
      <p:sp>
        <p:nvSpPr>
          <p:cNvPr id="29" name="TextBox 28"/>
          <p:cNvSpPr txBox="1"/>
          <p:nvPr/>
        </p:nvSpPr>
        <p:spPr>
          <a:xfrm>
            <a:off x="700278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Why do state-of-the-art recommenders and clustering pipelines stay black boxes for users and designers?</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Deep &amp; graph models: hidden logic, hard to audit. EU AI Act: high-risk </a:t>
            </a:r>
            <a:r>
              <a:rPr lang="en-US" sz="1800" b="true">
                <a:solidFill>
                  <a:srgbClr val="BDD0EA"/>
                </a:solidFill>
                <a:latin typeface="Calibri"/>
                <a:ea typeface="Calibri"/>
                <a:cs typeface="Calibri"/>
                <a:sym typeface="Calibri"/>
              </a:rPr>
              <a:t>→ </a:t>
            </a:r>
            <a:r>
              <a:rPr lang="en-US" sz="1800" b="true">
                <a:solidFill>
                  <a:srgbClr val="BDD0EA"/>
                </a:solidFill>
                <a:latin typeface="Nunito Semi-Bold"/>
                <a:ea typeface="Nunito Semi-Bold"/>
                <a:cs typeface="Nunito Semi-Bold"/>
                <a:sym typeface="Nunito Semi-Bold"/>
              </a:rPr>
              <a:t>must explain.</a:t>
            </a:r>
          </a:p>
        </p:txBody>
      </p:sp>
      <p:sp>
        <p:nvSpPr>
          <p:cNvPr id="30" name="Rounded Rectangle 29"/>
          <p:cNvSpPr/>
          <p:nvPr/>
        </p:nvSpPr>
        <p:spPr>
          <a:xfrm>
            <a:off x="12062460" y="3592322"/>
            <a:ext cx="5196840" cy="4206240"/>
          </a:xfrm>
          <a:prstGeom prst="roundRect">
            <a:avLst>
              <a:gd name="adj" fmla="val 7391"/>
            </a:avLst>
          </a:prstGeom>
          <a:solidFill>
            <a:srgbClr val="4472C4"/>
          </a:solidFill>
          <a:ln>
            <a:noFill/>
          </a:ln>
        </p:spPr>
        <p:txBody>
          <a:bodyPr anchor="ctr" rtlCol="false" lIns="0" tIns="0" rIns="0" bIns="0" wrap="square"/>
          <a:lstStyle/>
          <a:p>
            <a:endParaRPr lang="en-US" sz="1800"/>
          </a:p>
        </p:txBody>
      </p:sp>
      <p:sp>
        <p:nvSpPr>
          <p:cNvPr id="31" name="Rounded Rectangle 30"/>
          <p:cNvSpPr/>
          <p:nvPr/>
        </p:nvSpPr>
        <p:spPr>
          <a:xfrm>
            <a:off x="12519660" y="3354578"/>
            <a:ext cx="2395577"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520"/>
              </a:lnSpc>
              <a:spcBef>
                <a:spcPts val="0"/>
              </a:spcBef>
              <a:buNone/>
            </a:pPr>
            <a:r>
              <a:rPr lang="en-US" sz="2100" b="true">
                <a:solidFill>
                  <a:srgbClr val="4472C4"/>
                </a:solidFill>
                <a:latin typeface="Nunito Bold"/>
                <a:ea typeface="Nunito Bold"/>
                <a:cs typeface="Nunito Bold"/>
                <a:sym typeface="Nunito Bold"/>
              </a:rPr>
              <a:t>Toward Trust</a:t>
            </a:r>
          </a:p>
        </p:txBody>
      </p:sp>
      <p:sp>
        <p:nvSpPr>
          <p:cNvPr id="32" name="TextBox 31"/>
          <p:cNvSpPr txBox="1"/>
          <p:nvPr/>
        </p:nvSpPr>
        <p:spPr>
          <a:xfrm>
            <a:off x="12519660" y="4278122"/>
            <a:ext cx="4282440" cy="3154680"/>
          </a:xfrm>
          <a:prstGeom prst="rect">
            <a:avLst/>
          </a:prstGeom>
          <a:noFill/>
        </p:spPr>
        <p:txBody>
          <a:bodyPr anchor="t" rtlCol="false" lIns="0" tIns="0" rIns="0" bIns="0" wrap="square"/>
          <a:lstStyle/>
          <a:p>
            <a:pPr algn="l">
              <a:lnSpc>
                <a:spcPts val="3220"/>
              </a:lnSpc>
              <a:spcBef>
                <a:spcPts val="0"/>
              </a:spcBef>
              <a:buNone/>
            </a:pPr>
            <a:r>
              <a:rPr lang="en-US" sz="2300" b="true">
                <a:solidFill>
                  <a:srgbClr val="FFFFFF"/>
                </a:solidFill>
                <a:latin typeface="Nunito Bold"/>
                <a:ea typeface="Nunito Bold"/>
                <a:cs typeface="Nunito Bold"/>
                <a:sym typeface="Nunito Bold"/>
              </a:rPr>
              <a:t>How can transparency be built into the model, instead of being added afterwards?</a:t>
            </a:r>
          </a:p>
          <a:p>
            <a:pPr algn="l">
              <a:lnSpc>
                <a:spcPts val="2300"/>
              </a:lnSpc>
              <a:spcBef>
                <a:spcPts val="1400"/>
              </a:spcBef>
              <a:buNone/>
            </a:pPr>
            <a:r>
              <a:rPr lang="en-US" sz="1800" b="true">
                <a:solidFill>
                  <a:srgbClr val="BDD0EA"/>
                </a:solidFill>
                <a:latin typeface="Nunito Semi-Bold"/>
                <a:ea typeface="Nunito Semi-Bold"/>
                <a:cs typeface="Nunito Semi-Bold"/>
                <a:sym typeface="Nunito Semi-Bold"/>
              </a:rPr>
              <a:t>Insight that is accountable, auditable and actionable, not just accurate.</a:t>
            </a:r>
          </a:p>
        </p:txBody>
      </p:sp>
      <p:sp>
        <p:nvSpPr>
          <p:cNvPr id="33" name="Rounded Rectangle 32"/>
          <p:cNvSpPr/>
          <p:nvPr/>
        </p:nvSpPr>
        <p:spPr>
          <a:xfrm>
            <a:off x="1028700" y="8118602"/>
            <a:ext cx="16230600" cy="868680"/>
          </a:xfrm>
          <a:prstGeom prst="roundRect">
            <a:avLst>
              <a:gd name="adj" fmla="val 26315"/>
            </a:avLst>
          </a:prstGeom>
          <a:solidFill>
            <a:srgbClr val="F6ECDF"/>
          </a:solidFill>
          <a:ln>
            <a:noFill/>
          </a:ln>
        </p:spPr>
        <p:txBody>
          <a:bodyPr anchor="ctr" rtlCol="false" lIns="365760" tIns="91440" rIns="365760" bIns="91440" wrap="square"/>
          <a:lstStyle/>
          <a:p>
            <a:pPr algn="ctr">
              <a:lnSpc>
                <a:spcPts val="2600"/>
              </a:lnSpc>
              <a:spcBef>
                <a:spcPts val="0"/>
              </a:spcBef>
              <a:buNone/>
            </a:pPr>
            <a:r>
              <a:rPr lang="en-US" sz="2000" b="true">
                <a:solidFill>
                  <a:srgbClr val="111111"/>
                </a:solidFill>
                <a:latin typeface="Nunito Bold"/>
                <a:ea typeface="Nunito Bold"/>
                <a:cs typeface="Nunito Bold"/>
                <a:sym typeface="Nunito Bold"/>
              </a:rPr>
              <a:t>The core tension:</a:t>
            </a:r>
            <a:r>
              <a:rPr lang="en-US" sz="2000" b="true">
                <a:solidFill>
                  <a:srgbClr val="111111"/>
                </a:solidFill>
                <a:latin typeface="Nunito Semi-Bold"/>
                <a:ea typeface="Nunito Semi-Bold"/>
                <a:cs typeface="Nunito Semi-Bold"/>
                <a:sym typeface="Nunito Semi-Bold"/>
              </a:rPr>
              <a:t> as models gain power, they lose the transparency needed for trustworthy use. This thesis treats </a:t>
            </a:r>
            <a:r>
              <a:rPr lang="en-US" sz="2000" b="true">
                <a:solidFill>
                  <a:srgbClr val="111111"/>
                </a:solidFill>
                <a:latin typeface="Nunito Bold"/>
                <a:ea typeface="Nunito Bold"/>
                <a:cs typeface="Nunito Bold"/>
                <a:sym typeface="Nunito Bold"/>
              </a:rPr>
              <a:t>accuracy and interpretability as goals to be met together</a:t>
            </a:r>
            <a:r>
              <a:rPr lang="en-US" sz="2000" b="true">
                <a:solidFill>
                  <a:srgbClr val="111111"/>
                </a:solidFill>
                <a:latin typeface="Nunito Semi-Bold"/>
                <a:ea typeface="Nunito Semi-Bold"/>
                <a:cs typeface="Nunito Semi-Bold"/>
                <a:sym typeface="Nunito Semi-Bold"/>
              </a:rPr>
              <a:t>, not traded against each other.</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[25] Doshi-Velez, F. &amp; Kim, B. Towards a Rigorous Science of Interpretable Machine Learning. arXiv:1702.08608 (2017).  ·  Rudin, C. et al. Interpretable ML: Fundamental Principles and 10 Grand Challenges. Statistics Surveys 16 (2022).</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05</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6" name="Rounded Rectangle 5"/>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Actionable Insight: the Definition</a:t>
            </a:r>
          </a:p>
        </p:txBody>
      </p:sp>
      <p:sp>
        <p:nvSpPr>
          <p:cNvPr id="21" name="Rounded Rectangle 20"/>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2" name="Rounded Rectangle 21"/>
          <p:cNvSpPr/>
          <p:nvPr/>
        </p:nvSpPr>
        <p:spPr>
          <a:xfrm>
            <a:off x="2872521" y="2559050"/>
            <a:ext cx="254485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Actionable Insight</a:t>
            </a:r>
          </a:p>
        </p:txBody>
      </p:sp>
      <p:sp>
        <p:nvSpPr>
          <p:cNvPr id="23" name="Rounded Rectangle 22"/>
          <p:cNvSpPr/>
          <p:nvPr/>
        </p:nvSpPr>
        <p:spPr>
          <a:xfrm>
            <a:off x="5545389" y="2559050"/>
            <a:ext cx="248457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Research Context</a:t>
            </a:r>
          </a:p>
        </p:txBody>
      </p:sp>
      <p:sp>
        <p:nvSpPr>
          <p:cNvPr id="24" name="TextBox 23"/>
          <p:cNvSpPr txBox="1"/>
          <p:nvPr/>
        </p:nvSpPr>
        <p:spPr>
          <a:xfrm>
            <a:off x="1028700" y="3363722"/>
            <a:ext cx="7863840" cy="5944870"/>
          </a:xfrm>
          <a:prstGeom prst="rect">
            <a:avLst/>
          </a:prstGeom>
          <a:noFill/>
        </p:spPr>
        <p:txBody>
          <a:bodyPr anchor="t" rtlCol="false" lIns="0" tIns="0" rIns="0" bIns="0" wrap="square"/>
          <a:lstStyle/>
          <a:p>
            <a:pPr algn="l">
              <a:lnSpc>
                <a:spcPts val="3125"/>
              </a:lnSpc>
              <a:spcBef>
                <a:spcPts val="0"/>
              </a:spcBef>
              <a:buNone/>
            </a:pPr>
            <a:r>
              <a:rPr lang="en-US" sz="2500" b="true">
                <a:solidFill>
                  <a:srgbClr val="4472C4"/>
                </a:solidFill>
                <a:latin typeface="Nunito Ultra-Bold"/>
                <a:ea typeface="Nunito Ultra-Bold"/>
                <a:cs typeface="Nunito Ultra-Bold"/>
                <a:sym typeface="Nunito Ultra-Bold"/>
              </a:rPr>
              <a:t>Definition 1.1 (Actionable insight)</a:t>
            </a:r>
          </a:p>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An explanation is actionable when it points to </a:t>
            </a:r>
            <a:r>
              <a:rPr lang="en-US" sz="2100" b="true">
                <a:solidFill>
                  <a:srgbClr val="111111"/>
                </a:solidFill>
                <a:latin typeface="Nunito Bold"/>
                <a:ea typeface="Nunito Bold"/>
                <a:cs typeface="Nunito Bold"/>
                <a:sym typeface="Nunito Bold"/>
              </a:rPr>
              <a:t>at least one factor that can be changed</a:t>
            </a:r>
            <a:r>
              <a:rPr lang="en-US" sz="2100" b="true">
                <a:solidFill>
                  <a:srgbClr val="111111"/>
                </a:solidFill>
                <a:latin typeface="Nunito Semi-Bold"/>
                <a:ea typeface="Nunito Semi-Bold"/>
                <a:cs typeface="Nunito Semi-Bold"/>
                <a:sym typeface="Nunito Semi-Bold"/>
              </a:rPr>
              <a:t>, and that change leads to a </a:t>
            </a:r>
            <a:r>
              <a:rPr lang="en-US" sz="2100" b="true">
                <a:solidFill>
                  <a:srgbClr val="111111"/>
                </a:solidFill>
                <a:latin typeface="Nunito Bold"/>
                <a:ea typeface="Nunito Bold"/>
                <a:cs typeface="Nunito Bold"/>
                <a:sym typeface="Nunito Bold"/>
              </a:rPr>
              <a:t>clear change in the model output</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 and that factor is </a:t>
            </a:r>
            <a:r>
              <a:rPr lang="en-US" sz="2100" b="true">
                <a:solidFill>
                  <a:srgbClr val="111111"/>
                </a:solidFill>
                <a:latin typeface="Nunito Bold"/>
                <a:ea typeface="Nunito Bold"/>
                <a:cs typeface="Nunito Bold"/>
                <a:sym typeface="Nunito Bold"/>
              </a:rPr>
              <a:t>stated in the domain's own terms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 domain's own terms: a chemical variable (wine), a pollution indicator (air quality), a preference signal (recommendation), </a:t>
            </a:r>
            <a:r>
              <a:rPr lang="en-US" sz="2100" b="true">
                <a:solidFill>
                  <a:srgbClr val="111111"/>
                </a:solidFill>
                <a:latin typeface="Nunito Bold"/>
                <a:ea typeface="Nunito Bold"/>
                <a:cs typeface="Nunito Bold"/>
                <a:sym typeface="Nunito Bold"/>
              </a:rPr>
              <a:t>not a hidden latent code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Why it matters:</a:t>
            </a:r>
            <a:r>
              <a:rPr lang="en-US" sz="2100" b="true">
                <a:solidFill>
                  <a:srgbClr val="111111"/>
                </a:solidFill>
                <a:latin typeface="Nunito Semi-Bold"/>
                <a:ea typeface="Nunito Semi-Bold"/>
                <a:cs typeface="Nunito Semi-Bold"/>
                <a:sym typeface="Nunito Semi-Bold"/>
              </a:rPr>
              <a:t> an explanation that names a changeable driver supports </a:t>
            </a:r>
            <a:r>
              <a:rPr lang="en-US" sz="2100" b="true">
                <a:solidFill>
                  <a:srgbClr val="111111"/>
                </a:solidFill>
                <a:latin typeface="Nunito Bold"/>
                <a:ea typeface="Nunito Bold"/>
                <a:cs typeface="Nunito Bold"/>
                <a:sym typeface="Nunito Bold"/>
              </a:rPr>
              <a:t>action</a:t>
            </a:r>
            <a:r>
              <a:rPr lang="en-US" sz="2100" b="true">
                <a:solidFill>
                  <a:srgbClr val="111111"/>
                </a:solidFill>
                <a:latin typeface="Nunito Semi-Bold"/>
                <a:ea typeface="Nunito Semi-Bold"/>
                <a:cs typeface="Nunito Semi-Bold"/>
                <a:sym typeface="Nunito Semi-Bold"/>
              </a:rPr>
              <a:t>, not only description.</a:t>
            </a:r>
          </a:p>
        </p:txBody>
      </p:sp>
      <p:sp>
        <p:nvSpPr>
          <p:cNvPr id="25" name="TextBox 24"/>
          <p:cNvSpPr txBox="1"/>
          <p:nvPr/>
        </p:nvSpPr>
        <p:spPr>
          <a:xfrm>
            <a:off x="9441180" y="3363722"/>
            <a:ext cx="7818120" cy="365760"/>
          </a:xfrm>
          <a:prstGeom prst="rect">
            <a:avLst/>
          </a:prstGeom>
          <a:noFill/>
        </p:spPr>
        <p:txBody>
          <a:bodyPr anchor="t" rtlCol="false" lIns="0" tIns="0" rIns="0" bIns="0" wrap="square"/>
          <a:lstStyle/>
          <a:p>
            <a:pPr algn="ctr">
              <a:lnSpc>
                <a:spcPts val="1800"/>
              </a:lnSpc>
              <a:spcBef>
                <a:spcPts val="0"/>
              </a:spcBef>
              <a:buNone/>
            </a:pPr>
            <a:r>
              <a:rPr lang="en-US" sz="1400" b="true" spc="160">
                <a:solidFill>
                  <a:srgbClr val="1F7A8C"/>
                </a:solidFill>
                <a:latin typeface="Nunito Ultra-Bold"/>
                <a:ea typeface="Nunito Ultra-Bold"/>
                <a:cs typeface="Nunito Ultra-Bold"/>
                <a:sym typeface="Nunito Ultra-Bold"/>
              </a:rPr>
              <a:t>FROM EXPLANATION TO ACTION</a:t>
            </a:r>
          </a:p>
        </p:txBody>
      </p:sp>
      <p:sp>
        <p:nvSpPr>
          <p:cNvPr id="26" name="Rounded Rectangle 25"/>
          <p:cNvSpPr/>
          <p:nvPr/>
        </p:nvSpPr>
        <p:spPr>
          <a:xfrm>
            <a:off x="9441180" y="4643882"/>
            <a:ext cx="1600200" cy="1417320"/>
          </a:xfrm>
          <a:prstGeom prst="roundRect">
            <a:avLst>
              <a:gd name="adj" fmla="val 12903"/>
            </a:avLst>
          </a:prstGeom>
          <a:solidFill>
            <a:srgbClr val="4472C4"/>
          </a:solidFill>
          <a:ln>
            <a:noFill/>
          </a:ln>
        </p:spPr>
        <p:txBody>
          <a:bodyPr anchor="ctr" rtlCol="false" lIns="91440" tIns="45720" rIns="91440" bIns="45720" wrap="square"/>
          <a:lstStyle/>
          <a:p>
            <a:pPr algn="ctr">
              <a:lnSpc>
                <a:spcPts val="1955"/>
              </a:lnSpc>
              <a:spcBef>
                <a:spcPts val="0"/>
              </a:spcBef>
              <a:buNone/>
            </a:pPr>
            <a:r>
              <a:rPr lang="en-US" sz="1700" b="true">
                <a:solidFill>
                  <a:srgbClr val="FFFFFF"/>
                </a:solidFill>
                <a:latin typeface="Nunito Bold"/>
                <a:ea typeface="Nunito Bold"/>
                <a:cs typeface="Nunito Bold"/>
                <a:sym typeface="Nunito Bold"/>
              </a:rPr>
              <a:t>Modifiable factor</a:t>
            </a:r>
          </a:p>
        </p:txBody>
      </p:sp>
      <p:cxnSp>
        <p:nvCxnSpPr>
          <p:cNvPr id="27" name="Connector 26"/>
          <p:cNvCxnSpPr/>
          <p:nvPr/>
        </p:nvCxnSpPr>
        <p:spPr>
          <a:xfrm>
            <a:off x="11087100" y="5352542"/>
            <a:ext cx="381000" cy="0"/>
          </a:xfrm>
          <a:prstGeom prst="line">
            <a:avLst/>
          </a:prstGeom>
          <a:ln w="28575">
            <a:solidFill>
              <a:srgbClr val="4472C4"/>
            </a:solidFill>
            <a:tailEnd type="triangle" w="med" len="med"/>
          </a:ln>
        </p:spPr>
      </p:cxnSp>
      <p:sp>
        <p:nvSpPr>
          <p:cNvPr id="28" name="Rounded Rectangle 27"/>
          <p:cNvSpPr/>
          <p:nvPr/>
        </p:nvSpPr>
        <p:spPr>
          <a:xfrm>
            <a:off x="11513820" y="4643882"/>
            <a:ext cx="1600200" cy="1417320"/>
          </a:xfrm>
          <a:prstGeom prst="roundRect">
            <a:avLst>
              <a:gd name="adj" fmla="val 12903"/>
            </a:avLst>
          </a:prstGeom>
          <a:solidFill>
            <a:srgbClr val="4472C4"/>
          </a:solidFill>
          <a:ln>
            <a:noFill/>
          </a:ln>
        </p:spPr>
        <p:txBody>
          <a:bodyPr anchor="ctr" rtlCol="false" lIns="91440" tIns="45720" rIns="91440" bIns="45720" wrap="square"/>
          <a:lstStyle/>
          <a:p>
            <a:pPr algn="ctr">
              <a:lnSpc>
                <a:spcPts val="1955"/>
              </a:lnSpc>
              <a:spcBef>
                <a:spcPts val="0"/>
              </a:spcBef>
              <a:buNone/>
            </a:pPr>
            <a:r>
              <a:rPr lang="en-US" sz="1700" b="true">
                <a:solidFill>
                  <a:srgbClr val="FFFFFF"/>
                </a:solidFill>
                <a:latin typeface="Nunito Bold"/>
                <a:ea typeface="Nunito Bold"/>
                <a:cs typeface="Nunito Bold"/>
                <a:sym typeface="Nunito Bold"/>
              </a:rPr>
              <a:t>Change in model output</a:t>
            </a:r>
          </a:p>
        </p:txBody>
      </p:sp>
      <p:cxnSp>
        <p:nvCxnSpPr>
          <p:cNvPr id="29" name="Connector 28"/>
          <p:cNvCxnSpPr/>
          <p:nvPr/>
        </p:nvCxnSpPr>
        <p:spPr>
          <a:xfrm>
            <a:off x="13159740" y="5352542"/>
            <a:ext cx="381000" cy="0"/>
          </a:xfrm>
          <a:prstGeom prst="line">
            <a:avLst/>
          </a:prstGeom>
          <a:ln w="28575">
            <a:solidFill>
              <a:srgbClr val="4472C4"/>
            </a:solidFill>
            <a:tailEnd type="triangle" w="med" len="med"/>
          </a:ln>
        </p:spPr>
      </p:cxnSp>
      <p:sp>
        <p:nvSpPr>
          <p:cNvPr id="30" name="Rounded Rectangle 29"/>
          <p:cNvSpPr/>
          <p:nvPr/>
        </p:nvSpPr>
        <p:spPr>
          <a:xfrm>
            <a:off x="13586460" y="4643882"/>
            <a:ext cx="1600200" cy="1417320"/>
          </a:xfrm>
          <a:prstGeom prst="roundRect">
            <a:avLst>
              <a:gd name="adj" fmla="val 12903"/>
            </a:avLst>
          </a:prstGeom>
          <a:solidFill>
            <a:srgbClr val="111111"/>
          </a:solidFill>
          <a:ln>
            <a:noFill/>
          </a:ln>
        </p:spPr>
        <p:txBody>
          <a:bodyPr anchor="ctr" rtlCol="false" lIns="91440" tIns="45720" rIns="91440" bIns="45720" wrap="square"/>
          <a:lstStyle/>
          <a:p>
            <a:pPr algn="ctr">
              <a:lnSpc>
                <a:spcPts val="1955"/>
              </a:lnSpc>
              <a:spcBef>
                <a:spcPts val="0"/>
              </a:spcBef>
              <a:buNone/>
            </a:pPr>
            <a:r>
              <a:rPr lang="en-US" sz="1700" b="true">
                <a:solidFill>
                  <a:srgbClr val="FFFFFF"/>
                </a:solidFill>
                <a:latin typeface="Nunito Bold"/>
                <a:ea typeface="Nunito Bold"/>
                <a:cs typeface="Nunito Bold"/>
                <a:sym typeface="Nunito Bold"/>
              </a:rPr>
              <a:t>Is it actionable?</a:t>
            </a:r>
          </a:p>
        </p:txBody>
      </p:sp>
      <p:cxnSp>
        <p:nvCxnSpPr>
          <p:cNvPr id="31" name="Connector 30"/>
          <p:cNvCxnSpPr/>
          <p:nvPr/>
        </p:nvCxnSpPr>
        <p:spPr>
          <a:xfrm>
            <a:off x="15232380" y="5352542"/>
            <a:ext cx="381000" cy="0"/>
          </a:xfrm>
          <a:prstGeom prst="line">
            <a:avLst/>
          </a:prstGeom>
          <a:ln w="28575">
            <a:solidFill>
              <a:srgbClr val="4472C4"/>
            </a:solidFill>
            <a:tailEnd type="triangle" w="med" len="med"/>
          </a:ln>
        </p:spPr>
      </p:cxnSp>
      <p:sp>
        <p:nvSpPr>
          <p:cNvPr id="32" name="Rounded Rectangle 31"/>
          <p:cNvSpPr/>
          <p:nvPr/>
        </p:nvSpPr>
        <p:spPr>
          <a:xfrm>
            <a:off x="15659100" y="4643882"/>
            <a:ext cx="1600200" cy="1417320"/>
          </a:xfrm>
          <a:prstGeom prst="roundRect">
            <a:avLst>
              <a:gd name="adj" fmla="val 12903"/>
            </a:avLst>
          </a:prstGeom>
          <a:solidFill>
            <a:srgbClr val="1F7A8C"/>
          </a:solidFill>
          <a:ln>
            <a:noFill/>
          </a:ln>
        </p:spPr>
        <p:txBody>
          <a:bodyPr anchor="ctr" rtlCol="false" lIns="91440" tIns="45720" rIns="91440" bIns="45720" wrap="square"/>
          <a:lstStyle/>
          <a:p>
            <a:pPr algn="ctr">
              <a:lnSpc>
                <a:spcPts val="1955"/>
              </a:lnSpc>
              <a:spcBef>
                <a:spcPts val="0"/>
              </a:spcBef>
              <a:buNone/>
            </a:pPr>
            <a:r>
              <a:rPr lang="en-US" sz="1700" b="true">
                <a:solidFill>
                  <a:srgbClr val="FFFFFF"/>
                </a:solidFill>
                <a:latin typeface="Nunito Bold"/>
                <a:ea typeface="Nunito Bold"/>
                <a:cs typeface="Nunito Bold"/>
                <a:sym typeface="Nunito Bold"/>
              </a:rPr>
              <a:t>Action lever</a:t>
            </a:r>
          </a:p>
        </p:txBody>
      </p:sp>
      <p:cxnSp>
        <p:nvCxnSpPr>
          <p:cNvPr id="33" name="Connector 32"/>
          <p:cNvCxnSpPr/>
          <p:nvPr/>
        </p:nvCxnSpPr>
        <p:spPr>
          <a:xfrm>
            <a:off x="10241280" y="6106922"/>
            <a:ext cx="0" cy="365760"/>
          </a:xfrm>
          <a:prstGeom prst="line">
            <a:avLst/>
          </a:prstGeom>
          <a:ln w="28575">
            <a:solidFill>
              <a:srgbClr val="1F7A8C"/>
            </a:solidFill>
          </a:ln>
        </p:spPr>
      </p:cxnSp>
      <p:cxnSp>
        <p:nvCxnSpPr>
          <p:cNvPr id="34" name="Connector 33"/>
          <p:cNvCxnSpPr/>
          <p:nvPr/>
        </p:nvCxnSpPr>
        <p:spPr>
          <a:xfrm>
            <a:off x="10241280" y="6472682"/>
            <a:ext cx="6217920" cy="0"/>
          </a:xfrm>
          <a:prstGeom prst="line">
            <a:avLst/>
          </a:prstGeom>
          <a:ln w="28575">
            <a:solidFill>
              <a:srgbClr val="1F7A8C"/>
            </a:solidFill>
            <a:prstDash val="dash"/>
          </a:ln>
        </p:spPr>
      </p:cxnSp>
      <p:cxnSp>
        <p:nvCxnSpPr>
          <p:cNvPr id="35" name="Connector 34"/>
          <p:cNvCxnSpPr/>
          <p:nvPr/>
        </p:nvCxnSpPr>
        <p:spPr>
          <a:xfrm>
            <a:off x="16459200" y="6106922"/>
            <a:ext cx="0" cy="365760"/>
          </a:xfrm>
          <a:prstGeom prst="line">
            <a:avLst/>
          </a:prstGeom>
          <a:ln w="28575">
            <a:solidFill>
              <a:srgbClr val="1F7A8C"/>
            </a:solidFill>
          </a:ln>
        </p:spPr>
      </p:cxnSp>
      <p:sp>
        <p:nvSpPr>
          <p:cNvPr id="36" name="TextBox 35"/>
          <p:cNvSpPr txBox="1"/>
          <p:nvPr/>
        </p:nvSpPr>
        <p:spPr>
          <a:xfrm>
            <a:off x="9441180" y="6655562"/>
            <a:ext cx="7818120" cy="731520"/>
          </a:xfrm>
          <a:prstGeom prst="rect">
            <a:avLst/>
          </a:prstGeom>
          <a:noFill/>
        </p:spPr>
        <p:txBody>
          <a:bodyPr anchor="t" rtlCol="false" lIns="0" tIns="0" rIns="0" bIns="0" wrap="square"/>
          <a:lstStyle/>
          <a:p>
            <a:pPr algn="ctr">
              <a:lnSpc>
                <a:spcPts val="2300"/>
              </a:lnSpc>
              <a:spcBef>
                <a:spcPts val="0"/>
              </a:spcBef>
              <a:buNone/>
            </a:pPr>
            <a:r>
              <a:rPr lang="en-US" sz="1800" b="true">
                <a:solidFill>
                  <a:srgbClr val="1F7A8C"/>
                </a:solidFill>
                <a:latin typeface="Nunito Bold"/>
                <a:ea typeface="Nunito Bold"/>
                <a:cs typeface="Nunito Bold"/>
                <a:sym typeface="Nunito Bold"/>
              </a:rPr>
              <a:t>Actionable</a:t>
            </a:r>
            <a:r>
              <a:rPr lang="en-US" sz="1800" b="true">
                <a:solidFill>
                  <a:srgbClr val="1F7A8C"/>
                </a:solidFill>
                <a:latin typeface="Nunito Semi-Bold"/>
                <a:ea typeface="Nunito Semi-Bold"/>
                <a:cs typeface="Nunito Semi-Bold"/>
                <a:sym typeface="Nunito Semi-Bold"/>
              </a:rPr>
              <a:t> = a real-world lever you can pull to change the outcome</a:t>
            </a:r>
          </a:p>
        </p:txBody>
      </p:sp>
      <p:sp>
        <p:nvSpPr>
          <p:cNvPr id="37" name="Rounded Rectangle 36"/>
          <p:cNvSpPr/>
          <p:nvPr/>
        </p:nvSpPr>
        <p:spPr>
          <a:xfrm>
            <a:off x="9441180" y="7615682"/>
            <a:ext cx="2484120" cy="1234440"/>
          </a:xfrm>
          <a:prstGeom prst="roundRect">
            <a:avLst>
              <a:gd name="adj" fmla="val 14814"/>
            </a:avLst>
          </a:prstGeom>
          <a:solidFill>
            <a:srgbClr val="F6ECDF"/>
          </a:solidFill>
          <a:ln>
            <a:noFill/>
          </a:ln>
        </p:spPr>
        <p:txBody>
          <a:bodyPr anchor="ctr" rtlCol="false" lIns="91440" tIns="45720" rIns="91440" bIns="45720" wrap="square"/>
          <a:lstStyle/>
          <a:p>
            <a:pPr algn="ctr">
              <a:lnSpc>
                <a:spcPts val="2070"/>
              </a:lnSpc>
              <a:spcBef>
                <a:spcPts val="0"/>
              </a:spcBef>
              <a:buNone/>
            </a:pPr>
            <a:r>
              <a:rPr lang="en-US" sz="1800" b="true">
                <a:solidFill>
                  <a:srgbClr val="111111"/>
                </a:solidFill>
                <a:latin typeface="Nunito Bold"/>
                <a:ea typeface="Nunito Bold"/>
                <a:cs typeface="Nunito Bold"/>
                <a:sym typeface="Nunito Bold"/>
              </a:rPr>
              <a:t>Wine</a:t>
            </a:r>
          </a:p>
          <a:p>
            <a:pPr algn="ctr">
              <a:lnSpc>
                <a:spcPts val="1680"/>
              </a:lnSpc>
              <a:spcBef>
                <a:spcPts val="300"/>
              </a:spcBef>
              <a:buNone/>
            </a:pPr>
            <a:r>
              <a:rPr lang="en-US" sz="1400" b="true">
                <a:solidFill>
                  <a:srgbClr val="8A8378"/>
                </a:solidFill>
                <a:latin typeface="Nunito Semi-Bold"/>
                <a:ea typeface="Nunito Semi-Bold"/>
                <a:cs typeface="Nunito Semi-Bold"/>
                <a:sym typeface="Nunito Semi-Bold"/>
              </a:rPr>
              <a:t>density · pH · acidity</a:t>
            </a:r>
          </a:p>
        </p:txBody>
      </p:sp>
      <p:sp>
        <p:nvSpPr>
          <p:cNvPr id="38" name="Rounded Rectangle 37"/>
          <p:cNvSpPr/>
          <p:nvPr/>
        </p:nvSpPr>
        <p:spPr>
          <a:xfrm>
            <a:off x="12108180" y="7615682"/>
            <a:ext cx="2484120" cy="1234440"/>
          </a:xfrm>
          <a:prstGeom prst="roundRect">
            <a:avLst>
              <a:gd name="adj" fmla="val 14814"/>
            </a:avLst>
          </a:prstGeom>
          <a:solidFill>
            <a:srgbClr val="F6ECDF"/>
          </a:solidFill>
          <a:ln>
            <a:noFill/>
          </a:ln>
        </p:spPr>
        <p:txBody>
          <a:bodyPr anchor="ctr" rtlCol="false" lIns="91440" tIns="45720" rIns="91440" bIns="45720" wrap="square"/>
          <a:lstStyle/>
          <a:p>
            <a:pPr algn="ctr">
              <a:lnSpc>
                <a:spcPts val="2070"/>
              </a:lnSpc>
              <a:spcBef>
                <a:spcPts val="0"/>
              </a:spcBef>
              <a:buNone/>
            </a:pPr>
            <a:r>
              <a:rPr lang="en-US" sz="1800" b="true">
                <a:solidFill>
                  <a:srgbClr val="111111"/>
                </a:solidFill>
                <a:latin typeface="Nunito Bold"/>
                <a:ea typeface="Nunito Bold"/>
                <a:cs typeface="Nunito Bold"/>
                <a:sym typeface="Nunito Bold"/>
              </a:rPr>
              <a:t>Air quality</a:t>
            </a:r>
          </a:p>
          <a:p>
            <a:pPr algn="ctr">
              <a:lnSpc>
                <a:spcPts val="1680"/>
              </a:lnSpc>
              <a:spcBef>
                <a:spcPts val="300"/>
              </a:spcBef>
              <a:buNone/>
            </a:pPr>
            <a:r>
              <a:rPr lang="en-US" sz="1400" b="true">
                <a:solidFill>
                  <a:srgbClr val="8A8378"/>
                </a:solidFill>
                <a:latin typeface="Nunito Semi-Bold"/>
                <a:ea typeface="Nunito Semi-Bold"/>
                <a:cs typeface="Nunito Semi-Bold"/>
                <a:sym typeface="Nunito Semi-Bold"/>
              </a:rPr>
              <a:t>PM2.5 · CO · temperature</a:t>
            </a:r>
          </a:p>
        </p:txBody>
      </p:sp>
      <p:sp>
        <p:nvSpPr>
          <p:cNvPr id="39" name="Rounded Rectangle 38"/>
          <p:cNvSpPr/>
          <p:nvPr/>
        </p:nvSpPr>
        <p:spPr>
          <a:xfrm>
            <a:off x="14775180" y="7615682"/>
            <a:ext cx="2484120" cy="1234440"/>
          </a:xfrm>
          <a:prstGeom prst="roundRect">
            <a:avLst>
              <a:gd name="adj" fmla="val 14814"/>
            </a:avLst>
          </a:prstGeom>
          <a:solidFill>
            <a:srgbClr val="F6ECDF"/>
          </a:solidFill>
          <a:ln>
            <a:noFill/>
          </a:ln>
        </p:spPr>
        <p:txBody>
          <a:bodyPr anchor="ctr" rtlCol="false" lIns="91440" tIns="45720" rIns="91440" bIns="45720" wrap="square"/>
          <a:lstStyle/>
          <a:p>
            <a:pPr algn="ctr">
              <a:lnSpc>
                <a:spcPts val="2070"/>
              </a:lnSpc>
              <a:spcBef>
                <a:spcPts val="0"/>
              </a:spcBef>
              <a:buNone/>
            </a:pPr>
            <a:r>
              <a:rPr lang="en-US" sz="1800" b="true">
                <a:solidFill>
                  <a:srgbClr val="111111"/>
                </a:solidFill>
                <a:latin typeface="Nunito Bold"/>
                <a:ea typeface="Nunito Bold"/>
                <a:cs typeface="Nunito Bold"/>
                <a:sym typeface="Nunito Bold"/>
              </a:rPr>
              <a:t>Recommendation</a:t>
            </a:r>
          </a:p>
          <a:p>
            <a:pPr algn="ctr">
              <a:lnSpc>
                <a:spcPts val="1680"/>
              </a:lnSpc>
              <a:spcBef>
                <a:spcPts val="300"/>
              </a:spcBef>
              <a:buNone/>
            </a:pPr>
            <a:r>
              <a:rPr lang="en-US" sz="1400" b="true">
                <a:solidFill>
                  <a:srgbClr val="8A8378"/>
                </a:solidFill>
                <a:latin typeface="Nunito Semi-Bold"/>
                <a:ea typeface="Nunito Semi-Bold"/>
                <a:cs typeface="Nunito Semi-Bold"/>
                <a:sym typeface="Nunito Semi-Bold"/>
              </a:rPr>
              <a:t>preference · context · diversity</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[10] Koren, Y., Bell, R. &amp; Volinsky, C. Matrix Factorization Techniques for Recommender Systems. Computer 42(8), 30–37 (2009).   [12] He, X. et al. LightGCN: Simplifying and Powering Graph Convolution Network for Recommendation. SIGIR, 639–648 (2020).   [16] Feng, Y. et al. Hypergraph Neural Networks. AAAI 33, 3558–3565 (2019).   [26] European Union. Regulation (EU) 2024/1689 (AI Act), Art. 13 (2024).  ·  Regulation (EU) 2016/679 (GDPR), Art. 22 (2016).  ·  OECD. Recommendation of the Council on Artificial Intelligence (2019).</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06</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6" name="Rounded Rectangle 5"/>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Context</a:t>
            </a:r>
          </a:p>
        </p:txBody>
      </p:sp>
      <p:sp>
        <p:nvSpPr>
          <p:cNvPr id="21" name="Rounded Rectangle 20"/>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2" name="Rounded Rectangle 21"/>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3" name="Rounded Rectangle 22"/>
          <p:cNvSpPr/>
          <p:nvPr/>
        </p:nvSpPr>
        <p:spPr>
          <a:xfrm>
            <a:off x="5545389" y="2559050"/>
            <a:ext cx="248457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Research Context</a:t>
            </a:r>
          </a:p>
        </p:txBody>
      </p:sp>
      <p:sp>
        <p:nvSpPr>
          <p:cNvPr id="24" name="TextBox 23"/>
          <p:cNvSpPr txBox="1"/>
          <p:nvPr/>
        </p:nvSpPr>
        <p:spPr>
          <a:xfrm>
            <a:off x="1028700" y="3363722"/>
            <a:ext cx="16230600" cy="365760"/>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1F7A8C"/>
                </a:solidFill>
                <a:latin typeface="Nunito Ultra-Bold"/>
                <a:ea typeface="Nunito Ultra-Bold"/>
                <a:cs typeface="Nunito Ultra-Bold"/>
                <a:sym typeface="Nunito Ultra-Bold"/>
              </a:rPr>
              <a:t>EVOLUTION OF RECOMMENDER SYSTEMS</a:t>
            </a:r>
          </a:p>
        </p:txBody>
      </p:sp>
      <p:sp>
        <p:nvSpPr>
          <p:cNvPr id="25" name="Rounded Rectangle 24"/>
          <p:cNvSpPr/>
          <p:nvPr/>
        </p:nvSpPr>
        <p:spPr>
          <a:xfrm>
            <a:off x="102870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Similarity models</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2003–09</a:t>
            </a:r>
          </a:p>
        </p:txBody>
      </p:sp>
      <p:cxnSp>
        <p:nvCxnSpPr>
          <p:cNvPr id="26" name="Connector 25"/>
          <p:cNvCxnSpPr/>
          <p:nvPr/>
        </p:nvCxnSpPr>
        <p:spPr>
          <a:xfrm>
            <a:off x="3415284" y="4438142"/>
            <a:ext cx="1033272" cy="0"/>
          </a:xfrm>
          <a:prstGeom prst="line">
            <a:avLst/>
          </a:prstGeom>
          <a:ln w="28575">
            <a:solidFill>
              <a:srgbClr val="4472C4"/>
            </a:solidFill>
            <a:tailEnd type="triangle" w="med" len="med"/>
          </a:ln>
        </p:spPr>
      </p:cxnSp>
      <p:sp>
        <p:nvSpPr>
          <p:cNvPr id="27" name="Rounded Rectangle 26"/>
          <p:cNvSpPr/>
          <p:nvPr/>
        </p:nvSpPr>
        <p:spPr>
          <a:xfrm>
            <a:off x="450342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Matrix factorisation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2009–13</a:t>
            </a:r>
          </a:p>
        </p:txBody>
      </p:sp>
      <p:cxnSp>
        <p:nvCxnSpPr>
          <p:cNvPr id="28" name="Connector 27"/>
          <p:cNvCxnSpPr/>
          <p:nvPr/>
        </p:nvCxnSpPr>
        <p:spPr>
          <a:xfrm>
            <a:off x="6890004" y="4438142"/>
            <a:ext cx="1033272" cy="0"/>
          </a:xfrm>
          <a:prstGeom prst="line">
            <a:avLst/>
          </a:prstGeom>
          <a:ln w="28575">
            <a:solidFill>
              <a:srgbClr val="4472C4"/>
            </a:solidFill>
            <a:tailEnd type="triangle" w="med" len="med"/>
          </a:ln>
        </p:spPr>
      </p:cxnSp>
      <p:sp>
        <p:nvSpPr>
          <p:cNvPr id="29" name="Rounded Rectangle 28"/>
          <p:cNvSpPr/>
          <p:nvPr/>
        </p:nvSpPr>
        <p:spPr>
          <a:xfrm>
            <a:off x="797814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Neural CF</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2016–19</a:t>
            </a:r>
          </a:p>
        </p:txBody>
      </p:sp>
      <p:cxnSp>
        <p:nvCxnSpPr>
          <p:cNvPr id="30" name="Connector 29"/>
          <p:cNvCxnSpPr/>
          <p:nvPr/>
        </p:nvCxnSpPr>
        <p:spPr>
          <a:xfrm>
            <a:off x="10364724" y="4438142"/>
            <a:ext cx="1033272" cy="0"/>
          </a:xfrm>
          <a:prstGeom prst="line">
            <a:avLst/>
          </a:prstGeom>
          <a:ln w="28575">
            <a:solidFill>
              <a:srgbClr val="4472C4"/>
            </a:solidFill>
            <a:tailEnd type="triangle" w="med" len="med"/>
          </a:ln>
        </p:spPr>
      </p:cxnSp>
      <p:sp>
        <p:nvSpPr>
          <p:cNvPr id="31" name="Rounded Rectangle 30"/>
          <p:cNvSpPr/>
          <p:nvPr/>
        </p:nvSpPr>
        <p:spPr>
          <a:xfrm>
            <a:off x="11452860" y="3866642"/>
            <a:ext cx="2331720" cy="1143000"/>
          </a:xfrm>
          <a:prstGeom prst="roundRect">
            <a:avLst>
              <a:gd name="adj" fmla="val 16000"/>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Graph CNN</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2018–22</a:t>
            </a:r>
          </a:p>
        </p:txBody>
      </p:sp>
      <p:cxnSp>
        <p:nvCxnSpPr>
          <p:cNvPr id="32" name="Connector 31"/>
          <p:cNvCxnSpPr/>
          <p:nvPr/>
        </p:nvCxnSpPr>
        <p:spPr>
          <a:xfrm>
            <a:off x="13839444" y="4438142"/>
            <a:ext cx="1033272" cy="0"/>
          </a:xfrm>
          <a:prstGeom prst="line">
            <a:avLst/>
          </a:prstGeom>
          <a:ln w="28575">
            <a:solidFill>
              <a:srgbClr val="4472C4"/>
            </a:solidFill>
            <a:tailEnd type="triangle" w="med" len="med"/>
          </a:ln>
        </p:spPr>
      </p:cxnSp>
      <p:sp>
        <p:nvSpPr>
          <p:cNvPr id="33" name="Rounded Rectangle 32"/>
          <p:cNvSpPr/>
          <p:nvPr/>
        </p:nvSpPr>
        <p:spPr>
          <a:xfrm>
            <a:off x="14927580" y="3866642"/>
            <a:ext cx="2331720" cy="1143000"/>
          </a:xfrm>
          <a:prstGeom prst="roundRect">
            <a:avLst>
              <a:gd name="adj" fmla="val 16000"/>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Hypergraph</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2022+</a:t>
            </a:r>
          </a:p>
        </p:txBody>
      </p:sp>
      <p:cxnSp>
        <p:nvCxnSpPr>
          <p:cNvPr id="34" name="Connector 33"/>
          <p:cNvCxnSpPr/>
          <p:nvPr/>
        </p:nvCxnSpPr>
        <p:spPr>
          <a:xfrm>
            <a:off x="1028700" y="5283962"/>
            <a:ext cx="16230600" cy="0"/>
          </a:xfrm>
          <a:prstGeom prst="line">
            <a:avLst/>
          </a:prstGeom>
          <a:ln w="50800">
            <a:solidFill>
              <a:srgbClr val="1F7A8C"/>
            </a:solidFill>
            <a:tailEnd type="triangle" w="med" len="med"/>
          </a:ln>
        </p:spPr>
      </p:cxnSp>
      <p:sp>
        <p:nvSpPr>
          <p:cNvPr id="35" name="TextBox 34"/>
          <p:cNvSpPr txBox="1"/>
          <p:nvPr/>
        </p:nvSpPr>
        <p:spPr>
          <a:xfrm>
            <a:off x="1028700" y="5375402"/>
            <a:ext cx="16230600" cy="365760"/>
          </a:xfrm>
          <a:prstGeom prst="rect">
            <a:avLst/>
          </a:prstGeom>
          <a:noFill/>
        </p:spPr>
        <p:txBody>
          <a:bodyPr anchor="t" rtlCol="false" lIns="0" tIns="0" rIns="0" bIns="0" wrap="square"/>
          <a:lstStyle/>
          <a:p>
            <a:pPr algn="ctr">
              <a:lnSpc>
                <a:spcPts val="2300"/>
              </a:lnSpc>
              <a:spcBef>
                <a:spcPts val="0"/>
              </a:spcBef>
              <a:buNone/>
            </a:pPr>
            <a:r>
              <a:rPr lang="en-US" sz="1800" b="true">
                <a:solidFill>
                  <a:srgbClr val="1F7A8C"/>
                </a:solidFill>
                <a:latin typeface="Nunito Bold"/>
                <a:ea typeface="Nunito Bold"/>
                <a:cs typeface="Nunito Bold"/>
                <a:sym typeface="Nunito Bold"/>
              </a:rPr>
              <a:t>The interpretability gap grows:</a:t>
            </a:r>
            <a:r>
              <a:rPr lang="en-US" sz="1800" b="true">
                <a:solidFill>
                  <a:srgbClr val="1F7A8C"/>
                </a:solidFill>
                <a:latin typeface="Nunito Semi-Bold"/>
                <a:ea typeface="Nunito Semi-Bold"/>
                <a:cs typeface="Nunito Semi-Bold"/>
                <a:sym typeface="Nunito Semi-Bold"/>
              </a:rPr>
              <a:t> each step improved ranking, but replaced a hidden latent code with a hidden message-passing mechanism. Neither can be acted on.</a:t>
            </a:r>
          </a:p>
        </p:txBody>
      </p:sp>
      <p:sp>
        <p:nvSpPr>
          <p:cNvPr id="36" name="Rounded Rectangle 35"/>
          <p:cNvSpPr/>
          <p:nvPr/>
        </p:nvSpPr>
        <p:spPr>
          <a:xfrm>
            <a:off x="1028700" y="6289802"/>
            <a:ext cx="7932420" cy="3110230"/>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37" name="Rounded Rectangle 36"/>
          <p:cNvSpPr/>
          <p:nvPr/>
        </p:nvSpPr>
        <p:spPr>
          <a:xfrm>
            <a:off x="1485900" y="6052058"/>
            <a:ext cx="351115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the gap matters</a:t>
            </a:r>
          </a:p>
        </p:txBody>
      </p:sp>
      <p:sp>
        <p:nvSpPr>
          <p:cNvPr id="38" name="TextBox 37"/>
          <p:cNvSpPr txBox="1"/>
          <p:nvPr/>
        </p:nvSpPr>
        <p:spPr>
          <a:xfrm>
            <a:off x="1485900" y="6884162"/>
            <a:ext cx="7063740" cy="2241550"/>
          </a:xfrm>
          <a:prstGeom prst="rect">
            <a:avLst/>
          </a:prstGeom>
          <a:noFill/>
        </p:spPr>
        <p:txBody>
          <a:bodyPr anchor="t" rtlCol="false" lIns="0" tIns="0" rIns="0" bIns="0" wrap="square"/>
          <a:lstStyle/>
          <a:p>
            <a:pPr algn="l" marL="274320" indent="-274320">
              <a:lnSpc>
                <a:spcPts val="2580"/>
              </a:lnSpc>
              <a:spcBef>
                <a:spcPts val="0"/>
              </a:spcBef>
              <a:buClr>
                <a:srgbClr val="ECC665"/>
              </a:buClr>
              <a:buSzPct val="100000"/>
              <a:buFont typeface="Arial"/>
              <a:buChar char="•"/>
            </a:pPr>
            <a:r>
              <a:rPr lang="en-US" sz="1843" b="true">
                <a:solidFill>
                  <a:srgbClr val="FFFFFF"/>
                </a:solidFill>
                <a:latin typeface="Nunito Bold"/>
                <a:ea typeface="Nunito Bold"/>
                <a:cs typeface="Nunito Bold"/>
                <a:sym typeface="Nunito Bold"/>
              </a:rPr>
              <a:t>Weakens user trust:</a:t>
            </a:r>
            <a:r>
              <a:rPr lang="en-US" sz="1843" b="true">
                <a:solidFill>
                  <a:srgbClr val="FFFFFF"/>
                </a:solidFill>
                <a:latin typeface="Nunito Semi-Bold"/>
                <a:ea typeface="Nunito Semi-Bold"/>
                <a:cs typeface="Nunito Semi-Bold"/>
                <a:sym typeface="Nunito Semi-Bold"/>
              </a:rPr>
              <a:t> users see outputs without knowing why.</a:t>
            </a:r>
          </a:p>
          <a:p>
            <a:pPr algn="l" marL="274320" indent="-274320">
              <a:lnSpc>
                <a:spcPts val="2580"/>
              </a:lnSpc>
              <a:spcBef>
                <a:spcPts val="582"/>
              </a:spcBef>
              <a:buClr>
                <a:srgbClr val="ECC665"/>
              </a:buClr>
              <a:buSzPct val="100000"/>
              <a:buFont typeface="Arial"/>
              <a:buChar char="•"/>
            </a:pPr>
            <a:r>
              <a:rPr lang="en-US" sz="1843" b="true">
                <a:solidFill>
                  <a:srgbClr val="FFFFFF"/>
                </a:solidFill>
                <a:latin typeface="Nunito Bold"/>
                <a:ea typeface="Nunito Bold"/>
                <a:cs typeface="Nunito Bold"/>
                <a:sym typeface="Nunito Bold"/>
              </a:rPr>
              <a:t>Limits debugging</a:t>
            </a:r>
            <a:r>
              <a:rPr lang="en-US" sz="1843" b="true">
                <a:solidFill>
                  <a:srgbClr val="FFFFFF"/>
                </a:solidFill>
                <a:latin typeface="Nunito Semi-Bold"/>
                <a:ea typeface="Nunito Semi-Bold"/>
                <a:cs typeface="Nunito Semi-Bold"/>
                <a:sym typeface="Nunito Semi-Bold"/>
              </a:rPr>
              <a:t> and scientific learning.</a:t>
            </a:r>
          </a:p>
          <a:p>
            <a:pPr algn="l" marL="274320" indent="-274320">
              <a:lnSpc>
                <a:spcPts val="2580"/>
              </a:lnSpc>
              <a:spcBef>
                <a:spcPts val="582"/>
              </a:spcBef>
              <a:buClr>
                <a:srgbClr val="ECC665"/>
              </a:buClr>
              <a:buSzPct val="100000"/>
              <a:buFont typeface="Arial"/>
              <a:buChar char="•"/>
            </a:pPr>
            <a:r>
              <a:rPr lang="en-US" sz="1843" b="true">
                <a:solidFill>
                  <a:srgbClr val="FFFFFF"/>
                </a:solidFill>
                <a:latin typeface="Nunito Bold"/>
                <a:ea typeface="Nunito Bold"/>
                <a:cs typeface="Nunito Bold"/>
                <a:sym typeface="Nunito Bold"/>
              </a:rPr>
              <a:t>Conflicts with regulation:</a:t>
            </a:r>
            <a:r>
              <a:rPr lang="en-US" sz="1843" b="true">
                <a:solidFill>
                  <a:srgbClr val="FFFFFF"/>
                </a:solidFill>
                <a:latin typeface="Nunito Semi-Bold"/>
                <a:ea typeface="Nunito Semi-Bold"/>
                <a:cs typeface="Nunito Semi-Bold"/>
                <a:sym typeface="Nunito Semi-Bold"/>
              </a:rPr>
              <a:t> EU AI Act, OECD principles, GDPR.</a:t>
            </a:r>
          </a:p>
          <a:p>
            <a:pPr algn="l" marL="274320" indent="-274320">
              <a:lnSpc>
                <a:spcPts val="2580"/>
              </a:lnSpc>
              <a:spcBef>
                <a:spcPts val="582"/>
              </a:spcBef>
              <a:buClr>
                <a:srgbClr val="ECC665"/>
              </a:buClr>
              <a:buSzPct val="100000"/>
              <a:buFont typeface="Arial"/>
              <a:buChar char="•"/>
            </a:pPr>
            <a:r>
              <a:rPr lang="en-US" sz="1843" b="true">
                <a:solidFill>
                  <a:srgbClr val="FFFFFF"/>
                </a:solidFill>
                <a:latin typeface="Nunito Semi-Bold"/>
                <a:ea typeface="Nunito Semi-Bold"/>
                <a:cs typeface="Nunito Semi-Bold"/>
                <a:sym typeface="Nunito Semi-Bold"/>
              </a:rPr>
              <a:t>EU AI Act (Art. 13): high-risk systems must provide explanations </a:t>
            </a:r>
            <a:r>
              <a:rPr lang="en-US" sz="1843" b="true">
                <a:solidFill>
                  <a:srgbClr val="FFFFFF"/>
                </a:solidFill>
                <a:latin typeface="Nunito Bold"/>
                <a:ea typeface="Nunito Bold"/>
                <a:cs typeface="Nunito Bold"/>
                <a:sym typeface="Nunito Bold"/>
              </a:rPr>
              <a:t>in human-understandable terms</a:t>
            </a:r>
            <a:r>
              <a:rPr lang="en-US" sz="1843" b="true">
                <a:solidFill>
                  <a:srgbClr val="FFFFFF"/>
                </a:solidFill>
                <a:latin typeface="Nunito Semi-Bold"/>
                <a:ea typeface="Nunito Semi-Bold"/>
                <a:cs typeface="Nunito Semi-Bold"/>
                <a:sym typeface="Nunito Semi-Bold"/>
              </a:rPr>
              <a:t>.</a:t>
            </a:r>
          </a:p>
        </p:txBody>
      </p:sp>
      <p:sp>
        <p:nvSpPr>
          <p:cNvPr id="39" name="Rounded Rectangle 38"/>
          <p:cNvSpPr/>
          <p:nvPr/>
        </p:nvSpPr>
        <p:spPr>
          <a:xfrm>
            <a:off x="9326880" y="6289802"/>
            <a:ext cx="7932420" cy="3110230"/>
          </a:xfrm>
          <a:prstGeom prst="roundRect">
            <a:avLst>
              <a:gd name="adj" fmla="val 9995"/>
            </a:avLst>
          </a:prstGeom>
          <a:solidFill>
            <a:srgbClr val="F6ECDF"/>
          </a:solidFill>
          <a:ln>
            <a:noFill/>
          </a:ln>
        </p:spPr>
        <p:txBody>
          <a:bodyPr anchor="ctr" rtlCol="false" lIns="0" tIns="0" rIns="0" bIns="0" wrap="square"/>
          <a:lstStyle/>
          <a:p>
            <a:endParaRPr lang="en-US" sz="1800"/>
          </a:p>
        </p:txBody>
      </p:sp>
      <p:sp>
        <p:nvSpPr>
          <p:cNvPr id="40" name="Rounded Rectangle 39"/>
          <p:cNvSpPr/>
          <p:nvPr/>
        </p:nvSpPr>
        <p:spPr>
          <a:xfrm>
            <a:off x="9784080" y="6052058"/>
            <a:ext cx="3837783"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What this thesis argues</a:t>
            </a:r>
          </a:p>
        </p:txBody>
      </p:sp>
      <p:sp>
        <p:nvSpPr>
          <p:cNvPr id="41" name="TextBox 40"/>
          <p:cNvSpPr txBox="1"/>
          <p:nvPr/>
        </p:nvSpPr>
        <p:spPr>
          <a:xfrm>
            <a:off x="9784080" y="6884162"/>
            <a:ext cx="7063740" cy="2241550"/>
          </a:xfrm>
          <a:prstGeom prst="rect">
            <a:avLst/>
          </a:prstGeom>
          <a:noFill/>
        </p:spPr>
        <p:txBody>
          <a:bodyPr anchor="t" rtlCol="false" lIns="0" tIns="0" rIns="0" bIns="0" wrap="square"/>
          <a:lstStyle/>
          <a:p>
            <a:pPr algn="l" marL="274320" indent="-274320">
              <a:lnSpc>
                <a:spcPts val="2500"/>
              </a:lnSpc>
              <a:spcBef>
                <a:spcPts val="0"/>
              </a:spcBef>
              <a:buClr>
                <a:srgbClr val="1F7A8C"/>
              </a:buClr>
              <a:buSzPct val="100000"/>
              <a:buFont typeface="Arial"/>
              <a:buChar char="•"/>
            </a:pPr>
            <a:r>
              <a:rPr lang="en-US" sz="1786" b="true">
                <a:solidFill>
                  <a:srgbClr val="111111"/>
                </a:solidFill>
                <a:latin typeface="Nunito Semi-Bold"/>
                <a:ea typeface="Nunito Semi-Bold"/>
                <a:cs typeface="Nunito Semi-Bold"/>
                <a:sym typeface="Nunito Semi-Bold"/>
              </a:rPr>
              <a:t>Recommenders moved from similarity filters to </a:t>
            </a:r>
            <a:r>
              <a:rPr lang="en-US" sz="1786" b="true">
                <a:solidFill>
                  <a:srgbClr val="111111"/>
                </a:solidFill>
                <a:latin typeface="Nunito Bold"/>
                <a:ea typeface="Nunito Bold"/>
                <a:cs typeface="Nunito Bold"/>
                <a:sym typeface="Nunito Bold"/>
              </a:rPr>
              <a:t>representation learning on sparse, high-dimensional, changing data</a:t>
            </a:r>
            <a:r>
              <a:rPr lang="en-US" sz="1786" b="true">
                <a:solidFill>
                  <a:srgbClr val="111111"/>
                </a:solidFill>
                <a:latin typeface="Nunito Semi-Bold"/>
                <a:ea typeface="Nunito Semi-Bold"/>
                <a:cs typeface="Nunito Semi-Bold"/>
                <a:sym typeface="Nunito Semi-Bold"/>
              </a:rPr>
              <a:t>.</a:t>
            </a:r>
          </a:p>
          <a:p>
            <a:pPr algn="l" marL="274320" indent="-274320">
              <a:lnSpc>
                <a:spcPts val="2500"/>
              </a:lnSpc>
              <a:spcBef>
                <a:spcPts val="564"/>
              </a:spcBef>
              <a:buClr>
                <a:srgbClr val="1F7A8C"/>
              </a:buClr>
              <a:buSzPct val="100000"/>
              <a:buFont typeface="Arial"/>
              <a:buChar char="•"/>
            </a:pPr>
            <a:r>
              <a:rPr lang="en-US" sz="1786" b="true">
                <a:solidFill>
                  <a:srgbClr val="111111"/>
                </a:solidFill>
                <a:latin typeface="Nunito Semi-Bold"/>
                <a:ea typeface="Nunito Semi-Bold"/>
                <a:cs typeface="Nunito Semi-Bold"/>
                <a:sym typeface="Nunito Semi-Bold"/>
              </a:rPr>
              <a:t>Hypergraph models add higher-order user-item-context relations but assume </a:t>
            </a:r>
            <a:r>
              <a:rPr lang="en-US" sz="1786" b="true">
                <a:solidFill>
                  <a:srgbClr val="111111"/>
                </a:solidFill>
                <a:latin typeface="Nunito Bold"/>
                <a:ea typeface="Nunito Bold"/>
                <a:cs typeface="Nunito Bold"/>
                <a:sym typeface="Nunito Bold"/>
              </a:rPr>
              <a:t>every message matters equally</a:t>
            </a:r>
            <a:r>
              <a:rPr lang="en-US" sz="1786" b="true">
                <a:solidFill>
                  <a:srgbClr val="111111"/>
                </a:solidFill>
                <a:latin typeface="Nunito Semi-Bold"/>
                <a:ea typeface="Nunito Semi-Bold"/>
                <a:cs typeface="Nunito Semi-Bold"/>
                <a:sym typeface="Nunito Semi-Bold"/>
              </a:rPr>
              <a:t>.</a:t>
            </a:r>
          </a:p>
          <a:p>
            <a:pPr algn="l" marL="274320" indent="-274320">
              <a:lnSpc>
                <a:spcPts val="2500"/>
              </a:lnSpc>
              <a:spcBef>
                <a:spcPts val="564"/>
              </a:spcBef>
              <a:buClr>
                <a:srgbClr val="1F7A8C"/>
              </a:buClr>
              <a:buSzPct val="100000"/>
              <a:buFont typeface="Arial"/>
              <a:buChar char="•"/>
            </a:pPr>
            <a:r>
              <a:rPr lang="en-US" sz="1786" b="true">
                <a:solidFill>
                  <a:srgbClr val="111111"/>
                </a:solidFill>
                <a:latin typeface="Nunito Semi-Bold"/>
                <a:ea typeface="Nunito Semi-Bold"/>
                <a:cs typeface="Nunito Semi-Bold"/>
                <a:sym typeface="Nunito Semi-Bold"/>
              </a:rPr>
              <a:t>A well-founded attribution method is needed, and it should be </a:t>
            </a:r>
            <a:r>
              <a:rPr lang="en-US" sz="1786" b="true">
                <a:solidFill>
                  <a:srgbClr val="111111"/>
                </a:solidFill>
                <a:latin typeface="Nunito Bold"/>
                <a:ea typeface="Nunito Bold"/>
                <a:cs typeface="Nunito Bold"/>
                <a:sym typeface="Nunito Bold"/>
              </a:rPr>
              <a:t>part of the model itself</a:t>
            </a:r>
            <a:r>
              <a:rPr lang="en-US" sz="1786" b="true">
                <a:solidFill>
                  <a:srgbClr val="111111"/>
                </a:solidFill>
                <a:latin typeface="Nunito Semi-Bold"/>
                <a:ea typeface="Nunito Semi-Bold"/>
                <a:cs typeface="Nunito Semi-Bold"/>
                <a:sym typeface="Nunito Semi-Bold"/>
              </a:rPr>
              <a:t>, not an add-on.</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[22] Adomavicius, G. &amp; Tuzhilin, A. Toward the Next Generation of Recommender Systems. IEEE TKDE 17(6), 734–749 (2005).  ·  Burke, R. Hybrid Recommender Systems. UMUAI 12(4), 331–370 (2002).</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07</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INTRODUCTION</a:t>
            </a:r>
          </a:p>
        </p:txBody>
      </p:sp>
      <p:sp>
        <p:nvSpPr>
          <p:cNvPr id="6" name="Rounded Rectangle 5"/>
          <p:cNvSpPr/>
          <p:nvPr/>
        </p:nvSpPr>
        <p:spPr>
          <a:xfrm>
            <a:off x="1451610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AI-Powered Recommendation Is Everywhere</a:t>
            </a:r>
          </a:p>
        </p:txBody>
      </p:sp>
      <p:sp>
        <p:nvSpPr>
          <p:cNvPr id="21" name="Rounded Rectangle 20"/>
          <p:cNvSpPr/>
          <p:nvPr/>
        </p:nvSpPr>
        <p:spPr>
          <a:xfrm>
            <a:off x="1028700" y="2559050"/>
            <a:ext cx="1715805"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Motivation</a:t>
            </a:r>
          </a:p>
        </p:txBody>
      </p:sp>
      <p:sp>
        <p:nvSpPr>
          <p:cNvPr id="22" name="Rounded Rectangle 21"/>
          <p:cNvSpPr/>
          <p:nvPr/>
        </p:nvSpPr>
        <p:spPr>
          <a:xfrm>
            <a:off x="2872521" y="2559050"/>
            <a:ext cx="254485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Actionable Insight</a:t>
            </a:r>
          </a:p>
        </p:txBody>
      </p:sp>
      <p:sp>
        <p:nvSpPr>
          <p:cNvPr id="23" name="Rounded Rectangle 22"/>
          <p:cNvSpPr/>
          <p:nvPr/>
        </p:nvSpPr>
        <p:spPr>
          <a:xfrm>
            <a:off x="5545389" y="2559050"/>
            <a:ext cx="2484575"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Research Context</a:t>
            </a:r>
          </a:p>
        </p:txBody>
      </p:sp>
      <p:sp>
        <p:nvSpPr>
          <p:cNvPr id="24" name="Rounded Rectangle 23"/>
          <p:cNvSpPr/>
          <p:nvPr/>
        </p:nvSpPr>
        <p:spPr>
          <a:xfrm>
            <a:off x="102870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sp>
        <p:nvSpPr>
          <p:cNvPr id="25" name="Rounded Rectangle 24"/>
          <p:cNvSpPr/>
          <p:nvPr/>
        </p:nvSpPr>
        <p:spPr>
          <a:xfrm>
            <a:off x="1485900" y="3866642"/>
            <a:ext cx="2903220" cy="1828800"/>
          </a:xfrm>
          <a:prstGeom prst="roundRect">
            <a:avLst>
              <a:gd name="adj" fmla="val 11000"/>
            </a:avLst>
          </a:prstGeom>
          <a:solidFill>
            <a:srgbClr val="F6ECDF"/>
          </a:solidFill>
          <a:ln>
            <a:noFill/>
          </a:ln>
        </p:spPr>
        <p:txBody>
          <a:bodyPr anchor="ctr" rtlCol="false" lIns="91440" tIns="45720" rIns="91440" bIns="45720" wrap="square"/>
          <a:lstStyle/>
          <a:p>
            <a:pPr algn="ctr">
              <a:lnSpc>
                <a:spcPts val="3450"/>
              </a:lnSpc>
              <a:spcBef>
                <a:spcPts val="0"/>
              </a:spcBef>
              <a:buNone/>
            </a:pPr>
            <a:r>
              <a:rPr lang="en-US" sz="3000" b="true">
                <a:solidFill>
                  <a:srgbClr val="111111"/>
                </a:solidFill>
                <a:latin typeface="Nunito Bold"/>
                <a:ea typeface="Nunito Bold"/>
                <a:cs typeface="Nunito Bold"/>
                <a:sym typeface="Nunito Bold"/>
              </a:rPr>
              <a:t>Netflix</a:t>
            </a:r>
          </a:p>
        </p:txBody>
      </p:sp>
      <p:sp>
        <p:nvSpPr>
          <p:cNvPr id="26" name="TextBox 25"/>
          <p:cNvSpPr txBox="1"/>
          <p:nvPr/>
        </p:nvSpPr>
        <p:spPr>
          <a:xfrm>
            <a:off x="130302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Netflix</a:t>
            </a:r>
          </a:p>
        </p:txBody>
      </p:sp>
      <p:sp>
        <p:nvSpPr>
          <p:cNvPr id="27" name="TextBox 26"/>
          <p:cNvSpPr txBox="1"/>
          <p:nvPr/>
        </p:nvSpPr>
        <p:spPr>
          <a:xfrm>
            <a:off x="130302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Movie and TV recommendation platform</a:t>
            </a:r>
          </a:p>
        </p:txBody>
      </p:sp>
      <p:sp>
        <p:nvSpPr>
          <p:cNvPr id="28" name="Rounded Rectangle 27"/>
          <p:cNvSpPr/>
          <p:nvPr/>
        </p:nvSpPr>
        <p:spPr>
          <a:xfrm>
            <a:off x="516636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sp>
        <p:nvSpPr>
          <p:cNvPr id="29" name="Rounded Rectangle 28"/>
          <p:cNvSpPr/>
          <p:nvPr/>
        </p:nvSpPr>
        <p:spPr>
          <a:xfrm>
            <a:off x="5623560" y="3866642"/>
            <a:ext cx="2903220" cy="1828800"/>
          </a:xfrm>
          <a:prstGeom prst="roundRect">
            <a:avLst>
              <a:gd name="adj" fmla="val 11000"/>
            </a:avLst>
          </a:prstGeom>
          <a:solidFill>
            <a:srgbClr val="F6ECDF"/>
          </a:solidFill>
          <a:ln>
            <a:noFill/>
          </a:ln>
        </p:spPr>
        <p:txBody>
          <a:bodyPr anchor="ctr" rtlCol="false" lIns="91440" tIns="45720" rIns="91440" bIns="45720" wrap="square"/>
          <a:lstStyle/>
          <a:p>
            <a:pPr algn="ctr">
              <a:lnSpc>
                <a:spcPts val="3450"/>
              </a:lnSpc>
              <a:spcBef>
                <a:spcPts val="0"/>
              </a:spcBef>
              <a:buNone/>
            </a:pPr>
            <a:r>
              <a:rPr lang="en-US" sz="3000" b="true">
                <a:solidFill>
                  <a:srgbClr val="111111"/>
                </a:solidFill>
                <a:latin typeface="Nunito Bold"/>
                <a:ea typeface="Nunito Bold"/>
                <a:cs typeface="Nunito Bold"/>
                <a:sym typeface="Nunito Bold"/>
              </a:rPr>
              <a:t>Spotify</a:t>
            </a:r>
          </a:p>
        </p:txBody>
      </p:sp>
      <p:sp>
        <p:nvSpPr>
          <p:cNvPr id="30" name="TextBox 29"/>
          <p:cNvSpPr txBox="1"/>
          <p:nvPr/>
        </p:nvSpPr>
        <p:spPr>
          <a:xfrm>
            <a:off x="544068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Spotify</a:t>
            </a:r>
          </a:p>
        </p:txBody>
      </p:sp>
      <p:sp>
        <p:nvSpPr>
          <p:cNvPr id="31" name="TextBox 30"/>
          <p:cNvSpPr txBox="1"/>
          <p:nvPr/>
        </p:nvSpPr>
        <p:spPr>
          <a:xfrm>
            <a:off x="544068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Music recommendation and streaming service</a:t>
            </a:r>
          </a:p>
        </p:txBody>
      </p:sp>
      <p:sp>
        <p:nvSpPr>
          <p:cNvPr id="32" name="Rounded Rectangle 31"/>
          <p:cNvSpPr/>
          <p:nvPr/>
        </p:nvSpPr>
        <p:spPr>
          <a:xfrm>
            <a:off x="930402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sp>
        <p:nvSpPr>
          <p:cNvPr id="33" name="Rounded Rectangle 32"/>
          <p:cNvSpPr/>
          <p:nvPr/>
        </p:nvSpPr>
        <p:spPr>
          <a:xfrm>
            <a:off x="9761220" y="3866642"/>
            <a:ext cx="2903220" cy="1828800"/>
          </a:xfrm>
          <a:prstGeom prst="roundRect">
            <a:avLst>
              <a:gd name="adj" fmla="val 11000"/>
            </a:avLst>
          </a:prstGeom>
          <a:solidFill>
            <a:srgbClr val="F6ECDF"/>
          </a:solidFill>
          <a:ln>
            <a:noFill/>
          </a:ln>
        </p:spPr>
        <p:txBody>
          <a:bodyPr anchor="ctr" rtlCol="false" lIns="91440" tIns="45720" rIns="91440" bIns="45720" wrap="square"/>
          <a:lstStyle/>
          <a:p>
            <a:pPr algn="ctr">
              <a:lnSpc>
                <a:spcPts val="3450"/>
              </a:lnSpc>
              <a:spcBef>
                <a:spcPts val="0"/>
              </a:spcBef>
              <a:buNone/>
            </a:pPr>
            <a:r>
              <a:rPr lang="en-US" sz="3000" b="true">
                <a:solidFill>
                  <a:srgbClr val="111111"/>
                </a:solidFill>
                <a:latin typeface="Nunito Bold"/>
                <a:ea typeface="Nunito Bold"/>
                <a:cs typeface="Nunito Bold"/>
                <a:sym typeface="Nunito Bold"/>
              </a:rPr>
              <a:t>Yelp</a:t>
            </a:r>
          </a:p>
        </p:txBody>
      </p:sp>
      <p:sp>
        <p:nvSpPr>
          <p:cNvPr id="34" name="TextBox 33"/>
          <p:cNvSpPr txBox="1"/>
          <p:nvPr/>
        </p:nvSpPr>
        <p:spPr>
          <a:xfrm>
            <a:off x="957834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Yelp</a:t>
            </a:r>
          </a:p>
        </p:txBody>
      </p:sp>
      <p:sp>
        <p:nvSpPr>
          <p:cNvPr id="35" name="TextBox 34"/>
          <p:cNvSpPr txBox="1"/>
          <p:nvPr/>
        </p:nvSpPr>
        <p:spPr>
          <a:xfrm>
            <a:off x="957834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Local business and restaurant recommendation</a:t>
            </a:r>
          </a:p>
        </p:txBody>
      </p:sp>
      <p:sp>
        <p:nvSpPr>
          <p:cNvPr id="36" name="Rounded Rectangle 35"/>
          <p:cNvSpPr/>
          <p:nvPr/>
        </p:nvSpPr>
        <p:spPr>
          <a:xfrm>
            <a:off x="13441680" y="3455162"/>
            <a:ext cx="3817620" cy="4480560"/>
          </a:xfrm>
          <a:prstGeom prst="roundRect">
            <a:avLst>
              <a:gd name="adj" fmla="val 7185"/>
            </a:avLst>
          </a:prstGeom>
          <a:solidFill>
            <a:srgbClr val="FFFFFF"/>
          </a:solidFill>
          <a:ln w="15875">
            <a:solidFill>
              <a:srgbClr val="E3D6C4"/>
            </a:solidFill>
          </a:ln>
        </p:spPr>
        <p:txBody>
          <a:bodyPr anchor="ctr" rtlCol="false" lIns="0" tIns="0" rIns="0" bIns="0" wrap="square"/>
          <a:lstStyle/>
          <a:p>
            <a:endParaRPr lang="en-US" sz="1800"/>
          </a:p>
        </p:txBody>
      </p:sp>
      <p:sp>
        <p:nvSpPr>
          <p:cNvPr id="37" name="Rounded Rectangle 36"/>
          <p:cNvSpPr/>
          <p:nvPr/>
        </p:nvSpPr>
        <p:spPr>
          <a:xfrm>
            <a:off x="13898880" y="3866642"/>
            <a:ext cx="2903220" cy="1828800"/>
          </a:xfrm>
          <a:prstGeom prst="roundRect">
            <a:avLst>
              <a:gd name="adj" fmla="val 11000"/>
            </a:avLst>
          </a:prstGeom>
          <a:solidFill>
            <a:srgbClr val="F6ECDF"/>
          </a:solidFill>
          <a:ln>
            <a:noFill/>
          </a:ln>
        </p:spPr>
        <p:txBody>
          <a:bodyPr anchor="ctr" rtlCol="false" lIns="91440" tIns="45720" rIns="91440" bIns="45720" wrap="square"/>
          <a:lstStyle/>
          <a:p>
            <a:pPr algn="ctr">
              <a:lnSpc>
                <a:spcPts val="3450"/>
              </a:lnSpc>
              <a:spcBef>
                <a:spcPts val="0"/>
              </a:spcBef>
              <a:buNone/>
            </a:pPr>
            <a:r>
              <a:rPr lang="en-US" sz="3000" b="true">
                <a:solidFill>
                  <a:srgbClr val="111111"/>
                </a:solidFill>
                <a:latin typeface="Nunito Bold"/>
                <a:ea typeface="Nunito Bold"/>
                <a:cs typeface="Nunito Bold"/>
                <a:sym typeface="Nunito Bold"/>
              </a:rPr>
              <a:t>Amazon</a:t>
            </a:r>
          </a:p>
        </p:txBody>
      </p:sp>
      <p:sp>
        <p:nvSpPr>
          <p:cNvPr id="38" name="TextBox 37"/>
          <p:cNvSpPr txBox="1"/>
          <p:nvPr/>
        </p:nvSpPr>
        <p:spPr>
          <a:xfrm>
            <a:off x="13716000" y="5969762"/>
            <a:ext cx="3268980" cy="457200"/>
          </a:xfrm>
          <a:prstGeom prst="rect">
            <a:avLst/>
          </a:prstGeom>
          <a:noFill/>
        </p:spPr>
        <p:txBody>
          <a:bodyPr anchor="t" rtlCol="false" lIns="0" tIns="0" rIns="0" bIns="0" wrap="square"/>
          <a:lstStyle/>
          <a:p>
            <a:pPr algn="ctr">
              <a:lnSpc>
                <a:spcPts val="2800"/>
              </a:lnSpc>
              <a:spcBef>
                <a:spcPts val="0"/>
              </a:spcBef>
              <a:buNone/>
            </a:pPr>
            <a:r>
              <a:rPr lang="en-US" sz="2400" b="true">
                <a:solidFill>
                  <a:srgbClr val="111111"/>
                </a:solidFill>
                <a:latin typeface="Nunito Ultra-Bold"/>
                <a:ea typeface="Nunito Ultra-Bold"/>
                <a:cs typeface="Nunito Ultra-Bold"/>
                <a:sym typeface="Nunito Ultra-Bold"/>
              </a:rPr>
              <a:t>Amazon</a:t>
            </a:r>
          </a:p>
        </p:txBody>
      </p:sp>
      <p:sp>
        <p:nvSpPr>
          <p:cNvPr id="39" name="TextBox 38"/>
          <p:cNvSpPr txBox="1"/>
          <p:nvPr/>
        </p:nvSpPr>
        <p:spPr>
          <a:xfrm>
            <a:off x="13716000" y="6472682"/>
            <a:ext cx="3268980" cy="128016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8A8378"/>
                </a:solidFill>
                <a:latin typeface="Nunito Semi-Bold"/>
                <a:ea typeface="Nunito Semi-Bold"/>
                <a:cs typeface="Nunito Semi-Bold"/>
                <a:sym typeface="Nunito Semi-Bold"/>
              </a:rPr>
              <a:t>E-commerce platform with personalised product recommendations</a:t>
            </a:r>
          </a:p>
        </p:txBody>
      </p:sp>
      <p:sp>
        <p:nvSpPr>
          <p:cNvPr id="40" name="Rounded Rectangle 39"/>
          <p:cNvSpPr/>
          <p:nvPr/>
        </p:nvSpPr>
        <p:spPr>
          <a:xfrm>
            <a:off x="1028700" y="8301482"/>
            <a:ext cx="16230600" cy="869950"/>
          </a:xfrm>
          <a:prstGeom prst="roundRect">
            <a:avLst>
              <a:gd name="adj" fmla="val 31532"/>
            </a:avLst>
          </a:prstGeom>
          <a:solidFill>
            <a:srgbClr val="F6ECDF"/>
          </a:solidFill>
          <a:ln>
            <a:noFill/>
          </a:ln>
        </p:spPr>
        <p:txBody>
          <a:bodyPr anchor="ctr" rtlCol="false" lIns="548640" tIns="91440" rIns="548640" bIns="91440" wrap="square"/>
          <a:lstStyle/>
          <a:p>
            <a:pPr algn="ctr">
              <a:lnSpc>
                <a:spcPts val="2700"/>
              </a:lnSpc>
              <a:spcBef>
                <a:spcPts val="0"/>
              </a:spcBef>
              <a:buNone/>
            </a:pPr>
            <a:r>
              <a:rPr lang="en-US" sz="2100" b="true">
                <a:solidFill>
                  <a:srgbClr val="111111"/>
                </a:solidFill>
                <a:latin typeface="Nunito Semi-Bold"/>
                <a:ea typeface="Nunito Semi-Bold"/>
                <a:cs typeface="Nunito Semi-Bold"/>
                <a:sym typeface="Nunito Semi-Bold"/>
              </a:rPr>
              <a:t>AI recommendation shapes what </a:t>
            </a:r>
            <a:r>
              <a:rPr lang="en-US" sz="2100" b="true">
                <a:solidFill>
                  <a:srgbClr val="111111"/>
                </a:solidFill>
                <a:latin typeface="Nunito Bold"/>
                <a:ea typeface="Nunito Bold"/>
                <a:cs typeface="Nunito Bold"/>
                <a:sym typeface="Nunito Bold"/>
              </a:rPr>
              <a:t>billions</a:t>
            </a:r>
            <a:r>
              <a:rPr lang="en-US" sz="2100" b="true">
                <a:solidFill>
                  <a:srgbClr val="111111"/>
                </a:solidFill>
                <a:latin typeface="Nunito Semi-Bold"/>
                <a:ea typeface="Nunito Semi-Bold"/>
                <a:cs typeface="Nunito Semi-Bold"/>
                <a:sym typeface="Nunito Semi-Bold"/>
              </a:rPr>
              <a:t> see, buy and listen to every day. Each system is very </a:t>
            </a:r>
            <a:r>
              <a:rPr lang="en-US" sz="2100" b="true">
                <a:solidFill>
                  <a:srgbClr val="111111"/>
                </a:solidFill>
                <a:latin typeface="Nunito Bold"/>
                <a:ea typeface="Nunito Bold"/>
                <a:cs typeface="Nunito Bold"/>
                <a:sym typeface="Nunito Bold"/>
              </a:rPr>
              <a:t>accurate, yet a black box</a:t>
            </a:r>
            <a:r>
              <a:rPr lang="en-US" sz="2100" b="true">
                <a:solidFill>
                  <a:srgbClr val="111111"/>
                </a:solidFill>
                <a:latin typeface="Nunito Semi-Bold"/>
                <a:ea typeface="Nunito Semi-Bold"/>
                <a:cs typeface="Nunito Semi-Bold"/>
                <a:sym typeface="Nunito Semi-Bold"/>
              </a:rPr>
              <a:t>: its reasoning is hidden from the user. Everywhere, and hidden: that is </a:t>
            </a:r>
            <a:r>
              <a:rPr lang="en-US" sz="2100" b="true">
                <a:solidFill>
                  <a:srgbClr val="111111"/>
                </a:solidFill>
                <a:latin typeface="Nunito Bold"/>
                <a:ea typeface="Nunito Bold"/>
                <a:cs typeface="Nunito Bold"/>
                <a:sym typeface="Nunito Bold"/>
              </a:rPr>
              <a:t>exactly the gap this thesis targets</a:t>
            </a:r>
            <a:r>
              <a:rPr lang="en-US" sz="2100" b="true">
                <a:solidFill>
                  <a:srgbClr val="111111"/>
                </a:solidFill>
                <a:latin typeface="Nunito Semi-Bold"/>
                <a:ea typeface="Nunito Semi-Bold"/>
                <a:cs typeface="Nunito Semi-Bold"/>
                <a:sym typeface="Nunito Semi-Bold"/>
              </a:rPr>
              <a:t>.</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08</a:t>
            </a:r>
          </a:p>
        </p:txBody>
      </p:sp>
      <p:sp>
        <p:nvSpPr>
          <p:cNvPr id="5" name="TextBox 4"/>
          <p:cNvSpPr txBox="1"/>
          <p:nvPr/>
        </p:nvSpPr>
        <p:spPr>
          <a:xfrm>
            <a:off x="1028700" y="2331720"/>
            <a:ext cx="14859000" cy="1737360"/>
          </a:xfrm>
          <a:prstGeom prst="rect">
            <a:avLst/>
          </a:prstGeom>
          <a:noFill/>
        </p:spPr>
        <p:txBody>
          <a:bodyPr anchor="t" rtlCol="false" lIns="0" tIns="0" rIns="0" bIns="0" wrap="square"/>
          <a:lstStyle/>
          <a:p>
            <a:pPr algn="l">
              <a:lnSpc>
                <a:spcPts val="11628"/>
              </a:lnSpc>
              <a:spcBef>
                <a:spcPts val="0"/>
              </a:spcBef>
              <a:buNone/>
            </a:pPr>
            <a:r>
              <a:rPr lang="en-US" sz="11400" b="true" spc="-661">
                <a:solidFill>
                  <a:srgbClr val="111111"/>
                </a:solidFill>
                <a:latin typeface="Roca Two Bold"/>
                <a:ea typeface="Roca Two Bold"/>
                <a:cs typeface="Roca Two Bold"/>
                <a:sym typeface="Roca Two Bold"/>
              </a:rPr>
              <a:t>Context &amp; Problematic</a:t>
            </a:r>
          </a:p>
        </p:txBody>
      </p:sp>
      <p:sp>
        <p:nvSpPr>
          <p:cNvPr id="6" name="Oval 5"/>
          <p:cNvSpPr/>
          <p:nvPr/>
        </p:nvSpPr>
        <p:spPr>
          <a:xfrm>
            <a:off x="15944631" y="26898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7" name="TextBox 6"/>
          <p:cNvSpPr txBox="1"/>
          <p:nvPr/>
        </p:nvSpPr>
        <p:spPr>
          <a:xfrm>
            <a:off x="15944631" y="26898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02</a:t>
            </a:r>
          </a:p>
        </p:txBody>
      </p:sp>
      <p:sp>
        <p:nvSpPr>
          <p:cNvPr id="8" name="TextBox 7"/>
          <p:cNvSpPr txBox="1"/>
          <p:nvPr/>
        </p:nvSpPr>
        <p:spPr>
          <a:xfrm>
            <a:off x="1028700" y="3953256"/>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The main approaches, their limitations and the five research questions</a:t>
            </a:r>
          </a:p>
        </p:txBody>
      </p:sp>
      <p:sp>
        <p:nvSpPr>
          <p:cNvPr id="9" name="Rectangle 8"/>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0" name="TextBox 9"/>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Approaches</a:t>
            </a:r>
          </a:p>
        </p:txBody>
      </p:sp>
      <p:cxnSp>
        <p:nvCxnSpPr>
          <p:cNvPr id="11" name="Connector 10"/>
          <p:cNvCxnSpPr/>
          <p:nvPr/>
        </p:nvCxnSpPr>
        <p:spPr>
          <a:xfrm>
            <a:off x="1028700" y="6464808"/>
            <a:ext cx="640080" cy="0"/>
          </a:xfrm>
          <a:prstGeom prst="line">
            <a:avLst/>
          </a:prstGeom>
          <a:ln w="31750">
            <a:solidFill>
              <a:srgbClr val="ECC665"/>
            </a:solidFill>
          </a:ln>
        </p:spPr>
      </p:cxnSp>
      <p:sp>
        <p:nvSpPr>
          <p:cNvPr id="12" name="TextBox 11"/>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Collaborative, content-based, hybrid, matrix factorisation and graph/hypergraph recommenders: each one stronger, each one less transparent.</a:t>
            </a:r>
          </a:p>
        </p:txBody>
      </p:sp>
      <p:sp>
        <p:nvSpPr>
          <p:cNvPr id="13" name="TextBox 12"/>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Problematic</a:t>
            </a:r>
          </a:p>
        </p:txBody>
      </p:sp>
      <p:cxnSp>
        <p:nvCxnSpPr>
          <p:cNvPr id="14" name="Connector 13"/>
          <p:cNvCxnSpPr/>
          <p:nvPr/>
        </p:nvCxnSpPr>
        <p:spPr>
          <a:xfrm>
            <a:off x="6576060" y="6464808"/>
            <a:ext cx="640080" cy="0"/>
          </a:xfrm>
          <a:prstGeom prst="line">
            <a:avLst/>
          </a:prstGeom>
          <a:ln w="31750">
            <a:solidFill>
              <a:srgbClr val="ECC665"/>
            </a:solidFill>
          </a:ln>
        </p:spPr>
      </p:cxnSp>
      <p:sp>
        <p:nvSpPr>
          <p:cNvPr id="15" name="TextBox 14"/>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Three main limitations: lack of explainability, difficulty of scaling, weak link between explanation and learning.</a:t>
            </a:r>
          </a:p>
        </p:txBody>
      </p:sp>
      <p:sp>
        <p:nvSpPr>
          <p:cNvPr id="16" name="TextBox 15"/>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Contributions</a:t>
            </a:r>
          </a:p>
        </p:txBody>
      </p:sp>
      <p:cxnSp>
        <p:nvCxnSpPr>
          <p:cNvPr id="17" name="Connector 16"/>
          <p:cNvCxnSpPr/>
          <p:nvPr/>
        </p:nvCxnSpPr>
        <p:spPr>
          <a:xfrm>
            <a:off x="12123420" y="6464808"/>
            <a:ext cx="640080" cy="0"/>
          </a:xfrm>
          <a:prstGeom prst="line">
            <a:avLst/>
          </a:prstGeom>
          <a:ln w="31750">
            <a:solidFill>
              <a:srgbClr val="ECC665"/>
            </a:solidFill>
          </a:ln>
        </p:spPr>
      </p:cxnSp>
      <p:sp>
        <p:nvSpPr>
          <p:cNvPr id="18" name="TextBox 17"/>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Five research questions answered by three contributions that build on each other, under one cooperative-game view.</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[22] Adomavicius, G. &amp; Tuzhilin, A. Toward the Next Generation of Recommender Systems. IEEE TKDE 17(6), 734–749 (2005).  ·  Burke, R. Hybrid Recommender Systems. UMUAI 12(4), 331–370 (2002).</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09</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Content-Based Filtering</a:t>
            </a:r>
          </a:p>
        </p:txBody>
      </p:sp>
      <p:sp>
        <p:nvSpPr>
          <p:cNvPr id="21" name="Rounded Rectangle 20"/>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2" name="Rounded Rectangle 21"/>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3" name="Rounded Rectangle 22"/>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4" name="TextBox 23"/>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Recommends items </a:t>
            </a:r>
            <a:r>
              <a:rPr lang="en-US" sz="2100" b="true">
                <a:solidFill>
                  <a:srgbClr val="111111"/>
                </a:solidFill>
                <a:latin typeface="Nunito Bold"/>
                <a:ea typeface="Nunito Bold"/>
                <a:cs typeface="Nunito Bold"/>
                <a:sym typeface="Nunito Bold"/>
              </a:rPr>
              <a:t>based on their features</a:t>
            </a:r>
            <a:r>
              <a:rPr lang="en-US" sz="2100" b="true">
                <a:solidFill>
                  <a:srgbClr val="111111"/>
                </a:solidFill>
                <a:latin typeface="Nunito Semi-Bold"/>
                <a:ea typeface="Nunito Semi-Bold"/>
                <a:cs typeface="Nunito Semi-Bold"/>
                <a:sym typeface="Nunito Semi-Bold"/>
              </a:rPr>
              <a:t> and the user's past preferences.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Builds a </a:t>
            </a:r>
            <a:r>
              <a:rPr lang="en-US" sz="2100" b="true">
                <a:solidFill>
                  <a:srgbClr val="111111"/>
                </a:solidFill>
                <a:latin typeface="Nunito Bold"/>
                <a:ea typeface="Nunito Bold"/>
                <a:cs typeface="Nunito Bold"/>
                <a:sym typeface="Nunito Bold"/>
              </a:rPr>
              <a:t>user profile</a:t>
            </a:r>
            <a:r>
              <a:rPr lang="en-US" sz="2100" b="true">
                <a:solidFill>
                  <a:srgbClr val="111111"/>
                </a:solidFill>
                <a:latin typeface="Nunito Semi-Bold"/>
                <a:ea typeface="Nunito Semi-Bold"/>
                <a:cs typeface="Nunito Semi-Bold"/>
                <a:sym typeface="Nunito Semi-Bold"/>
              </a:rPr>
              <a:t> from previously liked, viewed or selected items.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Suggests new items with </a:t>
            </a:r>
            <a:r>
              <a:rPr lang="en-US" sz="2100" b="true">
                <a:solidFill>
                  <a:srgbClr val="111111"/>
                </a:solidFill>
                <a:latin typeface="Nunito Bold"/>
                <a:ea typeface="Nunito Bold"/>
                <a:cs typeface="Nunito Bold"/>
                <a:sym typeface="Nunito Bold"/>
              </a:rPr>
              <a:t>similar characteristics</a:t>
            </a:r>
            <a:r>
              <a:rPr lang="en-US" sz="2100" b="true">
                <a:solidFill>
                  <a:srgbClr val="111111"/>
                </a:solidFill>
                <a:latin typeface="Nunito Semi-Bold"/>
                <a:ea typeface="Nunito Semi-Bold"/>
                <a:cs typeface="Nunito Semi-Bold"/>
                <a:sym typeface="Nunito Semi-Bold"/>
              </a:rPr>
              <a:t> (genre, cast, keywords, brand).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Explainable by construction: the reason is a </a:t>
            </a:r>
            <a:r>
              <a:rPr lang="en-US" sz="2100" b="true">
                <a:solidFill>
                  <a:srgbClr val="111111"/>
                </a:solidFill>
                <a:latin typeface="Nunito Bold"/>
                <a:ea typeface="Nunito Bold"/>
                <a:cs typeface="Nunito Bold"/>
                <a:sym typeface="Nunito Bold"/>
              </a:rPr>
              <a:t>named feature</a:t>
            </a:r>
            <a:r>
              <a:rPr lang="en-US" sz="2100" b="true">
                <a:solidFill>
                  <a:srgbClr val="111111"/>
                </a:solidFill>
                <a:latin typeface="Nunito Semi-Bold"/>
                <a:ea typeface="Nunito Semi-Bold"/>
                <a:cs typeface="Nunito Semi-Bold"/>
                <a:sym typeface="Nunito Semi-Bold"/>
              </a:rPr>
              <a:t> the user recognises.</a:t>
            </a:r>
          </a:p>
        </p:txBody>
      </p:sp>
      <p:sp>
        <p:nvSpPr>
          <p:cNvPr id="25" name="Rounded Rectangle 24"/>
          <p:cNvSpPr/>
          <p:nvPr/>
        </p:nvSpPr>
        <p:spPr>
          <a:xfrm>
            <a:off x="1028700" y="8028432"/>
            <a:ext cx="7680960" cy="1097280"/>
          </a:xfrm>
          <a:prstGeom prst="roundRect">
            <a:avLst>
              <a:gd name="adj" fmla="val 18333"/>
            </a:avLst>
          </a:prstGeom>
          <a:solidFill>
            <a:srgbClr val="F6ECDF"/>
          </a:solidFill>
          <a:ln w="25400">
            <a:solidFill>
              <a:srgbClr val="1F7A8C"/>
            </a:solidFill>
          </a:ln>
        </p:spPr>
        <p:txBody>
          <a:bodyPr anchor="ctr" rtlCol="false" lIns="0" tIns="0" rIns="0" bIns="0" wrap="square"/>
          <a:lstStyle/>
          <a:p>
            <a:endParaRPr lang="en-US" sz="1800"/>
          </a:p>
        </p:txBody>
      </p:sp>
      <p:sp>
        <p:nvSpPr>
          <p:cNvPr id="26" name="Rounded Rectangle 25"/>
          <p:cNvSpPr/>
          <p:nvPr/>
        </p:nvSpPr>
        <p:spPr>
          <a:xfrm>
            <a:off x="1348740" y="7836408"/>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27" name="TextBox 26"/>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Recommendations may become too similar and lack diversity; it needs good item metadata.</a:t>
            </a:r>
          </a:p>
        </p:txBody>
      </p:sp>
      <p:pic>
        <p:nvPicPr>
          <p:cNvPr id="28" name="Picture 27" descr="ctx_content.png"/>
          <p:cNvPicPr>
            <a:picLocks noChangeAspect="1"/>
          </p:cNvPicPr>
          <p:nvPr/>
        </p:nvPicPr>
        <p:blipFill>
          <a:blip r:embed="rId4"/>
          <a:stretch>
            <a:fillRect/>
          </a:stretch>
        </p:blipFill>
        <p:spPr>
          <a:xfrm>
            <a:off x="9258300" y="3574669"/>
            <a:ext cx="8001000" cy="5431536"/>
          </a:xfrm>
          <a:prstGeom prst="rect">
            <a:avLst/>
          </a:prstGeom>
        </p:spPr>
      </p:pic>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[22] Adomavicius, G. &amp; Tuzhilin, A. Toward the Next Generation of Recommender Systems. IEEE TKDE 17(6), 734–749 (2005).  ·  Burke, R. Hybrid Recommender Systems. UMUAI 12(4), 331–370 (2002).</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10</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Collaborative Filtering</a:t>
            </a:r>
          </a:p>
        </p:txBody>
      </p:sp>
      <p:sp>
        <p:nvSpPr>
          <p:cNvPr id="21" name="Rounded Rectangle 20"/>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2" name="Rounded Rectangle 21"/>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3" name="Rounded Rectangle 22"/>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4" name="TextBox 23"/>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Recommends items using the </a:t>
            </a:r>
            <a:r>
              <a:rPr lang="en-US" sz="2100" b="true">
                <a:solidFill>
                  <a:srgbClr val="111111"/>
                </a:solidFill>
                <a:latin typeface="Nunito Bold"/>
                <a:ea typeface="Nunito Bold"/>
                <a:cs typeface="Nunito Bold"/>
                <a:sym typeface="Nunito Bold"/>
              </a:rPr>
              <a:t>preferences and behaviour of similar users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Finds patterns in </a:t>
            </a:r>
            <a:r>
              <a:rPr lang="en-US" sz="2100" b="true">
                <a:solidFill>
                  <a:srgbClr val="111111"/>
                </a:solidFill>
                <a:latin typeface="Nunito Bold"/>
                <a:ea typeface="Nunito Bold"/>
                <a:cs typeface="Nunito Bold"/>
                <a:sym typeface="Nunito Bold"/>
              </a:rPr>
              <a:t>user-item interactions</a:t>
            </a:r>
            <a:r>
              <a:rPr lang="en-US" sz="2100" b="true">
                <a:solidFill>
                  <a:srgbClr val="111111"/>
                </a:solidFill>
                <a:latin typeface="Nunito Semi-Bold"/>
                <a:ea typeface="Nunito Semi-Bold"/>
                <a:cs typeface="Nunito Semi-Bold"/>
                <a:sym typeface="Nunito Semi-Bold"/>
              </a:rPr>
              <a:t>: ratings, clicks, purchases.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Can be </a:t>
            </a:r>
            <a:r>
              <a:rPr lang="en-US" sz="2100" b="true">
                <a:solidFill>
                  <a:srgbClr val="111111"/>
                </a:solidFill>
                <a:latin typeface="Nunito Bold"/>
                <a:ea typeface="Nunito Bold"/>
                <a:cs typeface="Nunito Bold"/>
                <a:sym typeface="Nunito Bold"/>
              </a:rPr>
              <a:t>user-based</a:t>
            </a:r>
            <a:r>
              <a:rPr lang="en-US" sz="2100" b="true">
                <a:solidFill>
                  <a:srgbClr val="111111"/>
                </a:solidFill>
                <a:latin typeface="Nunito Semi-Bold"/>
                <a:ea typeface="Nunito Semi-Bold"/>
                <a:cs typeface="Nunito Semi-Bold"/>
                <a:sym typeface="Nunito Semi-Bold"/>
              </a:rPr>
              <a:t> or </a:t>
            </a:r>
            <a:r>
              <a:rPr lang="en-US" sz="2100" b="true">
                <a:solidFill>
                  <a:srgbClr val="111111"/>
                </a:solidFill>
                <a:latin typeface="Nunito Bold"/>
                <a:ea typeface="Nunito Bold"/>
                <a:cs typeface="Nunito Bold"/>
                <a:sym typeface="Nunito Bold"/>
              </a:rPr>
              <a:t>item-based</a:t>
            </a:r>
            <a:r>
              <a:rPr lang="en-US" sz="2100" b="true">
                <a:solidFill>
                  <a:srgbClr val="111111"/>
                </a:solidFill>
                <a:latin typeface="Nunito Semi-Bold"/>
                <a:ea typeface="Nunito Semi-Bold"/>
                <a:cs typeface="Nunito Semi-Bold"/>
                <a:sym typeface="Nunito Semi-Bold"/>
              </a:rPr>
              <a:t>; needs no item content at all.</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 base idea behind matrix factorisation and graph recommenders.</a:t>
            </a:r>
          </a:p>
        </p:txBody>
      </p:sp>
      <p:sp>
        <p:nvSpPr>
          <p:cNvPr id="25" name="Rounded Rectangle 24"/>
          <p:cNvSpPr/>
          <p:nvPr/>
        </p:nvSpPr>
        <p:spPr>
          <a:xfrm>
            <a:off x="1028700" y="8028432"/>
            <a:ext cx="7680960" cy="1097280"/>
          </a:xfrm>
          <a:prstGeom prst="roundRect">
            <a:avLst>
              <a:gd name="adj" fmla="val 18333"/>
            </a:avLst>
          </a:prstGeom>
          <a:solidFill>
            <a:srgbClr val="F6ECDF"/>
          </a:solidFill>
          <a:ln w="25400">
            <a:solidFill>
              <a:srgbClr val="1F7A8C"/>
            </a:solidFill>
          </a:ln>
        </p:spPr>
        <p:txBody>
          <a:bodyPr anchor="ctr" rtlCol="false" lIns="0" tIns="0" rIns="0" bIns="0" wrap="square"/>
          <a:lstStyle/>
          <a:p>
            <a:endParaRPr lang="en-US" sz="1800"/>
          </a:p>
        </p:txBody>
      </p:sp>
      <p:sp>
        <p:nvSpPr>
          <p:cNvPr id="26" name="Rounded Rectangle 25"/>
          <p:cNvSpPr/>
          <p:nvPr/>
        </p:nvSpPr>
        <p:spPr>
          <a:xfrm>
            <a:off x="1348740" y="7836408"/>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27" name="TextBox 26"/>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It struggles with new users or new items because of limited interaction data (cold start).</a:t>
            </a:r>
          </a:p>
        </p:txBody>
      </p:sp>
      <p:pic>
        <p:nvPicPr>
          <p:cNvPr id="28" name="Picture 27" descr="ctx_cf.png"/>
          <p:cNvPicPr>
            <a:picLocks noChangeAspect="1"/>
          </p:cNvPicPr>
          <p:nvPr/>
        </p:nvPicPr>
        <p:blipFill>
          <a:blip r:embed="rId4"/>
          <a:stretch>
            <a:fillRect/>
          </a:stretch>
        </p:blipFill>
        <p:spPr>
          <a:xfrm>
            <a:off x="9258300" y="3574669"/>
            <a:ext cx="8001000" cy="5431536"/>
          </a:xfrm>
          <a:prstGeom prst="rect">
            <a:avLst/>
          </a:prstGeom>
        </p:spPr>
      </p:pic>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[10] Koren, Y., Bell, R. &amp; Volinsky, C. Matrix Factorization Techniques for Recommender Systems. Computer 42(8), 30–37 (2009).   [22] Adomavicius, G. &amp; Tuzhilin, A. Toward the Next Generation of Recommender Systems. IEEE TKDE 17(6), 734–749 (2005).  ·  Burke, R. Hybrid Recommender Systems. UMUAI 12(4), 331–370 (2002).</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11</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Hybrid Approaches and Matrix Factorisation</a:t>
            </a:r>
          </a:p>
        </p:txBody>
      </p:sp>
      <p:sp>
        <p:nvSpPr>
          <p:cNvPr id="21" name="Rounded Rectangle 20"/>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2" name="Rounded Rectangle 21"/>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3" name="Rounded Rectangle 22"/>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4" name="TextBox 23"/>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Hybrid:</a:t>
            </a:r>
            <a:r>
              <a:rPr lang="en-US" sz="2100" b="true">
                <a:solidFill>
                  <a:srgbClr val="111111"/>
                </a:solidFill>
                <a:latin typeface="Nunito Semi-Bold"/>
                <a:ea typeface="Nunito Semi-Bold"/>
                <a:cs typeface="Nunito Semi-Bold"/>
                <a:sym typeface="Nunito Semi-Bold"/>
              </a:rPr>
              <a:t> combines content-based and collaborative methods to reduce the weaknesses of each.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Handles limited data, over-specialisation and part of the cold-start problem.</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Matrix factorisation (MF):</a:t>
            </a:r>
            <a:r>
              <a:rPr lang="en-US" sz="2100" b="true">
                <a:solidFill>
                  <a:srgbClr val="111111"/>
                </a:solidFill>
                <a:latin typeface="Nunito Semi-Bold"/>
                <a:ea typeface="Nunito Semi-Bold"/>
                <a:cs typeface="Nunito Semi-Bold"/>
                <a:sym typeface="Nunito Semi-Bold"/>
              </a:rPr>
              <a:t> the interaction matrix R is split into user and item factors P and Q.</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MF made recommendation accurate and scalable; it is the standard baseline of the field.</a:t>
            </a:r>
          </a:p>
        </p:txBody>
      </p:sp>
      <p:sp>
        <p:nvSpPr>
          <p:cNvPr id="25" name="Rounded Rectangle 24"/>
          <p:cNvSpPr/>
          <p:nvPr/>
        </p:nvSpPr>
        <p:spPr>
          <a:xfrm>
            <a:off x="1028700" y="8028432"/>
            <a:ext cx="7680960" cy="1097280"/>
          </a:xfrm>
          <a:prstGeom prst="roundRect">
            <a:avLst>
              <a:gd name="adj" fmla="val 18333"/>
            </a:avLst>
          </a:prstGeom>
          <a:solidFill>
            <a:srgbClr val="F6ECDF"/>
          </a:solidFill>
          <a:ln w="25400">
            <a:solidFill>
              <a:srgbClr val="1F7A8C"/>
            </a:solidFill>
          </a:ln>
        </p:spPr>
        <p:txBody>
          <a:bodyPr anchor="ctr" rtlCol="false" lIns="0" tIns="0" rIns="0" bIns="0" wrap="square"/>
          <a:lstStyle/>
          <a:p>
            <a:endParaRPr lang="en-US" sz="1800"/>
          </a:p>
        </p:txBody>
      </p:sp>
      <p:sp>
        <p:nvSpPr>
          <p:cNvPr id="26" name="Rounded Rectangle 25"/>
          <p:cNvSpPr/>
          <p:nvPr/>
        </p:nvSpPr>
        <p:spPr>
          <a:xfrm>
            <a:off x="1348740" y="7836408"/>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27" name="TextBox 26"/>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The latent factors are compact but hidden: a good score cannot be traced back to a factor a person understands.</a:t>
            </a:r>
          </a:p>
        </p:txBody>
      </p:sp>
      <p:pic>
        <p:nvPicPr>
          <p:cNvPr id="28" name="Picture 27" descr="ctx_mf.png"/>
          <p:cNvPicPr>
            <a:picLocks noChangeAspect="1"/>
          </p:cNvPicPr>
          <p:nvPr/>
        </p:nvPicPr>
        <p:blipFill>
          <a:blip r:embed="rId4"/>
          <a:stretch>
            <a:fillRect/>
          </a:stretch>
        </p:blipFill>
        <p:spPr>
          <a:xfrm>
            <a:off x="9258300" y="3574669"/>
            <a:ext cx="8001000" cy="5431536"/>
          </a:xfrm>
          <a:prstGeom prst="rect">
            <a:avLst/>
          </a:prstGeom>
        </p:spPr>
      </p:pic>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[12] He, X. et al. LightGCN: Simplifying and Powering Graph Convolution Network for Recommendation. SIGIR, 639–648 (2020).   [13] Xia, L. et al. Hypergraph Contrastive Collaborative Filtering (HCCF). SIGIR, 70–79 (2022).   [14] Xiangyi, Y. et al. Hypergraph Projection Enhanced Collaborative Filtering (HPCF). Int. J. Data Science and Analytics 19(2), 269–281 (2025).   [16] Feng, Y. et al. Hypergraph Neural Networks. AAAI 33, 3558–3565 (2019).</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12</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Graph-Based and Hypergraph Recommenders</a:t>
            </a:r>
          </a:p>
        </p:txBody>
      </p:sp>
      <p:sp>
        <p:nvSpPr>
          <p:cNvPr id="21" name="Rounded Rectangle 20"/>
          <p:cNvSpPr/>
          <p:nvPr/>
        </p:nvSpPr>
        <p:spPr>
          <a:xfrm>
            <a:off x="1028700" y="2559050"/>
            <a:ext cx="1854490"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Approaches</a:t>
            </a:r>
          </a:p>
        </p:txBody>
      </p:sp>
      <p:sp>
        <p:nvSpPr>
          <p:cNvPr id="22" name="Rounded Rectangle 21"/>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3" name="Rounded Rectangle 22"/>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4" name="TextBox 23"/>
          <p:cNvSpPr txBox="1"/>
          <p:nvPr/>
        </p:nvSpPr>
        <p:spPr>
          <a:xfrm>
            <a:off x="1028700" y="3363722"/>
            <a:ext cx="7680960" cy="439039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Represent users, items and their interactions as </a:t>
            </a:r>
            <a:r>
              <a:rPr lang="en-US" sz="2100" b="true">
                <a:solidFill>
                  <a:srgbClr val="111111"/>
                </a:solidFill>
                <a:latin typeface="Nunito Bold"/>
                <a:ea typeface="Nunito Bold"/>
                <a:cs typeface="Nunito Bold"/>
                <a:sym typeface="Nunito Bold"/>
              </a:rPr>
              <a:t>nodes and edges</a:t>
            </a:r>
            <a:r>
              <a:rPr lang="en-US" sz="2100" b="true">
                <a:solidFill>
                  <a:srgbClr val="111111"/>
                </a:solidFill>
                <a:latin typeface="Nunito Semi-Bold"/>
                <a:ea typeface="Nunito Semi-Bold"/>
                <a:cs typeface="Nunito Semi-Bold"/>
                <a:sym typeface="Nunito Semi-Bold"/>
              </a:rPr>
              <a:t> in a graph.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Use </a:t>
            </a:r>
            <a:r>
              <a:rPr lang="en-US" sz="2100" b="true">
                <a:solidFill>
                  <a:srgbClr val="111111"/>
                </a:solidFill>
                <a:latin typeface="Nunito Bold"/>
                <a:ea typeface="Nunito Bold"/>
                <a:cs typeface="Nunito Bold"/>
                <a:sym typeface="Nunito Bold"/>
              </a:rPr>
              <a:t>message passing</a:t>
            </a:r>
            <a:r>
              <a:rPr lang="en-US" sz="2100" b="true">
                <a:solidFill>
                  <a:srgbClr val="111111"/>
                </a:solidFill>
                <a:latin typeface="Nunito Semi-Bold"/>
                <a:ea typeface="Nunito Semi-Bold"/>
                <a:cs typeface="Nunito Semi-Bold"/>
                <a:sym typeface="Nunito Semi-Bold"/>
              </a:rPr>
              <a:t> (LightGCN, HCCF, HPCF) to reach multi-hop neighbours.</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Hypergraphs</a:t>
            </a:r>
            <a:r>
              <a:rPr lang="en-US" sz="2100" b="true">
                <a:solidFill>
                  <a:srgbClr val="111111"/>
                </a:solidFill>
                <a:latin typeface="Nunito Semi-Bold"/>
                <a:ea typeface="Nunito Semi-Bold"/>
                <a:cs typeface="Nunito Semi-Bold"/>
                <a:sym typeface="Nunito Semi-Bold"/>
              </a:rPr>
              <a:t> connect more than two nodes at once: user, item and context in one hyperedge.</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State of the art in accuracy on sparse benchmarks such as MovieLens-1M and Amazon-Book.</a:t>
            </a:r>
          </a:p>
        </p:txBody>
      </p:sp>
      <p:sp>
        <p:nvSpPr>
          <p:cNvPr id="25" name="Rounded Rectangle 24"/>
          <p:cNvSpPr/>
          <p:nvPr/>
        </p:nvSpPr>
        <p:spPr>
          <a:xfrm>
            <a:off x="1028700" y="8028432"/>
            <a:ext cx="7680960" cy="1097280"/>
          </a:xfrm>
          <a:prstGeom prst="roundRect">
            <a:avLst>
              <a:gd name="adj" fmla="val 18333"/>
            </a:avLst>
          </a:prstGeom>
          <a:solidFill>
            <a:srgbClr val="F6ECDF"/>
          </a:solidFill>
          <a:ln w="25400">
            <a:solidFill>
              <a:srgbClr val="1F7A8C"/>
            </a:solidFill>
          </a:ln>
        </p:spPr>
        <p:txBody>
          <a:bodyPr anchor="ctr" rtlCol="false" lIns="0" tIns="0" rIns="0" bIns="0" wrap="square"/>
          <a:lstStyle/>
          <a:p>
            <a:endParaRPr lang="en-US" sz="1800"/>
          </a:p>
        </p:txBody>
      </p:sp>
      <p:sp>
        <p:nvSpPr>
          <p:cNvPr id="26" name="Rounded Rectangle 25"/>
          <p:cNvSpPr/>
          <p:nvPr/>
        </p:nvSpPr>
        <p:spPr>
          <a:xfrm>
            <a:off x="1348740" y="7836408"/>
            <a:ext cx="160990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LIMITATION</a:t>
            </a:r>
          </a:p>
        </p:txBody>
      </p:sp>
      <p:sp>
        <p:nvSpPr>
          <p:cNvPr id="27" name="TextBox 26"/>
          <p:cNvSpPr txBox="1"/>
          <p:nvPr/>
        </p:nvSpPr>
        <p:spPr>
          <a:xfrm>
            <a:off x="1394460" y="8302752"/>
            <a:ext cx="6949440" cy="685800"/>
          </a:xfrm>
          <a:prstGeom prst="rect">
            <a:avLst/>
          </a:prstGeom>
          <a:noFill/>
        </p:spPr>
        <p:txBody>
          <a:bodyPr anchor="ctr" rtlCol="false" lIns="0" tIns="0" rIns="0" bIns="0" wrap="square"/>
          <a:lstStyle/>
          <a:p>
            <a:pPr algn="l">
              <a:lnSpc>
                <a:spcPts val="2380"/>
              </a:lnSpc>
              <a:spcBef>
                <a:spcPts val="0"/>
              </a:spcBef>
              <a:buNone/>
            </a:pPr>
            <a:r>
              <a:rPr lang="en-US" sz="1700" b="true">
                <a:solidFill>
                  <a:srgbClr val="111111"/>
                </a:solidFill>
                <a:latin typeface="Nunito Semi-Bold"/>
                <a:ea typeface="Nunito Semi-Bold"/>
                <a:cs typeface="Nunito Semi-Bold"/>
                <a:sym typeface="Nunito Semi-Bold"/>
              </a:rPr>
              <a:t>Large graphs cost compute and memory, and all messages are treated as equally important and unexplained.</a:t>
            </a:r>
          </a:p>
        </p:txBody>
      </p:sp>
      <p:pic>
        <p:nvPicPr>
          <p:cNvPr id="28" name="Picture 27" descr="ctx_hyper.png"/>
          <p:cNvPicPr>
            <a:picLocks noChangeAspect="1"/>
          </p:cNvPicPr>
          <p:nvPr/>
        </p:nvPicPr>
        <p:blipFill>
          <a:blip r:embed="rId4"/>
          <a:stretch>
            <a:fillRect/>
          </a:stretch>
        </p:blipFill>
        <p:spPr>
          <a:xfrm>
            <a:off x="9258300" y="3574669"/>
            <a:ext cx="8001000" cy="5431536"/>
          </a:xfrm>
          <a:prstGeom prst="rect">
            <a:avLst/>
          </a:prstGeom>
        </p:spPr>
      </p:pic>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[23] Zhu, Z. et al. Popularity Bias in Dynamic Recommendation. KDD, 2439–2449 (2021).  ·  Hurley, N. &amp; Zhang, M. Novelty and Diversity in Top-N Recommendation. ACM TOIT 10(4) (2011).   [21] Zhang, Y. &amp; Chen, X. Explainable Recommendation: A Survey and New Perspectives. Foundations and Trends in IR 14(1), 1–101 (2020).</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13</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666750"/>
          </a:xfrm>
          <a:prstGeom prst="rect">
            <a:avLst/>
          </a:prstGeom>
          <a:noFill/>
        </p:spPr>
        <p:txBody>
          <a:bodyPr anchor="t" rtlCol="false" lIns="0" tIns="0" rIns="0" bIns="0" wrap="square"/>
          <a:lstStyle/>
          <a:p>
            <a:pPr algn="l">
              <a:lnSpc>
                <a:spcPts val="4620"/>
              </a:lnSpc>
              <a:spcBef>
                <a:spcPts val="0"/>
              </a:spcBef>
              <a:buNone/>
            </a:pPr>
            <a:r>
              <a:rPr lang="en-US" sz="4200" b="true" spc="-210">
                <a:solidFill>
                  <a:srgbClr val="111111"/>
                </a:solidFill>
                <a:latin typeface="Roca Two Bold"/>
                <a:ea typeface="Roca Two Bold"/>
                <a:cs typeface="Roca Two Bold"/>
                <a:sym typeface="Roca Two Bold"/>
              </a:rPr>
              <a:t>Limitations of Classical Recommenders &amp; Unsupervised Models</a:t>
            </a:r>
          </a:p>
        </p:txBody>
      </p:sp>
      <p:sp>
        <p:nvSpPr>
          <p:cNvPr id="21" name="Rounded Rectangle 20"/>
          <p:cNvSpPr/>
          <p:nvPr/>
        </p:nvSpPr>
        <p:spPr>
          <a:xfrm>
            <a:off x="1028700" y="24955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2" name="Rounded Rectangle 21"/>
          <p:cNvSpPr/>
          <p:nvPr/>
        </p:nvSpPr>
        <p:spPr>
          <a:xfrm>
            <a:off x="3011206" y="24955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3" name="Rounded Rectangle 22"/>
          <p:cNvSpPr/>
          <p:nvPr/>
        </p:nvSpPr>
        <p:spPr>
          <a:xfrm>
            <a:off x="5010194" y="24955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4" name="Rounded Rectangle 23"/>
          <p:cNvSpPr/>
          <p:nvPr/>
        </p:nvSpPr>
        <p:spPr>
          <a:xfrm>
            <a:off x="1028700" y="3391662"/>
            <a:ext cx="3851910" cy="3017520"/>
          </a:xfrm>
          <a:prstGeom prst="roundRect">
            <a:avLst>
              <a:gd name="adj" fmla="val 9090"/>
            </a:avLst>
          </a:prstGeom>
          <a:solidFill>
            <a:srgbClr val="4472C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01</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Data sparsity &amp; scalability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The user-item matrix is almost empty, so there is very little signal to learn from.</a:t>
            </a:r>
          </a:p>
        </p:txBody>
      </p:sp>
      <p:sp>
        <p:nvSpPr>
          <p:cNvPr id="25" name="Rounded Rectangle 24"/>
          <p:cNvSpPr/>
          <p:nvPr/>
        </p:nvSpPr>
        <p:spPr>
          <a:xfrm>
            <a:off x="5154930" y="3391662"/>
            <a:ext cx="3851910" cy="3017520"/>
          </a:xfrm>
          <a:prstGeom prst="roundRect">
            <a:avLst>
              <a:gd name="adj" fmla="val 9090"/>
            </a:avLst>
          </a:prstGeom>
          <a:solidFill>
            <a:srgbClr val="4472C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02</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Cold-start</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New users and items are at a disadvantage: no history to learn from.</a:t>
            </a:r>
          </a:p>
        </p:txBody>
      </p:sp>
      <p:sp>
        <p:nvSpPr>
          <p:cNvPr id="26" name="Rounded Rectangle 25"/>
          <p:cNvSpPr/>
          <p:nvPr/>
        </p:nvSpPr>
        <p:spPr>
          <a:xfrm>
            <a:off x="9281160" y="3391662"/>
            <a:ext cx="3851910" cy="3017520"/>
          </a:xfrm>
          <a:prstGeom prst="roundRect">
            <a:avLst>
              <a:gd name="adj" fmla="val 9090"/>
            </a:avLst>
          </a:prstGeom>
          <a:solidFill>
            <a:srgbClr val="4472C4"/>
          </a:solidFill>
          <a:ln>
            <a:noFill/>
          </a:ln>
        </p:spPr>
        <p:txBody>
          <a:bodyPr anchor="t" rtlCol="false" lIns="320040" tIns="320040" rIns="274320" bIns="228600" wrap="square"/>
          <a:lstStyle/>
          <a:p>
            <a:pPr algn="l">
              <a:lnSpc>
                <a:spcPts val="3000"/>
              </a:lnSpc>
              <a:spcBef>
                <a:spcPts val="0"/>
              </a:spcBef>
              <a:buNone/>
            </a:pPr>
            <a:r>
              <a:rPr lang="en-US" sz="2600" b="true">
                <a:solidFill>
                  <a:srgbClr val="ECC665"/>
                </a:solidFill>
                <a:latin typeface="Nunito Ultra-Bold"/>
                <a:ea typeface="Nunito Ultra-Bold"/>
                <a:cs typeface="Nunito Ultra-Bold"/>
                <a:sym typeface="Nunito Ultra-Bold"/>
              </a:rPr>
              <a:t>03</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Popularity bias &amp; lack of diversity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Exposure leads to interaction, which leads to more exposure: a filter-bubble loop.</a:t>
            </a:r>
          </a:p>
        </p:txBody>
      </p:sp>
      <p:sp>
        <p:nvSpPr>
          <p:cNvPr id="27" name="Rounded Rectangle 26"/>
          <p:cNvSpPr/>
          <p:nvPr/>
        </p:nvSpPr>
        <p:spPr>
          <a:xfrm>
            <a:off x="13407390" y="3391662"/>
            <a:ext cx="3851910" cy="3017520"/>
          </a:xfrm>
          <a:prstGeom prst="roundRect">
            <a:avLst>
              <a:gd name="adj" fmla="val 9090"/>
            </a:avLst>
          </a:prstGeom>
          <a:solidFill>
            <a:srgbClr val="1F7A8C"/>
          </a:solidFill>
          <a:ln>
            <a:noFill/>
          </a:ln>
        </p:spPr>
        <p:txBody>
          <a:bodyPr anchor="t" rtlCol="false" lIns="320040" tIns="320040" rIns="274320" bIns="228600" wrap="square"/>
          <a:lstStyle/>
          <a:p>
            <a:pPr algn="l">
              <a:lnSpc>
                <a:spcPts val="3000"/>
              </a:lnSpc>
              <a:spcBef>
                <a:spcPts val="0"/>
              </a:spcBef>
              <a:buNone/>
            </a:pPr>
            <a:r>
              <a:rPr lang="en-US" sz="2600" b="true">
                <a:solidFill>
                  <a:srgbClr val="FFFFFF"/>
                </a:solidFill>
                <a:latin typeface="Nunito Ultra-Bold"/>
                <a:ea typeface="Nunito Ultra-Bold"/>
                <a:cs typeface="Nunito Ultra-Bold"/>
                <a:sym typeface="Nunito Ultra-Bold"/>
              </a:rPr>
              <a:t>04</a:t>
            </a:r>
          </a:p>
          <a:p>
            <a:pPr algn="l">
              <a:lnSpc>
                <a:spcPts val="2500"/>
              </a:lnSpc>
              <a:spcBef>
                <a:spcPts val="600"/>
              </a:spcBef>
              <a:buNone/>
            </a:pPr>
            <a:r>
              <a:rPr lang="en-US" sz="2100" b="true">
                <a:solidFill>
                  <a:srgbClr val="FFFFFF"/>
                </a:solidFill>
                <a:latin typeface="Nunito Ultra-Bold"/>
                <a:ea typeface="Nunito Ultra-Bold"/>
                <a:cs typeface="Nunito Ultra-Bold"/>
                <a:sym typeface="Nunito Ultra-Bold"/>
              </a:rPr>
              <a:t>Absence of interpretability</a:t>
            </a:r>
          </a:p>
          <a:p>
            <a:pPr algn="l">
              <a:lnSpc>
                <a:spcPts val="2100"/>
              </a:lnSpc>
              <a:spcBef>
                <a:spcPts val="800"/>
              </a:spcBef>
              <a:buNone/>
            </a:pPr>
            <a:r>
              <a:rPr lang="en-US" sz="1700" b="true">
                <a:solidFill>
                  <a:srgbClr val="F1EDE6"/>
                </a:solidFill>
                <a:latin typeface="Nunito Semi-Bold"/>
                <a:ea typeface="Nunito Semi-Bold"/>
                <a:cs typeface="Nunito Semi-Bold"/>
                <a:sym typeface="Nunito Semi-Bold"/>
              </a:rPr>
              <a:t>The most basic limit, and the one this thesis targets.</a:t>
            </a:r>
          </a:p>
        </p:txBody>
      </p:sp>
      <p:sp>
        <p:nvSpPr>
          <p:cNvPr id="28" name="Rounded Rectangle 27"/>
          <p:cNvSpPr/>
          <p:nvPr/>
        </p:nvSpPr>
        <p:spPr>
          <a:xfrm>
            <a:off x="1028700" y="7049262"/>
            <a:ext cx="16230600" cy="2259330"/>
          </a:xfrm>
          <a:prstGeom prst="roundRect">
            <a:avLst>
              <a:gd name="adj" fmla="val 13760"/>
            </a:avLst>
          </a:prstGeom>
          <a:solidFill>
            <a:srgbClr val="F6ECDF"/>
          </a:solidFill>
          <a:ln>
            <a:noFill/>
          </a:ln>
        </p:spPr>
        <p:txBody>
          <a:bodyPr anchor="ctr" rtlCol="false" lIns="0" tIns="0" rIns="0" bIns="0" wrap="square"/>
          <a:lstStyle/>
          <a:p>
            <a:endParaRPr lang="en-US" sz="1800"/>
          </a:p>
        </p:txBody>
      </p:sp>
      <p:sp>
        <p:nvSpPr>
          <p:cNvPr id="29" name="Rounded Rectangle 28"/>
          <p:cNvSpPr/>
          <p:nvPr/>
        </p:nvSpPr>
        <p:spPr>
          <a:xfrm>
            <a:off x="1485900" y="6811518"/>
            <a:ext cx="7857234"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For clustering specifically, the situation is even harder</a:t>
            </a:r>
          </a:p>
        </p:txBody>
      </p:sp>
      <p:sp>
        <p:nvSpPr>
          <p:cNvPr id="30" name="TextBox 29"/>
          <p:cNvSpPr txBox="1"/>
          <p:nvPr/>
        </p:nvSpPr>
        <p:spPr>
          <a:xfrm>
            <a:off x="1531620" y="7689342"/>
            <a:ext cx="15270480" cy="1344930"/>
          </a:xfrm>
          <a:prstGeom prst="rect">
            <a:avLst/>
          </a:prstGeom>
          <a:noFill/>
        </p:spPr>
        <p:txBody>
          <a:bodyPr anchor="t" rtlCol="false" lIns="0" tIns="0" rIns="0" bIns="0" wrap="square"/>
          <a:lstStyle/>
          <a:p>
            <a:pPr algn="l" marL="274320" indent="-274320">
              <a:lnSpc>
                <a:spcPts val="2587"/>
              </a:lnSpc>
              <a:spcBef>
                <a:spcPts val="0"/>
              </a:spcBef>
              <a:buClr>
                <a:srgbClr val="1F7A8C"/>
              </a:buClr>
              <a:buSzPct val="100000"/>
              <a:buFont typeface="Arial"/>
              <a:buChar char="•"/>
            </a:pPr>
            <a:r>
              <a:rPr lang="en-US" sz="1848" b="true">
                <a:solidFill>
                  <a:srgbClr val="111111"/>
                </a:solidFill>
                <a:latin typeface="Nunito Semi-Bold"/>
                <a:ea typeface="Nunito Semi-Bold"/>
                <a:cs typeface="Nunito Semi-Bold"/>
                <a:sym typeface="Nunito Semi-Bold"/>
              </a:rPr>
              <a:t>Methods give a </a:t>
            </a:r>
            <a:r>
              <a:rPr lang="en-US" sz="1848" b="true">
                <a:solidFill>
                  <a:srgbClr val="111111"/>
                </a:solidFill>
                <a:latin typeface="Nunito Bold"/>
                <a:ea typeface="Nunito Bold"/>
                <a:cs typeface="Nunito Bold"/>
                <a:sym typeface="Nunito Bold"/>
              </a:rPr>
              <a:t>local OR a global</a:t>
            </a:r>
            <a:r>
              <a:rPr lang="en-US" sz="1848" b="true">
                <a:solidFill>
                  <a:srgbClr val="111111"/>
                </a:solidFill>
                <a:latin typeface="Nunito Semi-Bold"/>
                <a:ea typeface="Nunito Semi-Bold"/>
                <a:cs typeface="Nunito Semi-Bold"/>
                <a:sym typeface="Nunito Semi-Bold"/>
              </a:rPr>
              <a:t> explanation, not both.</a:t>
            </a:r>
          </a:p>
          <a:p>
            <a:pPr algn="l" marL="274320" indent="-274320">
              <a:lnSpc>
                <a:spcPts val="2587"/>
              </a:lnSpc>
              <a:spcBef>
                <a:spcPts val="704"/>
              </a:spcBef>
              <a:buClr>
                <a:srgbClr val="1F7A8C"/>
              </a:buClr>
              <a:buSzPct val="100000"/>
              <a:buFont typeface="Arial"/>
              <a:buChar char="•"/>
            </a:pPr>
            <a:r>
              <a:rPr lang="en-US" sz="1848" b="true">
                <a:solidFill>
                  <a:srgbClr val="111111"/>
                </a:solidFill>
                <a:latin typeface="Nunito Semi-Bold"/>
                <a:ea typeface="Nunito Semi-Bold"/>
                <a:cs typeface="Nunito Semi-Bold"/>
                <a:sym typeface="Nunito Semi-Bold"/>
              </a:rPr>
              <a:t>They </a:t>
            </a:r>
            <a:r>
              <a:rPr lang="en-US" sz="1848" b="true">
                <a:solidFill>
                  <a:srgbClr val="111111"/>
                </a:solidFill>
                <a:latin typeface="Nunito Bold"/>
                <a:ea typeface="Nunito Bold"/>
                <a:cs typeface="Nunito Bold"/>
                <a:sym typeface="Nunito Bold"/>
              </a:rPr>
              <a:t>struggle to scale</a:t>
            </a:r>
            <a:r>
              <a:rPr lang="en-US" sz="1848" b="true">
                <a:solidFill>
                  <a:srgbClr val="111111"/>
                </a:solidFill>
                <a:latin typeface="Nunito Semi-Bold"/>
                <a:ea typeface="Nunito Semi-Bold"/>
                <a:cs typeface="Nunito Semi-Bold"/>
                <a:sym typeface="Nunito Semi-Bold"/>
              </a:rPr>
              <a:t>, and explanations rarely stay </a:t>
            </a:r>
            <a:r>
              <a:rPr lang="en-US" sz="1848" b="true">
                <a:solidFill>
                  <a:srgbClr val="111111"/>
                </a:solidFill>
                <a:latin typeface="Nunito Bold"/>
                <a:ea typeface="Nunito Bold"/>
                <a:cs typeface="Nunito Bold"/>
                <a:sym typeface="Nunito Bold"/>
              </a:rPr>
              <a:t>consistent across levels of detail</a:t>
            </a:r>
            <a:r>
              <a:rPr lang="en-US" sz="1848" b="true">
                <a:solidFill>
                  <a:srgbClr val="111111"/>
                </a:solidFill>
                <a:latin typeface="Nunito Semi-Bold"/>
                <a:ea typeface="Nunito Semi-Bold"/>
                <a:cs typeface="Nunito Semi-Bold"/>
                <a:sym typeface="Nunito Semi-Bold"/>
              </a:rPr>
              <a:t>.</a:t>
            </a:r>
          </a:p>
          <a:p>
            <a:pPr algn="l" marL="274320" indent="-274320">
              <a:lnSpc>
                <a:spcPts val="2587"/>
              </a:lnSpc>
              <a:spcBef>
                <a:spcPts val="704"/>
              </a:spcBef>
              <a:buClr>
                <a:srgbClr val="1F7A8C"/>
              </a:buClr>
              <a:buSzPct val="100000"/>
              <a:buFont typeface="Arial"/>
              <a:buChar char="•"/>
            </a:pPr>
            <a:r>
              <a:rPr lang="en-US" sz="1848" b="true">
                <a:solidFill>
                  <a:srgbClr val="111111"/>
                </a:solidFill>
                <a:latin typeface="Nunito Bold"/>
                <a:ea typeface="Nunito Bold"/>
                <a:cs typeface="Nunito Bold"/>
                <a:sym typeface="Nunito Bold"/>
              </a:rPr>
              <a:t>The gap:</a:t>
            </a:r>
            <a:r>
              <a:rPr lang="en-US" sz="1848" b="true">
                <a:solidFill>
                  <a:srgbClr val="111111"/>
                </a:solidFill>
                <a:latin typeface="Nunito Semi-Bold"/>
                <a:ea typeface="Nunito Semi-Bold"/>
                <a:cs typeface="Nunito Semi-Bold"/>
                <a:sym typeface="Nunito Semi-Bold"/>
              </a:rPr>
              <a:t> no faithful local + global explanation, poor scaling, and no consistency across levels. This is exactly what this thesis works 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[21] Zhang, Y. &amp; Chen, X. Explainable Recommendation: A Survey and New Perspectives. Foundations and Trends in IR 14(1), 1–101 (2020).   [24] Arrieta, A. B. et al. Explainable Artificial Intelligence (XAI): Concepts, Taxonomies, Opportunities and Challenges. Information Fusion 58, 82–115 (2020).</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14</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Three Main Limitations: Problem Statement</a:t>
            </a:r>
          </a:p>
        </p:txBody>
      </p:sp>
      <p:sp>
        <p:nvSpPr>
          <p:cNvPr id="21" name="Rounded Rectangle 20"/>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2" name="Rounded Rectangle 21"/>
          <p:cNvSpPr/>
          <p:nvPr/>
        </p:nvSpPr>
        <p:spPr>
          <a:xfrm>
            <a:off x="3011206" y="25590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3" name="Rounded Rectangle 22"/>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4" name="Rounded Rectangle 23"/>
          <p:cNvSpPr/>
          <p:nvPr/>
        </p:nvSpPr>
        <p:spPr>
          <a:xfrm>
            <a:off x="1028700" y="3455162"/>
            <a:ext cx="5196840" cy="3566160"/>
          </a:xfrm>
          <a:prstGeom prst="roundRect">
            <a:avLst>
              <a:gd name="adj" fmla="val 8205"/>
            </a:avLst>
          </a:prstGeom>
          <a:solidFill>
            <a:srgbClr val="4472C4"/>
          </a:solidFill>
          <a:ln>
            <a:noFill/>
          </a:ln>
        </p:spPr>
        <p:txBody>
          <a:bodyPr anchor="ctr" rtlCol="false" lIns="0" tIns="0" rIns="0" bIns="0" wrap="square"/>
          <a:lstStyle/>
          <a:p>
            <a:endParaRPr lang="en-US" sz="1800"/>
          </a:p>
        </p:txBody>
      </p:sp>
      <p:sp>
        <p:nvSpPr>
          <p:cNvPr id="25" name="Oval 24"/>
          <p:cNvSpPr/>
          <p:nvPr/>
        </p:nvSpPr>
        <p:spPr>
          <a:xfrm>
            <a:off x="134874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1</a:t>
            </a:r>
          </a:p>
        </p:txBody>
      </p:sp>
      <p:sp>
        <p:nvSpPr>
          <p:cNvPr id="26" name="TextBox 25"/>
          <p:cNvSpPr txBox="1"/>
          <p:nvPr/>
        </p:nvSpPr>
        <p:spPr>
          <a:xfrm>
            <a:off x="1348740" y="4643882"/>
            <a:ext cx="4556760" cy="2194560"/>
          </a:xfrm>
          <a:prstGeom prst="rect">
            <a:avLst/>
          </a:prstGeom>
          <a:noFill/>
        </p:spPr>
        <p:txBody>
          <a:bodyPr anchor="t"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Lack of explainability</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Complex models are still hard to explain in a way that is </a:t>
            </a:r>
            <a:r>
              <a:rPr lang="en-US" sz="1900" b="true">
                <a:solidFill>
                  <a:srgbClr val="F1EDE6"/>
                </a:solidFill>
                <a:latin typeface="Nunito Bold"/>
                <a:ea typeface="Nunito Bold"/>
                <a:cs typeface="Nunito Bold"/>
                <a:sym typeface="Nunito Bold"/>
              </a:rPr>
              <a:t>faithful and actionable</a:t>
            </a:r>
            <a:r>
              <a:rPr lang="en-US" sz="1900" b="true">
                <a:solidFill>
                  <a:srgbClr val="F1EDE6"/>
                </a:solidFill>
                <a:latin typeface="Nunito Semi-Bold"/>
                <a:ea typeface="Nunito Semi-Bold"/>
                <a:cs typeface="Nunito Semi-Bold"/>
                <a:sym typeface="Nunito Semi-Bold"/>
              </a:rPr>
              <a:t>.</a:t>
            </a:r>
          </a:p>
        </p:txBody>
      </p:sp>
      <p:sp>
        <p:nvSpPr>
          <p:cNvPr id="27" name="Rounded Rectangle 26"/>
          <p:cNvSpPr/>
          <p:nvPr/>
        </p:nvSpPr>
        <p:spPr>
          <a:xfrm>
            <a:off x="6545580" y="3455162"/>
            <a:ext cx="5196840" cy="3566160"/>
          </a:xfrm>
          <a:prstGeom prst="roundRect">
            <a:avLst>
              <a:gd name="adj" fmla="val 8205"/>
            </a:avLst>
          </a:prstGeom>
          <a:solidFill>
            <a:srgbClr val="4472C4"/>
          </a:solidFill>
          <a:ln>
            <a:noFill/>
          </a:ln>
        </p:spPr>
        <p:txBody>
          <a:bodyPr anchor="ctr" rtlCol="false" lIns="0" tIns="0" rIns="0" bIns="0" wrap="square"/>
          <a:lstStyle/>
          <a:p>
            <a:endParaRPr lang="en-US" sz="1800"/>
          </a:p>
        </p:txBody>
      </p:sp>
      <p:sp>
        <p:nvSpPr>
          <p:cNvPr id="28" name="Oval 27"/>
          <p:cNvSpPr/>
          <p:nvPr/>
        </p:nvSpPr>
        <p:spPr>
          <a:xfrm>
            <a:off x="686562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2</a:t>
            </a:r>
          </a:p>
        </p:txBody>
      </p:sp>
      <p:sp>
        <p:nvSpPr>
          <p:cNvPr id="29" name="TextBox 28"/>
          <p:cNvSpPr txBox="1"/>
          <p:nvPr/>
        </p:nvSpPr>
        <p:spPr>
          <a:xfrm>
            <a:off x="6865620" y="4643882"/>
            <a:ext cx="4556760" cy="2194560"/>
          </a:xfrm>
          <a:prstGeom prst="rect">
            <a:avLst/>
          </a:prstGeom>
          <a:noFill/>
        </p:spPr>
        <p:txBody>
          <a:bodyPr anchor="t" rtlCol="false" lIns="0" tIns="0" rIns="0" bIns="0" wrap="square"/>
          <a:lstStyle/>
          <a:p>
            <a:pPr algn="l">
              <a:lnSpc>
                <a:spcPts val="2820"/>
              </a:lnSpc>
              <a:spcBef>
                <a:spcPts val="0"/>
              </a:spcBef>
              <a:buNone/>
            </a:pPr>
            <a:r>
              <a:rPr lang="en-US" sz="2256" b="true">
                <a:solidFill>
                  <a:srgbClr val="FFFFFF"/>
                </a:solidFill>
                <a:latin typeface="Nunito Ultra-Bold"/>
                <a:ea typeface="Nunito Ultra-Bold"/>
                <a:cs typeface="Nunito Ultra-Bold"/>
                <a:sym typeface="Nunito Ultra-Bold"/>
              </a:rPr>
              <a:t>Difficulty of scaling</a:t>
            </a:r>
          </a:p>
          <a:p>
            <a:pPr algn="l">
              <a:lnSpc>
                <a:spcPts val="2500"/>
              </a:lnSpc>
              <a:spcBef>
                <a:spcPts val="752"/>
              </a:spcBef>
              <a:buNone/>
            </a:pPr>
            <a:r>
              <a:rPr lang="en-US" sz="1786" b="true">
                <a:solidFill>
                  <a:srgbClr val="F1EDE6"/>
                </a:solidFill>
                <a:latin typeface="Nunito Semi-Bold"/>
                <a:ea typeface="Nunito Semi-Bold"/>
                <a:cs typeface="Nunito Semi-Bold"/>
                <a:sym typeface="Nunito Semi-Bold"/>
              </a:rPr>
              <a:t>Local explanations do not carry over to </a:t>
            </a:r>
            <a:r>
              <a:rPr lang="en-US" sz="1786" b="true">
                <a:solidFill>
                  <a:srgbClr val="F1EDE6"/>
                </a:solidFill>
                <a:latin typeface="Nunito Bold"/>
                <a:ea typeface="Nunito Bold"/>
                <a:cs typeface="Nunito Bold"/>
                <a:sym typeface="Nunito Bold"/>
              </a:rPr>
              <a:t>multi-level structures or large datasets</a:t>
            </a:r>
            <a:r>
              <a:rPr lang="en-US" sz="1786" b="true">
                <a:solidFill>
                  <a:srgbClr val="F1EDE6"/>
                </a:solidFill>
                <a:latin typeface="Nunito Semi-Bold"/>
                <a:ea typeface="Nunito Semi-Bold"/>
                <a:cs typeface="Nunito Semi-Bold"/>
                <a:sym typeface="Nunito Semi-Bold"/>
              </a:rPr>
              <a:t>: a method that works on a toy partition may break on hundreds of thousands of nested records.</a:t>
            </a:r>
          </a:p>
        </p:txBody>
      </p:sp>
      <p:sp>
        <p:nvSpPr>
          <p:cNvPr id="30" name="Rounded Rectangle 29"/>
          <p:cNvSpPr/>
          <p:nvPr/>
        </p:nvSpPr>
        <p:spPr>
          <a:xfrm>
            <a:off x="12062460" y="3455162"/>
            <a:ext cx="5196840" cy="3566160"/>
          </a:xfrm>
          <a:prstGeom prst="roundRect">
            <a:avLst>
              <a:gd name="adj" fmla="val 8205"/>
            </a:avLst>
          </a:prstGeom>
          <a:solidFill>
            <a:srgbClr val="4472C4"/>
          </a:solidFill>
          <a:ln>
            <a:noFill/>
          </a:ln>
        </p:spPr>
        <p:txBody>
          <a:bodyPr anchor="ctr" rtlCol="false" lIns="0" tIns="0" rIns="0" bIns="0" wrap="square"/>
          <a:lstStyle/>
          <a:p>
            <a:endParaRPr lang="en-US" sz="1800"/>
          </a:p>
        </p:txBody>
      </p:sp>
      <p:sp>
        <p:nvSpPr>
          <p:cNvPr id="31" name="Oval 30"/>
          <p:cNvSpPr/>
          <p:nvPr/>
        </p:nvSpPr>
        <p:spPr>
          <a:xfrm>
            <a:off x="12382500" y="3775202"/>
            <a:ext cx="685800" cy="685800"/>
          </a:xfrm>
          <a:prstGeom prst="ellipse">
            <a:avLst/>
          </a:prstGeom>
          <a:solidFill>
            <a:srgbClr val="ECC665"/>
          </a:solidFill>
          <a:ln>
            <a:noFill/>
          </a:ln>
        </p:spPr>
        <p:txBody>
          <a:bodyPr anchor="ctr" rtlCol="false" lIns="0" tIns="0" rIns="0" bIns="0" wrap="square"/>
          <a:lstStyle/>
          <a:p>
            <a:pPr algn="ctr">
              <a:lnSpc>
                <a:spcPts val="2640"/>
              </a:lnSpc>
              <a:spcBef>
                <a:spcPts val="0"/>
              </a:spcBef>
              <a:buNone/>
            </a:pPr>
            <a:r>
              <a:rPr lang="en-US" sz="2400" b="true">
                <a:solidFill>
                  <a:srgbClr val="111111"/>
                </a:solidFill>
                <a:latin typeface="Nunito Ultra-Bold"/>
                <a:ea typeface="Nunito Ultra-Bold"/>
                <a:cs typeface="Nunito Ultra-Bold"/>
                <a:sym typeface="Nunito Ultra-Bold"/>
              </a:rPr>
              <a:t>3</a:t>
            </a:r>
          </a:p>
        </p:txBody>
      </p:sp>
      <p:sp>
        <p:nvSpPr>
          <p:cNvPr id="32" name="TextBox 31"/>
          <p:cNvSpPr txBox="1"/>
          <p:nvPr/>
        </p:nvSpPr>
        <p:spPr>
          <a:xfrm>
            <a:off x="12382500" y="4643882"/>
            <a:ext cx="4556760" cy="2194560"/>
          </a:xfrm>
          <a:prstGeom prst="rect">
            <a:avLst/>
          </a:prstGeom>
          <a:noFill/>
        </p:spPr>
        <p:txBody>
          <a:bodyPr anchor="t" rtlCol="false" lIns="0" tIns="0" rIns="0" bIns="0" wrap="square"/>
          <a:lstStyle/>
          <a:p>
            <a:pPr algn="l">
              <a:lnSpc>
                <a:spcPts val="2910"/>
              </a:lnSpc>
              <a:spcBef>
                <a:spcPts val="0"/>
              </a:spcBef>
              <a:buNone/>
            </a:pPr>
            <a:r>
              <a:rPr lang="en-US" sz="2328" b="true">
                <a:solidFill>
                  <a:srgbClr val="FFFFFF"/>
                </a:solidFill>
                <a:latin typeface="Nunito Ultra-Bold"/>
                <a:ea typeface="Nunito Ultra-Bold"/>
                <a:cs typeface="Nunito Ultra-Bold"/>
                <a:sym typeface="Nunito Ultra-Bold"/>
              </a:rPr>
              <a:t>Weak integration into learning</a:t>
            </a:r>
          </a:p>
          <a:p>
            <a:pPr algn="l">
              <a:lnSpc>
                <a:spcPts val="2580"/>
              </a:lnSpc>
              <a:spcBef>
                <a:spcPts val="776"/>
              </a:spcBef>
              <a:buNone/>
            </a:pPr>
            <a:r>
              <a:rPr lang="en-US" sz="1843" b="true">
                <a:solidFill>
                  <a:srgbClr val="F1EDE6"/>
                </a:solidFill>
                <a:latin typeface="Nunito Semi-Bold"/>
                <a:ea typeface="Nunito Semi-Bold"/>
                <a:cs typeface="Nunito Semi-Bold"/>
                <a:sym typeface="Nunito Semi-Bold"/>
              </a:rPr>
              <a:t>Most explanations stay </a:t>
            </a:r>
            <a:r>
              <a:rPr lang="en-US" sz="1843" b="true">
                <a:solidFill>
                  <a:srgbClr val="F1EDE6"/>
                </a:solidFill>
                <a:latin typeface="Nunito Bold"/>
                <a:ea typeface="Nunito Bold"/>
                <a:cs typeface="Nunito Bold"/>
                <a:sym typeface="Nunito Bold"/>
              </a:rPr>
              <a:t>post-hoc</a:t>
            </a:r>
            <a:r>
              <a:rPr lang="en-US" sz="1843" b="true">
                <a:solidFill>
                  <a:srgbClr val="F1EDE6"/>
                </a:solidFill>
                <a:latin typeface="Nunito Semi-Bold"/>
                <a:ea typeface="Nunito Semi-Bold"/>
                <a:cs typeface="Nunito Semi-Bold"/>
                <a:sym typeface="Nunito Semi-Bold"/>
              </a:rPr>
              <a:t>: they do not shape how the model learns, nor the </a:t>
            </a:r>
            <a:r>
              <a:rPr lang="en-US" sz="1843" b="true">
                <a:solidFill>
                  <a:srgbClr val="F1EDE6"/>
                </a:solidFill>
                <a:latin typeface="Nunito Bold"/>
                <a:ea typeface="Nunito Bold"/>
                <a:cs typeface="Nunito Bold"/>
                <a:sym typeface="Nunito Bold"/>
              </a:rPr>
              <a:t>accuracy / diversity / context trade-off</a:t>
            </a:r>
            <a:r>
              <a:rPr lang="en-US" sz="1843" b="true">
                <a:solidFill>
                  <a:srgbClr val="F1EDE6"/>
                </a:solidFill>
                <a:latin typeface="Nunito Semi-Bold"/>
                <a:ea typeface="Nunito Semi-Bold"/>
                <a:cs typeface="Nunito Semi-Bold"/>
                <a:sym typeface="Nunito Semi-Bold"/>
              </a:rPr>
              <a:t>.</a:t>
            </a:r>
          </a:p>
        </p:txBody>
      </p:sp>
      <p:sp>
        <p:nvSpPr>
          <p:cNvPr id="33" name="Rounded Rectangle 32"/>
          <p:cNvSpPr/>
          <p:nvPr/>
        </p:nvSpPr>
        <p:spPr>
          <a:xfrm>
            <a:off x="1028700" y="7387082"/>
            <a:ext cx="16230600" cy="1967230"/>
          </a:xfrm>
          <a:prstGeom prst="roundRect">
            <a:avLst>
              <a:gd name="adj" fmla="val 13944"/>
            </a:avLst>
          </a:prstGeom>
          <a:noFill/>
          <a:ln w="31750">
            <a:solidFill>
              <a:srgbClr val="1F7A8C"/>
            </a:solidFill>
          </a:ln>
        </p:spPr>
        <p:txBody>
          <a:bodyPr anchor="ctr" rtlCol="false" lIns="0" tIns="0" rIns="0" bIns="0" wrap="square"/>
          <a:lstStyle/>
          <a:p>
            <a:endParaRPr lang="en-US" sz="1800"/>
          </a:p>
        </p:txBody>
      </p:sp>
      <p:sp>
        <p:nvSpPr>
          <p:cNvPr id="34" name="TextBox 33"/>
          <p:cNvSpPr txBox="1"/>
          <p:nvPr/>
        </p:nvSpPr>
        <p:spPr>
          <a:xfrm>
            <a:off x="1485900" y="7615682"/>
            <a:ext cx="15316200" cy="1510030"/>
          </a:xfrm>
          <a:prstGeom prst="rect">
            <a:avLst/>
          </a:prstGeom>
          <a:noFill/>
        </p:spPr>
        <p:txBody>
          <a:bodyPr anchor="ctr" rtlCol="false" lIns="0" tIns="0" rIns="0" bIns="0" wrap="square"/>
          <a:lstStyle/>
          <a:p>
            <a:pPr algn="l">
              <a:lnSpc>
                <a:spcPts val="1800"/>
              </a:lnSpc>
              <a:spcBef>
                <a:spcPts val="0"/>
              </a:spcBef>
              <a:buNone/>
            </a:pPr>
            <a:r>
              <a:rPr lang="en-US" sz="1400" b="true" spc="180">
                <a:solidFill>
                  <a:srgbClr val="1F7A8C"/>
                </a:solidFill>
                <a:latin typeface="Nunito Ultra-Bold"/>
                <a:ea typeface="Nunito Ultra-Bold"/>
                <a:cs typeface="Nunito Ultra-Bold"/>
                <a:sym typeface="Nunito Ultra-Bold"/>
              </a:rPr>
              <a:t>THESIS GAP</a:t>
            </a:r>
          </a:p>
          <a:p>
            <a:pPr algn="l">
              <a:lnSpc>
                <a:spcPts val="2940"/>
              </a:lnSpc>
              <a:spcBef>
                <a:spcPts val="600"/>
              </a:spcBef>
              <a:buNone/>
            </a:pPr>
            <a:r>
              <a:rPr lang="en-US" sz="2100" b="true">
                <a:solidFill>
                  <a:srgbClr val="111111"/>
                </a:solidFill>
                <a:latin typeface="Nunito Semi-Bold"/>
                <a:ea typeface="Nunito Semi-Bold"/>
                <a:cs typeface="Nunito Semi-Bold"/>
                <a:sym typeface="Nunito Semi-Bold"/>
              </a:rPr>
              <a:t>The literature still lacks </a:t>
            </a:r>
            <a:r>
              <a:rPr lang="en-US" sz="2100" b="true">
                <a:solidFill>
                  <a:srgbClr val="111111"/>
                </a:solidFill>
                <a:latin typeface="Nunito Bold"/>
                <a:ea typeface="Nunito Bold"/>
                <a:cs typeface="Nunito Bold"/>
                <a:sym typeface="Nunito Bold"/>
              </a:rPr>
              <a:t>one cooperative-attribution framework</a:t>
            </a:r>
            <a:r>
              <a:rPr lang="en-US" sz="2100" b="true">
                <a:solidFill>
                  <a:srgbClr val="111111"/>
                </a:solidFill>
                <a:latin typeface="Nunito Semi-Bold"/>
                <a:ea typeface="Nunito Semi-Bold"/>
                <a:cs typeface="Nunito Semi-Bold"/>
                <a:sym typeface="Nunito Semi-Bold"/>
              </a:rPr>
              <a:t> that explains clustering faithfully, stays consistent across levels, and then works as an </a:t>
            </a:r>
            <a:r>
              <a:rPr lang="en-US" sz="2100" b="true">
                <a:solidFill>
                  <a:srgbClr val="111111"/>
                </a:solidFill>
                <a:latin typeface="Nunito Bold"/>
                <a:ea typeface="Nunito Bold"/>
                <a:cs typeface="Nunito Bold"/>
                <a:sym typeface="Nunito Bold"/>
              </a:rPr>
              <a:t>in-training signal</a:t>
            </a:r>
            <a:r>
              <a:rPr lang="en-US" sz="2100" b="true">
                <a:solidFill>
                  <a:srgbClr val="111111"/>
                </a:solidFill>
                <a:latin typeface="Nunito Semi-Bold"/>
                <a:ea typeface="Nunito Semi-Bold"/>
                <a:cs typeface="Nunito Semi-Bold"/>
                <a:sym typeface="Nunito Semi-Bold"/>
              </a:rPr>
              <a:t> in recommendation. </a:t>
            </a:r>
            <a:r>
              <a:rPr lang="en-US" sz="2100" b="true">
                <a:solidFill>
                  <a:srgbClr val="111111"/>
                </a:solidFill>
                <a:latin typeface="Nunito Bold"/>
                <a:ea typeface="Nunito Bold"/>
                <a:cs typeface="Nunito Bold"/>
                <a:sym typeface="Nunito Bold"/>
              </a:rPr>
              <a:t>Claim:</a:t>
            </a:r>
            <a:r>
              <a:rPr lang="en-US" sz="2100" b="true">
                <a:solidFill>
                  <a:srgbClr val="111111"/>
                </a:solidFill>
                <a:latin typeface="Nunito Semi-Bold"/>
                <a:ea typeface="Nunito Semi-Bold"/>
                <a:cs typeface="Nunito Semi-Bold"/>
                <a:sym typeface="Nunito Semi-Bold"/>
              </a:rPr>
              <a:t> Shapley-value attribution can be that framework.</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15</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Questions (RQ1–RQ5) and Overall Aim</a:t>
            </a:r>
          </a:p>
        </p:txBody>
      </p:sp>
      <p:sp>
        <p:nvSpPr>
          <p:cNvPr id="21" name="Rounded Rectangle 20"/>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2" name="Rounded Rectangle 21"/>
          <p:cNvSpPr/>
          <p:nvPr/>
        </p:nvSpPr>
        <p:spPr>
          <a:xfrm>
            <a:off x="3011206" y="2559050"/>
            <a:ext cx="187097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Problematic</a:t>
            </a:r>
          </a:p>
        </p:txBody>
      </p:sp>
      <p:sp>
        <p:nvSpPr>
          <p:cNvPr id="23" name="Rounded Rectangle 22"/>
          <p:cNvSpPr/>
          <p:nvPr/>
        </p:nvSpPr>
        <p:spPr>
          <a:xfrm>
            <a:off x="5010194" y="2559050"/>
            <a:ext cx="2041208"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Contributions</a:t>
            </a:r>
          </a:p>
        </p:txBody>
      </p:sp>
      <p:sp>
        <p:nvSpPr>
          <p:cNvPr id="24" name="Rounded Rectangle 23"/>
          <p:cNvSpPr/>
          <p:nvPr/>
        </p:nvSpPr>
        <p:spPr>
          <a:xfrm>
            <a:off x="1028700" y="3363722"/>
            <a:ext cx="16230600" cy="868680"/>
          </a:xfrm>
          <a:prstGeom prst="roundRect">
            <a:avLst>
              <a:gd name="adj" fmla="val 26315"/>
            </a:avLst>
          </a:prstGeom>
          <a:solidFill>
            <a:srgbClr val="4472C4"/>
          </a:solidFill>
          <a:ln>
            <a:noFill/>
          </a:ln>
        </p:spPr>
        <p:txBody>
          <a:bodyPr anchor="ctr" rtlCol="false" lIns="457200" tIns="91440" rIns="457200" bIns="91440" wrap="square"/>
          <a:lstStyle/>
          <a:p>
            <a:pPr algn="ctr">
              <a:lnSpc>
                <a:spcPts val="2600"/>
              </a:lnSpc>
              <a:spcBef>
                <a:spcPts val="0"/>
              </a:spcBef>
              <a:buNone/>
            </a:pPr>
            <a:r>
              <a:rPr lang="en-US" sz="2000" b="true">
                <a:solidFill>
                  <a:srgbClr val="FFFFFF"/>
                </a:solidFill>
                <a:latin typeface="Nunito Bold"/>
                <a:ea typeface="Nunito Bold"/>
                <a:cs typeface="Nunito Bold"/>
                <a:sym typeface="Nunito Bold"/>
              </a:rPr>
              <a:t>Aim:</a:t>
            </a:r>
            <a:r>
              <a:rPr lang="en-US" sz="2000" b="true">
                <a:solidFill>
                  <a:srgbClr val="FFFFFF"/>
                </a:solidFill>
                <a:latin typeface="Nunito Semi-Bold"/>
                <a:ea typeface="Nunito Semi-Bold"/>
                <a:cs typeface="Nunito Semi-Bold"/>
                <a:sym typeface="Nunito Semi-Bold"/>
              </a:rPr>
              <a:t> develop, justify and evaluate a cooperative-game view of XAI for clustering and recommendation, using Shapley attribution both as an </a:t>
            </a:r>
            <a:r>
              <a:rPr lang="en-US" sz="2000" b="true">
                <a:solidFill>
                  <a:srgbClr val="FFFFFF"/>
                </a:solidFill>
                <a:latin typeface="Nunito Bold"/>
                <a:ea typeface="Nunito Bold"/>
                <a:cs typeface="Nunito Bold"/>
                <a:sym typeface="Nunito Bold"/>
              </a:rPr>
              <a:t>explanation method</a:t>
            </a:r>
            <a:r>
              <a:rPr lang="en-US" sz="2000" b="true">
                <a:solidFill>
                  <a:srgbClr val="FFFFFF"/>
                </a:solidFill>
                <a:latin typeface="Nunito Semi-Bold"/>
                <a:ea typeface="Nunito Semi-Bold"/>
                <a:cs typeface="Nunito Semi-Bold"/>
                <a:sym typeface="Nunito Semi-Bold"/>
              </a:rPr>
              <a:t> and as an </a:t>
            </a:r>
            <a:r>
              <a:rPr lang="en-US" sz="2000" b="true">
                <a:solidFill>
                  <a:srgbClr val="FFFFFF"/>
                </a:solidFill>
                <a:latin typeface="Nunito Bold"/>
                <a:ea typeface="Nunito Bold"/>
                <a:cs typeface="Nunito Bold"/>
                <a:sym typeface="Nunito Bold"/>
              </a:rPr>
              <a:t>in-training signal</a:t>
            </a:r>
            <a:r>
              <a:rPr lang="en-US" sz="2000" b="true">
                <a:solidFill>
                  <a:srgbClr val="FFFFFF"/>
                </a:solidFill>
                <a:latin typeface="Nunito Semi-Bold"/>
                <a:ea typeface="Nunito Semi-Bold"/>
                <a:cs typeface="Nunito Semi-Bold"/>
                <a:sym typeface="Nunito Semi-Bold"/>
              </a:rPr>
              <a:t>.</a:t>
            </a:r>
          </a:p>
        </p:txBody>
      </p:sp>
      <p:sp>
        <p:nvSpPr>
          <p:cNvPr id="25" name="Rounded Rectangle 24"/>
          <p:cNvSpPr/>
          <p:nvPr/>
        </p:nvSpPr>
        <p:spPr>
          <a:xfrm>
            <a:off x="1028700" y="4461002"/>
            <a:ext cx="16230600" cy="876249"/>
          </a:xfrm>
          <a:prstGeom prst="roundRect">
            <a:avLst>
              <a:gd name="adj" fmla="val 20870"/>
            </a:avLst>
          </a:prstGeom>
          <a:solidFill>
            <a:srgbClr val="F6ECDF"/>
          </a:solidFill>
          <a:ln>
            <a:noFill/>
          </a:ln>
        </p:spPr>
        <p:txBody>
          <a:bodyPr anchor="ctr" rtlCol="false" lIns="0" tIns="0" rIns="0" bIns="0" wrap="square"/>
          <a:lstStyle/>
          <a:p>
            <a:endParaRPr lang="en-US" sz="1800"/>
          </a:p>
        </p:txBody>
      </p:sp>
      <p:sp>
        <p:nvSpPr>
          <p:cNvPr id="26" name="Rounded Rectangle 25"/>
          <p:cNvSpPr/>
          <p:nvPr/>
        </p:nvSpPr>
        <p:spPr>
          <a:xfrm>
            <a:off x="1211580" y="4589018"/>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RQ1</a:t>
            </a:r>
          </a:p>
        </p:txBody>
      </p:sp>
      <p:sp>
        <p:nvSpPr>
          <p:cNvPr id="27" name="TextBox 26"/>
          <p:cNvSpPr txBox="1"/>
          <p:nvPr/>
        </p:nvSpPr>
        <p:spPr>
          <a:xfrm>
            <a:off x="2583180" y="446100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How can Shapley values explain black-box clustering </a:t>
            </a:r>
            <a:r>
              <a:rPr lang="en-US" sz="2000" b="true">
                <a:solidFill>
                  <a:srgbClr val="111111"/>
                </a:solidFill>
                <a:latin typeface="Nunito Bold"/>
                <a:ea typeface="Nunito Bold"/>
                <a:cs typeface="Nunito Bold"/>
                <a:sym typeface="Nunito Bold"/>
              </a:rPr>
              <a:t>faithfully at instance and cluster level</a:t>
            </a:r>
            <a:r>
              <a:rPr lang="en-US" sz="2000" b="true">
                <a:solidFill>
                  <a:srgbClr val="111111"/>
                </a:solidFill>
                <a:latin typeface="Nunito Semi-Bold"/>
                <a:ea typeface="Nunito Semi-Bold"/>
                <a:cs typeface="Nunito Semi-Bold"/>
                <a:sym typeface="Nunito Semi-Bold"/>
              </a:rPr>
              <a:t>?</a:t>
            </a:r>
          </a:p>
        </p:txBody>
      </p:sp>
      <p:sp>
        <p:nvSpPr>
          <p:cNvPr id="28" name="Rounded Rectangle 27"/>
          <p:cNvSpPr/>
          <p:nvPr/>
        </p:nvSpPr>
        <p:spPr>
          <a:xfrm>
            <a:off x="15339060" y="458901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C1</a:t>
            </a:r>
          </a:p>
        </p:txBody>
      </p:sp>
      <p:sp>
        <p:nvSpPr>
          <p:cNvPr id="29" name="Rounded Rectangle 28"/>
          <p:cNvSpPr/>
          <p:nvPr/>
        </p:nvSpPr>
        <p:spPr>
          <a:xfrm>
            <a:off x="1028700" y="5465267"/>
            <a:ext cx="16230600" cy="876249"/>
          </a:xfrm>
          <a:prstGeom prst="roundRect">
            <a:avLst>
              <a:gd name="adj" fmla="val 20870"/>
            </a:avLst>
          </a:prstGeom>
          <a:solidFill>
            <a:srgbClr val="FBF4EB"/>
          </a:solidFill>
          <a:ln>
            <a:noFill/>
          </a:ln>
        </p:spPr>
        <p:txBody>
          <a:bodyPr anchor="ctr" rtlCol="false" lIns="0" tIns="0" rIns="0" bIns="0" wrap="square"/>
          <a:lstStyle/>
          <a:p>
            <a:endParaRPr lang="en-US" sz="1800"/>
          </a:p>
        </p:txBody>
      </p:sp>
      <p:sp>
        <p:nvSpPr>
          <p:cNvPr id="30" name="Rounded Rectangle 29"/>
          <p:cNvSpPr/>
          <p:nvPr/>
        </p:nvSpPr>
        <p:spPr>
          <a:xfrm>
            <a:off x="1211580" y="5593283"/>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RQ2</a:t>
            </a:r>
          </a:p>
        </p:txBody>
      </p:sp>
      <p:sp>
        <p:nvSpPr>
          <p:cNvPr id="31" name="TextBox 30"/>
          <p:cNvSpPr txBox="1"/>
          <p:nvPr/>
        </p:nvSpPr>
        <p:spPr>
          <a:xfrm>
            <a:off x="2583180" y="5465267"/>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How can this extend to </a:t>
            </a:r>
            <a:r>
              <a:rPr lang="en-US" sz="2000" b="true">
                <a:solidFill>
                  <a:srgbClr val="111111"/>
                </a:solidFill>
                <a:latin typeface="Nunito Bold"/>
                <a:ea typeface="Nunito Bold"/>
                <a:cs typeface="Nunito Bold"/>
                <a:sym typeface="Nunito Bold"/>
              </a:rPr>
              <a:t>large-scale, multi-level clustering</a:t>
            </a:r>
            <a:r>
              <a:rPr lang="en-US" sz="2000" b="true">
                <a:solidFill>
                  <a:srgbClr val="111111"/>
                </a:solidFill>
                <a:latin typeface="Nunito Semi-Bold"/>
                <a:ea typeface="Nunito Semi-Bold"/>
                <a:cs typeface="Nunito Semi-Bold"/>
                <a:sym typeface="Nunito Semi-Bold"/>
              </a:rPr>
              <a:t> while staying feasible and consistent?</a:t>
            </a:r>
          </a:p>
        </p:txBody>
      </p:sp>
      <p:sp>
        <p:nvSpPr>
          <p:cNvPr id="32" name="Rounded Rectangle 31"/>
          <p:cNvSpPr/>
          <p:nvPr/>
        </p:nvSpPr>
        <p:spPr>
          <a:xfrm>
            <a:off x="15339060" y="5593283"/>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C2</a:t>
            </a:r>
          </a:p>
        </p:txBody>
      </p:sp>
      <p:sp>
        <p:nvSpPr>
          <p:cNvPr id="33" name="Rounded Rectangle 32"/>
          <p:cNvSpPr/>
          <p:nvPr/>
        </p:nvSpPr>
        <p:spPr>
          <a:xfrm>
            <a:off x="1028700" y="6469532"/>
            <a:ext cx="16230600" cy="876249"/>
          </a:xfrm>
          <a:prstGeom prst="roundRect">
            <a:avLst>
              <a:gd name="adj" fmla="val 20870"/>
            </a:avLst>
          </a:prstGeom>
          <a:solidFill>
            <a:srgbClr val="F6ECDF"/>
          </a:solidFill>
          <a:ln>
            <a:noFill/>
          </a:ln>
        </p:spPr>
        <p:txBody>
          <a:bodyPr anchor="ctr" rtlCol="false" lIns="0" tIns="0" rIns="0" bIns="0" wrap="square"/>
          <a:lstStyle/>
          <a:p>
            <a:endParaRPr lang="en-US" sz="1800"/>
          </a:p>
        </p:txBody>
      </p:sp>
      <p:sp>
        <p:nvSpPr>
          <p:cNvPr id="34" name="Rounded Rectangle 33"/>
          <p:cNvSpPr/>
          <p:nvPr/>
        </p:nvSpPr>
        <p:spPr>
          <a:xfrm>
            <a:off x="1211580" y="6597548"/>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RQ3</a:t>
            </a:r>
          </a:p>
        </p:txBody>
      </p:sp>
      <p:sp>
        <p:nvSpPr>
          <p:cNvPr id="35" name="TextBox 34"/>
          <p:cNvSpPr txBox="1"/>
          <p:nvPr/>
        </p:nvSpPr>
        <p:spPr>
          <a:xfrm>
            <a:off x="2583180" y="646953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Can cooperative attribution move </a:t>
            </a:r>
            <a:r>
              <a:rPr lang="en-US" sz="2000" b="true">
                <a:solidFill>
                  <a:srgbClr val="111111"/>
                </a:solidFill>
                <a:latin typeface="Nunito Bold"/>
                <a:ea typeface="Nunito Bold"/>
                <a:cs typeface="Nunito Bold"/>
                <a:sym typeface="Nunito Bold"/>
              </a:rPr>
              <a:t>beyond post-hoc</a:t>
            </a:r>
            <a:r>
              <a:rPr lang="en-US" sz="2000" b="true">
                <a:solidFill>
                  <a:srgbClr val="111111"/>
                </a:solidFill>
                <a:latin typeface="Nunito Semi-Bold"/>
                <a:ea typeface="Nunito Semi-Bold"/>
                <a:cs typeface="Nunito Semi-Bold"/>
                <a:sym typeface="Nunito Semi-Bold"/>
              </a:rPr>
              <a:t> and become part of how graph recommenders learn?</a:t>
            </a:r>
          </a:p>
        </p:txBody>
      </p:sp>
      <p:sp>
        <p:nvSpPr>
          <p:cNvPr id="36" name="Rounded Rectangle 35"/>
          <p:cNvSpPr/>
          <p:nvPr/>
        </p:nvSpPr>
        <p:spPr>
          <a:xfrm>
            <a:off x="15339060" y="659754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C3</a:t>
            </a:r>
          </a:p>
        </p:txBody>
      </p:sp>
      <p:sp>
        <p:nvSpPr>
          <p:cNvPr id="37" name="Rounded Rectangle 36"/>
          <p:cNvSpPr/>
          <p:nvPr/>
        </p:nvSpPr>
        <p:spPr>
          <a:xfrm>
            <a:off x="1028700" y="7473797"/>
            <a:ext cx="16230600" cy="876249"/>
          </a:xfrm>
          <a:prstGeom prst="roundRect">
            <a:avLst>
              <a:gd name="adj" fmla="val 20870"/>
            </a:avLst>
          </a:prstGeom>
          <a:solidFill>
            <a:srgbClr val="FBF4EB"/>
          </a:solidFill>
          <a:ln>
            <a:noFill/>
          </a:ln>
        </p:spPr>
        <p:txBody>
          <a:bodyPr anchor="ctr" rtlCol="false" lIns="0" tIns="0" rIns="0" bIns="0" wrap="square"/>
          <a:lstStyle/>
          <a:p>
            <a:endParaRPr lang="en-US" sz="1800"/>
          </a:p>
        </p:txBody>
      </p:sp>
      <p:sp>
        <p:nvSpPr>
          <p:cNvPr id="38" name="Rounded Rectangle 37"/>
          <p:cNvSpPr/>
          <p:nvPr/>
        </p:nvSpPr>
        <p:spPr>
          <a:xfrm>
            <a:off x="1211580" y="7601813"/>
            <a:ext cx="1143000" cy="620217"/>
          </a:xfrm>
          <a:prstGeom prst="roundRect">
            <a:avLst>
              <a:gd name="adj" fmla="val 221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RQ4</a:t>
            </a:r>
          </a:p>
        </p:txBody>
      </p:sp>
      <p:sp>
        <p:nvSpPr>
          <p:cNvPr id="39" name="TextBox 38"/>
          <p:cNvSpPr txBox="1"/>
          <p:nvPr/>
        </p:nvSpPr>
        <p:spPr>
          <a:xfrm>
            <a:off x="2583180" y="7473797"/>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Can a recommender </a:t>
            </a:r>
            <a:r>
              <a:rPr lang="en-US" sz="2000" b="true">
                <a:solidFill>
                  <a:srgbClr val="111111"/>
                </a:solidFill>
                <a:latin typeface="Nunito Bold"/>
                <a:ea typeface="Nunito Bold"/>
                <a:cs typeface="Nunito Bold"/>
                <a:sym typeface="Nunito Bold"/>
              </a:rPr>
              <a:t>improve ranking accuracy, context and diversity at the same time</a:t>
            </a:r>
            <a:r>
              <a:rPr lang="en-US" sz="2000" b="true">
                <a:solidFill>
                  <a:srgbClr val="111111"/>
                </a:solidFill>
                <a:latin typeface="Nunito Semi-Bold"/>
                <a:ea typeface="Nunito Semi-Bold"/>
                <a:cs typeface="Nunito Semi-Bold"/>
                <a:sym typeface="Nunito Semi-Bold"/>
              </a:rPr>
              <a:t> when importance comes from a cooperative-game utility?</a:t>
            </a:r>
          </a:p>
        </p:txBody>
      </p:sp>
      <p:sp>
        <p:nvSpPr>
          <p:cNvPr id="40" name="Rounded Rectangle 39"/>
          <p:cNvSpPr/>
          <p:nvPr/>
        </p:nvSpPr>
        <p:spPr>
          <a:xfrm>
            <a:off x="15339060" y="7601813"/>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C3</a:t>
            </a:r>
          </a:p>
        </p:txBody>
      </p:sp>
      <p:sp>
        <p:nvSpPr>
          <p:cNvPr id="41" name="Rounded Rectangle 40"/>
          <p:cNvSpPr/>
          <p:nvPr/>
        </p:nvSpPr>
        <p:spPr>
          <a:xfrm>
            <a:off x="1028700" y="8478062"/>
            <a:ext cx="16230600" cy="876249"/>
          </a:xfrm>
          <a:prstGeom prst="roundRect">
            <a:avLst>
              <a:gd name="adj" fmla="val 20870"/>
            </a:avLst>
          </a:prstGeom>
          <a:solidFill>
            <a:srgbClr val="F6ECDF"/>
          </a:solidFill>
          <a:ln>
            <a:noFill/>
          </a:ln>
        </p:spPr>
        <p:txBody>
          <a:bodyPr anchor="ctr" rtlCol="false" lIns="0" tIns="0" rIns="0" bIns="0" wrap="square"/>
          <a:lstStyle/>
          <a:p>
            <a:endParaRPr lang="en-US" sz="1800"/>
          </a:p>
        </p:txBody>
      </p:sp>
      <p:sp>
        <p:nvSpPr>
          <p:cNvPr id="42" name="Rounded Rectangle 41"/>
          <p:cNvSpPr/>
          <p:nvPr/>
        </p:nvSpPr>
        <p:spPr>
          <a:xfrm>
            <a:off x="1211580" y="8606078"/>
            <a:ext cx="1143000" cy="620217"/>
          </a:xfrm>
          <a:prstGeom prst="roundRect">
            <a:avLst>
              <a:gd name="adj" fmla="val 22114"/>
            </a:avLst>
          </a:prstGeom>
          <a:solidFill>
            <a:srgbClr val="111111"/>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RQ5</a:t>
            </a:r>
          </a:p>
        </p:txBody>
      </p:sp>
      <p:sp>
        <p:nvSpPr>
          <p:cNvPr id="43" name="TextBox 42"/>
          <p:cNvSpPr txBox="1"/>
          <p:nvPr/>
        </p:nvSpPr>
        <p:spPr>
          <a:xfrm>
            <a:off x="2583180" y="8478062"/>
            <a:ext cx="12573000" cy="876249"/>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What do we gain when clustering explanation and recommendation learning are </a:t>
            </a:r>
            <a:r>
              <a:rPr lang="en-US" sz="2000" b="true">
                <a:solidFill>
                  <a:srgbClr val="111111"/>
                </a:solidFill>
                <a:latin typeface="Nunito Bold"/>
                <a:ea typeface="Nunito Bold"/>
                <a:cs typeface="Nunito Bold"/>
                <a:sym typeface="Nunito Bold"/>
              </a:rPr>
              <a:t>two stages of one cooperative-game view</a:t>
            </a:r>
            <a:r>
              <a:rPr lang="en-US" sz="2000" b="true">
                <a:solidFill>
                  <a:srgbClr val="111111"/>
                </a:solidFill>
                <a:latin typeface="Nunito Semi-Bold"/>
                <a:ea typeface="Nunito Semi-Bold"/>
                <a:cs typeface="Nunito Semi-Bold"/>
                <a:sym typeface="Nunito Semi-Bold"/>
              </a:rPr>
              <a:t>?</a:t>
            </a:r>
          </a:p>
        </p:txBody>
      </p:sp>
      <p:sp>
        <p:nvSpPr>
          <p:cNvPr id="44" name="Rounded Rectangle 43"/>
          <p:cNvSpPr/>
          <p:nvPr/>
        </p:nvSpPr>
        <p:spPr>
          <a:xfrm>
            <a:off x="15339060" y="8606078"/>
            <a:ext cx="1737360" cy="620217"/>
          </a:xfrm>
          <a:prstGeom prst="roundRect">
            <a:avLst>
              <a:gd name="adj" fmla="val 22114"/>
            </a:avLst>
          </a:prstGeom>
          <a:solidFill>
            <a:srgbClr val="4472C4"/>
          </a:solidFill>
          <a:ln>
            <a:noFill/>
          </a:ln>
        </p:spPr>
        <p:txBody>
          <a:bodyPr anchor="ctr" rtlCol="false" lIns="91440" tIns="45720" rIns="91440" bIns="45720" wrap="square"/>
          <a:lstStyle/>
          <a:p>
            <a:pPr algn="ctr">
              <a:lnSpc>
                <a:spcPts val="1840"/>
              </a:lnSpc>
              <a:spcBef>
                <a:spcPts val="0"/>
              </a:spcBef>
              <a:buNone/>
            </a:pPr>
            <a:r>
              <a:rPr lang="en-US" sz="1600" b="true">
                <a:solidFill>
                  <a:srgbClr val="FFFFFF"/>
                </a:solidFill>
                <a:latin typeface="Calibri"/>
                <a:ea typeface="Calibri"/>
                <a:cs typeface="Calibri"/>
                <a:sym typeface="Calibri"/>
              </a:rPr>
              <a:t>→ </a:t>
            </a:r>
            <a:r>
              <a:rPr lang="en-US" sz="1600" b="true">
                <a:solidFill>
                  <a:srgbClr val="FFFFFF"/>
                </a:solidFill>
                <a:latin typeface="Nunito Bold"/>
                <a:ea typeface="Nunito Bold"/>
                <a:cs typeface="Nunito Bold"/>
                <a:sym typeface="Nunito Bold"/>
              </a:rPr>
              <a:t>Thesis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16</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CONTEXT &amp; PROBLEMATIC</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Three Contributions</a:t>
            </a:r>
          </a:p>
        </p:txBody>
      </p:sp>
      <p:sp>
        <p:nvSpPr>
          <p:cNvPr id="21" name="Rounded Rectangle 20"/>
          <p:cNvSpPr/>
          <p:nvPr/>
        </p:nvSpPr>
        <p:spPr>
          <a:xfrm>
            <a:off x="1028700" y="2559050"/>
            <a:ext cx="1854490"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Approaches</a:t>
            </a:r>
          </a:p>
        </p:txBody>
      </p:sp>
      <p:sp>
        <p:nvSpPr>
          <p:cNvPr id="22" name="Rounded Rectangle 21"/>
          <p:cNvSpPr/>
          <p:nvPr/>
        </p:nvSpPr>
        <p:spPr>
          <a:xfrm>
            <a:off x="3011206" y="2559050"/>
            <a:ext cx="187097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Problematic</a:t>
            </a:r>
          </a:p>
        </p:txBody>
      </p:sp>
      <p:sp>
        <p:nvSpPr>
          <p:cNvPr id="23" name="Rounded Rectangle 22"/>
          <p:cNvSpPr/>
          <p:nvPr/>
        </p:nvSpPr>
        <p:spPr>
          <a:xfrm>
            <a:off x="5010194" y="2559050"/>
            <a:ext cx="2041208"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Contributions</a:t>
            </a:r>
          </a:p>
        </p:txBody>
      </p:sp>
      <p:sp>
        <p:nvSpPr>
          <p:cNvPr id="24" name="Rounded Rectangle 23"/>
          <p:cNvSpPr/>
          <p:nvPr/>
        </p:nvSpPr>
        <p:spPr>
          <a:xfrm>
            <a:off x="1028700" y="3455162"/>
            <a:ext cx="5196840" cy="4480560"/>
          </a:xfrm>
          <a:prstGeom prst="roundRect">
            <a:avLst>
              <a:gd name="adj" fmla="val 6530"/>
            </a:avLst>
          </a:prstGeom>
          <a:solidFill>
            <a:srgbClr val="4472C4"/>
          </a:solidFill>
          <a:ln>
            <a:noFill/>
          </a:ln>
        </p:spPr>
        <p:txBody>
          <a:bodyPr anchor="ctr" rtlCol="false" lIns="0" tIns="0" rIns="0" bIns="0" wrap="square"/>
          <a:lstStyle/>
          <a:p>
            <a:endParaRPr lang="en-US" sz="1800"/>
          </a:p>
        </p:txBody>
      </p:sp>
      <p:sp>
        <p:nvSpPr>
          <p:cNvPr id="25" name="TextBox 24"/>
          <p:cNvSpPr txBox="1"/>
          <p:nvPr/>
        </p:nvSpPr>
        <p:spPr>
          <a:xfrm>
            <a:off x="139446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ECC665"/>
                </a:solidFill>
                <a:latin typeface="Roca Two Bold"/>
                <a:ea typeface="Roca Two Bold"/>
                <a:cs typeface="Roca Two Bold"/>
                <a:sym typeface="Roca Two Bold"/>
              </a:rPr>
              <a:t>C1</a:t>
            </a:r>
          </a:p>
        </p:txBody>
      </p:sp>
      <p:sp>
        <p:nvSpPr>
          <p:cNvPr id="26" name="Rounded Rectangle 25"/>
          <p:cNvSpPr/>
          <p:nvPr/>
        </p:nvSpPr>
        <p:spPr>
          <a:xfrm>
            <a:off x="4213860" y="3802634"/>
            <a:ext cx="991577"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4472C4"/>
                </a:solidFill>
                <a:latin typeface="Nunito Bold"/>
                <a:ea typeface="Nunito Bold"/>
                <a:cs typeface="Nunito Bold"/>
                <a:sym typeface="Nunito Bold"/>
              </a:rPr>
              <a:t>RQ1</a:t>
            </a:r>
          </a:p>
        </p:txBody>
      </p:sp>
      <p:sp>
        <p:nvSpPr>
          <p:cNvPr id="27" name="TextBox 26"/>
          <p:cNvSpPr txBox="1"/>
          <p:nvPr/>
        </p:nvSpPr>
        <p:spPr>
          <a:xfrm>
            <a:off x="139446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Explainable black-box clustering</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PCA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K-Means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LightGBM </a:t>
            </a:r>
            <a:r>
              <a:rPr lang="en-US" sz="1800" b="true">
                <a:solidFill>
                  <a:srgbClr val="F1EDE6"/>
                </a:solidFill>
                <a:latin typeface="Calibri"/>
                <a:ea typeface="Calibri"/>
                <a:cs typeface="Calibri"/>
                <a:sym typeface="Calibri"/>
              </a:rPr>
              <a:t>→ </a:t>
            </a:r>
            <a:r>
              <a:rPr lang="en-US" sz="1800" b="true">
                <a:solidFill>
                  <a:srgbClr val="F1EDE6"/>
                </a:solidFill>
                <a:latin typeface="Nunito Semi-Bold"/>
                <a:ea typeface="Nunito Semi-Bold"/>
                <a:cs typeface="Nunito Semi-Bold"/>
                <a:sym typeface="Nunito Semi-Bold"/>
              </a:rPr>
              <a:t>TreeSHAP pipeline.</a:t>
            </a:r>
          </a:p>
          <a:p>
            <a:pPr algn="l">
              <a:lnSpc>
                <a:spcPts val="1700"/>
              </a:lnSpc>
              <a:spcBef>
                <a:spcPts val="1400"/>
              </a:spcBef>
              <a:buNone/>
            </a:pPr>
            <a:r>
              <a:rPr lang="en-US" sz="1300" b="true" spc="140">
                <a:solidFill>
                  <a:srgbClr val="ECC665"/>
                </a:solidFill>
                <a:latin typeface="Nunito Ultra-Bold"/>
                <a:ea typeface="Nunito Ultra-Bold"/>
                <a:cs typeface="Nunito Ultra-Bold"/>
                <a:sym typeface="Nunito Ultra-Bold"/>
              </a:rPr>
              <a:t>WINE QUALITY</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Faithful instance- and cluster-level feature attribution.</a:t>
            </a:r>
          </a:p>
        </p:txBody>
      </p:sp>
      <p:sp>
        <p:nvSpPr>
          <p:cNvPr id="28" name="Rounded Rectangle 27"/>
          <p:cNvSpPr/>
          <p:nvPr/>
        </p:nvSpPr>
        <p:spPr>
          <a:xfrm>
            <a:off x="6545580" y="3455162"/>
            <a:ext cx="5196840" cy="4480560"/>
          </a:xfrm>
          <a:prstGeom prst="roundRect">
            <a:avLst>
              <a:gd name="adj" fmla="val 6530"/>
            </a:avLst>
          </a:prstGeom>
          <a:solidFill>
            <a:srgbClr val="2F5597"/>
          </a:solidFill>
          <a:ln>
            <a:noFill/>
          </a:ln>
        </p:spPr>
        <p:txBody>
          <a:bodyPr anchor="ctr" rtlCol="false" lIns="0" tIns="0" rIns="0" bIns="0" wrap="square"/>
          <a:lstStyle/>
          <a:p>
            <a:endParaRPr lang="en-US" sz="1800"/>
          </a:p>
        </p:txBody>
      </p:sp>
      <p:sp>
        <p:nvSpPr>
          <p:cNvPr id="29" name="TextBox 28"/>
          <p:cNvSpPr txBox="1"/>
          <p:nvPr/>
        </p:nvSpPr>
        <p:spPr>
          <a:xfrm>
            <a:off x="691134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ECC665"/>
                </a:solidFill>
                <a:latin typeface="Roca Two Bold"/>
                <a:ea typeface="Roca Two Bold"/>
                <a:cs typeface="Roca Two Bold"/>
                <a:sym typeface="Roca Two Bold"/>
              </a:rPr>
              <a:t>C2</a:t>
            </a:r>
          </a:p>
        </p:txBody>
      </p:sp>
      <p:sp>
        <p:nvSpPr>
          <p:cNvPr id="30" name="Rounded Rectangle 29"/>
          <p:cNvSpPr/>
          <p:nvPr/>
        </p:nvSpPr>
        <p:spPr>
          <a:xfrm>
            <a:off x="9730740" y="3802634"/>
            <a:ext cx="991577"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2F5597"/>
                </a:solidFill>
                <a:latin typeface="Nunito Bold"/>
                <a:ea typeface="Nunito Bold"/>
                <a:cs typeface="Nunito Bold"/>
                <a:sym typeface="Nunito Bold"/>
              </a:rPr>
              <a:t>RQ2</a:t>
            </a:r>
          </a:p>
        </p:txBody>
      </p:sp>
      <p:sp>
        <p:nvSpPr>
          <p:cNvPr id="31" name="TextBox 30"/>
          <p:cNvSpPr txBox="1"/>
          <p:nvPr/>
        </p:nvSpPr>
        <p:spPr>
          <a:xfrm>
            <a:off x="691134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Enhanced multi-level XAI</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Large-scale clustering with cross-level SHAP aggregation (Prop. 6.1).</a:t>
            </a:r>
          </a:p>
          <a:p>
            <a:pPr algn="l">
              <a:lnSpc>
                <a:spcPts val="1700"/>
              </a:lnSpc>
              <a:spcBef>
                <a:spcPts val="1400"/>
              </a:spcBef>
              <a:buNone/>
            </a:pPr>
            <a:r>
              <a:rPr lang="en-US" sz="1300" b="true" spc="140">
                <a:solidFill>
                  <a:srgbClr val="ECC665"/>
                </a:solidFill>
                <a:latin typeface="Nunito Ultra-Bold"/>
                <a:ea typeface="Nunito Ultra-Bold"/>
                <a:cs typeface="Nunito Ultra-Bold"/>
                <a:sym typeface="Nunito Ultra-Bold"/>
              </a:rPr>
              <a:t>BEIJING AIR QUALITY</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Attribution stays consistent across levels and at scale.</a:t>
            </a:r>
          </a:p>
        </p:txBody>
      </p:sp>
      <p:sp>
        <p:nvSpPr>
          <p:cNvPr id="32" name="Rounded Rectangle 31"/>
          <p:cNvSpPr/>
          <p:nvPr/>
        </p:nvSpPr>
        <p:spPr>
          <a:xfrm>
            <a:off x="12062460" y="3455162"/>
            <a:ext cx="5196840" cy="4480560"/>
          </a:xfrm>
          <a:prstGeom prst="roundRect">
            <a:avLst>
              <a:gd name="adj" fmla="val 6530"/>
            </a:avLst>
          </a:prstGeom>
          <a:solidFill>
            <a:srgbClr val="1F7A8C"/>
          </a:solidFill>
          <a:ln>
            <a:noFill/>
          </a:ln>
        </p:spPr>
        <p:txBody>
          <a:bodyPr anchor="ctr" rtlCol="false" lIns="0" tIns="0" rIns="0" bIns="0" wrap="square"/>
          <a:lstStyle/>
          <a:p>
            <a:endParaRPr lang="en-US" sz="1800"/>
          </a:p>
        </p:txBody>
      </p:sp>
      <p:sp>
        <p:nvSpPr>
          <p:cNvPr id="33" name="TextBox 32"/>
          <p:cNvSpPr txBox="1"/>
          <p:nvPr/>
        </p:nvSpPr>
        <p:spPr>
          <a:xfrm>
            <a:off x="12428220" y="3729482"/>
            <a:ext cx="4465320" cy="640080"/>
          </a:xfrm>
          <a:prstGeom prst="rect">
            <a:avLst/>
          </a:prstGeom>
          <a:noFill/>
        </p:spPr>
        <p:txBody>
          <a:bodyPr anchor="t" rtlCol="false" lIns="0" tIns="0" rIns="0" bIns="0" wrap="square"/>
          <a:lstStyle/>
          <a:p>
            <a:pPr algn="l">
              <a:lnSpc>
                <a:spcPts val="4400"/>
              </a:lnSpc>
              <a:spcBef>
                <a:spcPts val="0"/>
              </a:spcBef>
              <a:buNone/>
            </a:pPr>
            <a:r>
              <a:rPr lang="en-US" sz="4000" b="true" spc="-200">
                <a:solidFill>
                  <a:srgbClr val="FFFFFF"/>
                </a:solidFill>
                <a:latin typeface="Roca Two Bold"/>
                <a:ea typeface="Roca Two Bold"/>
                <a:cs typeface="Roca Two Bold"/>
                <a:sym typeface="Roca Two Bold"/>
              </a:rPr>
              <a:t>C3</a:t>
            </a:r>
          </a:p>
        </p:txBody>
      </p:sp>
      <p:sp>
        <p:nvSpPr>
          <p:cNvPr id="34" name="Rounded Rectangle 33"/>
          <p:cNvSpPr/>
          <p:nvPr/>
        </p:nvSpPr>
        <p:spPr>
          <a:xfrm>
            <a:off x="15247620" y="3802634"/>
            <a:ext cx="1552948" cy="384048"/>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1800"/>
              </a:lnSpc>
              <a:spcBef>
                <a:spcPts val="0"/>
              </a:spcBef>
              <a:buNone/>
            </a:pPr>
            <a:r>
              <a:rPr lang="en-US" sz="1500" b="true">
                <a:solidFill>
                  <a:srgbClr val="1F7A8C"/>
                </a:solidFill>
                <a:latin typeface="Nunito Bold"/>
                <a:ea typeface="Nunito Bold"/>
                <a:cs typeface="Nunito Bold"/>
                <a:sym typeface="Nunito Bold"/>
              </a:rPr>
              <a:t>RQ3 · RQ4</a:t>
            </a:r>
          </a:p>
        </p:txBody>
      </p:sp>
      <p:sp>
        <p:nvSpPr>
          <p:cNvPr id="35" name="TextBox 34"/>
          <p:cNvSpPr txBox="1"/>
          <p:nvPr/>
        </p:nvSpPr>
        <p:spPr>
          <a:xfrm>
            <a:off x="12428220" y="4506722"/>
            <a:ext cx="4465320" cy="3291840"/>
          </a:xfrm>
          <a:prstGeom prst="rect">
            <a:avLst/>
          </a:prstGeom>
          <a:noFill/>
        </p:spPr>
        <p:txBody>
          <a:bodyPr anchor="t" rtlCol="false" lIns="0" tIns="0" rIns="0" bIns="0" wrap="square"/>
          <a:lstStyle/>
          <a:p>
            <a:pPr algn="l">
              <a:lnSpc>
                <a:spcPts val="2875"/>
              </a:lnSpc>
              <a:spcBef>
                <a:spcPts val="0"/>
              </a:spcBef>
              <a:buNone/>
            </a:pPr>
            <a:r>
              <a:rPr lang="en-US" sz="2300" b="true">
                <a:solidFill>
                  <a:srgbClr val="FFFFFF"/>
                </a:solidFill>
                <a:latin typeface="Nunito Ultra-Bold"/>
                <a:ea typeface="Nunito Ultra-Bold"/>
                <a:cs typeface="Nunito Ultra-Bold"/>
                <a:sym typeface="Nunito Ultra-Bold"/>
              </a:rPr>
              <a:t>DyHuCoG</a:t>
            </a:r>
          </a:p>
          <a:p>
            <a:pPr algn="l">
              <a:lnSpc>
                <a:spcPts val="2520"/>
              </a:lnSpc>
              <a:spcBef>
                <a:spcPts val="600"/>
              </a:spcBef>
              <a:buNone/>
            </a:pPr>
            <a:r>
              <a:rPr lang="en-US" sz="1800" b="true">
                <a:solidFill>
                  <a:srgbClr val="F1EDE6"/>
                </a:solidFill>
                <a:latin typeface="Nunito Semi-Bold"/>
                <a:ea typeface="Nunito Semi-Bold"/>
                <a:cs typeface="Nunito Semi-Bold"/>
                <a:sym typeface="Nunito Semi-Bold"/>
              </a:rPr>
              <a:t>Dynamic Hypergraph Cooperative Game for preference-aware recommendation.</a:t>
            </a:r>
          </a:p>
          <a:p>
            <a:pPr algn="l">
              <a:lnSpc>
                <a:spcPts val="1700"/>
              </a:lnSpc>
              <a:spcBef>
                <a:spcPts val="1400"/>
              </a:spcBef>
              <a:buNone/>
            </a:pPr>
            <a:r>
              <a:rPr lang="en-US" sz="1300" b="true" spc="140">
                <a:solidFill>
                  <a:srgbClr val="FFFFFF"/>
                </a:solidFill>
                <a:latin typeface="Nunito Ultra-Bold"/>
                <a:ea typeface="Nunito Ultra-Bold"/>
                <a:cs typeface="Nunito Ultra-Bold"/>
                <a:sym typeface="Nunito Ultra-Bold"/>
              </a:rPr>
              <a:t>MOVIELENS-1M · AMAZON-BOOK</a:t>
            </a:r>
          </a:p>
          <a:p>
            <a:pPr algn="l">
              <a:lnSpc>
                <a:spcPts val="2520"/>
              </a:lnSpc>
              <a:spcBef>
                <a:spcPts val="400"/>
              </a:spcBef>
              <a:buNone/>
            </a:pPr>
            <a:r>
              <a:rPr lang="en-US" sz="1800" b="true">
                <a:solidFill>
                  <a:srgbClr val="FFFFFF"/>
                </a:solidFill>
                <a:latin typeface="Nunito Semi-Bold"/>
                <a:ea typeface="Nunito Semi-Bold"/>
                <a:cs typeface="Nunito Semi-Bold"/>
                <a:sym typeface="Nunito Semi-Bold"/>
              </a:rPr>
              <a:t>Preference-aware Monte Carlo Shapley as an in-training signal.</a:t>
            </a:r>
          </a:p>
        </p:txBody>
      </p:sp>
      <p:sp>
        <p:nvSpPr>
          <p:cNvPr id="36" name="Rounded Rectangle 35"/>
          <p:cNvSpPr/>
          <p:nvPr/>
        </p:nvSpPr>
        <p:spPr>
          <a:xfrm>
            <a:off x="1028700" y="8301482"/>
            <a:ext cx="16230600" cy="1052830"/>
          </a:xfrm>
          <a:prstGeom prst="roundRect">
            <a:avLst>
              <a:gd name="adj" fmla="val 21712"/>
            </a:avLst>
          </a:prstGeom>
          <a:solidFill>
            <a:srgbClr val="F6ECDF"/>
          </a:solidFill>
          <a:ln>
            <a:noFill/>
          </a:ln>
        </p:spPr>
        <p:txBody>
          <a:bodyPr anchor="ctr" rtlCol="false" lIns="457200" tIns="91440" rIns="457200" bIns="91440" wrap="square"/>
          <a:lstStyle/>
          <a:p>
            <a:pPr algn="ctr">
              <a:lnSpc>
                <a:spcPts val="2700"/>
              </a:lnSpc>
              <a:spcBef>
                <a:spcPts val="0"/>
              </a:spcBef>
              <a:buNone/>
            </a:pPr>
            <a:r>
              <a:rPr lang="en-US" sz="2100" b="true">
                <a:solidFill>
                  <a:srgbClr val="111111"/>
                </a:solidFill>
                <a:latin typeface="Nunito Bold"/>
                <a:ea typeface="Nunito Bold"/>
                <a:cs typeface="Nunito Bold"/>
                <a:sym typeface="Nunito Bold"/>
              </a:rPr>
              <a:t>Thesis claim:</a:t>
            </a:r>
            <a:r>
              <a:rPr lang="en-US" sz="2100" b="true">
                <a:solidFill>
                  <a:srgbClr val="111111"/>
                </a:solidFill>
                <a:latin typeface="Nunito Semi-Bold"/>
                <a:ea typeface="Nunito Semi-Bold"/>
                <a:cs typeface="Nunito Semi-Bold"/>
                <a:sym typeface="Nunito Semi-Bold"/>
              </a:rPr>
              <a:t> cooperative game theory works as </a:t>
            </a:r>
            <a:r>
              <a:rPr lang="en-US" sz="2100" b="true">
                <a:solidFill>
                  <a:srgbClr val="111111"/>
                </a:solidFill>
                <a:latin typeface="Nunito Bold"/>
                <a:ea typeface="Nunito Bold"/>
                <a:cs typeface="Nunito Bold"/>
                <a:sym typeface="Nunito Bold"/>
              </a:rPr>
              <a:t>one shared attribution view</a:t>
            </a:r>
            <a:r>
              <a:rPr lang="en-US" sz="2100" b="true">
                <a:solidFill>
                  <a:srgbClr val="111111"/>
                </a:solidFill>
                <a:latin typeface="Nunito Semi-Bold"/>
                <a:ea typeface="Nunito Semi-Bold"/>
                <a:cs typeface="Nunito Semi-Bold"/>
                <a:sym typeface="Nunito Semi-Bold"/>
              </a:rPr>
              <a:t> for explanation, optimisation and action: three steps that build on each other, not three unrelated papers.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17</a:t>
            </a:r>
          </a:p>
        </p:txBody>
      </p:sp>
      <p:sp>
        <p:nvSpPr>
          <p:cNvPr id="5" name="TextBox 4"/>
          <p:cNvSpPr txBox="1"/>
          <p:nvPr/>
        </p:nvSpPr>
        <p:spPr>
          <a:xfrm>
            <a:off x="1028700" y="2331720"/>
            <a:ext cx="14859000" cy="1737360"/>
          </a:xfrm>
          <a:prstGeom prst="rect">
            <a:avLst/>
          </a:prstGeom>
          <a:noFill/>
        </p:spPr>
        <p:txBody>
          <a:bodyPr anchor="t" rtlCol="false" lIns="0" tIns="0" rIns="0" bIns="0" wrap="square"/>
          <a:lstStyle/>
          <a:p>
            <a:pPr algn="l">
              <a:lnSpc>
                <a:spcPts val="11628"/>
              </a:lnSpc>
              <a:spcBef>
                <a:spcPts val="0"/>
              </a:spcBef>
              <a:buNone/>
            </a:pPr>
            <a:r>
              <a:rPr lang="en-US" sz="11400" b="true" spc="-661">
                <a:solidFill>
                  <a:srgbClr val="111111"/>
                </a:solidFill>
                <a:latin typeface="Roca Two Bold"/>
                <a:ea typeface="Roca Two Bold"/>
                <a:cs typeface="Roca Two Bold"/>
                <a:sym typeface="Roca Two Bold"/>
              </a:rPr>
              <a:t>Experimental Protocol</a:t>
            </a:r>
          </a:p>
        </p:txBody>
      </p:sp>
      <p:sp>
        <p:nvSpPr>
          <p:cNvPr id="6" name="Oval 5"/>
          <p:cNvSpPr/>
          <p:nvPr/>
        </p:nvSpPr>
        <p:spPr>
          <a:xfrm>
            <a:off x="15673226" y="26898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7" name="TextBox 6"/>
          <p:cNvSpPr txBox="1"/>
          <p:nvPr/>
        </p:nvSpPr>
        <p:spPr>
          <a:xfrm>
            <a:off x="15673226" y="26898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03</a:t>
            </a:r>
          </a:p>
        </p:txBody>
      </p:sp>
      <p:sp>
        <p:nvSpPr>
          <p:cNvPr id="8" name="TextBox 7"/>
          <p:cNvSpPr txBox="1"/>
          <p:nvPr/>
        </p:nvSpPr>
        <p:spPr>
          <a:xfrm>
            <a:off x="1028700" y="3953256"/>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One shared protocol so that the three contributions can be read together</a:t>
            </a:r>
          </a:p>
        </p:txBody>
      </p:sp>
      <p:sp>
        <p:nvSpPr>
          <p:cNvPr id="9" name="Rectangle 8"/>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0" name="TextBox 9"/>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Datasets</a:t>
            </a:r>
          </a:p>
        </p:txBody>
      </p:sp>
      <p:cxnSp>
        <p:nvCxnSpPr>
          <p:cNvPr id="11" name="Connector 10"/>
          <p:cNvCxnSpPr/>
          <p:nvPr/>
        </p:nvCxnSpPr>
        <p:spPr>
          <a:xfrm>
            <a:off x="1028700" y="6464808"/>
            <a:ext cx="640080" cy="0"/>
          </a:xfrm>
          <a:prstGeom prst="line">
            <a:avLst/>
          </a:prstGeom>
          <a:ln w="31750">
            <a:solidFill>
              <a:srgbClr val="ECC665"/>
            </a:solidFill>
          </a:ln>
        </p:spPr>
      </p:cxnSp>
      <p:sp>
        <p:nvSpPr>
          <p:cNvPr id="12" name="TextBox 11"/>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Wine Quality and Beijing Air Quality for clustering; MovieLens-1M and Amazon-Book for recommendation.</a:t>
            </a:r>
          </a:p>
        </p:txBody>
      </p:sp>
      <p:sp>
        <p:nvSpPr>
          <p:cNvPr id="13" name="TextBox 12"/>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Baselines &amp; metrics</a:t>
            </a:r>
          </a:p>
        </p:txBody>
      </p:sp>
      <p:cxnSp>
        <p:nvCxnSpPr>
          <p:cNvPr id="14" name="Connector 13"/>
          <p:cNvCxnSpPr/>
          <p:nvPr/>
        </p:nvCxnSpPr>
        <p:spPr>
          <a:xfrm>
            <a:off x="6576060" y="6464808"/>
            <a:ext cx="640080" cy="0"/>
          </a:xfrm>
          <a:prstGeom prst="line">
            <a:avLst/>
          </a:prstGeom>
          <a:ln w="31750">
            <a:solidFill>
              <a:srgbClr val="ECC665"/>
            </a:solidFill>
          </a:ln>
        </p:spPr>
      </p:cxnSp>
      <p:sp>
        <p:nvSpPr>
          <p:cNvPr id="15" name="TextBox 14"/>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LIME for clustering explanation; MF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HPCF for recommendation; NDCG@20, Recall, Coverage, ILD, Silhouette, Davies–Bouldin.</a:t>
            </a:r>
          </a:p>
        </p:txBody>
      </p:sp>
      <p:sp>
        <p:nvSpPr>
          <p:cNvPr id="16" name="TextBox 15"/>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Reproducibility</a:t>
            </a:r>
          </a:p>
        </p:txBody>
      </p:sp>
      <p:cxnSp>
        <p:nvCxnSpPr>
          <p:cNvPr id="17" name="Connector 16"/>
          <p:cNvCxnSpPr/>
          <p:nvPr/>
        </p:nvCxnSpPr>
        <p:spPr>
          <a:xfrm>
            <a:off x="12123420" y="6464808"/>
            <a:ext cx="640080" cy="0"/>
          </a:xfrm>
          <a:prstGeom prst="line">
            <a:avLst/>
          </a:prstGeom>
          <a:ln w="31750">
            <a:solidFill>
              <a:srgbClr val="ECC665"/>
            </a:solidFill>
          </a:ln>
        </p:spPr>
      </p:cxnSp>
      <p:sp>
        <p:nvSpPr>
          <p:cNvPr id="18" name="TextBox 17"/>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Fixed seeds, time-ordered user-level splits, early stopping, standard academic hardware (i9-14900K + RTX 4090).</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[19] Cortez, P. et al. Wine Quality. UCI Machine Learning Repository (2009).  ·  Dua, D. &amp; Taniskidou, E. Beijing Multi-Site Air Quality Data. UCI Machine Learning Repository (2017).</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18</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Wine Quality: Portuguese Vinho Verde</a:t>
            </a:r>
          </a:p>
        </p:txBody>
      </p:sp>
      <p:sp>
        <p:nvSpPr>
          <p:cNvPr id="21" name="Rounded Rectangle 20"/>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2" name="Rounded Rectangle 21"/>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3" name="Rounded Rectangle 22"/>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4" name="TextBox 23"/>
          <p:cNvSpPr txBox="1"/>
          <p:nvPr/>
        </p:nvSpPr>
        <p:spPr>
          <a:xfrm>
            <a:off x="1028700" y="3363722"/>
            <a:ext cx="6949440" cy="2743200"/>
          </a:xfrm>
          <a:prstGeom prst="rect">
            <a:avLst/>
          </a:prstGeom>
          <a:noFill/>
        </p:spPr>
        <p:txBody>
          <a:bodyPr anchor="t" rtlCol="false" lIns="0" tIns="0" rIns="0" bIns="0" wrap="square"/>
          <a:lstStyle/>
          <a:p>
            <a:pPr algn="l" marL="274320" indent="-274320">
              <a:lnSpc>
                <a:spcPts val="2500"/>
              </a:lnSpc>
              <a:spcBef>
                <a:spcPts val="0"/>
              </a:spcBef>
              <a:buClr>
                <a:srgbClr val="1F7A8C"/>
              </a:buClr>
              <a:buSzPct val="100000"/>
              <a:buFont typeface="Arial"/>
              <a:buChar char="•"/>
            </a:pPr>
            <a:r>
              <a:rPr lang="en-US" sz="1786" b="true">
                <a:solidFill>
                  <a:srgbClr val="111111"/>
                </a:solidFill>
                <a:latin typeface="Nunito Bold"/>
                <a:ea typeface="Nunito Bold"/>
                <a:cs typeface="Nunito Bold"/>
                <a:sym typeface="Nunito Bold"/>
              </a:rPr>
              <a:t>4,898 white-wine samples</a:t>
            </a:r>
            <a:r>
              <a:rPr lang="en-US" sz="1786" b="true">
                <a:solidFill>
                  <a:srgbClr val="111111"/>
                </a:solidFill>
                <a:latin typeface="Nunito Semi-Bold"/>
                <a:ea typeface="Nunito Semi-Bold"/>
                <a:cs typeface="Nunito Semi-Bold"/>
                <a:sym typeface="Nunito Semi-Bold"/>
              </a:rPr>
              <a:t> described by </a:t>
            </a:r>
            <a:r>
              <a:rPr lang="en-US" sz="1786" b="true">
                <a:solidFill>
                  <a:srgbClr val="111111"/>
                </a:solidFill>
                <a:latin typeface="Nunito Bold"/>
                <a:ea typeface="Nunito Bold"/>
                <a:cs typeface="Nunito Bold"/>
                <a:sym typeface="Nunito Bold"/>
              </a:rPr>
              <a:t>11 physicochemical measurements</a:t>
            </a:r>
            <a:r>
              <a:rPr lang="en-US" sz="1786" b="true">
                <a:solidFill>
                  <a:srgbClr val="111111"/>
                </a:solidFill>
                <a:latin typeface="Nunito Semi-Bold"/>
                <a:ea typeface="Nunito Semi-Bold"/>
                <a:cs typeface="Nunito Semi-Bold"/>
                <a:sym typeface="Nunito Semi-Bold"/>
              </a:rPr>
              <a:t> and a sensory quality score (UCI repository).</a:t>
            </a:r>
          </a:p>
          <a:p>
            <a:pPr algn="l" marL="274320" indent="-274320">
              <a:lnSpc>
                <a:spcPts val="2500"/>
              </a:lnSpc>
              <a:spcBef>
                <a:spcPts val="752"/>
              </a:spcBef>
              <a:buClr>
                <a:srgbClr val="1F7A8C"/>
              </a:buClr>
              <a:buSzPct val="100000"/>
              <a:buFont typeface="Arial"/>
              <a:buChar char="•"/>
            </a:pPr>
            <a:r>
              <a:rPr lang="en-US" sz="1786" b="true">
                <a:solidFill>
                  <a:srgbClr val="111111"/>
                </a:solidFill>
                <a:latin typeface="Nunito Semi-Bold"/>
                <a:ea typeface="Nunito Semi-Bold"/>
                <a:cs typeface="Nunito Semi-Bold"/>
                <a:sym typeface="Nunito Semi-Bold"/>
              </a:rPr>
              <a:t>Small, dense and chemically correlated: the ideal place to check that an explanation lands on </a:t>
            </a:r>
            <a:r>
              <a:rPr lang="en-US" sz="1786" b="true">
                <a:solidFill>
                  <a:srgbClr val="111111"/>
                </a:solidFill>
                <a:latin typeface="Nunito Bold"/>
                <a:ea typeface="Nunito Bold"/>
                <a:cs typeface="Nunito Bold"/>
                <a:sym typeface="Nunito Bold"/>
              </a:rPr>
              <a:t>variables a wine expert understands</a:t>
            </a:r>
            <a:r>
              <a:rPr lang="en-US" sz="1786" b="true">
                <a:solidFill>
                  <a:srgbClr val="111111"/>
                </a:solidFill>
                <a:latin typeface="Nunito Semi-Bold"/>
                <a:ea typeface="Nunito Semi-Bold"/>
                <a:cs typeface="Nunito Semi-Bold"/>
                <a:sym typeface="Nunito Semi-Bold"/>
              </a:rPr>
              <a:t>.</a:t>
            </a:r>
          </a:p>
          <a:p>
            <a:pPr algn="l" marL="274320" indent="-274320">
              <a:lnSpc>
                <a:spcPts val="2500"/>
              </a:lnSpc>
              <a:spcBef>
                <a:spcPts val="752"/>
              </a:spcBef>
              <a:buClr>
                <a:srgbClr val="1F7A8C"/>
              </a:buClr>
              <a:buSzPct val="100000"/>
              <a:buFont typeface="Arial"/>
              <a:buChar char="•"/>
            </a:pPr>
            <a:r>
              <a:rPr lang="en-US" sz="1786" b="true">
                <a:solidFill>
                  <a:srgbClr val="111111"/>
                </a:solidFill>
                <a:latin typeface="Nunito Semi-Bold"/>
                <a:ea typeface="Nunito Semi-Bold"/>
                <a:cs typeface="Nunito Semi-Bold"/>
                <a:sym typeface="Nunito Semi-Bold"/>
              </a:rPr>
              <a:t>Used for </a:t>
            </a:r>
            <a:r>
              <a:rPr lang="en-US" sz="1786" b="true">
                <a:solidFill>
                  <a:srgbClr val="111111"/>
                </a:solidFill>
                <a:latin typeface="Nunito Bold"/>
                <a:ea typeface="Nunito Bold"/>
                <a:cs typeface="Nunito Bold"/>
                <a:sym typeface="Nunito Bold"/>
              </a:rPr>
              <a:t>Contribution I</a:t>
            </a:r>
            <a:r>
              <a:rPr lang="en-US" sz="1786" b="true">
                <a:solidFill>
                  <a:srgbClr val="111111"/>
                </a:solidFill>
                <a:latin typeface="Nunito Semi-Bold"/>
                <a:ea typeface="Nunito Semi-Bold"/>
                <a:cs typeface="Nunito Semi-Bold"/>
                <a:sym typeface="Nunito Semi-Bold"/>
              </a:rPr>
              <a:t>: single-level clustering, then Shapley attribution back to the chemistry.</a:t>
            </a:r>
          </a:p>
        </p:txBody>
      </p:sp>
      <p:graphicFrame>
        <p:nvGraphicFramePr>
          <p:cNvPr id="25" name="Table 24"/>
          <p:cNvGraphicFramePr>
            <a:graphicFrameLocks noGrp="1"/>
          </p:cNvGraphicFramePr>
          <p:nvPr/>
        </p:nvGraphicFramePr>
        <p:xfrm>
          <a:off x="8435340" y="3363722"/>
          <a:ext cx="8823959" cy="3228848"/>
        </p:xfrm>
        <a:graphic>
          <a:graphicData uri="http://schemas.openxmlformats.org/drawingml/2006/table">
            <a:tbl>
              <a:tblPr firstRow="0" bandRow="0" firstCol="0" lastRow="0" lastCol="0" bandCol="0">
                <a:tableStyleId>{2D5ABB26-0587-4C30-8999-92F81FD0307C}</a:tableStyleId>
              </a:tblPr>
              <a:tblGrid>
                <a:gridCol w="4622074"/>
                <a:gridCol w="4201885"/>
              </a:tblGrid>
              <a:tr h="46126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Wine Quality</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Observations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4,898</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Features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11 numeric</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Target (not used for clustering)</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quality 3 to 9</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Missing values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none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Scale of features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standardised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Selected 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k* = 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26" name="TextBox 25"/>
          <p:cNvSpPr txBox="1"/>
          <p:nvPr/>
        </p:nvSpPr>
        <p:spPr>
          <a:xfrm>
            <a:off x="1028700" y="6912610"/>
            <a:ext cx="162306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SAMPLE RECORDS  ·  first rows of the public file</a:t>
            </a:r>
          </a:p>
        </p:txBody>
      </p:sp>
      <p:graphicFrame>
        <p:nvGraphicFramePr>
          <p:cNvPr id="27" name="Table 26"/>
          <p:cNvGraphicFramePr>
            <a:graphicFrameLocks noGrp="1"/>
          </p:cNvGraphicFramePr>
          <p:nvPr/>
        </p:nvGraphicFramePr>
        <p:xfrm>
          <a:off x="1028700" y="7260082"/>
          <a:ext cx="16230600" cy="1705864"/>
        </p:xfrm>
        <a:graphic>
          <a:graphicData uri="http://schemas.openxmlformats.org/drawingml/2006/table">
            <a:tbl>
              <a:tblPr firstRow="0" bandRow="0" firstCol="0" lastRow="0" lastCol="0" bandCol="0">
                <a:tableStyleId>{2D5ABB26-0587-4C30-8999-92F81FD0307C}</a:tableStyleId>
              </a:tblPr>
              <a:tblGrid>
                <a:gridCol w="1586992"/>
                <a:gridCol w="1731264"/>
                <a:gridCol w="1442720"/>
                <a:gridCol w="1659128"/>
                <a:gridCol w="1442720"/>
                <a:gridCol w="1298448"/>
                <a:gridCol w="1298448"/>
                <a:gridCol w="1298448"/>
                <a:gridCol w="1009904"/>
                <a:gridCol w="1298448"/>
                <a:gridCol w="1154176"/>
                <a:gridCol w="1009904"/>
              </a:tblGrid>
              <a:tr h="426466">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fixed acidity</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volatile acidity</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citric acid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residual sugar</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chlorides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free SO₂</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total SO₂</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density</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pH</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sulphates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alcohol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quality</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0.27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0.045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1.0010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0.34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0.049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132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0.9940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0.49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0.28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0.40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0.050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0.9951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0.44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[19] Cortez, P. et al. Wine Quality. UCI Machine Learning Repository (2009).  ·  Dua, D. &amp; Taniskidou, E. Beijing Multi-Site Air Quality Data. UCI Machine Learning Repository (2017).</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19</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Beijing Multi-Site Air Quality</a:t>
            </a:r>
          </a:p>
        </p:txBody>
      </p:sp>
      <p:sp>
        <p:nvSpPr>
          <p:cNvPr id="21" name="Rounded Rectangle 20"/>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2" name="Rounded Rectangle 21"/>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3" name="Rounded Rectangle 22"/>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4" name="TextBox 23"/>
          <p:cNvSpPr txBox="1"/>
          <p:nvPr/>
        </p:nvSpPr>
        <p:spPr>
          <a:xfrm>
            <a:off x="1028700" y="3363722"/>
            <a:ext cx="6949440" cy="274320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383,585 hourly records</a:t>
            </a:r>
            <a:r>
              <a:rPr lang="en-US" sz="1900" b="true">
                <a:solidFill>
                  <a:srgbClr val="111111"/>
                </a:solidFill>
                <a:latin typeface="Nunito Semi-Bold"/>
                <a:ea typeface="Nunito Semi-Bold"/>
                <a:cs typeface="Nunito Semi-Bold"/>
                <a:sym typeface="Nunito Semi-Bold"/>
              </a:rPr>
              <a:t> from Beijing monitoring stations, March 2013 to February 2017 (UCI repository).</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11 modelling variables:</a:t>
            </a:r>
            <a:r>
              <a:rPr lang="en-US" sz="1900" b="true">
                <a:solidFill>
                  <a:srgbClr val="111111"/>
                </a:solidFill>
                <a:latin typeface="Nunito Semi-Bold"/>
                <a:ea typeface="Nunito Semi-Bold"/>
                <a:cs typeface="Nunito Semi-Bold"/>
                <a:sym typeface="Nunito Semi-Bold"/>
              </a:rPr>
              <a:t> six pollutants (PM2.5, PM10, SO₂, NO₂, CO, O₃) and weather (temperature, pressure, dew point, rain, wind speed).</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Large, noisy, varies with season and weather: the stress test for </a:t>
            </a:r>
            <a:r>
              <a:rPr lang="en-US" sz="1900" b="true">
                <a:solidFill>
                  <a:srgbClr val="111111"/>
                </a:solidFill>
                <a:latin typeface="Nunito Bold"/>
                <a:ea typeface="Nunito Bold"/>
                <a:cs typeface="Nunito Bold"/>
                <a:sym typeface="Nunito Bold"/>
              </a:rPr>
              <a:t>Contribution II</a:t>
            </a:r>
            <a:r>
              <a:rPr lang="en-US" sz="1900" b="true">
                <a:solidFill>
                  <a:srgbClr val="111111"/>
                </a:solidFill>
                <a:latin typeface="Nunito Semi-Bold"/>
                <a:ea typeface="Nunito Semi-Bold"/>
                <a:cs typeface="Nunito Semi-Bold"/>
                <a:sym typeface="Nunito Semi-Bold"/>
              </a:rPr>
              <a:t> (scale + multi-level structure).</a:t>
            </a:r>
          </a:p>
        </p:txBody>
      </p:sp>
      <p:graphicFrame>
        <p:nvGraphicFramePr>
          <p:cNvPr id="25" name="Table 24"/>
          <p:cNvGraphicFramePr>
            <a:graphicFrameLocks noGrp="1"/>
          </p:cNvGraphicFramePr>
          <p:nvPr/>
        </p:nvGraphicFramePr>
        <p:xfrm>
          <a:off x="8435340" y="3363722"/>
          <a:ext cx="8823959" cy="3228848"/>
        </p:xfrm>
        <a:graphic>
          <a:graphicData uri="http://schemas.openxmlformats.org/drawingml/2006/table">
            <a:tbl>
              <a:tblPr firstRow="0" bandRow="0" firstCol="0" lastRow="0" lastCol="0" bandCol="0">
                <a:tableStyleId>{2D5ABB26-0587-4C30-8999-92F81FD0307C}</a:tableStyleId>
              </a:tblPr>
              <a:tblGrid>
                <a:gridCol w="4622074"/>
                <a:gridCol w="4201885"/>
              </a:tblGrid>
              <a:tr h="46126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Beijing Multi-Site Air Quality</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Observations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383,585 hourly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Period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2013 to 2017</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Variables used</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11 (6 pollutants + 5 weather)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Structure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coarse regimes </a:t>
                      </a:r>
                      <a:r>
                        <a:rPr lang="en-US" sz="1600" b="true">
                          <a:solidFill>
                            <a:srgbClr val="111111"/>
                          </a:solidFill>
                          <a:latin typeface="Calibri"/>
                          <a:ea typeface="Calibri"/>
                          <a:cs typeface="Calibri"/>
                          <a:sym typeface="Calibri"/>
                        </a:rPr>
                        <a:t>→ </a:t>
                      </a:r>
                      <a:r>
                        <a:rPr lang="en-US" sz="1600" b="true">
                          <a:solidFill>
                            <a:srgbClr val="111111"/>
                          </a:solidFill>
                          <a:latin typeface="Nunito Semi-Bold"/>
                          <a:ea typeface="Nunito Semi-Bold"/>
                          <a:cs typeface="Nunito Semi-Bold"/>
                          <a:sym typeface="Nunito Semi-Bold"/>
                        </a:rPr>
                        <a:t>sub-clusters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Selected 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k = 3 </a:t>
                      </a:r>
                      <a:r>
                        <a:rPr lang="en-US" sz="1600" b="true">
                          <a:solidFill>
                            <a:srgbClr val="111111"/>
                          </a:solidFill>
                          <a:latin typeface="Calibri"/>
                          <a:ea typeface="Calibri"/>
                          <a:cs typeface="Calibri"/>
                          <a:sym typeface="Calibri"/>
                        </a:rPr>
                        <a:t>→ </a:t>
                      </a:r>
                      <a:r>
                        <a:rPr lang="en-US" sz="1600" b="true">
                          <a:solidFill>
                            <a:srgbClr val="111111"/>
                          </a:solidFill>
                          <a:latin typeface="Nunito Semi-Bold"/>
                          <a:ea typeface="Nunito Semi-Bold"/>
                          <a:cs typeface="Nunito Semi-Bold"/>
                          <a:sym typeface="Nunito Semi-Bold"/>
                        </a:rPr>
                        <a:t>9 sub-clusters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Silhouette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 0.63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26" name="TextBox 25"/>
          <p:cNvSpPr txBox="1"/>
          <p:nvPr/>
        </p:nvSpPr>
        <p:spPr>
          <a:xfrm>
            <a:off x="1028700" y="6912610"/>
            <a:ext cx="162306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SAMPLE RECORDS  ·  first rows of the Aotizhongxin station file</a:t>
            </a:r>
          </a:p>
        </p:txBody>
      </p:sp>
      <p:graphicFrame>
        <p:nvGraphicFramePr>
          <p:cNvPr id="27" name="Table 26"/>
          <p:cNvGraphicFramePr>
            <a:graphicFrameLocks noGrp="1"/>
          </p:cNvGraphicFramePr>
          <p:nvPr/>
        </p:nvGraphicFramePr>
        <p:xfrm>
          <a:off x="1028700" y="7260082"/>
          <a:ext cx="16230594" cy="1705864"/>
        </p:xfrm>
        <a:graphic>
          <a:graphicData uri="http://schemas.openxmlformats.org/drawingml/2006/table">
            <a:tbl>
              <a:tblPr firstRow="0" bandRow="0" firstCol="0" lastRow="0" lastCol="0" bandCol="0">
                <a:tableStyleId>{2D5ABB26-0587-4C30-8999-92F81FD0307C}</a:tableStyleId>
              </a:tblPr>
              <a:tblGrid>
                <a:gridCol w="2233568"/>
                <a:gridCol w="2531377"/>
                <a:gridCol w="1191236"/>
                <a:gridCol w="1191236"/>
                <a:gridCol w="1042332"/>
                <a:gridCol w="1042332"/>
                <a:gridCol w="1042332"/>
                <a:gridCol w="1042332"/>
                <a:gridCol w="1191236"/>
                <a:gridCol w="1340141"/>
                <a:gridCol w="1191236"/>
                <a:gridCol w="1191236"/>
              </a:tblGrid>
              <a:tr h="426466">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station</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date · hour</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PM2.5</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PM10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SO₂</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NO₂</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CO</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O₃</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TEMP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PRES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DEWP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WSPM</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Aotizhongxin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2013-03-01 · 00h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1023.0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-18.8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Aotizhongxin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2013-03-01 · 01h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1023.2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-18.2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Aotizhongxin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2013-03-01 · 02h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73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1023.5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-18.2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5.6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20</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MovieLens-1M</a:t>
            </a:r>
          </a:p>
        </p:txBody>
      </p:sp>
      <p:sp>
        <p:nvSpPr>
          <p:cNvPr id="21" name="Rounded Rectangle 20"/>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2" name="Rounded Rectangle 21"/>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3" name="Rounded Rectangle 22"/>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4" name="TextBox 23"/>
          <p:cNvSpPr txBox="1"/>
          <p:nvPr/>
        </p:nvSpPr>
        <p:spPr>
          <a:xfrm>
            <a:off x="1028700" y="3363722"/>
            <a:ext cx="6949440" cy="274320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About 1 million ratings</a:t>
            </a:r>
            <a:r>
              <a:rPr lang="en-US" sz="1900" b="true">
                <a:solidFill>
                  <a:srgbClr val="111111"/>
                </a:solidFill>
                <a:latin typeface="Nunito Semi-Bold"/>
                <a:ea typeface="Nunito Semi-Bold"/>
                <a:cs typeface="Nunito Semi-Bold"/>
                <a:sym typeface="Nunito Semi-Bold"/>
              </a:rPr>
              <a:t> from </a:t>
            </a:r>
            <a:r>
              <a:rPr lang="en-US" sz="1900" b="true">
                <a:solidFill>
                  <a:srgbClr val="111111"/>
                </a:solidFill>
                <a:latin typeface="Nunito Bold"/>
                <a:ea typeface="Nunito Bold"/>
                <a:cs typeface="Nunito Bold"/>
                <a:sym typeface="Nunito Bold"/>
              </a:rPr>
              <a:t>6,040 users</a:t>
            </a:r>
            <a:r>
              <a:rPr lang="en-US" sz="1900" b="true">
                <a:solidFill>
                  <a:srgbClr val="111111"/>
                </a:solidFill>
                <a:latin typeface="Nunito Semi-Bold"/>
                <a:ea typeface="Nunito Semi-Bold"/>
                <a:cs typeface="Nunito Semi-Bold"/>
                <a:sym typeface="Nunito Semi-Bold"/>
              </a:rPr>
              <a:t> on </a:t>
            </a:r>
            <a:r>
              <a:rPr lang="en-US" sz="1900" b="true">
                <a:solidFill>
                  <a:srgbClr val="111111"/>
                </a:solidFill>
                <a:latin typeface="Nunito Bold"/>
                <a:ea typeface="Nunito Bold"/>
                <a:cs typeface="Nunito Bold"/>
                <a:sym typeface="Nunito Bold"/>
              </a:rPr>
              <a:t>3,706 movies</a:t>
            </a:r>
            <a:r>
              <a:rPr lang="en-US" sz="1900" b="true">
                <a:solidFill>
                  <a:srgbClr val="111111"/>
                </a:solidFill>
                <a:latin typeface="Nunito Semi-Bold"/>
                <a:ea typeface="Nunito Semi-Bold"/>
                <a:cs typeface="Nunito Semi-Bold"/>
                <a:sym typeface="Nunito Semi-Bold"/>
              </a:rPr>
              <a:t> (GroupLens, 2000).</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The standard benchmark for collaborative filtering for two decades: LightGCN, HCCF, HPCF and most graph recommenders report on it.</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Comparatively </a:t>
            </a:r>
            <a:r>
              <a:rPr lang="en-US" sz="1900" b="true">
                <a:solidFill>
                  <a:srgbClr val="111111"/>
                </a:solidFill>
                <a:latin typeface="Nunito Bold"/>
                <a:ea typeface="Nunito Bold"/>
                <a:cs typeface="Nunito Bold"/>
                <a:sym typeface="Nunito Bold"/>
              </a:rPr>
              <a:t>dense</a:t>
            </a:r>
            <a:r>
              <a:rPr lang="en-US" sz="1900" b="true">
                <a:solidFill>
                  <a:srgbClr val="111111"/>
                </a:solidFill>
                <a:latin typeface="Nunito Semi-Bold"/>
                <a:ea typeface="Nunito Semi-Bold"/>
                <a:cs typeface="Nunito Semi-Bold"/>
                <a:sym typeface="Nunito Semi-Bold"/>
              </a:rPr>
              <a:t> (0.0447); ratings &gt; 3 become positive implicit feedback. Genre is the context proxy.</a:t>
            </a:r>
          </a:p>
        </p:txBody>
      </p:sp>
      <p:graphicFrame>
        <p:nvGraphicFramePr>
          <p:cNvPr id="25" name="Table 24"/>
          <p:cNvGraphicFramePr>
            <a:graphicFrameLocks noGrp="1"/>
          </p:cNvGraphicFramePr>
          <p:nvPr/>
        </p:nvGraphicFramePr>
        <p:xfrm>
          <a:off x="8435340" y="3363722"/>
          <a:ext cx="8823959" cy="3228848"/>
        </p:xfrm>
        <a:graphic>
          <a:graphicData uri="http://schemas.openxmlformats.org/drawingml/2006/table">
            <a:tbl>
              <a:tblPr firstRow="0" bandRow="0" firstCol="0" lastRow="0" lastCol="0" bandCol="0">
                <a:tableStyleId>{2D5ABB26-0587-4C30-8999-92F81FD0307C}</a:tableStyleId>
              </a:tblPr>
              <a:tblGrid>
                <a:gridCol w="4622074"/>
                <a:gridCol w="4201885"/>
              </a:tblGrid>
              <a:tr h="46126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MovieLens-1M</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Users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6,040</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Items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3,706 movies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Interactions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1,000,209</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Density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 0.0447</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Rating scale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1 to 5 stars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Min. interactions / user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20</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26" name="TextBox 25"/>
          <p:cNvSpPr txBox="1"/>
          <p:nvPr/>
        </p:nvSpPr>
        <p:spPr>
          <a:xfrm>
            <a:off x="1028700" y="6912610"/>
            <a:ext cx="162306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SAMPLE RECORDS  ·  first rows of ratings.dat joined with movies.dat</a:t>
            </a:r>
          </a:p>
        </p:txBody>
      </p:sp>
      <p:graphicFrame>
        <p:nvGraphicFramePr>
          <p:cNvPr id="27" name="Table 26"/>
          <p:cNvGraphicFramePr>
            <a:graphicFrameLocks noGrp="1"/>
          </p:cNvGraphicFramePr>
          <p:nvPr/>
        </p:nvGraphicFramePr>
        <p:xfrm>
          <a:off x="1028700" y="7260082"/>
          <a:ext cx="16230597" cy="2132330"/>
        </p:xfrm>
        <a:graphic>
          <a:graphicData uri="http://schemas.openxmlformats.org/drawingml/2006/table">
            <a:tbl>
              <a:tblPr firstRow="0" bandRow="0" firstCol="0" lastRow="0" lastCol="0" bandCol="0">
                <a:tableStyleId>{2D5ABB26-0587-4C30-8999-92F81FD0307C}</a:tableStyleId>
              </a:tblPr>
              <a:tblGrid>
                <a:gridCol w="1363915"/>
                <a:gridCol w="1363915"/>
                <a:gridCol w="5728447"/>
                <a:gridCol w="4637314"/>
                <a:gridCol w="1227524"/>
                <a:gridCol w="1909482"/>
              </a:tblGrid>
              <a:tr h="426466">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UserID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MovieID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Title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Genres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Rating</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Timestamp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1193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One Flew Over the Cuckoo's Nest (1975)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Drama</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978300760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661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James and the Giant Peach (1996)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Animation · Children's · Musical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978302109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914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My Fair Lady (1964)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Musical · Romance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978301968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3408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Erin Brockovich (2000)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Drama</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978300275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21</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Amazon-Book</a:t>
            </a:r>
          </a:p>
        </p:txBody>
      </p:sp>
      <p:sp>
        <p:nvSpPr>
          <p:cNvPr id="21" name="Rounded Rectangle 20"/>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2" name="Rounded Rectangle 21"/>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3" name="Rounded Rectangle 22"/>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4" name="TextBox 23"/>
          <p:cNvSpPr txBox="1"/>
          <p:nvPr/>
        </p:nvSpPr>
        <p:spPr>
          <a:xfrm>
            <a:off x="1028700" y="3363722"/>
            <a:ext cx="6949440" cy="274320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52,643 users</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91,599 books</a:t>
            </a:r>
            <a:r>
              <a:rPr lang="en-US" sz="1900" b="true">
                <a:solidFill>
                  <a:srgbClr val="111111"/>
                </a:solidFill>
                <a:latin typeface="Nunito Semi-Bold"/>
                <a:ea typeface="Nunito Semi-Bold"/>
                <a:cs typeface="Nunito Semi-Bold"/>
                <a:sym typeface="Nunito Semi-Bold"/>
              </a:rPr>
              <a:t> and </a:t>
            </a:r>
            <a:r>
              <a:rPr lang="en-US" sz="1900" b="true">
                <a:solidFill>
                  <a:srgbClr val="111111"/>
                </a:solidFill>
                <a:latin typeface="Nunito Bold"/>
                <a:ea typeface="Nunito Bold"/>
                <a:cs typeface="Nunito Bold"/>
                <a:sym typeface="Nunito Bold"/>
              </a:rPr>
              <a:t>2,984,108 interactions</a:t>
            </a:r>
            <a:r>
              <a:rPr lang="en-US" sz="1900" b="true">
                <a:solidFill>
                  <a:srgbClr val="111111"/>
                </a:solidFill>
                <a:latin typeface="Nunito Semi-Bold"/>
                <a:ea typeface="Nunito Semi-Bold"/>
                <a:cs typeface="Nunito Semi-Bold"/>
                <a:sym typeface="Nunito Semi-Bold"/>
              </a:rPr>
              <a:t> from Amazon review data (McAuley Lab, UCSD).</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Extremely </a:t>
            </a:r>
            <a:r>
              <a:rPr lang="en-US" sz="1900" b="true">
                <a:solidFill>
                  <a:srgbClr val="111111"/>
                </a:solidFill>
                <a:latin typeface="Nunito Bold"/>
                <a:ea typeface="Nunito Bold"/>
                <a:cs typeface="Nunito Bold"/>
                <a:sym typeface="Nunito Bold"/>
              </a:rPr>
              <a:t>sparse</a:t>
            </a:r>
            <a:r>
              <a:rPr lang="en-US" sz="1900" b="true">
                <a:solidFill>
                  <a:srgbClr val="111111"/>
                </a:solidFill>
                <a:latin typeface="Nunito Semi-Bold"/>
                <a:ea typeface="Nunito Semi-Bold"/>
                <a:cs typeface="Nunito Semi-Bold"/>
                <a:sym typeface="Nunito Semi-Bold"/>
              </a:rPr>
              <a:t> (density ≈ 0.0006): the user-item matrix is almost empty.</a:t>
            </a:r>
          </a:p>
          <a:p>
            <a:pPr algn="l" marL="274320" indent="-274320">
              <a:lnSpc>
                <a:spcPts val="2660"/>
              </a:lnSpc>
              <a:spcBef>
                <a:spcPts val="8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Included to test whether Shapley-guided weighting </a:t>
            </a:r>
            <a:r>
              <a:rPr lang="en-US" sz="1900" b="true">
                <a:solidFill>
                  <a:srgbClr val="111111"/>
                </a:solidFill>
                <a:latin typeface="Nunito Bold"/>
                <a:ea typeface="Nunito Bold"/>
                <a:cs typeface="Nunito Bold"/>
                <a:sym typeface="Nunito Bold"/>
              </a:rPr>
              <a:t>helps most when the signal is weakest</a:t>
            </a:r>
            <a:r>
              <a:rPr lang="en-US" sz="1900" b="true">
                <a:solidFill>
                  <a:srgbClr val="111111"/>
                </a:solidFill>
                <a:latin typeface="Nunito Semi-Bold"/>
                <a:ea typeface="Nunito Semi-Bold"/>
                <a:cs typeface="Nunito Semi-Bold"/>
                <a:sym typeface="Nunito Semi-Bold"/>
              </a:rPr>
              <a:t>; the large-scale benchmark of Contribution III.</a:t>
            </a:r>
          </a:p>
        </p:txBody>
      </p:sp>
      <p:graphicFrame>
        <p:nvGraphicFramePr>
          <p:cNvPr id="25" name="Table 24"/>
          <p:cNvGraphicFramePr>
            <a:graphicFrameLocks noGrp="1"/>
          </p:cNvGraphicFramePr>
          <p:nvPr/>
        </p:nvGraphicFramePr>
        <p:xfrm>
          <a:off x="8435340" y="3363722"/>
          <a:ext cx="8823959" cy="3228848"/>
        </p:xfrm>
        <a:graphic>
          <a:graphicData uri="http://schemas.openxmlformats.org/drawingml/2006/table">
            <a:tbl>
              <a:tblPr firstRow="0" bandRow="0" firstCol="0" lastRow="0" lastCol="0" bandCol="0">
                <a:tableStyleId>{2D5ABB26-0587-4C30-8999-92F81FD0307C}</a:tableStyleId>
              </a:tblPr>
              <a:tblGrid>
                <a:gridCol w="4622074"/>
                <a:gridCol w="4201885"/>
              </a:tblGrid>
              <a:tr h="46126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Specification</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Amazon-Book</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Users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52,643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Items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91,599 books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Interactions</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2,984,108</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Density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 0.0006</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Feedback</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implicit (review = interaction)</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1264">
                <a:tc>
                  <a:txBody>
                    <a:bodyPr anchor="ctr" rtlCol="false" lIns="0" tIns="0" rIns="0" bIns="0" wrap="square"/>
                    <a:lstStyle/>
                    <a:p>
                      <a:pPr algn="l">
                        <a:lnSpc>
                          <a:spcPts val="2080"/>
                        </a:lnSpc>
                        <a:spcBef>
                          <a:spcPts val="0"/>
                        </a:spcBef>
                        <a:buNone/>
                      </a:pPr>
                      <a:r>
                        <a:rPr lang="en-US" sz="1600" b="true">
                          <a:solidFill>
                            <a:srgbClr val="111111"/>
                          </a:solidFill>
                          <a:latin typeface="Nunito Bold"/>
                          <a:ea typeface="Nunito Bold"/>
                          <a:cs typeface="Nunito Bold"/>
                          <a:sym typeface="Nunito Bold"/>
                        </a:rPr>
                        <a:t>Context proxy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book category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26" name="TextBox 25"/>
          <p:cNvSpPr txBox="1"/>
          <p:nvPr/>
        </p:nvSpPr>
        <p:spPr>
          <a:xfrm>
            <a:off x="1028700" y="6912610"/>
            <a:ext cx="162306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SAMPLE RECORDS  ·  illustrative rows in the format of the public file</a:t>
            </a:r>
          </a:p>
        </p:txBody>
      </p:sp>
      <p:graphicFrame>
        <p:nvGraphicFramePr>
          <p:cNvPr id="27" name="Table 26"/>
          <p:cNvGraphicFramePr>
            <a:graphicFrameLocks noGrp="1"/>
          </p:cNvGraphicFramePr>
          <p:nvPr/>
        </p:nvGraphicFramePr>
        <p:xfrm>
          <a:off x="1028700" y="7260082"/>
          <a:ext cx="16230598" cy="1705864"/>
        </p:xfrm>
        <a:graphic>
          <a:graphicData uri="http://schemas.openxmlformats.org/drawingml/2006/table">
            <a:tbl>
              <a:tblPr firstRow="0" bandRow="0" firstCol="0" lastRow="0" lastCol="0" bandCol="0">
                <a:tableStyleId>{2D5ABB26-0587-4C30-8999-92F81FD0307C}</a:tableStyleId>
              </a:tblPr>
              <a:tblGrid>
                <a:gridCol w="2264734"/>
                <a:gridCol w="3019646"/>
                <a:gridCol w="3774558"/>
                <a:gridCol w="1509823"/>
                <a:gridCol w="5661837"/>
              </a:tblGrid>
              <a:tr h="426466">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user_id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item_id (ASIN)</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category</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rating</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950"/>
                        </a:lnSpc>
                        <a:spcBef>
                          <a:spcPts val="0"/>
                        </a:spcBef>
                        <a:buNone/>
                      </a:pPr>
                      <a:r>
                        <a:rPr lang="en-US" sz="1500" b="true">
                          <a:solidFill>
                            <a:srgbClr val="FFFFFF"/>
                          </a:solidFill>
                          <a:latin typeface="Nunito Bold"/>
                          <a:ea typeface="Nunito Bold"/>
                          <a:cs typeface="Nunito Bold"/>
                          <a:sym typeface="Nunito Bold"/>
                        </a:rPr>
                        <a:t>review summary</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A1B2C3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B000123XYZ</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Literature &amp; Fiction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Could not put it down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A4D5E6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B000456ABC</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Science &amp; Math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Clear and well written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26466">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A7F8G9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B000789DEF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History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Good but slow in the middle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[12] He, X. et al. LightGCN: Simplifying and Powering Graph Convolution Network for Recommendation. SIGIR, 639–648 (2020).   [14] Xiangyi, Y. et al. Hypergraph Projection Enhanced Collaborative Filtering (HPCF). Int. J. Data Science and Analytics 19(2), 269–281 (2025).</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22</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Data Splitting &amp; Preprocessing</a:t>
            </a:r>
          </a:p>
        </p:txBody>
      </p:sp>
      <p:sp>
        <p:nvSpPr>
          <p:cNvPr id="21" name="Rounded Rectangle 20"/>
          <p:cNvSpPr/>
          <p:nvPr/>
        </p:nvSpPr>
        <p:spPr>
          <a:xfrm>
            <a:off x="1028700" y="2559050"/>
            <a:ext cx="15239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Datasets</a:t>
            </a:r>
          </a:p>
        </p:txBody>
      </p:sp>
      <p:sp>
        <p:nvSpPr>
          <p:cNvPr id="22" name="Rounded Rectangle 21"/>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3" name="Rounded Rectangle 22"/>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4" name="Rounded Rectangle 23"/>
          <p:cNvSpPr/>
          <p:nvPr/>
        </p:nvSpPr>
        <p:spPr>
          <a:xfrm>
            <a:off x="1028700" y="3592322"/>
            <a:ext cx="7932420" cy="5716270"/>
          </a:xfrm>
          <a:prstGeom prst="roundRect">
            <a:avLst>
              <a:gd name="adj" fmla="val 5438"/>
            </a:avLst>
          </a:prstGeom>
          <a:solidFill>
            <a:srgbClr val="4472C4"/>
          </a:solidFill>
          <a:ln>
            <a:noFill/>
          </a:ln>
        </p:spPr>
        <p:txBody>
          <a:bodyPr anchor="ctr" rtlCol="false" lIns="0" tIns="0" rIns="0" bIns="0" wrap="square"/>
          <a:lstStyle/>
          <a:p>
            <a:endParaRPr lang="en-US" sz="1800"/>
          </a:p>
        </p:txBody>
      </p:sp>
      <p:sp>
        <p:nvSpPr>
          <p:cNvPr id="25" name="Rounded Rectangle 24"/>
          <p:cNvSpPr/>
          <p:nvPr/>
        </p:nvSpPr>
        <p:spPr>
          <a:xfrm>
            <a:off x="1485900" y="3354578"/>
            <a:ext cx="3217901"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Clustering (C1, C2)</a:t>
            </a:r>
          </a:p>
        </p:txBody>
      </p:sp>
      <p:sp>
        <p:nvSpPr>
          <p:cNvPr id="26" name="TextBox 25"/>
          <p:cNvSpPr txBox="1"/>
          <p:nvPr/>
        </p:nvSpPr>
        <p:spPr>
          <a:xfrm>
            <a:off x="1531620" y="4232402"/>
            <a:ext cx="6972300" cy="480187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Bold"/>
                <a:ea typeface="Nunito Bold"/>
                <a:cs typeface="Nunito Bold"/>
                <a:sym typeface="Nunito Bold"/>
              </a:rPr>
              <a:t>Five-fold cross-validation</a:t>
            </a:r>
            <a:r>
              <a:rPr lang="en-US" sz="2000" b="true">
                <a:solidFill>
                  <a:srgbClr val="FFFFFF"/>
                </a:solidFill>
                <a:latin typeface="Nunito Semi-Bold"/>
                <a:ea typeface="Nunito Semi-Bold"/>
                <a:cs typeface="Nunito Semi-Bold"/>
                <a:sym typeface="Nunito Semi-Bold"/>
              </a:rPr>
              <a:t> for surrogate / attribution stability.</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Feature standardisation; PCA used only as a geometric and visual check.</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Multi-criteria k selection: elbow, Silhouette, Davies–Bouldin.</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Surrogate fidelity floor: </a:t>
            </a:r>
            <a:r>
              <a:rPr lang="en-US" sz="2000" b="true">
                <a:solidFill>
                  <a:srgbClr val="FFFFFF"/>
                </a:solidFill>
                <a:latin typeface="Nunito Bold"/>
                <a:ea typeface="Nunito Bold"/>
                <a:cs typeface="Nunito Bold"/>
                <a:sym typeface="Nunito Bold"/>
              </a:rPr>
              <a:t>macro-F1 ≈ 0.82</a:t>
            </a:r>
            <a:r>
              <a:rPr lang="en-US" sz="2000" b="true">
                <a:solidFill>
                  <a:srgbClr val="FFFFFF"/>
                </a:solidFill>
                <a:latin typeface="Nunito Semi-Bold"/>
                <a:ea typeface="Nunito Semi-Bold"/>
                <a:cs typeface="Nunito Semi-Bold"/>
                <a:sym typeface="Nunito Semi-Bold"/>
              </a:rPr>
              <a:t>.</a:t>
            </a:r>
          </a:p>
        </p:txBody>
      </p:sp>
      <p:sp>
        <p:nvSpPr>
          <p:cNvPr id="27" name="Rounded Rectangle 26"/>
          <p:cNvSpPr/>
          <p:nvPr/>
        </p:nvSpPr>
        <p:spPr>
          <a:xfrm>
            <a:off x="9326880" y="3592322"/>
            <a:ext cx="7932420" cy="5716270"/>
          </a:xfrm>
          <a:prstGeom prst="roundRect">
            <a:avLst>
              <a:gd name="adj" fmla="val 5438"/>
            </a:avLst>
          </a:prstGeom>
          <a:solidFill>
            <a:srgbClr val="F6ECDF"/>
          </a:solidFill>
          <a:ln>
            <a:noFill/>
          </a:ln>
        </p:spPr>
        <p:txBody>
          <a:bodyPr anchor="ctr" rtlCol="false" lIns="0" tIns="0" rIns="0" bIns="0" wrap="square"/>
          <a:lstStyle/>
          <a:p>
            <a:endParaRPr lang="en-US" sz="1800"/>
          </a:p>
        </p:txBody>
      </p:sp>
      <p:sp>
        <p:nvSpPr>
          <p:cNvPr id="28" name="Rounded Rectangle 27"/>
          <p:cNvSpPr/>
          <p:nvPr/>
        </p:nvSpPr>
        <p:spPr>
          <a:xfrm>
            <a:off x="9784080" y="3354578"/>
            <a:ext cx="3642955"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Recommendation (C3)</a:t>
            </a:r>
          </a:p>
        </p:txBody>
      </p:sp>
      <p:sp>
        <p:nvSpPr>
          <p:cNvPr id="29" name="TextBox 28"/>
          <p:cNvSpPr txBox="1"/>
          <p:nvPr/>
        </p:nvSpPr>
        <p:spPr>
          <a:xfrm>
            <a:off x="9829800" y="4232402"/>
            <a:ext cx="6972300" cy="4801870"/>
          </a:xfrm>
          <a:prstGeom prst="rect">
            <a:avLst/>
          </a:prstGeom>
          <a:noFill/>
        </p:spPr>
        <p:txBody>
          <a:bodyPr anchor="t" rtlCol="false" lIns="0" tIns="0" rIns="0" bIns="0" wrap="square"/>
          <a:lstStyle/>
          <a:p>
            <a:pPr algn="l" marL="274320" indent="-274320">
              <a:lnSpc>
                <a:spcPts val="2800"/>
              </a:lnSpc>
              <a:spcBef>
                <a:spcPts val="0"/>
              </a:spcBef>
              <a:buClr>
                <a:srgbClr val="1F7A8C"/>
              </a:buClr>
              <a:buSzPct val="100000"/>
              <a:buFont typeface="Arial"/>
              <a:buChar char="•"/>
            </a:pPr>
            <a:r>
              <a:rPr lang="en-US" sz="2000" b="true">
                <a:solidFill>
                  <a:srgbClr val="111111"/>
                </a:solidFill>
                <a:latin typeface="Nunito Bold"/>
                <a:ea typeface="Nunito Bold"/>
                <a:cs typeface="Nunito Bold"/>
                <a:sym typeface="Nunito Bold"/>
              </a:rPr>
              <a:t>User-level, time-ordered split:</a:t>
            </a:r>
            <a:r>
              <a:rPr lang="en-US" sz="2000" b="true">
                <a:solidFill>
                  <a:srgbClr val="111111"/>
                </a:solidFill>
                <a:latin typeface="Nunito Semi-Bold"/>
                <a:ea typeface="Nunito Semi-Bold"/>
                <a:cs typeface="Nunito Semi-Bold"/>
                <a:sym typeface="Nunito Semi-Bold"/>
              </a:rPr>
              <a:t> 70 % train / 10 % validation / 20 % test.</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Bold"/>
                <a:ea typeface="Nunito Bold"/>
                <a:cs typeface="Nunito Bold"/>
                <a:sym typeface="Nunito Bold"/>
              </a:rPr>
              <a:t>Leave-one-out:</a:t>
            </a:r>
            <a:r>
              <a:rPr lang="en-US" sz="2000" b="true">
                <a:solidFill>
                  <a:srgbClr val="111111"/>
                </a:solidFill>
                <a:latin typeface="Nunito Semi-Bold"/>
                <a:ea typeface="Nunito Semi-Bold"/>
                <a:cs typeface="Nunito Semi-Bold"/>
                <a:sym typeface="Nunito Semi-Bold"/>
              </a:rPr>
              <a:t> the latest test positive per user is the target, ranked against negatives.</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Implicit conversion: MovieLens-1M ratings &gt; 3 treated as positive.</a:t>
            </a:r>
          </a:p>
          <a:p>
            <a:pPr algn="l" marL="274320" indent="-274320">
              <a:lnSpc>
                <a:spcPts val="296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Popularity-aware negative sampling </a:t>
            </a:r>
            <a:r>
              <a:rPr lang="en-US" sz="2000" b="true">
                <a:solidFill>
                  <a:srgbClr val="111111"/>
                </a:solidFill>
                <a:latin typeface="Nunito Bold"/>
                <a:ea typeface="Nunito Bold"/>
                <a:cs typeface="Nunito Bold"/>
                <a:sym typeface="Nunito Bold"/>
              </a:rPr>
              <a:t>q(i) </a:t>
            </a:r>
            <a:r>
              <a:rPr lang="en-US" sz="2000" b="true">
                <a:solidFill>
                  <a:srgbClr val="111111"/>
                </a:solidFill>
                <a:latin typeface="Cambria Math"/>
                <a:ea typeface="Cambria Math"/>
                <a:cs typeface="Cambria Math"/>
                <a:sym typeface="Cambria Math"/>
              </a:rPr>
              <a:t>∝ </a:t>
            </a:r>
            <a:r>
              <a:rPr lang="en-US" sz="2000" b="true">
                <a:solidFill>
                  <a:srgbClr val="111111"/>
                </a:solidFill>
                <a:latin typeface="Nunito Bold"/>
                <a:ea typeface="Nunito Bold"/>
                <a:cs typeface="Nunito Bold"/>
                <a:sym typeface="Nunito Bold"/>
              </a:rPr>
              <a:t>f</a:t>
            </a:r>
            <a:r>
              <a:rPr lang="en-US" sz="2000" b="true" baseline="-25000">
                <a:solidFill>
                  <a:srgbClr val="111111"/>
                </a:solidFill>
                <a:latin typeface="Nunito Bold"/>
                <a:ea typeface="Nunito Bold"/>
                <a:cs typeface="Nunito Bold"/>
                <a:sym typeface="Nunito Bold"/>
              </a:rPr>
              <a:t>i</a:t>
            </a:r>
            <a:r>
              <a:rPr lang="en-US" sz="2000" b="true" baseline="30000">
                <a:solidFill>
                  <a:srgbClr val="111111"/>
                </a:solidFill>
                <a:latin typeface="Calibri"/>
                <a:ea typeface="Calibri"/>
                <a:cs typeface="Calibri"/>
                <a:sym typeface="Calibri"/>
              </a:rPr>
              <a:t>η</a:t>
            </a:r>
            <a:r>
              <a:rPr lang="en-US" sz="2000" b="true">
                <a:solidFill>
                  <a:srgbClr val="111111"/>
                </a:solidFill>
                <a:latin typeface="Nunito Semi-Bold"/>
                <a:ea typeface="Nunito Semi-Bold"/>
                <a:cs typeface="Nunito Semi-Bold"/>
                <a:sym typeface="Nunito Semi-Bold"/>
              </a:rPr>
              <a:t> for harder negatives.</a:t>
            </a:r>
          </a:p>
          <a:p>
            <a:pPr algn="l" marL="274320" indent="-274320">
              <a:lnSpc>
                <a:spcPts val="2800"/>
              </a:lnSpc>
              <a:spcBef>
                <a:spcPts val="1000"/>
              </a:spcBef>
              <a:buClr>
                <a:srgbClr val="1F7A8C"/>
              </a:buClr>
              <a:buSzPct val="100000"/>
              <a:buFont typeface="Arial"/>
              <a:buChar char="•"/>
            </a:pPr>
            <a:r>
              <a:rPr lang="en-US" sz="2000" b="true">
                <a:solidFill>
                  <a:srgbClr val="111111"/>
                </a:solidFill>
                <a:latin typeface="Nunito Semi-Bold"/>
                <a:ea typeface="Nunito Semi-Bold"/>
                <a:cs typeface="Nunito Semi-Bold"/>
                <a:sym typeface="Nunito Semi-Bold"/>
              </a:rPr>
              <a:t>Reproducibility: seeds {42, 43, 44, 45, 46}; early-stopping patience 20.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020"/>
              </a:lnSpc>
              <a:spcBef>
                <a:spcPts val="0"/>
              </a:spcBef>
              <a:buNone/>
            </a:pPr>
            <a:r>
              <a:rPr lang="en-US" sz="850" b="true">
                <a:solidFill>
                  <a:srgbClr val="8A8378"/>
                </a:solidFill>
                <a:latin typeface="Nunito Semi-Bold"/>
                <a:ea typeface="Nunito Semi-Bold"/>
                <a:cs typeface="Nunito Semi-Bold"/>
                <a:sym typeface="Nunito Semi-Bold"/>
              </a:rPr>
              <a:t>[7] Ribeiro, M. T., Singh, S. &amp; Guestrin, C. "Why Should I Trust You?": Explaining the Predictions of Any Classifier (LIME). KDD, 1135–1144 (2016).   [10] Koren, Y., Bell, R. &amp; Volinsky, C. Matrix Factorization Techniques for Recommender Systems. Computer 42(8), 30–37 (2009).   [11] He, X. et al. Neural Collaborative Filtering. WWW, 173–182 (2017).   [12] He, X. et al. LightGCN: Simplifying and Powering Graph Convolution Network for Recommendation. SIGIR, 639–648 (2020).   [13] Xia, L. et al. Hypergraph Contrastive Collaborative Filtering (HCCF). SIGIR, 70–79 (2022).   [14] Xiangyi, Y. et al. Hypergraph Projection Enhanced Collaborative Filtering (HPCF). Int. J. Data Science and Analytics 19(2), 269–281 (2025).   [15] Zhang, D. et al. RecDCL: Dual Contrastive Learning for Recommendation. The Web Conference, 3655–3666 (2024).</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23</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Baselines</a:t>
            </a:r>
          </a:p>
        </p:txBody>
      </p:sp>
      <p:sp>
        <p:nvSpPr>
          <p:cNvPr id="21" name="Rounded Rectangle 20"/>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2" name="Rounded Rectangle 21"/>
          <p:cNvSpPr/>
          <p:nvPr/>
        </p:nvSpPr>
        <p:spPr>
          <a:xfrm>
            <a:off x="2680623" y="2559050"/>
            <a:ext cx="134943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Metrics</a:t>
            </a:r>
          </a:p>
        </p:txBody>
      </p:sp>
      <p:sp>
        <p:nvSpPr>
          <p:cNvPr id="23" name="Rounded Rectangle 22"/>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graphicFrame>
        <p:nvGraphicFramePr>
          <p:cNvPr id="24" name="Table 23"/>
          <p:cNvGraphicFramePr>
            <a:graphicFrameLocks noGrp="1"/>
          </p:cNvGraphicFramePr>
          <p:nvPr/>
        </p:nvGraphicFramePr>
        <p:xfrm>
          <a:off x="1028700" y="3363722"/>
          <a:ext cx="16230599" cy="4242816"/>
        </p:xfrm>
        <a:graphic>
          <a:graphicData uri="http://schemas.openxmlformats.org/drawingml/2006/table">
            <a:tbl>
              <a:tblPr firstRow="0" bandRow="0" firstCol="0" lastRow="0" lastCol="0" bandCol="0">
                <a:tableStyleId>{2D5ABB26-0587-4C30-8999-92F81FD0307C}</a:tableStyleId>
              </a:tblPr>
              <a:tblGrid>
                <a:gridCol w="2664725"/>
                <a:gridCol w="3875964"/>
                <a:gridCol w="7994176"/>
                <a:gridCol w="1695734"/>
              </a:tblGrid>
              <a:tr h="530352">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Family</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Baseline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represents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Used in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Explanation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LIME surrogate pipeline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Local surrogate explanation; the standard alternative to SHAP</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C1, C2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Classical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MF (BPR)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Matrix factorisation with pairwise ranking loss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Neural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Neural collaborative filtering (MLP on embeddings)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LightGCN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Simplified graph convolution on the user-item 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Graph + contrastive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RecDCL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Dual contrastive learning for recommendation (2024)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Hypergraph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HCCF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Hypergraph contrastive collaborative filtering (2022)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3035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Hypergraph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HPCF  (strongest reference)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Hypergraph projection enhanced collaborative filtering (2025)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C3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5" name="Rounded Rectangle 24"/>
          <p:cNvSpPr/>
          <p:nvPr/>
        </p:nvSpPr>
        <p:spPr>
          <a:xfrm>
            <a:off x="1028700" y="8155178"/>
            <a:ext cx="16230600" cy="1016254"/>
          </a:xfrm>
          <a:prstGeom prst="roundRect">
            <a:avLst>
              <a:gd name="adj" fmla="val 19795"/>
            </a:avLst>
          </a:prstGeom>
          <a:solidFill>
            <a:srgbClr val="F6ECDF"/>
          </a:solidFill>
          <a:ln w="25400">
            <a:solidFill>
              <a:srgbClr val="4472C4"/>
            </a:solidFill>
          </a:ln>
        </p:spPr>
        <p:txBody>
          <a:bodyPr anchor="ctr" rtlCol="false" lIns="0" tIns="0" rIns="0" bIns="0" wrap="square"/>
          <a:lstStyle/>
          <a:p>
            <a:endParaRPr lang="en-US" sz="1800"/>
          </a:p>
        </p:txBody>
      </p:sp>
      <p:sp>
        <p:nvSpPr>
          <p:cNvPr id="26" name="Rounded Rectangle 25"/>
          <p:cNvSpPr/>
          <p:nvPr/>
        </p:nvSpPr>
        <p:spPr>
          <a:xfrm>
            <a:off x="1348740" y="7963154"/>
            <a:ext cx="1867571"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WHY THIS SET</a:t>
            </a:r>
          </a:p>
        </p:txBody>
      </p:sp>
      <p:sp>
        <p:nvSpPr>
          <p:cNvPr id="27" name="TextBox 26"/>
          <p:cNvSpPr txBox="1"/>
          <p:nvPr/>
        </p:nvSpPr>
        <p:spPr>
          <a:xfrm>
            <a:off x="1394460" y="8429498"/>
            <a:ext cx="15499080" cy="604774"/>
          </a:xfrm>
          <a:prstGeom prst="rect">
            <a:avLst/>
          </a:prstGeom>
          <a:noFill/>
        </p:spPr>
        <p:txBody>
          <a:bodyPr anchor="ctr" rtlCol="false" lIns="0" tIns="0" rIns="0" bIns="0" wrap="square"/>
          <a:lstStyle/>
          <a:p>
            <a:pPr algn="l">
              <a:lnSpc>
                <a:spcPts val="2261"/>
              </a:lnSpc>
              <a:spcBef>
                <a:spcPts val="0"/>
              </a:spcBef>
              <a:buNone/>
            </a:pPr>
            <a:r>
              <a:rPr lang="en-US" sz="1615" b="true">
                <a:solidFill>
                  <a:srgbClr val="111111"/>
                </a:solidFill>
                <a:latin typeface="Nunito Semi-Bold"/>
                <a:ea typeface="Nunito Semi-Bold"/>
                <a:cs typeface="Nunito Semi-Bold"/>
                <a:sym typeface="Nunito Semi-Bold"/>
              </a:rPr>
              <a:t>Classical, neural, graph and hypergraph families together, so the effect of </a:t>
            </a:r>
            <a:r>
              <a:rPr lang="en-US" sz="1615" b="true">
                <a:solidFill>
                  <a:srgbClr val="111111"/>
                </a:solidFill>
                <a:latin typeface="Nunito Bold"/>
                <a:ea typeface="Nunito Bold"/>
                <a:cs typeface="Nunito Bold"/>
                <a:sym typeface="Nunito Bold"/>
              </a:rPr>
              <a:t>cooperative attribution</a:t>
            </a:r>
            <a:r>
              <a:rPr lang="en-US" sz="1615" b="true">
                <a:solidFill>
                  <a:srgbClr val="111111"/>
                </a:solidFill>
                <a:latin typeface="Nunito Semi-Bold"/>
                <a:ea typeface="Nunito Semi-Bold"/>
                <a:cs typeface="Nunito Semi-Bold"/>
                <a:sym typeface="Nunito Semi-Bold"/>
              </a:rPr>
              <a:t> is not confused with a lucky model choice. HPCF is the strongest reference; all baselines were finalised in early 2026.</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[17] Rousseeuw, P. J. Silhouettes: A Graphical Aid to the Interpretation and Validation of Cluster Analysis. J. Comput. Appl. Math. 20, 53–65 (1987).   [23] Zhu, Z. et al. Popularity Bias in Dynamic Recommendation. KDD, 2439–2449 (2021).  ·  Hurley, N. &amp; Zhang, M. Novelty and Diversity in Top-N Recommendation. ACM TOIT 10(4) (2011).</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24</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Metrics</a:t>
            </a:r>
          </a:p>
        </p:txBody>
      </p:sp>
      <p:sp>
        <p:nvSpPr>
          <p:cNvPr id="21" name="Rounded Rectangle 20"/>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2" name="Rounded Rectangle 21"/>
          <p:cNvSpPr/>
          <p:nvPr/>
        </p:nvSpPr>
        <p:spPr>
          <a:xfrm>
            <a:off x="2680623" y="2559050"/>
            <a:ext cx="1349432"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Metrics</a:t>
            </a:r>
          </a:p>
        </p:txBody>
      </p:sp>
      <p:sp>
        <p:nvSpPr>
          <p:cNvPr id="23" name="Rounded Rectangle 22"/>
          <p:cNvSpPr/>
          <p:nvPr/>
        </p:nvSpPr>
        <p:spPr>
          <a:xfrm>
            <a:off x="4158071" y="2559050"/>
            <a:ext cx="164257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Hardware</a:t>
            </a:r>
          </a:p>
        </p:txBody>
      </p:sp>
      <p:sp>
        <p:nvSpPr>
          <p:cNvPr id="24" name="Rectangle 23"/>
          <p:cNvSpPr/>
          <p:nvPr/>
        </p:nvSpPr>
        <p:spPr>
          <a:xfrm>
            <a:off x="1028700" y="3363722"/>
            <a:ext cx="16230600" cy="384048"/>
          </a:xfrm>
          <a:prstGeom prst="rect">
            <a:avLst/>
          </a:prstGeom>
          <a:solidFill>
            <a:srgbClr val="4472C4"/>
          </a:solidFill>
          <a:ln>
            <a:noFill/>
          </a:ln>
        </p:spPr>
        <p:txBody>
          <a:bodyPr anchor="ctr" rtlCol="false" lIns="0" tIns="0" rIns="0" bIns="0" wrap="square"/>
          <a:lstStyle/>
          <a:p>
            <a:endParaRPr lang="en-US" sz="1800"/>
          </a:p>
        </p:txBody>
      </p:sp>
      <p:sp>
        <p:nvSpPr>
          <p:cNvPr id="25" name="TextBox 24"/>
          <p:cNvSpPr txBox="1"/>
          <p:nvPr/>
        </p:nvSpPr>
        <p:spPr>
          <a:xfrm>
            <a:off x="1165860" y="3363722"/>
            <a:ext cx="237744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Metric</a:t>
            </a:r>
          </a:p>
        </p:txBody>
      </p:sp>
      <p:sp>
        <p:nvSpPr>
          <p:cNvPr id="26" name="TextBox 25"/>
          <p:cNvSpPr txBox="1"/>
          <p:nvPr/>
        </p:nvSpPr>
        <p:spPr>
          <a:xfrm>
            <a:off x="3817620" y="3363722"/>
            <a:ext cx="621792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Formula</a:t>
            </a:r>
          </a:p>
        </p:txBody>
      </p:sp>
      <p:sp>
        <p:nvSpPr>
          <p:cNvPr id="27" name="TextBox 26"/>
          <p:cNvSpPr txBox="1"/>
          <p:nvPr/>
        </p:nvSpPr>
        <p:spPr>
          <a:xfrm>
            <a:off x="10309860" y="3363722"/>
            <a:ext cx="6812280" cy="384048"/>
          </a:xfrm>
          <a:prstGeom prst="rect">
            <a:avLst/>
          </a:prstGeom>
          <a:noFill/>
        </p:spPr>
        <p:txBody>
          <a:bodyPr anchor="ctr" rtlCol="false" lIns="0" tIns="0" rIns="0" bIns="0" wrap="square"/>
          <a:lstStyle/>
          <a:p>
            <a:pPr algn="l">
              <a:lnSpc>
                <a:spcPts val="1800"/>
              </a:lnSpc>
              <a:spcBef>
                <a:spcPts val="0"/>
              </a:spcBef>
              <a:buNone/>
            </a:pPr>
            <a:r>
              <a:rPr lang="en-US" sz="1500" b="true">
                <a:solidFill>
                  <a:srgbClr val="FFFFFF"/>
                </a:solidFill>
                <a:latin typeface="Nunito Bold"/>
                <a:ea typeface="Nunito Bold"/>
                <a:cs typeface="Nunito Bold"/>
                <a:sym typeface="Nunito Bold"/>
              </a:rPr>
              <a:t>Why it is used</a:t>
            </a:r>
          </a:p>
        </p:txBody>
      </p:sp>
      <p:sp>
        <p:nvSpPr>
          <p:cNvPr id="28" name="Rectangle 27"/>
          <p:cNvSpPr/>
          <p:nvPr/>
        </p:nvSpPr>
        <p:spPr>
          <a:xfrm>
            <a:off x="1028700" y="3747770"/>
            <a:ext cx="16230600" cy="739539"/>
          </a:xfrm>
          <a:prstGeom prst="rect">
            <a:avLst/>
          </a:prstGeom>
          <a:solidFill>
            <a:srgbClr val="FFFFFF"/>
          </a:solidFill>
          <a:ln>
            <a:noFill/>
          </a:ln>
        </p:spPr>
        <p:txBody>
          <a:bodyPr anchor="ctr" rtlCol="false" lIns="0" tIns="0" rIns="0" bIns="0" wrap="square"/>
          <a:lstStyle/>
          <a:p>
            <a:endParaRPr lang="en-US" sz="1800"/>
          </a:p>
        </p:txBody>
      </p:sp>
      <p:sp>
        <p:nvSpPr>
          <p:cNvPr id="29" name="TextBox 28"/>
          <p:cNvSpPr txBox="1"/>
          <p:nvPr/>
        </p:nvSpPr>
        <p:spPr>
          <a:xfrm>
            <a:off x="1165860" y="3747770"/>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NDCG@K  (main)</a:t>
            </a:r>
          </a:p>
        </p:txBody>
      </p:sp>
      <mc:AlternateContent xmlns:mc="http://schemas.openxmlformats.org/markup-compatibility/2006">
        <mc:Choice xmlns:a14="http://schemas.microsoft.com/office/drawing/2010/main" Requires="a14">
          <p:sp>
            <p:nvSpPr>
              <p:cNvPr id="30" name="Equation"/>
              <p:cNvSpPr txBox="1"/>
              <p:nvPr/>
            </p:nvSpPr>
            <p:spPr>
              <a:xfrm>
                <a:off x="3771900" y="3775202"/>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150">
                          <a:solidFill>
                            <a:srgbClr val="111111"/>
                          </a:solidFill>
                          <a:latin typeface="Cambria Math" panose="02040503050406030204" pitchFamily="18" charset="0"/>
                        </a:rPr>
                        <m:t xml:space="preserve">NDCG@</m:t>
                      </m:r>
                      <m:r>
                        <a:rPr lang="en-US" sz="1150" i="1">
                          <a:solidFill>
                            <a:srgbClr val="111111"/>
                          </a:solidFill>
                          <a:latin typeface="Cambria Math" panose="02040503050406030204" pitchFamily="18" charset="0"/>
                        </a:rPr>
                        <m:t xml:space="preserve">K</m:t>
                      </m:r>
                      <m:r>
                        <m:rPr>
                          <m:sty m:val="p"/>
                        </m:rPr>
                        <a:rPr lang="en-US" sz="1150">
                          <a:solidFill>
                            <a:srgbClr val="111111"/>
                          </a:solidFill>
                          <a:latin typeface="Cambria Math" panose="02040503050406030204" pitchFamily="18" charset="0"/>
                        </a:rPr>
                        <m:t xml:space="preserve">=</m:t>
                      </m:r>
                      <m:f>
                        <m:fPr>
                          <m:ctrlPr>
                            <a:rPr lang="en-US" sz="1150" i="1">
                              <a:solidFill>
                                <a:srgbClr val="111111"/>
                              </a:solidFill>
                              <a:latin typeface="Cambria Math" panose="02040503050406030204" pitchFamily="18" charset="0"/>
                            </a:rPr>
                          </m:ctrlPr>
                        </m:fPr>
                        <m:num>
                          <m:r>
                            <m:rPr>
                              <m:sty m:val="p"/>
                            </m:rPr>
                            <a:rPr lang="en-US" sz="1150">
                              <a:solidFill>
                                <a:srgbClr val="111111"/>
                              </a:solidFill>
                              <a:latin typeface="Cambria Math" panose="02040503050406030204" pitchFamily="18" charset="0"/>
                            </a:rPr>
                            <m:t xml:space="preserve">1</m:t>
                          </m:r>
                        </m:num>
                        <m:den>
                          <m:r>
                            <m:rPr>
                              <m:sty m:val="p"/>
                            </m:rPr>
                            <a:rPr lang="en-US" sz="1150">
                              <a:solidFill>
                                <a:srgbClr val="111111"/>
                              </a:solidFill>
                              <a:latin typeface="Cambria Math" panose="02040503050406030204" pitchFamily="18" charset="0"/>
                            </a:rPr>
                            <m:t xml:space="preserve">IDCG@</m:t>
                          </m:r>
                          <m:r>
                            <a:rPr lang="en-US" sz="1150" i="1">
                              <a:solidFill>
                                <a:srgbClr val="111111"/>
                              </a:solidFill>
                              <a:latin typeface="Cambria Math" panose="02040503050406030204" pitchFamily="18" charset="0"/>
                            </a:rPr>
                            <m:t xml:space="preserve">K</m:t>
                          </m:r>
                        </m:den>
                      </m:f>
                      <m:r>
                        <m:rPr>
                          <m:sty m:val="p"/>
                        </m:rPr>
                        <a:rPr lang="en-US" sz="1150">
                          <a:solidFill>
                            <a:srgbClr val="111111"/>
                          </a:solidFill>
                          <a:latin typeface="Cambria Math" panose="02040503050406030204" pitchFamily="18" charset="0"/>
                        </a:rPr>
                        <m:t xml:space="preserve"> </m:t>
                      </m:r>
                      <m:nary>
                        <m:naryPr>
                          <m:chr m:val="∑"/>
                          <m:limLoc m:val="subSup"/>
                          <m:ctrlPr>
                            <a:rPr lang="en-US" sz="1150" i="1">
                              <a:solidFill>
                                <a:srgbClr val="111111"/>
                              </a:solidFill>
                              <a:latin typeface="Cambria Math" panose="02040503050406030204" pitchFamily="18" charset="0"/>
                            </a:rPr>
                          </m:ctrlPr>
                        </m:naryPr>
                        <m:sub>
                          <m:r>
                            <a:rPr lang="en-US" sz="1150" i="1">
                              <a:solidFill>
                                <a:srgbClr val="111111"/>
                              </a:solidFill>
                              <a:latin typeface="Cambria Math" panose="02040503050406030204" pitchFamily="18" charset="0"/>
                            </a:rPr>
                            <m:t xml:space="preserve">i</m:t>
                          </m:r>
                          <m:r>
                            <m:rPr>
                              <m:sty m:val="p"/>
                            </m:rPr>
                            <a:rPr lang="en-US" sz="1150">
                              <a:solidFill>
                                <a:srgbClr val="111111"/>
                              </a:solidFill>
                              <a:latin typeface="Cambria Math" panose="02040503050406030204" pitchFamily="18" charset="0"/>
                            </a:rPr>
                            <m:t xml:space="preserve">=1</m:t>
                          </m:r>
                        </m:sub>
                        <m:sup>
                          <m:r>
                            <a:rPr lang="en-US" sz="1150" i="1">
                              <a:solidFill>
                                <a:srgbClr val="111111"/>
                              </a:solidFill>
                              <a:latin typeface="Cambria Math" panose="02040503050406030204" pitchFamily="18" charset="0"/>
                            </a:rPr>
                            <m:t xml:space="preserve">K</m:t>
                          </m:r>
                        </m:sup>
                        <m:e>
                          <m:f>
                            <m:fPr>
                              <m:ctrlPr>
                                <a:rPr lang="en-US" sz="1150" i="1">
                                  <a:solidFill>
                                    <a:srgbClr val="111111"/>
                                  </a:solidFill>
                                  <a:latin typeface="Cambria Math" panose="02040503050406030204" pitchFamily="18" charset="0"/>
                                </a:rPr>
                              </m:ctrlPr>
                            </m:fPr>
                            <m:num>
                              <m:sSub>
                                <m:sSubPr>
                                  <m:ctrlPr>
                                    <a:rPr lang="en-US" sz="1150" i="1">
                                      <a:solidFill>
                                        <a:srgbClr val="111111"/>
                                      </a:solidFill>
                                      <a:latin typeface="Cambria Math" panose="02040503050406030204" pitchFamily="18" charset="0"/>
                                    </a:rPr>
                                  </m:ctrlPr>
                                </m:sSubPr>
                                <m:e>
                                  <m:r>
                                    <m:rPr>
                                      <m:sty m:val="p"/>
                                    </m:rPr>
                                    <a:rPr lang="en-US" sz="1150">
                                      <a:solidFill>
                                        <a:srgbClr val="111111"/>
                                      </a:solidFill>
                                      <a:latin typeface="Cambria Math" panose="02040503050406030204" pitchFamily="18" charset="0"/>
                                    </a:rPr>
                                    <m:t xml:space="preserve">rel</m:t>
                                  </m:r>
                                </m:e>
                                <m:sub>
                                  <m:r>
                                    <a:rPr lang="en-US" sz="1150" i="1">
                                      <a:solidFill>
                                        <a:srgbClr val="111111"/>
                                      </a:solidFill>
                                      <a:latin typeface="Cambria Math" panose="02040503050406030204" pitchFamily="18" charset="0"/>
                                    </a:rPr>
                                    <m:t xml:space="preserve">i</m:t>
                                  </m:r>
                                </m:sub>
                              </m:sSub>
                            </m:num>
                            <m:den>
                              <m:sSub>
                                <m:sSubPr>
                                  <m:ctrlPr>
                                    <a:rPr lang="en-US" sz="1150" i="1">
                                      <a:solidFill>
                                        <a:srgbClr val="111111"/>
                                      </a:solidFill>
                                      <a:latin typeface="Cambria Math" panose="02040503050406030204" pitchFamily="18" charset="0"/>
                                    </a:rPr>
                                  </m:ctrlPr>
                                </m:sSubPr>
                                <m:e>
                                  <m:r>
                                    <m:rPr>
                                      <m:sty m:val="p"/>
                                    </m:rPr>
                                    <a:rPr lang="en-US" sz="1150">
                                      <a:solidFill>
                                        <a:srgbClr val="111111"/>
                                      </a:solidFill>
                                      <a:latin typeface="Cambria Math" panose="02040503050406030204" pitchFamily="18" charset="0"/>
                                    </a:rPr>
                                    <m:t xml:space="preserve">log</m:t>
                                  </m:r>
                                </m:e>
                                <m:sub>
                                  <m:r>
                                    <m:rPr>
                                      <m:sty m:val="p"/>
                                    </m:rPr>
                                    <a:rPr lang="en-US" sz="1150">
                                      <a:solidFill>
                                        <a:srgbClr val="111111"/>
                                      </a:solidFill>
                                      <a:latin typeface="Cambria Math" panose="02040503050406030204" pitchFamily="18" charset="0"/>
                                    </a:rPr>
                                    <m:t xml:space="preserve">2</m:t>
                                  </m:r>
                                </m:sub>
                              </m:sSub>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i</m:t>
                              </m:r>
                              <m:r>
                                <m:rPr>
                                  <m:sty m:val="p"/>
                                </m:rPr>
                                <a:rPr lang="en-US" sz="1150">
                                  <a:solidFill>
                                    <a:srgbClr val="111111"/>
                                  </a:solidFill>
                                  <a:latin typeface="Cambria Math" panose="02040503050406030204" pitchFamily="18" charset="0"/>
                                </a:rPr>
                                <m:t xml:space="preserve">+1)</m:t>
                              </m:r>
                            </m:den>
                          </m:f>
                        </m:e>
                      </m:nary>
                    </m:oMath>
                  </m:oMathPara>
                </a14:m>
                <a:endParaRPr lang="en-US" sz="1150"/>
              </a:p>
            </p:txBody>
          </p:sp>
        </mc:Choice>
        <mc:Fallback>
          <p:sp>
            <p:nvSpPr>
              <p:cNvPr id="30" name="Equation"/>
              <p:cNvSpPr txBox="1"/>
              <p:nvPr/>
            </p:nvSpPr>
            <p:spPr>
              <a:xfrm>
                <a:off x="3771900" y="3775202"/>
                <a:ext cx="6309360" cy="684675"/>
              </a:xfrm>
              <a:prstGeom prst="rect">
                <a:avLst/>
              </a:prstGeom>
              <a:blipFill>
                <a:blip r:embed="rId4"/>
                <a:stretch>
                  <a:fillRect/>
                </a:stretch>
              </a:blipFill>
            </p:spPr>
            <p:txBody>
              <a:bodyPr/>
              <a:lstStyle/>
              <a:p>
                <a:endParaRPr lang="en-US"/>
              </a:p>
            </p:txBody>
          </p:sp>
        </mc:Fallback>
      </mc:AlternateContent>
      <p:sp>
        <p:nvSpPr>
          <p:cNvPr id="31" name="TextBox 30"/>
          <p:cNvSpPr txBox="1"/>
          <p:nvPr/>
        </p:nvSpPr>
        <p:spPr>
          <a:xfrm>
            <a:off x="10309860" y="3747770"/>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Ranking quality; rewards relevant items placed near the top of the list.</a:t>
            </a:r>
          </a:p>
        </p:txBody>
      </p:sp>
      <p:cxnSp>
        <p:nvCxnSpPr>
          <p:cNvPr id="32" name="Connector 31"/>
          <p:cNvCxnSpPr/>
          <p:nvPr/>
        </p:nvCxnSpPr>
        <p:spPr>
          <a:xfrm>
            <a:off x="1028700" y="4487309"/>
            <a:ext cx="16230600" cy="0"/>
          </a:xfrm>
          <a:prstGeom prst="line">
            <a:avLst/>
          </a:prstGeom>
          <a:ln w="12700">
            <a:solidFill>
              <a:srgbClr val="E3D6C4"/>
            </a:solidFill>
          </a:ln>
        </p:spPr>
      </p:cxnSp>
      <p:sp>
        <p:nvSpPr>
          <p:cNvPr id="33" name="Rectangle 32"/>
          <p:cNvSpPr/>
          <p:nvPr/>
        </p:nvSpPr>
        <p:spPr>
          <a:xfrm>
            <a:off x="1028700" y="4487309"/>
            <a:ext cx="16230600" cy="739539"/>
          </a:xfrm>
          <a:prstGeom prst="rect">
            <a:avLst/>
          </a:prstGeom>
          <a:solidFill>
            <a:srgbClr val="F6ECDF"/>
          </a:solidFill>
          <a:ln>
            <a:noFill/>
          </a:ln>
        </p:spPr>
        <p:txBody>
          <a:bodyPr anchor="ctr" rtlCol="false" lIns="0" tIns="0" rIns="0" bIns="0" wrap="square"/>
          <a:lstStyle/>
          <a:p>
            <a:endParaRPr lang="en-US" sz="1800"/>
          </a:p>
        </p:txBody>
      </p:sp>
      <p:sp>
        <p:nvSpPr>
          <p:cNvPr id="34" name="TextBox 33"/>
          <p:cNvSpPr txBox="1"/>
          <p:nvPr/>
        </p:nvSpPr>
        <p:spPr>
          <a:xfrm>
            <a:off x="1165860" y="4487309"/>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Recall@K</a:t>
            </a:r>
          </a:p>
        </p:txBody>
      </p:sp>
      <mc:AlternateContent xmlns:mc="http://schemas.openxmlformats.org/markup-compatibility/2006">
        <mc:Choice xmlns:a14="http://schemas.microsoft.com/office/drawing/2010/main" Requires="a14">
          <p:sp>
            <p:nvSpPr>
              <p:cNvPr id="35" name="Equation"/>
              <p:cNvSpPr txBox="1"/>
              <p:nvPr/>
            </p:nvSpPr>
            <p:spPr>
              <a:xfrm>
                <a:off x="3771900" y="4514741"/>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100">
                          <a:solidFill>
                            <a:srgbClr val="111111"/>
                          </a:solidFill>
                          <a:latin typeface="Cambria Math" panose="02040503050406030204" pitchFamily="18" charset="0"/>
                        </a:rPr>
                        <m:t xml:space="preserve">Recall@</m:t>
                      </m:r>
                      <m:r>
                        <a:rPr lang="en-US" sz="1100" i="1">
                          <a:solidFill>
                            <a:srgbClr val="111111"/>
                          </a:solidFill>
                          <a:latin typeface="Cambria Math" panose="02040503050406030204" pitchFamily="18" charset="0"/>
                        </a:rPr>
                        <m:t xml:space="preserve">K</m:t>
                      </m:r>
                      <m:r>
                        <m:rPr>
                          <m:sty m:val="p"/>
                        </m:rPr>
                        <a:rPr lang="en-US" sz="1100">
                          <a:solidFill>
                            <a:srgbClr val="111111"/>
                          </a:solidFill>
                          <a:latin typeface="Cambria Math" panose="02040503050406030204" pitchFamily="18" charset="0"/>
                        </a:rPr>
                        <m:t xml:space="preserve">=</m:t>
                      </m:r>
                      <m:f>
                        <m:fPr>
                          <m:ctrlPr>
                            <a:rPr lang="en-US" sz="1100" i="1">
                              <a:solidFill>
                                <a:srgbClr val="111111"/>
                              </a:solidFill>
                              <a:latin typeface="Cambria Math" panose="02040503050406030204" pitchFamily="18" charset="0"/>
                            </a:rPr>
                          </m:ctrlPr>
                        </m:fPr>
                        <m:num>
                          <m:r>
                            <m:rPr>
                              <m:sty m:val="p"/>
                            </m:rPr>
                            <a:rPr lang="en-US" sz="1100">
                              <a:solidFill>
                                <a:srgbClr val="111111"/>
                              </a:solidFill>
                              <a:latin typeface="Cambria Math" panose="02040503050406030204" pitchFamily="18" charset="0"/>
                            </a:rPr>
                            <m:t xml:space="preserve">| </m:t>
                          </m:r>
                          <m:sSubSup>
                            <m:sSubSupPr>
                              <m:ctrlPr>
                                <a:rPr lang="en-US" sz="1100" i="1">
                                  <a:solidFill>
                                    <a:srgbClr val="111111"/>
                                  </a:solidFill>
                                  <a:latin typeface="Cambria Math" panose="02040503050406030204" pitchFamily="18" charset="0"/>
                                </a:rPr>
                              </m:ctrlPr>
                            </m:sSubSupPr>
                            <m:e>
                              <m:r>
                                <a:rPr lang="en-US" sz="1100" i="1">
                                  <a:solidFill>
                                    <a:srgbClr val="111111"/>
                                  </a:solidFill>
                                  <a:latin typeface="Cambria Math" panose="02040503050406030204" pitchFamily="18" charset="0"/>
                                </a:rPr>
                                <m:t xml:space="preserve">L</m:t>
                              </m:r>
                            </m:e>
                            <m:sub>
                              <m:r>
                                <a:rPr lang="en-US" sz="1100" i="1">
                                  <a:solidFill>
                                    <a:srgbClr val="111111"/>
                                  </a:solidFill>
                                  <a:latin typeface="Cambria Math" panose="02040503050406030204" pitchFamily="18" charset="0"/>
                                </a:rPr>
                                <m:t xml:space="preserve">u</m:t>
                              </m:r>
                            </m:sub>
                            <m:sup>
                              <m:r>
                                <a:rPr lang="en-US" sz="1100" i="1">
                                  <a:solidFill>
                                    <a:srgbClr val="111111"/>
                                  </a:solidFill>
                                  <a:latin typeface="Cambria Math" panose="02040503050406030204" pitchFamily="18" charset="0"/>
                                </a:rPr>
                                <m:t xml:space="preserve">K</m:t>
                              </m:r>
                            </m:sup>
                          </m:sSubSup>
                          <m:r>
                            <m:rPr>
                              <m:sty m:val="p"/>
                            </m:rPr>
                            <a:rPr lang="en-US" sz="1100">
                              <a:solidFill>
                                <a:srgbClr val="111111"/>
                              </a:solidFill>
                              <a:latin typeface="Cambria Math" panose="02040503050406030204" pitchFamily="18" charset="0"/>
                            </a:rPr>
                            <m:t xml:space="preserve">∩</m:t>
                          </m:r>
                          <m:sSub>
                            <m:sSubPr>
                              <m:ctrlPr>
                                <a:rPr lang="en-US" sz="1100" i="1">
                                  <a:solidFill>
                                    <a:srgbClr val="111111"/>
                                  </a:solidFill>
                                  <a:latin typeface="Cambria Math" panose="02040503050406030204" pitchFamily="18" charset="0"/>
                                </a:rPr>
                              </m:ctrlPr>
                            </m:sSubPr>
                            <m:e>
                              <m:r>
                                <m:rPr>
                                  <m:scr m:val="script"/>
                                  <m:sty m:val="p"/>
                                </m:rPr>
                                <a:rPr lang="en-US" sz="1100">
                                  <a:solidFill>
                                    <a:srgbClr val="111111"/>
                                  </a:solidFill>
                                  <a:latin typeface="Cambria Math" panose="02040503050406030204" pitchFamily="18" charset="0"/>
                                </a:rPr>
                                <m:t xml:space="preserve">R</m:t>
                              </m:r>
                            </m:e>
                            <m:sub>
                              <m:r>
                                <a:rPr lang="en-US" sz="1100" i="1">
                                  <a:solidFill>
                                    <a:srgbClr val="111111"/>
                                  </a:solidFill>
                                  <a:latin typeface="Cambria Math" panose="02040503050406030204" pitchFamily="18" charset="0"/>
                                </a:rPr>
                                <m:t xml:space="preserve">u</m:t>
                              </m:r>
                            </m:sub>
                          </m:sSub>
                          <m:r>
                            <m:rPr>
                              <m:sty m:val="p"/>
                            </m:rPr>
                            <a:rPr lang="en-US" sz="1100">
                              <a:solidFill>
                                <a:srgbClr val="111111"/>
                              </a:solidFill>
                              <a:latin typeface="Cambria Math" panose="02040503050406030204" pitchFamily="18" charset="0"/>
                            </a:rPr>
                            <m:t xml:space="preserve"> |</m:t>
                          </m:r>
                        </m:num>
                        <m:den>
                          <m:r>
                            <m:rPr>
                              <m:sty m:val="p"/>
                            </m:rPr>
                            <a:rPr lang="en-US" sz="1100">
                              <a:solidFill>
                                <a:srgbClr val="111111"/>
                              </a:solidFill>
                              <a:latin typeface="Cambria Math" panose="02040503050406030204" pitchFamily="18" charset="0"/>
                            </a:rPr>
                            <m:t xml:space="preserve">| </m:t>
                          </m:r>
                          <m:sSub>
                            <m:sSubPr>
                              <m:ctrlPr>
                                <a:rPr lang="en-US" sz="1100" i="1">
                                  <a:solidFill>
                                    <a:srgbClr val="111111"/>
                                  </a:solidFill>
                                  <a:latin typeface="Cambria Math" panose="02040503050406030204" pitchFamily="18" charset="0"/>
                                </a:rPr>
                              </m:ctrlPr>
                            </m:sSubPr>
                            <m:e>
                              <m:r>
                                <m:rPr>
                                  <m:scr m:val="script"/>
                                  <m:sty m:val="p"/>
                                </m:rPr>
                                <a:rPr lang="en-US" sz="1100">
                                  <a:solidFill>
                                    <a:srgbClr val="111111"/>
                                  </a:solidFill>
                                  <a:latin typeface="Cambria Math" panose="02040503050406030204" pitchFamily="18" charset="0"/>
                                </a:rPr>
                                <m:t xml:space="preserve">R</m:t>
                              </m:r>
                            </m:e>
                            <m:sub>
                              <m:r>
                                <a:rPr lang="en-US" sz="1100" i="1">
                                  <a:solidFill>
                                    <a:srgbClr val="111111"/>
                                  </a:solidFill>
                                  <a:latin typeface="Cambria Math" panose="02040503050406030204" pitchFamily="18" charset="0"/>
                                </a:rPr>
                                <m:t xml:space="preserve">u</m:t>
                              </m:r>
                            </m:sub>
                          </m:sSub>
                          <m:r>
                            <m:rPr>
                              <m:sty m:val="p"/>
                            </m:rPr>
                            <a:rPr lang="en-US" sz="1100">
                              <a:solidFill>
                                <a:srgbClr val="111111"/>
                              </a:solidFill>
                              <a:latin typeface="Cambria Math" panose="02040503050406030204" pitchFamily="18" charset="0"/>
                            </a:rPr>
                            <m:t xml:space="preserve"> |</m:t>
                          </m:r>
                        </m:den>
                      </m:f>
                    </m:oMath>
                  </m:oMathPara>
                </a14:m>
                <a:endParaRPr lang="en-US" sz="1100"/>
              </a:p>
            </p:txBody>
          </p:sp>
        </mc:Choice>
        <mc:Fallback>
          <p:sp>
            <p:nvSpPr>
              <p:cNvPr id="35" name="Equation"/>
              <p:cNvSpPr txBox="1"/>
              <p:nvPr/>
            </p:nvSpPr>
            <p:spPr>
              <a:xfrm>
                <a:off x="3771900" y="4514741"/>
                <a:ext cx="6309360" cy="684675"/>
              </a:xfrm>
              <a:prstGeom prst="rect">
                <a:avLst/>
              </a:prstGeom>
              <a:blipFill>
                <a:blip r:embed="rId5"/>
                <a:stretch>
                  <a:fillRect/>
                </a:stretch>
              </a:blipFill>
            </p:spPr>
            <p:txBody>
              <a:bodyPr/>
              <a:lstStyle/>
              <a:p>
                <a:endParaRPr lang="en-US"/>
              </a:p>
            </p:txBody>
          </p:sp>
        </mc:Fallback>
      </mc:AlternateContent>
      <p:sp>
        <p:nvSpPr>
          <p:cNvPr id="36" name="TextBox 35"/>
          <p:cNvSpPr txBox="1"/>
          <p:nvPr/>
        </p:nvSpPr>
        <p:spPr>
          <a:xfrm>
            <a:off x="10309860" y="4487309"/>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Share of the user's relevant items that appear in the top-K list.</a:t>
            </a:r>
          </a:p>
        </p:txBody>
      </p:sp>
      <p:cxnSp>
        <p:nvCxnSpPr>
          <p:cNvPr id="37" name="Connector 36"/>
          <p:cNvCxnSpPr/>
          <p:nvPr/>
        </p:nvCxnSpPr>
        <p:spPr>
          <a:xfrm>
            <a:off x="1028700" y="5226848"/>
            <a:ext cx="16230600" cy="0"/>
          </a:xfrm>
          <a:prstGeom prst="line">
            <a:avLst/>
          </a:prstGeom>
          <a:ln w="12700">
            <a:solidFill>
              <a:srgbClr val="E3D6C4"/>
            </a:solidFill>
          </a:ln>
        </p:spPr>
      </p:cxnSp>
      <p:sp>
        <p:nvSpPr>
          <p:cNvPr id="38" name="Rectangle 37"/>
          <p:cNvSpPr/>
          <p:nvPr/>
        </p:nvSpPr>
        <p:spPr>
          <a:xfrm>
            <a:off x="1028700" y="5226848"/>
            <a:ext cx="16230600" cy="739539"/>
          </a:xfrm>
          <a:prstGeom prst="rect">
            <a:avLst/>
          </a:prstGeom>
          <a:solidFill>
            <a:srgbClr val="FFFFFF"/>
          </a:solidFill>
          <a:ln>
            <a:noFill/>
          </a:ln>
        </p:spPr>
        <p:txBody>
          <a:bodyPr anchor="ctr" rtlCol="false" lIns="0" tIns="0" rIns="0" bIns="0" wrap="square"/>
          <a:lstStyle/>
          <a:p>
            <a:endParaRPr lang="en-US" sz="1800"/>
          </a:p>
        </p:txBody>
      </p:sp>
      <p:sp>
        <p:nvSpPr>
          <p:cNvPr id="39" name="TextBox 38"/>
          <p:cNvSpPr txBox="1"/>
          <p:nvPr/>
        </p:nvSpPr>
        <p:spPr>
          <a:xfrm>
            <a:off x="1165860" y="5226848"/>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Precision@K</a:t>
            </a:r>
          </a:p>
        </p:txBody>
      </p:sp>
      <mc:AlternateContent xmlns:mc="http://schemas.openxmlformats.org/markup-compatibility/2006">
        <mc:Choice xmlns:a14="http://schemas.microsoft.com/office/drawing/2010/main" Requires="a14">
          <p:sp>
            <p:nvSpPr>
              <p:cNvPr id="40" name="Equation"/>
              <p:cNvSpPr txBox="1"/>
              <p:nvPr/>
            </p:nvSpPr>
            <p:spPr>
              <a:xfrm>
                <a:off x="3771900" y="5254280"/>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250">
                          <a:solidFill>
                            <a:srgbClr val="111111"/>
                          </a:solidFill>
                          <a:latin typeface="Cambria Math" panose="02040503050406030204" pitchFamily="18" charset="0"/>
                        </a:rPr>
                        <m:t xml:space="preserve">Precision@</m:t>
                      </m:r>
                      <m:r>
                        <a:rPr lang="en-US" sz="1250" i="1">
                          <a:solidFill>
                            <a:srgbClr val="111111"/>
                          </a:solidFill>
                          <a:latin typeface="Cambria Math" panose="02040503050406030204" pitchFamily="18" charset="0"/>
                        </a:rPr>
                        <m:t xml:space="preserve">K</m:t>
                      </m:r>
                      <m:r>
                        <m:rPr>
                          <m:sty m:val="p"/>
                        </m:rPr>
                        <a:rPr lang="en-US" sz="1250">
                          <a:solidFill>
                            <a:srgbClr val="111111"/>
                          </a:solidFill>
                          <a:latin typeface="Cambria Math" panose="02040503050406030204" pitchFamily="18" charset="0"/>
                        </a:rPr>
                        <m:t xml:space="preserve">=</m:t>
                      </m:r>
                      <m:f>
                        <m:fPr>
                          <m:ctrlPr>
                            <a:rPr lang="en-US" sz="1250" i="1">
                              <a:solidFill>
                                <a:srgbClr val="111111"/>
                              </a:solidFill>
                              <a:latin typeface="Cambria Math" panose="02040503050406030204" pitchFamily="18" charset="0"/>
                            </a:rPr>
                          </m:ctrlPr>
                        </m:fPr>
                        <m:num>
                          <m:r>
                            <m:rPr>
                              <m:sty m:val="p"/>
                            </m:rPr>
                            <a:rPr lang="en-US" sz="1250">
                              <a:solidFill>
                                <a:srgbClr val="111111"/>
                              </a:solidFill>
                              <a:latin typeface="Cambria Math" panose="02040503050406030204" pitchFamily="18" charset="0"/>
                            </a:rPr>
                            <m:t xml:space="preserve">| </m:t>
                          </m:r>
                          <m:sSubSup>
                            <m:sSubSupPr>
                              <m:ctrlPr>
                                <a:rPr lang="en-US" sz="1250" i="1">
                                  <a:solidFill>
                                    <a:srgbClr val="111111"/>
                                  </a:solidFill>
                                  <a:latin typeface="Cambria Math" panose="02040503050406030204" pitchFamily="18" charset="0"/>
                                </a:rPr>
                              </m:ctrlPr>
                            </m:sSubSupPr>
                            <m:e>
                              <m:r>
                                <a:rPr lang="en-US" sz="1250" i="1">
                                  <a:solidFill>
                                    <a:srgbClr val="111111"/>
                                  </a:solidFill>
                                  <a:latin typeface="Cambria Math" panose="02040503050406030204" pitchFamily="18" charset="0"/>
                                </a:rPr>
                                <m:t xml:space="preserve">L</m:t>
                              </m:r>
                            </m:e>
                            <m:sub>
                              <m:r>
                                <a:rPr lang="en-US" sz="1250" i="1">
                                  <a:solidFill>
                                    <a:srgbClr val="111111"/>
                                  </a:solidFill>
                                  <a:latin typeface="Cambria Math" panose="02040503050406030204" pitchFamily="18" charset="0"/>
                                </a:rPr>
                                <m:t xml:space="preserve">u</m:t>
                              </m:r>
                            </m:sub>
                            <m:sup>
                              <m:r>
                                <a:rPr lang="en-US" sz="1250" i="1">
                                  <a:solidFill>
                                    <a:srgbClr val="111111"/>
                                  </a:solidFill>
                                  <a:latin typeface="Cambria Math" panose="02040503050406030204" pitchFamily="18" charset="0"/>
                                </a:rPr>
                                <m:t xml:space="preserve">K</m:t>
                              </m:r>
                            </m:sup>
                          </m:sSubSup>
                          <m:r>
                            <m:rPr>
                              <m:sty m:val="p"/>
                            </m:rPr>
                            <a:rPr lang="en-US" sz="1250">
                              <a:solidFill>
                                <a:srgbClr val="111111"/>
                              </a:solidFill>
                              <a:latin typeface="Cambria Math" panose="02040503050406030204" pitchFamily="18" charset="0"/>
                            </a:rPr>
                            <m:t xml:space="preserve">∩</m:t>
                          </m:r>
                          <m:sSub>
                            <m:sSubPr>
                              <m:ctrlPr>
                                <a:rPr lang="en-US" sz="1250" i="1">
                                  <a:solidFill>
                                    <a:srgbClr val="111111"/>
                                  </a:solidFill>
                                  <a:latin typeface="Cambria Math" panose="02040503050406030204" pitchFamily="18" charset="0"/>
                                </a:rPr>
                              </m:ctrlPr>
                            </m:sSubPr>
                            <m:e>
                              <m:r>
                                <m:rPr>
                                  <m:scr m:val="script"/>
                                  <m:sty m:val="p"/>
                                </m:rPr>
                                <a:rPr lang="en-US" sz="1250">
                                  <a:solidFill>
                                    <a:srgbClr val="111111"/>
                                  </a:solidFill>
                                  <a:latin typeface="Cambria Math" panose="02040503050406030204" pitchFamily="18" charset="0"/>
                                </a:rPr>
                                <m:t xml:space="preserve">R</m:t>
                              </m:r>
                            </m:e>
                            <m:sub>
                              <m:r>
                                <a:rPr lang="en-US" sz="1250" i="1">
                                  <a:solidFill>
                                    <a:srgbClr val="111111"/>
                                  </a:solidFill>
                                  <a:latin typeface="Cambria Math" panose="02040503050406030204" pitchFamily="18" charset="0"/>
                                </a:rPr>
                                <m:t xml:space="preserve">u</m:t>
                              </m:r>
                            </m:sub>
                          </m:sSub>
                          <m:r>
                            <m:rPr>
                              <m:sty m:val="p"/>
                            </m:rPr>
                            <a:rPr lang="en-US" sz="1250">
                              <a:solidFill>
                                <a:srgbClr val="111111"/>
                              </a:solidFill>
                              <a:latin typeface="Cambria Math" panose="02040503050406030204" pitchFamily="18" charset="0"/>
                            </a:rPr>
                            <m:t xml:space="preserve"> |</m:t>
                          </m:r>
                        </m:num>
                        <m:den>
                          <m:r>
                            <a:rPr lang="en-US" sz="1250" i="1">
                              <a:solidFill>
                                <a:srgbClr val="111111"/>
                              </a:solidFill>
                              <a:latin typeface="Cambria Math" panose="02040503050406030204" pitchFamily="18" charset="0"/>
                            </a:rPr>
                            <m:t xml:space="preserve">K</m:t>
                          </m:r>
                        </m:den>
                      </m:f>
                    </m:oMath>
                  </m:oMathPara>
                </a14:m>
                <a:endParaRPr lang="en-US" sz="1250"/>
              </a:p>
            </p:txBody>
          </p:sp>
        </mc:Choice>
        <mc:Fallback>
          <p:sp>
            <p:nvSpPr>
              <p:cNvPr id="40" name="Equation"/>
              <p:cNvSpPr txBox="1"/>
              <p:nvPr/>
            </p:nvSpPr>
            <p:spPr>
              <a:xfrm>
                <a:off x="3771900" y="5254280"/>
                <a:ext cx="6309360" cy="684675"/>
              </a:xfrm>
              <a:prstGeom prst="rect">
                <a:avLst/>
              </a:prstGeom>
              <a:blipFill>
                <a:blip r:embed="rId6"/>
                <a:stretch>
                  <a:fillRect/>
                </a:stretch>
              </a:blipFill>
            </p:spPr>
            <p:txBody>
              <a:bodyPr/>
              <a:lstStyle/>
              <a:p>
                <a:endParaRPr lang="en-US"/>
              </a:p>
            </p:txBody>
          </p:sp>
        </mc:Fallback>
      </mc:AlternateContent>
      <p:sp>
        <p:nvSpPr>
          <p:cNvPr id="41" name="TextBox 40"/>
          <p:cNvSpPr txBox="1"/>
          <p:nvPr/>
        </p:nvSpPr>
        <p:spPr>
          <a:xfrm>
            <a:off x="10309860" y="5226848"/>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Share of the top-K list that is relevant.</a:t>
            </a:r>
          </a:p>
        </p:txBody>
      </p:sp>
      <p:cxnSp>
        <p:nvCxnSpPr>
          <p:cNvPr id="42" name="Connector 41"/>
          <p:cNvCxnSpPr/>
          <p:nvPr/>
        </p:nvCxnSpPr>
        <p:spPr>
          <a:xfrm>
            <a:off x="1028700" y="5966387"/>
            <a:ext cx="16230600" cy="0"/>
          </a:xfrm>
          <a:prstGeom prst="line">
            <a:avLst/>
          </a:prstGeom>
          <a:ln w="12700">
            <a:solidFill>
              <a:srgbClr val="E3D6C4"/>
            </a:solidFill>
          </a:ln>
        </p:spPr>
      </p:cxnSp>
      <p:sp>
        <p:nvSpPr>
          <p:cNvPr id="43" name="Rectangle 42"/>
          <p:cNvSpPr/>
          <p:nvPr/>
        </p:nvSpPr>
        <p:spPr>
          <a:xfrm>
            <a:off x="1028700" y="5966387"/>
            <a:ext cx="16230600" cy="739539"/>
          </a:xfrm>
          <a:prstGeom prst="rect">
            <a:avLst/>
          </a:prstGeom>
          <a:solidFill>
            <a:srgbClr val="F6ECDF"/>
          </a:solidFill>
          <a:ln>
            <a:noFill/>
          </a:ln>
        </p:spPr>
        <p:txBody>
          <a:bodyPr anchor="ctr" rtlCol="false" lIns="0" tIns="0" rIns="0" bIns="0" wrap="square"/>
          <a:lstStyle/>
          <a:p>
            <a:endParaRPr lang="en-US" sz="1800"/>
          </a:p>
        </p:txBody>
      </p:sp>
      <p:sp>
        <p:nvSpPr>
          <p:cNvPr id="44" name="TextBox 43"/>
          <p:cNvSpPr txBox="1"/>
          <p:nvPr/>
        </p:nvSpPr>
        <p:spPr>
          <a:xfrm>
            <a:off x="1165860" y="5966387"/>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Catalogue Coverage</a:t>
            </a:r>
          </a:p>
        </p:txBody>
      </p:sp>
      <mc:AlternateContent xmlns:mc="http://schemas.openxmlformats.org/markup-compatibility/2006">
        <mc:Choice xmlns:a14="http://schemas.microsoft.com/office/drawing/2010/main" Requires="a14">
          <p:sp>
            <p:nvSpPr>
              <p:cNvPr id="45" name="Equation"/>
              <p:cNvSpPr txBox="1"/>
              <p:nvPr/>
            </p:nvSpPr>
            <p:spPr>
              <a:xfrm>
                <a:off x="3771900" y="5993819"/>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250">
                          <a:solidFill>
                            <a:srgbClr val="111111"/>
                          </a:solidFill>
                          <a:latin typeface="Cambria Math" panose="02040503050406030204" pitchFamily="18" charset="0"/>
                        </a:rPr>
                        <m:t xml:space="preserve">Cov=</m:t>
                      </m:r>
                      <m:f>
                        <m:fPr>
                          <m:ctrlPr>
                            <a:rPr lang="en-US" sz="1250" i="1">
                              <a:solidFill>
                                <a:srgbClr val="111111"/>
                              </a:solidFill>
                              <a:latin typeface="Cambria Math" panose="02040503050406030204" pitchFamily="18" charset="0"/>
                            </a:rPr>
                          </m:ctrlPr>
                        </m:fPr>
                        <m:num>
                          <m:d>
                            <m:dPr>
                              <m:begChr m:val="|"/>
                              <m:endChr m:val="|"/>
                              <m:ctrlPr>
                                <a:rPr lang="en-US" sz="1250" i="1">
                                  <a:solidFill>
                                    <a:srgbClr val="111111"/>
                                  </a:solidFill>
                                  <a:latin typeface="Cambria Math" panose="02040503050406030204" pitchFamily="18" charset="0"/>
                                </a:rPr>
                              </m:ctrlPr>
                            </m:dPr>
                            <m:e>
                              <m:r>
                                <m:rPr>
                                  <m:sty m:val="p"/>
                                </m:rPr>
                                <a:rPr lang="en-US" sz="1250">
                                  <a:solidFill>
                                    <a:srgbClr val="111111"/>
                                  </a:solidFill>
                                  <a:latin typeface="Cambria Math" panose="02040503050406030204" pitchFamily="18" charset="0"/>
                                </a:rPr>
                                <m:t xml:space="preserve"> </m:t>
                              </m:r>
                              <m:nary>
                                <m:naryPr>
                                  <m:chr m:val="⋃"/>
                                  <m:limLoc m:val="subSup"/>
                                  <m:supHide m:val="1"/>
                                  <m:ctrlPr>
                                    <a:rPr lang="en-US" sz="1250" i="1">
                                      <a:solidFill>
                                        <a:srgbClr val="111111"/>
                                      </a:solidFill>
                                      <a:latin typeface="Cambria Math" panose="02040503050406030204" pitchFamily="18" charset="0"/>
                                    </a:rPr>
                                  </m:ctrlPr>
                                </m:naryPr>
                                <m:sub>
                                  <m:r>
                                    <a:rPr lang="en-US" sz="1250" i="1">
                                      <a:solidFill>
                                        <a:srgbClr val="111111"/>
                                      </a:solidFill>
                                      <a:latin typeface="Cambria Math" panose="02040503050406030204" pitchFamily="18" charset="0"/>
                                    </a:rPr>
                                    <m:t xml:space="preserve">u</m:t>
                                  </m:r>
                                </m:sub>
                                <m:sup/>
                                <m:e>
                                  <m:sSubSup>
                                    <m:sSubSupPr>
                                      <m:ctrlPr>
                                        <a:rPr lang="en-US" sz="1250" i="1">
                                          <a:solidFill>
                                            <a:srgbClr val="111111"/>
                                          </a:solidFill>
                                          <a:latin typeface="Cambria Math" panose="02040503050406030204" pitchFamily="18" charset="0"/>
                                        </a:rPr>
                                      </m:ctrlPr>
                                    </m:sSubSupPr>
                                    <m:e>
                                      <m:r>
                                        <a:rPr lang="en-US" sz="1250" i="1">
                                          <a:solidFill>
                                            <a:srgbClr val="111111"/>
                                          </a:solidFill>
                                          <a:latin typeface="Cambria Math" panose="02040503050406030204" pitchFamily="18" charset="0"/>
                                        </a:rPr>
                                        <m:t xml:space="preserve">L</m:t>
                                      </m:r>
                                    </m:e>
                                    <m:sub>
                                      <m:r>
                                        <a:rPr lang="en-US" sz="1250" i="1">
                                          <a:solidFill>
                                            <a:srgbClr val="111111"/>
                                          </a:solidFill>
                                          <a:latin typeface="Cambria Math" panose="02040503050406030204" pitchFamily="18" charset="0"/>
                                        </a:rPr>
                                        <m:t xml:space="preserve">u</m:t>
                                      </m:r>
                                    </m:sub>
                                    <m:sup>
                                      <m:r>
                                        <a:rPr lang="en-US" sz="1250" i="1">
                                          <a:solidFill>
                                            <a:srgbClr val="111111"/>
                                          </a:solidFill>
                                          <a:latin typeface="Cambria Math" panose="02040503050406030204" pitchFamily="18" charset="0"/>
                                        </a:rPr>
                                        <m:t xml:space="preserve">K</m:t>
                                      </m:r>
                                    </m:sup>
                                  </m:sSubSup>
                                </m:e>
                              </m:nary>
                              <m:r>
                                <m:rPr>
                                  <m:sty m:val="p"/>
                                </m:rPr>
                                <a:rPr lang="en-US" sz="1250">
                                  <a:solidFill>
                                    <a:srgbClr val="111111"/>
                                  </a:solidFill>
                                  <a:latin typeface="Cambria Math" panose="02040503050406030204" pitchFamily="18" charset="0"/>
                                </a:rPr>
                                <m:t xml:space="preserve"> </m:t>
                              </m:r>
                            </m:e>
                          </m:d>
                        </m:num>
                        <m:den>
                          <m:d>
                            <m:dPr>
                              <m:begChr m:val="|"/>
                              <m:endChr m:val="|"/>
                              <m:ctrlPr>
                                <a:rPr lang="en-US" sz="1250" i="1">
                                  <a:solidFill>
                                    <a:srgbClr val="111111"/>
                                  </a:solidFill>
                                  <a:latin typeface="Cambria Math" panose="02040503050406030204" pitchFamily="18" charset="0"/>
                                </a:rPr>
                              </m:ctrlPr>
                            </m:dPr>
                            <m:e>
                              <m:r>
                                <m:rPr>
                                  <m:sty m:val="p"/>
                                </m:rPr>
                                <a:rPr lang="en-US" sz="1250">
                                  <a:solidFill>
                                    <a:srgbClr val="111111"/>
                                  </a:solidFill>
                                  <a:latin typeface="Cambria Math" panose="02040503050406030204" pitchFamily="18" charset="0"/>
                                </a:rPr>
                                <m:t xml:space="preserve"> </m:t>
                              </m:r>
                              <m:r>
                                <a:rPr lang="en-US" sz="1250" i="1">
                                  <a:solidFill>
                                    <a:srgbClr val="111111"/>
                                  </a:solidFill>
                                  <a:latin typeface="Cambria Math" panose="02040503050406030204" pitchFamily="18" charset="0"/>
                                </a:rPr>
                                <m:t xml:space="preserve">I</m:t>
                              </m:r>
                              <m:r>
                                <m:rPr>
                                  <m:sty m:val="p"/>
                                </m:rPr>
                                <a:rPr lang="en-US" sz="1250">
                                  <a:solidFill>
                                    <a:srgbClr val="111111"/>
                                  </a:solidFill>
                                  <a:latin typeface="Cambria Math" panose="02040503050406030204" pitchFamily="18" charset="0"/>
                                </a:rPr>
                                <m:t xml:space="preserve"> </m:t>
                              </m:r>
                            </m:e>
                          </m:d>
                        </m:den>
                      </m:f>
                    </m:oMath>
                  </m:oMathPara>
                </a14:m>
                <a:endParaRPr lang="en-US" sz="1250"/>
              </a:p>
            </p:txBody>
          </p:sp>
        </mc:Choice>
        <mc:Fallback>
          <p:sp>
            <p:nvSpPr>
              <p:cNvPr id="45" name="Equation"/>
              <p:cNvSpPr txBox="1"/>
              <p:nvPr/>
            </p:nvSpPr>
            <p:spPr>
              <a:xfrm>
                <a:off x="3771900" y="5993819"/>
                <a:ext cx="6309360" cy="684675"/>
              </a:xfrm>
              <a:prstGeom prst="rect">
                <a:avLst/>
              </a:prstGeom>
              <a:blipFill>
                <a:blip r:embed="rId7"/>
                <a:stretch>
                  <a:fillRect/>
                </a:stretch>
              </a:blipFill>
            </p:spPr>
            <p:txBody>
              <a:bodyPr/>
              <a:lstStyle/>
              <a:p>
                <a:endParaRPr lang="en-US"/>
              </a:p>
            </p:txBody>
          </p:sp>
        </mc:Fallback>
      </mc:AlternateContent>
      <p:sp>
        <p:nvSpPr>
          <p:cNvPr id="46" name="TextBox 45"/>
          <p:cNvSpPr txBox="1"/>
          <p:nvPr/>
        </p:nvSpPr>
        <p:spPr>
          <a:xfrm>
            <a:off x="10309860" y="5966387"/>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System-level diversity: how much of the catalogue is ever recommended.</a:t>
            </a:r>
          </a:p>
        </p:txBody>
      </p:sp>
      <p:cxnSp>
        <p:nvCxnSpPr>
          <p:cNvPr id="47" name="Connector 46"/>
          <p:cNvCxnSpPr/>
          <p:nvPr/>
        </p:nvCxnSpPr>
        <p:spPr>
          <a:xfrm>
            <a:off x="1028700" y="6705926"/>
            <a:ext cx="16230600" cy="0"/>
          </a:xfrm>
          <a:prstGeom prst="line">
            <a:avLst/>
          </a:prstGeom>
          <a:ln w="12700">
            <a:solidFill>
              <a:srgbClr val="E3D6C4"/>
            </a:solidFill>
          </a:ln>
        </p:spPr>
      </p:cxnSp>
      <p:sp>
        <p:nvSpPr>
          <p:cNvPr id="48" name="Rectangle 47"/>
          <p:cNvSpPr/>
          <p:nvPr/>
        </p:nvSpPr>
        <p:spPr>
          <a:xfrm>
            <a:off x="1028700" y="6705926"/>
            <a:ext cx="16230600" cy="739539"/>
          </a:xfrm>
          <a:prstGeom prst="rect">
            <a:avLst/>
          </a:prstGeom>
          <a:solidFill>
            <a:srgbClr val="FFFFFF"/>
          </a:solidFill>
          <a:ln>
            <a:noFill/>
          </a:ln>
        </p:spPr>
        <p:txBody>
          <a:bodyPr anchor="ctr" rtlCol="false" lIns="0" tIns="0" rIns="0" bIns="0" wrap="square"/>
          <a:lstStyle/>
          <a:p>
            <a:endParaRPr lang="en-US" sz="1800"/>
          </a:p>
        </p:txBody>
      </p:sp>
      <p:sp>
        <p:nvSpPr>
          <p:cNvPr id="49" name="TextBox 48"/>
          <p:cNvSpPr txBox="1"/>
          <p:nvPr/>
        </p:nvSpPr>
        <p:spPr>
          <a:xfrm>
            <a:off x="1165860" y="6705926"/>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Intra-List Diversity</a:t>
            </a:r>
          </a:p>
        </p:txBody>
      </p:sp>
      <mc:AlternateContent xmlns:mc="http://schemas.openxmlformats.org/markup-compatibility/2006">
        <mc:Choice xmlns:a14="http://schemas.microsoft.com/office/drawing/2010/main" Requires="a14">
          <p:sp>
            <p:nvSpPr>
              <p:cNvPr id="50" name="Equation"/>
              <p:cNvSpPr txBox="1"/>
              <p:nvPr/>
            </p:nvSpPr>
            <p:spPr>
              <a:xfrm>
                <a:off x="3771900" y="6733358"/>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150">
                          <a:solidFill>
                            <a:srgbClr val="111111"/>
                          </a:solidFill>
                          <a:latin typeface="Cambria Math" panose="02040503050406030204" pitchFamily="18" charset="0"/>
                        </a:rPr>
                        <m:t xml:space="preserve">ILD(</m:t>
                      </m:r>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L</m:t>
                          </m:r>
                        </m:e>
                        <m:sub>
                          <m:r>
                            <a:rPr lang="en-US" sz="1150" i="1">
                              <a:solidFill>
                                <a:srgbClr val="111111"/>
                              </a:solidFill>
                              <a:latin typeface="Cambria Math" panose="02040503050406030204" pitchFamily="18" charset="0"/>
                            </a:rPr>
                            <m:t xml:space="preserve">u</m:t>
                          </m:r>
                        </m:sub>
                      </m:sSub>
                      <m:r>
                        <m:rPr>
                          <m:sty m:val="p"/>
                        </m:rPr>
                        <a:rPr lang="en-US" sz="1150">
                          <a:solidFill>
                            <a:srgbClr val="111111"/>
                          </a:solidFill>
                          <a:latin typeface="Cambria Math" panose="02040503050406030204" pitchFamily="18" charset="0"/>
                        </a:rPr>
                        <m:t xml:space="preserve">)=</m:t>
                      </m:r>
                      <m:f>
                        <m:fPr>
                          <m:ctrlPr>
                            <a:rPr lang="en-US" sz="1150" i="1">
                              <a:solidFill>
                                <a:srgbClr val="111111"/>
                              </a:solidFill>
                              <a:latin typeface="Cambria Math" panose="02040503050406030204" pitchFamily="18" charset="0"/>
                            </a:rPr>
                          </m:ctrlPr>
                        </m:fPr>
                        <m:num>
                          <m:r>
                            <m:rPr>
                              <m:sty m:val="p"/>
                            </m:rPr>
                            <a:rPr lang="en-US" sz="1150">
                              <a:solidFill>
                                <a:srgbClr val="111111"/>
                              </a:solidFill>
                              <a:latin typeface="Cambria Math" panose="02040503050406030204" pitchFamily="18" charset="0"/>
                            </a:rPr>
                            <m:t xml:space="preserve">2</m:t>
                          </m:r>
                        </m:num>
                        <m:den>
                          <m:r>
                            <a:rPr lang="en-US" sz="1150" i="1">
                              <a:solidFill>
                                <a:srgbClr val="111111"/>
                              </a:solidFill>
                              <a:latin typeface="Cambria Math" panose="02040503050406030204" pitchFamily="18" charset="0"/>
                            </a:rPr>
                            <m:t xml:space="preserve">K</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K</m:t>
                          </m:r>
                          <m:r>
                            <m:rPr>
                              <m:sty m:val="p"/>
                            </m:rPr>
                            <a:rPr lang="en-US" sz="1150">
                              <a:solidFill>
                                <a:srgbClr val="111111"/>
                              </a:solidFill>
                              <a:latin typeface="Cambria Math" panose="02040503050406030204" pitchFamily="18" charset="0"/>
                            </a:rPr>
                            <m:t xml:space="preserve">−1)</m:t>
                          </m:r>
                        </m:den>
                      </m:f>
                      <m:nary>
                        <m:naryPr>
                          <m:chr m:val="∑"/>
                          <m:limLoc m:val="subSup"/>
                          <m:supHide m:val="1"/>
                          <m:ctrlPr>
                            <a:rPr lang="en-US" sz="1150" i="1">
                              <a:solidFill>
                                <a:srgbClr val="111111"/>
                              </a:solidFill>
                              <a:latin typeface="Cambria Math" panose="02040503050406030204" pitchFamily="18" charset="0"/>
                            </a:rPr>
                          </m:ctrlPr>
                        </m:naryPr>
                        <m:sub>
                          <m:r>
                            <a:rPr lang="en-US" sz="1150" i="1">
                              <a:solidFill>
                                <a:srgbClr val="111111"/>
                              </a:solidFill>
                              <a:latin typeface="Cambria Math" panose="02040503050406030204" pitchFamily="18" charset="0"/>
                            </a:rPr>
                            <m:t xml:space="preserve">i</m:t>
                          </m:r>
                          <m:r>
                            <m:rPr>
                              <m:sty m:val="p"/>
                            </m:rPr>
                            <a:rPr lang="en-US" sz="1150">
                              <a:solidFill>
                                <a:srgbClr val="111111"/>
                              </a:solidFill>
                              <a:latin typeface="Cambria Math" panose="02040503050406030204" pitchFamily="18" charset="0"/>
                            </a:rPr>
                            <m:t xml:space="preserve">&lt;</m:t>
                          </m:r>
                          <m:r>
                            <a:rPr lang="en-US" sz="1150" i="1">
                              <a:solidFill>
                                <a:srgbClr val="111111"/>
                              </a:solidFill>
                              <a:latin typeface="Cambria Math" panose="02040503050406030204" pitchFamily="18" charset="0"/>
                            </a:rPr>
                            <m:t xml:space="preserve">j</m:t>
                          </m:r>
                        </m:sub>
                        <m:sup/>
                        <m:e>
                          <m:d>
                            <m:dPr>
                              <m:ctrlPr>
                                <a:rPr lang="en-US" sz="1150" i="1">
                                  <a:solidFill>
                                    <a:srgbClr val="111111"/>
                                  </a:solidFill>
                                  <a:latin typeface="Cambria Math" panose="02040503050406030204" pitchFamily="18" charset="0"/>
                                </a:rPr>
                              </m:ctrlPr>
                            </m:dPr>
                            <m:e>
                              <m:r>
                                <m:rPr>
                                  <m:sty m:val="p"/>
                                </m:rPr>
                                <a:rPr lang="en-US" sz="1150">
                                  <a:solidFill>
                                    <a:srgbClr val="111111"/>
                                  </a:solidFill>
                                  <a:latin typeface="Cambria Math" panose="02040503050406030204" pitchFamily="18" charset="0"/>
                                </a:rPr>
                                <m:t xml:space="preserve">1−sim(</m:t>
                              </m:r>
                              <m:r>
                                <a:rPr lang="en-US" sz="1150" i="1">
                                  <a:solidFill>
                                    <a:srgbClr val="111111"/>
                                  </a:solidFill>
                                  <a:latin typeface="Cambria Math" panose="02040503050406030204" pitchFamily="18" charset="0"/>
                                </a:rPr>
                                <m:t xml:space="preserve">i</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j</m:t>
                              </m:r>
                              <m:r>
                                <m:rPr>
                                  <m:sty m:val="p"/>
                                </m:rPr>
                                <a:rPr lang="en-US" sz="1150">
                                  <a:solidFill>
                                    <a:srgbClr val="111111"/>
                                  </a:solidFill>
                                  <a:latin typeface="Cambria Math" panose="02040503050406030204" pitchFamily="18" charset="0"/>
                                </a:rPr>
                                <m:t xml:space="preserve">)</m:t>
                              </m:r>
                            </m:e>
                          </m:d>
                        </m:e>
                      </m:nary>
                    </m:oMath>
                  </m:oMathPara>
                </a14:m>
                <a:endParaRPr lang="en-US" sz="1150"/>
              </a:p>
            </p:txBody>
          </p:sp>
        </mc:Choice>
        <mc:Fallback>
          <p:sp>
            <p:nvSpPr>
              <p:cNvPr id="50" name="Equation"/>
              <p:cNvSpPr txBox="1"/>
              <p:nvPr/>
            </p:nvSpPr>
            <p:spPr>
              <a:xfrm>
                <a:off x="3771900" y="6733358"/>
                <a:ext cx="6309360" cy="684675"/>
              </a:xfrm>
              <a:prstGeom prst="rect">
                <a:avLst/>
              </a:prstGeom>
              <a:blipFill>
                <a:blip r:embed="rId8"/>
                <a:stretch>
                  <a:fillRect/>
                </a:stretch>
              </a:blipFill>
            </p:spPr>
            <p:txBody>
              <a:bodyPr/>
              <a:lstStyle/>
              <a:p>
                <a:endParaRPr lang="en-US"/>
              </a:p>
            </p:txBody>
          </p:sp>
        </mc:Fallback>
      </mc:AlternateContent>
      <p:sp>
        <p:nvSpPr>
          <p:cNvPr id="51" name="TextBox 50"/>
          <p:cNvSpPr txBox="1"/>
          <p:nvPr/>
        </p:nvSpPr>
        <p:spPr>
          <a:xfrm>
            <a:off x="10309860" y="6705926"/>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List-level diversity; built into the DyHuCoG coalition utility.</a:t>
            </a:r>
          </a:p>
        </p:txBody>
      </p:sp>
      <p:cxnSp>
        <p:nvCxnSpPr>
          <p:cNvPr id="52" name="Connector 51"/>
          <p:cNvCxnSpPr/>
          <p:nvPr/>
        </p:nvCxnSpPr>
        <p:spPr>
          <a:xfrm>
            <a:off x="1028700" y="7445465"/>
            <a:ext cx="16230600" cy="0"/>
          </a:xfrm>
          <a:prstGeom prst="line">
            <a:avLst/>
          </a:prstGeom>
          <a:ln w="12700">
            <a:solidFill>
              <a:srgbClr val="E3D6C4"/>
            </a:solidFill>
          </a:ln>
        </p:spPr>
      </p:cxnSp>
      <p:sp>
        <p:nvSpPr>
          <p:cNvPr id="53" name="Rectangle 52"/>
          <p:cNvSpPr/>
          <p:nvPr/>
        </p:nvSpPr>
        <p:spPr>
          <a:xfrm>
            <a:off x="1028700" y="7445465"/>
            <a:ext cx="16230600" cy="739539"/>
          </a:xfrm>
          <a:prstGeom prst="rect">
            <a:avLst/>
          </a:prstGeom>
          <a:solidFill>
            <a:srgbClr val="F6ECDF"/>
          </a:solidFill>
          <a:ln>
            <a:noFill/>
          </a:ln>
        </p:spPr>
        <p:txBody>
          <a:bodyPr anchor="ctr" rtlCol="false" lIns="0" tIns="0" rIns="0" bIns="0" wrap="square"/>
          <a:lstStyle/>
          <a:p>
            <a:endParaRPr lang="en-US" sz="1800"/>
          </a:p>
        </p:txBody>
      </p:sp>
      <p:sp>
        <p:nvSpPr>
          <p:cNvPr id="54" name="TextBox 53"/>
          <p:cNvSpPr txBox="1"/>
          <p:nvPr/>
        </p:nvSpPr>
        <p:spPr>
          <a:xfrm>
            <a:off x="1165860" y="7445465"/>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Silhouette</a:t>
            </a:r>
          </a:p>
        </p:txBody>
      </p:sp>
      <mc:AlternateContent xmlns:mc="http://schemas.openxmlformats.org/markup-compatibility/2006">
        <mc:Choice xmlns:a14="http://schemas.microsoft.com/office/drawing/2010/main" Requires="a14">
          <p:sp>
            <p:nvSpPr>
              <p:cNvPr id="55" name="Equation"/>
              <p:cNvSpPr txBox="1"/>
              <p:nvPr/>
            </p:nvSpPr>
            <p:spPr>
              <a:xfrm>
                <a:off x="3771900" y="7472897"/>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a:rPr lang="en-US" sz="1150" i="1">
                          <a:solidFill>
                            <a:srgbClr val="111111"/>
                          </a:solidFill>
                          <a:latin typeface="Cambria Math" panose="02040503050406030204" pitchFamily="18" charset="0"/>
                        </a:rPr>
                        <m:t xml:space="preserve">s</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m:t>
                      </m:r>
                      <m:f>
                        <m:fPr>
                          <m:ctrlPr>
                            <a:rPr lang="en-US" sz="1150" i="1">
                              <a:solidFill>
                                <a:srgbClr val="111111"/>
                              </a:solidFill>
                              <a:latin typeface="Cambria Math" panose="02040503050406030204" pitchFamily="18" charset="0"/>
                            </a:rPr>
                          </m:ctrlPr>
                        </m:fPr>
                        <m:num>
                          <m:r>
                            <a:rPr lang="en-US" sz="1150" i="1">
                              <a:solidFill>
                                <a:srgbClr val="111111"/>
                              </a:solidFill>
                              <a:latin typeface="Cambria Math" panose="02040503050406030204" pitchFamily="18" charset="0"/>
                            </a:rPr>
                            <m:t xml:space="preserve">b</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a</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m:t>
                          </m:r>
                        </m:num>
                        <m:den>
                          <m:r>
                            <m:rPr>
                              <m:sty m:val="p"/>
                            </m:rPr>
                            <a:rPr lang="en-US" sz="1150">
                              <a:solidFill>
                                <a:srgbClr val="111111"/>
                              </a:solidFill>
                              <a:latin typeface="Cambria Math" panose="02040503050406030204" pitchFamily="18" charset="0"/>
                            </a:rPr>
                            <m:t xml:space="preserve">max{</m:t>
                          </m:r>
                          <m:r>
                            <a:rPr lang="en-US" sz="1150" i="1">
                              <a:solidFill>
                                <a:srgbClr val="111111"/>
                              </a:solidFill>
                              <a:latin typeface="Cambria Math" panose="02040503050406030204" pitchFamily="18" charset="0"/>
                            </a:rPr>
                            <m:t xml:space="preserve">a</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 </m:t>
                          </m:r>
                          <m:r>
                            <a:rPr lang="en-US" sz="1150" i="1">
                              <a:solidFill>
                                <a:srgbClr val="111111"/>
                              </a:solidFill>
                              <a:latin typeface="Cambria Math" panose="02040503050406030204" pitchFamily="18" charset="0"/>
                            </a:rPr>
                            <m:t xml:space="preserve">b</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x</m:t>
                          </m:r>
                          <m:r>
                            <m:rPr>
                              <m:sty m:val="p"/>
                            </m:rPr>
                            <a:rPr lang="en-US" sz="1150">
                              <a:solidFill>
                                <a:srgbClr val="111111"/>
                              </a:solidFill>
                              <a:latin typeface="Cambria Math" panose="02040503050406030204" pitchFamily="18" charset="0"/>
                            </a:rPr>
                            <m:t xml:space="preserve">)}</m:t>
                          </m:r>
                        </m:den>
                      </m:f>
                      <m:r>
                        <m:rPr>
                          <m:sty m:val="p"/>
                        </m:rPr>
                        <a:rPr lang="en-US" sz="1150">
                          <a:solidFill>
                            <a:srgbClr val="111111"/>
                          </a:solidFill>
                          <a:latin typeface="Cambria Math" panose="02040503050406030204" pitchFamily="18" charset="0"/>
                        </a:rPr>
                        <m:t xml:space="preserve">,  </m:t>
                      </m:r>
                      <m:r>
                        <a:rPr lang="en-US" sz="1150" i="1">
                          <a:solidFill>
                            <a:srgbClr val="111111"/>
                          </a:solidFill>
                          <a:latin typeface="Cambria Math" panose="02040503050406030204" pitchFamily="18" charset="0"/>
                        </a:rPr>
                        <m:t xml:space="preserve">s</m:t>
                      </m:r>
                      <m:r>
                        <m:rPr>
                          <m:sty m:val="p"/>
                        </m:rPr>
                        <a:rPr lang="en-US" sz="1150">
                          <a:solidFill>
                            <a:srgbClr val="111111"/>
                          </a:solidFill>
                          <a:latin typeface="Cambria Math" panose="02040503050406030204" pitchFamily="18" charset="0"/>
                        </a:rPr>
                        <m:t xml:space="preserve">∈[−1,1]</m:t>
                      </m:r>
                    </m:oMath>
                  </m:oMathPara>
                </a14:m>
                <a:endParaRPr lang="en-US" sz="1150"/>
              </a:p>
            </p:txBody>
          </p:sp>
        </mc:Choice>
        <mc:Fallback>
          <p:sp>
            <p:nvSpPr>
              <p:cNvPr id="55" name="Equation"/>
              <p:cNvSpPr txBox="1"/>
              <p:nvPr/>
            </p:nvSpPr>
            <p:spPr>
              <a:xfrm>
                <a:off x="3771900" y="7472897"/>
                <a:ext cx="6309360" cy="684675"/>
              </a:xfrm>
              <a:prstGeom prst="rect">
                <a:avLst/>
              </a:prstGeom>
              <a:blipFill>
                <a:blip r:embed="rId9"/>
                <a:stretch>
                  <a:fillRect/>
                </a:stretch>
              </a:blipFill>
            </p:spPr>
            <p:txBody>
              <a:bodyPr/>
              <a:lstStyle/>
              <a:p>
                <a:endParaRPr lang="en-US"/>
              </a:p>
            </p:txBody>
          </p:sp>
        </mc:Fallback>
      </mc:AlternateContent>
      <p:sp>
        <p:nvSpPr>
          <p:cNvPr id="56" name="TextBox 55"/>
          <p:cNvSpPr txBox="1"/>
          <p:nvPr/>
        </p:nvSpPr>
        <p:spPr>
          <a:xfrm>
            <a:off x="10309860" y="7445465"/>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Clustering quality; the value function of the clustering game (C1, C2).</a:t>
            </a:r>
          </a:p>
        </p:txBody>
      </p:sp>
      <p:cxnSp>
        <p:nvCxnSpPr>
          <p:cNvPr id="57" name="Connector 56"/>
          <p:cNvCxnSpPr/>
          <p:nvPr/>
        </p:nvCxnSpPr>
        <p:spPr>
          <a:xfrm>
            <a:off x="1028700" y="8185004"/>
            <a:ext cx="16230600" cy="0"/>
          </a:xfrm>
          <a:prstGeom prst="line">
            <a:avLst/>
          </a:prstGeom>
          <a:ln w="12700">
            <a:solidFill>
              <a:srgbClr val="E3D6C4"/>
            </a:solidFill>
          </a:ln>
        </p:spPr>
      </p:cxnSp>
      <p:sp>
        <p:nvSpPr>
          <p:cNvPr id="58" name="Rectangle 57"/>
          <p:cNvSpPr/>
          <p:nvPr/>
        </p:nvSpPr>
        <p:spPr>
          <a:xfrm>
            <a:off x="1028700" y="8185004"/>
            <a:ext cx="16230600" cy="739539"/>
          </a:xfrm>
          <a:prstGeom prst="rect">
            <a:avLst/>
          </a:prstGeom>
          <a:solidFill>
            <a:srgbClr val="FFFFFF"/>
          </a:solidFill>
          <a:ln>
            <a:noFill/>
          </a:ln>
        </p:spPr>
        <p:txBody>
          <a:bodyPr anchor="ctr" rtlCol="false" lIns="0" tIns="0" rIns="0" bIns="0" wrap="square"/>
          <a:lstStyle/>
          <a:p>
            <a:endParaRPr lang="en-US" sz="1800"/>
          </a:p>
        </p:txBody>
      </p:sp>
      <p:sp>
        <p:nvSpPr>
          <p:cNvPr id="59" name="TextBox 58"/>
          <p:cNvSpPr txBox="1"/>
          <p:nvPr/>
        </p:nvSpPr>
        <p:spPr>
          <a:xfrm>
            <a:off x="1165860" y="8185004"/>
            <a:ext cx="2377440" cy="739539"/>
          </a:xfrm>
          <a:prstGeom prst="rect">
            <a:avLst/>
          </a:prstGeom>
          <a:noFill/>
        </p:spPr>
        <p:txBody>
          <a:bodyPr anchor="ctr" rtlCol="false" lIns="0" tIns="0" rIns="0" bIns="0" wrap="square"/>
          <a:lstStyle/>
          <a:p>
            <a:pPr algn="l">
              <a:lnSpc>
                <a:spcPts val="1900"/>
              </a:lnSpc>
              <a:spcBef>
                <a:spcPts val="0"/>
              </a:spcBef>
              <a:buNone/>
            </a:pPr>
            <a:r>
              <a:rPr lang="en-US" sz="1600" b="true">
                <a:solidFill>
                  <a:srgbClr val="111111"/>
                </a:solidFill>
                <a:latin typeface="Nunito Bold"/>
                <a:ea typeface="Nunito Bold"/>
                <a:cs typeface="Nunito Bold"/>
                <a:sym typeface="Nunito Bold"/>
              </a:rPr>
              <a:t>Davies–Bouldin</a:t>
            </a:r>
          </a:p>
        </p:txBody>
      </p:sp>
      <mc:AlternateContent xmlns:mc="http://schemas.openxmlformats.org/markup-compatibility/2006">
        <mc:Choice xmlns:a14="http://schemas.microsoft.com/office/drawing/2010/main" Requires="a14">
          <p:sp>
            <p:nvSpPr>
              <p:cNvPr id="60" name="Equation"/>
              <p:cNvSpPr txBox="1"/>
              <p:nvPr/>
            </p:nvSpPr>
            <p:spPr>
              <a:xfrm>
                <a:off x="3771900" y="8212436"/>
                <a:ext cx="6309360" cy="684675"/>
              </a:xfrm>
              <a:prstGeom prst="rect">
                <a:avLst/>
              </a:prstGeom>
              <a:noFill/>
            </p:spPr>
            <p:txBody>
              <a:bodyPr wrap="none" rtlCol="0" anchor="ctr" lIns="0" tIns="0" rIns="0" bIns="0"/>
              <a:lstStyle/>
              <a:p>
                <a:pPr algn="l"/>
                <a14:m xmlns:m="http://schemas.openxmlformats.org/officeDocument/2006/math">
                  <m:oMathPara>
                    <m:oMathParaPr>
                      <m:jc m:val="left"/>
                    </m:oMathParaPr>
                    <m:oMath>
                      <m:r>
                        <m:rPr>
                          <m:sty m:val="p"/>
                        </m:rPr>
                        <a:rPr lang="en-US" sz="1150">
                          <a:solidFill>
                            <a:srgbClr val="111111"/>
                          </a:solidFill>
                          <a:latin typeface="Cambria Math" panose="02040503050406030204" pitchFamily="18" charset="0"/>
                        </a:rPr>
                        <m:t xml:space="preserve">DB=</m:t>
                      </m:r>
                      <m:f>
                        <m:fPr>
                          <m:ctrlPr>
                            <a:rPr lang="en-US" sz="1150" i="1">
                              <a:solidFill>
                                <a:srgbClr val="111111"/>
                              </a:solidFill>
                              <a:latin typeface="Cambria Math" panose="02040503050406030204" pitchFamily="18" charset="0"/>
                            </a:rPr>
                          </m:ctrlPr>
                        </m:fPr>
                        <m:num>
                          <m:r>
                            <m:rPr>
                              <m:sty m:val="p"/>
                            </m:rPr>
                            <a:rPr lang="en-US" sz="1150">
                              <a:solidFill>
                                <a:srgbClr val="111111"/>
                              </a:solidFill>
                              <a:latin typeface="Cambria Math" panose="02040503050406030204" pitchFamily="18" charset="0"/>
                            </a:rPr>
                            <m:t xml:space="preserve">1</m:t>
                          </m:r>
                        </m:num>
                        <m:den>
                          <m:r>
                            <a:rPr lang="en-US" sz="1150" i="1">
                              <a:solidFill>
                                <a:srgbClr val="111111"/>
                              </a:solidFill>
                              <a:latin typeface="Cambria Math" panose="02040503050406030204" pitchFamily="18" charset="0"/>
                            </a:rPr>
                            <m:t xml:space="preserve">k</m:t>
                          </m:r>
                        </m:den>
                      </m:f>
                      <m:nary>
                        <m:naryPr>
                          <m:chr m:val="∑"/>
                          <m:limLoc m:val="subSup"/>
                          <m:ctrlPr>
                            <a:rPr lang="en-US" sz="1150" i="1">
                              <a:solidFill>
                                <a:srgbClr val="111111"/>
                              </a:solidFill>
                              <a:latin typeface="Cambria Math" panose="02040503050406030204" pitchFamily="18" charset="0"/>
                            </a:rPr>
                          </m:ctrlPr>
                        </m:naryPr>
                        <m:sub>
                          <m:r>
                            <a:rPr lang="en-US" sz="1150" i="1">
                              <a:solidFill>
                                <a:srgbClr val="111111"/>
                              </a:solidFill>
                              <a:latin typeface="Cambria Math" panose="02040503050406030204" pitchFamily="18" charset="0"/>
                            </a:rPr>
                            <m:t xml:space="preserve">c</m:t>
                          </m:r>
                          <m:r>
                            <m:rPr>
                              <m:sty m:val="p"/>
                            </m:rPr>
                            <a:rPr lang="en-US" sz="1150">
                              <a:solidFill>
                                <a:srgbClr val="111111"/>
                              </a:solidFill>
                              <a:latin typeface="Cambria Math" panose="02040503050406030204" pitchFamily="18" charset="0"/>
                            </a:rPr>
                            <m:t xml:space="preserve">=1</m:t>
                          </m:r>
                        </m:sub>
                        <m:sup>
                          <m:r>
                            <a:rPr lang="en-US" sz="1150" i="1">
                              <a:solidFill>
                                <a:srgbClr val="111111"/>
                              </a:solidFill>
                              <a:latin typeface="Cambria Math" panose="02040503050406030204" pitchFamily="18" charset="0"/>
                            </a:rPr>
                            <m:t xml:space="preserve">k</m:t>
                          </m:r>
                        </m:sup>
                        <m:e>
                          <m:sSub>
                            <m:sSubPr>
                              <m:ctrlPr>
                                <a:rPr lang="en-US" sz="1150" i="1">
                                  <a:solidFill>
                                    <a:srgbClr val="111111"/>
                                  </a:solidFill>
                                  <a:latin typeface="Cambria Math" panose="02040503050406030204" pitchFamily="18" charset="0"/>
                                </a:rPr>
                              </m:ctrlPr>
                            </m:sSubPr>
                            <m:e>
                              <m:r>
                                <m:rPr>
                                  <m:sty m:val="p"/>
                                </m:rPr>
                                <a:rPr lang="en-US" sz="1150">
                                  <a:solidFill>
                                    <a:srgbClr val="111111"/>
                                  </a:solidFill>
                                  <a:latin typeface="Cambria Math" panose="02040503050406030204" pitchFamily="18" charset="0"/>
                                </a:rPr>
                                <m:t xml:space="preserve">max</m:t>
                              </m:r>
                            </m:e>
                            <m:sub>
                              <m:r>
                                <a:rPr lang="en-US" sz="1150" i="1">
                                  <a:solidFill>
                                    <a:srgbClr val="111111"/>
                                  </a:solidFill>
                                  <a:latin typeface="Cambria Math" panose="02040503050406030204" pitchFamily="18" charset="0"/>
                                </a:rPr>
                                <m:t xml:space="preserve">c′</m:t>
                              </m:r>
                              <m:r>
                                <m:rPr>
                                  <m:sty m:val="p"/>
                                </m:rPr>
                                <a:rPr lang="en-US" sz="1150">
                                  <a:solidFill>
                                    <a:srgbClr val="111111"/>
                                  </a:solidFill>
                                  <a:latin typeface="Cambria Math" panose="02040503050406030204" pitchFamily="18" charset="0"/>
                                </a:rPr>
                                <m:t xml:space="preserve">≠</m:t>
                              </m:r>
                              <m:r>
                                <a:rPr lang="en-US" sz="1150" i="1">
                                  <a:solidFill>
                                    <a:srgbClr val="111111"/>
                                  </a:solidFill>
                                  <a:latin typeface="Cambria Math" panose="02040503050406030204" pitchFamily="18" charset="0"/>
                                </a:rPr>
                                <m:t xml:space="preserve">c</m:t>
                              </m:r>
                            </m:sub>
                          </m:sSub>
                        </m:e>
                      </m:nary>
                      <m:f>
                        <m:fPr>
                          <m:ctrlPr>
                            <a:rPr lang="en-US" sz="1150" i="1">
                              <a:solidFill>
                                <a:srgbClr val="111111"/>
                              </a:solidFill>
                              <a:latin typeface="Cambria Math" panose="02040503050406030204" pitchFamily="18" charset="0"/>
                            </a:rPr>
                          </m:ctrlPr>
                        </m:fPr>
                        <m:num>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σ</m:t>
                              </m:r>
                            </m:e>
                            <m:sub>
                              <m:r>
                                <a:rPr lang="en-US" sz="1150" i="1">
                                  <a:solidFill>
                                    <a:srgbClr val="111111"/>
                                  </a:solidFill>
                                  <a:latin typeface="Cambria Math" panose="02040503050406030204" pitchFamily="18" charset="0"/>
                                </a:rPr>
                                <m:t xml:space="preserve">c</m:t>
                              </m:r>
                            </m:sub>
                          </m:sSub>
                          <m:r>
                            <m:rPr>
                              <m:sty m:val="p"/>
                            </m:rPr>
                            <a:rPr lang="en-US" sz="1150">
                              <a:solidFill>
                                <a:srgbClr val="111111"/>
                              </a:solidFill>
                              <a:latin typeface="Cambria Math" panose="02040503050406030204" pitchFamily="18" charset="0"/>
                            </a:rPr>
                            <m:t xml:space="preserve">+</m:t>
                          </m:r>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σ</m:t>
                              </m:r>
                            </m:e>
                            <m:sub>
                              <m:r>
                                <a:rPr lang="en-US" sz="1150" i="1">
                                  <a:solidFill>
                                    <a:srgbClr val="111111"/>
                                  </a:solidFill>
                                  <a:latin typeface="Cambria Math" panose="02040503050406030204" pitchFamily="18" charset="0"/>
                                </a:rPr>
                                <m:t xml:space="preserve">c′</m:t>
                              </m:r>
                            </m:sub>
                          </m:sSub>
                        </m:num>
                        <m:den>
                          <m:r>
                            <a:rPr lang="en-US" sz="1150" i="1">
                              <a:solidFill>
                                <a:srgbClr val="111111"/>
                              </a:solidFill>
                              <a:latin typeface="Cambria Math" panose="02040503050406030204" pitchFamily="18" charset="0"/>
                            </a:rPr>
                            <m:t xml:space="preserve">d</m:t>
                          </m:r>
                          <m:r>
                            <m:rPr>
                              <m:sty m:val="p"/>
                            </m:rPr>
                            <a:rPr lang="en-US" sz="1150">
                              <a:solidFill>
                                <a:srgbClr val="111111"/>
                              </a:solidFill>
                              <a:latin typeface="Cambria Math" panose="02040503050406030204" pitchFamily="18" charset="0"/>
                            </a:rPr>
                            <m:t xml:space="preserve">(</m:t>
                          </m:r>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μ</m:t>
                              </m:r>
                            </m:e>
                            <m:sub>
                              <m:r>
                                <a:rPr lang="en-US" sz="1150" i="1">
                                  <a:solidFill>
                                    <a:srgbClr val="111111"/>
                                  </a:solidFill>
                                  <a:latin typeface="Cambria Math" panose="02040503050406030204" pitchFamily="18" charset="0"/>
                                </a:rPr>
                                <m:t xml:space="preserve">c</m:t>
                              </m:r>
                            </m:sub>
                          </m:sSub>
                          <m:r>
                            <m:rPr>
                              <m:sty m:val="p"/>
                            </m:rPr>
                            <a:rPr lang="en-US" sz="1150">
                              <a:solidFill>
                                <a:srgbClr val="111111"/>
                              </a:solidFill>
                              <a:latin typeface="Cambria Math" panose="02040503050406030204" pitchFamily="18" charset="0"/>
                            </a:rPr>
                            <m:t xml:space="preserve">,</m:t>
                          </m:r>
                          <m:sSub>
                            <m:sSubPr>
                              <m:ctrlPr>
                                <a:rPr lang="en-US" sz="1150" i="1">
                                  <a:solidFill>
                                    <a:srgbClr val="111111"/>
                                  </a:solidFill>
                                  <a:latin typeface="Cambria Math" panose="02040503050406030204" pitchFamily="18" charset="0"/>
                                </a:rPr>
                              </m:ctrlPr>
                            </m:sSubPr>
                            <m:e>
                              <m:r>
                                <a:rPr lang="en-US" sz="1150" i="1">
                                  <a:solidFill>
                                    <a:srgbClr val="111111"/>
                                  </a:solidFill>
                                  <a:latin typeface="Cambria Math" panose="02040503050406030204" pitchFamily="18" charset="0"/>
                                </a:rPr>
                                <m:t xml:space="preserve">μ</m:t>
                              </m:r>
                            </m:e>
                            <m:sub>
                              <m:r>
                                <a:rPr lang="en-US" sz="1150" i="1">
                                  <a:solidFill>
                                    <a:srgbClr val="111111"/>
                                  </a:solidFill>
                                  <a:latin typeface="Cambria Math" panose="02040503050406030204" pitchFamily="18" charset="0"/>
                                </a:rPr>
                                <m:t xml:space="preserve">c′</m:t>
                              </m:r>
                            </m:sub>
                          </m:sSub>
                          <m:r>
                            <m:rPr>
                              <m:sty m:val="p"/>
                            </m:rPr>
                            <a:rPr lang="en-US" sz="1150">
                              <a:solidFill>
                                <a:srgbClr val="111111"/>
                              </a:solidFill>
                              <a:latin typeface="Cambria Math" panose="02040503050406030204" pitchFamily="18" charset="0"/>
                            </a:rPr>
                            <m:t xml:space="preserve">)</m:t>
                          </m:r>
                        </m:den>
                      </m:f>
                    </m:oMath>
                  </m:oMathPara>
                </a14:m>
                <a:endParaRPr lang="en-US" sz="1150"/>
              </a:p>
            </p:txBody>
          </p:sp>
        </mc:Choice>
        <mc:Fallback>
          <p:sp>
            <p:nvSpPr>
              <p:cNvPr id="60" name="Equation"/>
              <p:cNvSpPr txBox="1"/>
              <p:nvPr/>
            </p:nvSpPr>
            <p:spPr>
              <a:xfrm>
                <a:off x="3771900" y="8212436"/>
                <a:ext cx="6309360" cy="684675"/>
              </a:xfrm>
              <a:prstGeom prst="rect">
                <a:avLst/>
              </a:prstGeom>
              <a:blipFill>
                <a:blip r:embed="rId10"/>
                <a:stretch>
                  <a:fillRect/>
                </a:stretch>
              </a:blipFill>
            </p:spPr>
            <p:txBody>
              <a:bodyPr/>
              <a:lstStyle/>
              <a:p>
                <a:endParaRPr lang="en-US"/>
              </a:p>
            </p:txBody>
          </p:sp>
        </mc:Fallback>
      </mc:AlternateContent>
      <p:sp>
        <p:nvSpPr>
          <p:cNvPr id="61" name="TextBox 60"/>
          <p:cNvSpPr txBox="1"/>
          <p:nvPr/>
        </p:nvSpPr>
        <p:spPr>
          <a:xfrm>
            <a:off x="10309860" y="8185004"/>
            <a:ext cx="6812280" cy="739539"/>
          </a:xfrm>
          <a:prstGeom prst="rect">
            <a:avLst/>
          </a:prstGeom>
          <a:noFill/>
        </p:spPr>
        <p:txBody>
          <a:bodyPr anchor="ctr" rtlCol="false" lIns="0" tIns="0" rIns="0" bIns="0" wrap="square"/>
          <a:lstStyle/>
          <a:p>
            <a:pPr algn="l">
              <a:lnSpc>
                <a:spcPts val="1700"/>
              </a:lnSpc>
              <a:spcBef>
                <a:spcPts val="0"/>
              </a:spcBef>
              <a:buNone/>
            </a:pPr>
            <a:r>
              <a:rPr lang="en-US" sz="1400" b="true">
                <a:solidFill>
                  <a:srgbClr val="111111"/>
                </a:solidFill>
                <a:latin typeface="Nunito Semi-Bold"/>
                <a:ea typeface="Nunito Semi-Bold"/>
                <a:cs typeface="Nunito Semi-Bold"/>
                <a:sym typeface="Nunito Semi-Bold"/>
              </a:rPr>
              <a:t>Cluster overlap; lower is better.</a:t>
            </a:r>
          </a:p>
        </p:txBody>
      </p:sp>
      <p:cxnSp>
        <p:nvCxnSpPr>
          <p:cNvPr id="62" name="Connector 61"/>
          <p:cNvCxnSpPr/>
          <p:nvPr/>
        </p:nvCxnSpPr>
        <p:spPr>
          <a:xfrm>
            <a:off x="1028700" y="8924544"/>
            <a:ext cx="16230600" cy="0"/>
          </a:xfrm>
          <a:prstGeom prst="line">
            <a:avLst/>
          </a:prstGeom>
          <a:ln w="12700">
            <a:solidFill>
              <a:srgbClr val="E3D6C4"/>
            </a:solidFill>
          </a:ln>
        </p:spPr>
      </p:cxnSp>
      <p:sp>
        <p:nvSpPr>
          <p:cNvPr id="63" name="TextBox 62"/>
          <p:cNvSpPr txBox="1"/>
          <p:nvPr/>
        </p:nvSpPr>
        <p:spPr>
          <a:xfrm>
            <a:off x="1028700" y="8997696"/>
            <a:ext cx="16230600" cy="54864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Notation:</a:t>
            </a:r>
            <a:r>
              <a:rPr lang="en-US" sz="1300" b="true">
                <a:solidFill>
                  <a:srgbClr val="8A8378"/>
                </a:solidFill>
                <a:latin typeface="Nunito Semi-Bold"/>
                <a:ea typeface="Nunito Semi-Bold"/>
                <a:cs typeface="Nunito Semi-Bold"/>
                <a:sym typeface="Nunito Semi-Bold"/>
              </a:rPr>
              <a:t> L</a:t>
            </a:r>
            <a:r>
              <a:rPr lang="en-US" sz="1300" b="true" baseline="-25000">
                <a:solidFill>
                  <a:srgbClr val="8A8378"/>
                </a:solidFill>
                <a:latin typeface="Nunito Semi-Bold"/>
                <a:ea typeface="Nunito Semi-Bold"/>
                <a:cs typeface="Nunito Semi-Bold"/>
                <a:sym typeface="Nunito Semi-Bold"/>
              </a:rPr>
              <a:t>u</a:t>
            </a:r>
            <a:r>
              <a:rPr lang="en-US" sz="1300" b="true" baseline="30000">
                <a:solidFill>
                  <a:srgbClr val="8A8378"/>
                </a:solidFill>
                <a:latin typeface="Nunito Semi-Bold"/>
                <a:ea typeface="Nunito Semi-Bold"/>
                <a:cs typeface="Nunito Semi-Bold"/>
                <a:sym typeface="Nunito Semi-Bold"/>
              </a:rPr>
              <a:t>K</a:t>
            </a:r>
            <a:r>
              <a:rPr lang="en-US" sz="1300" b="true">
                <a:solidFill>
                  <a:srgbClr val="8A8378"/>
                </a:solidFill>
                <a:latin typeface="Nunito Semi-Bold"/>
                <a:ea typeface="Nunito Semi-Bold"/>
                <a:cs typeface="Nunito Semi-Bold"/>
                <a:sym typeface="Nunito Semi-Bold"/>
              </a:rPr>
              <a:t> = top-K list of user u; </a:t>
            </a:r>
            <a:r>
              <a:rPr lang="en-US" sz="1300" b="true">
                <a:solidFill>
                  <a:srgbClr val="8A8378"/>
                </a:solidFill>
                <a:latin typeface="Cambria Math"/>
                <a:ea typeface="Cambria Math"/>
                <a:cs typeface="Cambria Math"/>
                <a:sym typeface="Cambria Math"/>
              </a:rPr>
              <a:t>ℛ</a:t>
            </a:r>
            <a:r>
              <a:rPr lang="en-US" sz="1300" b="true" baseline="-25000">
                <a:solidFill>
                  <a:srgbClr val="8A8378"/>
                </a:solidFill>
                <a:latin typeface="Nunito Semi-Bold"/>
                <a:ea typeface="Nunito Semi-Bold"/>
                <a:cs typeface="Nunito Semi-Bold"/>
                <a:sym typeface="Nunito Semi-Bold"/>
              </a:rPr>
              <a:t>u</a:t>
            </a:r>
            <a:r>
              <a:rPr lang="en-US" sz="1300" b="true">
                <a:solidFill>
                  <a:srgbClr val="8A8378"/>
                </a:solidFill>
                <a:latin typeface="Nunito Semi-Bold"/>
                <a:ea typeface="Nunito Semi-Bold"/>
                <a:cs typeface="Nunito Semi-Bold"/>
                <a:sym typeface="Nunito Semi-Bold"/>
              </a:rPr>
              <a:t> = relevant (held-out) items of u; rel</a:t>
            </a:r>
            <a:r>
              <a:rPr lang="en-US" sz="1300" b="true" baseline="-25000">
                <a:solidFill>
                  <a:srgbClr val="8A8378"/>
                </a:solidFill>
                <a:latin typeface="Nunito Semi-Bold"/>
                <a:ea typeface="Nunito Semi-Bold"/>
                <a:cs typeface="Nunito Semi-Bold"/>
                <a:sym typeface="Nunito Semi-Bold"/>
              </a:rPr>
              <a:t>i</a:t>
            </a:r>
            <a:r>
              <a:rPr lang="en-US" sz="1300" b="true">
                <a:solidFill>
                  <a:srgbClr val="8A8378"/>
                </a:solidFill>
                <a:latin typeface="Cambria Math"/>
                <a:ea typeface="Cambria Math"/>
                <a:cs typeface="Cambria Math"/>
                <a:sym typeface="Cambria Math"/>
              </a:rPr>
              <a:t> ∈ </a:t>
            </a:r>
            <a:r>
              <a:rPr lang="en-US" sz="1300" b="true">
                <a:solidFill>
                  <a:srgbClr val="8A8378"/>
                </a:solidFill>
                <a:latin typeface="Nunito Semi-Bold"/>
                <a:ea typeface="Nunito Semi-Bold"/>
                <a:cs typeface="Nunito Semi-Bold"/>
                <a:sym typeface="Nunito Semi-Bold"/>
              </a:rPr>
              <a:t>{0,1}; a(x), b(x) = mean intra- and nearest-cluster distance; </a:t>
            </a:r>
            <a:r>
              <a:rPr lang="en-US" sz="1300" b="true">
                <a:solidFill>
                  <a:srgbClr val="8A8378"/>
                </a:solidFill>
                <a:latin typeface="Calibri"/>
                <a:ea typeface="Calibri"/>
                <a:cs typeface="Calibri"/>
                <a:sym typeface="Calibri"/>
              </a:rPr>
              <a:t>σ</a:t>
            </a:r>
            <a:r>
              <a:rPr lang="en-US" sz="1300" b="true" baseline="-25000">
                <a:solidFill>
                  <a:srgbClr val="8A8378"/>
                </a:solidFill>
                <a:latin typeface="Nunito Semi-Bold"/>
                <a:ea typeface="Nunito Semi-Bold"/>
                <a:cs typeface="Nunito Semi-Bold"/>
                <a:sym typeface="Nunito Semi-Bold"/>
              </a:rPr>
              <a:t>c</a:t>
            </a:r>
            <a:r>
              <a:rPr lang="en-US" sz="1300" b="true">
                <a:solidFill>
                  <a:srgbClr val="8A8378"/>
                </a:solidFill>
                <a:latin typeface="Nunito Semi-Bold"/>
                <a:ea typeface="Nunito Semi-Bold"/>
                <a:cs typeface="Nunito Semi-Bold"/>
                <a:sym typeface="Nunito Semi-Bold"/>
              </a:rPr>
              <a:t>, μ</a:t>
            </a:r>
            <a:r>
              <a:rPr lang="en-US" sz="1300" b="true" baseline="-25000">
                <a:solidFill>
                  <a:srgbClr val="8A8378"/>
                </a:solidFill>
                <a:latin typeface="Nunito Semi-Bold"/>
                <a:ea typeface="Nunito Semi-Bold"/>
                <a:cs typeface="Nunito Semi-Bold"/>
                <a:sym typeface="Nunito Semi-Bold"/>
              </a:rPr>
              <a:t>c</a:t>
            </a:r>
            <a:r>
              <a:rPr lang="en-US" sz="1300" b="true">
                <a:solidFill>
                  <a:srgbClr val="8A8378"/>
                </a:solidFill>
                <a:latin typeface="Nunito Semi-Bold"/>
                <a:ea typeface="Nunito Semi-Bold"/>
                <a:cs typeface="Nunito Semi-Bold"/>
                <a:sym typeface="Nunito Semi-Bold"/>
              </a:rPr>
              <a:t> = spread and centroid of cluster c. Reported at K </a:t>
            </a:r>
            <a:r>
              <a:rPr lang="en-US" sz="1300" b="true">
                <a:solidFill>
                  <a:srgbClr val="8A8378"/>
                </a:solidFill>
                <a:latin typeface="Cambria Math"/>
                <a:ea typeface="Cambria Math"/>
                <a:cs typeface="Cambria Math"/>
                <a:sym typeface="Cambria Math"/>
              </a:rPr>
              <a:t>∈ </a:t>
            </a:r>
            <a:r>
              <a:rPr lang="en-US" sz="1300" b="true">
                <a:solidFill>
                  <a:srgbClr val="8A8378"/>
                </a:solidFill>
                <a:latin typeface="Nunito Semi-Bold"/>
                <a:ea typeface="Nunito Semi-Bold"/>
                <a:cs typeface="Nunito Semi-Bold"/>
                <a:sym typeface="Nunito Semi-Bold"/>
              </a:rPr>
              <a:t>{5, 10, 20}; NDCG@20 is the main measure.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25</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EXPERIMENTAL PROTOCOL</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Hardware &amp; Software</a:t>
            </a:r>
          </a:p>
        </p:txBody>
      </p:sp>
      <p:sp>
        <p:nvSpPr>
          <p:cNvPr id="21" name="Rounded Rectangle 20"/>
          <p:cNvSpPr/>
          <p:nvPr/>
        </p:nvSpPr>
        <p:spPr>
          <a:xfrm>
            <a:off x="1028700" y="2559050"/>
            <a:ext cx="15239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Datasets</a:t>
            </a:r>
          </a:p>
        </p:txBody>
      </p:sp>
      <p:sp>
        <p:nvSpPr>
          <p:cNvPr id="22" name="Rounded Rectangle 21"/>
          <p:cNvSpPr/>
          <p:nvPr/>
        </p:nvSpPr>
        <p:spPr>
          <a:xfrm>
            <a:off x="2680623" y="2559050"/>
            <a:ext cx="1349432"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Metrics</a:t>
            </a:r>
          </a:p>
        </p:txBody>
      </p:sp>
      <p:sp>
        <p:nvSpPr>
          <p:cNvPr id="23" name="Rounded Rectangle 22"/>
          <p:cNvSpPr/>
          <p:nvPr/>
        </p:nvSpPr>
        <p:spPr>
          <a:xfrm>
            <a:off x="4158071" y="2559050"/>
            <a:ext cx="164257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Hardware</a:t>
            </a:r>
          </a:p>
        </p:txBody>
      </p:sp>
      <p:graphicFrame>
        <p:nvGraphicFramePr>
          <p:cNvPr id="24" name="Table 23"/>
          <p:cNvGraphicFramePr>
            <a:graphicFrameLocks noGrp="1"/>
          </p:cNvGraphicFramePr>
          <p:nvPr/>
        </p:nvGraphicFramePr>
        <p:xfrm>
          <a:off x="1028700" y="3363722"/>
          <a:ext cx="16230599" cy="3108960"/>
        </p:xfrm>
        <a:graphic>
          <a:graphicData uri="http://schemas.openxmlformats.org/drawingml/2006/table">
            <a:tbl>
              <a:tblPr firstRow="0" bandRow="0" firstCol="0" lastRow="0" lastCol="0" bandCol="0">
                <a:tableStyleId>{2D5ABB26-0587-4C30-8999-92F81FD0307C}</a:tableStyleId>
              </a:tblPr>
              <a:tblGrid>
                <a:gridCol w="2705100"/>
                <a:gridCol w="2080846"/>
                <a:gridCol w="3537438"/>
                <a:gridCol w="2705100"/>
                <a:gridCol w="1456592"/>
                <a:gridCol w="3745523"/>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Hardware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CPU / GPU</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RAM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Storage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Main software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  ·  Wine clustering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Intel Core i9-14900K (24 cores)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scikit-learn, LightGBM, SHAP, Altair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II  ·  Beijing multi-level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Intel Core i9-14900K (24 cores)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 (full dataset in memory)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scikit-learn, LightGBM, SHAP</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7772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III  ·  DyHuCoG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Workstation + GPU</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NVIDIA GeForce RTX 4090 (24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48 GB</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2 TB SSD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Python 3.8, PyTorch 2.0.1, NumPy / SciPy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5" name="TextBox 24"/>
          <p:cNvSpPr txBox="1"/>
          <p:nvPr/>
        </p:nvSpPr>
        <p:spPr>
          <a:xfrm>
            <a:off x="1028700" y="6545834"/>
            <a:ext cx="16230600" cy="411480"/>
          </a:xfrm>
          <a:prstGeom prst="rect">
            <a:avLst/>
          </a:prstGeom>
          <a:noFill/>
        </p:spPr>
        <p:txBody>
          <a:bodyPr anchor="t" rtlCol="false" lIns="0" tIns="0" rIns="0" bIns="0" wrap="square"/>
          <a:lstStyle/>
          <a:p>
            <a:pPr algn="l">
              <a:lnSpc>
                <a:spcPts val="1700"/>
              </a:lnSpc>
              <a:spcBef>
                <a:spcPts val="0"/>
              </a:spcBef>
              <a:buNone/>
            </a:pPr>
            <a:r>
              <a:rPr lang="en-US" sz="1300" b="true">
                <a:solidFill>
                  <a:srgbClr val="8A8378"/>
                </a:solidFill>
                <a:latin typeface="Nunito Semi-Bold"/>
                <a:ea typeface="Nunito Semi-Bold"/>
                <a:cs typeface="Nunito Semi-Bold"/>
                <a:sym typeface="Nunito Semi-Bold"/>
              </a:rPr>
              <a:t>Table 4.2 (thesis): hardware and software configuration, arranged here by contribution.</a:t>
            </a:r>
          </a:p>
        </p:txBody>
      </p:sp>
      <p:sp>
        <p:nvSpPr>
          <p:cNvPr id="26" name="Rounded Rectangle 25"/>
          <p:cNvSpPr/>
          <p:nvPr/>
        </p:nvSpPr>
        <p:spPr>
          <a:xfrm>
            <a:off x="1028700" y="7249922"/>
            <a:ext cx="7932420" cy="1967230"/>
          </a:xfrm>
          <a:prstGeom prst="roundRect">
            <a:avLst>
              <a:gd name="adj" fmla="val 15803"/>
            </a:avLst>
          </a:prstGeom>
          <a:solidFill>
            <a:srgbClr val="4472C4"/>
          </a:solidFill>
          <a:ln>
            <a:noFill/>
          </a:ln>
        </p:spPr>
        <p:txBody>
          <a:bodyPr anchor="ctr" rtlCol="false" lIns="0" tIns="0" rIns="0" bIns="0" wrap="square"/>
          <a:lstStyle/>
          <a:p>
            <a:endParaRPr lang="en-US" sz="1800"/>
          </a:p>
        </p:txBody>
      </p:sp>
      <p:sp>
        <p:nvSpPr>
          <p:cNvPr id="27" name="Rounded Rectangle 26"/>
          <p:cNvSpPr/>
          <p:nvPr/>
        </p:nvSpPr>
        <p:spPr>
          <a:xfrm>
            <a:off x="1485900" y="7012178"/>
            <a:ext cx="2678309"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it matters</a:t>
            </a:r>
          </a:p>
        </p:txBody>
      </p:sp>
      <p:sp>
        <p:nvSpPr>
          <p:cNvPr id="28" name="TextBox 27"/>
          <p:cNvSpPr txBox="1"/>
          <p:nvPr/>
        </p:nvSpPr>
        <p:spPr>
          <a:xfrm>
            <a:off x="1485900" y="7798562"/>
            <a:ext cx="7063740" cy="1235710"/>
          </a:xfrm>
          <a:prstGeom prst="rect">
            <a:avLst/>
          </a:prstGeom>
          <a:noFill/>
        </p:spPr>
        <p:txBody>
          <a:bodyPr anchor="t" rtlCol="false" lIns="0" tIns="0" rIns="0" bIns="0" wrap="square"/>
          <a:lstStyle/>
          <a:p>
            <a:pPr algn="l" marL="274320" indent="-274320">
              <a:lnSpc>
                <a:spcPts val="2166"/>
              </a:lnSpc>
              <a:spcBef>
                <a:spcPts val="0"/>
              </a:spcBef>
              <a:buClr>
                <a:srgbClr val="ECC665"/>
              </a:buClr>
              <a:buSzPct val="100000"/>
              <a:buFont typeface="Arial"/>
              <a:buChar char="•"/>
            </a:pPr>
            <a:r>
              <a:rPr lang="en-US" sz="1547" b="true">
                <a:solidFill>
                  <a:srgbClr val="FFFFFF"/>
                </a:solidFill>
                <a:latin typeface="Nunito Semi-Bold"/>
                <a:ea typeface="Nunito Semi-Bold"/>
                <a:cs typeface="Nunito Semi-Bold"/>
                <a:sym typeface="Nunito Semi-Bold"/>
              </a:rPr>
              <a:t>The hardware explains the </a:t>
            </a:r>
            <a:r>
              <a:rPr lang="en-US" sz="1547" b="true">
                <a:solidFill>
                  <a:srgbClr val="FFFFFF"/>
                </a:solidFill>
                <a:latin typeface="Nunito Bold"/>
                <a:ea typeface="Nunito Bold"/>
                <a:cs typeface="Nunito Bold"/>
                <a:sym typeface="Nunito Bold"/>
              </a:rPr>
              <a:t>runtime figures</a:t>
            </a:r>
            <a:r>
              <a:rPr lang="en-US" sz="1547" b="true">
                <a:solidFill>
                  <a:srgbClr val="FFFFFF"/>
                </a:solidFill>
                <a:latin typeface="Nunito Semi-Bold"/>
                <a:ea typeface="Nunito Semi-Bold"/>
                <a:cs typeface="Nunito Semi-Bold"/>
                <a:sym typeface="Nunito Semi-Bold"/>
              </a:rPr>
              <a:t> quoted later (DyHuCoG ≈ 1.78× HPCF training time on MovieLens-1M).</a:t>
            </a:r>
          </a:p>
          <a:p>
            <a:pPr algn="l" marL="274320" indent="-274320">
              <a:lnSpc>
                <a:spcPts val="2166"/>
              </a:lnSpc>
              <a:spcBef>
                <a:spcPts val="546"/>
              </a:spcBef>
              <a:buClr>
                <a:srgbClr val="ECC665"/>
              </a:buClr>
              <a:buSzPct val="100000"/>
              <a:buFont typeface="Arial"/>
              <a:buChar char="•"/>
            </a:pPr>
            <a:r>
              <a:rPr lang="en-US" sz="1547" b="true">
                <a:solidFill>
                  <a:srgbClr val="FFFFFF"/>
                </a:solidFill>
                <a:latin typeface="Nunito Semi-Bold"/>
                <a:ea typeface="Nunito Semi-Bold"/>
                <a:cs typeface="Nunito Semi-Bold"/>
                <a:sym typeface="Nunito Semi-Bold"/>
              </a:rPr>
              <a:t>Metrics at K </a:t>
            </a:r>
            <a:r>
              <a:rPr lang="en-US" sz="1547" b="true">
                <a:solidFill>
                  <a:srgbClr val="FFFFFF"/>
                </a:solidFill>
                <a:latin typeface="Cambria Math"/>
                <a:ea typeface="Cambria Math"/>
                <a:cs typeface="Cambria Math"/>
                <a:sym typeface="Cambria Math"/>
              </a:rPr>
              <a:t>∈ </a:t>
            </a:r>
            <a:r>
              <a:rPr lang="en-US" sz="1547" b="true">
                <a:solidFill>
                  <a:srgbClr val="FFFFFF"/>
                </a:solidFill>
                <a:latin typeface="Nunito Semi-Bold"/>
                <a:ea typeface="Nunito Semi-Bold"/>
                <a:cs typeface="Nunito Semi-Bold"/>
                <a:sym typeface="Nunito Semi-Bold"/>
              </a:rPr>
              <a:t>{5, 10, 20}; five seeds; early stopping on validation NDCG@20.</a:t>
            </a:r>
          </a:p>
        </p:txBody>
      </p:sp>
      <p:sp>
        <p:nvSpPr>
          <p:cNvPr id="29" name="Rounded Rectangle 28"/>
          <p:cNvSpPr/>
          <p:nvPr/>
        </p:nvSpPr>
        <p:spPr>
          <a:xfrm>
            <a:off x="9326880" y="7249922"/>
            <a:ext cx="7932420" cy="1967230"/>
          </a:xfrm>
          <a:prstGeom prst="roundRect">
            <a:avLst>
              <a:gd name="adj" fmla="val 15803"/>
            </a:avLst>
          </a:prstGeom>
          <a:solidFill>
            <a:srgbClr val="F6ECDF"/>
          </a:solidFill>
          <a:ln>
            <a:noFill/>
          </a:ln>
        </p:spPr>
        <p:txBody>
          <a:bodyPr anchor="ctr" rtlCol="false" lIns="0" tIns="0" rIns="0" bIns="0" wrap="square"/>
          <a:lstStyle/>
          <a:p>
            <a:endParaRPr lang="en-US" sz="1800"/>
          </a:p>
        </p:txBody>
      </p:sp>
      <p:sp>
        <p:nvSpPr>
          <p:cNvPr id="30" name="Rounded Rectangle 29"/>
          <p:cNvSpPr/>
          <p:nvPr/>
        </p:nvSpPr>
        <p:spPr>
          <a:xfrm>
            <a:off x="9784080" y="7012178"/>
            <a:ext cx="1470201"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Scope</a:t>
            </a:r>
          </a:p>
        </p:txBody>
      </p:sp>
      <p:sp>
        <p:nvSpPr>
          <p:cNvPr id="31" name="TextBox 30"/>
          <p:cNvSpPr txBox="1"/>
          <p:nvPr/>
        </p:nvSpPr>
        <p:spPr>
          <a:xfrm>
            <a:off x="9784080" y="7798562"/>
            <a:ext cx="7063740" cy="1235710"/>
          </a:xfrm>
          <a:prstGeom prst="rect">
            <a:avLst/>
          </a:prstGeom>
          <a:noFill/>
        </p:spPr>
        <p:txBody>
          <a:bodyPr anchor="t" rtlCol="false" lIns="0" tIns="0" rIns="0" bIns="0" wrap="square"/>
          <a:lstStyle/>
          <a:p>
            <a:pPr algn="l" marL="274320" indent="-274320">
              <a:lnSpc>
                <a:spcPts val="2166"/>
              </a:lnSpc>
              <a:spcBef>
                <a:spcPts val="0"/>
              </a:spcBef>
              <a:buClr>
                <a:srgbClr val="1F7A8C"/>
              </a:buClr>
              <a:buSzPct val="100000"/>
              <a:buFont typeface="Arial"/>
              <a:buChar char="•"/>
            </a:pPr>
            <a:r>
              <a:rPr lang="en-US" sz="1547" b="true">
                <a:solidFill>
                  <a:srgbClr val="111111"/>
                </a:solidFill>
                <a:latin typeface="Nunito Bold"/>
                <a:ea typeface="Nunito Bold"/>
                <a:cs typeface="Nunito Bold"/>
                <a:sym typeface="Nunito Bold"/>
              </a:rPr>
              <a:t>Everything runs on standard academic hardware</a:t>
            </a:r>
            <a:r>
              <a:rPr lang="en-US" sz="1547" b="true">
                <a:solidFill>
                  <a:srgbClr val="111111"/>
                </a:solidFill>
                <a:latin typeface="Nunito Semi-Bold"/>
                <a:ea typeface="Nunito Semi-Bold"/>
                <a:cs typeface="Nunito Semi-Bold"/>
                <a:sym typeface="Nunito Semi-Bold"/>
              </a:rPr>
              <a:t>; nothing needs industrial-scale compute.</a:t>
            </a:r>
          </a:p>
          <a:p>
            <a:pPr algn="l" marL="274320" indent="-274320">
              <a:lnSpc>
                <a:spcPts val="2166"/>
              </a:lnSpc>
              <a:spcBef>
                <a:spcPts val="546"/>
              </a:spcBef>
              <a:buClr>
                <a:srgbClr val="1F7A8C"/>
              </a:buClr>
              <a:buSzPct val="100000"/>
              <a:buFont typeface="Arial"/>
              <a:buChar char="•"/>
            </a:pPr>
            <a:r>
              <a:rPr lang="en-US" sz="1547" b="true">
                <a:solidFill>
                  <a:srgbClr val="111111"/>
                </a:solidFill>
                <a:latin typeface="Nunito Semi-Bold"/>
                <a:ea typeface="Nunito Semi-Bold"/>
                <a:cs typeface="Nunito Semi-Bold"/>
                <a:sym typeface="Nunito Semi-Bold"/>
              </a:rPr>
              <a:t>Clustering, surrogates, SHAP and DyHuCoG share the same seeds and splits.</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26</a:t>
            </a:r>
          </a:p>
        </p:txBody>
      </p:sp>
      <p:sp>
        <p:nvSpPr>
          <p:cNvPr id="5" name="TextBox 4"/>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a:t>
            </a:r>
          </a:p>
        </p:txBody>
      </p:sp>
      <p:sp>
        <p:nvSpPr>
          <p:cNvPr id="6" name="Oval 5"/>
          <p:cNvSpPr/>
          <p:nvPr/>
        </p:nvSpPr>
        <p:spPr>
          <a:xfrm>
            <a:off x="13049535"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7" name="TextBox 6"/>
          <p:cNvSpPr txBox="1"/>
          <p:nvPr/>
        </p:nvSpPr>
        <p:spPr>
          <a:xfrm>
            <a:off x="13049535"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04</a:t>
            </a:r>
          </a:p>
        </p:txBody>
      </p:sp>
      <p:sp>
        <p:nvSpPr>
          <p:cNvPr id="8" name="TextBox 7"/>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Explainable black-box clustering with Shapley values  ·  answers RQ1</a:t>
            </a:r>
          </a:p>
        </p:txBody>
      </p:sp>
      <p:sp>
        <p:nvSpPr>
          <p:cNvPr id="9" name="Rectangle 8"/>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0" name="TextBox 9"/>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1" name="Connector 10"/>
          <p:cNvCxnSpPr/>
          <p:nvPr/>
        </p:nvCxnSpPr>
        <p:spPr>
          <a:xfrm>
            <a:off x="1028700" y="6464808"/>
            <a:ext cx="640080" cy="0"/>
          </a:xfrm>
          <a:prstGeom prst="line">
            <a:avLst/>
          </a:prstGeom>
          <a:ln w="31750">
            <a:solidFill>
              <a:srgbClr val="ECC665"/>
            </a:solidFill>
          </a:ln>
        </p:spPr>
      </p:cxnSp>
      <p:sp>
        <p:nvSpPr>
          <p:cNvPr id="12" name="TextBox 11"/>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Cluster-level explanation that keeps feature-level attribution in the original feature space; justify Shapley over LIME.</a:t>
            </a:r>
          </a:p>
        </p:txBody>
      </p:sp>
      <p:sp>
        <p:nvSpPr>
          <p:cNvPr id="13" name="TextBox 12"/>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4" name="Connector 13"/>
          <p:cNvCxnSpPr/>
          <p:nvPr/>
        </p:nvCxnSpPr>
        <p:spPr>
          <a:xfrm>
            <a:off x="6576060" y="6464808"/>
            <a:ext cx="640080" cy="0"/>
          </a:xfrm>
          <a:prstGeom prst="line">
            <a:avLst/>
          </a:prstGeom>
          <a:ln w="31750">
            <a:solidFill>
              <a:srgbClr val="ECC665"/>
            </a:solidFill>
          </a:ln>
        </p:spPr>
      </p:cxnSp>
      <p:sp>
        <p:nvSpPr>
          <p:cNvPr id="15" name="TextBox 14"/>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Features are players; Silhouette is the value function; a LightGBM surrogate bridges K-Means to exact TreeSHAP.</a:t>
            </a:r>
          </a:p>
        </p:txBody>
      </p:sp>
      <p:sp>
        <p:nvSpPr>
          <p:cNvPr id="16" name="TextBox 15"/>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7" name="Connector 16"/>
          <p:cNvCxnSpPr/>
          <p:nvPr/>
        </p:nvCxnSpPr>
        <p:spPr>
          <a:xfrm>
            <a:off x="12123420" y="6464808"/>
            <a:ext cx="640080" cy="0"/>
          </a:xfrm>
          <a:prstGeom prst="line">
            <a:avLst/>
          </a:prstGeom>
          <a:ln w="31750">
            <a:solidFill>
              <a:srgbClr val="ECC665"/>
            </a:solidFill>
          </a:ln>
        </p:spPr>
      </p:cxnSp>
      <p:sp>
        <p:nvSpPr>
          <p:cNvPr id="18" name="TextBox 17"/>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Wine Quality: k</a:t>
            </a:r>
            <a:r>
              <a:rPr lang="en-US" sz="2100" b="true" baseline="30000">
                <a:solidFill>
                  <a:srgbClr val="FFFFFF"/>
                </a:solidFill>
                <a:latin typeface="Nunito Semi-Bold"/>
                <a:ea typeface="Nunito Semi-Bold"/>
                <a:cs typeface="Nunito Semi-Bold"/>
                <a:sym typeface="Nunito Semi-Bold"/>
              </a:rPr>
              <a:t>*</a:t>
            </a:r>
            <a:r>
              <a:rPr lang="en-US" sz="2100" b="true">
                <a:solidFill>
                  <a:srgbClr val="FFFFFF"/>
                </a:solidFill>
                <a:latin typeface="Nunito Semi-Bold"/>
                <a:ea typeface="Nunito Semi-Bold"/>
                <a:cs typeface="Nunito Semi-Bold"/>
                <a:sym typeface="Nunito Semi-Bold"/>
              </a:rPr>
              <a:t> = 3 chosen for interpretability; density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pH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acidity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SO₂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alcohol recovered as a chemically meaningful ranking.</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[5] Lundberg, S. M. &amp; Lee, S.-I. A Unified Approach to Interpreting Model Predictions (SHAP). NeurIPS 30, 4765–4774 (2017).   [6] Lundberg, S. M. et al. From Local Explanations to Global Understanding with Explainable AI for Trees (TreeSHAP). Nature Machine Intelligence 2, 56–67 (2020).   [7] Ribeiro, M. T., Singh, S. &amp; Guestrin, C. "Why Should I Trust You?": Explaining the Predictions of Any Classifier (LIME). KDD, 1135–1144 (2016).</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27</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sp>
        <p:nvSpPr>
          <p:cNvPr id="21" name="Rounded Rectangle 20"/>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Shapley explanation is </a:t>
            </a:r>
            <a:r>
              <a:rPr lang="en-US" sz="2100" b="true">
                <a:solidFill>
                  <a:srgbClr val="111111"/>
                </a:solidFill>
                <a:latin typeface="Nunito Bold"/>
                <a:ea typeface="Nunito Bold"/>
                <a:cs typeface="Nunito Bold"/>
                <a:sym typeface="Nunito Bold"/>
              </a:rPr>
              <a:t>standard in supervised tasks</a:t>
            </a:r>
            <a:r>
              <a:rPr lang="en-US" sz="2100" b="true">
                <a:solidFill>
                  <a:srgbClr val="111111"/>
                </a:solidFill>
                <a:latin typeface="Nunito Semi-Bold"/>
                <a:ea typeface="Nunito Semi-Bold"/>
                <a:cs typeface="Nunito Semi-Bold"/>
                <a:sym typeface="Nunito Semi-Bold"/>
              </a:rPr>
              <a:t> [5, 6], but clustering is still much less explained.</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Existing clustering-interpretability methods favour </a:t>
            </a:r>
            <a:r>
              <a:rPr lang="en-US" sz="2100" b="true">
                <a:solidFill>
                  <a:srgbClr val="111111"/>
                </a:solidFill>
                <a:latin typeface="Nunito Bold"/>
                <a:ea typeface="Nunito Bold"/>
                <a:cs typeface="Nunito Bold"/>
                <a:sym typeface="Nunito Bold"/>
              </a:rPr>
              <a:t>local or global</a:t>
            </a:r>
            <a:r>
              <a:rPr lang="en-US" sz="2100" b="true">
                <a:solidFill>
                  <a:srgbClr val="111111"/>
                </a:solidFill>
                <a:latin typeface="Nunito Semi-Bold"/>
                <a:ea typeface="Nunito Semi-Bold"/>
                <a:cs typeface="Nunito Semi-Bold"/>
                <a:sym typeface="Nunito Semi-Bold"/>
              </a:rPr>
              <a:t> explanation, not both.</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They often fail to scale or to stay </a:t>
            </a:r>
            <a:r>
              <a:rPr lang="en-US" sz="2100" b="true">
                <a:solidFill>
                  <a:srgbClr val="111111"/>
                </a:solidFill>
                <a:latin typeface="Nunito Bold"/>
                <a:ea typeface="Nunito Bold"/>
                <a:cs typeface="Nunito Bold"/>
                <a:sym typeface="Nunito Bold"/>
              </a:rPr>
              <a:t>consistent across clusters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Clustering is the hardest test bed: the model creates its own structure, so cluster meaning must be worked out after the fact.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Local surrogates such as LIME [7] give no guarantee that the credit assigned to a feature is fair or stable.</a:t>
            </a:r>
          </a:p>
        </p:txBody>
      </p:sp>
      <p:sp>
        <p:nvSpPr>
          <p:cNvPr id="26" name="Rounded Rectangle 25"/>
          <p:cNvSpPr/>
          <p:nvPr/>
        </p:nvSpPr>
        <p:spPr>
          <a:xfrm>
            <a:off x="1028700" y="7616952"/>
            <a:ext cx="16230600" cy="1600200"/>
          </a:xfrm>
          <a:prstGeom prst="roundRect">
            <a:avLst>
              <a:gd name="adj" fmla="val 12571"/>
            </a:avLst>
          </a:prstGeom>
          <a:solidFill>
            <a:srgbClr val="F6ECDF"/>
          </a:solidFill>
          <a:ln w="25400">
            <a:solidFill>
              <a:srgbClr val="1F7A8C"/>
            </a:solidFill>
          </a:ln>
        </p:spPr>
        <p:txBody>
          <a:bodyPr anchor="ctr" rtlCol="false" lIns="0" tIns="0" rIns="0" bIns="0" wrap="square"/>
          <a:lstStyle/>
          <a:p>
            <a:endParaRPr lang="en-US" sz="1800"/>
          </a:p>
        </p:txBody>
      </p:sp>
      <p:sp>
        <p:nvSpPr>
          <p:cNvPr id="27" name="Rounded Rectangle 26"/>
          <p:cNvSpPr/>
          <p:nvPr/>
        </p:nvSpPr>
        <p:spPr>
          <a:xfrm>
            <a:off x="1348740" y="7424928"/>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28" name="TextBox 27"/>
          <p:cNvSpPr txBox="1"/>
          <p:nvPr/>
        </p:nvSpPr>
        <p:spPr>
          <a:xfrm>
            <a:off x="1394460" y="7891272"/>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There is no principled, axiomatic way to explain </a:t>
            </a:r>
            <a:r>
              <a:rPr lang="en-US" sz="2200" b="true">
                <a:solidFill>
                  <a:srgbClr val="111111"/>
                </a:solidFill>
                <a:latin typeface="Nunito Bold"/>
                <a:ea typeface="Nunito Bold"/>
                <a:cs typeface="Nunito Bold"/>
                <a:sym typeface="Nunito Bold"/>
              </a:rPr>
              <a:t>why a black-box clustering put an observation in a given cluster</a:t>
            </a:r>
            <a:r>
              <a:rPr lang="en-US" sz="2200" b="true">
                <a:solidFill>
                  <a:srgbClr val="111111"/>
                </a:solidFill>
                <a:latin typeface="Nunito Semi-Bold"/>
                <a:ea typeface="Nunito Semi-Bold"/>
                <a:cs typeface="Nunito Semi-Bold"/>
                <a:sym typeface="Nunito Semi-Bold"/>
              </a:rPr>
              <a:t>, in the original feature space and consistently across clusters.</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28</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RQ1 and Objectives</a:t>
            </a:r>
          </a:p>
        </p:txBody>
      </p:sp>
      <p:sp>
        <p:nvSpPr>
          <p:cNvPr id="21" name="Rounded Rectangle 20"/>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Rounded Rectangle 24"/>
          <p:cNvSpPr/>
          <p:nvPr/>
        </p:nvSpPr>
        <p:spPr>
          <a:xfrm>
            <a:off x="1028700" y="3546602"/>
            <a:ext cx="16230600" cy="1325880"/>
          </a:xfrm>
          <a:prstGeom prst="roundRect">
            <a:avLst>
              <a:gd name="adj" fmla="val 15172"/>
            </a:avLst>
          </a:prstGeom>
          <a:solidFill>
            <a:srgbClr val="F6ECDF"/>
          </a:solidFill>
          <a:ln w="25400">
            <a:solidFill>
              <a:srgbClr val="4472C4"/>
            </a:solidFill>
          </a:ln>
        </p:spPr>
        <p:txBody>
          <a:bodyPr anchor="ctr" rtlCol="false" lIns="0" tIns="0" rIns="0" bIns="0" wrap="square"/>
          <a:lstStyle/>
          <a:p>
            <a:endParaRPr lang="en-US" sz="1800"/>
          </a:p>
        </p:txBody>
      </p:sp>
      <p:sp>
        <p:nvSpPr>
          <p:cNvPr id="26" name="Rounded Rectangle 25"/>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RQ1</a:t>
            </a:r>
          </a:p>
        </p:txBody>
      </p:sp>
      <p:sp>
        <p:nvSpPr>
          <p:cNvPr id="27" name="TextBox 26"/>
          <p:cNvSpPr txBox="1"/>
          <p:nvPr/>
        </p:nvSpPr>
        <p:spPr>
          <a:xfrm>
            <a:off x="1394460" y="3820922"/>
            <a:ext cx="15499080" cy="91440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How can Shapley values explain black-box clustering </a:t>
            </a:r>
            <a:r>
              <a:rPr lang="en-US" sz="2200" b="true">
                <a:solidFill>
                  <a:srgbClr val="111111"/>
                </a:solidFill>
                <a:latin typeface="Nunito Bold"/>
                <a:ea typeface="Nunito Bold"/>
                <a:cs typeface="Nunito Bold"/>
                <a:sym typeface="Nunito Bold"/>
              </a:rPr>
              <a:t>faithfully</a:t>
            </a:r>
            <a:r>
              <a:rPr lang="en-US" sz="2200" b="true">
                <a:solidFill>
                  <a:srgbClr val="111111"/>
                </a:solidFill>
                <a:latin typeface="Nunito Semi-Bold"/>
                <a:ea typeface="Nunito Semi-Bold"/>
                <a:cs typeface="Nunito Semi-Bold"/>
                <a:sym typeface="Nunito Semi-Bold"/>
              </a:rPr>
              <a:t>, at both instance level and cluster level?</a:t>
            </a:r>
          </a:p>
        </p:txBody>
      </p:sp>
      <p:graphicFrame>
        <p:nvGraphicFramePr>
          <p:cNvPr id="28" name="Table 27"/>
          <p:cNvGraphicFramePr>
            <a:graphicFrameLocks noGrp="1"/>
          </p:cNvGraphicFramePr>
          <p:nvPr/>
        </p:nvGraphicFramePr>
        <p:xfrm>
          <a:off x="1028700" y="528396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Cluster-level explanation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 pipeline that yields a cluster-level explanation while keeping </a:t>
                      </a:r>
                      <a:r>
                        <a:rPr lang="en-US" sz="1800" b="true">
                          <a:solidFill>
                            <a:srgbClr val="111111"/>
                          </a:solidFill>
                          <a:latin typeface="Nunito Bold"/>
                          <a:ea typeface="Nunito Bold"/>
                          <a:cs typeface="Nunito Bold"/>
                          <a:sym typeface="Nunito Bold"/>
                        </a:rPr>
                        <a:t>feature-level attribution</a:t>
                      </a:r>
                      <a:r>
                        <a:rPr lang="en-US" sz="1800" b="true">
                          <a:solidFill>
                            <a:srgbClr val="111111"/>
                          </a:solidFill>
                          <a:latin typeface="Nunito Semi-Bold"/>
                          <a:ea typeface="Nunito Semi-Bold"/>
                          <a:cs typeface="Nunito Semi-Bold"/>
                          <a:sym typeface="Nunito Semi-Bold"/>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Fig. 5.2, cluster profiles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Original 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Attribution in the </a:t>
                      </a:r>
                      <a:r>
                        <a:rPr lang="en-US" sz="1800" b="true">
                          <a:solidFill>
                            <a:srgbClr val="111111"/>
                          </a:solidFill>
                          <a:latin typeface="Nunito Bold"/>
                          <a:ea typeface="Nunito Bold"/>
                          <a:cs typeface="Nunito Bold"/>
                          <a:sym typeface="Nunito Bold"/>
                        </a:rPr>
                        <a:t>original variables</a:t>
                      </a:r>
                      <a:r>
                        <a:rPr lang="en-US" sz="1800" b="true">
                          <a:solidFill>
                            <a:srgbClr val="111111"/>
                          </a:solidFill>
                          <a:latin typeface="Nunito Semi-Bold"/>
                          <a:ea typeface="Nunito Semi-Bold"/>
                          <a:cs typeface="Nunito Semi-Bold"/>
                          <a:sym typeface="Nunito Semi-Bold"/>
                        </a:rPr>
                        <a:t> (density, pH, acidity, sulfur dioxide, alcohol), not in a reduced latent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Fig. 5.1, global ranking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Justify Shapley over LIME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An argument from the </a:t>
                      </a:r>
                      <a:r>
                        <a:rPr lang="en-US" sz="1800" b="true">
                          <a:solidFill>
                            <a:srgbClr val="111111"/>
                          </a:solidFill>
                          <a:latin typeface="Nunito Bold"/>
                          <a:ea typeface="Nunito Bold"/>
                          <a:cs typeface="Nunito Bold"/>
                          <a:sym typeface="Nunito Bold"/>
                        </a:rPr>
                        <a:t>four axioms</a:t>
                      </a:r>
                      <a:r>
                        <a:rPr lang="en-US" sz="1800" b="true">
                          <a:solidFill>
                            <a:srgbClr val="111111"/>
                          </a:solidFill>
                          <a:latin typeface="Nunito Semi-Bold"/>
                          <a:ea typeface="Nunito Semi-Bold"/>
                          <a:cs typeface="Nunito Semi-Bold"/>
                          <a:sym typeface="Nunito Semi-Bold"/>
                        </a:rPr>
                        <a:t> for why the cooperative concept is the right 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SHAP vs LIME comparison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[4] Shapley, L. S. A Value for n-Person Games. Contributions to the Theory of Games II, 307–317, Princeton University Press (1953).   [5] Lundberg, S. M. &amp; Lee, S.-I. A Unified Approach to Interpreting Model Predictions (SHAP). NeurIPS 30, 4765–4774 (2017).</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29</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Cooperative Game and the Shapley Value</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7680960" cy="2286000"/>
          </a:xfrm>
          <a:prstGeom prst="rect">
            <a:avLst/>
          </a:prstGeom>
          <a:noFill/>
        </p:spPr>
        <p:txBody>
          <a:bodyPr anchor="t" rtlCol="false" lIns="0" tIns="0" rIns="0" bIns="0" wrap="square"/>
          <a:lstStyle/>
          <a:p>
            <a:pPr algn="l">
              <a:lnSpc>
                <a:spcPts val="2231"/>
              </a:lnSpc>
              <a:spcBef>
                <a:spcPts val="0"/>
              </a:spcBef>
              <a:buNone/>
            </a:pPr>
            <a:r>
              <a:rPr lang="en-US" sz="1785" b="true">
                <a:solidFill>
                  <a:srgbClr val="4472C4"/>
                </a:solidFill>
                <a:latin typeface="Nunito Ultra-Bold"/>
                <a:ea typeface="Nunito Ultra-Bold"/>
                <a:cs typeface="Nunito Ultra-Bold"/>
                <a:sym typeface="Nunito Ultra-Bold"/>
              </a:rPr>
              <a:t>Three ingredients</a:t>
            </a:r>
          </a:p>
          <a:p>
            <a:pPr algn="l" marL="274320" indent="-274320">
              <a:lnSpc>
                <a:spcPts val="2390"/>
              </a:lnSpc>
              <a:spcBef>
                <a:spcPts val="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Players</a:t>
            </a:r>
            <a:r>
              <a:rPr lang="en-US" sz="1615" b="true">
                <a:solidFill>
                  <a:srgbClr val="111111"/>
                </a:solidFill>
                <a:latin typeface="Nunito Semi-Bold"/>
                <a:ea typeface="Nunito Semi-Bold"/>
                <a:cs typeface="Nunito Semi-Bold"/>
                <a:sym typeface="Nunito Semi-Bold"/>
              </a:rPr>
              <a:t> N = {1, …, n}, and a </a:t>
            </a:r>
            <a:r>
              <a:rPr lang="en-US" sz="1615" b="true">
                <a:solidFill>
                  <a:srgbClr val="111111"/>
                </a:solidFill>
                <a:latin typeface="Nunito Bold"/>
                <a:ea typeface="Nunito Bold"/>
                <a:cs typeface="Nunito Bold"/>
                <a:sym typeface="Nunito Bold"/>
              </a:rPr>
              <a:t>coalition</a:t>
            </a:r>
            <a:r>
              <a:rPr lang="en-US" sz="1615" b="true">
                <a:solidFill>
                  <a:srgbClr val="111111"/>
                </a:solidFill>
                <a:latin typeface="Nunito Semi-Bold"/>
                <a:ea typeface="Nunito Semi-Bold"/>
                <a:cs typeface="Nunito Semi-Bold"/>
                <a:sym typeface="Nunito Semi-Bold"/>
              </a:rPr>
              <a:t> S </a:t>
            </a:r>
            <a:r>
              <a:rPr lang="en-US" sz="1615" b="true">
                <a:solidFill>
                  <a:srgbClr val="111111"/>
                </a:solidFill>
                <a:latin typeface="Cambria Math"/>
                <a:ea typeface="Cambria Math"/>
                <a:cs typeface="Cambria Math"/>
                <a:sym typeface="Cambria Math"/>
              </a:rPr>
              <a:t>⊆ </a:t>
            </a:r>
            <a:r>
              <a:rPr lang="en-US" sz="1615" b="true">
                <a:solidFill>
                  <a:srgbClr val="111111"/>
                </a:solidFill>
                <a:latin typeface="Nunito Semi-Bold"/>
                <a:ea typeface="Nunito Semi-Bold"/>
                <a:cs typeface="Nunito Semi-Bold"/>
                <a:sym typeface="Nunito Semi-Bold"/>
              </a:rPr>
              <a:t>N: any group of them; there are 2</a:t>
            </a:r>
            <a:r>
              <a:rPr lang="en-US" sz="1615" b="true" baseline="30000">
                <a:solidFill>
                  <a:srgbClr val="111111"/>
                </a:solidFill>
                <a:latin typeface="Nunito Semi-Bold"/>
                <a:ea typeface="Nunito Semi-Bold"/>
                <a:cs typeface="Nunito Semi-Bold"/>
                <a:sym typeface="Nunito Semi-Bold"/>
              </a:rPr>
              <a:t>n</a:t>
            </a:r>
            <a:r>
              <a:rPr lang="en-US" sz="1615" b="true">
                <a:solidFill>
                  <a:srgbClr val="111111"/>
                </a:solidFill>
                <a:latin typeface="Nunito Semi-Bold"/>
                <a:ea typeface="Nunito Semi-Bold"/>
                <a:cs typeface="Nunito Semi-Bold"/>
                <a:sym typeface="Nunito Semi-Bold"/>
              </a:rPr>
              <a:t>.</a:t>
            </a:r>
          </a:p>
          <a:p>
            <a:pPr algn="l" marL="274320" indent="-274320">
              <a:lnSpc>
                <a:spcPts val="2390"/>
              </a:lnSpc>
              <a:spcBef>
                <a:spcPts val="68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Characteristic function</a:t>
            </a:r>
            <a:r>
              <a:rPr lang="en-US" sz="1615" b="true">
                <a:solidFill>
                  <a:srgbClr val="111111"/>
                </a:solidFill>
                <a:latin typeface="Nunito Semi-Bold"/>
                <a:ea typeface="Nunito Semi-Bold"/>
                <a:cs typeface="Nunito Semi-Bold"/>
                <a:sym typeface="Nunito Semi-Bold"/>
              </a:rPr>
              <a:t> v: 2</a:t>
            </a:r>
            <a:r>
              <a:rPr lang="en-US" sz="1615" b="true" baseline="30000">
                <a:solidFill>
                  <a:srgbClr val="111111"/>
                </a:solidFill>
                <a:latin typeface="Nunito Semi-Bold"/>
                <a:ea typeface="Nunito Semi-Bold"/>
                <a:cs typeface="Nunito Semi-Bold"/>
                <a:sym typeface="Nunito Semi-Bold"/>
              </a:rPr>
              <a:t>N</a:t>
            </a:r>
            <a:r>
              <a:rPr lang="en-US" sz="1615" b="true">
                <a:solidFill>
                  <a:srgbClr val="111111"/>
                </a:solidFill>
                <a:latin typeface="Calibri"/>
                <a:ea typeface="Calibri"/>
                <a:cs typeface="Calibri"/>
                <a:sym typeface="Calibri"/>
              </a:rPr>
              <a:t> → </a:t>
            </a:r>
            <a:r>
              <a:rPr lang="en-US" sz="1615" b="true">
                <a:solidFill>
                  <a:srgbClr val="111111"/>
                </a:solidFill>
                <a:latin typeface="Cambria Math"/>
                <a:ea typeface="Cambria Math"/>
                <a:cs typeface="Cambria Math"/>
                <a:sym typeface="Cambria Math"/>
              </a:rPr>
              <a:t>ℝ </a:t>
            </a:r>
            <a:r>
              <a:rPr lang="en-US" sz="1615" b="true">
                <a:solidFill>
                  <a:srgbClr val="111111"/>
                </a:solidFill>
                <a:latin typeface="Nunito Semi-Bold"/>
                <a:ea typeface="Nunito Semi-Bold"/>
                <a:cs typeface="Nunito Semi-Bold"/>
                <a:sym typeface="Nunito Semi-Bold"/>
              </a:rPr>
              <a:t>with v(∅) = 0: the value a coalition creates </a:t>
            </a:r>
            <a:r>
              <a:rPr lang="en-US" sz="1615" b="true">
                <a:solidFill>
                  <a:srgbClr val="111111"/>
                </a:solidFill>
                <a:latin typeface="Nunito Bold"/>
                <a:ea typeface="Nunito Bold"/>
                <a:cs typeface="Nunito Bold"/>
                <a:sym typeface="Nunito Bold"/>
              </a:rPr>
              <a:t>on its own</a:t>
            </a:r>
            <a:r>
              <a:rPr lang="en-US" sz="1615" b="true">
                <a:solidFill>
                  <a:srgbClr val="111111"/>
                </a:solidFill>
                <a:latin typeface="Nunito Semi-Bold"/>
                <a:ea typeface="Nunito Semi-Bold"/>
                <a:cs typeface="Nunito Semi-Bold"/>
                <a:sym typeface="Nunito Semi-Bold"/>
              </a:rPr>
              <a:t>.</a:t>
            </a:r>
          </a:p>
          <a:p>
            <a:pPr algn="l" marL="274320" indent="-274320">
              <a:lnSpc>
                <a:spcPts val="2261"/>
              </a:lnSpc>
              <a:spcBef>
                <a:spcPts val="680"/>
              </a:spcBef>
              <a:buClr>
                <a:srgbClr val="1F7A8C"/>
              </a:buClr>
              <a:buSzPct val="100000"/>
              <a:buFont typeface="Arial"/>
              <a:buChar char="•"/>
            </a:pPr>
            <a:r>
              <a:rPr lang="en-US" sz="1615" b="true">
                <a:solidFill>
                  <a:srgbClr val="111111"/>
                </a:solidFill>
                <a:latin typeface="Nunito Bold"/>
                <a:ea typeface="Nunito Bold"/>
                <a:cs typeface="Nunito Bold"/>
                <a:sym typeface="Nunito Bold"/>
              </a:rPr>
              <a:t>The question:</a:t>
            </a:r>
            <a:r>
              <a:rPr lang="en-US" sz="1615" b="true">
                <a:solidFill>
                  <a:srgbClr val="111111"/>
                </a:solidFill>
                <a:latin typeface="Nunito Semi-Bold"/>
                <a:ea typeface="Nunito Semi-Bold"/>
                <a:cs typeface="Nunito Semi-Bold"/>
                <a:sym typeface="Nunito Semi-Bold"/>
              </a:rPr>
              <a:t> the grand coalition earns v(N), so </a:t>
            </a:r>
            <a:r>
              <a:rPr lang="en-US" sz="1615" b="true">
                <a:solidFill>
                  <a:srgbClr val="111111"/>
                </a:solidFill>
                <a:latin typeface="Nunito Bold"/>
                <a:ea typeface="Nunito Bold"/>
                <a:cs typeface="Nunito Bold"/>
                <a:sym typeface="Nunito Bold"/>
              </a:rPr>
              <a:t>how should it be shared fairly</a:t>
            </a:r>
            <a:r>
              <a:rPr lang="en-US" sz="1615" b="true">
                <a:solidFill>
                  <a:srgbClr val="111111"/>
                </a:solidFill>
                <a:latin typeface="Nunito Semi-Bold"/>
                <a:ea typeface="Nunito Semi-Bold"/>
                <a:cs typeface="Nunito Semi-Bold"/>
                <a:sym typeface="Nunito Semi-Bold"/>
              </a:rPr>
              <a:t>?</a:t>
            </a:r>
          </a:p>
        </p:txBody>
      </p:sp>
      <p:sp>
        <p:nvSpPr>
          <p:cNvPr id="26" name="Rounded Rectangle 25"/>
          <p:cNvSpPr/>
          <p:nvPr/>
        </p:nvSpPr>
        <p:spPr>
          <a:xfrm>
            <a:off x="1028700" y="5741162"/>
            <a:ext cx="7680960" cy="868680"/>
          </a:xfrm>
          <a:prstGeom prst="roundRect">
            <a:avLst>
              <a:gd name="adj" fmla="val 23157"/>
            </a:avLst>
          </a:prstGeom>
          <a:solidFill>
            <a:srgbClr val="4472C4"/>
          </a:solidFill>
          <a:ln>
            <a:noFill/>
          </a:ln>
        </p:spPr>
        <p:txBody>
          <a:bodyPr anchor="ctr" rtlCol="false" lIns="0" tIns="0" rIns="0" bIns="0" wrap="square"/>
          <a:lstStyle/>
          <a:p>
            <a:endParaRPr lang="en-US" sz="1800"/>
          </a:p>
        </p:txBody>
      </p:sp>
      <p:sp>
        <p:nvSpPr>
          <p:cNvPr id="27" name="TextBox 26"/>
          <p:cNvSpPr txBox="1"/>
          <p:nvPr/>
        </p:nvSpPr>
        <p:spPr>
          <a:xfrm>
            <a:off x="1028700" y="5805170"/>
            <a:ext cx="7680960" cy="237744"/>
          </a:xfrm>
          <a:prstGeom prst="rect">
            <a:avLst/>
          </a:prstGeom>
          <a:noFill/>
        </p:spPr>
        <p:txBody>
          <a:bodyPr anchor="t" rtlCol="false" lIns="0" tIns="0" rIns="0" bIns="0" wrap="square"/>
          <a:lstStyle/>
          <a:p>
            <a:pPr algn="ctr">
              <a:lnSpc>
                <a:spcPts val="1400"/>
              </a:lnSpc>
              <a:spcBef>
                <a:spcPts val="0"/>
              </a:spcBef>
              <a:buNone/>
            </a:pPr>
            <a:r>
              <a:rPr lang="en-US" sz="1200" b="true" spc="150">
                <a:solidFill>
                  <a:srgbClr val="ECC665"/>
                </a:solidFill>
                <a:latin typeface="Nunito Ultra-Bold"/>
                <a:ea typeface="Nunito Ultra-Bold"/>
                <a:cs typeface="Nunito Ultra-Bold"/>
                <a:sym typeface="Nunito Ultra-Bold"/>
              </a:rPr>
              <a:t>A COOPERATIVE GAME IS A PAIR</a:t>
            </a:r>
          </a:p>
        </p:txBody>
      </p:sp>
      <mc:AlternateContent xmlns:mc="http://schemas.openxmlformats.org/markup-compatibility/2006">
        <mc:Choice xmlns:a14="http://schemas.microsoft.com/office/drawing/2010/main" Requires="a14">
          <p:sp>
            <p:nvSpPr>
              <p:cNvPr id="28" name="Equation"/>
              <p:cNvSpPr txBox="1"/>
              <p:nvPr/>
            </p:nvSpPr>
            <p:spPr>
              <a:xfrm>
                <a:off x="1211580" y="6015482"/>
                <a:ext cx="7315200" cy="54864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m:rPr>
                          <m:sty m:val="p"/>
                        </m:rPr>
                        <a:rPr lang="en-US" sz="1900">
                          <a:solidFill>
                            <a:srgbClr val="FFFFFF"/>
                          </a:solidFill>
                          <a:latin typeface="Cambria Math" panose="02040503050406030204" pitchFamily="18" charset="0"/>
                        </a:rPr>
                        <m:t xml:space="preserve">(</m:t>
                      </m:r>
                      <m:r>
                        <a:rPr lang="en-US" sz="1900" i="1">
                          <a:solidFill>
                            <a:srgbClr val="FFFFFF"/>
                          </a:solidFill>
                          <a:latin typeface="Cambria Math" panose="02040503050406030204" pitchFamily="18" charset="0"/>
                        </a:rPr>
                        <m:t xml:space="preserve">N</m:t>
                      </m:r>
                      <m:r>
                        <m:rPr>
                          <m:sty m:val="p"/>
                        </m:rPr>
                        <a:rPr lang="en-US" sz="1900">
                          <a:solidFill>
                            <a:srgbClr val="FFFFFF"/>
                          </a:solidFill>
                          <a:latin typeface="Cambria Math" panose="02040503050406030204" pitchFamily="18" charset="0"/>
                        </a:rPr>
                        <m:t xml:space="preserve">,</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),  </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m:t>
                      </m:r>
                      <m:sSup>
                        <m:sSupPr>
                          <m:ctrlPr>
                            <a:rPr lang="en-US" sz="1900" i="1">
                              <a:solidFill>
                                <a:srgbClr val="FFFFFF"/>
                              </a:solidFill>
                              <a:latin typeface="Cambria Math" panose="02040503050406030204" pitchFamily="18" charset="0"/>
                            </a:rPr>
                          </m:ctrlPr>
                        </m:sSupPr>
                        <m:e>
                          <m:r>
                            <m:rPr>
                              <m:sty m:val="p"/>
                            </m:rPr>
                            <a:rPr lang="en-US" sz="1900">
                              <a:solidFill>
                                <a:srgbClr val="FFFFFF"/>
                              </a:solidFill>
                              <a:latin typeface="Cambria Math" panose="02040503050406030204" pitchFamily="18" charset="0"/>
                            </a:rPr>
                            <m:t xml:space="preserve">2</m:t>
                          </m:r>
                        </m:e>
                        <m:sup>
                          <m:r>
                            <a:rPr lang="en-US" sz="1900" i="1">
                              <a:solidFill>
                                <a:srgbClr val="FFFFFF"/>
                              </a:solidFill>
                              <a:latin typeface="Cambria Math" panose="02040503050406030204" pitchFamily="18" charset="0"/>
                            </a:rPr>
                            <m:t xml:space="preserve">N</m:t>
                          </m:r>
                        </m:sup>
                      </m:sSup>
                      <m:r>
                        <m:rPr>
                          <m:sty m:val="p"/>
                        </m:rPr>
                        <a:rPr lang="en-US" sz="1900">
                          <a:solidFill>
                            <a:srgbClr val="FFFFFF"/>
                          </a:solidFill>
                          <a:latin typeface="Cambria Math" panose="02040503050406030204" pitchFamily="18" charset="0"/>
                        </a:rPr>
                        <m:t xml:space="preserve">→</m:t>
                      </m:r>
                      <m:r>
                        <m:rPr>
                          <m:scr m:val="double-struck"/>
                          <m:sty m:val="p"/>
                        </m:rPr>
                        <a:rPr lang="en-US" sz="1900">
                          <a:solidFill>
                            <a:srgbClr val="FFFFFF"/>
                          </a:solidFill>
                          <a:latin typeface="Cambria Math" panose="02040503050406030204" pitchFamily="18" charset="0"/>
                        </a:rPr>
                        <m:t xml:space="preserve">R</m:t>
                      </m:r>
                      <m:r>
                        <m:rPr>
                          <m:sty m:val="p"/>
                        </m:rPr>
                        <a:rPr lang="en-US" sz="1900">
                          <a:solidFill>
                            <a:srgbClr val="FFFFFF"/>
                          </a:solidFill>
                          <a:latin typeface="Cambria Math" panose="02040503050406030204" pitchFamily="18" charset="0"/>
                        </a:rPr>
                        <m:t xml:space="preserve">,  </m:t>
                      </m:r>
                      <m:r>
                        <a:rPr lang="en-US" sz="1900" i="1">
                          <a:solidFill>
                            <a:srgbClr val="FFFFFF"/>
                          </a:solidFill>
                          <a:latin typeface="Cambria Math" panose="02040503050406030204" pitchFamily="18" charset="0"/>
                        </a:rPr>
                        <m:t xml:space="preserve">v</m:t>
                      </m:r>
                      <m:r>
                        <m:rPr>
                          <m:sty m:val="p"/>
                        </m:rPr>
                        <a:rPr lang="en-US" sz="1900">
                          <a:solidFill>
                            <a:srgbClr val="FFFFFF"/>
                          </a:solidFill>
                          <a:latin typeface="Cambria Math" panose="02040503050406030204" pitchFamily="18" charset="0"/>
                        </a:rPr>
                        <m:t xml:space="preserve">(∅)=0</m:t>
                      </m:r>
                    </m:oMath>
                  </m:oMathPara>
                </a14:m>
                <a:endParaRPr lang="en-US" sz="1900"/>
              </a:p>
            </p:txBody>
          </p:sp>
        </mc:Choice>
        <mc:Fallback>
          <p:sp>
            <p:nvSpPr>
              <p:cNvPr id="28" name="Equation"/>
              <p:cNvSpPr txBox="1"/>
              <p:nvPr/>
            </p:nvSpPr>
            <p:spPr>
              <a:xfrm>
                <a:off x="1211580" y="6015482"/>
                <a:ext cx="7315200" cy="548640"/>
              </a:xfrm>
              <a:prstGeom prst="rect">
                <a:avLst/>
              </a:prstGeom>
              <a:blipFill>
                <a:blip r:embed="rId4"/>
                <a:stretch>
                  <a:fillRect/>
                </a:stretch>
              </a:blipFill>
            </p:spPr>
            <p:txBody>
              <a:bodyPr/>
              <a:lstStyle/>
              <a:p>
                <a:endParaRPr lang="en-US"/>
              </a:p>
            </p:txBody>
          </p:sp>
        </mc:Fallback>
      </mc:AlternateContent>
      <p:sp>
        <p:nvSpPr>
          <p:cNvPr id="29" name="Rounded Rectangle 28"/>
          <p:cNvSpPr/>
          <p:nvPr/>
        </p:nvSpPr>
        <p:spPr>
          <a:xfrm>
            <a:off x="1028700" y="6792722"/>
            <a:ext cx="7680960" cy="1371600"/>
          </a:xfrm>
          <a:prstGeom prst="roundRect">
            <a:avLst>
              <a:gd name="adj" fmla="val 14666"/>
            </a:avLst>
          </a:prstGeom>
          <a:solidFill>
            <a:srgbClr val="F6ECDF"/>
          </a:solidFill>
          <a:ln w="25400">
            <a:solidFill>
              <a:srgbClr val="1F7A8C"/>
            </a:solidFill>
          </a:ln>
        </p:spPr>
        <p:txBody>
          <a:bodyPr anchor="ctr" rtlCol="false" lIns="0" tIns="0" rIns="0" bIns="0" wrap="square"/>
          <a:lstStyle/>
          <a:p>
            <a:endParaRPr lang="en-US" sz="1800"/>
          </a:p>
        </p:txBody>
      </p:sp>
      <p:sp>
        <p:nvSpPr>
          <p:cNvPr id="30" name="Rounded Rectangle 29"/>
          <p:cNvSpPr/>
          <p:nvPr/>
        </p:nvSpPr>
        <p:spPr>
          <a:xfrm>
            <a:off x="1348740" y="6600698"/>
            <a:ext cx="38908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TOY EXAMPLE: A THREE-PIECE BAND</a:t>
            </a:r>
          </a:p>
        </p:txBody>
      </p:sp>
      <p:sp>
        <p:nvSpPr>
          <p:cNvPr id="31" name="TextBox 30"/>
          <p:cNvSpPr txBox="1"/>
          <p:nvPr/>
        </p:nvSpPr>
        <p:spPr>
          <a:xfrm>
            <a:off x="1394460" y="7067042"/>
            <a:ext cx="6949440" cy="960120"/>
          </a:xfrm>
          <a:prstGeom prst="rect">
            <a:avLst/>
          </a:prstGeom>
          <a:noFill/>
        </p:spPr>
        <p:txBody>
          <a:bodyPr anchor="ctr" rtlCol="false" lIns="0" tIns="0" rIns="0" bIns="0" wrap="square"/>
          <a:lstStyle/>
          <a:p>
            <a:pPr algn="l">
              <a:lnSpc>
                <a:spcPts val="2309"/>
              </a:lnSpc>
              <a:spcBef>
                <a:spcPts val="0"/>
              </a:spcBef>
              <a:buNone/>
            </a:pPr>
            <a:r>
              <a:rPr lang="en-US" sz="1649" b="true">
                <a:solidFill>
                  <a:srgbClr val="111111"/>
                </a:solidFill>
                <a:latin typeface="Nunito Semi-Bold"/>
                <a:ea typeface="Nunito Semi-Bold"/>
                <a:cs typeface="Nunito Semi-Bold"/>
                <a:sym typeface="Nunito Semi-Bold"/>
              </a:rPr>
              <a:t>Guitar, Voice and Drums are paid for a gig. Alone they earn </a:t>
            </a:r>
            <a:r>
              <a:rPr lang="en-US" sz="1649" b="true">
                <a:solidFill>
                  <a:srgbClr val="111111"/>
                </a:solidFill>
                <a:latin typeface="Nunito Bold"/>
                <a:ea typeface="Nunito Bold"/>
                <a:cs typeface="Nunito Bold"/>
                <a:sym typeface="Nunito Bold"/>
              </a:rPr>
              <a:t>60, 40 and 20</a:t>
            </a:r>
            <a:r>
              <a:rPr lang="en-US" sz="1649" b="true">
                <a:solidFill>
                  <a:srgbClr val="111111"/>
                </a:solidFill>
                <a:latin typeface="Nunito Semi-Bold"/>
                <a:ea typeface="Nunito Semi-Bold"/>
                <a:cs typeface="Nunito Semi-Bold"/>
                <a:sym typeface="Nunito Semi-Bold"/>
              </a:rPr>
              <a:t>; Guitar and Voice together earn </a:t>
            </a:r>
            <a:r>
              <a:rPr lang="en-US" sz="1649" b="true">
                <a:solidFill>
                  <a:srgbClr val="111111"/>
                </a:solidFill>
                <a:latin typeface="Nunito Bold"/>
                <a:ea typeface="Nunito Bold"/>
                <a:cs typeface="Nunito Bold"/>
                <a:sym typeface="Nunito Bold"/>
              </a:rPr>
              <a:t>140</a:t>
            </a:r>
            <a:r>
              <a:rPr lang="en-US" sz="1649" b="true">
                <a:solidFill>
                  <a:srgbClr val="111111"/>
                </a:solidFill>
                <a:latin typeface="Nunito Semi-Bold"/>
                <a:ea typeface="Nunito Semi-Bold"/>
                <a:cs typeface="Nunito Semi-Bold"/>
                <a:sym typeface="Nunito Semi-Bold"/>
              </a:rPr>
              <a:t>, more than their sum; all three earn </a:t>
            </a:r>
            <a:r>
              <a:rPr lang="en-US" sz="1649" b="true">
                <a:solidFill>
                  <a:srgbClr val="111111"/>
                </a:solidFill>
                <a:latin typeface="Nunito Bold"/>
                <a:ea typeface="Nunito Bold"/>
                <a:cs typeface="Nunito Bold"/>
                <a:sym typeface="Nunito Bold"/>
              </a:rPr>
              <a:t>200</a:t>
            </a:r>
            <a:r>
              <a:rPr lang="en-US" sz="1649" b="true">
                <a:solidFill>
                  <a:srgbClr val="111111"/>
                </a:solidFill>
                <a:latin typeface="Nunito Semi-Bold"/>
                <a:ea typeface="Nunito Semi-Bold"/>
                <a:cs typeface="Nunito Semi-Bold"/>
                <a:sym typeface="Nunito Semi-Bold"/>
              </a:rPr>
              <a:t>. A fair split must credit what a player </a:t>
            </a:r>
            <a:r>
              <a:rPr lang="en-US" sz="1649" b="true">
                <a:solidFill>
                  <a:srgbClr val="111111"/>
                </a:solidFill>
                <a:latin typeface="Nunito Bold"/>
                <a:ea typeface="Nunito Bold"/>
                <a:cs typeface="Nunito Bold"/>
                <a:sym typeface="Nunito Bold"/>
              </a:rPr>
              <a:t>adds to the others</a:t>
            </a:r>
            <a:r>
              <a:rPr lang="en-US" sz="1649" b="true">
                <a:solidFill>
                  <a:srgbClr val="111111"/>
                </a:solidFill>
                <a:latin typeface="Nunito Semi-Bold"/>
                <a:ea typeface="Nunito Semi-Bold"/>
                <a:cs typeface="Nunito Semi-Bold"/>
                <a:sym typeface="Nunito Semi-Bold"/>
              </a:rPr>
              <a:t>.</a:t>
            </a:r>
          </a:p>
        </p:txBody>
      </p:sp>
      <p:sp>
        <p:nvSpPr>
          <p:cNvPr id="32" name="Rounded Rectangle 31"/>
          <p:cNvSpPr/>
          <p:nvPr/>
        </p:nvSpPr>
        <p:spPr>
          <a:xfrm>
            <a:off x="1028700" y="8347202"/>
            <a:ext cx="7680960" cy="1965960"/>
          </a:xfrm>
          <a:prstGeom prst="roundRect">
            <a:avLst>
              <a:gd name="adj" fmla="val 13023"/>
            </a:avLst>
          </a:prstGeom>
          <a:solidFill>
            <a:srgbClr val="111111"/>
          </a:solidFill>
          <a:ln>
            <a:noFill/>
          </a:ln>
        </p:spPr>
        <p:txBody>
          <a:bodyPr anchor="ctr" rtlCol="false" lIns="0" tIns="0" rIns="0" bIns="0" wrap="square"/>
          <a:lstStyle/>
          <a:p>
            <a:endParaRPr lang="en-US" sz="1800"/>
          </a:p>
        </p:txBody>
      </p:sp>
      <p:sp>
        <p:nvSpPr>
          <p:cNvPr id="33" name="TextBox 32"/>
          <p:cNvSpPr txBox="1"/>
          <p:nvPr/>
        </p:nvSpPr>
        <p:spPr>
          <a:xfrm>
            <a:off x="1028700" y="8475218"/>
            <a:ext cx="7680960" cy="256032"/>
          </a:xfrm>
          <a:prstGeom prst="rect">
            <a:avLst/>
          </a:prstGeom>
          <a:noFill/>
        </p:spPr>
        <p:txBody>
          <a:bodyPr anchor="t" rtlCol="false" lIns="0" tIns="0" rIns="0" bIns="0" wrap="square"/>
          <a:lstStyle/>
          <a:p>
            <a:pPr algn="ctr">
              <a:lnSpc>
                <a:spcPts val="1500"/>
              </a:lnSpc>
              <a:spcBef>
                <a:spcPts val="0"/>
              </a:spcBef>
              <a:buNone/>
            </a:pPr>
            <a:r>
              <a:rPr lang="en-US" sz="1200" b="true" spc="160">
                <a:solidFill>
                  <a:srgbClr val="ECC665"/>
                </a:solidFill>
                <a:latin typeface="Nunito Ultra-Bold"/>
                <a:ea typeface="Nunito Ultra-Bold"/>
                <a:cs typeface="Nunito Ultra-Bold"/>
                <a:sym typeface="Nunito Ultra-Bold"/>
              </a:rPr>
              <a:t>SHAPLEY VALUE OF PLAYER j  ·  SHAPLEY, 1953</a:t>
            </a:r>
          </a:p>
        </p:txBody>
      </p:sp>
      <mc:AlternateContent xmlns:mc="http://schemas.openxmlformats.org/markup-compatibility/2006">
        <mc:Choice xmlns:a14="http://schemas.microsoft.com/office/drawing/2010/main" Requires="a14">
          <p:sp>
            <p:nvSpPr>
              <p:cNvPr id="34" name="Equation"/>
              <p:cNvSpPr txBox="1"/>
              <p:nvPr/>
            </p:nvSpPr>
            <p:spPr>
              <a:xfrm>
                <a:off x="1211580" y="8749538"/>
                <a:ext cx="7315200" cy="10972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1800" i="1">
                              <a:solidFill>
                                <a:srgbClr val="FFFFFF"/>
                              </a:solidFill>
                              <a:latin typeface="Cambria Math" panose="02040503050406030204" pitchFamily="18" charset="0"/>
                            </a:rPr>
                          </m:ctrlPr>
                        </m:sSubPr>
                        <m:e>
                          <m:r>
                            <a:rPr lang="en-US" sz="1800" i="1">
                              <a:solidFill>
                                <a:srgbClr val="FFFFFF"/>
                              </a:solidFill>
                              <a:latin typeface="Cambria Math" panose="02040503050406030204" pitchFamily="18" charset="0"/>
                            </a:rPr>
                            <m:t xml:space="preserve">φ</m:t>
                          </m:r>
                        </m:e>
                        <m:sub>
                          <m:r>
                            <a:rPr lang="en-US" sz="1800" i="1">
                              <a:solidFill>
                                <a:srgbClr val="FFFFFF"/>
                              </a:solidFill>
                              <a:latin typeface="Cambria Math" panose="02040503050406030204" pitchFamily="18" charset="0"/>
                            </a:rPr>
                            <m:t xml:space="preserve">j</m:t>
                          </m:r>
                        </m:sub>
                      </m:sSub>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v</m:t>
                      </m:r>
                      <m:r>
                        <m:rPr>
                          <m:sty m:val="p"/>
                        </m:rPr>
                        <a:rPr lang="en-US" sz="1800">
                          <a:solidFill>
                            <a:srgbClr val="FFFFFF"/>
                          </a:solidFill>
                          <a:latin typeface="Cambria Math" panose="02040503050406030204" pitchFamily="18" charset="0"/>
                        </a:rPr>
                        <m:t xml:space="preserve">)=</m:t>
                      </m:r>
                      <m:nary>
                        <m:naryPr>
                          <m:chr m:val="∑"/>
                          <m:limLoc m:val="undOvr"/>
                          <m:supHide m:val="1"/>
                          <m:ctrlPr>
                            <a:rPr lang="en-US" sz="1800" i="1">
                              <a:solidFill>
                                <a:srgbClr val="FFFFFF"/>
                              </a:solidFill>
                              <a:latin typeface="Cambria Math" panose="02040503050406030204" pitchFamily="18" charset="0"/>
                            </a:rPr>
                          </m:ctrlPr>
                        </m:naryPr>
                        <m:sub>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N</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j</m:t>
                          </m:r>
                          <m:r>
                            <m:rPr>
                              <m:sty m:val="p"/>
                            </m:rPr>
                            <a:rPr lang="en-US" sz="1800">
                              <a:solidFill>
                                <a:srgbClr val="FFFFFF"/>
                              </a:solidFill>
                              <a:latin typeface="Cambria Math" panose="02040503050406030204" pitchFamily="18" charset="0"/>
                            </a:rPr>
                            <m:t xml:space="preserve">}</m:t>
                          </m:r>
                        </m:sub>
                        <m:sup/>
                        <m:e>
                          <m:f>
                            <m:fPr>
                              <m:ctrlPr>
                                <a:rPr lang="en-US" sz="1800" i="1">
                                  <a:solidFill>
                                    <a:srgbClr val="FFFFFF"/>
                                  </a:solidFill>
                                  <a:latin typeface="Cambria Math" panose="02040503050406030204" pitchFamily="18" charset="0"/>
                                </a:rPr>
                              </m:ctrlPr>
                            </m:fPr>
                            <m:num>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 (</m:t>
                              </m:r>
                              <m:r>
                                <a:rPr lang="en-US" sz="1800" i="1">
                                  <a:solidFill>
                                    <a:srgbClr val="FFFFFF"/>
                                  </a:solidFill>
                                  <a:latin typeface="Cambria Math" panose="02040503050406030204" pitchFamily="18" charset="0"/>
                                </a:rPr>
                                <m:t xml:space="preserve">n</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|−1)!</m:t>
                              </m:r>
                            </m:num>
                            <m:den>
                              <m:r>
                                <a:rPr lang="en-US" sz="1800" i="1">
                                  <a:solidFill>
                                    <a:srgbClr val="FFFFFF"/>
                                  </a:solidFill>
                                  <a:latin typeface="Cambria Math" panose="02040503050406030204" pitchFamily="18" charset="0"/>
                                </a:rPr>
                                <m:t xml:space="preserve">n</m:t>
                              </m:r>
                              <m:r>
                                <m:rPr>
                                  <m:sty m:val="p"/>
                                </m:rPr>
                                <a:rPr lang="en-US" sz="1800">
                                  <a:solidFill>
                                    <a:srgbClr val="FFFFFF"/>
                                  </a:solidFill>
                                  <a:latin typeface="Cambria Math" panose="02040503050406030204" pitchFamily="18" charset="0"/>
                                </a:rPr>
                                <m:t xml:space="preserve">!</m:t>
                              </m:r>
                            </m:den>
                          </m:f>
                        </m:e>
                      </m:nary>
                      <m:r>
                        <m:rPr>
                          <m:sty m:val="p"/>
                        </m:rPr>
                        <a:rPr lang="en-US" sz="1800">
                          <a:solidFill>
                            <a:srgbClr val="FFFFFF"/>
                          </a:solidFill>
                          <a:latin typeface="Cambria Math" panose="02040503050406030204" pitchFamily="18" charset="0"/>
                        </a:rPr>
                        <m:t xml:space="preserve"> </m:t>
                      </m:r>
                      <m:d>
                        <m:dPr>
                          <m:begChr m:val="["/>
                          <m:endChr m:val="]"/>
                          <m:ctrlPr>
                            <a:rPr lang="en-US" sz="1800" i="1">
                              <a:solidFill>
                                <a:srgbClr val="FFFFFF"/>
                              </a:solidFill>
                              <a:latin typeface="Cambria Math" panose="02040503050406030204" pitchFamily="18" charset="0"/>
                            </a:rPr>
                          </m:ctrlPr>
                        </m:dPr>
                        <m:e>
                          <m:r>
                            <m:rPr>
                              <m:sty m:val="p"/>
                            </m:rPr>
                            <a:rPr lang="en-US" sz="1800">
                              <a:solidFill>
                                <a:srgbClr val="FFFFFF"/>
                              </a:solidFill>
                              <a:latin typeface="Cambria Math" panose="02040503050406030204" pitchFamily="18" charset="0"/>
                            </a:rPr>
                            <m:t xml:space="preserve"> </m:t>
                          </m:r>
                          <m:r>
                            <a:rPr lang="en-US" sz="1800" i="1">
                              <a:solidFill>
                                <a:srgbClr val="FFFFFF"/>
                              </a:solidFill>
                              <a:latin typeface="Cambria Math" panose="02040503050406030204" pitchFamily="18" charset="0"/>
                            </a:rPr>
                            <m:t xml:space="preserve">v</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j</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v</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 </m:t>
                          </m:r>
                        </m:e>
                      </m:d>
                    </m:oMath>
                  </m:oMathPara>
                </a14:m>
                <a:endParaRPr lang="en-US" sz="1800"/>
              </a:p>
            </p:txBody>
          </p:sp>
        </mc:Choice>
        <mc:Fallback>
          <p:sp>
            <p:nvSpPr>
              <p:cNvPr id="34" name="Equation"/>
              <p:cNvSpPr txBox="1"/>
              <p:nvPr/>
            </p:nvSpPr>
            <p:spPr>
              <a:xfrm>
                <a:off x="1211580" y="8749538"/>
                <a:ext cx="7315200" cy="1097280"/>
              </a:xfrm>
              <a:prstGeom prst="rect">
                <a:avLst/>
              </a:prstGeom>
              <a:blipFill>
                <a:blip r:embed="rId5"/>
                <a:stretch>
                  <a:fillRect/>
                </a:stretch>
              </a:blipFill>
            </p:spPr>
            <p:txBody>
              <a:bodyPr/>
              <a:lstStyle/>
              <a:p>
                <a:endParaRPr lang="en-US"/>
              </a:p>
            </p:txBody>
          </p:sp>
        </mc:Fallback>
      </mc:AlternateContent>
      <p:sp>
        <p:nvSpPr>
          <p:cNvPr id="35" name="TextBox 34"/>
          <p:cNvSpPr txBox="1"/>
          <p:nvPr/>
        </p:nvSpPr>
        <p:spPr>
          <a:xfrm>
            <a:off x="1028700" y="9883394"/>
            <a:ext cx="7680960" cy="310896"/>
          </a:xfrm>
          <a:prstGeom prst="rect">
            <a:avLst/>
          </a:prstGeom>
          <a:noFill/>
        </p:spPr>
        <p:txBody>
          <a:bodyPr anchor="t" rtlCol="false" lIns="0" tIns="0" rIns="0" bIns="0" wrap="square"/>
          <a:lstStyle/>
          <a:p>
            <a:pPr algn="ctr">
              <a:lnSpc>
                <a:spcPts val="1800"/>
              </a:lnSpc>
              <a:spcBef>
                <a:spcPts val="0"/>
              </a:spcBef>
              <a:buNone/>
            </a:pPr>
            <a:r>
              <a:rPr lang="en-US" sz="1500" b="true">
                <a:solidFill>
                  <a:srgbClr val="D6E4F7"/>
                </a:solidFill>
                <a:latin typeface="Nunito Semi-Bold"/>
                <a:ea typeface="Nunito Semi-Bold"/>
                <a:cs typeface="Nunito Semi-Bold"/>
                <a:sym typeface="Nunito Semi-Bold"/>
              </a:rPr>
              <a:t>average marginal contribution over every arrival order</a:t>
            </a:r>
          </a:p>
        </p:txBody>
      </p:sp>
      <p:sp>
        <p:nvSpPr>
          <p:cNvPr id="36" name="TextBox 35"/>
          <p:cNvSpPr txBox="1"/>
          <p:nvPr/>
        </p:nvSpPr>
        <p:spPr>
          <a:xfrm>
            <a:off x="9166860" y="3318002"/>
            <a:ext cx="8092440" cy="292608"/>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CHARACTERISTIC FUNCTION v(S) OF THE BAND</a:t>
            </a:r>
          </a:p>
        </p:txBody>
      </p:sp>
      <p:graphicFrame>
        <p:nvGraphicFramePr>
          <p:cNvPr id="37" name="Table 36"/>
          <p:cNvGraphicFramePr>
            <a:graphicFrameLocks noGrp="1"/>
          </p:cNvGraphicFramePr>
          <p:nvPr/>
        </p:nvGraphicFramePr>
        <p:xfrm>
          <a:off x="9166860" y="3656330"/>
          <a:ext cx="8092439" cy="4150868"/>
        </p:xfrm>
        <a:graphic>
          <a:graphicData uri="http://schemas.openxmlformats.org/drawingml/2006/table">
            <a:tbl>
              <a:tblPr firstRow="0" bandRow="0" firstCol="0" lastRow="0" lastCol="0" bandCol="0">
                <a:tableStyleId>{2D5ABB26-0587-4C30-8999-92F81FD0307C}</a:tableStyleId>
              </a:tblPr>
              <a:tblGrid>
                <a:gridCol w="2427732"/>
                <a:gridCol w="3884371"/>
                <a:gridCol w="1780336"/>
              </a:tblGrid>
              <a:tr h="446532">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Coalition 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Who plays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v(S)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nobody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60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{V}</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Voice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Drums alone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 V}</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 Voice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140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Guitar + Drums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{V,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Voice + Drums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80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63042">
                <a:tc>
                  <a:txBody>
                    <a:bodyPr anchor="ctr" rtlCol="false" lIns="0" tIns="0" rIns="0" bIns="0" wrap="square"/>
                    <a:lstStyle/>
                    <a:p>
                      <a:pPr algn="ctr">
                        <a:lnSpc>
                          <a:spcPts val="1950"/>
                        </a:lnSpc>
                        <a:spcBef>
                          <a:spcPts val="0"/>
                        </a:spcBef>
                        <a:buNone/>
                      </a:pPr>
                      <a:r>
                        <a:rPr lang="en-US" sz="1500" b="true">
                          <a:solidFill>
                            <a:srgbClr val="111111"/>
                          </a:solidFill>
                          <a:latin typeface="Nunito Bold"/>
                          <a:ea typeface="Nunito Bold"/>
                          <a:cs typeface="Nunito Bold"/>
                          <a:sym typeface="Nunito Bold"/>
                        </a:rPr>
                        <a:t>{G, V, 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950"/>
                        </a:lnSpc>
                        <a:spcBef>
                          <a:spcPts val="0"/>
                        </a:spcBef>
                        <a:buNone/>
                      </a:pPr>
                      <a:r>
                        <a:rPr lang="en-US" sz="1500" b="true">
                          <a:solidFill>
                            <a:srgbClr val="111111"/>
                          </a:solidFill>
                          <a:latin typeface="Nunito Semi-Bold"/>
                          <a:ea typeface="Nunito Semi-Bold"/>
                          <a:cs typeface="Nunito Semi-Bold"/>
                          <a:sym typeface="Nunito Semi-Bold"/>
                        </a:rPr>
                        <a:t>the whole band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950"/>
                        </a:lnSpc>
                        <a:spcBef>
                          <a:spcPts val="0"/>
                        </a:spcBef>
                        <a:buNone/>
                      </a:pPr>
                      <a:r>
                        <a:rPr lang="en-US" sz="1500" b="true">
                          <a:solidFill>
                            <a:srgbClr val="111111"/>
                          </a:solidFill>
                          <a:latin typeface="Nunito Semi-Bold"/>
                          <a:ea typeface="Nunito Semi-Bold"/>
                          <a:cs typeface="Nunito Semi-Bold"/>
                          <a:sym typeface="Nunito Semi-Bold"/>
                        </a:rPr>
                        <a:t>200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38" name="Rounded Rectangle 37"/>
          <p:cNvSpPr/>
          <p:nvPr/>
        </p:nvSpPr>
        <p:spPr>
          <a:xfrm>
            <a:off x="9166860" y="8008366"/>
            <a:ext cx="8092440" cy="1143000"/>
          </a:xfrm>
          <a:prstGeom prst="roundRect">
            <a:avLst>
              <a:gd name="adj" fmla="val 16000"/>
            </a:avLst>
          </a:prstGeom>
          <a:solidFill>
            <a:srgbClr val="F6ECDF"/>
          </a:solidFill>
          <a:ln>
            <a:noFill/>
          </a:ln>
        </p:spPr>
        <p:txBody>
          <a:bodyPr anchor="ctr" rtlCol="false" lIns="274320" tIns="73152" rIns="274320" bIns="73152" wrap="square"/>
          <a:lstStyle/>
          <a:p>
            <a:pPr algn="l">
              <a:lnSpc>
                <a:spcPts val="1900"/>
              </a:lnSpc>
              <a:spcBef>
                <a:spcPts val="0"/>
              </a:spcBef>
              <a:buNone/>
            </a:pPr>
            <a:r>
              <a:rPr lang="en-US" sz="1500" b="true">
                <a:solidFill>
                  <a:srgbClr val="111111"/>
                </a:solidFill>
                <a:latin typeface="Nunito Semi-Bold"/>
                <a:ea typeface="Nunito Semi-Bold"/>
                <a:cs typeface="Nunito Semi-Bold"/>
                <a:sym typeface="Nunito Semi-Bold"/>
              </a:rPr>
              <a:t>One arrival order, V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D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G: Voice adds </a:t>
            </a:r>
            <a:r>
              <a:rPr lang="en-US" sz="1500" b="true">
                <a:solidFill>
                  <a:srgbClr val="111111"/>
                </a:solidFill>
                <a:latin typeface="Nunito Bold"/>
                <a:ea typeface="Nunito Bold"/>
                <a:cs typeface="Nunito Bold"/>
                <a:sym typeface="Nunito Bold"/>
              </a:rPr>
              <a:t>40</a:t>
            </a:r>
            <a:r>
              <a:rPr lang="en-US" sz="1500" b="true">
                <a:solidFill>
                  <a:srgbClr val="111111"/>
                </a:solidFill>
                <a:latin typeface="Nunito Semi-Bold"/>
                <a:ea typeface="Nunito Semi-Bold"/>
                <a:cs typeface="Nunito Semi-Bold"/>
                <a:sym typeface="Nunito Semi-Bold"/>
              </a:rPr>
              <a:t>, Drums takes 40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80 (</a:t>
            </a:r>
            <a:r>
              <a:rPr lang="en-US" sz="1500" b="true">
                <a:solidFill>
                  <a:srgbClr val="111111"/>
                </a:solidFill>
                <a:latin typeface="Nunito Bold"/>
                <a:ea typeface="Nunito Bold"/>
                <a:cs typeface="Nunito Bold"/>
                <a:sym typeface="Nunito Bold"/>
              </a:rPr>
              <a:t>+40</a:t>
            </a:r>
            <a:r>
              <a:rPr lang="en-US" sz="1500" b="true">
                <a:solidFill>
                  <a:srgbClr val="111111"/>
                </a:solidFill>
                <a:latin typeface="Nunito Semi-Bold"/>
                <a:ea typeface="Nunito Semi-Bold"/>
                <a:cs typeface="Nunito Semi-Bold"/>
                <a:sym typeface="Nunito Semi-Bold"/>
              </a:rPr>
              <a:t>), Guitar completes the band, 80 </a:t>
            </a:r>
            <a:r>
              <a:rPr lang="en-US" sz="1500" b="true">
                <a:solidFill>
                  <a:srgbClr val="111111"/>
                </a:solidFill>
                <a:latin typeface="Calibri"/>
                <a:ea typeface="Calibri"/>
                <a:cs typeface="Calibri"/>
                <a:sym typeface="Calibri"/>
              </a:rPr>
              <a:t>→ </a:t>
            </a:r>
            <a:r>
              <a:rPr lang="en-US" sz="1500" b="true">
                <a:solidFill>
                  <a:srgbClr val="111111"/>
                </a:solidFill>
                <a:latin typeface="Nunito Semi-Bold"/>
                <a:ea typeface="Nunito Semi-Bold"/>
                <a:cs typeface="Nunito Semi-Bold"/>
                <a:sym typeface="Nunito Semi-Bold"/>
              </a:rPr>
              <a:t>200 (</a:t>
            </a:r>
            <a:r>
              <a:rPr lang="en-US" sz="1500" b="true">
                <a:solidFill>
                  <a:srgbClr val="111111"/>
                </a:solidFill>
                <a:latin typeface="Nunito Bold"/>
                <a:ea typeface="Nunito Bold"/>
                <a:cs typeface="Nunito Bold"/>
                <a:sym typeface="Nunito Bold"/>
              </a:rPr>
              <a:t>+120</a:t>
            </a:r>
            <a:r>
              <a:rPr lang="en-US" sz="1500" b="true">
                <a:solidFill>
                  <a:srgbClr val="111111"/>
                </a:solidFill>
                <a:latin typeface="Nunito Semi-Bold"/>
                <a:ea typeface="Nunito Semi-Bold"/>
                <a:cs typeface="Nunito Semi-Bold"/>
                <a:sym typeface="Nunito Semi-Bold"/>
              </a:rPr>
              <a:t>). Averaged over all six orders: </a:t>
            </a:r>
            <a:r>
              <a:rPr lang="en-US" sz="1500" b="true">
                <a:solidFill>
                  <a:srgbClr val="111111"/>
                </a:solidFill>
                <a:latin typeface="Nunito Bold"/>
                <a:ea typeface="Nunito Bold"/>
                <a:cs typeface="Nunito Bold"/>
                <a:sym typeface="Nunito Bold"/>
              </a:rPr>
              <a:t>90 / 70 / 40</a:t>
            </a:r>
            <a:r>
              <a:rPr lang="en-US" sz="1500" b="true">
                <a:solidFill>
                  <a:srgbClr val="111111"/>
                </a:solidFill>
                <a:latin typeface="Nunito Semi-Bold"/>
                <a:ea typeface="Nunito Semi-Bold"/>
                <a:cs typeface="Nunito Semi-Bold"/>
                <a:sym typeface="Nunito Semi-Bold"/>
              </a:rPr>
              <a:t>, which sums to 200.</a:t>
            </a:r>
          </a:p>
        </p:txBody>
      </p:sp>
      <p:sp>
        <p:nvSpPr>
          <p:cNvPr id="39" name="Rounded Rectangle 38"/>
          <p:cNvSpPr/>
          <p:nvPr/>
        </p:nvSpPr>
        <p:spPr>
          <a:xfrm>
            <a:off x="9166860" y="9334246"/>
            <a:ext cx="3945636" cy="594360"/>
          </a:xfrm>
          <a:prstGeom prst="roundRect">
            <a:avLst>
              <a:gd name="adj" fmla="val 30769"/>
            </a:avLst>
          </a:prstGeom>
          <a:solidFill>
            <a:srgbClr val="F6ECDF"/>
          </a:solidFill>
          <a:ln>
            <a:noFill/>
          </a:ln>
        </p:spPr>
        <p:txBody>
          <a:bodyPr anchor="ctr" rtlCol="false" lIns="91440" tIns="45720" rIns="91440" bIns="45720" wrap="square"/>
          <a:lstStyle/>
          <a:p>
            <a:pPr algn="ctr">
              <a:lnSpc>
                <a:spcPts val="1840"/>
              </a:lnSpc>
              <a:spcBef>
                <a:spcPts val="0"/>
              </a:spcBef>
              <a:buNone/>
            </a:pPr>
            <a:r>
              <a:rPr lang="en-US" sz="1600" b="true">
                <a:solidFill>
                  <a:srgbClr val="111111"/>
                </a:solidFill>
                <a:latin typeface="Nunito Bold"/>
                <a:ea typeface="Nunito Bold"/>
                <a:cs typeface="Nunito Bold"/>
                <a:sym typeface="Nunito Bold"/>
              </a:rPr>
              <a:t>Efficiency</a:t>
            </a:r>
          </a:p>
          <a:p>
            <a:pPr algn="ctr">
              <a:lnSpc>
                <a:spcPts val="1440"/>
              </a:lnSpc>
              <a:spcBef>
                <a:spcPts val="300"/>
              </a:spcBef>
              <a:buNone/>
            </a:pPr>
            <a:r>
              <a:rPr lang="en-US" sz="1200" b="true">
                <a:solidFill>
                  <a:srgbClr val="8A8378"/>
                </a:solidFill>
                <a:latin typeface="Nunito Semi-Bold"/>
                <a:ea typeface="Nunito Semi-Bold"/>
                <a:cs typeface="Nunito Semi-Bold"/>
                <a:sym typeface="Nunito Semi-Bold"/>
              </a:rPr>
              <a:t>the shares add up to v(N)</a:t>
            </a:r>
          </a:p>
        </p:txBody>
      </p:sp>
      <p:sp>
        <p:nvSpPr>
          <p:cNvPr id="40" name="Rounded Rectangle 39"/>
          <p:cNvSpPr/>
          <p:nvPr/>
        </p:nvSpPr>
        <p:spPr>
          <a:xfrm>
            <a:off x="13313664" y="9334246"/>
            <a:ext cx="3945636" cy="594360"/>
          </a:xfrm>
          <a:prstGeom prst="roundRect">
            <a:avLst>
              <a:gd name="adj" fmla="val 30769"/>
            </a:avLst>
          </a:prstGeom>
          <a:solidFill>
            <a:srgbClr val="F6ECDF"/>
          </a:solidFill>
          <a:ln>
            <a:noFill/>
          </a:ln>
        </p:spPr>
        <p:txBody>
          <a:bodyPr anchor="ctr" rtlCol="false" lIns="91440" tIns="45720" rIns="91440" bIns="45720" wrap="square"/>
          <a:lstStyle/>
          <a:p>
            <a:pPr algn="ctr">
              <a:lnSpc>
                <a:spcPts val="1840"/>
              </a:lnSpc>
              <a:spcBef>
                <a:spcPts val="0"/>
              </a:spcBef>
              <a:buNone/>
            </a:pPr>
            <a:r>
              <a:rPr lang="en-US" sz="1600" b="true">
                <a:solidFill>
                  <a:srgbClr val="111111"/>
                </a:solidFill>
                <a:latin typeface="Nunito Bold"/>
                <a:ea typeface="Nunito Bold"/>
                <a:cs typeface="Nunito Bold"/>
                <a:sym typeface="Nunito Bold"/>
              </a:rPr>
              <a:t>Symmetry</a:t>
            </a:r>
          </a:p>
          <a:p>
            <a:pPr algn="ctr">
              <a:lnSpc>
                <a:spcPts val="1440"/>
              </a:lnSpc>
              <a:spcBef>
                <a:spcPts val="300"/>
              </a:spcBef>
              <a:buNone/>
            </a:pPr>
            <a:r>
              <a:rPr lang="en-US" sz="1200" b="true">
                <a:solidFill>
                  <a:srgbClr val="8A8378"/>
                </a:solidFill>
                <a:latin typeface="Nunito Semi-Bold"/>
                <a:ea typeface="Nunito Semi-Bold"/>
                <a:cs typeface="Nunito Semi-Bold"/>
                <a:sym typeface="Nunito Semi-Bold"/>
              </a:rPr>
              <a:t>equal contributors, equal credit</a:t>
            </a:r>
          </a:p>
        </p:txBody>
      </p:sp>
      <p:sp>
        <p:nvSpPr>
          <p:cNvPr id="41" name="Rounded Rectangle 40"/>
          <p:cNvSpPr/>
          <p:nvPr/>
        </p:nvSpPr>
        <p:spPr>
          <a:xfrm>
            <a:off x="9166860" y="10111486"/>
            <a:ext cx="3945636" cy="594360"/>
          </a:xfrm>
          <a:prstGeom prst="roundRect">
            <a:avLst>
              <a:gd name="adj" fmla="val 30769"/>
            </a:avLst>
          </a:prstGeom>
          <a:solidFill>
            <a:srgbClr val="F6ECDF"/>
          </a:solidFill>
          <a:ln>
            <a:noFill/>
          </a:ln>
        </p:spPr>
        <p:txBody>
          <a:bodyPr anchor="ctr" rtlCol="false" lIns="91440" tIns="45720" rIns="91440" bIns="45720" wrap="square"/>
          <a:lstStyle/>
          <a:p>
            <a:pPr algn="ctr">
              <a:lnSpc>
                <a:spcPts val="1840"/>
              </a:lnSpc>
              <a:spcBef>
                <a:spcPts val="0"/>
              </a:spcBef>
              <a:buNone/>
            </a:pPr>
            <a:r>
              <a:rPr lang="en-US" sz="1600" b="true">
                <a:solidFill>
                  <a:srgbClr val="111111"/>
                </a:solidFill>
                <a:latin typeface="Nunito Bold"/>
                <a:ea typeface="Nunito Bold"/>
                <a:cs typeface="Nunito Bold"/>
                <a:sym typeface="Nunito Bold"/>
              </a:rPr>
              <a:t>Null player</a:t>
            </a:r>
          </a:p>
          <a:p>
            <a:pPr algn="ctr">
              <a:lnSpc>
                <a:spcPts val="1440"/>
              </a:lnSpc>
              <a:spcBef>
                <a:spcPts val="300"/>
              </a:spcBef>
              <a:buNone/>
            </a:pPr>
            <a:r>
              <a:rPr lang="en-US" sz="1200" b="true">
                <a:solidFill>
                  <a:srgbClr val="8A8378"/>
                </a:solidFill>
                <a:latin typeface="Nunito Semi-Bold"/>
                <a:ea typeface="Nunito Semi-Bold"/>
                <a:cs typeface="Nunito Semi-Bold"/>
                <a:sym typeface="Nunito Semi-Bold"/>
              </a:rPr>
              <a:t>adds nothing </a:t>
            </a:r>
            <a:r>
              <a:rPr lang="en-US" sz="1200" b="true">
                <a:solidFill>
                  <a:srgbClr val="8A8378"/>
                </a:solidFill>
                <a:latin typeface="Calibri"/>
                <a:ea typeface="Calibri"/>
                <a:cs typeface="Calibri"/>
                <a:sym typeface="Calibri"/>
              </a:rPr>
              <a:t>→ </a:t>
            </a:r>
            <a:r>
              <a:rPr lang="en-US" sz="1200" b="true">
                <a:solidFill>
                  <a:srgbClr val="8A8378"/>
                </a:solidFill>
                <a:latin typeface="Nunito Semi-Bold"/>
                <a:ea typeface="Nunito Semi-Bold"/>
                <a:cs typeface="Nunito Semi-Bold"/>
                <a:sym typeface="Nunito Semi-Bold"/>
              </a:rPr>
              <a:t>gets nothing</a:t>
            </a:r>
          </a:p>
        </p:txBody>
      </p:sp>
      <p:sp>
        <p:nvSpPr>
          <p:cNvPr id="42" name="Rounded Rectangle 41"/>
          <p:cNvSpPr/>
          <p:nvPr/>
        </p:nvSpPr>
        <p:spPr>
          <a:xfrm>
            <a:off x="13313664" y="10111486"/>
            <a:ext cx="3945636" cy="594360"/>
          </a:xfrm>
          <a:prstGeom prst="roundRect">
            <a:avLst>
              <a:gd name="adj" fmla="val 30769"/>
            </a:avLst>
          </a:prstGeom>
          <a:solidFill>
            <a:srgbClr val="F6ECDF"/>
          </a:solidFill>
          <a:ln>
            <a:noFill/>
          </a:ln>
        </p:spPr>
        <p:txBody>
          <a:bodyPr anchor="ctr" rtlCol="false" lIns="91440" tIns="45720" rIns="91440" bIns="45720" wrap="square"/>
          <a:lstStyle/>
          <a:p>
            <a:pPr algn="ctr">
              <a:lnSpc>
                <a:spcPts val="1840"/>
              </a:lnSpc>
              <a:spcBef>
                <a:spcPts val="0"/>
              </a:spcBef>
              <a:buNone/>
            </a:pPr>
            <a:r>
              <a:rPr lang="en-US" sz="1600" b="true">
                <a:solidFill>
                  <a:srgbClr val="111111"/>
                </a:solidFill>
                <a:latin typeface="Nunito Bold"/>
                <a:ea typeface="Nunito Bold"/>
                <a:cs typeface="Nunito Bold"/>
                <a:sym typeface="Nunito Bold"/>
              </a:rPr>
              <a:t>Additivity</a:t>
            </a:r>
          </a:p>
          <a:p>
            <a:pPr algn="ctr">
              <a:lnSpc>
                <a:spcPts val="1440"/>
              </a:lnSpc>
              <a:spcBef>
                <a:spcPts val="300"/>
              </a:spcBef>
              <a:buNone/>
            </a:pPr>
            <a:r>
              <a:rPr lang="en-US" sz="1200" b="true">
                <a:solidFill>
                  <a:srgbClr val="8A8378"/>
                </a:solidFill>
                <a:latin typeface="Nunito Semi-Bold"/>
                <a:ea typeface="Nunito Semi-Bold"/>
                <a:cs typeface="Nunito Semi-Bold"/>
                <a:sym typeface="Nunito Semi-Bold"/>
              </a:rPr>
              <a:t>linear across games</a:t>
            </a:r>
          </a:p>
        </p:txBody>
      </p:sp>
      <p:sp>
        <p:nvSpPr>
          <p:cNvPr id="43" name="Rounded Rectangle 42"/>
          <p:cNvSpPr/>
          <p:nvPr/>
        </p:nvSpPr>
        <p:spPr>
          <a:xfrm>
            <a:off x="9166860" y="10934446"/>
            <a:ext cx="8092440" cy="-1671574"/>
          </a:xfrm>
          <a:prstGeom prst="roundRect">
            <a:avLst>
              <a:gd name="adj" fmla="val 0"/>
            </a:avLst>
          </a:prstGeom>
          <a:solidFill>
            <a:srgbClr val="1F7A8C"/>
          </a:solidFill>
          <a:ln>
            <a:noFill/>
          </a:ln>
        </p:spPr>
        <p:txBody>
          <a:bodyPr anchor="ctr" rtlCol="false" lIns="274320" tIns="73152" rIns="274320" bIns="73152" wrap="square"/>
          <a:lstStyle/>
          <a:p>
            <a:pPr algn="ctr">
              <a:lnSpc>
                <a:spcPts val="2000"/>
              </a:lnSpc>
              <a:spcBef>
                <a:spcPts val="0"/>
              </a:spcBef>
              <a:buNone/>
            </a:pPr>
            <a:r>
              <a:rPr lang="en-US" sz="1600" b="true">
                <a:solidFill>
                  <a:srgbClr val="FFFFFF"/>
                </a:solidFill>
                <a:latin typeface="Nunito Bold"/>
                <a:ea typeface="Nunito Bold"/>
                <a:cs typeface="Nunito Bold"/>
                <a:sym typeface="Nunito Bold"/>
              </a:rPr>
              <a:t>Why this rule:</a:t>
            </a:r>
            <a:r>
              <a:rPr lang="en-US" sz="1600" b="true">
                <a:solidFill>
                  <a:srgbClr val="FFFFFF"/>
                </a:solidFill>
                <a:latin typeface="Nunito Semi-Bold"/>
                <a:ea typeface="Nunito Semi-Bold"/>
                <a:cs typeface="Nunito Semi-Bold"/>
                <a:sym typeface="Nunito Semi-Bold"/>
              </a:rPr>
              <a:t> Shapley proved it is the </a:t>
            </a:r>
            <a:r>
              <a:rPr lang="en-US" sz="1600" b="true">
                <a:solidFill>
                  <a:srgbClr val="FFFFFF"/>
                </a:solidFill>
                <a:latin typeface="Nunito Bold"/>
                <a:ea typeface="Nunito Bold"/>
                <a:cs typeface="Nunito Bold"/>
                <a:sym typeface="Nunito Bold"/>
              </a:rPr>
              <a:t>only</a:t>
            </a:r>
            <a:r>
              <a:rPr lang="en-US" sz="1600" b="true">
                <a:solidFill>
                  <a:srgbClr val="FFFFFF"/>
                </a:solidFill>
                <a:latin typeface="Nunito Semi-Bold"/>
                <a:ea typeface="Nunito Semi-Bold"/>
                <a:cs typeface="Nunito Semi-Bold"/>
                <a:sym typeface="Nunito Semi-Bold"/>
              </a:rPr>
              <a:t> allocation satisfying all four axioms at once.</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30</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The Bridge: LightGBM Surrogate + TreeSHAP</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Rounded Rectangle 24"/>
          <p:cNvSpPr/>
          <p:nvPr/>
        </p:nvSpPr>
        <p:spPr>
          <a:xfrm>
            <a:off x="1028700" y="3455162"/>
            <a:ext cx="2926080" cy="1188720"/>
          </a:xfrm>
          <a:prstGeom prst="roundRect">
            <a:avLst>
              <a:gd name="adj" fmla="val 16923"/>
            </a:avLst>
          </a:prstGeom>
          <a:solidFill>
            <a:srgbClr val="4472C4"/>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K-Means</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cluster labels</a:t>
            </a:r>
          </a:p>
        </p:txBody>
      </p:sp>
      <p:cxnSp>
        <p:nvCxnSpPr>
          <p:cNvPr id="26" name="Connector 25"/>
          <p:cNvCxnSpPr/>
          <p:nvPr/>
        </p:nvCxnSpPr>
        <p:spPr>
          <a:xfrm>
            <a:off x="4027932" y="4049522"/>
            <a:ext cx="1362456" cy="0"/>
          </a:xfrm>
          <a:prstGeom prst="line">
            <a:avLst/>
          </a:prstGeom>
          <a:ln w="31750">
            <a:solidFill>
              <a:srgbClr val="4472C4"/>
            </a:solidFill>
            <a:tailEnd type="triangle" w="med" len="med"/>
          </a:ln>
        </p:spPr>
      </p:cxnSp>
      <p:sp>
        <p:nvSpPr>
          <p:cNvPr id="27" name="Rounded Rectangle 26"/>
          <p:cNvSpPr/>
          <p:nvPr/>
        </p:nvSpPr>
        <p:spPr>
          <a:xfrm>
            <a:off x="5463540" y="3455162"/>
            <a:ext cx="2926080" cy="1188720"/>
          </a:xfrm>
          <a:prstGeom prst="roundRect">
            <a:avLst>
              <a:gd name="adj" fmla="val 16923"/>
            </a:avLst>
          </a:prstGeom>
          <a:solidFill>
            <a:srgbClr val="4472C4"/>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LightGBM</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multiclass surrogate</a:t>
            </a:r>
          </a:p>
        </p:txBody>
      </p:sp>
      <p:cxnSp>
        <p:nvCxnSpPr>
          <p:cNvPr id="28" name="Connector 27"/>
          <p:cNvCxnSpPr/>
          <p:nvPr/>
        </p:nvCxnSpPr>
        <p:spPr>
          <a:xfrm>
            <a:off x="8462772" y="4049522"/>
            <a:ext cx="1362456" cy="0"/>
          </a:xfrm>
          <a:prstGeom prst="line">
            <a:avLst/>
          </a:prstGeom>
          <a:ln w="31750">
            <a:solidFill>
              <a:srgbClr val="4472C4"/>
            </a:solidFill>
            <a:tailEnd type="triangle" w="med" len="med"/>
          </a:ln>
        </p:spPr>
      </p:cxnSp>
      <p:sp>
        <p:nvSpPr>
          <p:cNvPr id="29" name="Rounded Rectangle 28"/>
          <p:cNvSpPr/>
          <p:nvPr/>
        </p:nvSpPr>
        <p:spPr>
          <a:xfrm>
            <a:off x="9898380" y="3455162"/>
            <a:ext cx="2926080" cy="1188720"/>
          </a:xfrm>
          <a:prstGeom prst="roundRect">
            <a:avLst>
              <a:gd name="adj" fmla="val 16923"/>
            </a:avLst>
          </a:prstGeom>
          <a:solidFill>
            <a:srgbClr val="111111"/>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TreeSHAP</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exact attribution</a:t>
            </a:r>
          </a:p>
        </p:txBody>
      </p:sp>
      <p:cxnSp>
        <p:nvCxnSpPr>
          <p:cNvPr id="30" name="Connector 29"/>
          <p:cNvCxnSpPr/>
          <p:nvPr/>
        </p:nvCxnSpPr>
        <p:spPr>
          <a:xfrm>
            <a:off x="12897612" y="4049522"/>
            <a:ext cx="1362456" cy="0"/>
          </a:xfrm>
          <a:prstGeom prst="line">
            <a:avLst/>
          </a:prstGeom>
          <a:ln w="31750">
            <a:solidFill>
              <a:srgbClr val="4472C4"/>
            </a:solidFill>
            <a:tailEnd type="triangle" w="med" len="med"/>
          </a:ln>
        </p:spPr>
      </p:cxnSp>
      <p:sp>
        <p:nvSpPr>
          <p:cNvPr id="31" name="Rounded Rectangle 30"/>
          <p:cNvSpPr/>
          <p:nvPr/>
        </p:nvSpPr>
        <p:spPr>
          <a:xfrm>
            <a:off x="14333220" y="3455162"/>
            <a:ext cx="2926080" cy="1188720"/>
          </a:xfrm>
          <a:prstGeom prst="roundRect">
            <a:avLst>
              <a:gd name="adj" fmla="val 16923"/>
            </a:avLst>
          </a:prstGeom>
          <a:solidFill>
            <a:srgbClr val="1F7A8C"/>
          </a:solidFill>
          <a:ln>
            <a:noFill/>
          </a:ln>
        </p:spPr>
        <p:txBody>
          <a:bodyPr anchor="ctr" rtlCol="false" lIns="91440" tIns="45720" rIns="91440" bIns="45720" wrap="square"/>
          <a:lstStyle/>
          <a:p>
            <a:pPr algn="ctr">
              <a:lnSpc>
                <a:spcPts val="2530"/>
              </a:lnSpc>
              <a:spcBef>
                <a:spcPts val="0"/>
              </a:spcBef>
              <a:buNone/>
            </a:pPr>
            <a:r>
              <a:rPr lang="en-US" sz="2200" b="true">
                <a:solidFill>
                  <a:srgbClr val="FFFFFF"/>
                </a:solidFill>
                <a:latin typeface="Nunito Bold"/>
                <a:ea typeface="Nunito Bold"/>
                <a:cs typeface="Nunito Bold"/>
                <a:sym typeface="Nunito Bold"/>
              </a:rPr>
              <a:t>Explanation</a:t>
            </a:r>
          </a:p>
          <a:p>
            <a:pPr algn="ctr">
              <a:lnSpc>
                <a:spcPts val="1920"/>
              </a:lnSpc>
              <a:spcBef>
                <a:spcPts val="300"/>
              </a:spcBef>
              <a:buNone/>
            </a:pPr>
            <a:r>
              <a:rPr lang="en-US" sz="1600" b="true">
                <a:solidFill>
                  <a:srgbClr val="FFFFFF"/>
                </a:solidFill>
                <a:latin typeface="Nunito Semi-Bold"/>
                <a:ea typeface="Nunito Semi-Bold"/>
                <a:cs typeface="Nunito Semi-Bold"/>
                <a:sym typeface="Nunito Semi-Bold"/>
              </a:rPr>
              <a:t>original feature space</a:t>
            </a:r>
          </a:p>
        </p:txBody>
      </p:sp>
      <p:sp>
        <p:nvSpPr>
          <p:cNvPr id="32" name="Rounded Rectangle 31"/>
          <p:cNvSpPr/>
          <p:nvPr/>
        </p:nvSpPr>
        <p:spPr>
          <a:xfrm>
            <a:off x="1028700" y="5283962"/>
            <a:ext cx="7932420" cy="4070350"/>
          </a:xfrm>
          <a:prstGeom prst="roundRect">
            <a:avLst>
              <a:gd name="adj" fmla="val 7638"/>
            </a:avLst>
          </a:prstGeom>
          <a:solidFill>
            <a:srgbClr val="4472C4"/>
          </a:solidFill>
          <a:ln>
            <a:noFill/>
          </a:ln>
        </p:spPr>
        <p:txBody>
          <a:bodyPr anchor="ctr" rtlCol="false" lIns="0" tIns="0" rIns="0" bIns="0" wrap="square"/>
          <a:lstStyle/>
          <a:p>
            <a:endParaRPr lang="en-US" sz="1800"/>
          </a:p>
        </p:txBody>
      </p:sp>
      <p:sp>
        <p:nvSpPr>
          <p:cNvPr id="33" name="Rounded Rectangle 32"/>
          <p:cNvSpPr/>
          <p:nvPr/>
        </p:nvSpPr>
        <p:spPr>
          <a:xfrm>
            <a:off x="1485900" y="5046218"/>
            <a:ext cx="1292063"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How</a:t>
            </a:r>
          </a:p>
        </p:txBody>
      </p:sp>
      <p:sp>
        <p:nvSpPr>
          <p:cNvPr id="34" name="TextBox 33"/>
          <p:cNvSpPr txBox="1"/>
          <p:nvPr/>
        </p:nvSpPr>
        <p:spPr>
          <a:xfrm>
            <a:off x="1531620" y="5924042"/>
            <a:ext cx="6972300" cy="3155950"/>
          </a:xfrm>
          <a:prstGeom prst="rect">
            <a:avLst/>
          </a:prstGeom>
          <a:noFill/>
        </p:spPr>
        <p:txBody>
          <a:bodyPr anchor="t" rtlCol="false" lIns="0" tIns="0" rIns="0" bIns="0" wrap="square"/>
          <a:lstStyle/>
          <a:p>
            <a:pPr algn="l" marL="274320" indent="-274320">
              <a:lnSpc>
                <a:spcPts val="2800"/>
              </a:lnSpc>
              <a:spcBef>
                <a:spcPts val="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Once K-Means produces cluster labels, train a </a:t>
            </a:r>
            <a:r>
              <a:rPr lang="en-US" sz="2000" b="true">
                <a:solidFill>
                  <a:srgbClr val="FFFFFF"/>
                </a:solidFill>
                <a:latin typeface="Nunito Bold"/>
                <a:ea typeface="Nunito Bold"/>
                <a:cs typeface="Nunito Bold"/>
                <a:sym typeface="Nunito Bold"/>
              </a:rPr>
              <a:t>LightGBM multiclass surrogate</a:t>
            </a:r>
            <a:r>
              <a:rPr lang="en-US" sz="2000" b="true">
                <a:solidFill>
                  <a:srgbClr val="FFFFFF"/>
                </a:solidFill>
                <a:latin typeface="Nunito Semi-Bold"/>
                <a:ea typeface="Nunito Semi-Bold"/>
                <a:cs typeface="Nunito Semi-Bold"/>
                <a:sym typeface="Nunito Semi-Bold"/>
              </a:rPr>
              <a:t> to predict them from the original features.</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Apply </a:t>
            </a:r>
            <a:r>
              <a:rPr lang="en-US" sz="2000" b="true">
                <a:solidFill>
                  <a:srgbClr val="FFFFFF"/>
                </a:solidFill>
                <a:latin typeface="Nunito Bold"/>
                <a:ea typeface="Nunito Bold"/>
                <a:cs typeface="Nunito Bold"/>
                <a:sym typeface="Nunito Bold"/>
              </a:rPr>
              <a:t>TreeSHAP</a:t>
            </a:r>
            <a:r>
              <a:rPr lang="en-US" sz="2000" b="true">
                <a:solidFill>
                  <a:srgbClr val="FFFFFF"/>
                </a:solidFill>
                <a:latin typeface="Nunito Semi-Bold"/>
                <a:ea typeface="Nunito Semi-Bold"/>
                <a:cs typeface="Nunito Semi-Bold"/>
                <a:sym typeface="Nunito Semi-Bold"/>
              </a:rPr>
              <a:t> to the surrogate: fast, exact tree-based attribution in the original feature space.</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Aggregate into </a:t>
            </a:r>
            <a:r>
              <a:rPr lang="en-US" sz="2000" b="true">
                <a:solidFill>
                  <a:srgbClr val="FFFFFF"/>
                </a:solidFill>
                <a:latin typeface="Nunito Bold"/>
                <a:ea typeface="Nunito Bold"/>
                <a:cs typeface="Nunito Bold"/>
                <a:sym typeface="Nunito Bold"/>
              </a:rPr>
              <a:t>global importance</a:t>
            </a:r>
            <a:r>
              <a:rPr lang="en-US" sz="2000" b="true">
                <a:solidFill>
                  <a:srgbClr val="FFFFFF"/>
                </a:solidFill>
                <a:latin typeface="Nunito Semi-Bold"/>
                <a:ea typeface="Nunito Semi-Bold"/>
                <a:cs typeface="Nunito Semi-Bold"/>
                <a:sym typeface="Nunito Semi-Bold"/>
              </a:rPr>
              <a:t>, </a:t>
            </a:r>
            <a:r>
              <a:rPr lang="en-US" sz="2000" b="true">
                <a:solidFill>
                  <a:srgbClr val="FFFFFF"/>
                </a:solidFill>
                <a:latin typeface="Nunito Bold"/>
                <a:ea typeface="Nunito Bold"/>
                <a:cs typeface="Nunito Bold"/>
                <a:sym typeface="Nunito Bold"/>
              </a:rPr>
              <a:t>cluster-specific profiles</a:t>
            </a:r>
            <a:r>
              <a:rPr lang="en-US" sz="2000" b="true">
                <a:solidFill>
                  <a:srgbClr val="FFFFFF"/>
                </a:solidFill>
                <a:latin typeface="Nunito Semi-Bold"/>
                <a:ea typeface="Nunito Semi-Bold"/>
                <a:cs typeface="Nunito Semi-Bold"/>
                <a:sym typeface="Nunito Semi-Bold"/>
              </a:rPr>
              <a:t> and </a:t>
            </a:r>
            <a:r>
              <a:rPr lang="en-US" sz="2000" b="true">
                <a:solidFill>
                  <a:srgbClr val="FFFFFF"/>
                </a:solidFill>
                <a:latin typeface="Nunito Bold"/>
                <a:ea typeface="Nunito Bold"/>
                <a:cs typeface="Nunito Bold"/>
                <a:sym typeface="Nunito Bold"/>
              </a:rPr>
              <a:t>local force plots</a:t>
            </a:r>
            <a:r>
              <a:rPr lang="en-US" sz="2000" b="true">
                <a:solidFill>
                  <a:srgbClr val="FFFFFF"/>
                </a:solidFill>
                <a:latin typeface="Nunito Semi-Bold"/>
                <a:ea typeface="Nunito Semi-Bold"/>
                <a:cs typeface="Nunito Semi-Bold"/>
                <a:sym typeface="Nunito Semi-Bold"/>
              </a:rPr>
              <a:t>.</a:t>
            </a:r>
          </a:p>
        </p:txBody>
      </p:sp>
      <p:sp>
        <p:nvSpPr>
          <p:cNvPr id="35" name="Rounded Rectangle 34"/>
          <p:cNvSpPr/>
          <p:nvPr/>
        </p:nvSpPr>
        <p:spPr>
          <a:xfrm>
            <a:off x="9326880" y="5283962"/>
            <a:ext cx="7932420" cy="4070350"/>
          </a:xfrm>
          <a:prstGeom prst="roundRect">
            <a:avLst>
              <a:gd name="adj" fmla="val 7638"/>
            </a:avLst>
          </a:prstGeom>
          <a:solidFill>
            <a:srgbClr val="F6ECDF"/>
          </a:solidFill>
          <a:ln>
            <a:noFill/>
          </a:ln>
        </p:spPr>
        <p:txBody>
          <a:bodyPr anchor="ctr" rtlCol="false" lIns="0" tIns="0" rIns="0" bIns="0" wrap="square"/>
          <a:lstStyle/>
          <a:p>
            <a:endParaRPr lang="en-US" sz="1800"/>
          </a:p>
        </p:txBody>
      </p:sp>
      <p:sp>
        <p:nvSpPr>
          <p:cNvPr id="36" name="Rounded Rectangle 35"/>
          <p:cNvSpPr/>
          <p:nvPr/>
        </p:nvSpPr>
        <p:spPr>
          <a:xfrm>
            <a:off x="9784080" y="5046218"/>
            <a:ext cx="1298395"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Why</a:t>
            </a:r>
          </a:p>
        </p:txBody>
      </p:sp>
      <p:sp>
        <p:nvSpPr>
          <p:cNvPr id="37" name="TextBox 36"/>
          <p:cNvSpPr txBox="1"/>
          <p:nvPr/>
        </p:nvSpPr>
        <p:spPr>
          <a:xfrm>
            <a:off x="9829800" y="5924042"/>
            <a:ext cx="6972300" cy="3155950"/>
          </a:xfrm>
          <a:prstGeom prst="rect">
            <a:avLst/>
          </a:prstGeom>
          <a:noFill/>
        </p:spPr>
        <p:txBody>
          <a:bodyPr anchor="t" rtlCol="false" lIns="0" tIns="0" rIns="0" bIns="0" wrap="square"/>
          <a:lstStyle/>
          <a:p>
            <a:pPr algn="l" marL="274320" indent="-274320">
              <a:lnSpc>
                <a:spcPts val="2548"/>
              </a:lnSpc>
              <a:spcBef>
                <a:spcPts val="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Direct TreeSHAP on K-Means is impossible: it explains </a:t>
            </a:r>
            <a:r>
              <a:rPr lang="en-US" sz="1820" b="true">
                <a:solidFill>
                  <a:srgbClr val="111111"/>
                </a:solidFill>
                <a:latin typeface="Nunito Bold"/>
                <a:ea typeface="Nunito Bold"/>
                <a:cs typeface="Nunito Bold"/>
                <a:sym typeface="Nunito Bold"/>
              </a:rPr>
              <a:t>tree models, not centroids</a:t>
            </a:r>
            <a:r>
              <a:rPr lang="en-US" sz="1820" b="true">
                <a:solidFill>
                  <a:srgbClr val="111111"/>
                </a:solidFill>
                <a:latin typeface="Nunito Semi-Bold"/>
                <a:ea typeface="Nunito Semi-Bold"/>
                <a:cs typeface="Nunito Semi-Bold"/>
                <a:sym typeface="Nunito Semi-Bold"/>
              </a:rPr>
              <a:t>.</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Explaining the PCA representation would move attribution away from the interpretable variables.</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The surrogate keeps the </a:t>
            </a:r>
            <a:r>
              <a:rPr lang="en-US" sz="1820" b="true">
                <a:solidFill>
                  <a:srgbClr val="111111"/>
                </a:solidFill>
                <a:latin typeface="Nunito Bold"/>
                <a:ea typeface="Nunito Bold"/>
                <a:cs typeface="Nunito Bold"/>
                <a:sym typeface="Nunito Bold"/>
              </a:rPr>
              <a:t>chemistry / pollution terms</a:t>
            </a:r>
            <a:r>
              <a:rPr lang="en-US" sz="1820" b="true">
                <a:solidFill>
                  <a:srgbClr val="111111"/>
                </a:solidFill>
                <a:latin typeface="Nunito Semi-Bold"/>
                <a:ea typeface="Nunito Semi-Bold"/>
                <a:cs typeface="Nunito Semi-Bold"/>
                <a:sym typeface="Nunito Semi-Bold"/>
              </a:rPr>
              <a:t> that make the analysis actionable.</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Bold"/>
                <a:ea typeface="Nunito Bold"/>
                <a:cs typeface="Nunito Bold"/>
                <a:sym typeface="Nunito Bold"/>
              </a:rPr>
              <a:t>Validity condition:</a:t>
            </a:r>
            <a:r>
              <a:rPr lang="en-US" sz="1820" b="true">
                <a:solidFill>
                  <a:srgbClr val="111111"/>
                </a:solidFill>
                <a:latin typeface="Nunito Semi-Bold"/>
                <a:ea typeface="Nunito Semi-Bold"/>
                <a:cs typeface="Nunito Semi-Bold"/>
                <a:sym typeface="Nunito Semi-Bold"/>
              </a:rPr>
              <a:t> surrogate fidelity is high, with </a:t>
            </a:r>
            <a:r>
              <a:rPr lang="en-US" sz="1820" b="true">
                <a:solidFill>
                  <a:srgbClr val="111111"/>
                </a:solidFill>
                <a:latin typeface="Nunito Bold"/>
                <a:ea typeface="Nunito Bold"/>
                <a:cs typeface="Nunito Bold"/>
                <a:sym typeface="Nunito Bold"/>
              </a:rPr>
              <a:t>macro-F1 ≈ 0.82</a:t>
            </a:r>
            <a:r>
              <a:rPr lang="en-US" sz="1820" b="true">
                <a:solidFill>
                  <a:srgbClr val="111111"/>
                </a:solidFill>
                <a:latin typeface="Nunito Semi-Bold"/>
                <a:ea typeface="Nunito Semi-Bold"/>
                <a:cs typeface="Nunito Semi-Bold"/>
                <a:sym typeface="Nunito Semi-Bold"/>
              </a:rPr>
              <a:t> as the floor.</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[6] Lundberg, S. M. et al. From Local Explanations to Global Understanding with Explainable AI for Trees (TreeSHAP). Nature Machine Intelligence 2, 56–67 (2020).   [7] Ribeiro, M. T., Singh, S. &amp; Guestrin, C. "Why Should I Trust You?": Explaining the Predictions of Any Classifier (LIME). KDD, 1135–1144 (2016).   [17] Rousseeuw, P. J. Silhouettes: A Graphical Aid to the Interpretation and Validation of Cluster Analysis. J. Comput. Appl. Math. 20, 53–65 (1987).</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31</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25" name="Table 24"/>
          <p:cNvGraphicFramePr>
            <a:graphicFrameLocks noGrp="1"/>
          </p:cNvGraphicFramePr>
          <p:nvPr/>
        </p:nvGraphicFramePr>
        <p:xfrm>
          <a:off x="1028700" y="3363722"/>
          <a:ext cx="9966960" cy="4617212"/>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Wine Quality, 4,898 samples × 11 standardised chemical features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Clustering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K-Means++ on the PCA-stabilised data; k scanned over 2 … 10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Choice of 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Elbow + Silhouette + Davies–Bouldin, then an interpretability check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Surrogate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LightGBM multiclass, five-fold cross-validation, macro-F1 as fidelity score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Exact TreeSHAP on the surrogate, in the original 11-feature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Outputs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Global mean |SHAP| ranking, per-cluster profiles, local force plots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Comparison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LIME-based surrogate explanation on the same partition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6" name="Rounded Rectangle 25"/>
          <p:cNvSpPr/>
          <p:nvPr/>
        </p:nvSpPr>
        <p:spPr>
          <a:xfrm>
            <a:off x="11452860" y="3592322"/>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27" name="Rounded Rectangle 26"/>
          <p:cNvSpPr/>
          <p:nvPr/>
        </p:nvSpPr>
        <p:spPr>
          <a:xfrm>
            <a:off x="11910060" y="3354578"/>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28" name="TextBox 27"/>
          <p:cNvSpPr txBox="1"/>
          <p:nvPr/>
        </p:nvSpPr>
        <p:spPr>
          <a:xfrm>
            <a:off x="11910060" y="4232402"/>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Fidelity floor met:</a:t>
            </a:r>
            <a:r>
              <a:rPr lang="en-US" sz="1900" b="true">
                <a:solidFill>
                  <a:srgbClr val="FFFFFF"/>
                </a:solidFill>
                <a:latin typeface="Nunito Semi-Bold"/>
                <a:ea typeface="Nunito Semi-Bold"/>
                <a:cs typeface="Nunito Semi-Bold"/>
                <a:sym typeface="Nunito Semi-Bold"/>
              </a:rPr>
              <a:t> macro-F1 ≈ 0.82 or higher, otherwise the explanation is not trusted.</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Global ranking is chemically meaningful:</a:t>
            </a:r>
            <a:r>
              <a:rPr lang="en-US" sz="1900" b="true">
                <a:solidFill>
                  <a:srgbClr val="FFFFFF"/>
                </a:solidFill>
                <a:latin typeface="Nunito Semi-Bold"/>
                <a:ea typeface="Nunito Semi-Bold"/>
                <a:cs typeface="Nunito Semi-Bold"/>
                <a:sym typeface="Nunito Semi-Bold"/>
              </a:rPr>
              <a:t> the top features are ones an expert would name.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Clusters have distinct signatures:</a:t>
            </a:r>
            <a:r>
              <a:rPr lang="en-US" sz="1900" b="true">
                <a:solidFill>
                  <a:srgbClr val="FFFFFF"/>
                </a:solidFill>
                <a:latin typeface="Nunito Semi-Bold"/>
                <a:ea typeface="Nunito Semi-Bold"/>
                <a:cs typeface="Nunito Semi-Bold"/>
                <a:sym typeface="Nunito Semi-Bold"/>
              </a:rPr>
              <a:t> the same features, different weights per cluster.</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Shapley beats LIME</a:t>
            </a:r>
            <a:r>
              <a:rPr lang="en-US" sz="1900" b="true">
                <a:solidFill>
                  <a:srgbClr val="FFFFFF"/>
                </a:solidFill>
                <a:latin typeface="Nunito Semi-Bold"/>
                <a:ea typeface="Nunito Semi-Bold"/>
                <a:cs typeface="Nunito Semi-Bold"/>
                <a:sym typeface="Nunito Semi-Bold"/>
              </a:rPr>
              <a:t> on stability and cross-cluster comparison.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32</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Choosing k: Interpretability over Geometry</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7863840" cy="59448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Multi-criteria evaluation across </a:t>
            </a:r>
            <a:r>
              <a:rPr lang="en-US" sz="2100" b="true">
                <a:solidFill>
                  <a:srgbClr val="111111"/>
                </a:solidFill>
                <a:latin typeface="Nunito Bold"/>
                <a:ea typeface="Nunito Bold"/>
                <a:cs typeface="Nunito Bold"/>
                <a:sym typeface="Nunito Bold"/>
              </a:rPr>
              <a:t>k </a:t>
            </a:r>
            <a:r>
              <a:rPr lang="en-US" sz="2100" b="true">
                <a:solidFill>
                  <a:srgbClr val="111111"/>
                </a:solidFill>
                <a:latin typeface="Cambria Math"/>
                <a:ea typeface="Cambria Math"/>
                <a:cs typeface="Cambria Math"/>
                <a:sym typeface="Cambria Math"/>
              </a:rPr>
              <a:t>∈ </a:t>
            </a:r>
            <a:r>
              <a:rPr lang="en-US" sz="2100" b="true">
                <a:solidFill>
                  <a:srgbClr val="111111"/>
                </a:solidFill>
                <a:latin typeface="Nunito Bold"/>
                <a:ea typeface="Nunito Bold"/>
                <a:cs typeface="Nunito Bold"/>
                <a:sym typeface="Nunito Bold"/>
              </a:rPr>
              <a:t>{2 … 10}</a:t>
            </a:r>
            <a:r>
              <a:rPr lang="en-US" sz="2100" b="true">
                <a:solidFill>
                  <a:srgbClr val="111111"/>
                </a:solidFill>
                <a:latin typeface="Nunito Semi-Bold"/>
                <a:ea typeface="Nunito Semi-Bold"/>
                <a:cs typeface="Nunito Semi-Bold"/>
                <a:sym typeface="Nunito Semi-Bold"/>
              </a:rPr>
              <a:t> using elbow, Silhouette and Davies–Bouldin.</a:t>
            </a:r>
          </a:p>
          <a:p>
            <a:pPr algn="l" marL="274320" indent="-274320">
              <a:lnSpc>
                <a:spcPts val="3108"/>
              </a:lnSpc>
              <a:spcBef>
                <a:spcPts val="10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We select </a:t>
            </a:r>
            <a:r>
              <a:rPr lang="en-US" sz="2100" b="true">
                <a:solidFill>
                  <a:srgbClr val="111111"/>
                </a:solidFill>
                <a:latin typeface="Nunito Bold"/>
                <a:ea typeface="Nunito Bold"/>
                <a:cs typeface="Nunito Bold"/>
                <a:sym typeface="Nunito Bold"/>
              </a:rPr>
              <a:t>k</a:t>
            </a:r>
            <a:r>
              <a:rPr lang="en-US" sz="2100" b="true" baseline="30000">
                <a:solidFill>
                  <a:srgbClr val="111111"/>
                </a:solidFill>
                <a:latin typeface="Nunito Bold"/>
                <a:ea typeface="Nunito Bold"/>
                <a:cs typeface="Nunito Bold"/>
                <a:sym typeface="Nunito Bold"/>
              </a:rPr>
              <a:t>*</a:t>
            </a:r>
            <a:r>
              <a:rPr lang="en-US" sz="2100" b="true">
                <a:solidFill>
                  <a:srgbClr val="111111"/>
                </a:solidFill>
                <a:latin typeface="Nunito Bold"/>
                <a:ea typeface="Nunito Bold"/>
                <a:cs typeface="Nunito Bold"/>
                <a:sym typeface="Nunito Bold"/>
              </a:rPr>
              <a:t> = 3, even though it is NOT the best geometry</a:t>
            </a:r>
            <a:r>
              <a:rPr lang="en-US" sz="2100" b="true">
                <a:solidFill>
                  <a:srgbClr val="111111"/>
                </a:solidFill>
                <a:latin typeface="Nunito Semi-Bold"/>
                <a:ea typeface="Nunito Semi-Bold"/>
                <a:cs typeface="Nunito Semi-Bold"/>
                <a:sym typeface="Nunito Semi-Bold"/>
              </a:rPr>
              <a:t>.</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k = 2: Silhouette 0.214, Davies–Bouldin 1.775 (better separation).</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k = 3: Silhouette 0.144, Davies–Bouldin 2.097 (weaker separation).</a:t>
            </a:r>
          </a:p>
          <a:p>
            <a:pPr algn="l" marL="274320" indent="-274320">
              <a:lnSpc>
                <a:spcPts val="2940"/>
              </a:lnSpc>
              <a:spcBef>
                <a:spcPts val="10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Why:</a:t>
            </a:r>
            <a:r>
              <a:rPr lang="en-US" sz="2100" b="true">
                <a:solidFill>
                  <a:srgbClr val="111111"/>
                </a:solidFill>
                <a:latin typeface="Nunito Semi-Bold"/>
                <a:ea typeface="Nunito Semi-Bold"/>
                <a:cs typeface="Nunito Semi-Bold"/>
                <a:sym typeface="Nunito Semi-Bold"/>
              </a:rPr>
              <a:t> three clusters give a richer, more meaningful wine partition </a:t>
            </a:r>
            <a:r>
              <a:rPr lang="en-US" sz="2100" b="true">
                <a:solidFill>
                  <a:srgbClr val="111111"/>
                </a:solidFill>
                <a:latin typeface="Calibri"/>
                <a:ea typeface="Calibri"/>
                <a:cs typeface="Calibri"/>
                <a:sym typeface="Calibri"/>
              </a:rPr>
              <a:t>→ </a:t>
            </a:r>
            <a:r>
              <a:rPr lang="en-US" sz="2100" b="true">
                <a:solidFill>
                  <a:srgbClr val="111111"/>
                </a:solidFill>
                <a:latin typeface="Nunito Bold"/>
                <a:ea typeface="Nunito Bold"/>
                <a:cs typeface="Nunito Bold"/>
                <a:sym typeface="Nunito Bold"/>
              </a:rPr>
              <a:t>more actionable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0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Note: the higher Silhouette ≈ 0.63 belongs to Beijing (C2), not to this wine partition.</a:t>
            </a:r>
          </a:p>
        </p:txBody>
      </p:sp>
      <p:graphicFrame>
        <p:nvGraphicFramePr>
          <p:cNvPr id="26" name="Table 25"/>
          <p:cNvGraphicFramePr>
            <a:graphicFrameLocks noGrp="1"/>
          </p:cNvGraphicFramePr>
          <p:nvPr/>
        </p:nvGraphicFramePr>
        <p:xfrm>
          <a:off x="9441180" y="3363722"/>
          <a:ext cx="7818120" cy="2284984"/>
        </p:xfrm>
        <a:graphic>
          <a:graphicData uri="http://schemas.openxmlformats.org/drawingml/2006/table">
            <a:tbl>
              <a:tblPr firstRow="0" bandRow="0" firstCol="0" lastRow="0" lastCol="0" bandCol="0">
                <a:tableStyleId>{2D5ABB26-0587-4C30-8999-92F81FD0307C}</a:tableStyleId>
              </a:tblPr>
              <a:tblGrid>
                <a:gridCol w="977265"/>
                <a:gridCol w="1563624"/>
                <a:gridCol w="1954530"/>
                <a:gridCol w="3322701"/>
              </a:tblGrid>
              <a:tr h="776732">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k</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Silhouette </a:t>
                      </a:r>
                      <a:r>
                        <a:rPr lang="en-US" sz="1700" b="true">
                          <a:solidFill>
                            <a:srgbClr val="FFFFFF"/>
                          </a:solidFill>
                          <a:latin typeface="Calibri"/>
                          <a:ea typeface="Calibri"/>
                          <a:cs typeface="Calibri"/>
                          <a:sym typeface="Calibri"/>
                        </a:rPr>
                        <a: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Davies–Bouldin </a:t>
                      </a:r>
                      <a:r>
                        <a:rPr lang="en-US" sz="1700" b="true">
                          <a:solidFill>
                            <a:srgbClr val="FFFFFF"/>
                          </a:solidFill>
                          <a:latin typeface="Calibri"/>
                          <a:ea typeface="Calibri"/>
                          <a:cs typeface="Calibri"/>
                          <a:sym typeface="Calibri"/>
                        </a:rPr>
                        <a: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Reading</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0.214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1.775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best geometry, coarse meaning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31520">
                <a:tc>
                  <a:txBody>
                    <a:bodyPr anchor="ctr" rtlCol="false" lIns="0" tIns="0" rIns="0" bIns="0" wrap="square"/>
                    <a:lstStyle/>
                    <a:p>
                      <a:pPr algn="ctr">
                        <a:lnSpc>
                          <a:spcPts val="2210"/>
                        </a:lnSpc>
                        <a:spcBef>
                          <a:spcPts val="0"/>
                        </a:spcBef>
                        <a:buNone/>
                      </a:pPr>
                      <a:r>
                        <a:rPr lang="en-US" sz="1700" b="true">
                          <a:solidFill>
                            <a:srgbClr val="111111"/>
                          </a:solidFill>
                          <a:latin typeface="Nunito Bold"/>
                          <a:ea typeface="Nunito Bold"/>
                          <a:cs typeface="Nunito Bold"/>
                          <a:sym typeface="Nunito Bold"/>
                        </a:rPr>
                        <a:t>3 </a:t>
                      </a:r>
                      <a:r>
                        <a:rPr lang="en-US" sz="1700" b="true">
                          <a:solidFill>
                            <a:srgbClr val="111111"/>
                          </a:solidFill>
                          <a:latin typeface="Cambria Math"/>
                          <a:ea typeface="Cambria Math"/>
                          <a:cs typeface="Cambria Math"/>
                          <a:sym typeface="Cambria Math"/>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0.144</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2.097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richer wine partition · selected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27" name="Rounded Rectangle 26"/>
          <p:cNvSpPr/>
          <p:nvPr/>
        </p:nvSpPr>
        <p:spPr>
          <a:xfrm>
            <a:off x="9441180" y="6014466"/>
            <a:ext cx="3771900" cy="3294126"/>
          </a:xfrm>
          <a:prstGeom prst="roundRect">
            <a:avLst>
              <a:gd name="adj" fmla="val 8327"/>
            </a:avLst>
          </a:prstGeom>
          <a:solidFill>
            <a:srgbClr val="4472C4"/>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k</a:t>
            </a:r>
            <a:r>
              <a:rPr lang="en-US" sz="4000" b="true" baseline="30000">
                <a:solidFill>
                  <a:srgbClr val="ECC665"/>
                </a:solidFill>
                <a:latin typeface="Nunito Ultra-Bold"/>
                <a:ea typeface="Nunito Ultra-Bold"/>
                <a:cs typeface="Nunito Ultra-Bold"/>
                <a:sym typeface="Nunito Ultra-Bold"/>
              </a:rPr>
              <a:t>*</a:t>
            </a:r>
            <a:r>
              <a:rPr lang="en-US" sz="4000" b="true">
                <a:solidFill>
                  <a:srgbClr val="ECC665"/>
                </a:solidFill>
                <a:latin typeface="Nunito Ultra-Bold"/>
                <a:ea typeface="Nunito Ultra-Bold"/>
                <a:cs typeface="Nunito Ultra-Bold"/>
                <a:sym typeface="Nunito Ultra-Bold"/>
              </a:rPr>
              <a:t> = 3</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chosen on </a:t>
            </a:r>
            <a:r>
              <a:rPr lang="en-US" sz="1700" b="true">
                <a:solidFill>
                  <a:srgbClr val="FFFFFF"/>
                </a:solidFill>
                <a:latin typeface="Nunito Bold"/>
                <a:ea typeface="Nunito Bold"/>
                <a:cs typeface="Nunito Bold"/>
                <a:sym typeface="Nunito Bold"/>
              </a:rPr>
              <a:t>interpretability</a:t>
            </a:r>
            <a:r>
              <a:rPr lang="en-US" sz="1700" b="true">
                <a:solidFill>
                  <a:srgbClr val="FFFFFF"/>
                </a:solidFill>
                <a:latin typeface="Nunito Semi-Bold"/>
                <a:ea typeface="Nunito Semi-Bold"/>
                <a:cs typeface="Nunito Semi-Bold"/>
                <a:sym typeface="Nunito Semi-Bold"/>
              </a:rPr>
              <a:t> grounds</a:t>
            </a:r>
          </a:p>
        </p:txBody>
      </p:sp>
      <p:sp>
        <p:nvSpPr>
          <p:cNvPr id="28" name="Rounded Rectangle 27"/>
          <p:cNvSpPr/>
          <p:nvPr/>
        </p:nvSpPr>
        <p:spPr>
          <a:xfrm>
            <a:off x="13487400" y="6014466"/>
            <a:ext cx="3771900" cy="3294126"/>
          </a:xfrm>
          <a:prstGeom prst="roundRect">
            <a:avLst>
              <a:gd name="adj" fmla="val 8327"/>
            </a:avLst>
          </a:prstGeom>
          <a:solidFill>
            <a:srgbClr val="1F7A8C"/>
          </a:solidFill>
          <a:ln>
            <a:noFill/>
          </a:ln>
        </p:spPr>
        <p:txBody>
          <a:bodyPr anchor="ctr" rtlCol="false" lIns="137160" tIns="91440" rIns="137160" bIns="91440" wrap="square"/>
          <a:lstStyle/>
          <a:p>
            <a:pPr algn="ctr">
              <a:lnSpc>
                <a:spcPts val="4400"/>
              </a:lnSpc>
              <a:spcBef>
                <a:spcPts val="0"/>
              </a:spcBef>
              <a:buNone/>
            </a:pPr>
            <a:r>
              <a:rPr lang="en-US" sz="4000" b="true">
                <a:solidFill>
                  <a:srgbClr val="FFFFFF"/>
                </a:solidFill>
                <a:latin typeface="Nunito Ultra-Bold"/>
                <a:ea typeface="Nunito Ultra-Bold"/>
                <a:cs typeface="Nunito Ultra-Bold"/>
                <a:sym typeface="Nunito Ultra-Bold"/>
              </a:rPr>
              <a:t>0.82</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surrogate </a:t>
            </a:r>
            <a:r>
              <a:rPr lang="en-US" sz="1700" b="true">
                <a:solidFill>
                  <a:srgbClr val="FFFFFF"/>
                </a:solidFill>
                <a:latin typeface="Nunito Bold"/>
                <a:ea typeface="Nunito Bold"/>
                <a:cs typeface="Nunito Bold"/>
                <a:sym typeface="Nunito Bold"/>
              </a:rPr>
              <a:t>macro-F1</a:t>
            </a:r>
            <a:r>
              <a:rPr lang="en-US" sz="1700" b="true">
                <a:solidFill>
                  <a:srgbClr val="FFFFFF"/>
                </a:solidFill>
                <a:latin typeface="Nunito Semi-Bold"/>
                <a:ea typeface="Nunito Semi-Bold"/>
                <a:cs typeface="Nunito Semi-Bold"/>
                <a:sym typeface="Nunito Semi-Bold"/>
              </a:rPr>
              <a:t> · fidelity floor met</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33</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Global SHAP Ranking: Wine Quality</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6583680" cy="5853430"/>
          </a:xfrm>
          <a:prstGeom prst="rect">
            <a:avLst/>
          </a:prstGeom>
          <a:noFill/>
        </p:spPr>
        <p:txBody>
          <a:bodyPr anchor="t" rtlCol="false" lIns="0" tIns="0" rIns="0" bIns="0" wrap="square"/>
          <a:lstStyle/>
          <a:p>
            <a:pPr algn="l">
              <a:lnSpc>
                <a:spcPts val="2750"/>
              </a:lnSpc>
              <a:spcBef>
                <a:spcPts val="0"/>
              </a:spcBef>
              <a:buNone/>
            </a:pPr>
            <a:r>
              <a:rPr lang="en-US" sz="2200" b="true">
                <a:solidFill>
                  <a:srgbClr val="4472C4"/>
                </a:solidFill>
                <a:latin typeface="Nunito Ultra-Bold"/>
                <a:ea typeface="Nunito Ultra-Bold"/>
                <a:cs typeface="Nunito Ultra-Bold"/>
                <a:sym typeface="Nunito Ultra-Bold"/>
              </a:rPr>
              <a:t>Reading the ranking</a:t>
            </a:r>
          </a:p>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Mean |SHAP| ranks </a:t>
            </a:r>
            <a:r>
              <a:rPr lang="en-US" sz="1900" b="true">
                <a:solidFill>
                  <a:srgbClr val="111111"/>
                </a:solidFill>
                <a:latin typeface="Nunito Bold"/>
                <a:ea typeface="Nunito Bold"/>
                <a:cs typeface="Nunito Bold"/>
                <a:sym typeface="Nunito Bold"/>
              </a:rPr>
              <a:t>density</a:t>
            </a:r>
            <a:r>
              <a:rPr lang="en-US" sz="1900" b="true">
                <a:solidFill>
                  <a:srgbClr val="111111"/>
                </a:solidFill>
                <a:latin typeface="Nunito Semi-Bold"/>
                <a:ea typeface="Nunito Semi-Bold"/>
                <a:cs typeface="Nunito Semi-Bold"/>
                <a:sym typeface="Nunito Semi-Bold"/>
              </a:rPr>
              <a:t> first, then </a:t>
            </a:r>
            <a:r>
              <a:rPr lang="en-US" sz="1900" b="true">
                <a:solidFill>
                  <a:srgbClr val="111111"/>
                </a:solidFill>
                <a:latin typeface="Nunito Bold"/>
                <a:ea typeface="Nunito Bold"/>
                <a:cs typeface="Nunito Bold"/>
                <a:sym typeface="Nunito Bold"/>
              </a:rPr>
              <a:t>pH</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fixed acidity</a:t>
            </a:r>
            <a:r>
              <a:rPr lang="en-US" sz="1900" b="true">
                <a:solidFill>
                  <a:srgbClr val="111111"/>
                </a:solidFill>
                <a:latin typeface="Nunito Semi-Bold"/>
                <a:ea typeface="Nunito Semi-Bold"/>
                <a:cs typeface="Nunito Semi-Bold"/>
                <a:sym typeface="Nunito Semi-Bold"/>
              </a:rPr>
              <a:t>, </a:t>
            </a:r>
            <a:r>
              <a:rPr lang="en-US" sz="1900" b="true">
                <a:solidFill>
                  <a:srgbClr val="111111"/>
                </a:solidFill>
                <a:latin typeface="Nunito Bold"/>
                <a:ea typeface="Nunito Bold"/>
                <a:cs typeface="Nunito Bold"/>
                <a:sym typeface="Nunito Bold"/>
              </a:rPr>
              <a:t>sulfur dioxide</a:t>
            </a:r>
            <a:r>
              <a:rPr lang="en-US" sz="1900" b="true">
                <a:solidFill>
                  <a:srgbClr val="111111"/>
                </a:solidFill>
                <a:latin typeface="Nunito Semi-Bold"/>
                <a:ea typeface="Nunito Semi-Bold"/>
                <a:cs typeface="Nunito Semi-Bold"/>
                <a:sym typeface="Nunito Semi-Bold"/>
              </a:rPr>
              <a:t> and </a:t>
            </a:r>
            <a:r>
              <a:rPr lang="en-US" sz="1900" b="true">
                <a:solidFill>
                  <a:srgbClr val="111111"/>
                </a:solidFill>
                <a:latin typeface="Nunito Bold"/>
                <a:ea typeface="Nunito Bold"/>
                <a:cs typeface="Nunito Bold"/>
                <a:sym typeface="Nunito Bold"/>
              </a:rPr>
              <a:t>alcohol</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The main drivers relate to </a:t>
            </a:r>
            <a:r>
              <a:rPr lang="en-US" sz="1900" b="true">
                <a:solidFill>
                  <a:srgbClr val="111111"/>
                </a:solidFill>
                <a:latin typeface="Nunito Bold"/>
                <a:ea typeface="Nunito Bold"/>
                <a:cs typeface="Nunito Bold"/>
                <a:sym typeface="Nunito Bold"/>
              </a:rPr>
              <a:t>structure, preservation and sensory balance</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This is </a:t>
            </a:r>
            <a:r>
              <a:rPr lang="en-US" sz="1900" b="true">
                <a:solidFill>
                  <a:srgbClr val="111111"/>
                </a:solidFill>
                <a:latin typeface="Nunito Bold"/>
                <a:ea typeface="Nunito Bold"/>
                <a:cs typeface="Nunito Bold"/>
                <a:sym typeface="Nunito Bold"/>
              </a:rPr>
              <a:t>NOT a random side effect of the classifier</a:t>
            </a:r>
            <a:r>
              <a:rPr lang="en-US" sz="1900" b="true">
                <a:solidFill>
                  <a:srgbClr val="111111"/>
                </a:solidFill>
                <a:latin typeface="Nunito Semi-Bold"/>
                <a:ea typeface="Nunito Semi-Bold"/>
                <a:cs typeface="Nunito Semi-Bold"/>
                <a:sym typeface="Nunito Semi-Bold"/>
              </a:rPr>
              <a:t>: the surrogate reproduces the partition from the original variables, so the ranking reflects the partition itself.</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Density and pH separate wine styles; sulfur dioxide reflects preservation; alcohol shapes body.</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Each driver is a </a:t>
            </a:r>
            <a:r>
              <a:rPr lang="en-US" sz="1900" b="true">
                <a:solidFill>
                  <a:srgbClr val="111111"/>
                </a:solidFill>
                <a:latin typeface="Nunito Bold"/>
                <a:ea typeface="Nunito Bold"/>
                <a:cs typeface="Nunito Bold"/>
                <a:sym typeface="Nunito Bold"/>
              </a:rPr>
              <a:t>domain-level factor that can be changed</a:t>
            </a:r>
            <a:r>
              <a:rPr lang="en-US" sz="1900" b="true">
                <a:solidFill>
                  <a:srgbClr val="111111"/>
                </a:solidFill>
                <a:latin typeface="Nunito Semi-Bold"/>
                <a:ea typeface="Nunito Semi-Bold"/>
                <a:cs typeface="Nunito Semi-Bold"/>
                <a:sym typeface="Nunito Semi-Bold"/>
              </a:rPr>
              <a:t>: exactly Definition 1.1 of an actionable insight.</a:t>
            </a:r>
          </a:p>
        </p:txBody>
      </p:sp>
      <p:sp>
        <p:nvSpPr>
          <p:cNvPr id="26" name="Rounded Rectangle 25"/>
          <p:cNvSpPr/>
          <p:nvPr/>
        </p:nvSpPr>
        <p:spPr>
          <a:xfrm>
            <a:off x="8069580" y="3363722"/>
            <a:ext cx="9189720" cy="4097400"/>
          </a:xfrm>
          <a:prstGeom prst="roundRect">
            <a:avLst>
              <a:gd name="adj" fmla="val 5579"/>
            </a:avLst>
          </a:prstGeom>
          <a:solidFill>
            <a:srgbClr val="FFFFFF"/>
          </a:solidFill>
          <a:ln w="15875">
            <a:solidFill>
              <a:srgbClr val="E3D6C4"/>
            </a:solidFill>
          </a:ln>
        </p:spPr>
        <p:txBody>
          <a:bodyPr anchor="ctr" rtlCol="false" lIns="0" tIns="0" rIns="0" bIns="0" wrap="square"/>
          <a:lstStyle/>
          <a:p>
            <a:endParaRPr lang="en-US" sz="1800"/>
          </a:p>
        </p:txBody>
      </p:sp>
      <p:pic>
        <p:nvPicPr>
          <p:cNvPr id="27" name="Picture 26" descr="fig5_1_wine_global.png"/>
          <p:cNvPicPr>
            <a:picLocks noChangeAspect="1"/>
          </p:cNvPicPr>
          <p:nvPr/>
        </p:nvPicPr>
        <p:blipFill>
          <a:blip r:embed="rId4"/>
          <a:stretch>
            <a:fillRect/>
          </a:stretch>
        </p:blipFill>
        <p:spPr>
          <a:xfrm>
            <a:off x="9984489" y="3546602"/>
            <a:ext cx="5359901" cy="3320160"/>
          </a:xfrm>
          <a:prstGeom prst="rect">
            <a:avLst/>
          </a:prstGeom>
        </p:spPr>
      </p:pic>
      <p:sp>
        <p:nvSpPr>
          <p:cNvPr id="28" name="TextBox 27"/>
          <p:cNvSpPr txBox="1"/>
          <p:nvPr/>
        </p:nvSpPr>
        <p:spPr>
          <a:xfrm>
            <a:off x="8069580" y="7003923"/>
            <a:ext cx="918972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5.1 (thesis): global SHAP feature importance for the wine clustering surrogate</a:t>
            </a:r>
          </a:p>
        </p:txBody>
      </p:sp>
      <p:sp>
        <p:nvSpPr>
          <p:cNvPr id="29" name="Rounded Rectangle 28"/>
          <p:cNvSpPr/>
          <p:nvPr/>
        </p:nvSpPr>
        <p:spPr>
          <a:xfrm>
            <a:off x="8069580" y="7625715"/>
            <a:ext cx="9189720" cy="1591437"/>
          </a:xfrm>
          <a:prstGeom prst="roundRect">
            <a:avLst>
              <a:gd name="adj" fmla="val 14364"/>
            </a:avLst>
          </a:prstGeom>
          <a:solidFill>
            <a:srgbClr val="FFFFFF"/>
          </a:solidFill>
          <a:ln w="15875">
            <a:solidFill>
              <a:srgbClr val="E3D6C4"/>
            </a:solidFill>
          </a:ln>
        </p:spPr>
        <p:txBody>
          <a:bodyPr anchor="ctr" rtlCol="false" lIns="0" tIns="0" rIns="0" bIns="0" wrap="square"/>
          <a:lstStyle/>
          <a:p>
            <a:endParaRPr lang="en-US" sz="1800"/>
          </a:p>
        </p:txBody>
      </p:sp>
      <p:pic>
        <p:nvPicPr>
          <p:cNvPr id="30" name="Picture 29" descr="fig5_2_wine_clusters.png"/>
          <p:cNvPicPr>
            <a:picLocks noChangeAspect="1"/>
          </p:cNvPicPr>
          <p:nvPr/>
        </p:nvPicPr>
        <p:blipFill>
          <a:blip r:embed="rId5"/>
          <a:stretch>
            <a:fillRect/>
          </a:stretch>
        </p:blipFill>
        <p:spPr>
          <a:xfrm>
            <a:off x="10379599" y="7808595"/>
            <a:ext cx="4569680" cy="814197"/>
          </a:xfrm>
          <a:prstGeom prst="rect">
            <a:avLst/>
          </a:prstGeom>
        </p:spPr>
      </p:pic>
      <p:sp>
        <p:nvSpPr>
          <p:cNvPr id="31" name="TextBox 30"/>
          <p:cNvSpPr txBox="1"/>
          <p:nvPr/>
        </p:nvSpPr>
        <p:spPr>
          <a:xfrm>
            <a:off x="8069580" y="8759952"/>
            <a:ext cx="918972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5.2 (thesis): per-cluster SHAP signatures</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34</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 to RQ1</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546602"/>
            <a:ext cx="16230600" cy="1463040"/>
          </a:xfrm>
          <a:prstGeom prst="roundRect">
            <a:avLst>
              <a:gd name="adj" fmla="val 13750"/>
            </a:avLst>
          </a:prstGeom>
          <a:solidFill>
            <a:srgbClr val="F6ECDF"/>
          </a:solidFill>
          <a:ln w="25400">
            <a:solidFill>
              <a:srgbClr val="4472C4"/>
            </a:solidFill>
          </a:ln>
        </p:spPr>
        <p:txBody>
          <a:bodyPr anchor="ctr" rtlCol="false" lIns="0" tIns="0" rIns="0" bIns="0" wrap="square"/>
          <a:lstStyle/>
          <a:p>
            <a:endParaRPr lang="en-US" sz="1800"/>
          </a:p>
        </p:txBody>
      </p:sp>
      <p:sp>
        <p:nvSpPr>
          <p:cNvPr id="26" name="Rounded Rectangle 25"/>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RQ1</a:t>
            </a:r>
          </a:p>
        </p:txBody>
      </p:sp>
      <p:sp>
        <p:nvSpPr>
          <p:cNvPr id="27" name="TextBox 26"/>
          <p:cNvSpPr txBox="1"/>
          <p:nvPr/>
        </p:nvSpPr>
        <p:spPr>
          <a:xfrm>
            <a:off x="1394460" y="3820922"/>
            <a:ext cx="15499080" cy="105156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Bold"/>
                <a:ea typeface="Nunito Bold"/>
                <a:cs typeface="Nunito Bold"/>
                <a:sym typeface="Nunito Bold"/>
              </a:rPr>
              <a:t>Yes.</a:t>
            </a:r>
            <a:r>
              <a:rPr lang="en-US" sz="2200" b="true">
                <a:solidFill>
                  <a:srgbClr val="111111"/>
                </a:solidFill>
                <a:latin typeface="Nunito Semi-Bold"/>
                <a:ea typeface="Nunito Semi-Bold"/>
                <a:cs typeface="Nunito Semi-Bold"/>
                <a:sym typeface="Nunito Semi-Bold"/>
              </a:rPr>
              <a:t> Shapley values explain a black-box partition </a:t>
            </a:r>
            <a:r>
              <a:rPr lang="en-US" sz="2200" b="true">
                <a:solidFill>
                  <a:srgbClr val="111111"/>
                </a:solidFill>
                <a:latin typeface="Nunito Bold"/>
                <a:ea typeface="Nunito Bold"/>
                <a:cs typeface="Nunito Bold"/>
                <a:sym typeface="Nunito Bold"/>
              </a:rPr>
              <a:t>faithfully</a:t>
            </a:r>
            <a:r>
              <a:rPr lang="en-US" sz="2200" b="true">
                <a:solidFill>
                  <a:srgbClr val="111111"/>
                </a:solidFill>
                <a:latin typeface="Nunito Semi-Bold"/>
                <a:ea typeface="Nunito Semi-Bold"/>
                <a:cs typeface="Nunito Semi-Bold"/>
                <a:sym typeface="Nunito Semi-Bold"/>
              </a:rPr>
              <a:t> (given a high-fidelity surrogate) and </a:t>
            </a:r>
            <a:r>
              <a:rPr lang="en-US" sz="2200" b="true">
                <a:solidFill>
                  <a:srgbClr val="111111"/>
                </a:solidFill>
                <a:latin typeface="Nunito Bold"/>
                <a:ea typeface="Nunito Bold"/>
                <a:cs typeface="Nunito Bold"/>
                <a:sym typeface="Nunito Bold"/>
              </a:rPr>
              <a:t>consistently</a:t>
            </a:r>
            <a:r>
              <a:rPr lang="en-US" sz="2200" b="true">
                <a:solidFill>
                  <a:srgbClr val="111111"/>
                </a:solidFill>
                <a:latin typeface="Nunito Semi-Bold"/>
                <a:ea typeface="Nunito Semi-Bold"/>
                <a:cs typeface="Nunito Semi-Bold"/>
                <a:sym typeface="Nunito Semi-Bold"/>
              </a:rPr>
              <a:t> at cluster level, in the original feature space.</a:t>
            </a:r>
          </a:p>
        </p:txBody>
      </p:sp>
      <p:graphicFrame>
        <p:nvGraphicFramePr>
          <p:cNvPr id="28" name="Table 27"/>
          <p:cNvGraphicFramePr>
            <a:graphicFrameLocks noGrp="1"/>
          </p:cNvGraphicFramePr>
          <p:nvPr/>
        </p:nvGraphicFramePr>
        <p:xfrm>
          <a:off x="1028700" y="5421122"/>
          <a:ext cx="16230599" cy="3141472"/>
        </p:xfrm>
        <a:graphic>
          <a:graphicData uri="http://schemas.openxmlformats.org/drawingml/2006/table">
            <a:tbl>
              <a:tblPr firstRow="0" bandRow="0" firstCol="0" lastRow="0" lastCol="0" bandCol="0">
                <a:tableStyleId>{2D5ABB26-0587-4C30-8999-92F81FD0307C}</a:tableStyleId>
              </a:tblPr>
              <a:tblGrid>
                <a:gridCol w="5410200"/>
                <a:gridCol w="1456592"/>
                <a:gridCol w="9363807"/>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Cluster-level explanation with feature-level 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Global ranking + per-cluster SHAP profiles (Fig. 5.1, 5.2) + local force plots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Attribution in the original feature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Density, pH, fixed acidity, sulfur dioxide, alcohol: no latent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Shapley justified over LIME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Four axioms; higher stability and cross-cluster comparability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35</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363722"/>
            <a:ext cx="16230600" cy="1339913"/>
          </a:xfrm>
          <a:prstGeom prst="roundRect">
            <a:avLst>
              <a:gd name="adj" fmla="val 15013"/>
            </a:avLst>
          </a:prstGeom>
          <a:solidFill>
            <a:srgbClr val="F6ECDF"/>
          </a:solidFill>
          <a:ln>
            <a:noFill/>
          </a:ln>
        </p:spPr>
        <p:txBody>
          <a:bodyPr anchor="ctr" rtlCol="false" lIns="0" tIns="0" rIns="0" bIns="0" wrap="square"/>
          <a:lstStyle/>
          <a:p>
            <a:endParaRPr lang="en-US" sz="1800"/>
          </a:p>
        </p:txBody>
      </p:sp>
      <p:sp>
        <p:nvSpPr>
          <p:cNvPr id="26" name="Oval 25"/>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27" name="TextBox 26"/>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A black-box partition can be explained at two levels at once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Cluster-level meaning is tied to single feature contributions, so the explanation is both global and local.</a:t>
            </a:r>
          </a:p>
        </p:txBody>
      </p:sp>
      <p:sp>
        <p:nvSpPr>
          <p:cNvPr id="28" name="Rounded Rectangle 27"/>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29" name="Oval 28"/>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0" name="TextBox 29"/>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Attribution lands in the chemistry, not in a latent space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Density, pH, fixed acidity, sulfur dioxide and alcohol: variables a wine maker can act on.</a:t>
            </a:r>
          </a:p>
        </p:txBody>
      </p:sp>
      <p:sp>
        <p:nvSpPr>
          <p:cNvPr id="31" name="Rounded Rectangle 30"/>
          <p:cNvSpPr/>
          <p:nvPr/>
        </p:nvSpPr>
        <p:spPr>
          <a:xfrm>
            <a:off x="1028700" y="6372733"/>
            <a:ext cx="16230600" cy="1339913"/>
          </a:xfrm>
          <a:prstGeom prst="roundRect">
            <a:avLst>
              <a:gd name="adj" fmla="val 15013"/>
            </a:avLst>
          </a:prstGeom>
          <a:solidFill>
            <a:srgbClr val="F6ECDF"/>
          </a:solidFill>
          <a:ln>
            <a:noFill/>
          </a:ln>
        </p:spPr>
        <p:txBody>
          <a:bodyPr anchor="ctr" rtlCol="false" lIns="0" tIns="0" rIns="0" bIns="0" wrap="square"/>
          <a:lstStyle/>
          <a:p>
            <a:endParaRPr lang="en-US" sz="1800"/>
          </a:p>
        </p:txBody>
      </p:sp>
      <p:sp>
        <p:nvSpPr>
          <p:cNvPr id="32" name="Oval 31"/>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3" name="TextBox 32"/>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Interpretability can outrank geometry when choosing k</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k = 3 was kept over k = 2 despite a lower Silhouette because it gives a richer, more useful partition.</a:t>
            </a:r>
          </a:p>
        </p:txBody>
      </p:sp>
      <p:sp>
        <p:nvSpPr>
          <p:cNvPr id="34" name="Rounded Rectangle 33"/>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5" name="Oval 34"/>
          <p:cNvSpPr/>
          <p:nvPr/>
        </p:nvSpPr>
        <p:spPr>
          <a:xfrm>
            <a:off x="1303020" y="8263731"/>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36" name="TextBox 35"/>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cooperative concept is what makes the explanation trustworthy</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Efficiency, symmetry, null player and additivity give guarantees that a local surrogate such as LIME does not.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36</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6" name="TextBox 25"/>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SURROGATE DEPENDENCE</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Fidelity depends on the </a:t>
            </a:r>
            <a:r>
              <a:rPr lang="en-US" sz="1900" b="true">
                <a:solidFill>
                  <a:srgbClr val="FFFFFF"/>
                </a:solidFill>
                <a:latin typeface="Nunito Bold"/>
                <a:ea typeface="Nunito Bold"/>
                <a:cs typeface="Nunito Bold"/>
                <a:sym typeface="Nunito Bold"/>
              </a:rPr>
              <a:t>LightGBM surrogate</a:t>
            </a:r>
            <a:r>
              <a:rPr lang="en-US" sz="1900" b="true">
                <a:solidFill>
                  <a:srgbClr val="FFFFFF"/>
                </a:solidFill>
                <a:latin typeface="Nunito Semi-Bold"/>
                <a:ea typeface="Nunito Semi-Bold"/>
                <a:cs typeface="Nunito Semi-Bold"/>
                <a:sym typeface="Nunito Semi-Bold"/>
              </a:rPr>
              <a:t>, not on the K-Means geometry directly; the fidelity floor must be checked every time.</a:t>
            </a:r>
          </a:p>
        </p:txBody>
      </p:sp>
      <p:sp>
        <p:nvSpPr>
          <p:cNvPr id="27" name="Rounded Rectangle 26"/>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28" name="TextBox 27"/>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TABULAR ONLY</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Limited to </a:t>
            </a:r>
            <a:r>
              <a:rPr lang="en-US" sz="1900" b="true">
                <a:solidFill>
                  <a:srgbClr val="FFFFFF"/>
                </a:solidFill>
                <a:latin typeface="Nunito Bold"/>
                <a:ea typeface="Nunito Bold"/>
                <a:cs typeface="Nunito Bold"/>
                <a:sym typeface="Nunito Bold"/>
              </a:rPr>
              <a:t>tabular data</a:t>
            </a:r>
            <a:r>
              <a:rPr lang="en-US" sz="1900" b="true">
                <a:solidFill>
                  <a:srgbClr val="FFFFFF"/>
                </a:solidFill>
                <a:latin typeface="Nunito Semi-Bold"/>
                <a:ea typeface="Nunito Semi-Bold"/>
                <a:cs typeface="Nunito Semi-Bold"/>
                <a:sym typeface="Nunito Semi-Bold"/>
              </a:rPr>
              <a:t>; no structured, graph or image input in this contribution.</a:t>
            </a:r>
          </a:p>
        </p:txBody>
      </p:sp>
      <p:sp>
        <p:nvSpPr>
          <p:cNvPr id="29" name="Rounded Rectangle 28"/>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0" name="TextBox 29"/>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SINGLE LEVEL</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Cannot explain how importance changes between a partition and its </a:t>
            </a:r>
            <a:r>
              <a:rPr lang="en-US" sz="1900" b="true">
                <a:solidFill>
                  <a:srgbClr val="FFFFFF"/>
                </a:solidFill>
                <a:latin typeface="Nunito Bold"/>
                <a:ea typeface="Nunito Bold"/>
                <a:cs typeface="Nunito Bold"/>
                <a:sym typeface="Nunito Bold"/>
              </a:rPr>
              <a:t>sub-partitions</a:t>
            </a:r>
            <a:r>
              <a:rPr lang="en-US" sz="1900" b="true">
                <a:solidFill>
                  <a:srgbClr val="FFFFFF"/>
                </a:solidFill>
                <a:latin typeface="Nunito Semi-Bold"/>
                <a:ea typeface="Nunito Semi-Bold"/>
                <a:cs typeface="Nunito Semi-Bold"/>
                <a:sym typeface="Nunito Semi-Bold"/>
              </a:rPr>
              <a:t>.</a:t>
            </a:r>
          </a:p>
        </p:txBody>
      </p:sp>
      <p:sp>
        <p:nvSpPr>
          <p:cNvPr id="31" name="Rounded Rectangle 30"/>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2" name="TextBox 31"/>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SMOOTHING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surrogate approximation smooths out variation between single observations.</a:t>
            </a:r>
          </a:p>
        </p:txBody>
      </p:sp>
      <p:sp>
        <p:nvSpPr>
          <p:cNvPr id="33" name="Rounded Rectangle 32"/>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The </a:t>
            </a:r>
            <a:r>
              <a:rPr lang="en-US" sz="2000" b="true">
                <a:solidFill>
                  <a:srgbClr val="111111"/>
                </a:solidFill>
                <a:latin typeface="Nunito Bold"/>
                <a:ea typeface="Nunito Bold"/>
                <a:cs typeface="Nunito Bold"/>
                <a:sym typeface="Nunito Bold"/>
              </a:rPr>
              <a:t>single-level</a:t>
            </a:r>
            <a:r>
              <a:rPr lang="en-US" sz="2000" b="true">
                <a:solidFill>
                  <a:srgbClr val="111111"/>
                </a:solidFill>
                <a:latin typeface="Nunito Semi-Bold"/>
                <a:ea typeface="Nunito Semi-Bold"/>
                <a:cs typeface="Nunito Semi-Bold"/>
                <a:sym typeface="Nunito Semi-Bold"/>
              </a:rPr>
              <a:t> limitation is the one that matters most for what follows: real data are rarely flat.</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37</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 EXPLAINABLE BLACK-BOX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6" name="TextBox 25"/>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Single lens</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One axiomatic rule explains the whole partition, cluster by cluster.</a:t>
            </a:r>
          </a:p>
        </p:txBody>
      </p:sp>
      <p:sp>
        <p:nvSpPr>
          <p:cNvPr id="27" name="Rounded Rectangle 26"/>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28" name="TextBox 27"/>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Original space</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answer comes back in variables an expert can change.</a:t>
            </a:r>
          </a:p>
        </p:txBody>
      </p:sp>
      <p:sp>
        <p:nvSpPr>
          <p:cNvPr id="29" name="Rounded Rectangle 28"/>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0" name="TextBox 29"/>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But…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Real data are rarely single-level: broad groups contain nested sub-groups.</a:t>
            </a:r>
          </a:p>
        </p:txBody>
      </p:sp>
      <p:sp>
        <p:nvSpPr>
          <p:cNvPr id="31" name="Rounded Rectangle 30"/>
          <p:cNvSpPr/>
          <p:nvPr/>
        </p:nvSpPr>
        <p:spPr>
          <a:xfrm>
            <a:off x="1028700" y="6472682"/>
            <a:ext cx="16230600" cy="1600200"/>
          </a:xfrm>
          <a:prstGeom prst="roundRect">
            <a:avLst>
              <a:gd name="adj" fmla="val 12571"/>
            </a:avLst>
          </a:prstGeom>
          <a:solidFill>
            <a:srgbClr val="F6ECDF"/>
          </a:solidFill>
          <a:ln w="25400">
            <a:solidFill>
              <a:srgbClr val="1F7A8C"/>
            </a:solidFill>
          </a:ln>
        </p:spPr>
        <p:txBody>
          <a:bodyPr anchor="ctr" rtlCol="false" lIns="0" tIns="0" rIns="0" bIns="0" wrap="square"/>
          <a:lstStyle/>
          <a:p>
            <a:endParaRPr lang="en-US" sz="1800"/>
          </a:p>
        </p:txBody>
      </p:sp>
      <p:sp>
        <p:nvSpPr>
          <p:cNvPr id="32" name="Rounded Rectangle 31"/>
          <p:cNvSpPr/>
          <p:nvPr/>
        </p:nvSpPr>
        <p:spPr>
          <a:xfrm>
            <a:off x="1348740" y="6280658"/>
            <a:ext cx="3367987"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a:t>
            </a:r>
          </a:p>
        </p:txBody>
      </p:sp>
      <p:sp>
        <p:nvSpPr>
          <p:cNvPr id="33" name="TextBox 32"/>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Shapley attribution is a </a:t>
            </a:r>
            <a:r>
              <a:rPr lang="en-US" sz="2300" b="true">
                <a:solidFill>
                  <a:srgbClr val="111111"/>
                </a:solidFill>
                <a:latin typeface="Nunito Bold"/>
                <a:ea typeface="Nunito Bold"/>
                <a:cs typeface="Nunito Bold"/>
                <a:sym typeface="Nunito Bold"/>
              </a:rPr>
              <a:t>well-founded lens</a:t>
            </a:r>
            <a:r>
              <a:rPr lang="en-US" sz="2300" b="true">
                <a:solidFill>
                  <a:srgbClr val="111111"/>
                </a:solidFill>
                <a:latin typeface="Nunito Semi-Bold"/>
                <a:ea typeface="Nunito Semi-Bold"/>
                <a:cs typeface="Nunito Semi-Bold"/>
                <a:sym typeface="Nunito Semi-Bold"/>
              </a:rPr>
              <a:t> for explaining an unsupervised partition, and keeping it in the </a:t>
            </a:r>
            <a:r>
              <a:rPr lang="en-US" sz="2300" b="true">
                <a:solidFill>
                  <a:srgbClr val="111111"/>
                </a:solidFill>
                <a:latin typeface="Nunito Bold"/>
                <a:ea typeface="Nunito Bold"/>
                <a:cs typeface="Nunito Bold"/>
                <a:sym typeface="Nunito Bold"/>
              </a:rPr>
              <a:t>original feature space</a:t>
            </a:r>
            <a:r>
              <a:rPr lang="en-US" sz="2300" b="true">
                <a:solidFill>
                  <a:srgbClr val="111111"/>
                </a:solidFill>
                <a:latin typeface="Nunito Semi-Bold"/>
                <a:ea typeface="Nunito Semi-Bold"/>
                <a:cs typeface="Nunito Semi-Bold"/>
                <a:sym typeface="Nunito Semi-Bold"/>
              </a:rPr>
              <a:t> is what makes the explanation actionable.</a:t>
            </a:r>
          </a:p>
        </p:txBody>
      </p:sp>
      <p:sp>
        <p:nvSpPr>
          <p:cNvPr id="34" name="Rounded Rectangle 33"/>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Bold"/>
                <a:ea typeface="Nunito Bold"/>
                <a:cs typeface="Nunito Bold"/>
                <a:sym typeface="Nunito Bold"/>
              </a:rPr>
              <a:t>Next question:</a:t>
            </a:r>
            <a:r>
              <a:rPr lang="en-US" sz="2000" b="true">
                <a:solidFill>
                  <a:srgbClr val="FFFFFF"/>
                </a:solidFill>
                <a:latin typeface="Nunito Semi-Bold"/>
                <a:ea typeface="Nunito Semi-Bold"/>
                <a:cs typeface="Nunito Semi-Bold"/>
                <a:sym typeface="Nunito Semi-Bold"/>
              </a:rPr>
              <a:t> does this logic survive scale and hierarchy?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Contribution II</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38</a:t>
            </a:r>
          </a:p>
        </p:txBody>
      </p:sp>
      <p:sp>
        <p:nvSpPr>
          <p:cNvPr id="5" name="TextBox 4"/>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II</a:t>
            </a:r>
          </a:p>
        </p:txBody>
      </p:sp>
      <p:sp>
        <p:nvSpPr>
          <p:cNvPr id="6" name="Oval 5"/>
          <p:cNvSpPr/>
          <p:nvPr/>
        </p:nvSpPr>
        <p:spPr>
          <a:xfrm>
            <a:off x="13590479"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7" name="TextBox 6"/>
          <p:cNvSpPr txBox="1"/>
          <p:nvPr/>
        </p:nvSpPr>
        <p:spPr>
          <a:xfrm>
            <a:off x="13590479"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05</a:t>
            </a:r>
          </a:p>
        </p:txBody>
      </p:sp>
      <p:sp>
        <p:nvSpPr>
          <p:cNvPr id="8" name="TextBox 7"/>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Enhanced multi-level XAI for large-scale clustering  ·  answers RQ2</a:t>
            </a:r>
          </a:p>
        </p:txBody>
      </p:sp>
      <p:sp>
        <p:nvSpPr>
          <p:cNvPr id="9" name="Rectangle 8"/>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0" name="TextBox 9"/>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1" name="Connector 10"/>
          <p:cNvCxnSpPr/>
          <p:nvPr/>
        </p:nvCxnSpPr>
        <p:spPr>
          <a:xfrm>
            <a:off x="1028700" y="6464808"/>
            <a:ext cx="640080" cy="0"/>
          </a:xfrm>
          <a:prstGeom prst="line">
            <a:avLst/>
          </a:prstGeom>
          <a:ln w="31750">
            <a:solidFill>
              <a:srgbClr val="ECC665"/>
            </a:solidFill>
          </a:ln>
        </p:spPr>
      </p:cxnSp>
      <p:sp>
        <p:nvSpPr>
          <p:cNvPr id="12" name="TextBox 11"/>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 truly multi-level workflow, a formal cross-level consistency argument (Proposition 6.1), validation on a very different large dataset.</a:t>
            </a:r>
          </a:p>
        </p:txBody>
      </p:sp>
      <p:sp>
        <p:nvSpPr>
          <p:cNvPr id="13" name="TextBox 12"/>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4" name="Connector 13"/>
          <p:cNvCxnSpPr/>
          <p:nvPr/>
        </p:nvCxnSpPr>
        <p:spPr>
          <a:xfrm>
            <a:off x="6576060" y="6464808"/>
            <a:ext cx="640080" cy="0"/>
          </a:xfrm>
          <a:prstGeom prst="line">
            <a:avLst/>
          </a:prstGeom>
          <a:ln w="31750">
            <a:solidFill>
              <a:srgbClr val="ECC665"/>
            </a:solidFill>
          </a:ln>
        </p:spPr>
      </p:cxnSp>
      <p:sp>
        <p:nvSpPr>
          <p:cNvPr id="15" name="TextBox 14"/>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Recursive clustering, level-specific surrogates in the same feature space, size-weighted cross-level SHAP aggregation.</a:t>
            </a:r>
          </a:p>
        </p:txBody>
      </p:sp>
      <p:sp>
        <p:nvSpPr>
          <p:cNvPr id="16" name="TextBox 15"/>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7" name="Connector 16"/>
          <p:cNvCxnSpPr/>
          <p:nvPr/>
        </p:nvCxnSpPr>
        <p:spPr>
          <a:xfrm>
            <a:off x="12123420" y="6464808"/>
            <a:ext cx="640080" cy="0"/>
          </a:xfrm>
          <a:prstGeom prst="line">
            <a:avLst/>
          </a:prstGeom>
          <a:ln w="31750">
            <a:solidFill>
              <a:srgbClr val="ECC665"/>
            </a:solidFill>
          </a:ln>
        </p:spPr>
      </p:cxnSp>
      <p:sp>
        <p:nvSpPr>
          <p:cNvPr id="18" name="TextBox 17"/>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Beijing Air Quality (383,585 records): Silhouette ≈ 0.63, three atmospheric regimes, weather variables at the centre of the structure.</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   [18] Gramegna, A. &amp; Giudici, P. SHAP and LIME: An Evaluation of Discriminative Power in Credit Risk. Frontiers in AI 4, 752558 (2021).</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39</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sp>
        <p:nvSpPr>
          <p:cNvPr id="21" name="Rounded Rectangle 20"/>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Once clustering is multi-level, feature importance must stay readable </a:t>
            </a:r>
            <a:r>
              <a:rPr lang="en-US" sz="2100" b="true">
                <a:solidFill>
                  <a:srgbClr val="111111"/>
                </a:solidFill>
                <a:latin typeface="Nunito Bold"/>
                <a:ea typeface="Nunito Bold"/>
                <a:cs typeface="Nunito Bold"/>
                <a:sym typeface="Nunito Bold"/>
              </a:rPr>
              <a:t>within a cluster, across sub-clusters and across the levels</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Large-scale data make exact explanation </a:t>
            </a:r>
            <a:r>
              <a:rPr lang="en-US" sz="2100" b="true">
                <a:solidFill>
                  <a:srgbClr val="111111"/>
                </a:solidFill>
                <a:latin typeface="Nunito Bold"/>
                <a:ea typeface="Nunito Bold"/>
                <a:cs typeface="Nunito Bold"/>
                <a:sym typeface="Nunito Bold"/>
              </a:rPr>
              <a:t>too costly to compute</a:t>
            </a:r>
            <a:r>
              <a:rPr lang="en-US" sz="2100" b="true">
                <a:solidFill>
                  <a:srgbClr val="111111"/>
                </a:solidFill>
                <a:latin typeface="Nunito Semi-Bold"/>
                <a:ea typeface="Nunito Semi-Bold"/>
                <a:cs typeface="Nunito Semi-Bold"/>
                <a:sym typeface="Nunito Semi-Bold"/>
              </a:rPr>
              <a:t>: 383,585 records cannot be explained coalition by coalition.</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A flat explanation may be true yet </a:t>
            </a:r>
            <a:r>
              <a:rPr lang="en-US" sz="2100" b="true">
                <a:solidFill>
                  <a:srgbClr val="111111"/>
                </a:solidFill>
                <a:latin typeface="Nunito Bold"/>
                <a:ea typeface="Nunito Bold"/>
                <a:cs typeface="Nunito Bold"/>
                <a:sym typeface="Nunito Bold"/>
              </a:rPr>
              <a:t>incomplete</a:t>
            </a:r>
            <a:r>
              <a:rPr lang="en-US" sz="2100" b="true">
                <a:solidFill>
                  <a:srgbClr val="111111"/>
                </a:solidFill>
                <a:latin typeface="Nunito Semi-Bold"/>
                <a:ea typeface="Nunito Semi-Bold"/>
                <a:cs typeface="Nunito Semi-Bold"/>
                <a:sym typeface="Nunito Semi-Bold"/>
              </a:rPr>
              <a:t>: it cannot show how importance changes inside a cluster.</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Existing hierarchical clustering work reports structure but gives </a:t>
            </a:r>
            <a:r>
              <a:rPr lang="en-US" sz="2100" b="true">
                <a:solidFill>
                  <a:srgbClr val="111111"/>
                </a:solidFill>
                <a:latin typeface="Nunito Bold"/>
                <a:ea typeface="Nunito Bold"/>
                <a:cs typeface="Nunito Bold"/>
                <a:sym typeface="Nunito Bold"/>
              </a:rPr>
              <a:t>no formal link</a:t>
            </a:r>
            <a:r>
              <a:rPr lang="en-US" sz="2100" b="true">
                <a:solidFill>
                  <a:srgbClr val="111111"/>
                </a:solidFill>
                <a:latin typeface="Nunito Semi-Bold"/>
                <a:ea typeface="Nunito Semi-Bold"/>
                <a:cs typeface="Nunito Semi-Bold"/>
                <a:sym typeface="Nunito Semi-Bold"/>
              </a:rPr>
              <a:t> between the explanation of a parent and that of its children.</a:t>
            </a:r>
          </a:p>
        </p:txBody>
      </p:sp>
      <p:sp>
        <p:nvSpPr>
          <p:cNvPr id="26" name="Rounded Rectangle 25"/>
          <p:cNvSpPr/>
          <p:nvPr/>
        </p:nvSpPr>
        <p:spPr>
          <a:xfrm>
            <a:off x="1028700" y="7616952"/>
            <a:ext cx="16230600" cy="1600200"/>
          </a:xfrm>
          <a:prstGeom prst="roundRect">
            <a:avLst>
              <a:gd name="adj" fmla="val 12571"/>
            </a:avLst>
          </a:prstGeom>
          <a:solidFill>
            <a:srgbClr val="F6ECDF"/>
          </a:solidFill>
          <a:ln w="25400">
            <a:solidFill>
              <a:srgbClr val="1F7A8C"/>
            </a:solidFill>
          </a:ln>
        </p:spPr>
        <p:txBody>
          <a:bodyPr anchor="ctr" rtlCol="false" lIns="0" tIns="0" rIns="0" bIns="0" wrap="square"/>
          <a:lstStyle/>
          <a:p>
            <a:endParaRPr lang="en-US" sz="1800"/>
          </a:p>
        </p:txBody>
      </p:sp>
      <p:sp>
        <p:nvSpPr>
          <p:cNvPr id="27" name="Rounded Rectangle 26"/>
          <p:cNvSpPr/>
          <p:nvPr/>
        </p:nvSpPr>
        <p:spPr>
          <a:xfrm>
            <a:off x="1348740" y="7424928"/>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28" name="TextBox 27"/>
          <p:cNvSpPr txBox="1"/>
          <p:nvPr/>
        </p:nvSpPr>
        <p:spPr>
          <a:xfrm>
            <a:off x="1394460" y="7891272"/>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There is no multi-level explanation method for large-scale clustering that is </a:t>
            </a:r>
            <a:r>
              <a:rPr lang="en-US" sz="2200" b="true">
                <a:solidFill>
                  <a:srgbClr val="111111"/>
                </a:solidFill>
                <a:latin typeface="Nunito Bold"/>
                <a:ea typeface="Nunito Bold"/>
                <a:cs typeface="Nunito Bold"/>
                <a:sym typeface="Nunito Bold"/>
              </a:rPr>
              <a:t>both computationally feasible and provably consistent across levels</a:t>
            </a:r>
            <a:r>
              <a:rPr lang="en-US" sz="2200" b="true">
                <a:solidFill>
                  <a:srgbClr val="111111"/>
                </a:solidFill>
                <a:latin typeface="Nunito Semi-Bold"/>
                <a:ea typeface="Nunito Semi-Bold"/>
                <a:cs typeface="Nunito Semi-Bold"/>
                <a:sym typeface="Nunito Semi-Bold"/>
              </a:rPr>
              <a:t>.</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40</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RQ2 and Objectives</a:t>
            </a:r>
          </a:p>
        </p:txBody>
      </p:sp>
      <p:sp>
        <p:nvSpPr>
          <p:cNvPr id="21" name="Rounded Rectangle 20"/>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Rounded Rectangle 24"/>
          <p:cNvSpPr/>
          <p:nvPr/>
        </p:nvSpPr>
        <p:spPr>
          <a:xfrm>
            <a:off x="1028700" y="3546602"/>
            <a:ext cx="16230600" cy="1325880"/>
          </a:xfrm>
          <a:prstGeom prst="roundRect">
            <a:avLst>
              <a:gd name="adj" fmla="val 15172"/>
            </a:avLst>
          </a:prstGeom>
          <a:solidFill>
            <a:srgbClr val="F6ECDF"/>
          </a:solidFill>
          <a:ln w="25400">
            <a:solidFill>
              <a:srgbClr val="4472C4"/>
            </a:solidFill>
          </a:ln>
        </p:spPr>
        <p:txBody>
          <a:bodyPr anchor="ctr" rtlCol="false" lIns="0" tIns="0" rIns="0" bIns="0" wrap="square"/>
          <a:lstStyle/>
          <a:p>
            <a:endParaRPr lang="en-US" sz="1800"/>
          </a:p>
        </p:txBody>
      </p:sp>
      <p:sp>
        <p:nvSpPr>
          <p:cNvPr id="26" name="Rounded Rectangle 25"/>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RQ2</a:t>
            </a:r>
          </a:p>
        </p:txBody>
      </p:sp>
      <p:sp>
        <p:nvSpPr>
          <p:cNvPr id="27" name="TextBox 26"/>
          <p:cNvSpPr txBox="1"/>
          <p:nvPr/>
        </p:nvSpPr>
        <p:spPr>
          <a:xfrm>
            <a:off x="1394460" y="3820922"/>
            <a:ext cx="15499080" cy="91440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How can the Shapley explanation extend to </a:t>
            </a:r>
            <a:r>
              <a:rPr lang="en-US" sz="2200" b="true">
                <a:solidFill>
                  <a:srgbClr val="111111"/>
                </a:solidFill>
                <a:latin typeface="Nunito Bold"/>
                <a:ea typeface="Nunito Bold"/>
                <a:cs typeface="Nunito Bold"/>
                <a:sym typeface="Nunito Bold"/>
              </a:rPr>
              <a:t>large-scale, multi-level clustering</a:t>
            </a:r>
            <a:r>
              <a:rPr lang="en-US" sz="2200" b="true">
                <a:solidFill>
                  <a:srgbClr val="111111"/>
                </a:solidFill>
                <a:latin typeface="Nunito Semi-Bold"/>
                <a:ea typeface="Nunito Semi-Bold"/>
                <a:cs typeface="Nunito Semi-Bold"/>
                <a:sym typeface="Nunito Semi-Bold"/>
              </a:rPr>
              <a:t> while staying feasible and consistent?</a:t>
            </a:r>
          </a:p>
        </p:txBody>
      </p:sp>
      <p:graphicFrame>
        <p:nvGraphicFramePr>
          <p:cNvPr id="28" name="Table 27"/>
          <p:cNvGraphicFramePr>
            <a:graphicFrameLocks noGrp="1"/>
          </p:cNvGraphicFramePr>
          <p:nvPr/>
        </p:nvGraphicFramePr>
        <p:xfrm>
          <a:off x="1028700" y="528396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A truly multi-level workflow</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Recursive clustering with </a:t>
                      </a:r>
                      <a:r>
                        <a:rPr lang="en-US" sz="1800" b="true">
                          <a:solidFill>
                            <a:srgbClr val="111111"/>
                          </a:solidFill>
                          <a:latin typeface="Nunito Bold"/>
                          <a:ea typeface="Nunito Bold"/>
                          <a:cs typeface="Nunito Bold"/>
                          <a:sym typeface="Nunito Bold"/>
                        </a:rPr>
                        <a:t>level-specific surrogates</a:t>
                      </a:r>
                      <a:r>
                        <a:rPr lang="en-US" sz="1800" b="true">
                          <a:solidFill>
                            <a:srgbClr val="111111"/>
                          </a:solidFill>
                          <a:latin typeface="Nunito Semi-Bold"/>
                          <a:ea typeface="Nunito Semi-Bold"/>
                          <a:cs typeface="Nunito Semi-Bold"/>
                          <a:sym typeface="Nunito Semi-Bold"/>
                        </a:rPr>
                        <a:t>, not a rerun of the single-level pipeline.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Workflow, Fig. 6.3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A formal consistency argument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Proposition 6.1</a:t>
                      </a:r>
                      <a:r>
                        <a:rPr lang="en-US" sz="1800" b="true">
                          <a:solidFill>
                            <a:srgbClr val="111111"/>
                          </a:solidFill>
                          <a:latin typeface="Nunito Semi-Bold"/>
                          <a:ea typeface="Nunito Semi-Bold"/>
                          <a:cs typeface="Nunito Semi-Bold"/>
                          <a:sym typeface="Nunito Semi-Bold"/>
                        </a:rPr>
                        <a:t>: parent importance equals the size-weighted expectation over its children.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Proposition 6.1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Validation at scale on new data</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Beijing Multi-Site Air Quality: </a:t>
                      </a:r>
                      <a:r>
                        <a:rPr lang="en-US" sz="1800" b="true">
                          <a:solidFill>
                            <a:srgbClr val="111111"/>
                          </a:solidFill>
                          <a:latin typeface="Nunito Bold"/>
                          <a:ea typeface="Nunito Bold"/>
                          <a:cs typeface="Nunito Bold"/>
                          <a:sym typeface="Nunito Bold"/>
                        </a:rPr>
                        <a:t>383,585 hourly records</a:t>
                      </a:r>
                      <a:r>
                        <a:rPr lang="en-US" sz="1800" b="true">
                          <a:solidFill>
                            <a:srgbClr val="111111"/>
                          </a:solidFill>
                          <a:latin typeface="Nunito Semi-Bold"/>
                          <a:ea typeface="Nunito Semi-Bold"/>
                          <a:cs typeface="Nunito Semi-Bold"/>
                          <a:sym typeface="Nunito Semi-Bold"/>
                        </a:rPr>
                        <a:t>, a domain far from wine.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Table 6.1, Fig. 6.1, 6.2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41</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Multi-Level Workflow with Cross-Level Aggregation</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7680960" cy="59448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Recursive / nested:</a:t>
            </a:r>
            <a:r>
              <a:rPr lang="en-US" sz="2100" b="true">
                <a:solidFill>
                  <a:srgbClr val="111111"/>
                </a:solidFill>
                <a:latin typeface="Nunito Semi-Bold"/>
                <a:ea typeface="Nunito Semi-Bold"/>
                <a:cs typeface="Nunito Semi-Bold"/>
                <a:sym typeface="Nunito Semi-Bold"/>
              </a:rPr>
              <a:t> coarse clustering on the full dataset, then split each cluster again.</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For each level, train a </a:t>
            </a:r>
            <a:r>
              <a:rPr lang="en-US" sz="2100" b="true">
                <a:solidFill>
                  <a:srgbClr val="111111"/>
                </a:solidFill>
                <a:latin typeface="Nunito Bold"/>
                <a:ea typeface="Nunito Bold"/>
                <a:cs typeface="Nunito Bold"/>
                <a:sym typeface="Nunito Bold"/>
              </a:rPr>
              <a:t>level-specific surrogate</a:t>
            </a:r>
            <a:r>
              <a:rPr lang="en-US" sz="2100" b="true">
                <a:solidFill>
                  <a:srgbClr val="111111"/>
                </a:solidFill>
                <a:latin typeface="Nunito Semi-Bold"/>
                <a:ea typeface="Nunito Semi-Bold"/>
                <a:cs typeface="Nunito Semi-Bold"/>
                <a:sym typeface="Nunito Semi-Bold"/>
              </a:rPr>
              <a:t> and compute SHAP in the </a:t>
            </a:r>
            <a:r>
              <a:rPr lang="en-US" sz="2100" b="true">
                <a:solidFill>
                  <a:srgbClr val="111111"/>
                </a:solidFill>
                <a:latin typeface="Nunito Bold"/>
                <a:ea typeface="Nunito Bold"/>
                <a:cs typeface="Nunito Bold"/>
                <a:sym typeface="Nunito Bold"/>
              </a:rPr>
              <a:t>SAME original feature space</a:t>
            </a:r>
            <a:r>
              <a:rPr lang="en-US" sz="2100" b="true">
                <a:solidFill>
                  <a:srgbClr val="111111"/>
                </a:solidFill>
                <a:latin typeface="Nunito Semi-Bold"/>
                <a:ea typeface="Nunito Semi-Bold"/>
                <a:cs typeface="Nunito Semi-Bold"/>
                <a:sym typeface="Nunito Semi-Bold"/>
              </a:rPr>
              <a: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Cross-level aggregation is </a:t>
            </a:r>
            <a:r>
              <a:rPr lang="en-US" sz="2100" b="true">
                <a:solidFill>
                  <a:srgbClr val="111111"/>
                </a:solidFill>
                <a:latin typeface="Nunito Bold"/>
                <a:ea typeface="Nunito Bold"/>
                <a:cs typeface="Nunito Bold"/>
                <a:sym typeface="Nunito Bold"/>
              </a:rPr>
              <a:t>NOT a naive average</a:t>
            </a:r>
            <a:r>
              <a:rPr lang="en-US" sz="2100" b="true">
                <a:solidFill>
                  <a:srgbClr val="111111"/>
                </a:solidFill>
                <a:latin typeface="Nunito Semi-Bold"/>
                <a:ea typeface="Nunito Semi-Bold"/>
                <a:cs typeface="Nunito Semi-Bold"/>
                <a:sym typeface="Nunito Semi-Bold"/>
              </a:rPr>
              <a:t>: it respects cluster size and nesting structure.</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Parent-level attribution = an </a:t>
            </a:r>
            <a:r>
              <a:rPr lang="en-US" sz="1900" b="true">
                <a:solidFill>
                  <a:srgbClr val="111111"/>
                </a:solidFill>
                <a:latin typeface="Nunito Bold"/>
                <a:ea typeface="Nunito Bold"/>
                <a:cs typeface="Nunito Bold"/>
                <a:sym typeface="Nunito Bold"/>
              </a:rPr>
              <a:t>expectation over the explanations of its children</a:t>
            </a:r>
            <a:r>
              <a:rPr lang="en-US" sz="1900" b="true">
                <a:solidFill>
                  <a:srgbClr val="111111"/>
                </a:solidFill>
                <a:latin typeface="Nunito Semi-Bold"/>
                <a:ea typeface="Nunito Semi-Bold"/>
                <a:cs typeface="Nunito Semi-Bold"/>
                <a:sym typeface="Nunito Semi-Bold"/>
              </a:rPr>
              <a:t>.</a:t>
            </a:r>
          </a:p>
          <a:p>
            <a:pPr algn="l" marL="658368" indent="-256032">
              <a:lnSpc>
                <a:spcPts val="2660"/>
              </a:lnSpc>
              <a:spcBef>
                <a:spcPts val="300"/>
              </a:spcBef>
              <a:buClr>
                <a:srgbClr val="4472C4"/>
              </a:buClr>
              <a:buSzPct val="100000"/>
              <a:buFont typeface="Arial"/>
              <a:buChar char="–"/>
            </a:pPr>
            <a:r>
              <a:rPr lang="en-US" sz="1900" b="true">
                <a:solidFill>
                  <a:srgbClr val="111111"/>
                </a:solidFill>
                <a:latin typeface="Nunito Semi-Bold"/>
                <a:ea typeface="Nunito Semi-Bold"/>
                <a:cs typeface="Nunito Semi-Bold"/>
                <a:sym typeface="Nunito Semi-Bold"/>
              </a:rPr>
              <a:t>The hierarchy is a practical analysis tool, not a claim that nature is really organised this way.</a:t>
            </a:r>
          </a:p>
        </p:txBody>
      </p:sp>
      <p:sp>
        <p:nvSpPr>
          <p:cNvPr id="26" name="Rounded Rectangle 25"/>
          <p:cNvSpPr/>
          <p:nvPr/>
        </p:nvSpPr>
        <p:spPr>
          <a:xfrm>
            <a:off x="11258550" y="3363722"/>
            <a:ext cx="4000500" cy="868680"/>
          </a:xfrm>
          <a:prstGeom prst="roundRect">
            <a:avLst>
              <a:gd name="adj" fmla="val 21052"/>
            </a:avLst>
          </a:prstGeom>
          <a:solidFill>
            <a:srgbClr val="111111"/>
          </a:solidFill>
          <a:ln>
            <a:noFill/>
          </a:ln>
        </p:spPr>
        <p:txBody>
          <a:bodyPr anchor="ctr" rtlCol="false" lIns="91440" tIns="45720" rIns="91440" bIns="45720" wrap="square"/>
          <a:lstStyle/>
          <a:p>
            <a:pPr algn="ctr">
              <a:lnSpc>
                <a:spcPts val="2070"/>
              </a:lnSpc>
              <a:spcBef>
                <a:spcPts val="0"/>
              </a:spcBef>
              <a:buNone/>
            </a:pPr>
            <a:r>
              <a:rPr lang="en-US" sz="1800" b="true">
                <a:solidFill>
                  <a:srgbClr val="FFFFFF"/>
                </a:solidFill>
                <a:latin typeface="Nunito Bold"/>
                <a:ea typeface="Nunito Bold"/>
                <a:cs typeface="Nunito Bold"/>
                <a:sym typeface="Nunito Bold"/>
              </a:rPr>
              <a:t>Level 1 · coarse clustering (k = 3)</a:t>
            </a:r>
          </a:p>
        </p:txBody>
      </p:sp>
      <p:sp>
        <p:nvSpPr>
          <p:cNvPr id="27" name="Rounded Rectangle 26"/>
          <p:cNvSpPr/>
          <p:nvPr/>
        </p:nvSpPr>
        <p:spPr>
          <a:xfrm>
            <a:off x="9258300" y="4826762"/>
            <a:ext cx="2514600" cy="1234440"/>
          </a:xfrm>
          <a:prstGeom prst="roundRect">
            <a:avLst>
              <a:gd name="adj" fmla="val 14814"/>
            </a:avLst>
          </a:prstGeom>
          <a:solidFill>
            <a:srgbClr val="4472C4"/>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A</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temp · dew point · ozone</a:t>
            </a:r>
          </a:p>
        </p:txBody>
      </p:sp>
      <p:cxnSp>
        <p:nvCxnSpPr>
          <p:cNvPr id="28" name="Connector 27"/>
          <p:cNvCxnSpPr/>
          <p:nvPr/>
        </p:nvCxnSpPr>
        <p:spPr>
          <a:xfrm flipH="1">
            <a:off x="10515600" y="4278122"/>
            <a:ext cx="2743200" cy="502920"/>
          </a:xfrm>
          <a:prstGeom prst="line">
            <a:avLst/>
          </a:prstGeom>
          <a:ln w="25400">
            <a:solidFill>
              <a:srgbClr val="4472C4"/>
            </a:solidFill>
            <a:tailEnd type="triangle" w="med" len="med"/>
          </a:ln>
        </p:spPr>
      </p:cxnSp>
      <p:sp>
        <p:nvSpPr>
          <p:cNvPr id="29" name="Rounded Rectangle 28"/>
          <p:cNvSpPr/>
          <p:nvPr/>
        </p:nvSpPr>
        <p:spPr>
          <a:xfrm>
            <a:off x="9258300" y="6518402"/>
            <a:ext cx="1202436" cy="640080"/>
          </a:xfrm>
          <a:prstGeom prst="roundRect">
            <a:avLst>
              <a:gd name="adj" fmla="val 17142"/>
            </a:avLst>
          </a:prstGeom>
          <a:solidFill>
            <a:srgbClr val="F6ECDF"/>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30" name="Connector 29"/>
          <p:cNvCxnSpPr/>
          <p:nvPr/>
        </p:nvCxnSpPr>
        <p:spPr>
          <a:xfrm flipH="1">
            <a:off x="9859518" y="6088634"/>
            <a:ext cx="656082" cy="393192"/>
          </a:xfrm>
          <a:prstGeom prst="line">
            <a:avLst/>
          </a:prstGeom>
          <a:ln w="19050">
            <a:solidFill>
              <a:srgbClr val="4472C4"/>
            </a:solidFill>
            <a:tailEnd type="triangle" w="med" len="med"/>
          </a:ln>
        </p:spPr>
      </p:cxnSp>
      <p:sp>
        <p:nvSpPr>
          <p:cNvPr id="31" name="Rounded Rectangle 30"/>
          <p:cNvSpPr/>
          <p:nvPr/>
        </p:nvSpPr>
        <p:spPr>
          <a:xfrm>
            <a:off x="10570464" y="6518402"/>
            <a:ext cx="1202436" cy="640080"/>
          </a:xfrm>
          <a:prstGeom prst="roundRect">
            <a:avLst>
              <a:gd name="adj" fmla="val 17142"/>
            </a:avLst>
          </a:prstGeom>
          <a:solidFill>
            <a:srgbClr val="F6ECDF"/>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32" name="Connector 31"/>
          <p:cNvCxnSpPr/>
          <p:nvPr/>
        </p:nvCxnSpPr>
        <p:spPr>
          <a:xfrm>
            <a:off x="10515600" y="6088634"/>
            <a:ext cx="656082" cy="393192"/>
          </a:xfrm>
          <a:prstGeom prst="line">
            <a:avLst/>
          </a:prstGeom>
          <a:ln w="19050">
            <a:solidFill>
              <a:srgbClr val="4472C4"/>
            </a:solidFill>
            <a:tailEnd type="triangle" w="med" len="med"/>
          </a:ln>
        </p:spPr>
      </p:cxnSp>
      <p:sp>
        <p:nvSpPr>
          <p:cNvPr id="33" name="Rounded Rectangle 32"/>
          <p:cNvSpPr/>
          <p:nvPr/>
        </p:nvSpPr>
        <p:spPr>
          <a:xfrm>
            <a:off x="12001500" y="4826762"/>
            <a:ext cx="2514600" cy="1234440"/>
          </a:xfrm>
          <a:prstGeom prst="roundRect">
            <a:avLst>
              <a:gd name="adj" fmla="val 14814"/>
            </a:avLst>
          </a:prstGeom>
          <a:solidFill>
            <a:srgbClr val="2F5597"/>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B</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CO · SO₂ · PM · wind</a:t>
            </a:r>
          </a:p>
        </p:txBody>
      </p:sp>
      <p:cxnSp>
        <p:nvCxnSpPr>
          <p:cNvPr id="34" name="Connector 33"/>
          <p:cNvCxnSpPr/>
          <p:nvPr/>
        </p:nvCxnSpPr>
        <p:spPr>
          <a:xfrm>
            <a:off x="13258800" y="4278122"/>
            <a:ext cx="0" cy="502920"/>
          </a:xfrm>
          <a:prstGeom prst="line">
            <a:avLst/>
          </a:prstGeom>
          <a:ln w="25400">
            <a:solidFill>
              <a:srgbClr val="4472C4"/>
            </a:solidFill>
            <a:tailEnd type="triangle" w="med" len="med"/>
          </a:ln>
        </p:spPr>
      </p:cxnSp>
      <p:sp>
        <p:nvSpPr>
          <p:cNvPr id="35" name="Rounded Rectangle 34"/>
          <p:cNvSpPr/>
          <p:nvPr/>
        </p:nvSpPr>
        <p:spPr>
          <a:xfrm>
            <a:off x="12001500" y="6518402"/>
            <a:ext cx="1202436" cy="640080"/>
          </a:xfrm>
          <a:prstGeom prst="roundRect">
            <a:avLst>
              <a:gd name="adj" fmla="val 17142"/>
            </a:avLst>
          </a:prstGeom>
          <a:solidFill>
            <a:srgbClr val="F6ECDF"/>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36" name="Connector 35"/>
          <p:cNvCxnSpPr/>
          <p:nvPr/>
        </p:nvCxnSpPr>
        <p:spPr>
          <a:xfrm flipH="1">
            <a:off x="12602718" y="6088634"/>
            <a:ext cx="656082" cy="393192"/>
          </a:xfrm>
          <a:prstGeom prst="line">
            <a:avLst/>
          </a:prstGeom>
          <a:ln w="19050">
            <a:solidFill>
              <a:srgbClr val="4472C4"/>
            </a:solidFill>
            <a:tailEnd type="triangle" w="med" len="med"/>
          </a:ln>
        </p:spPr>
      </p:cxnSp>
      <p:sp>
        <p:nvSpPr>
          <p:cNvPr id="37" name="Rounded Rectangle 36"/>
          <p:cNvSpPr/>
          <p:nvPr/>
        </p:nvSpPr>
        <p:spPr>
          <a:xfrm>
            <a:off x="13313664" y="6518402"/>
            <a:ext cx="1202436" cy="640080"/>
          </a:xfrm>
          <a:prstGeom prst="roundRect">
            <a:avLst>
              <a:gd name="adj" fmla="val 17142"/>
            </a:avLst>
          </a:prstGeom>
          <a:solidFill>
            <a:srgbClr val="F6ECDF"/>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38" name="Connector 37"/>
          <p:cNvCxnSpPr/>
          <p:nvPr/>
        </p:nvCxnSpPr>
        <p:spPr>
          <a:xfrm>
            <a:off x="13258800" y="6088634"/>
            <a:ext cx="656082" cy="393192"/>
          </a:xfrm>
          <a:prstGeom prst="line">
            <a:avLst/>
          </a:prstGeom>
          <a:ln w="19050">
            <a:solidFill>
              <a:srgbClr val="4472C4"/>
            </a:solidFill>
            <a:tailEnd type="triangle" w="med" len="med"/>
          </a:ln>
        </p:spPr>
      </p:cxnSp>
      <p:sp>
        <p:nvSpPr>
          <p:cNvPr id="39" name="Rounded Rectangle 38"/>
          <p:cNvSpPr/>
          <p:nvPr/>
        </p:nvSpPr>
        <p:spPr>
          <a:xfrm>
            <a:off x="14744700" y="4826762"/>
            <a:ext cx="2514600" cy="1234440"/>
          </a:xfrm>
          <a:prstGeom prst="roundRect">
            <a:avLst>
              <a:gd name="adj" fmla="val 14814"/>
            </a:avLst>
          </a:prstGeom>
          <a:solidFill>
            <a:srgbClr val="1F7A8C"/>
          </a:solidFill>
          <a:ln>
            <a:noFill/>
          </a:ln>
        </p:spPr>
        <p:txBody>
          <a:bodyPr anchor="ctr" rtlCol="false" lIns="91440" tIns="45720" rIns="91440" bIns="45720" wrap="square"/>
          <a:lstStyle/>
          <a:p>
            <a:pPr algn="ctr">
              <a:lnSpc>
                <a:spcPts val="2185"/>
              </a:lnSpc>
              <a:spcBef>
                <a:spcPts val="0"/>
              </a:spcBef>
              <a:buNone/>
            </a:pPr>
            <a:r>
              <a:rPr lang="en-US" sz="1900" b="true">
                <a:solidFill>
                  <a:srgbClr val="FFFFFF"/>
                </a:solidFill>
                <a:latin typeface="Nunito Bold"/>
                <a:ea typeface="Nunito Bold"/>
                <a:cs typeface="Nunito Bold"/>
                <a:sym typeface="Nunito Bold"/>
              </a:rPr>
              <a:t>Regime C</a:t>
            </a:r>
          </a:p>
          <a:p>
            <a:pPr algn="ctr">
              <a:lnSpc>
                <a:spcPts val="1680"/>
              </a:lnSpc>
              <a:spcBef>
                <a:spcPts val="300"/>
              </a:spcBef>
              <a:buNone/>
            </a:pPr>
            <a:r>
              <a:rPr lang="en-US" sz="1400" b="true">
                <a:solidFill>
                  <a:srgbClr val="FFFFFF"/>
                </a:solidFill>
                <a:latin typeface="Nunito Semi-Bold"/>
                <a:ea typeface="Nunito Semi-Bold"/>
                <a:cs typeface="Nunito Semi-Bold"/>
                <a:sym typeface="Nunito Semi-Bold"/>
              </a:rPr>
              <a:t>clean air · weather</a:t>
            </a:r>
          </a:p>
        </p:txBody>
      </p:sp>
      <p:cxnSp>
        <p:nvCxnSpPr>
          <p:cNvPr id="40" name="Connector 39"/>
          <p:cNvCxnSpPr/>
          <p:nvPr/>
        </p:nvCxnSpPr>
        <p:spPr>
          <a:xfrm>
            <a:off x="13258800" y="4278122"/>
            <a:ext cx="2743200" cy="502920"/>
          </a:xfrm>
          <a:prstGeom prst="line">
            <a:avLst/>
          </a:prstGeom>
          <a:ln w="25400">
            <a:solidFill>
              <a:srgbClr val="4472C4"/>
            </a:solidFill>
            <a:tailEnd type="triangle" w="med" len="med"/>
          </a:ln>
        </p:spPr>
      </p:cxnSp>
      <p:sp>
        <p:nvSpPr>
          <p:cNvPr id="41" name="Rounded Rectangle 40"/>
          <p:cNvSpPr/>
          <p:nvPr/>
        </p:nvSpPr>
        <p:spPr>
          <a:xfrm>
            <a:off x="14744700" y="6518402"/>
            <a:ext cx="1202436" cy="640080"/>
          </a:xfrm>
          <a:prstGeom prst="roundRect">
            <a:avLst>
              <a:gd name="adj" fmla="val 17142"/>
            </a:avLst>
          </a:prstGeom>
          <a:solidFill>
            <a:srgbClr val="F6ECDF"/>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1</a:t>
            </a:r>
          </a:p>
        </p:txBody>
      </p:sp>
      <p:cxnSp>
        <p:nvCxnSpPr>
          <p:cNvPr id="42" name="Connector 41"/>
          <p:cNvCxnSpPr/>
          <p:nvPr/>
        </p:nvCxnSpPr>
        <p:spPr>
          <a:xfrm flipH="1">
            <a:off x="15345918" y="6088634"/>
            <a:ext cx="656082" cy="393192"/>
          </a:xfrm>
          <a:prstGeom prst="line">
            <a:avLst/>
          </a:prstGeom>
          <a:ln w="19050">
            <a:solidFill>
              <a:srgbClr val="4472C4"/>
            </a:solidFill>
            <a:tailEnd type="triangle" w="med" len="med"/>
          </a:ln>
        </p:spPr>
      </p:cxnSp>
      <p:sp>
        <p:nvSpPr>
          <p:cNvPr id="43" name="Rounded Rectangle 42"/>
          <p:cNvSpPr/>
          <p:nvPr/>
        </p:nvSpPr>
        <p:spPr>
          <a:xfrm>
            <a:off x="16056864" y="6518402"/>
            <a:ext cx="1202436" cy="640080"/>
          </a:xfrm>
          <a:prstGeom prst="roundRect">
            <a:avLst>
              <a:gd name="adj" fmla="val 17142"/>
            </a:avLst>
          </a:prstGeom>
          <a:solidFill>
            <a:srgbClr val="F6ECDF"/>
          </a:solidFill>
          <a:ln>
            <a:noFill/>
          </a:ln>
        </p:spPr>
        <p:txBody>
          <a:bodyPr anchor="ctr" rtlCol="false" lIns="91440" tIns="45720" rIns="91440" bIns="45720" wrap="square"/>
          <a:lstStyle/>
          <a:p>
            <a:pPr algn="ctr">
              <a:lnSpc>
                <a:spcPts val="1610"/>
              </a:lnSpc>
              <a:spcBef>
                <a:spcPts val="0"/>
              </a:spcBef>
              <a:buNone/>
            </a:pPr>
            <a:r>
              <a:rPr lang="en-US" sz="1400" b="true">
                <a:solidFill>
                  <a:srgbClr val="111111"/>
                </a:solidFill>
                <a:latin typeface="Nunito Bold"/>
                <a:ea typeface="Nunito Bold"/>
                <a:cs typeface="Nunito Bold"/>
                <a:sym typeface="Nunito Bold"/>
              </a:rPr>
              <a:t>sub 2</a:t>
            </a:r>
          </a:p>
        </p:txBody>
      </p:sp>
      <p:cxnSp>
        <p:nvCxnSpPr>
          <p:cNvPr id="44" name="Connector 43"/>
          <p:cNvCxnSpPr/>
          <p:nvPr/>
        </p:nvCxnSpPr>
        <p:spPr>
          <a:xfrm>
            <a:off x="16002000" y="6088634"/>
            <a:ext cx="656082" cy="393192"/>
          </a:xfrm>
          <a:prstGeom prst="line">
            <a:avLst/>
          </a:prstGeom>
          <a:ln w="19050">
            <a:solidFill>
              <a:srgbClr val="4472C4"/>
            </a:solidFill>
            <a:tailEnd type="triangle" w="med" len="med"/>
          </a:ln>
        </p:spPr>
      </p:cxnSp>
      <p:sp>
        <p:nvSpPr>
          <p:cNvPr id="45" name="Rounded Rectangle 44"/>
          <p:cNvSpPr/>
          <p:nvPr/>
        </p:nvSpPr>
        <p:spPr>
          <a:xfrm>
            <a:off x="9258300" y="7341362"/>
            <a:ext cx="8001000" cy="1967230"/>
          </a:xfrm>
          <a:prstGeom prst="roundRect">
            <a:avLst>
              <a:gd name="adj" fmla="val 11620"/>
            </a:avLst>
          </a:prstGeom>
          <a:solidFill>
            <a:srgbClr val="4472C4"/>
          </a:solidFill>
          <a:ln>
            <a:noFill/>
          </a:ln>
        </p:spPr>
        <p:txBody>
          <a:bodyPr anchor="ctr" rtlCol="false" lIns="0" tIns="0" rIns="0" bIns="0" wrap="square"/>
          <a:lstStyle/>
          <a:p>
            <a:endParaRPr lang="en-US" sz="1800"/>
          </a:p>
        </p:txBody>
      </p:sp>
      <p:sp>
        <p:nvSpPr>
          <p:cNvPr id="46" name="TextBox 45"/>
          <p:cNvSpPr txBox="1"/>
          <p:nvPr/>
        </p:nvSpPr>
        <p:spPr>
          <a:xfrm>
            <a:off x="9258300" y="7487666"/>
            <a:ext cx="8001000" cy="274320"/>
          </a:xfrm>
          <a:prstGeom prst="rect">
            <a:avLst/>
          </a:prstGeom>
          <a:noFill/>
        </p:spPr>
        <p:txBody>
          <a:bodyPr anchor="t" rtlCol="false" lIns="0" tIns="0" rIns="0" bIns="0" wrap="square"/>
          <a:lstStyle/>
          <a:p>
            <a:pPr algn="ctr">
              <a:lnSpc>
                <a:spcPts val="1700"/>
              </a:lnSpc>
              <a:spcBef>
                <a:spcPts val="0"/>
              </a:spcBef>
              <a:buNone/>
            </a:pPr>
            <a:r>
              <a:rPr lang="en-US" sz="1300" b="true" spc="150">
                <a:solidFill>
                  <a:srgbClr val="ECC665"/>
                </a:solidFill>
                <a:latin typeface="Nunito Ultra-Bold"/>
                <a:ea typeface="Nunito Ultra-Bold"/>
                <a:cs typeface="Nunito Ultra-Bold"/>
                <a:sym typeface="Nunito Ultra-Bold"/>
              </a:rPr>
              <a:t>PROPOSITION 6.1  ·  CROSS-LEVEL CONSISTENCY</a:t>
            </a:r>
          </a:p>
        </p:txBody>
      </p:sp>
      <mc:AlternateContent xmlns:mc="http://schemas.openxmlformats.org/markup-compatibility/2006">
        <mc:Choice xmlns:a14="http://schemas.microsoft.com/office/drawing/2010/main" Requires="a14">
          <p:sp>
            <p:nvSpPr>
              <p:cNvPr id="47" name="Equation"/>
              <p:cNvSpPr txBox="1"/>
              <p:nvPr/>
            </p:nvSpPr>
            <p:spPr>
              <a:xfrm>
                <a:off x="9441180" y="7761986"/>
                <a:ext cx="7635240" cy="96012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200" i="1">
                              <a:solidFill>
                                <a:srgbClr val="FFFFFF"/>
                              </a:solidFill>
                              <a:latin typeface="Cambria Math" panose="02040503050406030204" pitchFamily="18" charset="0"/>
                            </a:rPr>
                          </m:ctrlPr>
                        </m:sSubSupPr>
                        <m:e>
                          <m:r>
                            <a:rPr lang="en-US" sz="2200" i="1">
                              <a:solidFill>
                                <a:srgbClr val="FFFFFF"/>
                              </a:solidFill>
                              <a:latin typeface="Cambria Math" panose="02040503050406030204" pitchFamily="18" charset="0"/>
                            </a:rPr>
                            <m:t xml:space="preserve">Φ</m:t>
                          </m:r>
                        </m:e>
                        <m:sub>
                          <m:r>
                            <a:rPr lang="en-US" sz="2200" i="1">
                              <a:solidFill>
                                <a:srgbClr val="FFFFFF"/>
                              </a:solidFill>
                              <a:latin typeface="Cambria Math" panose="02040503050406030204" pitchFamily="18" charset="0"/>
                            </a:rPr>
                            <m:t xml:space="preserve">j</m:t>
                          </m:r>
                        </m:sub>
                        <m:sup>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l</m:t>
                          </m:r>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p>
                      </m:sSubSup>
                      <m:r>
                        <m:rPr>
                          <m:sty m:val="p"/>
                        </m:rPr>
                        <a:rPr lang="en-US" sz="2200">
                          <a:solidFill>
                            <a:srgbClr val="FFFFFF"/>
                          </a:solidFill>
                          <a:latin typeface="Cambria Math" panose="02040503050406030204" pitchFamily="18" charset="0"/>
                        </a:rPr>
                        <m:t xml:space="preserve">=</m:t>
                      </m:r>
                      <m:nary>
                        <m:naryPr>
                          <m:chr m:val="∑"/>
                          <m:limLoc m:val="subSup"/>
                          <m:supHide m:val="1"/>
                          <m:ctrlPr>
                            <a:rPr lang="en-US" sz="2200" i="1">
                              <a:solidFill>
                                <a:srgbClr val="FFFFFF"/>
                              </a:solidFill>
                              <a:latin typeface="Cambria Math" panose="02040503050406030204" pitchFamily="18" charset="0"/>
                            </a:rPr>
                          </m:ctrlPr>
                        </m:naryPr>
                        <m:sub>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∈child(</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b>
                        <m:sup/>
                        <m:e>
                          <m:r>
                            <m:rPr>
                              <m:sty m:val="p"/>
                            </m:rPr>
                            <a:rPr lang="en-US" sz="2200">
                              <a:solidFill>
                                <a:srgbClr val="FFFFFF"/>
                              </a:solidFill>
                              <a:latin typeface="Cambria Math" panose="02040503050406030204" pitchFamily="18" charset="0"/>
                            </a:rPr>
                            <m:t xml:space="preserve"> </m:t>
                          </m:r>
                        </m:e>
                      </m:nary>
                      <m:sSub>
                        <m:sSubPr>
                          <m:ctrlPr>
                            <a:rPr lang="en-US" sz="2200" i="1">
                              <a:solidFill>
                                <a:srgbClr val="FFFFFF"/>
                              </a:solidFill>
                              <a:latin typeface="Cambria Math" panose="02040503050406030204" pitchFamily="18" charset="0"/>
                            </a:rPr>
                          </m:ctrlPr>
                        </m:sSubPr>
                        <m:e>
                          <m:r>
                            <a:rPr lang="en-US" sz="2200" i="1">
                              <a:solidFill>
                                <a:srgbClr val="FFFFFF"/>
                              </a:solidFill>
                              <a:latin typeface="Cambria Math" panose="02040503050406030204" pitchFamily="18" charset="0"/>
                            </a:rPr>
                            <m:t xml:space="preserve">w</m:t>
                          </m:r>
                        </m:e>
                        <m:sub>
                          <m:r>
                            <a:rPr lang="en-US" sz="2200" i="1">
                              <a:solidFill>
                                <a:srgbClr val="FFFFFF"/>
                              </a:solidFill>
                              <a:latin typeface="Cambria Math" panose="02040503050406030204" pitchFamily="18" charset="0"/>
                            </a:rPr>
                            <m:t xml:space="preserve">c′</m:t>
                          </m:r>
                        </m:sub>
                      </m:sSub>
                      <m:r>
                        <m:rPr>
                          <m:sty m:val="p"/>
                        </m:rPr>
                        <a:rPr lang="en-US" sz="2200">
                          <a:solidFill>
                            <a:srgbClr val="FFFFFF"/>
                          </a:solidFill>
                          <a:latin typeface="Cambria Math" panose="02040503050406030204" pitchFamily="18" charset="0"/>
                        </a:rPr>
                        <m:t xml:space="preserve"> </m:t>
                      </m:r>
                      <m:sSubSup>
                        <m:sSubSupPr>
                          <m:ctrlPr>
                            <a:rPr lang="en-US" sz="2200" i="1">
                              <a:solidFill>
                                <a:srgbClr val="FFFFFF"/>
                              </a:solidFill>
                              <a:latin typeface="Cambria Math" panose="02040503050406030204" pitchFamily="18" charset="0"/>
                            </a:rPr>
                          </m:ctrlPr>
                        </m:sSubSupPr>
                        <m:e>
                          <m:r>
                            <a:rPr lang="en-US" sz="2200" i="1">
                              <a:solidFill>
                                <a:srgbClr val="FFFFFF"/>
                              </a:solidFill>
                              <a:latin typeface="Cambria Math" panose="02040503050406030204" pitchFamily="18" charset="0"/>
                            </a:rPr>
                            <m:t xml:space="preserve">Φ</m:t>
                          </m:r>
                        </m:e>
                        <m:sub>
                          <m:r>
                            <a:rPr lang="en-US" sz="2200" i="1">
                              <a:solidFill>
                                <a:srgbClr val="FFFFFF"/>
                              </a:solidFill>
                              <a:latin typeface="Cambria Math" panose="02040503050406030204" pitchFamily="18" charset="0"/>
                            </a:rPr>
                            <m:t xml:space="preserve">j</m:t>
                          </m:r>
                        </m:sub>
                        <m:sup>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l</m:t>
                          </m:r>
                          <m:r>
                            <m:rPr>
                              <m:sty m:val="p"/>
                            </m:rPr>
                            <a:rPr lang="en-US" sz="2200">
                              <a:solidFill>
                                <a:srgbClr val="FFFFFF"/>
                              </a:solidFill>
                              <a:latin typeface="Cambria Math" panose="02040503050406030204" pitchFamily="18" charset="0"/>
                            </a:rPr>
                            <m:t xml:space="preserve">+1, </m:t>
                          </m:r>
                          <m:r>
                            <a:rPr lang="en-US" sz="2200" i="1">
                              <a:solidFill>
                                <a:srgbClr val="FFFFFF"/>
                              </a:solidFill>
                              <a:latin typeface="Cambria Math" panose="02040503050406030204" pitchFamily="18" charset="0"/>
                            </a:rPr>
                            <m:t xml:space="preserve">c′</m:t>
                          </m:r>
                          <m:r>
                            <m:rPr>
                              <m:sty m:val="p"/>
                            </m:rPr>
                            <a:rPr lang="en-US" sz="2200">
                              <a:solidFill>
                                <a:srgbClr val="FFFFFF"/>
                              </a:solidFill>
                              <a:latin typeface="Cambria Math" panose="02040503050406030204" pitchFamily="18" charset="0"/>
                            </a:rPr>
                            <m:t xml:space="preserve">)</m:t>
                          </m:r>
                        </m:sup>
                      </m:sSubSup>
                      <m:r>
                        <m:rPr>
                          <m:sty m:val="p"/>
                        </m:rPr>
                        <a:rPr lang="en-US" sz="2200">
                          <a:solidFill>
                            <a:srgbClr val="FFFFFF"/>
                          </a:solidFill>
                          <a:latin typeface="Cambria Math" panose="02040503050406030204" pitchFamily="18" charset="0"/>
                        </a:rPr>
                        <m:t xml:space="preserve">+</m:t>
                      </m:r>
                      <m:sSub>
                        <m:sSubPr>
                          <m:ctrlPr>
                            <a:rPr lang="en-US" sz="2200" i="1">
                              <a:solidFill>
                                <a:srgbClr val="FFFFFF"/>
                              </a:solidFill>
                              <a:latin typeface="Cambria Math" panose="02040503050406030204" pitchFamily="18" charset="0"/>
                            </a:rPr>
                          </m:ctrlPr>
                        </m:sSubPr>
                        <m:e>
                          <m:r>
                            <a:rPr lang="en-US" sz="2200" i="1">
                              <a:solidFill>
                                <a:srgbClr val="FFFFFF"/>
                              </a:solidFill>
                              <a:latin typeface="Cambria Math" panose="02040503050406030204" pitchFamily="18" charset="0"/>
                            </a:rPr>
                            <m:t xml:space="preserve">ε</m:t>
                          </m:r>
                        </m:e>
                        <m:sub>
                          <m:r>
                            <a:rPr lang="en-US" sz="2200" i="1">
                              <a:solidFill>
                                <a:srgbClr val="FFFFFF"/>
                              </a:solidFill>
                              <a:latin typeface="Cambria Math" panose="02040503050406030204" pitchFamily="18" charset="0"/>
                            </a:rPr>
                            <m:t xml:space="preserve">j</m:t>
                          </m:r>
                        </m:sub>
                      </m:sSub>
                    </m:oMath>
                  </m:oMathPara>
                </a14:m>
                <a:endParaRPr lang="en-US" sz="2200"/>
              </a:p>
            </p:txBody>
          </p:sp>
        </mc:Choice>
        <mc:Fallback>
          <p:sp>
            <p:nvSpPr>
              <p:cNvPr id="47" name="Equation"/>
              <p:cNvSpPr txBox="1"/>
              <p:nvPr/>
            </p:nvSpPr>
            <p:spPr>
              <a:xfrm>
                <a:off x="9441180" y="7761986"/>
                <a:ext cx="7635240" cy="960120"/>
              </a:xfrm>
              <a:prstGeom prst="rect">
                <a:avLst/>
              </a:prstGeom>
              <a:blipFill>
                <a:blip r:embed="rId4"/>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48" name="Equation"/>
              <p:cNvSpPr txBox="1"/>
              <p:nvPr/>
            </p:nvSpPr>
            <p:spPr>
              <a:xfrm>
                <a:off x="9441180" y="8712962"/>
                <a:ext cx="7635240" cy="45720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1400" i="1">
                              <a:solidFill>
                                <a:srgbClr val="D6E4F7"/>
                              </a:solidFill>
                              <a:latin typeface="Cambria Math" panose="02040503050406030204" pitchFamily="18" charset="0"/>
                            </a:rPr>
                          </m:ctrlPr>
                        </m:sSubPr>
                        <m:e>
                          <m:r>
                            <a:rPr lang="en-US" sz="1400" i="1">
                              <a:solidFill>
                                <a:srgbClr val="D6E4F7"/>
                              </a:solidFill>
                              <a:latin typeface="Cambria Math" panose="02040503050406030204" pitchFamily="18" charset="0"/>
                            </a:rPr>
                            <m:t xml:space="preserve">w</m:t>
                          </m:r>
                        </m:e>
                        <m:sub>
                          <m:r>
                            <a:rPr lang="en-US" sz="1400" i="1">
                              <a:solidFill>
                                <a:srgbClr val="D6E4F7"/>
                              </a:solidFill>
                              <a:latin typeface="Cambria Math" panose="02040503050406030204" pitchFamily="18" charset="0"/>
                            </a:rPr>
                            <m:t xml:space="preserve">c′</m:t>
                          </m:r>
                        </m:sub>
                      </m:sSub>
                      <m:r>
                        <m:rPr>
                          <m:sty m:val="p"/>
                        </m:rPr>
                        <a:rPr lang="en-US" sz="1400">
                          <a:solidFill>
                            <a:srgbClr val="D6E4F7"/>
                          </a:solidFill>
                          <a:latin typeface="Cambria Math" panose="02040503050406030204" pitchFamily="18" charset="0"/>
                        </a:rPr>
                        <m:t xml:space="preserve">=|</m:t>
                      </m:r>
                      <m:r>
                        <a:rPr lang="en-US" sz="1400" i="1">
                          <a:solidFill>
                            <a:srgbClr val="D6E4F7"/>
                          </a:solidFill>
                          <a:latin typeface="Cambria Math" panose="02040503050406030204" pitchFamily="18" charset="0"/>
                        </a:rPr>
                        <m:t xml:space="preserve">c′</m:t>
                      </m:r>
                      <m:r>
                        <m:rPr>
                          <m:sty m:val="p"/>
                        </m:rPr>
                        <a:rPr lang="en-US" sz="1400">
                          <a:solidFill>
                            <a:srgbClr val="D6E4F7"/>
                          </a:solidFill>
                          <a:latin typeface="Cambria Math" panose="02040503050406030204" pitchFamily="18" charset="0"/>
                        </a:rPr>
                        <m:t xml:space="preserve">| / |</m:t>
                      </m:r>
                      <m:r>
                        <a:rPr lang="en-US" sz="1400" i="1">
                          <a:solidFill>
                            <a:srgbClr val="D6E4F7"/>
                          </a:solidFill>
                          <a:latin typeface="Cambria Math" panose="02040503050406030204" pitchFamily="18" charset="0"/>
                        </a:rPr>
                        <m:t xml:space="preserve">c</m:t>
                      </m:r>
                      <m:r>
                        <m:rPr>
                          <m:sty m:val="p"/>
                        </m:rPr>
                        <a:rPr lang="en-US" sz="1400">
                          <a:solidFill>
                            <a:srgbClr val="D6E4F7"/>
                          </a:solidFill>
                          <a:latin typeface="Cambria Math" panose="02040503050406030204" pitchFamily="18" charset="0"/>
                        </a:rPr>
                        <m:t xml:space="preserve">|,  </m:t>
                      </m:r>
                      <m:sSub>
                        <m:sSubPr>
                          <m:ctrlPr>
                            <a:rPr lang="en-US" sz="1400" i="1">
                              <a:solidFill>
                                <a:srgbClr val="D6E4F7"/>
                              </a:solidFill>
                              <a:latin typeface="Cambria Math" panose="02040503050406030204" pitchFamily="18" charset="0"/>
                            </a:rPr>
                          </m:ctrlPr>
                        </m:sSubPr>
                        <m:e>
                          <m:r>
                            <a:rPr lang="en-US" sz="1400" i="1">
                              <a:solidFill>
                                <a:srgbClr val="D6E4F7"/>
                              </a:solidFill>
                              <a:latin typeface="Cambria Math" panose="02040503050406030204" pitchFamily="18" charset="0"/>
                            </a:rPr>
                            <m:t xml:space="preserve">ε</m:t>
                          </m:r>
                        </m:e>
                        <m:sub>
                          <m:r>
                            <a:rPr lang="en-US" sz="1400" i="1">
                              <a:solidFill>
                                <a:srgbClr val="D6E4F7"/>
                              </a:solidFill>
                              <a:latin typeface="Cambria Math" panose="02040503050406030204" pitchFamily="18" charset="0"/>
                            </a:rPr>
                            <m:t xml:space="preserve">j</m:t>
                          </m:r>
                        </m:sub>
                      </m:sSub>
                      <m:r>
                        <m:rPr>
                          <m:sty m:val="p"/>
                        </m:rPr>
                        <a:rPr lang="en-US" sz="1400">
                          <a:solidFill>
                            <a:srgbClr val="D6E4F7"/>
                          </a:solidFill>
                          <a:latin typeface="Cambria Math" panose="02040503050406030204" pitchFamily="18" charset="0"/>
                        </a:rPr>
                        <m:t xml:space="preserve">→0</m:t>
                      </m:r>
                      <m:r>
                        <m:rPr>
                          <m:nor/>
                        </m:rPr>
                        <a:rPr lang="en-US" sz="1400">
                          <a:solidFill>
                            <a:srgbClr val="D6E4F7"/>
                          </a:solidFill>
                          <a:latin typeface="Cambria Math" panose="02040503050406030204" pitchFamily="18" charset="0"/>
                        </a:rPr>
                        <m:t xml:space="preserve">  under perfect surrogate fidelity</m:t>
                      </m:r>
                    </m:oMath>
                  </m:oMathPara>
                </a14:m>
                <a:endParaRPr lang="en-US" sz="1400"/>
              </a:p>
            </p:txBody>
          </p:sp>
        </mc:Choice>
        <mc:Fallback>
          <p:sp>
            <p:nvSpPr>
              <p:cNvPr id="48" name="Equation"/>
              <p:cNvSpPr txBox="1"/>
              <p:nvPr/>
            </p:nvSpPr>
            <p:spPr>
              <a:xfrm>
                <a:off x="9441180" y="8712962"/>
                <a:ext cx="7635240" cy="457200"/>
              </a:xfrm>
              <a:prstGeom prst="rect">
                <a:avLst/>
              </a:prstGeom>
              <a:blipFill>
                <a:blip r:embed="rId5"/>
                <a:stretch>
                  <a:fillRect/>
                </a:stretch>
              </a:blipFill>
            </p:spPr>
            <p:txBody>
              <a:bodyPr/>
              <a:lstStyle/>
              <a:p>
                <a:endParaRPr lang="en-US"/>
              </a:p>
            </p:txBody>
          </p:sp>
        </mc:Fallback>
      </mc:AlternateContent>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42</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Proposition 6.1: Cross-Level Consistency</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Oval 24"/>
          <p:cNvSpPr/>
          <p:nvPr/>
        </p:nvSpPr>
        <p:spPr>
          <a:xfrm>
            <a:off x="1028700" y="3555746"/>
            <a:ext cx="274320" cy="274320"/>
          </a:xfrm>
          <a:prstGeom prst="ellipse">
            <a:avLst/>
          </a:prstGeom>
          <a:solidFill>
            <a:srgbClr val="1F7A8C"/>
          </a:solidFill>
          <a:ln>
            <a:noFill/>
          </a:ln>
        </p:spPr>
        <p:txBody>
          <a:bodyPr anchor="ctr" rtlCol="false" lIns="0" tIns="0" rIns="0" bIns="0" wrap="square"/>
          <a:lstStyle/>
          <a:p>
            <a:pPr algn="ctr">
              <a:lnSpc>
                <a:spcPts val="2860"/>
              </a:lnSpc>
              <a:spcBef>
                <a:spcPts val="0"/>
              </a:spcBef>
              <a:buNone/>
            </a:pPr>
          </a:p>
        </p:txBody>
      </p:sp>
      <mc:AlternateContent xmlns:mc="http://schemas.openxmlformats.org/markup-compatibility/2006">
        <mc:Choice xmlns:a14="http://schemas.microsoft.com/office/drawing/2010/main" Requires="a14">
          <p:sp>
            <p:nvSpPr>
              <p:cNvPr id="26" name="Equation"/>
              <p:cNvSpPr txBox="1"/>
              <p:nvPr/>
            </p:nvSpPr>
            <p:spPr>
              <a:xfrm>
                <a:off x="1440180" y="3363722"/>
                <a:ext cx="3840480" cy="658368"/>
              </a:xfrm>
              <a:prstGeom prst="rect">
                <a:avLst/>
              </a:prstGeom>
              <a:noFill/>
            </p:spPr>
            <p:txBody>
              <a:bodyPr wrap="none" rtlCol="0" anchor="ctr" lIns="0" tIns="0" rIns="0" bIns="0"/>
              <a:lstStyle/>
              <a:p>
                <a:pPr algn="l"/>
                <a14:m xmlns:m="http://schemas.openxmlformats.org/officeDocument/2006/math">
                  <m:oMathPara>
                    <m:oMathParaPr>
                      <m:jc m:val="left"/>
                    </m:oMathParaPr>
                    <m:oMath>
                      <m:sSubSup>
                        <m:sSubSupPr>
                          <m:ctrlPr>
                            <a:rPr lang="en-US" sz="1800" i="1">
                              <a:solidFill>
                                <a:srgbClr val="4472C4"/>
                              </a:solidFill>
                              <a:latin typeface="Cambria Math" panose="02040503050406030204" pitchFamily="18" charset="0"/>
                            </a:rPr>
                          </m:ctrlPr>
                        </m:sSubSupPr>
                        <m:e>
                          <m:r>
                            <a:rPr lang="en-US" sz="1800" i="1">
                              <a:solidFill>
                                <a:srgbClr val="4472C4"/>
                              </a:solidFill>
                              <a:latin typeface="Cambria Math" panose="02040503050406030204" pitchFamily="18" charset="0"/>
                            </a:rPr>
                            <m:t xml:space="preserve">Φ</m:t>
                          </m:r>
                        </m:e>
                        <m:sub>
                          <m:r>
                            <a:rPr lang="en-US" sz="1800" i="1">
                              <a:solidFill>
                                <a:srgbClr val="4472C4"/>
                              </a:solidFill>
                              <a:latin typeface="Cambria Math" panose="02040503050406030204" pitchFamily="18" charset="0"/>
                            </a:rPr>
                            <m:t xml:space="preserve">j</m:t>
                          </m:r>
                        </m:sub>
                        <m: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l</m:t>
                          </m:r>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c</m:t>
                          </m:r>
                          <m:r>
                            <m:rPr>
                              <m:sty m:val="p"/>
                            </m:rPr>
                            <a:rPr lang="en-US" sz="1800">
                              <a:solidFill>
                                <a:srgbClr val="4472C4"/>
                              </a:solidFill>
                              <a:latin typeface="Cambria Math" panose="02040503050406030204" pitchFamily="18" charset="0"/>
                            </a:rPr>
                            <m:t xml:space="preserve">)</m:t>
                          </m:r>
                        </m:sup>
                      </m:sSubSup>
                      <m:r>
                        <m:rPr>
                          <m:sty m:val="p"/>
                        </m:rPr>
                        <a:rPr lang="en-US" sz="1800">
                          <a:solidFill>
                            <a:srgbClr val="4472C4"/>
                          </a:solidFill>
                          <a:latin typeface="Cambria Math" panose="02040503050406030204" pitchFamily="18" charset="0"/>
                        </a:rPr>
                        <m:t xml:space="preserve">=</m:t>
                      </m:r>
                      <m:sSub>
                        <m:sSubPr>
                          <m:ctrlPr>
                            <a:rPr lang="en-US" sz="1800" i="1">
                              <a:solidFill>
                                <a:srgbClr val="4472C4"/>
                              </a:solidFill>
                              <a:latin typeface="Cambria Math" panose="02040503050406030204" pitchFamily="18" charset="0"/>
                            </a:rPr>
                          </m:ctrlPr>
                        </m:sSubPr>
                        <m:e>
                          <m:r>
                            <m:rPr>
                              <m:scr m:val="double-struck"/>
                              <m:sty m:val="p"/>
                            </m:rPr>
                            <a:rPr lang="en-US" sz="1800">
                              <a:solidFill>
                                <a:srgbClr val="4472C4"/>
                              </a:solidFill>
                              <a:latin typeface="Cambria Math" panose="02040503050406030204" pitchFamily="18" charset="0"/>
                            </a:rPr>
                            <m:t xml:space="preserve">E</m:t>
                          </m:r>
                        </m:e>
                        <m:sub>
                          <m:r>
                            <a:rPr lang="en-US" sz="1800" i="1">
                              <a:solidFill>
                                <a:srgbClr val="4472C4"/>
                              </a:solidFill>
                              <a:latin typeface="Cambria Math" panose="02040503050406030204" pitchFamily="18" charset="0"/>
                            </a:rPr>
                            <m:t xml:space="preserve">x</m:t>
                          </m:r>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c</m:t>
                          </m:r>
                        </m:sub>
                      </m:sSub>
                      <m:d>
                        <m:dPr>
                          <m:begChr m:val="["/>
                          <m:endChr m:val="]"/>
                          <m:ctrlPr>
                            <a:rPr lang="en-US" sz="1800" i="1">
                              <a:solidFill>
                                <a:srgbClr val="4472C4"/>
                              </a:solidFill>
                              <a:latin typeface="Cambria Math" panose="02040503050406030204" pitchFamily="18" charset="0"/>
                            </a:rPr>
                          </m:ctrlPr>
                        </m:dPr>
                        <m:e>
                          <m:r>
                            <m:rPr>
                              <m:sty m:val="p"/>
                            </m:rPr>
                            <a:rPr lang="en-US" sz="1800">
                              <a:solidFill>
                                <a:srgbClr val="4472C4"/>
                              </a:solidFill>
                              <a:latin typeface="Cambria Math" panose="02040503050406030204" pitchFamily="18" charset="0"/>
                            </a:rPr>
                            <m:t xml:space="preserve"> </m:t>
                          </m:r>
                          <m:d>
                            <m:dPr>
                              <m:begChr m:val="|"/>
                              <m:endChr m:val="|"/>
                              <m:ctrlPr>
                                <a:rPr lang="en-US" sz="1800" i="1">
                                  <a:solidFill>
                                    <a:srgbClr val="4472C4"/>
                                  </a:solidFill>
                                  <a:latin typeface="Cambria Math" panose="02040503050406030204" pitchFamily="18" charset="0"/>
                                </a:rPr>
                              </m:ctrlPr>
                            </m:dPr>
                            <m:e>
                              <m:sSubSup>
                                <m:sSubSupPr>
                                  <m:ctrlPr>
                                    <a:rPr lang="en-US" sz="1800" i="1">
                                      <a:solidFill>
                                        <a:srgbClr val="4472C4"/>
                                      </a:solidFill>
                                      <a:latin typeface="Cambria Math" panose="02040503050406030204" pitchFamily="18" charset="0"/>
                                    </a:rPr>
                                  </m:ctrlPr>
                                </m:sSubSupPr>
                                <m:e>
                                  <m:r>
                                    <a:rPr lang="en-US" sz="1800" i="1">
                                      <a:solidFill>
                                        <a:srgbClr val="4472C4"/>
                                      </a:solidFill>
                                      <a:latin typeface="Cambria Math" panose="02040503050406030204" pitchFamily="18" charset="0"/>
                                    </a:rPr>
                                    <m:t xml:space="preserve">φ</m:t>
                                  </m:r>
                                </m:e>
                                <m:sub>
                                  <m:r>
                                    <a:rPr lang="en-US" sz="1800" i="1">
                                      <a:solidFill>
                                        <a:srgbClr val="4472C4"/>
                                      </a:solidFill>
                                      <a:latin typeface="Cambria Math" panose="02040503050406030204" pitchFamily="18" charset="0"/>
                                    </a:rPr>
                                    <m:t xml:space="preserve">j</m:t>
                                  </m:r>
                                </m:sub>
                                <m: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l</m:t>
                                  </m:r>
                                  <m:r>
                                    <m:rPr>
                                      <m:sty m:val="p"/>
                                    </m:rPr>
                                    <a:rPr lang="en-US" sz="1800">
                                      <a:solidFill>
                                        <a:srgbClr val="4472C4"/>
                                      </a:solidFill>
                                      <a:latin typeface="Cambria Math" panose="02040503050406030204" pitchFamily="18" charset="0"/>
                                    </a:rPr>
                                    <m:t xml:space="preserve">)</m:t>
                                  </m:r>
                                </m:sup>
                              </m:sSubSup>
                              <m:r>
                                <m:rPr>
                                  <m:sty m:val="p"/>
                                </m:rPr>
                                <a:rPr lang="en-US" sz="1800">
                                  <a:solidFill>
                                    <a:srgbClr val="4472C4"/>
                                  </a:solidFill>
                                  <a:latin typeface="Cambria Math" panose="02040503050406030204" pitchFamily="18" charset="0"/>
                                </a:rPr>
                                <m:t xml:space="preserve">(</m:t>
                              </m:r>
                              <m:r>
                                <a:rPr lang="en-US" sz="1800" i="1">
                                  <a:solidFill>
                                    <a:srgbClr val="4472C4"/>
                                  </a:solidFill>
                                  <a:latin typeface="Cambria Math" panose="02040503050406030204" pitchFamily="18" charset="0"/>
                                </a:rPr>
                                <m:t xml:space="preserve">x</m:t>
                              </m:r>
                              <m:r>
                                <m:rPr>
                                  <m:sty m:val="p"/>
                                </m:rPr>
                                <a:rPr lang="en-US" sz="1800">
                                  <a:solidFill>
                                    <a:srgbClr val="4472C4"/>
                                  </a:solidFill>
                                  <a:latin typeface="Cambria Math" panose="02040503050406030204" pitchFamily="18" charset="0"/>
                                </a:rPr>
                                <m:t xml:space="preserve">)</m:t>
                              </m:r>
                            </m:e>
                          </m:d>
                          <m:r>
                            <m:rPr>
                              <m:sty m:val="p"/>
                            </m:rPr>
                            <a:rPr lang="en-US" sz="1800">
                              <a:solidFill>
                                <a:srgbClr val="4472C4"/>
                              </a:solidFill>
                              <a:latin typeface="Cambria Math" panose="02040503050406030204" pitchFamily="18" charset="0"/>
                            </a:rPr>
                            <m:t xml:space="preserve"> </m:t>
                          </m:r>
                        </m:e>
                      </m:d>
                    </m:oMath>
                  </m:oMathPara>
                </a14:m>
                <a:endParaRPr lang="en-US" sz="1800"/>
              </a:p>
            </p:txBody>
          </p:sp>
        </mc:Choice>
        <mc:Fallback>
          <p:sp>
            <p:nvSpPr>
              <p:cNvPr id="26" name="Equation"/>
              <p:cNvSpPr txBox="1"/>
              <p:nvPr/>
            </p:nvSpPr>
            <p:spPr>
              <a:xfrm>
                <a:off x="1440180" y="3363722"/>
                <a:ext cx="3840480" cy="658368"/>
              </a:xfrm>
              <a:prstGeom prst="rect">
                <a:avLst/>
              </a:prstGeom>
              <a:blipFill>
                <a:blip r:embed="rId4"/>
                <a:stretch>
                  <a:fillRect/>
                </a:stretch>
              </a:blipFill>
            </p:spPr>
            <p:txBody>
              <a:bodyPr/>
              <a:lstStyle/>
              <a:p>
                <a:endParaRPr lang="en-US"/>
              </a:p>
            </p:txBody>
          </p:sp>
        </mc:Fallback>
      </mc:AlternateContent>
      <p:sp>
        <p:nvSpPr>
          <p:cNvPr id="27" name="TextBox 26"/>
          <p:cNvSpPr txBox="1"/>
          <p:nvPr/>
        </p:nvSpPr>
        <p:spPr>
          <a:xfrm>
            <a:off x="5463540" y="3363722"/>
            <a:ext cx="3794760" cy="658368"/>
          </a:xfrm>
          <a:prstGeom prst="rect">
            <a:avLst/>
          </a:prstGeom>
          <a:noFill/>
        </p:spPr>
        <p:txBody>
          <a:bodyPr anchor="ctr" rtlCol="false" lIns="0" tIns="0" rIns="0" bIns="0" wrap="square"/>
          <a:lstStyle/>
          <a:p>
            <a:pPr algn="l">
              <a:lnSpc>
                <a:spcPts val="2100"/>
              </a:lnSpc>
              <a:spcBef>
                <a:spcPts val="0"/>
              </a:spcBef>
              <a:buNone/>
            </a:pPr>
            <a:r>
              <a:rPr lang="en-US" sz="1700" b="true">
                <a:solidFill>
                  <a:srgbClr val="111111"/>
                </a:solidFill>
                <a:latin typeface="Nunito Semi-Bold"/>
                <a:ea typeface="Nunito Semi-Bold"/>
                <a:cs typeface="Nunito Semi-Bold"/>
                <a:sym typeface="Nunito Semi-Bold"/>
              </a:rPr>
              <a:t>expected absolute SHAP importance of feature j at level l in cluster c</a:t>
            </a:r>
          </a:p>
        </p:txBody>
      </p:sp>
      <p:sp>
        <p:nvSpPr>
          <p:cNvPr id="28" name="Oval 27"/>
          <p:cNvSpPr/>
          <p:nvPr/>
        </p:nvSpPr>
        <p:spPr>
          <a:xfrm>
            <a:off x="1028700" y="4287266"/>
            <a:ext cx="274320" cy="274320"/>
          </a:xfrm>
          <a:prstGeom prst="ellipse">
            <a:avLst/>
          </a:prstGeom>
          <a:solidFill>
            <a:srgbClr val="1F7A8C"/>
          </a:solidFill>
          <a:ln>
            <a:noFill/>
          </a:ln>
        </p:spPr>
        <p:txBody>
          <a:bodyPr anchor="ctr" rtlCol="false" lIns="0" tIns="0" rIns="0" bIns="0" wrap="square"/>
          <a:lstStyle/>
          <a:p>
            <a:pPr algn="ctr">
              <a:lnSpc>
                <a:spcPts val="2860"/>
              </a:lnSpc>
              <a:spcBef>
                <a:spcPts val="0"/>
              </a:spcBef>
              <a:buNone/>
            </a:pPr>
          </a:p>
        </p:txBody>
      </p:sp>
      <mc:AlternateContent xmlns:mc="http://schemas.openxmlformats.org/markup-compatibility/2006">
        <mc:Choice xmlns:a14="http://schemas.microsoft.com/office/drawing/2010/main" Requires="a14">
          <p:sp>
            <p:nvSpPr>
              <p:cNvPr id="29" name="Equation"/>
              <p:cNvSpPr txBox="1"/>
              <p:nvPr/>
            </p:nvSpPr>
            <p:spPr>
              <a:xfrm>
                <a:off x="1440180" y="4095242"/>
                <a:ext cx="3840480" cy="658368"/>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100" i="1">
                              <a:solidFill>
                                <a:srgbClr val="4472C4"/>
                              </a:solidFill>
                              <a:latin typeface="Cambria Math" panose="02040503050406030204" pitchFamily="18" charset="0"/>
                            </a:rPr>
                          </m:ctrlPr>
                        </m:sSubPr>
                        <m:e>
                          <m:r>
                            <a:rPr lang="en-US" sz="2100" i="1">
                              <a:solidFill>
                                <a:srgbClr val="4472C4"/>
                              </a:solidFill>
                              <a:latin typeface="Cambria Math" panose="02040503050406030204" pitchFamily="18" charset="0"/>
                            </a:rPr>
                            <m:t xml:space="preserve">w</m:t>
                          </m:r>
                        </m:e>
                        <m:sub>
                          <m:r>
                            <a:rPr lang="en-US" sz="2100" i="1">
                              <a:solidFill>
                                <a:srgbClr val="4472C4"/>
                              </a:solidFill>
                              <a:latin typeface="Cambria Math" panose="02040503050406030204" pitchFamily="18" charset="0"/>
                            </a:rPr>
                            <m:t xml:space="preserve">c′</m:t>
                          </m:r>
                        </m:sub>
                      </m:sSub>
                      <m:r>
                        <m:rPr>
                          <m:sty m:val="p"/>
                        </m:rPr>
                        <a:rPr lang="en-US" sz="2100">
                          <a:solidFill>
                            <a:srgbClr val="4472C4"/>
                          </a:solidFill>
                          <a:latin typeface="Cambria Math" panose="02040503050406030204" pitchFamily="18" charset="0"/>
                        </a:rPr>
                        <m:t xml:space="preserve">=|</m:t>
                      </m:r>
                      <m:r>
                        <a:rPr lang="en-US" sz="2100" i="1">
                          <a:solidFill>
                            <a:srgbClr val="4472C4"/>
                          </a:solidFill>
                          <a:latin typeface="Cambria Math" panose="02040503050406030204" pitchFamily="18" charset="0"/>
                        </a:rPr>
                        <m:t xml:space="preserve">c′</m:t>
                      </m:r>
                      <m:r>
                        <m:rPr>
                          <m:sty m:val="p"/>
                        </m:rPr>
                        <a:rPr lang="en-US" sz="2100">
                          <a:solidFill>
                            <a:srgbClr val="4472C4"/>
                          </a:solidFill>
                          <a:latin typeface="Cambria Math" panose="02040503050406030204" pitchFamily="18" charset="0"/>
                        </a:rPr>
                        <m:t xml:space="preserve">| / |</m:t>
                      </m:r>
                      <m:r>
                        <a:rPr lang="en-US" sz="2100" i="1">
                          <a:solidFill>
                            <a:srgbClr val="4472C4"/>
                          </a:solidFill>
                          <a:latin typeface="Cambria Math" panose="02040503050406030204" pitchFamily="18" charset="0"/>
                        </a:rPr>
                        <m:t xml:space="preserve">c</m:t>
                      </m:r>
                      <m:r>
                        <m:rPr>
                          <m:sty m:val="p"/>
                        </m:rPr>
                        <a:rPr lang="en-US" sz="2100">
                          <a:solidFill>
                            <a:srgbClr val="4472C4"/>
                          </a:solidFill>
                          <a:latin typeface="Cambria Math" panose="02040503050406030204" pitchFamily="18" charset="0"/>
                        </a:rPr>
                        <m:t xml:space="preserve">|</m:t>
                      </m:r>
                    </m:oMath>
                  </m:oMathPara>
                </a14:m>
                <a:endParaRPr lang="en-US" sz="2100"/>
              </a:p>
            </p:txBody>
          </p:sp>
        </mc:Choice>
        <mc:Fallback>
          <p:sp>
            <p:nvSpPr>
              <p:cNvPr id="29" name="Equation"/>
              <p:cNvSpPr txBox="1"/>
              <p:nvPr/>
            </p:nvSpPr>
            <p:spPr>
              <a:xfrm>
                <a:off x="1440180" y="4095242"/>
                <a:ext cx="3840480" cy="658368"/>
              </a:xfrm>
              <a:prstGeom prst="rect">
                <a:avLst/>
              </a:prstGeom>
              <a:blipFill>
                <a:blip r:embed="rId5"/>
                <a:stretch>
                  <a:fillRect/>
                </a:stretch>
              </a:blipFill>
            </p:spPr>
            <p:txBody>
              <a:bodyPr/>
              <a:lstStyle/>
              <a:p>
                <a:endParaRPr lang="en-US"/>
              </a:p>
            </p:txBody>
          </p:sp>
        </mc:Fallback>
      </mc:AlternateContent>
      <p:sp>
        <p:nvSpPr>
          <p:cNvPr id="30" name="TextBox 29"/>
          <p:cNvSpPr txBox="1"/>
          <p:nvPr/>
        </p:nvSpPr>
        <p:spPr>
          <a:xfrm>
            <a:off x="5463540" y="4095242"/>
            <a:ext cx="3794760" cy="658368"/>
          </a:xfrm>
          <a:prstGeom prst="rect">
            <a:avLst/>
          </a:prstGeom>
          <a:noFill/>
        </p:spPr>
        <p:txBody>
          <a:bodyPr anchor="ctr" rtlCol="false" lIns="0" tIns="0" rIns="0" bIns="0" wrap="square"/>
          <a:lstStyle/>
          <a:p>
            <a:pPr algn="l">
              <a:lnSpc>
                <a:spcPts val="2100"/>
              </a:lnSpc>
              <a:spcBef>
                <a:spcPts val="0"/>
              </a:spcBef>
              <a:buNone/>
            </a:pPr>
            <a:r>
              <a:rPr lang="en-US" sz="1700" b="true">
                <a:solidFill>
                  <a:srgbClr val="111111"/>
                </a:solidFill>
                <a:latin typeface="Nunito Semi-Bold"/>
                <a:ea typeface="Nunito Semi-Bold"/>
                <a:cs typeface="Nunito Semi-Bold"/>
                <a:sym typeface="Nunito Semi-Bold"/>
              </a:rPr>
              <a:t>relative size of child c′ within parent c</a:t>
            </a:r>
          </a:p>
        </p:txBody>
      </p:sp>
      <p:sp>
        <p:nvSpPr>
          <p:cNvPr id="31" name="TextBox 30"/>
          <p:cNvSpPr txBox="1"/>
          <p:nvPr/>
        </p:nvSpPr>
        <p:spPr>
          <a:xfrm>
            <a:off x="1028700" y="4936490"/>
            <a:ext cx="8229600" cy="365760"/>
          </a:xfrm>
          <a:prstGeom prst="rect">
            <a:avLst/>
          </a:prstGeom>
          <a:noFill/>
        </p:spPr>
        <p:txBody>
          <a:bodyPr anchor="t" rtlCol="false" lIns="0" tIns="0" rIns="0" bIns="0" wrap="square"/>
          <a:lstStyle/>
          <a:p>
            <a:pPr algn="l">
              <a:lnSpc>
                <a:spcPts val="2700"/>
              </a:lnSpc>
              <a:spcBef>
                <a:spcPts val="0"/>
              </a:spcBef>
              <a:buNone/>
            </a:pPr>
            <a:r>
              <a:rPr lang="en-US" sz="2100" b="true">
                <a:solidFill>
                  <a:srgbClr val="111111"/>
                </a:solidFill>
                <a:latin typeface="Nunito Semi-Bold"/>
                <a:ea typeface="Nunito Semi-Bold"/>
                <a:cs typeface="Nunito Semi-Bold"/>
                <a:sym typeface="Nunito Semi-Bold"/>
              </a:rPr>
              <a:t>For a </a:t>
            </a:r>
            <a:r>
              <a:rPr lang="en-US" sz="2100" b="true">
                <a:solidFill>
                  <a:srgbClr val="111111"/>
                </a:solidFill>
                <a:latin typeface="Nunito Bold"/>
                <a:ea typeface="Nunito Bold"/>
                <a:cs typeface="Nunito Bold"/>
                <a:sym typeface="Nunito Bold"/>
              </a:rPr>
              <a:t>strict nested hierarchy</a:t>
            </a:r>
            <a:r>
              <a:rPr lang="en-US" sz="2100" b="true">
                <a:solidFill>
                  <a:srgbClr val="111111"/>
                </a:solidFill>
                <a:latin typeface="Nunito Semi-Bold"/>
                <a:ea typeface="Nunito Semi-Bold"/>
                <a:cs typeface="Nunito Semi-Bold"/>
                <a:sym typeface="Nunito Semi-Bold"/>
              </a:rPr>
              <a:t> on a consistent feature space:</a:t>
            </a:r>
          </a:p>
        </p:txBody>
      </p:sp>
      <p:sp>
        <p:nvSpPr>
          <p:cNvPr id="32" name="Rounded Rectangle 31"/>
          <p:cNvSpPr/>
          <p:nvPr/>
        </p:nvSpPr>
        <p:spPr>
          <a:xfrm>
            <a:off x="1028700" y="5393690"/>
            <a:ext cx="8229600" cy="1508760"/>
          </a:xfrm>
          <a:prstGeom prst="roundRect">
            <a:avLst>
              <a:gd name="adj" fmla="val 12121"/>
            </a:avLst>
          </a:prstGeom>
          <a:solidFill>
            <a:srgbClr val="D9E2F3"/>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3" name="Equation"/>
              <p:cNvSpPr txBox="1"/>
              <p:nvPr/>
            </p:nvSpPr>
            <p:spPr>
              <a:xfrm>
                <a:off x="1211580" y="5393690"/>
                <a:ext cx="7863840" cy="150876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550" i="1">
                              <a:solidFill>
                                <a:srgbClr val="4472C4"/>
                              </a:solidFill>
                              <a:latin typeface="Cambria Math" panose="02040503050406030204" pitchFamily="18" charset="0"/>
                            </a:rPr>
                          </m:ctrlPr>
                        </m:sSubSupPr>
                        <m:e>
                          <m:r>
                            <a:rPr lang="en-US" sz="2550" i="1">
                              <a:solidFill>
                                <a:srgbClr val="4472C4"/>
                              </a:solidFill>
                              <a:latin typeface="Cambria Math" panose="02040503050406030204" pitchFamily="18" charset="0"/>
                            </a:rPr>
                            <m:t xml:space="preserve">Φ</m:t>
                          </m:r>
                        </m:e>
                        <m:sub>
                          <m:r>
                            <a:rPr lang="en-US" sz="2550" i="1">
                              <a:solidFill>
                                <a:srgbClr val="4472C4"/>
                              </a:solidFill>
                              <a:latin typeface="Cambria Math" panose="02040503050406030204" pitchFamily="18" charset="0"/>
                            </a:rPr>
                            <m:t xml:space="preserve">j</m:t>
                          </m:r>
                        </m:sub>
                        <m:sup>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l</m:t>
                          </m:r>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p>
                      </m:sSubSup>
                      <m:r>
                        <m:rPr>
                          <m:sty m:val="p"/>
                        </m:rPr>
                        <a:rPr lang="en-US" sz="2550">
                          <a:solidFill>
                            <a:srgbClr val="4472C4"/>
                          </a:solidFill>
                          <a:latin typeface="Cambria Math" panose="02040503050406030204" pitchFamily="18" charset="0"/>
                        </a:rPr>
                        <m:t xml:space="preserve">=</m:t>
                      </m:r>
                      <m:nary>
                        <m:naryPr>
                          <m:chr m:val="∑"/>
                          <m:limLoc m:val="undOvr"/>
                          <m:supHide m:val="1"/>
                          <m:ctrlPr>
                            <a:rPr lang="en-US" sz="2550" i="1">
                              <a:solidFill>
                                <a:srgbClr val="4472C4"/>
                              </a:solidFill>
                              <a:latin typeface="Cambria Math" panose="02040503050406030204" pitchFamily="18" charset="0"/>
                            </a:rPr>
                          </m:ctrlPr>
                        </m:naryPr>
                        <m:sub>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∈child(</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b>
                        <m:sup/>
                        <m:e>
                          <m:sSub>
                            <m:sSubPr>
                              <m:ctrlPr>
                                <a:rPr lang="en-US" sz="2550" i="1">
                                  <a:solidFill>
                                    <a:srgbClr val="4472C4"/>
                                  </a:solidFill>
                                  <a:latin typeface="Cambria Math" panose="02040503050406030204" pitchFamily="18" charset="0"/>
                                </a:rPr>
                              </m:ctrlPr>
                            </m:sSubPr>
                            <m:e>
                              <m:r>
                                <a:rPr lang="en-US" sz="2550" i="1">
                                  <a:solidFill>
                                    <a:srgbClr val="4472C4"/>
                                  </a:solidFill>
                                  <a:latin typeface="Cambria Math" panose="02040503050406030204" pitchFamily="18" charset="0"/>
                                </a:rPr>
                                <m:t xml:space="preserve">w</m:t>
                              </m:r>
                            </m:e>
                            <m:sub>
                              <m:r>
                                <a:rPr lang="en-US" sz="2550" i="1">
                                  <a:solidFill>
                                    <a:srgbClr val="4472C4"/>
                                  </a:solidFill>
                                  <a:latin typeface="Cambria Math" panose="02040503050406030204" pitchFamily="18" charset="0"/>
                                </a:rPr>
                                <m:t xml:space="preserve">c′</m:t>
                              </m:r>
                            </m:sub>
                          </m:sSub>
                        </m:e>
                      </m:nary>
                      <m:r>
                        <m:rPr>
                          <m:sty m:val="p"/>
                        </m:rPr>
                        <a:rPr lang="en-US" sz="2550">
                          <a:solidFill>
                            <a:srgbClr val="4472C4"/>
                          </a:solidFill>
                          <a:latin typeface="Cambria Math" panose="02040503050406030204" pitchFamily="18" charset="0"/>
                        </a:rPr>
                        <m:t xml:space="preserve"> </m:t>
                      </m:r>
                      <m:sSubSup>
                        <m:sSubSupPr>
                          <m:ctrlPr>
                            <a:rPr lang="en-US" sz="2550" i="1">
                              <a:solidFill>
                                <a:srgbClr val="4472C4"/>
                              </a:solidFill>
                              <a:latin typeface="Cambria Math" panose="02040503050406030204" pitchFamily="18" charset="0"/>
                            </a:rPr>
                          </m:ctrlPr>
                        </m:sSubSupPr>
                        <m:e>
                          <m:r>
                            <a:rPr lang="en-US" sz="2550" i="1">
                              <a:solidFill>
                                <a:srgbClr val="4472C4"/>
                              </a:solidFill>
                              <a:latin typeface="Cambria Math" panose="02040503050406030204" pitchFamily="18" charset="0"/>
                            </a:rPr>
                            <m:t xml:space="preserve">Φ</m:t>
                          </m:r>
                        </m:e>
                        <m:sub>
                          <m:r>
                            <a:rPr lang="en-US" sz="2550" i="1">
                              <a:solidFill>
                                <a:srgbClr val="4472C4"/>
                              </a:solidFill>
                              <a:latin typeface="Cambria Math" panose="02040503050406030204" pitchFamily="18" charset="0"/>
                            </a:rPr>
                            <m:t xml:space="preserve">j</m:t>
                          </m:r>
                        </m:sub>
                        <m:sup>
                          <m:r>
                            <m:rPr>
                              <m:sty m:val="p"/>
                            </m:rPr>
                            <a:rPr lang="en-US" sz="2550">
                              <a:solidFill>
                                <a:srgbClr val="4472C4"/>
                              </a:solidFill>
                              <a:latin typeface="Cambria Math" panose="02040503050406030204" pitchFamily="18" charset="0"/>
                            </a:rPr>
                            <m:t xml:space="preserve">(</m:t>
                          </m:r>
                          <m:r>
                            <a:rPr lang="en-US" sz="2550" i="1">
                              <a:solidFill>
                                <a:srgbClr val="4472C4"/>
                              </a:solidFill>
                              <a:latin typeface="Cambria Math" panose="02040503050406030204" pitchFamily="18" charset="0"/>
                            </a:rPr>
                            <m:t xml:space="preserve">l</m:t>
                          </m:r>
                          <m:r>
                            <m:rPr>
                              <m:sty m:val="p"/>
                            </m:rPr>
                            <a:rPr lang="en-US" sz="2550">
                              <a:solidFill>
                                <a:srgbClr val="4472C4"/>
                              </a:solidFill>
                              <a:latin typeface="Cambria Math" panose="02040503050406030204" pitchFamily="18" charset="0"/>
                            </a:rPr>
                            <m:t xml:space="preserve">+1, </m:t>
                          </m:r>
                          <m:r>
                            <a:rPr lang="en-US" sz="2550" i="1">
                              <a:solidFill>
                                <a:srgbClr val="4472C4"/>
                              </a:solidFill>
                              <a:latin typeface="Cambria Math" panose="02040503050406030204" pitchFamily="18" charset="0"/>
                            </a:rPr>
                            <m:t xml:space="preserve">c′</m:t>
                          </m:r>
                          <m:r>
                            <m:rPr>
                              <m:sty m:val="p"/>
                            </m:rPr>
                            <a:rPr lang="en-US" sz="2550">
                              <a:solidFill>
                                <a:srgbClr val="4472C4"/>
                              </a:solidFill>
                              <a:latin typeface="Cambria Math" panose="02040503050406030204" pitchFamily="18" charset="0"/>
                            </a:rPr>
                            <m:t xml:space="preserve">)</m:t>
                          </m:r>
                        </m:sup>
                      </m:sSubSup>
                      <m:r>
                        <m:rPr>
                          <m:sty m:val="p"/>
                        </m:rPr>
                        <a:rPr lang="en-US" sz="2550">
                          <a:solidFill>
                            <a:srgbClr val="4472C4"/>
                          </a:solidFill>
                          <a:latin typeface="Cambria Math" panose="02040503050406030204" pitchFamily="18" charset="0"/>
                        </a:rPr>
                        <m:t xml:space="preserve">+</m:t>
                      </m:r>
                      <m:sSub>
                        <m:sSubPr>
                          <m:ctrlPr>
                            <a:rPr lang="en-US" sz="2550" i="1">
                              <a:solidFill>
                                <a:srgbClr val="4472C4"/>
                              </a:solidFill>
                              <a:latin typeface="Cambria Math" panose="02040503050406030204" pitchFamily="18" charset="0"/>
                            </a:rPr>
                          </m:ctrlPr>
                        </m:sSubPr>
                        <m:e>
                          <m:r>
                            <a:rPr lang="en-US" sz="2550" i="1">
                              <a:solidFill>
                                <a:srgbClr val="4472C4"/>
                              </a:solidFill>
                              <a:latin typeface="Cambria Math" panose="02040503050406030204" pitchFamily="18" charset="0"/>
                            </a:rPr>
                            <m:t xml:space="preserve">ε</m:t>
                          </m:r>
                        </m:e>
                        <m:sub>
                          <m:r>
                            <a:rPr lang="en-US" sz="2550" i="1">
                              <a:solidFill>
                                <a:srgbClr val="4472C4"/>
                              </a:solidFill>
                              <a:latin typeface="Cambria Math" panose="02040503050406030204" pitchFamily="18" charset="0"/>
                            </a:rPr>
                            <m:t xml:space="preserve">j</m:t>
                          </m:r>
                        </m:sub>
                      </m:sSub>
                    </m:oMath>
                  </m:oMathPara>
                </a14:m>
                <a:endParaRPr lang="en-US" sz="2550"/>
              </a:p>
            </p:txBody>
          </p:sp>
        </mc:Choice>
        <mc:Fallback>
          <p:sp>
            <p:nvSpPr>
              <p:cNvPr id="33" name="Equation"/>
              <p:cNvSpPr txBox="1"/>
              <p:nvPr/>
            </p:nvSpPr>
            <p:spPr>
              <a:xfrm>
                <a:off x="1211580" y="5393690"/>
                <a:ext cx="7863840" cy="1508760"/>
              </a:xfrm>
              <a:prstGeom prst="rect">
                <a:avLst/>
              </a:prstGeom>
              <a:blipFill>
                <a:blip r:embed="rId6"/>
                <a:stretch>
                  <a:fillRect/>
                </a:stretch>
              </a:blipFill>
            </p:spPr>
            <p:txBody>
              <a:bodyPr/>
              <a:lstStyle/>
              <a:p>
                <a:endParaRPr lang="en-US"/>
              </a:p>
            </p:txBody>
          </p:sp>
        </mc:Fallback>
      </mc:AlternateContent>
      <p:sp>
        <p:nvSpPr>
          <p:cNvPr id="34" name="TextBox 33"/>
          <p:cNvSpPr txBox="1"/>
          <p:nvPr/>
        </p:nvSpPr>
        <p:spPr>
          <a:xfrm>
            <a:off x="1028700" y="7131050"/>
            <a:ext cx="8229600" cy="2177542"/>
          </a:xfrm>
          <a:prstGeom prst="rect">
            <a:avLst/>
          </a:prstGeom>
          <a:noFill/>
        </p:spPr>
        <p:txBody>
          <a:bodyPr anchor="t" rtlCol="false" lIns="0" tIns="0" rIns="0" bIns="0" wrap="square"/>
          <a:lstStyle/>
          <a:p>
            <a:pPr algn="l" marL="274320" indent="-274320">
              <a:lnSpc>
                <a:spcPts val="2782"/>
              </a:lnSpc>
              <a:spcBef>
                <a:spcPts val="0"/>
              </a:spcBef>
              <a:buClr>
                <a:srgbClr val="1F7A8C"/>
              </a:buClr>
              <a:buSzPct val="100000"/>
              <a:buFont typeface="Arial"/>
              <a:buChar char="•"/>
            </a:pPr>
            <a:r>
              <a:rPr lang="en-US" sz="1880" b="true">
                <a:solidFill>
                  <a:srgbClr val="111111"/>
                </a:solidFill>
                <a:latin typeface="Calibri"/>
                <a:ea typeface="Calibri"/>
                <a:cs typeface="Calibri"/>
                <a:sym typeface="Calibri"/>
              </a:rPr>
              <a:t>ε</a:t>
            </a:r>
            <a:r>
              <a:rPr lang="en-US" sz="1880" b="true" baseline="-25000">
                <a:solidFill>
                  <a:srgbClr val="111111"/>
                </a:solidFill>
                <a:latin typeface="Nunito Bold"/>
                <a:ea typeface="Nunito Bold"/>
                <a:cs typeface="Nunito Bold"/>
                <a:sym typeface="Nunito Bold"/>
              </a:rPr>
              <a:t>j</a:t>
            </a:r>
            <a:r>
              <a:rPr lang="en-US" sz="1880" b="true">
                <a:solidFill>
                  <a:srgbClr val="111111"/>
                </a:solidFill>
                <a:latin typeface="Nunito Semi-Bold"/>
                <a:ea typeface="Nunito Semi-Bold"/>
                <a:cs typeface="Nunito Semi-Bold"/>
                <a:sym typeface="Nunito Semi-Bold"/>
              </a:rPr>
              <a:t> is a residual from surrogate mismatch; it vanishes under perfect fidelity.</a:t>
            </a:r>
          </a:p>
          <a:p>
            <a:pPr algn="l" marL="274320" indent="-274320">
              <a:lnSpc>
                <a:spcPts val="2632"/>
              </a:lnSpc>
              <a:spcBef>
                <a:spcPts val="940"/>
              </a:spcBef>
              <a:buClr>
                <a:srgbClr val="1F7A8C"/>
              </a:buClr>
              <a:buSzPct val="100000"/>
              <a:buFont typeface="Arial"/>
              <a:buChar char="•"/>
            </a:pPr>
            <a:r>
              <a:rPr lang="en-US" sz="1880" b="true">
                <a:solidFill>
                  <a:srgbClr val="111111"/>
                </a:solidFill>
                <a:latin typeface="Nunito Semi-Bold"/>
                <a:ea typeface="Nunito Semi-Bold"/>
                <a:cs typeface="Nunito Semi-Bold"/>
                <a:sym typeface="Nunito Semi-Bold"/>
              </a:rPr>
              <a:t>Derived via the </a:t>
            </a:r>
            <a:r>
              <a:rPr lang="en-US" sz="1880" b="true">
                <a:solidFill>
                  <a:srgbClr val="111111"/>
                </a:solidFill>
                <a:latin typeface="Nunito Bold"/>
                <a:ea typeface="Nunito Bold"/>
                <a:cs typeface="Nunito Bold"/>
                <a:sym typeface="Nunito Bold"/>
              </a:rPr>
              <a:t>law of total expectation</a:t>
            </a:r>
            <a:r>
              <a:rPr lang="en-US" sz="1880" b="true">
                <a:solidFill>
                  <a:srgbClr val="111111"/>
                </a:solidFill>
                <a:latin typeface="Nunito Semi-Bold"/>
                <a:ea typeface="Nunito Semi-Bold"/>
                <a:cs typeface="Nunito Semi-Bold"/>
                <a:sym typeface="Nunito Semi-Bold"/>
              </a:rPr>
              <a:t> (children partition the parent).</a:t>
            </a:r>
          </a:p>
          <a:p>
            <a:pPr algn="l" marL="274320" indent="-274320">
              <a:lnSpc>
                <a:spcPts val="2632"/>
              </a:lnSpc>
              <a:spcBef>
                <a:spcPts val="940"/>
              </a:spcBef>
              <a:buClr>
                <a:srgbClr val="1F7A8C"/>
              </a:buClr>
              <a:buSzPct val="100000"/>
              <a:buFont typeface="Arial"/>
              <a:buChar char="•"/>
            </a:pPr>
            <a:r>
              <a:rPr lang="en-US" sz="1880" b="true">
                <a:solidFill>
                  <a:srgbClr val="111111"/>
                </a:solidFill>
                <a:latin typeface="Nunito Semi-Bold"/>
                <a:ea typeface="Nunito Semi-Bold"/>
                <a:cs typeface="Nunito Semi-Bold"/>
                <a:sym typeface="Nunito Semi-Bold"/>
              </a:rPr>
              <a:t>Does </a:t>
            </a:r>
            <a:r>
              <a:rPr lang="en-US" sz="1880" b="true">
                <a:solidFill>
                  <a:srgbClr val="111111"/>
                </a:solidFill>
                <a:latin typeface="Nunito Bold"/>
                <a:ea typeface="Nunito Bold"/>
                <a:cs typeface="Nunito Bold"/>
                <a:sym typeface="Nunito Bold"/>
              </a:rPr>
              <a:t>NOT</a:t>
            </a:r>
            <a:r>
              <a:rPr lang="en-US" sz="1880" b="true">
                <a:solidFill>
                  <a:srgbClr val="111111"/>
                </a:solidFill>
                <a:latin typeface="Nunito Semi-Bold"/>
                <a:ea typeface="Nunito Semi-Bold"/>
                <a:cs typeface="Nunito Semi-Bold"/>
                <a:sym typeface="Nunito Semi-Bold"/>
              </a:rPr>
              <a:t> mean explanations are identical across levels. It means differences can be </a:t>
            </a:r>
            <a:r>
              <a:rPr lang="en-US" sz="1880" b="true">
                <a:solidFill>
                  <a:srgbClr val="111111"/>
                </a:solidFill>
                <a:latin typeface="Nunito Bold"/>
                <a:ea typeface="Nunito Bold"/>
                <a:cs typeface="Nunito Bold"/>
                <a:sym typeface="Nunito Bold"/>
              </a:rPr>
              <a:t>interpreted</a:t>
            </a:r>
            <a:r>
              <a:rPr lang="en-US" sz="1880" b="true">
                <a:solidFill>
                  <a:srgbClr val="111111"/>
                </a:solidFill>
                <a:latin typeface="Nunito Semi-Bold"/>
                <a:ea typeface="Nunito Semi-Bold"/>
                <a:cs typeface="Nunito Semi-Bold"/>
                <a:sym typeface="Nunito Semi-Bold"/>
              </a:rPr>
              <a:t>, not ruled out as inconsistency.</a:t>
            </a:r>
          </a:p>
        </p:txBody>
      </p:sp>
      <p:sp>
        <p:nvSpPr>
          <p:cNvPr id="35" name="Rounded Rectangle 34"/>
          <p:cNvSpPr/>
          <p:nvPr/>
        </p:nvSpPr>
        <p:spPr>
          <a:xfrm>
            <a:off x="9806940" y="3592322"/>
            <a:ext cx="7452360" cy="3017520"/>
          </a:xfrm>
          <a:prstGeom prst="roundRect">
            <a:avLst>
              <a:gd name="adj" fmla="val 10303"/>
            </a:avLst>
          </a:prstGeom>
          <a:solidFill>
            <a:srgbClr val="4472C4"/>
          </a:solidFill>
          <a:ln>
            <a:noFill/>
          </a:ln>
        </p:spPr>
        <p:txBody>
          <a:bodyPr anchor="ctr" rtlCol="false" lIns="0" tIns="0" rIns="0" bIns="0" wrap="square"/>
          <a:lstStyle/>
          <a:p>
            <a:endParaRPr lang="en-US" sz="1800"/>
          </a:p>
        </p:txBody>
      </p:sp>
      <p:sp>
        <p:nvSpPr>
          <p:cNvPr id="36" name="Rounded Rectangle 35"/>
          <p:cNvSpPr/>
          <p:nvPr/>
        </p:nvSpPr>
        <p:spPr>
          <a:xfrm>
            <a:off x="10264140" y="3354578"/>
            <a:ext cx="2678309"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Why it matters</a:t>
            </a:r>
          </a:p>
        </p:txBody>
      </p:sp>
      <p:sp>
        <p:nvSpPr>
          <p:cNvPr id="37" name="TextBox 36"/>
          <p:cNvSpPr txBox="1"/>
          <p:nvPr/>
        </p:nvSpPr>
        <p:spPr>
          <a:xfrm>
            <a:off x="10264140" y="4232402"/>
            <a:ext cx="6583680" cy="210312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Gives the multi-level explanation a </a:t>
            </a:r>
            <a:r>
              <a:rPr lang="en-US" sz="1900" b="true">
                <a:solidFill>
                  <a:srgbClr val="FFFFFF"/>
                </a:solidFill>
                <a:latin typeface="Nunito Bold"/>
                <a:ea typeface="Nunito Bold"/>
                <a:cs typeface="Nunito Bold"/>
                <a:sym typeface="Nunito Bold"/>
              </a:rPr>
              <a:t>formal backbone</a:t>
            </a:r>
            <a:r>
              <a:rPr lang="en-US" sz="1900" b="true">
                <a:solidFill>
                  <a:srgbClr val="FFFFFF"/>
                </a:solidFill>
                <a:latin typeface="Nunito Semi-Bold"/>
                <a:ea typeface="Nunito Semi-Bold"/>
                <a:cs typeface="Nunito Semi-Bold"/>
                <a:sym typeface="Nunito Semi-Bold"/>
              </a:rPr>
              <a:t>.</a:t>
            </a:r>
          </a:p>
          <a:p>
            <a:pPr algn="l" marL="274320" indent="-274320">
              <a:lnSpc>
                <a:spcPts val="2660"/>
              </a:lnSpc>
              <a:spcBef>
                <a:spcPts val="80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Parent importance is an </a:t>
            </a:r>
            <a:r>
              <a:rPr lang="en-US" sz="1900" b="true">
                <a:solidFill>
                  <a:srgbClr val="FFFFFF"/>
                </a:solidFill>
                <a:latin typeface="Nunito Bold"/>
                <a:ea typeface="Nunito Bold"/>
                <a:cs typeface="Nunito Bold"/>
                <a:sym typeface="Nunito Bold"/>
              </a:rPr>
              <a:t>accounting identity</a:t>
            </a:r>
            <a:r>
              <a:rPr lang="en-US" sz="1900" b="true">
                <a:solidFill>
                  <a:srgbClr val="FFFFFF"/>
                </a:solidFill>
                <a:latin typeface="Nunito Semi-Bold"/>
                <a:ea typeface="Nunito Semi-Bold"/>
                <a:cs typeface="Nunito Semi-Bold"/>
                <a:sym typeface="Nunito Semi-Bold"/>
              </a:rPr>
              <a:t> over the children, not a separate story.</a:t>
            </a:r>
          </a:p>
          <a:p>
            <a:pPr algn="l" marL="274320" indent="-274320">
              <a:lnSpc>
                <a:spcPts val="2660"/>
              </a:lnSpc>
              <a:spcBef>
                <a:spcPts val="800"/>
              </a:spcBef>
              <a:buClr>
                <a:srgbClr val="ECC665"/>
              </a:buClr>
              <a:buSzPct val="100000"/>
              <a:buFont typeface="Arial"/>
              <a:buChar char="•"/>
            </a:pPr>
            <a:r>
              <a:rPr lang="en-US" sz="1900" b="true">
                <a:solidFill>
                  <a:srgbClr val="FFFFFF"/>
                </a:solidFill>
                <a:latin typeface="Nunito Semi-Bold"/>
                <a:ea typeface="Nunito Semi-Bold"/>
                <a:cs typeface="Nunito Semi-Bold"/>
                <a:sym typeface="Nunito Semi-Bold"/>
              </a:rPr>
              <a:t>Turns cross-level differences into </a:t>
            </a:r>
            <a:r>
              <a:rPr lang="en-US" sz="1900" b="true">
                <a:solidFill>
                  <a:srgbClr val="FFFFFF"/>
                </a:solidFill>
                <a:latin typeface="Nunito Bold"/>
                <a:ea typeface="Nunito Bold"/>
                <a:cs typeface="Nunito Bold"/>
                <a:sym typeface="Nunito Bold"/>
              </a:rPr>
              <a:t>interpretable signal</a:t>
            </a:r>
            <a:r>
              <a:rPr lang="en-US" sz="1900" b="true">
                <a:solidFill>
                  <a:srgbClr val="FFFFFF"/>
                </a:solidFill>
                <a:latin typeface="Nunito Semi-Bold"/>
                <a:ea typeface="Nunito Semi-Bold"/>
                <a:cs typeface="Nunito Semi-Bold"/>
                <a:sym typeface="Nunito Semi-Bold"/>
              </a:rPr>
              <a:t>.</a:t>
            </a:r>
          </a:p>
        </p:txBody>
      </p:sp>
      <p:sp>
        <p:nvSpPr>
          <p:cNvPr id="38" name="Rounded Rectangle 37"/>
          <p:cNvSpPr/>
          <p:nvPr/>
        </p:nvSpPr>
        <p:spPr>
          <a:xfrm>
            <a:off x="9806940" y="6929882"/>
            <a:ext cx="3589020" cy="2378710"/>
          </a:xfrm>
          <a:prstGeom prst="roundRect">
            <a:avLst>
              <a:gd name="adj" fmla="val 11532"/>
            </a:avLst>
          </a:prstGeom>
          <a:solidFill>
            <a:srgbClr val="F6ECDF"/>
          </a:solidFill>
          <a:ln>
            <a:noFill/>
          </a:ln>
        </p:spPr>
        <p:txBody>
          <a:bodyPr anchor="ctr" rtlCol="false" lIns="137160" tIns="91440" rIns="137160" bIns="91440" wrap="square"/>
          <a:lstStyle/>
          <a:p>
            <a:pPr algn="ctr">
              <a:lnSpc>
                <a:spcPts val="3740"/>
              </a:lnSpc>
              <a:spcBef>
                <a:spcPts val="0"/>
              </a:spcBef>
              <a:buNone/>
            </a:pPr>
            <a:r>
              <a:rPr lang="en-US" sz="3400" b="true">
                <a:solidFill>
                  <a:srgbClr val="4472C4"/>
                </a:solidFill>
                <a:latin typeface="Nunito Ultra-Bold"/>
                <a:ea typeface="Nunito Ultra-Bold"/>
                <a:cs typeface="Nunito Ultra-Bold"/>
                <a:sym typeface="Nunito Ultra-Bold"/>
              </a:rPr>
              <a:t>383,585</a:t>
            </a:r>
          </a:p>
          <a:p>
            <a:pPr algn="ctr">
              <a:lnSpc>
                <a:spcPts val="2125"/>
              </a:lnSpc>
              <a:spcBef>
                <a:spcPts val="400"/>
              </a:spcBef>
              <a:buNone/>
            </a:pPr>
            <a:r>
              <a:rPr lang="en-US" sz="1700" b="true">
                <a:solidFill>
                  <a:srgbClr val="111111"/>
                </a:solidFill>
                <a:latin typeface="Nunito Semi-Bold"/>
                <a:ea typeface="Nunito Semi-Bold"/>
                <a:cs typeface="Nunito Semi-Bold"/>
                <a:sym typeface="Nunito Semi-Bold"/>
              </a:rPr>
              <a:t>hourly records · </a:t>
            </a:r>
            <a:r>
              <a:rPr lang="en-US" sz="1700" b="true">
                <a:solidFill>
                  <a:srgbClr val="111111"/>
                </a:solidFill>
                <a:latin typeface="Nunito Bold"/>
                <a:ea typeface="Nunito Bold"/>
                <a:cs typeface="Nunito Bold"/>
                <a:sym typeface="Nunito Bold"/>
              </a:rPr>
              <a:t>11</a:t>
            </a:r>
            <a:r>
              <a:rPr lang="en-US" sz="1700" b="true">
                <a:solidFill>
                  <a:srgbClr val="111111"/>
                </a:solidFill>
                <a:latin typeface="Nunito Semi-Bold"/>
                <a:ea typeface="Nunito Semi-Bold"/>
                <a:cs typeface="Nunito Semi-Bold"/>
                <a:sym typeface="Nunito Semi-Bold"/>
              </a:rPr>
              <a:t> variables</a:t>
            </a:r>
          </a:p>
        </p:txBody>
      </p:sp>
      <p:sp>
        <p:nvSpPr>
          <p:cNvPr id="39" name="Rounded Rectangle 38"/>
          <p:cNvSpPr/>
          <p:nvPr/>
        </p:nvSpPr>
        <p:spPr>
          <a:xfrm>
            <a:off x="13670280" y="6929882"/>
            <a:ext cx="3589020" cy="2378710"/>
          </a:xfrm>
          <a:prstGeom prst="roundRect">
            <a:avLst>
              <a:gd name="adj" fmla="val 11532"/>
            </a:avLst>
          </a:prstGeom>
          <a:solidFill>
            <a:srgbClr val="F6ECDF"/>
          </a:solidFill>
          <a:ln>
            <a:noFill/>
          </a:ln>
        </p:spPr>
        <p:txBody>
          <a:bodyPr anchor="ctr" rtlCol="false" lIns="137160" tIns="91440" rIns="137160" bIns="91440" wrap="square"/>
          <a:lstStyle/>
          <a:p>
            <a:pPr algn="ctr">
              <a:lnSpc>
                <a:spcPts val="3740"/>
              </a:lnSpc>
              <a:spcBef>
                <a:spcPts val="0"/>
              </a:spcBef>
              <a:buNone/>
            </a:pPr>
            <a:r>
              <a:rPr lang="en-US" sz="3400" b="true">
                <a:solidFill>
                  <a:srgbClr val="1F7A8C"/>
                </a:solidFill>
                <a:latin typeface="Nunito Ultra-Bold"/>
                <a:ea typeface="Nunito Ultra-Bold"/>
                <a:cs typeface="Nunito Ultra-Bold"/>
                <a:sym typeface="Nunito Ultra-Bold"/>
              </a:rPr>
              <a:t>3 </a:t>
            </a:r>
            <a:r>
              <a:rPr lang="en-US" sz="3400" b="true">
                <a:solidFill>
                  <a:srgbClr val="1F7A8C"/>
                </a:solidFill>
                <a:latin typeface="Calibri"/>
                <a:ea typeface="Calibri"/>
                <a:cs typeface="Calibri"/>
                <a:sym typeface="Calibri"/>
              </a:rPr>
              <a:t>→ </a:t>
            </a:r>
            <a:r>
              <a:rPr lang="en-US" sz="3400" b="true">
                <a:solidFill>
                  <a:srgbClr val="1F7A8C"/>
                </a:solidFill>
                <a:latin typeface="Nunito Ultra-Bold"/>
                <a:ea typeface="Nunito Ultra-Bold"/>
                <a:cs typeface="Nunito Ultra-Bold"/>
                <a:sym typeface="Nunito Ultra-Bold"/>
              </a:rPr>
              <a:t>9</a:t>
            </a:r>
          </a:p>
          <a:p>
            <a:pPr algn="ctr">
              <a:lnSpc>
                <a:spcPts val="2125"/>
              </a:lnSpc>
              <a:spcBef>
                <a:spcPts val="400"/>
              </a:spcBef>
              <a:buNone/>
            </a:pPr>
            <a:r>
              <a:rPr lang="en-US" sz="1700" b="true">
                <a:solidFill>
                  <a:srgbClr val="111111"/>
                </a:solidFill>
                <a:latin typeface="Nunito Semi-Bold"/>
                <a:ea typeface="Nunito Semi-Bold"/>
                <a:cs typeface="Nunito Semi-Bold"/>
                <a:sym typeface="Nunito Semi-Bold"/>
              </a:rPr>
              <a:t>coarse regimes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nested sub-clusters</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[17] Rousseeuw, P. J. Silhouettes: A Graphical Aid to the Interpretation and Validation of Cluster Analysis. J. Comput. Appl. Math. 20, 53–65 (1987).   [19] Cortez, P. et al. Wine Quality. UCI Machine Learning Repository (2009).  ·  Dua, D. &amp; Taniskidou, E. Beijing Multi-Site Air Quality Data. UCI Machine Learning Repository (2017).</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43</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25" name="Table 24"/>
          <p:cNvGraphicFramePr>
            <a:graphicFrameLocks noGrp="1"/>
          </p:cNvGraphicFramePr>
          <p:nvPr/>
        </p:nvGraphicFramePr>
        <p:xfrm>
          <a:off x="1028700" y="3363722"/>
          <a:ext cx="9966960" cy="4845304"/>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Beijing Multi-Site Air Quality, 383,585 hourly records × 11 variables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Level 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K-Means++ on the full dataset; k chosen by elbow, Silhouette and Davies–Bouldin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Level 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Each coarse cluster split again into sub-clusters (3 </a:t>
                      </a:r>
                      <a:r>
                        <a:rPr lang="en-US" sz="1700" b="true">
                          <a:solidFill>
                            <a:srgbClr val="111111"/>
                          </a:solidFill>
                          <a:latin typeface="Calibri"/>
                          <a:ea typeface="Calibri"/>
                          <a:cs typeface="Calibri"/>
                          <a:sym typeface="Calibri"/>
                        </a:rPr>
                        <a:t>→ </a:t>
                      </a:r>
                      <a:r>
                        <a:rPr lang="en-US" sz="1700" b="true">
                          <a:solidFill>
                            <a:srgbClr val="111111"/>
                          </a:solidFill>
                          <a:latin typeface="Nunito Semi-Bold"/>
                          <a:ea typeface="Nunito Semi-Bold"/>
                          <a:cs typeface="Nunito Semi-Bold"/>
                          <a:sym typeface="Nunito Semi-Bold"/>
                        </a:rPr>
                        <a:t>9)</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Surrogates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One LightGBM surrogate per level, five-fold cross-validation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Attribution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Exact TreeSHAP per level, always in the original 11-variable space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Aggregation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Size-weighted cross-level aggregation (Proposition 6.1)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Sensitivity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Repeat with small changes in k, projection dimension and surrogate depth</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6" name="Rounded Rectangle 25"/>
          <p:cNvSpPr/>
          <p:nvPr/>
        </p:nvSpPr>
        <p:spPr>
          <a:xfrm>
            <a:off x="11452860" y="3592322"/>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27" name="Rounded Rectangle 26"/>
          <p:cNvSpPr/>
          <p:nvPr/>
        </p:nvSpPr>
        <p:spPr>
          <a:xfrm>
            <a:off x="11910060" y="3354578"/>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28" name="TextBox 27"/>
          <p:cNvSpPr txBox="1"/>
          <p:nvPr/>
        </p:nvSpPr>
        <p:spPr>
          <a:xfrm>
            <a:off x="11910060" y="4232402"/>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Separation is strong:</a:t>
            </a:r>
            <a:r>
              <a:rPr lang="en-US" sz="1900" b="true">
                <a:solidFill>
                  <a:srgbClr val="FFFFFF"/>
                </a:solidFill>
                <a:latin typeface="Nunito Semi-Bold"/>
                <a:ea typeface="Nunito Semi-Bold"/>
                <a:cs typeface="Nunito Semi-Bold"/>
                <a:sym typeface="Nunito Semi-Bold"/>
              </a:rPr>
              <a:t> Silhouette and Davies–Bouldin clearly better than the wine case.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Regimes have a physical reading:</a:t>
            </a:r>
            <a:r>
              <a:rPr lang="en-US" sz="1900" b="true">
                <a:solidFill>
                  <a:srgbClr val="FFFFFF"/>
                </a:solidFill>
                <a:latin typeface="Nunito Semi-Bold"/>
                <a:ea typeface="Nunito Semi-Bold"/>
                <a:cs typeface="Nunito Semi-Bold"/>
                <a:sym typeface="Nunito Semi-Bold"/>
              </a:rPr>
              <a:t> each cluster maps to a known atmospheric situation.</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Cross-level differences are interpretable</a:t>
            </a:r>
            <a:r>
              <a:rPr lang="en-US" sz="1900" b="true">
                <a:solidFill>
                  <a:srgbClr val="FFFFFF"/>
                </a:solidFill>
                <a:latin typeface="Nunito Semi-Bold"/>
                <a:ea typeface="Nunito Semi-Bold"/>
                <a:cs typeface="Nunito Semi-Bold"/>
                <a:sym typeface="Nunito Semi-Bold"/>
              </a:rPr>
              <a:t>, not contradictions (Proposition 6.1).</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Leading drivers are stable</a:t>
            </a:r>
            <a:r>
              <a:rPr lang="en-US" sz="1900" b="true">
                <a:solidFill>
                  <a:srgbClr val="FFFFFF"/>
                </a:solidFill>
                <a:latin typeface="Nunito Semi-Bold"/>
                <a:ea typeface="Nunito Semi-Bold"/>
                <a:cs typeface="Nunito Semi-Bold"/>
                <a:sym typeface="Nunito Semi-Bold"/>
              </a:rPr>
              <a:t> under sensitivity changes.</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44</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Coarse-Level Clustering: Beijing Air Quality</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Rounded Rectangle 24"/>
          <p:cNvSpPr/>
          <p:nvPr/>
        </p:nvSpPr>
        <p:spPr>
          <a:xfrm>
            <a:off x="1028700" y="3455162"/>
            <a:ext cx="5196840" cy="2103120"/>
          </a:xfrm>
          <a:prstGeom prst="roundRect">
            <a:avLst>
              <a:gd name="adj" fmla="val 13043"/>
            </a:avLst>
          </a:prstGeom>
          <a:solidFill>
            <a:srgbClr val="4472C4"/>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k = 3</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all </a:t>
            </a:r>
            <a:r>
              <a:rPr lang="en-US" sz="1700" b="true">
                <a:solidFill>
                  <a:srgbClr val="FFFFFF"/>
                </a:solidFill>
                <a:latin typeface="Nunito Bold"/>
                <a:ea typeface="Nunito Bold"/>
                <a:cs typeface="Nunito Bold"/>
                <a:sym typeface="Nunito Bold"/>
              </a:rPr>
              <a:t>k-selection criteria</a:t>
            </a:r>
            <a:r>
              <a:rPr lang="en-US" sz="1700" b="true">
                <a:solidFill>
                  <a:srgbClr val="FFFFFF"/>
                </a:solidFill>
                <a:latin typeface="Nunito Semi-Bold"/>
                <a:ea typeface="Nunito Semi-Bold"/>
                <a:cs typeface="Nunito Semi-Bold"/>
                <a:sym typeface="Nunito Semi-Bold"/>
              </a:rPr>
              <a:t> agree</a:t>
            </a:r>
          </a:p>
        </p:txBody>
      </p:sp>
      <p:sp>
        <p:nvSpPr>
          <p:cNvPr id="26" name="Rounded Rectangle 25"/>
          <p:cNvSpPr/>
          <p:nvPr/>
        </p:nvSpPr>
        <p:spPr>
          <a:xfrm>
            <a:off x="6545580" y="3455162"/>
            <a:ext cx="5196840" cy="2103120"/>
          </a:xfrm>
          <a:prstGeom prst="roundRect">
            <a:avLst>
              <a:gd name="adj" fmla="val 13043"/>
            </a:avLst>
          </a:prstGeom>
          <a:solidFill>
            <a:srgbClr val="2F5597"/>
          </a:solidFill>
          <a:ln>
            <a:noFill/>
          </a:ln>
        </p:spPr>
        <p:txBody>
          <a:bodyPr anchor="ctr" rtlCol="false" lIns="137160" tIns="91440" rIns="137160" bIns="91440" wrap="square"/>
          <a:lstStyle/>
          <a:p>
            <a:pPr algn="ctr">
              <a:lnSpc>
                <a:spcPts val="4400"/>
              </a:lnSpc>
              <a:spcBef>
                <a:spcPts val="0"/>
              </a:spcBef>
              <a:buNone/>
            </a:pPr>
            <a:r>
              <a:rPr lang="en-US" sz="4000" b="true">
                <a:solidFill>
                  <a:srgbClr val="ECC665"/>
                </a:solidFill>
                <a:latin typeface="Nunito Ultra-Bold"/>
                <a:ea typeface="Nunito Ultra-Bold"/>
                <a:cs typeface="Nunito Ultra-Bold"/>
                <a:sym typeface="Nunito Ultra-Bold"/>
              </a:rPr>
              <a:t>≈ 0.63</a:t>
            </a:r>
          </a:p>
          <a:p>
            <a:pPr algn="ctr">
              <a:lnSpc>
                <a:spcPts val="2125"/>
              </a:lnSpc>
              <a:spcBef>
                <a:spcPts val="400"/>
              </a:spcBef>
              <a:buNone/>
            </a:pPr>
            <a:r>
              <a:rPr lang="en-US" sz="1700" b="true">
                <a:solidFill>
                  <a:srgbClr val="FFFFFF"/>
                </a:solidFill>
                <a:latin typeface="Nunito Bold"/>
                <a:ea typeface="Nunito Bold"/>
                <a:cs typeface="Nunito Bold"/>
                <a:sym typeface="Nunito Bold"/>
              </a:rPr>
              <a:t>Silhouette</a:t>
            </a:r>
            <a:r>
              <a:rPr lang="en-US" sz="1700" b="true">
                <a:solidFill>
                  <a:srgbClr val="FFFFFF"/>
                </a:solidFill>
                <a:latin typeface="Nunito Semi-Bold"/>
                <a:ea typeface="Nunito Semi-Bold"/>
                <a:cs typeface="Nunito Semi-Bold"/>
                <a:sym typeface="Nunito Semi-Bold"/>
              </a:rPr>
              <a:t> · much stronger separation than wine</a:t>
            </a:r>
          </a:p>
        </p:txBody>
      </p:sp>
      <p:sp>
        <p:nvSpPr>
          <p:cNvPr id="27" name="Rounded Rectangle 26"/>
          <p:cNvSpPr/>
          <p:nvPr/>
        </p:nvSpPr>
        <p:spPr>
          <a:xfrm>
            <a:off x="12062460" y="3455162"/>
            <a:ext cx="5196840" cy="2103120"/>
          </a:xfrm>
          <a:prstGeom prst="roundRect">
            <a:avLst>
              <a:gd name="adj" fmla="val 13043"/>
            </a:avLst>
          </a:prstGeom>
          <a:solidFill>
            <a:srgbClr val="1F7A8C"/>
          </a:solidFill>
          <a:ln>
            <a:noFill/>
          </a:ln>
        </p:spPr>
        <p:txBody>
          <a:bodyPr anchor="ctr" rtlCol="false" lIns="137160" tIns="91440" rIns="137160" bIns="91440" wrap="square"/>
          <a:lstStyle/>
          <a:p>
            <a:pPr algn="ctr">
              <a:lnSpc>
                <a:spcPts val="4400"/>
              </a:lnSpc>
              <a:spcBef>
                <a:spcPts val="0"/>
              </a:spcBef>
              <a:buNone/>
            </a:pPr>
            <a:r>
              <a:rPr lang="en-US" sz="4000" b="true">
                <a:solidFill>
                  <a:srgbClr val="FFFFFF"/>
                </a:solidFill>
                <a:latin typeface="Nunito Ultra-Bold"/>
                <a:ea typeface="Nunito Ultra-Bold"/>
                <a:cs typeface="Nunito Ultra-Bold"/>
                <a:sym typeface="Nunito Ultra-Bold"/>
              </a:rPr>
              <a:t>≈ 0.55</a:t>
            </a:r>
          </a:p>
          <a:p>
            <a:pPr algn="ctr">
              <a:lnSpc>
                <a:spcPts val="2125"/>
              </a:lnSpc>
              <a:spcBef>
                <a:spcPts val="400"/>
              </a:spcBef>
              <a:buNone/>
            </a:pPr>
            <a:r>
              <a:rPr lang="en-US" sz="1700" b="true">
                <a:solidFill>
                  <a:srgbClr val="FFFFFF"/>
                </a:solidFill>
                <a:latin typeface="Nunito Bold"/>
                <a:ea typeface="Nunito Bold"/>
                <a:cs typeface="Nunito Bold"/>
                <a:sym typeface="Nunito Bold"/>
              </a:rPr>
              <a:t>Davies–Bouldin</a:t>
            </a:r>
            <a:r>
              <a:rPr lang="en-US" sz="1700" b="true">
                <a:solidFill>
                  <a:srgbClr val="FFFFFF"/>
                </a:solidFill>
                <a:latin typeface="Nunito Semi-Bold"/>
                <a:ea typeface="Nunito Semi-Bold"/>
                <a:cs typeface="Nunito Semi-Bold"/>
                <a:sym typeface="Nunito Semi-Bold"/>
              </a:rPr>
              <a:t> · clusters rarely overlap</a:t>
            </a:r>
          </a:p>
        </p:txBody>
      </p:sp>
      <p:sp>
        <p:nvSpPr>
          <p:cNvPr id="28" name="TextBox 27"/>
          <p:cNvSpPr txBox="1"/>
          <p:nvPr/>
        </p:nvSpPr>
        <p:spPr>
          <a:xfrm>
            <a:off x="1028700" y="5604002"/>
            <a:ext cx="16230600" cy="411480"/>
          </a:xfrm>
          <a:prstGeom prst="rect">
            <a:avLst/>
          </a:prstGeom>
          <a:noFill/>
        </p:spPr>
        <p:txBody>
          <a:bodyPr anchor="t" rtlCol="false" lIns="0" tIns="0" rIns="0" bIns="0" wrap="square"/>
          <a:lstStyle/>
          <a:p>
            <a:pPr algn="l">
              <a:lnSpc>
                <a:spcPts val="1700"/>
              </a:lnSpc>
              <a:spcBef>
                <a:spcPts val="0"/>
              </a:spcBef>
              <a:buNone/>
            </a:pPr>
            <a:r>
              <a:rPr lang="en-US" sz="1300" b="true">
                <a:solidFill>
                  <a:srgbClr val="8A8378"/>
                </a:solidFill>
                <a:latin typeface="Nunito Semi-Bold"/>
                <a:ea typeface="Nunito Semi-Bold"/>
                <a:cs typeface="Nunito Semi-Bold"/>
                <a:sym typeface="Nunito Semi-Bold"/>
              </a:rPr>
              <a:t>Table 6.1 (thesis): validation metrics for the large-scale clustering study (k = 3, Silhouette 0.63, Davies–Bouldin 0.55).</a:t>
            </a:r>
          </a:p>
        </p:txBody>
      </p:sp>
      <p:sp>
        <p:nvSpPr>
          <p:cNvPr id="29" name="Rounded Rectangle 28"/>
          <p:cNvSpPr/>
          <p:nvPr/>
        </p:nvSpPr>
        <p:spPr>
          <a:xfrm>
            <a:off x="1028700" y="6244082"/>
            <a:ext cx="7932420" cy="3110230"/>
          </a:xfrm>
          <a:prstGeom prst="roundRect">
            <a:avLst>
              <a:gd name="adj" fmla="val 9995"/>
            </a:avLst>
          </a:prstGeom>
          <a:solidFill>
            <a:srgbClr val="F6ECDF"/>
          </a:solidFill>
          <a:ln>
            <a:noFill/>
          </a:ln>
        </p:spPr>
        <p:txBody>
          <a:bodyPr anchor="ctr" rtlCol="false" lIns="0" tIns="0" rIns="0" bIns="0" wrap="square"/>
          <a:lstStyle/>
          <a:p>
            <a:endParaRPr lang="en-US" sz="1800"/>
          </a:p>
        </p:txBody>
      </p:sp>
      <p:sp>
        <p:nvSpPr>
          <p:cNvPr id="30" name="Rounded Rectangle 29"/>
          <p:cNvSpPr/>
          <p:nvPr/>
        </p:nvSpPr>
        <p:spPr>
          <a:xfrm>
            <a:off x="1485900" y="6006338"/>
            <a:ext cx="1445739"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Setup</a:t>
            </a:r>
          </a:p>
        </p:txBody>
      </p:sp>
      <p:sp>
        <p:nvSpPr>
          <p:cNvPr id="31" name="TextBox 30"/>
          <p:cNvSpPr txBox="1"/>
          <p:nvPr/>
        </p:nvSpPr>
        <p:spPr>
          <a:xfrm>
            <a:off x="1531620" y="6884162"/>
            <a:ext cx="6972300" cy="2195830"/>
          </a:xfrm>
          <a:prstGeom prst="rect">
            <a:avLst/>
          </a:prstGeom>
          <a:noFill/>
        </p:spPr>
        <p:txBody>
          <a:bodyPr anchor="t" rtlCol="false" lIns="0" tIns="0" rIns="0" bIns="0" wrap="square"/>
          <a:lstStyle/>
          <a:p>
            <a:pPr algn="l" marL="274320" indent="-274320">
              <a:lnSpc>
                <a:spcPts val="2464"/>
              </a:lnSpc>
              <a:spcBef>
                <a:spcPts val="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Full dataset: </a:t>
            </a:r>
            <a:r>
              <a:rPr lang="en-US" sz="1760" b="true">
                <a:solidFill>
                  <a:srgbClr val="111111"/>
                </a:solidFill>
                <a:latin typeface="Nunito Bold"/>
                <a:ea typeface="Nunito Bold"/>
                <a:cs typeface="Nunito Bold"/>
                <a:sym typeface="Nunito Bold"/>
              </a:rPr>
              <a:t>383,585 hourly records</a:t>
            </a:r>
            <a:r>
              <a:rPr lang="en-US" sz="1760" b="true">
                <a:solidFill>
                  <a:srgbClr val="111111"/>
                </a:solidFill>
                <a:latin typeface="Nunito Semi-Bold"/>
                <a:ea typeface="Nunito Semi-Bold"/>
                <a:cs typeface="Nunito Semi-Bold"/>
                <a:sym typeface="Nunito Semi-Bold"/>
              </a:rPr>
              <a:t>, 11 pollutant + weather variables.</a:t>
            </a:r>
          </a:p>
          <a:p>
            <a:pPr algn="l" marL="274320" indent="-274320">
              <a:lnSpc>
                <a:spcPts val="2464"/>
              </a:lnSpc>
              <a:spcBef>
                <a:spcPts val="88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PCA projection (2 components) used </a:t>
            </a:r>
            <a:r>
              <a:rPr lang="en-US" sz="1760" b="true">
                <a:solidFill>
                  <a:srgbClr val="111111"/>
                </a:solidFill>
                <a:latin typeface="Nunito Bold"/>
                <a:ea typeface="Nunito Bold"/>
                <a:cs typeface="Nunito Bold"/>
                <a:sym typeface="Nunito Bold"/>
              </a:rPr>
              <a:t>only for visual inspection</a:t>
            </a:r>
            <a:r>
              <a:rPr lang="en-US" sz="1760" b="true">
                <a:solidFill>
                  <a:srgbClr val="111111"/>
                </a:solidFill>
                <a:latin typeface="Nunito Semi-Bold"/>
                <a:ea typeface="Nunito Semi-Bold"/>
                <a:cs typeface="Nunito Semi-Bold"/>
                <a:sym typeface="Nunito Semi-Bold"/>
              </a:rPr>
              <a:t>.</a:t>
            </a:r>
          </a:p>
          <a:p>
            <a:pPr algn="l" marL="274320" indent="-274320">
              <a:lnSpc>
                <a:spcPts val="2464"/>
              </a:lnSpc>
              <a:spcBef>
                <a:spcPts val="880"/>
              </a:spcBef>
              <a:buClr>
                <a:srgbClr val="1F7A8C"/>
              </a:buClr>
              <a:buSzPct val="100000"/>
              <a:buFont typeface="Arial"/>
              <a:buChar char="•"/>
            </a:pPr>
            <a:r>
              <a:rPr lang="en-US" sz="1760" b="true">
                <a:solidFill>
                  <a:srgbClr val="111111"/>
                </a:solidFill>
                <a:latin typeface="Nunito Semi-Bold"/>
                <a:ea typeface="Nunito Semi-Bold"/>
                <a:cs typeface="Nunito Semi-Bold"/>
                <a:sym typeface="Nunito Semi-Bold"/>
              </a:rPr>
              <a:t>Level-specific LightGBM surrogates; TreeSHAP in the original variable space.</a:t>
            </a:r>
          </a:p>
        </p:txBody>
      </p:sp>
      <p:sp>
        <p:nvSpPr>
          <p:cNvPr id="32" name="Rounded Rectangle 31"/>
          <p:cNvSpPr/>
          <p:nvPr/>
        </p:nvSpPr>
        <p:spPr>
          <a:xfrm>
            <a:off x="9326880" y="6244082"/>
            <a:ext cx="7932420" cy="3110230"/>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33" name="Rounded Rectangle 32"/>
          <p:cNvSpPr/>
          <p:nvPr/>
        </p:nvSpPr>
        <p:spPr>
          <a:xfrm>
            <a:off x="9784080" y="6006338"/>
            <a:ext cx="204893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Sensitivity</a:t>
            </a:r>
          </a:p>
        </p:txBody>
      </p:sp>
      <p:sp>
        <p:nvSpPr>
          <p:cNvPr id="34" name="TextBox 33"/>
          <p:cNvSpPr txBox="1"/>
          <p:nvPr/>
        </p:nvSpPr>
        <p:spPr>
          <a:xfrm>
            <a:off x="9829800" y="6884162"/>
            <a:ext cx="6972300" cy="2195830"/>
          </a:xfrm>
          <a:prstGeom prst="rect">
            <a:avLst/>
          </a:prstGeom>
          <a:noFill/>
        </p:spPr>
        <p:txBody>
          <a:bodyPr anchor="t" rtlCol="false" lIns="0" tIns="0" rIns="0" bIns="0" wrap="square"/>
          <a:lstStyle/>
          <a:p>
            <a:pPr algn="l" marL="274320" indent="-274320">
              <a:lnSpc>
                <a:spcPts val="2464"/>
              </a:lnSpc>
              <a:spcBef>
                <a:spcPts val="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Robust to small changes in </a:t>
            </a:r>
            <a:r>
              <a:rPr lang="en-US" sz="1760" b="true">
                <a:solidFill>
                  <a:srgbClr val="FFFFFF"/>
                </a:solidFill>
                <a:latin typeface="Nunito Bold"/>
                <a:ea typeface="Nunito Bold"/>
                <a:cs typeface="Nunito Bold"/>
                <a:sym typeface="Nunito Bold"/>
              </a:rPr>
              <a:t>k</a:t>
            </a:r>
            <a:r>
              <a:rPr lang="en-US" sz="1760" b="true">
                <a:solidFill>
                  <a:srgbClr val="FFFFFF"/>
                </a:solidFill>
                <a:latin typeface="Nunito Semi-Bold"/>
                <a:ea typeface="Nunito Semi-Bold"/>
                <a:cs typeface="Nunito Semi-Bold"/>
                <a:sym typeface="Nunito Semi-Bold"/>
              </a:rPr>
              <a:t>, projection dimension and surrogate depth.</a:t>
            </a:r>
          </a:p>
          <a:p>
            <a:pPr algn="l" marL="274320" indent="-274320">
              <a:lnSpc>
                <a:spcPts val="2464"/>
              </a:lnSpc>
              <a:spcBef>
                <a:spcPts val="88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Only </a:t>
            </a:r>
            <a:r>
              <a:rPr lang="en-US" sz="1760" b="true">
                <a:solidFill>
                  <a:srgbClr val="FFFFFF"/>
                </a:solidFill>
                <a:latin typeface="Nunito Bold"/>
                <a:ea typeface="Nunito Bold"/>
                <a:cs typeface="Nunito Bold"/>
                <a:sym typeface="Nunito Bold"/>
              </a:rPr>
              <a:t>low-ranked variables shift</a:t>
            </a:r>
            <a:r>
              <a:rPr lang="en-US" sz="1760" b="true">
                <a:solidFill>
                  <a:srgbClr val="FFFFFF"/>
                </a:solidFill>
                <a:latin typeface="Nunito Semi-Bold"/>
                <a:ea typeface="Nunito Semi-Bold"/>
                <a:cs typeface="Nunito Semi-Bold"/>
                <a:sym typeface="Nunito Semi-Bold"/>
              </a:rPr>
              <a:t>; the leading drivers are stable.</a:t>
            </a:r>
          </a:p>
          <a:p>
            <a:pPr algn="l" marL="274320" indent="-274320">
              <a:lnSpc>
                <a:spcPts val="2464"/>
              </a:lnSpc>
              <a:spcBef>
                <a:spcPts val="880"/>
              </a:spcBef>
              <a:buClr>
                <a:srgbClr val="ECC665"/>
              </a:buClr>
              <a:buSzPct val="100000"/>
              <a:buFont typeface="Arial"/>
              <a:buChar char="•"/>
            </a:pPr>
            <a:r>
              <a:rPr lang="en-US" sz="1760" b="true">
                <a:solidFill>
                  <a:srgbClr val="FFFFFF"/>
                </a:solidFill>
                <a:latin typeface="Nunito Semi-Bold"/>
                <a:ea typeface="Nunito Semi-Bold"/>
                <a:cs typeface="Nunito Semi-Bold"/>
                <a:sym typeface="Nunito Semi-Bold"/>
              </a:rPr>
              <a:t>Comparison point: SHAP-based clustering literature (Gramegna &amp; Giudici, credit risk) reports Silhouette </a:t>
            </a:r>
            <a:r>
              <a:rPr lang="en-US" sz="1760" b="true">
                <a:solidFill>
                  <a:srgbClr val="FFFFFF"/>
                </a:solidFill>
                <a:latin typeface="Nunito Bold"/>
                <a:ea typeface="Nunito Bold"/>
                <a:cs typeface="Nunito Bold"/>
                <a:sym typeface="Nunito Bold"/>
              </a:rPr>
              <a:t>0.37</a:t>
            </a:r>
            <a:r>
              <a:rPr lang="en-US" sz="1760" b="true">
                <a:solidFill>
                  <a:srgbClr val="FFFFFF"/>
                </a:solidFill>
                <a:latin typeface="Nunito Semi-Bold"/>
                <a:ea typeface="Nunito Semi-Bold"/>
                <a:cs typeface="Nunito Semi-Bold"/>
                <a:sym typeface="Nunito Semi-Bold"/>
              </a:rPr>
              <a: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45</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Global SHAP Ranking: Weather Variables Are Central</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6766560" cy="5853430"/>
          </a:xfrm>
          <a:prstGeom prst="rect">
            <a:avLst/>
          </a:prstGeom>
          <a:noFill/>
        </p:spPr>
        <p:txBody>
          <a:bodyPr anchor="t" rtlCol="false" lIns="0" tIns="0" rIns="0" bIns="0" wrap="square"/>
          <a:lstStyle/>
          <a:p>
            <a:pPr algn="l">
              <a:lnSpc>
                <a:spcPts val="2750"/>
              </a:lnSpc>
              <a:spcBef>
                <a:spcPts val="0"/>
              </a:spcBef>
              <a:buNone/>
            </a:pPr>
            <a:r>
              <a:rPr lang="en-US" sz="2200" b="true">
                <a:solidFill>
                  <a:srgbClr val="4472C4"/>
                </a:solidFill>
                <a:latin typeface="Nunito Ultra-Bold"/>
                <a:ea typeface="Nunito Ultra-Bold"/>
                <a:cs typeface="Nunito Ultra-Bold"/>
                <a:sym typeface="Nunito Ultra-Bold"/>
              </a:rPr>
              <a:t>Reading the ranking</a:t>
            </a:r>
          </a:p>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Temperature, dew point and pressure</a:t>
            </a:r>
            <a:r>
              <a:rPr lang="en-US" sz="1900" b="true">
                <a:solidFill>
                  <a:srgbClr val="111111"/>
                </a:solidFill>
                <a:latin typeface="Nunito Semi-Bold"/>
                <a:ea typeface="Nunito Semi-Bold"/>
                <a:cs typeface="Nunito Semi-Bold"/>
                <a:sym typeface="Nunito Semi-Bold"/>
              </a:rPr>
              <a:t> lead the ranking; CO, NO₂, PM10 and PM2.5 follow.</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It is </a:t>
            </a:r>
            <a:r>
              <a:rPr lang="en-US" sz="1900" b="true">
                <a:solidFill>
                  <a:srgbClr val="111111"/>
                </a:solidFill>
                <a:latin typeface="Nunito Bold"/>
                <a:ea typeface="Nunito Bold"/>
                <a:cs typeface="Nunito Bold"/>
                <a:sym typeface="Nunito Bold"/>
              </a:rPr>
              <a:t>NOT only pollutant concentrations</a:t>
            </a:r>
            <a:r>
              <a:rPr lang="en-US" sz="1900" b="true">
                <a:solidFill>
                  <a:srgbClr val="111111"/>
                </a:solidFill>
                <a:latin typeface="Nunito Semi-Bold"/>
                <a:ea typeface="Nunito Semi-Bold"/>
                <a:cs typeface="Nunito Semi-Bold"/>
                <a:sym typeface="Nunito Semi-Bold"/>
              </a:rPr>
              <a:t> that matter: weather variables play a </a:t>
            </a:r>
            <a:r>
              <a:rPr lang="en-US" sz="1900" b="true">
                <a:solidFill>
                  <a:srgbClr val="111111"/>
                </a:solidFill>
                <a:latin typeface="Nunito Bold"/>
                <a:ea typeface="Nunito Bold"/>
                <a:cs typeface="Nunito Bold"/>
                <a:sym typeface="Nunito Bold"/>
              </a:rPr>
              <a:t>central role in the structure</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Temperature, dew point and pressure control </a:t>
            </a:r>
            <a:r>
              <a:rPr lang="en-US" sz="1900" b="true">
                <a:solidFill>
                  <a:srgbClr val="111111"/>
                </a:solidFill>
                <a:latin typeface="Nunito Bold"/>
                <a:ea typeface="Nunito Bold"/>
                <a:cs typeface="Nunito Bold"/>
                <a:sym typeface="Nunito Bold"/>
              </a:rPr>
              <a:t>dispersion, trapping and sunlight-driven chemistry</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This is the kind of insight that flat summaries often fail to make explicit.</a:t>
            </a:r>
          </a:p>
        </p:txBody>
      </p:sp>
      <p:sp>
        <p:nvSpPr>
          <p:cNvPr id="26" name="Rounded Rectangle 25"/>
          <p:cNvSpPr/>
          <p:nvPr/>
        </p:nvSpPr>
        <p:spPr>
          <a:xfrm>
            <a:off x="8252460" y="3363722"/>
            <a:ext cx="9006840" cy="5853430"/>
          </a:xfrm>
          <a:prstGeom prst="roundRect">
            <a:avLst>
              <a:gd name="adj" fmla="val 3905"/>
            </a:avLst>
          </a:prstGeom>
          <a:solidFill>
            <a:srgbClr val="FFFFFF"/>
          </a:solidFill>
          <a:ln w="15875">
            <a:solidFill>
              <a:srgbClr val="E3D6C4"/>
            </a:solidFill>
          </a:ln>
        </p:spPr>
        <p:txBody>
          <a:bodyPr anchor="ctr" rtlCol="false" lIns="0" tIns="0" rIns="0" bIns="0" wrap="square"/>
          <a:lstStyle/>
          <a:p>
            <a:endParaRPr lang="en-US" sz="1800"/>
          </a:p>
        </p:txBody>
      </p:sp>
      <p:pic>
        <p:nvPicPr>
          <p:cNvPr id="27" name="Picture 26" descr="fig6_1_beijing_global.png"/>
          <p:cNvPicPr>
            <a:picLocks noChangeAspect="1"/>
          </p:cNvPicPr>
          <p:nvPr/>
        </p:nvPicPr>
        <p:blipFill>
          <a:blip r:embed="rId4"/>
          <a:stretch>
            <a:fillRect/>
          </a:stretch>
        </p:blipFill>
        <p:spPr>
          <a:xfrm>
            <a:off x="9013665" y="3546602"/>
            <a:ext cx="7484428" cy="5076190"/>
          </a:xfrm>
          <a:prstGeom prst="rect">
            <a:avLst/>
          </a:prstGeom>
        </p:spPr>
      </p:pic>
      <p:sp>
        <p:nvSpPr>
          <p:cNvPr id="28" name="TextBox 27"/>
          <p:cNvSpPr txBox="1"/>
          <p:nvPr/>
        </p:nvSpPr>
        <p:spPr>
          <a:xfrm>
            <a:off x="8252460" y="8759952"/>
            <a:ext cx="900684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6.1 (thesis): global SHAP importance at the coarse level, Beijing Air Quality</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46</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How Importance Changes Across Levels</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Rounded Rectangle 24"/>
          <p:cNvSpPr/>
          <p:nvPr/>
        </p:nvSpPr>
        <p:spPr>
          <a:xfrm>
            <a:off x="1028700" y="3363722"/>
            <a:ext cx="16230600" cy="2331720"/>
          </a:xfrm>
          <a:prstGeom prst="roundRect">
            <a:avLst>
              <a:gd name="adj" fmla="val 9803"/>
            </a:avLst>
          </a:prstGeom>
          <a:solidFill>
            <a:srgbClr val="FFFFFF"/>
          </a:solidFill>
          <a:ln w="15875">
            <a:solidFill>
              <a:srgbClr val="E3D6C4"/>
            </a:solidFill>
          </a:ln>
        </p:spPr>
        <p:txBody>
          <a:bodyPr anchor="ctr" rtlCol="false" lIns="0" tIns="0" rIns="0" bIns="0" wrap="square"/>
          <a:lstStyle/>
          <a:p>
            <a:endParaRPr lang="en-US" sz="1800"/>
          </a:p>
        </p:txBody>
      </p:sp>
      <p:pic>
        <p:nvPicPr>
          <p:cNvPr id="26" name="Picture 25" descr="fig6_3_beijing_multilevel.png"/>
          <p:cNvPicPr>
            <a:picLocks noChangeAspect="1"/>
          </p:cNvPicPr>
          <p:nvPr/>
        </p:nvPicPr>
        <p:blipFill>
          <a:blip r:embed="rId4"/>
          <a:stretch>
            <a:fillRect/>
          </a:stretch>
        </p:blipFill>
        <p:spPr>
          <a:xfrm>
            <a:off x="6273209" y="3500882"/>
            <a:ext cx="5741581" cy="1645920"/>
          </a:xfrm>
          <a:prstGeom prst="rect">
            <a:avLst/>
          </a:prstGeom>
        </p:spPr>
      </p:pic>
      <p:sp>
        <p:nvSpPr>
          <p:cNvPr id="27" name="TextBox 26"/>
          <p:cNvSpPr txBox="1"/>
          <p:nvPr/>
        </p:nvSpPr>
        <p:spPr>
          <a:xfrm>
            <a:off x="1028700" y="5238242"/>
            <a:ext cx="16230600" cy="411480"/>
          </a:xfrm>
          <a:prstGeom prst="rect">
            <a:avLst/>
          </a:prstGeom>
          <a:noFill/>
        </p:spPr>
        <p:txBody>
          <a:bodyPr anchor="ctr" rtlCol="false" lIns="0" tIns="0" rIns="0" bIns="0" wrap="square"/>
          <a:lstStyle/>
          <a:p>
            <a:pPr algn="ctr">
              <a:lnSpc>
                <a:spcPts val="1700"/>
              </a:lnSpc>
              <a:spcBef>
                <a:spcPts val="0"/>
              </a:spcBef>
              <a:buNone/>
            </a:pPr>
            <a:r>
              <a:rPr lang="en-US" sz="1400" b="true">
                <a:solidFill>
                  <a:srgbClr val="8A8378"/>
                </a:solidFill>
                <a:latin typeface="Nunito Semi-Bold"/>
                <a:ea typeface="Nunito Semi-Bold"/>
                <a:cs typeface="Nunito Semi-Bold"/>
                <a:sym typeface="Nunito Semi-Bold"/>
              </a:rPr>
              <a:t>Fig. 6.3 (thesis): SHAP importance per sub-cluster, level 2 of the hierarchy</a:t>
            </a:r>
          </a:p>
        </p:txBody>
      </p:sp>
      <p:sp>
        <p:nvSpPr>
          <p:cNvPr id="28" name="Rounded Rectangle 27"/>
          <p:cNvSpPr/>
          <p:nvPr/>
        </p:nvSpPr>
        <p:spPr>
          <a:xfrm>
            <a:off x="1028700" y="6198362"/>
            <a:ext cx="7932420" cy="2148840"/>
          </a:xfrm>
          <a:prstGeom prst="roundRect">
            <a:avLst>
              <a:gd name="adj" fmla="val 14468"/>
            </a:avLst>
          </a:prstGeom>
          <a:solidFill>
            <a:srgbClr val="4472C4"/>
          </a:solidFill>
          <a:ln>
            <a:noFill/>
          </a:ln>
        </p:spPr>
        <p:txBody>
          <a:bodyPr anchor="ctr" rtlCol="false" lIns="0" tIns="0" rIns="0" bIns="0" wrap="square"/>
          <a:lstStyle/>
          <a:p>
            <a:endParaRPr lang="en-US" sz="1800"/>
          </a:p>
        </p:txBody>
      </p:sp>
      <p:sp>
        <p:nvSpPr>
          <p:cNvPr id="29" name="Rounded Rectangle 28"/>
          <p:cNvSpPr/>
          <p:nvPr/>
        </p:nvSpPr>
        <p:spPr>
          <a:xfrm>
            <a:off x="1485900" y="5960618"/>
            <a:ext cx="4739404"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Coarse level · regime selection</a:t>
            </a:r>
          </a:p>
        </p:txBody>
      </p:sp>
      <p:sp>
        <p:nvSpPr>
          <p:cNvPr id="30" name="TextBox 29"/>
          <p:cNvSpPr txBox="1"/>
          <p:nvPr/>
        </p:nvSpPr>
        <p:spPr>
          <a:xfrm>
            <a:off x="1485900" y="6747002"/>
            <a:ext cx="7063740" cy="1371600"/>
          </a:xfrm>
          <a:prstGeom prst="rect">
            <a:avLst/>
          </a:prstGeom>
          <a:noFill/>
        </p:spPr>
        <p:txBody>
          <a:bodyPr anchor="t" rtlCol="false" lIns="0" tIns="0" rIns="0" bIns="0" wrap="square"/>
          <a:lstStyle/>
          <a:p>
            <a:pPr algn="l" marL="274320" indent="-274320">
              <a:lnSpc>
                <a:spcPts val="2520"/>
              </a:lnSpc>
              <a:spcBef>
                <a:spcPts val="0"/>
              </a:spcBef>
              <a:buClr>
                <a:srgbClr val="ECC665"/>
              </a:buClr>
              <a:buSzPct val="100000"/>
              <a:buFont typeface="Arial"/>
              <a:buChar char="•"/>
            </a:pPr>
            <a:r>
              <a:rPr lang="en-US" sz="1800" b="true">
                <a:solidFill>
                  <a:srgbClr val="FFFFFF"/>
                </a:solidFill>
                <a:latin typeface="Nunito Bold"/>
                <a:ea typeface="Nunito Bold"/>
                <a:cs typeface="Nunito Bold"/>
                <a:sym typeface="Nunito Bold"/>
              </a:rPr>
              <a:t>Temperature and dew point dominate</a:t>
            </a:r>
            <a:r>
              <a:rPr lang="en-US" sz="1800" b="true">
                <a:solidFill>
                  <a:srgbClr val="FFFFFF"/>
                </a:solidFill>
                <a:latin typeface="Nunito Semi-Bold"/>
                <a:ea typeface="Nunito Semi-Bold"/>
                <a:cs typeface="Nunito Semi-Bold"/>
                <a:sym typeface="Nunito Semi-Bold"/>
              </a:rPr>
              <a:t>: they separate the broad atmospheric regimes.</a:t>
            </a:r>
          </a:p>
          <a:p>
            <a:pPr algn="l" marL="274320" indent="-274320">
              <a:lnSpc>
                <a:spcPts val="2520"/>
              </a:lnSpc>
              <a:spcBef>
                <a:spcPts val="600"/>
              </a:spcBef>
              <a:buClr>
                <a:srgbClr val="ECC665"/>
              </a:buClr>
              <a:buSzPct val="100000"/>
              <a:buFont typeface="Arial"/>
              <a:buChar char="•"/>
            </a:pPr>
            <a:r>
              <a:rPr lang="en-US" sz="1800" b="true">
                <a:solidFill>
                  <a:srgbClr val="FFFFFF"/>
                </a:solidFill>
                <a:latin typeface="Nunito Semi-Bold"/>
                <a:ea typeface="Nunito Semi-Bold"/>
                <a:cs typeface="Nunito Semi-Bold"/>
                <a:sym typeface="Nunito Semi-Bold"/>
              </a:rPr>
              <a:t>Parent-level story = which regime the observation belongs to.</a:t>
            </a:r>
          </a:p>
        </p:txBody>
      </p:sp>
      <p:sp>
        <p:nvSpPr>
          <p:cNvPr id="31" name="Rounded Rectangle 30"/>
          <p:cNvSpPr/>
          <p:nvPr/>
        </p:nvSpPr>
        <p:spPr>
          <a:xfrm>
            <a:off x="9326880" y="6198362"/>
            <a:ext cx="7932420" cy="2148840"/>
          </a:xfrm>
          <a:prstGeom prst="roundRect">
            <a:avLst>
              <a:gd name="adj" fmla="val 14468"/>
            </a:avLst>
          </a:prstGeom>
          <a:solidFill>
            <a:srgbClr val="F6ECDF"/>
          </a:solidFill>
          <a:ln>
            <a:noFill/>
          </a:ln>
        </p:spPr>
        <p:txBody>
          <a:bodyPr anchor="ctr" rtlCol="false" lIns="0" tIns="0" rIns="0" bIns="0" wrap="square"/>
          <a:lstStyle/>
          <a:p>
            <a:endParaRPr lang="en-US" sz="1800"/>
          </a:p>
        </p:txBody>
      </p:sp>
      <p:sp>
        <p:nvSpPr>
          <p:cNvPr id="32" name="Rounded Rectangle 31"/>
          <p:cNvSpPr/>
          <p:nvPr/>
        </p:nvSpPr>
        <p:spPr>
          <a:xfrm>
            <a:off x="9784080" y="5960618"/>
            <a:ext cx="6203063"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Within clusters · variation inside a regime</a:t>
            </a:r>
          </a:p>
        </p:txBody>
      </p:sp>
      <p:sp>
        <p:nvSpPr>
          <p:cNvPr id="33" name="TextBox 32"/>
          <p:cNvSpPr txBox="1"/>
          <p:nvPr/>
        </p:nvSpPr>
        <p:spPr>
          <a:xfrm>
            <a:off x="9784080" y="6747002"/>
            <a:ext cx="7063740" cy="1371600"/>
          </a:xfrm>
          <a:prstGeom prst="rect">
            <a:avLst/>
          </a:prstGeom>
          <a:noFill/>
        </p:spPr>
        <p:txBody>
          <a:bodyPr anchor="t" rtlCol="false" lIns="0" tIns="0" rIns="0" bIns="0" wrap="square"/>
          <a:lstStyle/>
          <a:p>
            <a:pPr algn="l" marL="274320" indent="-274320">
              <a:lnSpc>
                <a:spcPts val="2520"/>
              </a:lnSpc>
              <a:spcBef>
                <a:spcPts val="0"/>
              </a:spcBef>
              <a:buClr>
                <a:srgbClr val="1F7A8C"/>
              </a:buClr>
              <a:buSzPct val="100000"/>
              <a:buFont typeface="Arial"/>
              <a:buChar char="•"/>
            </a:pPr>
            <a:r>
              <a:rPr lang="en-US" sz="1800" b="true">
                <a:solidFill>
                  <a:srgbClr val="111111"/>
                </a:solidFill>
                <a:latin typeface="Nunito Bold"/>
                <a:ea typeface="Nunito Bold"/>
                <a:cs typeface="Nunito Bold"/>
                <a:sym typeface="Nunito Bold"/>
              </a:rPr>
              <a:t>CO, SO₂, PM10, wind speed, pressure or ozone</a:t>
            </a:r>
            <a:r>
              <a:rPr lang="en-US" sz="1800" b="true">
                <a:solidFill>
                  <a:srgbClr val="111111"/>
                </a:solidFill>
                <a:latin typeface="Nunito Semi-Bold"/>
                <a:ea typeface="Nunito Semi-Bold"/>
                <a:cs typeface="Nunito Semi-Bold"/>
                <a:sym typeface="Nunito Semi-Bold"/>
              </a:rPr>
              <a:t> become more informative.</a:t>
            </a:r>
          </a:p>
          <a:p>
            <a:pPr algn="l" marL="274320" indent="-274320">
              <a:lnSpc>
                <a:spcPts val="2520"/>
              </a:lnSpc>
              <a:spcBef>
                <a:spcPts val="600"/>
              </a:spcBef>
              <a:buClr>
                <a:srgbClr val="1F7A8C"/>
              </a:buClr>
              <a:buSzPct val="100000"/>
              <a:buFont typeface="Arial"/>
              <a:buChar char="•"/>
            </a:pPr>
            <a:r>
              <a:rPr lang="en-US" sz="1800" b="true">
                <a:solidFill>
                  <a:srgbClr val="111111"/>
                </a:solidFill>
                <a:latin typeface="Nunito Semi-Bold"/>
                <a:ea typeface="Nunito Semi-Bold"/>
                <a:cs typeface="Nunito Semi-Bold"/>
                <a:sym typeface="Nunito Semi-Bold"/>
              </a:rPr>
              <a:t>Cluster-level story = what varies once the regime is fixed.</a:t>
            </a:r>
          </a:p>
        </p:txBody>
      </p:sp>
      <p:sp>
        <p:nvSpPr>
          <p:cNvPr id="34" name="Rounded Rectangle 33"/>
          <p:cNvSpPr/>
          <p:nvPr/>
        </p:nvSpPr>
        <p:spPr>
          <a:xfrm>
            <a:off x="1028700" y="8621522"/>
            <a:ext cx="16230600" cy="595630"/>
          </a:xfrm>
          <a:prstGeom prst="roundRect">
            <a:avLst>
              <a:gd name="adj" fmla="val 46055"/>
            </a:avLst>
          </a:prstGeom>
          <a:noFill/>
          <a:ln w="31750">
            <a:solidFill>
              <a:srgbClr val="1F7A8C"/>
            </a:solidFill>
          </a:ln>
        </p:spPr>
        <p:txBody>
          <a:bodyPr anchor="ctr" rtlCol="false" lIns="0" tIns="0" rIns="0" bIns="0" wrap="square"/>
          <a:lstStyle/>
          <a:p>
            <a:endParaRPr lang="en-US" sz="1800"/>
          </a:p>
        </p:txBody>
      </p:sp>
      <p:sp>
        <p:nvSpPr>
          <p:cNvPr id="35" name="TextBox 34"/>
          <p:cNvSpPr txBox="1"/>
          <p:nvPr/>
        </p:nvSpPr>
        <p:spPr>
          <a:xfrm>
            <a:off x="1485900" y="8731250"/>
            <a:ext cx="15316200" cy="376174"/>
          </a:xfrm>
          <a:prstGeom prst="rect">
            <a:avLst/>
          </a:prstGeom>
          <a:noFill/>
        </p:spPr>
        <p:txBody>
          <a:bodyPr anchor="ctr" rtlCol="false" lIns="0" tIns="0" rIns="0" bIns="0" wrap="square"/>
          <a:lstStyle/>
          <a:p>
            <a:pPr algn="l">
              <a:lnSpc>
                <a:spcPts val="1764"/>
              </a:lnSpc>
              <a:spcBef>
                <a:spcPts val="0"/>
              </a:spcBef>
              <a:buNone/>
            </a:pPr>
            <a:r>
              <a:rPr lang="en-US" sz="1260" b="true">
                <a:solidFill>
                  <a:srgbClr val="111111"/>
                </a:solidFill>
                <a:latin typeface="Nunito Bold"/>
                <a:ea typeface="Nunito Bold"/>
                <a:cs typeface="Nunito Bold"/>
                <a:sym typeface="Nunito Bold"/>
              </a:rPr>
              <a:t>This change is NOT a contradiction. It is exactly what a multi-level explanation should reveal.</a:t>
            </a:r>
            <a:r>
              <a:rPr lang="en-US" sz="1260" b="true">
                <a:solidFill>
                  <a:srgbClr val="111111"/>
                </a:solidFill>
                <a:latin typeface="Nunito Semi-Bold"/>
                <a:ea typeface="Nunito Semi-Bold"/>
                <a:cs typeface="Nunito Semi-Bold"/>
                <a:sym typeface="Nunito Semi-Bold"/>
              </a:rPr>
              <a:t> A variable can be </a:t>
            </a:r>
            <a:r>
              <a:rPr lang="en-US" sz="1260" b="true">
                <a:solidFill>
                  <a:srgbClr val="111111"/>
                </a:solidFill>
                <a:latin typeface="Nunito Bold"/>
                <a:ea typeface="Nunito Bold"/>
                <a:cs typeface="Nunito Bold"/>
                <a:sym typeface="Nunito Bold"/>
              </a:rPr>
              <a:t>globally important yet locally uninformative</a:t>
            </a:r>
            <a:r>
              <a:rPr lang="en-US" sz="1260" b="true">
                <a:solidFill>
                  <a:srgbClr val="111111"/>
                </a:solidFill>
                <a:latin typeface="Nunito Semi-Bold"/>
                <a:ea typeface="Nunito Semi-Bold"/>
                <a:cs typeface="Nunito Semi-Bold"/>
                <a:sym typeface="Nunito Semi-Bold"/>
              </a:rPr>
              <a:t> inside a sub-cluster; Proposition 6.1 guarantees the two readings agree, up to the surrogate residual.</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47</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 to RQ2</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546602"/>
            <a:ext cx="16230600" cy="1463040"/>
          </a:xfrm>
          <a:prstGeom prst="roundRect">
            <a:avLst>
              <a:gd name="adj" fmla="val 13750"/>
            </a:avLst>
          </a:prstGeom>
          <a:solidFill>
            <a:srgbClr val="F6ECDF"/>
          </a:solidFill>
          <a:ln w="25400">
            <a:solidFill>
              <a:srgbClr val="4472C4"/>
            </a:solidFill>
          </a:ln>
        </p:spPr>
        <p:txBody>
          <a:bodyPr anchor="ctr" rtlCol="false" lIns="0" tIns="0" rIns="0" bIns="0" wrap="square"/>
          <a:lstStyle/>
          <a:p>
            <a:endParaRPr lang="en-US" sz="1800"/>
          </a:p>
        </p:txBody>
      </p:sp>
      <p:sp>
        <p:nvSpPr>
          <p:cNvPr id="26" name="Rounded Rectangle 25"/>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RQ2</a:t>
            </a:r>
          </a:p>
        </p:txBody>
      </p:sp>
      <p:sp>
        <p:nvSpPr>
          <p:cNvPr id="27" name="TextBox 26"/>
          <p:cNvSpPr txBox="1"/>
          <p:nvPr/>
        </p:nvSpPr>
        <p:spPr>
          <a:xfrm>
            <a:off x="1394460" y="3820922"/>
            <a:ext cx="15499080" cy="105156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Bold"/>
                <a:ea typeface="Nunito Bold"/>
                <a:cs typeface="Nunito Bold"/>
                <a:sym typeface="Nunito Bold"/>
              </a:rPr>
              <a:t>Yes, within bounds.</a:t>
            </a:r>
            <a:r>
              <a:rPr lang="en-US" sz="2200" b="true">
                <a:solidFill>
                  <a:srgbClr val="111111"/>
                </a:solidFill>
                <a:latin typeface="Nunito Semi-Bold"/>
                <a:ea typeface="Nunito Semi-Bold"/>
                <a:cs typeface="Nunito Semi-Bold"/>
                <a:sym typeface="Nunito Semi-Bold"/>
              </a:rPr>
              <a:t> Consistency is kept at scale and across levels: a nested workflow with level-specific surrogates, backed by Proposition 6.1, explains 383,585 records in the original variable space.</a:t>
            </a:r>
          </a:p>
        </p:txBody>
      </p:sp>
      <p:graphicFrame>
        <p:nvGraphicFramePr>
          <p:cNvPr id="28" name="Table 27"/>
          <p:cNvGraphicFramePr>
            <a:graphicFrameLocks noGrp="1"/>
          </p:cNvGraphicFramePr>
          <p:nvPr/>
        </p:nvGraphicFramePr>
        <p:xfrm>
          <a:off x="1028700" y="5421122"/>
          <a:ext cx="16230599" cy="3173984"/>
        </p:xfrm>
        <a:graphic>
          <a:graphicData uri="http://schemas.openxmlformats.org/drawingml/2006/table">
            <a:tbl>
              <a:tblPr firstRow="0" bandRow="0" firstCol="0" lastRow="0" lastCol="0" bandCol="0">
                <a:tableStyleId>{2D5ABB26-0587-4C30-8999-92F81FD0307C}</a:tableStyleId>
              </a:tblPr>
              <a:tblGrid>
                <a:gridCol w="5410200"/>
                <a:gridCol w="1456592"/>
                <a:gridCol w="9363807"/>
              </a:tblGrid>
              <a:tr h="7772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A truly multi-level workflow</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Coarse regimes, then sub-clusters, each with its own surrogate; no single flat summary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724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Formal cross-level consistency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Proposition 6.1: parent importance = size-weighted expectation over children, up to </a:t>
                      </a:r>
                      <a:r>
                        <a:rPr lang="en-US" sz="1800" b="true">
                          <a:solidFill>
                            <a:srgbClr val="111111"/>
                          </a:solidFill>
                          <a:latin typeface="Calibri"/>
                          <a:ea typeface="Calibri"/>
                          <a:cs typeface="Calibri"/>
                          <a:sym typeface="Calibri"/>
                        </a:rPr>
                        <a:t>ε</a:t>
                      </a:r>
                      <a:r>
                        <a:rPr lang="en-US" sz="1800" b="true" baseline="-25000">
                          <a:solidFill>
                            <a:srgbClr val="111111"/>
                          </a:solidFill>
                          <a:latin typeface="Nunito Semi-Bold"/>
                          <a:ea typeface="Nunito Semi-Bold"/>
                          <a:cs typeface="Nunito Semi-Bold"/>
                          <a:sym typeface="Nunito Semi-Bold"/>
                        </a:rPr>
                        <a:t>j</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809752">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Validation on very different large-scale data</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Beijing Air Quality: Silhouette ≈ 0.63, three physically meaningful regimes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 Louhichi, M., Nesmaoui, R. &amp; Lazaar, M. Game Theory Meets Explainable AI: An Enhanced Approach to Understanding Black Box Models Through Shapley Values. IJACSA 16(7), 716–725 (2025).   [18] Gramegna, A. &amp; Giudici, P. SHAP and LIME: An Evaluation of Discriminative Power in Credit Risk. Frontiers in AI 4, 752558 (2021).</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48</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363722"/>
            <a:ext cx="16230600" cy="1339913"/>
          </a:xfrm>
          <a:prstGeom prst="roundRect">
            <a:avLst>
              <a:gd name="adj" fmla="val 15013"/>
            </a:avLst>
          </a:prstGeom>
          <a:solidFill>
            <a:srgbClr val="F6ECDF"/>
          </a:solidFill>
          <a:ln>
            <a:noFill/>
          </a:ln>
        </p:spPr>
        <p:txBody>
          <a:bodyPr anchor="ctr" rtlCol="false" lIns="0" tIns="0" rIns="0" bIns="0" wrap="square"/>
          <a:lstStyle/>
          <a:p>
            <a:endParaRPr lang="en-US" sz="1800"/>
          </a:p>
        </p:txBody>
      </p:sp>
      <p:sp>
        <p:nvSpPr>
          <p:cNvPr id="26" name="Oval 25"/>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27" name="TextBox 26"/>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Weather, not only pollution, defines the structure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Temperature, dew point and pressure lead the coarse-level ranking; they set the regime that pollutants then vary within.</a:t>
            </a:r>
          </a:p>
        </p:txBody>
      </p:sp>
      <p:sp>
        <p:nvSpPr>
          <p:cNvPr id="28" name="Rounded Rectangle 27"/>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29" name="Oval 28"/>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0" name="TextBox 29"/>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Importance legitimately changes with the level</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A variable can be globally important yet locally uninformative; Proposition 6.1 makes that difference interpretable rather than contradictory.</a:t>
            </a:r>
          </a:p>
        </p:txBody>
      </p:sp>
      <p:sp>
        <p:nvSpPr>
          <p:cNvPr id="31" name="Rounded Rectangle 30"/>
          <p:cNvSpPr/>
          <p:nvPr/>
        </p:nvSpPr>
        <p:spPr>
          <a:xfrm>
            <a:off x="1028700" y="6372733"/>
            <a:ext cx="16230600" cy="1339913"/>
          </a:xfrm>
          <a:prstGeom prst="roundRect">
            <a:avLst>
              <a:gd name="adj" fmla="val 15013"/>
            </a:avLst>
          </a:prstGeom>
          <a:solidFill>
            <a:srgbClr val="F6ECDF"/>
          </a:solidFill>
          <a:ln>
            <a:noFill/>
          </a:ln>
        </p:spPr>
        <p:txBody>
          <a:bodyPr anchor="ctr" rtlCol="false" lIns="0" tIns="0" rIns="0" bIns="0" wrap="square"/>
          <a:lstStyle/>
          <a:p>
            <a:endParaRPr lang="en-US" sz="1800"/>
          </a:p>
        </p:txBody>
      </p:sp>
      <p:sp>
        <p:nvSpPr>
          <p:cNvPr id="32" name="Oval 31"/>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3" name="TextBox 32"/>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explanation scales</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Level-specific surrogates and exact TreeSHAP keep the cost linear in the data, not exponential in the features.</a:t>
            </a:r>
          </a:p>
        </p:txBody>
      </p:sp>
      <p:sp>
        <p:nvSpPr>
          <p:cNvPr id="34" name="Rounded Rectangle 33"/>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5" name="Oval 34"/>
          <p:cNvSpPr/>
          <p:nvPr/>
        </p:nvSpPr>
        <p:spPr>
          <a:xfrm>
            <a:off x="1303020" y="8263731"/>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36" name="TextBox 35"/>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logic transfers across domains</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Same pipeline, same reading, from 4,898 wines to 383,585 hourly air-quality records, with a Silhouette ≈ 0.63 against 0.37 in the reference SHAP-clustering study.</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49</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6" name="TextBox 25"/>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STATIC CLUSTERING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partition is </a:t>
            </a:r>
            <a:r>
              <a:rPr lang="en-US" sz="1900" b="true">
                <a:solidFill>
                  <a:srgbClr val="FFFFFF"/>
                </a:solidFill>
                <a:latin typeface="Nunito Bold"/>
                <a:ea typeface="Nunito Bold"/>
                <a:cs typeface="Nunito Bold"/>
                <a:sym typeface="Nunito Bold"/>
              </a:rPr>
              <a:t>static</a:t>
            </a:r>
            <a:r>
              <a:rPr lang="en-US" sz="1900" b="true">
                <a:solidFill>
                  <a:srgbClr val="FFFFFF"/>
                </a:solidFill>
                <a:latin typeface="Nunito Semi-Bold"/>
                <a:ea typeface="Nunito Semi-Bold"/>
                <a:cs typeface="Nunito Semi-Bold"/>
                <a:sym typeface="Nunito Semi-Bold"/>
              </a:rPr>
              <a:t>, even though the Beijing data are temporal; drift between years is not modelled.</a:t>
            </a:r>
          </a:p>
        </p:txBody>
      </p:sp>
      <p:sp>
        <p:nvSpPr>
          <p:cNvPr id="27" name="Rounded Rectangle 26"/>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28" name="TextBox 27"/>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SMOOTHING</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Surrogate-based SHAP plus representative-instance reporting </a:t>
            </a:r>
            <a:r>
              <a:rPr lang="en-US" sz="1900" b="true">
                <a:solidFill>
                  <a:srgbClr val="FFFFFF"/>
                </a:solidFill>
                <a:latin typeface="Nunito Bold"/>
                <a:ea typeface="Nunito Bold"/>
                <a:cs typeface="Nunito Bold"/>
                <a:sym typeface="Nunito Bold"/>
              </a:rPr>
              <a:t>smooth out variation between single observations</a:t>
            </a:r>
            <a:r>
              <a:rPr lang="en-US" sz="1900" b="true">
                <a:solidFill>
                  <a:srgbClr val="FFFFFF"/>
                </a:solidFill>
                <a:latin typeface="Nunito Semi-Bold"/>
                <a:ea typeface="Nunito Semi-Bold"/>
                <a:cs typeface="Nunito Semi-Bold"/>
                <a:sym typeface="Nunito Semi-Bold"/>
              </a:rPr>
              <a:t>.</a:t>
            </a:r>
          </a:p>
        </p:txBody>
      </p:sp>
      <p:sp>
        <p:nvSpPr>
          <p:cNvPr id="29" name="Rounded Rectangle 28"/>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0" name="TextBox 29"/>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TABULAR ONLY</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Still limited to </a:t>
            </a:r>
            <a:r>
              <a:rPr lang="en-US" sz="1900" b="true">
                <a:solidFill>
                  <a:srgbClr val="FFFFFF"/>
                </a:solidFill>
                <a:latin typeface="Nunito Bold"/>
                <a:ea typeface="Nunito Bold"/>
                <a:cs typeface="Nunito Bold"/>
                <a:sym typeface="Nunito Bold"/>
              </a:rPr>
              <a:t>tabular data</a:t>
            </a:r>
            <a:r>
              <a:rPr lang="en-US" sz="1900" b="true">
                <a:solidFill>
                  <a:srgbClr val="FFFFFF"/>
                </a:solidFill>
                <a:latin typeface="Nunito Semi-Bold"/>
                <a:ea typeface="Nunito Semi-Bold"/>
                <a:cs typeface="Nunito Semi-Bold"/>
                <a:sym typeface="Nunito Semi-Bold"/>
              </a:rPr>
              <a:t>; no graph, text or image input.</a:t>
            </a:r>
          </a:p>
        </p:txBody>
      </p:sp>
      <p:sp>
        <p:nvSpPr>
          <p:cNvPr id="31" name="Rounded Rectangle 30"/>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2" name="TextBox 31"/>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POST-HOC</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Still an explanation of a </a:t>
            </a:r>
            <a:r>
              <a:rPr lang="en-US" sz="1900" b="true">
                <a:solidFill>
                  <a:srgbClr val="FFFFFF"/>
                </a:solidFill>
                <a:latin typeface="Nunito Bold"/>
                <a:ea typeface="Nunito Bold"/>
                <a:cs typeface="Nunito Bold"/>
                <a:sym typeface="Nunito Bold"/>
              </a:rPr>
              <a:t>pre-computed partition</a:t>
            </a:r>
            <a:r>
              <a:rPr lang="en-US" sz="1900" b="true">
                <a:solidFill>
                  <a:srgbClr val="FFFFFF"/>
                </a:solidFill>
                <a:latin typeface="Nunito Semi-Bold"/>
                <a:ea typeface="Nunito Semi-Bold"/>
                <a:cs typeface="Nunito Semi-Bold"/>
                <a:sym typeface="Nunito Semi-Bold"/>
              </a:rPr>
              <a:t>: attribution does not influence learning.</a:t>
            </a:r>
          </a:p>
        </p:txBody>
      </p:sp>
      <p:sp>
        <p:nvSpPr>
          <p:cNvPr id="33" name="Rounded Rectangle 32"/>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The </a:t>
            </a:r>
            <a:r>
              <a:rPr lang="en-US" sz="2000" b="true">
                <a:solidFill>
                  <a:srgbClr val="111111"/>
                </a:solidFill>
                <a:latin typeface="Nunito Bold"/>
                <a:ea typeface="Nunito Bold"/>
                <a:cs typeface="Nunito Bold"/>
                <a:sym typeface="Nunito Bold"/>
              </a:rPr>
              <a:t>post-hoc</a:t>
            </a:r>
            <a:r>
              <a:rPr lang="en-US" sz="2000" b="true">
                <a:solidFill>
                  <a:srgbClr val="111111"/>
                </a:solidFill>
                <a:latin typeface="Nunito Semi-Bold"/>
                <a:ea typeface="Nunito Semi-Bold"/>
                <a:cs typeface="Nunito Semi-Bold"/>
                <a:sym typeface="Nunito Semi-Bold"/>
              </a:rPr>
              <a:t> limitation is the one that opens the door to Contribution III: what if attribution could shape the learning itself?</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50</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 MULTI-LEVEL XAI FOR LARGE-SCALE CLUSTERING</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II</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6" name="TextBox 25"/>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Consistent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Parent and child explanations agree by construction (Proposition 6.1).</a:t>
            </a:r>
          </a:p>
        </p:txBody>
      </p:sp>
      <p:sp>
        <p:nvSpPr>
          <p:cNvPr id="27" name="Rounded Rectangle 26"/>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28" name="TextBox 27"/>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Against scale</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383,585 records explained with level-specific surrogates, at a linear cost.</a:t>
            </a:r>
          </a:p>
        </p:txBody>
      </p:sp>
      <p:sp>
        <p:nvSpPr>
          <p:cNvPr id="29" name="Rounded Rectangle 28"/>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0" name="TextBox 29"/>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Still post-hoc</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attribution explains a partition that was already computed.</a:t>
            </a:r>
          </a:p>
        </p:txBody>
      </p:sp>
      <p:sp>
        <p:nvSpPr>
          <p:cNvPr id="31" name="Rounded Rectangle 30"/>
          <p:cNvSpPr/>
          <p:nvPr/>
        </p:nvSpPr>
        <p:spPr>
          <a:xfrm>
            <a:off x="1028700" y="6472682"/>
            <a:ext cx="16230600" cy="1600200"/>
          </a:xfrm>
          <a:prstGeom prst="roundRect">
            <a:avLst>
              <a:gd name="adj" fmla="val 12571"/>
            </a:avLst>
          </a:prstGeom>
          <a:solidFill>
            <a:srgbClr val="F6ECDF"/>
          </a:solidFill>
          <a:ln w="25400">
            <a:solidFill>
              <a:srgbClr val="1F7A8C"/>
            </a:solidFill>
          </a:ln>
        </p:spPr>
        <p:txBody>
          <a:bodyPr anchor="ctr" rtlCol="false" lIns="0" tIns="0" rIns="0" bIns="0" wrap="square"/>
          <a:lstStyle/>
          <a:p>
            <a:endParaRPr lang="en-US" sz="1800"/>
          </a:p>
        </p:txBody>
      </p:sp>
      <p:sp>
        <p:nvSpPr>
          <p:cNvPr id="32" name="Rounded Rectangle 31"/>
          <p:cNvSpPr/>
          <p:nvPr/>
        </p:nvSpPr>
        <p:spPr>
          <a:xfrm>
            <a:off x="1348740" y="6280658"/>
            <a:ext cx="3419631"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II</a:t>
            </a:r>
          </a:p>
        </p:txBody>
      </p:sp>
      <p:sp>
        <p:nvSpPr>
          <p:cNvPr id="33" name="TextBox 32"/>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Shapley attribution stays </a:t>
            </a:r>
            <a:r>
              <a:rPr lang="en-US" sz="2300" b="true">
                <a:solidFill>
                  <a:srgbClr val="111111"/>
                </a:solidFill>
                <a:latin typeface="Nunito Bold"/>
                <a:ea typeface="Nunito Bold"/>
                <a:cs typeface="Nunito Bold"/>
                <a:sym typeface="Nunito Bold"/>
              </a:rPr>
              <a:t>consistent across levels of detail</a:t>
            </a:r>
            <a:r>
              <a:rPr lang="en-US" sz="2300" b="true">
                <a:solidFill>
                  <a:srgbClr val="111111"/>
                </a:solidFill>
                <a:latin typeface="Nunito Semi-Bold"/>
                <a:ea typeface="Nunito Semi-Bold"/>
                <a:cs typeface="Nunito Semi-Bold"/>
                <a:sym typeface="Nunito Semi-Bold"/>
              </a:rPr>
              <a:t> when the hierarchy is explicit, so explanations become interpretable </a:t>
            </a:r>
            <a:r>
              <a:rPr lang="en-US" sz="2300" b="true">
                <a:solidFill>
                  <a:srgbClr val="111111"/>
                </a:solidFill>
                <a:latin typeface="Nunito Bold"/>
                <a:ea typeface="Nunito Bold"/>
                <a:cs typeface="Nunito Bold"/>
                <a:sym typeface="Nunito Bold"/>
              </a:rPr>
              <a:t>against scale</a:t>
            </a:r>
            <a:r>
              <a:rPr lang="en-US" sz="2300" b="true">
                <a:solidFill>
                  <a:srgbClr val="111111"/>
                </a:solidFill>
                <a:latin typeface="Nunito Semi-Bold"/>
                <a:ea typeface="Nunito Semi-Bold"/>
                <a:cs typeface="Nunito Semi-Bold"/>
                <a:sym typeface="Nunito Semi-Bold"/>
              </a:rPr>
              <a:t>, not just against one flat partition.</a:t>
            </a:r>
          </a:p>
        </p:txBody>
      </p:sp>
      <p:sp>
        <p:nvSpPr>
          <p:cNvPr id="34" name="Rounded Rectangle 33"/>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Bold"/>
                <a:ea typeface="Nunito Bold"/>
                <a:cs typeface="Nunito Bold"/>
                <a:sym typeface="Nunito Bold"/>
              </a:rPr>
              <a:t>Next step:</a:t>
            </a:r>
            <a:r>
              <a:rPr lang="en-US" sz="2000" b="true">
                <a:solidFill>
                  <a:srgbClr val="FFFFFF"/>
                </a:solidFill>
                <a:latin typeface="Nunito Semi-Bold"/>
                <a:ea typeface="Nunito Semi-Bold"/>
                <a:cs typeface="Nunito Semi-Bold"/>
                <a:sym typeface="Nunito Semi-Bold"/>
              </a:rPr>
              <a:t> let attribution shape the learning itself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Contribution III</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51</a:t>
            </a:r>
          </a:p>
        </p:txBody>
      </p:sp>
      <p:sp>
        <p:nvSpPr>
          <p:cNvPr id="5" name="TextBox 4"/>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Contribution III</a:t>
            </a:r>
          </a:p>
        </p:txBody>
      </p:sp>
      <p:sp>
        <p:nvSpPr>
          <p:cNvPr id="6" name="Oval 5"/>
          <p:cNvSpPr/>
          <p:nvPr/>
        </p:nvSpPr>
        <p:spPr>
          <a:xfrm>
            <a:off x="14131423"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7" name="TextBox 6"/>
          <p:cNvSpPr txBox="1"/>
          <p:nvPr/>
        </p:nvSpPr>
        <p:spPr>
          <a:xfrm>
            <a:off x="14131423"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06</a:t>
            </a:r>
          </a:p>
        </p:txBody>
      </p:sp>
      <p:sp>
        <p:nvSpPr>
          <p:cNvPr id="8" name="TextBox 7"/>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DyHuCoG: a Dynamic Hypergraph Cooperative Game for recommendation  ·  answers RQ3 &amp; RQ4</a:t>
            </a:r>
          </a:p>
        </p:txBody>
      </p:sp>
      <p:sp>
        <p:nvSpPr>
          <p:cNvPr id="9" name="Rectangle 8"/>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0" name="TextBox 9"/>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Objectives</a:t>
            </a:r>
          </a:p>
        </p:txBody>
      </p:sp>
      <p:cxnSp>
        <p:nvCxnSpPr>
          <p:cNvPr id="11" name="Connector 10"/>
          <p:cNvCxnSpPr/>
          <p:nvPr/>
        </p:nvCxnSpPr>
        <p:spPr>
          <a:xfrm>
            <a:off x="1028700" y="6464808"/>
            <a:ext cx="640080" cy="0"/>
          </a:xfrm>
          <a:prstGeom prst="line">
            <a:avLst/>
          </a:prstGeom>
          <a:ln w="31750">
            <a:solidFill>
              <a:srgbClr val="ECC665"/>
            </a:solidFill>
          </a:ln>
        </p:spPr>
      </p:cxnSp>
      <p:sp>
        <p:nvSpPr>
          <p:cNvPr id="12" name="TextBox 11"/>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Formulate recommendation as a cooperative game over users, items and contexts; make attribution an in-training signal.</a:t>
            </a:r>
          </a:p>
        </p:txBody>
      </p:sp>
      <p:sp>
        <p:nvSpPr>
          <p:cNvPr id="13" name="TextBox 12"/>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Methodology</a:t>
            </a:r>
          </a:p>
        </p:txBody>
      </p:sp>
      <p:cxnSp>
        <p:nvCxnSpPr>
          <p:cNvPr id="14" name="Connector 13"/>
          <p:cNvCxnSpPr/>
          <p:nvPr/>
        </p:nvCxnSpPr>
        <p:spPr>
          <a:xfrm>
            <a:off x="6576060" y="6464808"/>
            <a:ext cx="640080" cy="0"/>
          </a:xfrm>
          <a:prstGeom prst="line">
            <a:avLst/>
          </a:prstGeom>
          <a:ln w="31750">
            <a:solidFill>
              <a:srgbClr val="ECC665"/>
            </a:solidFill>
          </a:ln>
        </p:spPr>
      </p:cxnSp>
      <p:sp>
        <p:nvSpPr>
          <p:cNvPr id="15" name="TextBox 14"/>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Preference-aware Monte Carlo Shapley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dynamic hypergraph edge weights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attention-gated, context-aware scoring; multi-objective loss.</a:t>
            </a:r>
          </a:p>
        </p:txBody>
      </p:sp>
      <p:sp>
        <p:nvSpPr>
          <p:cNvPr id="16" name="TextBox 15"/>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Results</a:t>
            </a:r>
          </a:p>
        </p:txBody>
      </p:sp>
      <p:cxnSp>
        <p:nvCxnSpPr>
          <p:cNvPr id="17" name="Connector 16"/>
          <p:cNvCxnSpPr/>
          <p:nvPr/>
        </p:nvCxnSpPr>
        <p:spPr>
          <a:xfrm>
            <a:off x="12123420" y="6464808"/>
            <a:ext cx="640080" cy="0"/>
          </a:xfrm>
          <a:prstGeom prst="line">
            <a:avLst/>
          </a:prstGeom>
          <a:ln w="31750">
            <a:solidFill>
              <a:srgbClr val="ECC665"/>
            </a:solidFill>
          </a:ln>
        </p:spPr>
      </p:cxnSp>
      <p:sp>
        <p:nvSpPr>
          <p:cNvPr id="18" name="TextBox 17"/>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MovieLens-1M &amp; Amazon-Book: NDCG, Recall, Coverage and ILD improve together over HPCF; largest gains on the sparsest data.</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[12] He, X. et al. LightGCN: Simplifying and Powering Graph Convolution Network for Recommendation. SIGIR, 639–648 (2020).   [13] Xia, L. et al. Hypergraph Contrastive Collaborative Filtering (HCCF). SIGIR, 70–79 (2022).   [14] Xiangyi, Y. et al. Hypergraph Projection Enhanced Collaborative Filtering (HPCF). Int. J. Data Science and Analytics 19(2), 269–281 (2025).   [21] Zhang, Y. &amp; Chen, X. Explainable Recommendation: A Survey and New Perspectives. Foundations and Trends in IR 14(1), 1–101 (2020).   [23] Zhu, Z. et al. Popularity Bias in Dynamic Recommendation. KDD, 2439–2449 (2021).  ·  Hurley, N. &amp; Zhang, M. Novelty and Diversity in Top-N Recommendation. ACM TOIT 10(4) (2011).</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52</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Research Gap</a:t>
            </a:r>
          </a:p>
        </p:txBody>
      </p:sp>
      <p:sp>
        <p:nvSpPr>
          <p:cNvPr id="21" name="Rounded Rectangle 20"/>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16230600" cy="384175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Graph and hypergraph recommenders [12, 13, 14] treat message importance as </a:t>
            </a:r>
            <a:r>
              <a:rPr lang="en-US" sz="2100" b="true">
                <a:solidFill>
                  <a:srgbClr val="111111"/>
                </a:solidFill>
                <a:latin typeface="Nunito Bold"/>
                <a:ea typeface="Nunito Bold"/>
                <a:cs typeface="Nunito Bold"/>
                <a:sym typeface="Nunito Bold"/>
              </a:rPr>
              <a:t>uniform or attention-weighted</a:t>
            </a:r>
            <a:r>
              <a:rPr lang="en-US" sz="2100" b="true">
                <a:solidFill>
                  <a:srgbClr val="111111"/>
                </a:solidFill>
                <a:latin typeface="Nunito Semi-Bold"/>
                <a:ea typeface="Nunito Semi-Bold"/>
                <a:cs typeface="Nunito Semi-Bold"/>
                <a:sym typeface="Nunito Semi-Bold"/>
              </a:rPr>
              <a:t>, with no well-founded </a:t>
            </a:r>
            <a:r>
              <a:rPr lang="en-US" sz="2100" b="true">
                <a:solidFill>
                  <a:srgbClr val="111111"/>
                </a:solidFill>
                <a:latin typeface="Nunito Bold"/>
                <a:ea typeface="Nunito Bold"/>
                <a:cs typeface="Nunito Bold"/>
                <a:sym typeface="Nunito Bold"/>
              </a:rPr>
              <a:t>marginal-contribution</a:t>
            </a:r>
            <a:r>
              <a:rPr lang="en-US" sz="2100" b="true">
                <a:solidFill>
                  <a:srgbClr val="111111"/>
                </a:solidFill>
                <a:latin typeface="Nunito Semi-Bold"/>
                <a:ea typeface="Nunito Semi-Bold"/>
                <a:cs typeface="Nunito Semi-Bold"/>
                <a:sym typeface="Nunito Semi-Bold"/>
              </a:rPr>
              <a:t> account.</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Diversity is often a secondary goal or a </a:t>
            </a:r>
            <a:r>
              <a:rPr lang="en-US" sz="2100" b="true">
                <a:solidFill>
                  <a:srgbClr val="111111"/>
                </a:solidFill>
                <a:latin typeface="Nunito Bold"/>
                <a:ea typeface="Nunito Bold"/>
                <a:cs typeface="Nunito Bold"/>
                <a:sym typeface="Nunito Bold"/>
              </a:rPr>
              <a:t>re-ranking heuristic</a:t>
            </a:r>
            <a:r>
              <a:rPr lang="en-US" sz="2100" b="true">
                <a:solidFill>
                  <a:srgbClr val="111111"/>
                </a:solidFill>
                <a:latin typeface="Nunito Semi-Bold"/>
                <a:ea typeface="Nunito Semi-Bold"/>
                <a:cs typeface="Nunito Semi-Bold"/>
                <a:sym typeface="Nunito Semi-Bold"/>
              </a:rPr>
              <a:t> applied after the model has been trained [23].</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Interpretability is </a:t>
            </a:r>
            <a:r>
              <a:rPr lang="en-US" sz="2100" b="true">
                <a:solidFill>
                  <a:srgbClr val="111111"/>
                </a:solidFill>
                <a:latin typeface="Nunito Bold"/>
                <a:ea typeface="Nunito Bold"/>
                <a:cs typeface="Nunito Bold"/>
                <a:sym typeface="Nunito Bold"/>
              </a:rPr>
              <a:t>added after prediction</a:t>
            </a:r>
            <a:r>
              <a:rPr lang="en-US" sz="2100" b="true">
                <a:solidFill>
                  <a:srgbClr val="111111"/>
                </a:solidFill>
                <a:latin typeface="Nunito Semi-Bold"/>
                <a:ea typeface="Nunito Semi-Bold"/>
                <a:cs typeface="Nunito Semi-Bold"/>
                <a:sym typeface="Nunito Semi-Bold"/>
              </a:rPr>
              <a:t>, not built into the learning objective [21].</a:t>
            </a:r>
          </a:p>
          <a:p>
            <a:pPr algn="l" marL="274320" indent="-274320">
              <a:lnSpc>
                <a:spcPts val="2940"/>
              </a:lnSpc>
              <a:spcBef>
                <a:spcPts val="12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Contributions I and II showed that Shapley attribution is faithful and consistent, but it was still </a:t>
            </a:r>
            <a:r>
              <a:rPr lang="en-US" sz="2100" b="true">
                <a:solidFill>
                  <a:srgbClr val="111111"/>
                </a:solidFill>
                <a:latin typeface="Nunito Bold"/>
                <a:ea typeface="Nunito Bold"/>
                <a:cs typeface="Nunito Bold"/>
                <a:sym typeface="Nunito Bold"/>
              </a:rPr>
              <a:t>post-hoc</a:t>
            </a:r>
            <a:r>
              <a:rPr lang="en-US" sz="2100" b="true">
                <a:solidFill>
                  <a:srgbClr val="111111"/>
                </a:solidFill>
                <a:latin typeface="Nunito Semi-Bold"/>
                <a:ea typeface="Nunito Semi-Bold"/>
                <a:cs typeface="Nunito Semi-Bold"/>
                <a:sym typeface="Nunito Semi-Bold"/>
              </a:rPr>
              <a:t>: it never changed what the model learned.</a:t>
            </a:r>
          </a:p>
        </p:txBody>
      </p:sp>
      <p:sp>
        <p:nvSpPr>
          <p:cNvPr id="26" name="Rounded Rectangle 25"/>
          <p:cNvSpPr/>
          <p:nvPr/>
        </p:nvSpPr>
        <p:spPr>
          <a:xfrm>
            <a:off x="1028700" y="7616952"/>
            <a:ext cx="16230600" cy="1600200"/>
          </a:xfrm>
          <a:prstGeom prst="roundRect">
            <a:avLst>
              <a:gd name="adj" fmla="val 12571"/>
            </a:avLst>
          </a:prstGeom>
          <a:solidFill>
            <a:srgbClr val="F6ECDF"/>
          </a:solidFill>
          <a:ln w="25400">
            <a:solidFill>
              <a:srgbClr val="1F7A8C"/>
            </a:solidFill>
          </a:ln>
        </p:spPr>
        <p:txBody>
          <a:bodyPr anchor="ctr" rtlCol="false" lIns="0" tIns="0" rIns="0" bIns="0" wrap="square"/>
          <a:lstStyle/>
          <a:p>
            <a:endParaRPr lang="en-US" sz="1800"/>
          </a:p>
        </p:txBody>
      </p:sp>
      <p:sp>
        <p:nvSpPr>
          <p:cNvPr id="27" name="Rounded Rectangle 26"/>
          <p:cNvSpPr/>
          <p:nvPr/>
        </p:nvSpPr>
        <p:spPr>
          <a:xfrm>
            <a:off x="1348740" y="7424928"/>
            <a:ext cx="197653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RESEARCH GAP</a:t>
            </a:r>
          </a:p>
        </p:txBody>
      </p:sp>
      <p:sp>
        <p:nvSpPr>
          <p:cNvPr id="28" name="TextBox 27"/>
          <p:cNvSpPr txBox="1"/>
          <p:nvPr/>
        </p:nvSpPr>
        <p:spPr>
          <a:xfrm>
            <a:off x="1394460" y="7891272"/>
            <a:ext cx="15499080" cy="1188720"/>
          </a:xfrm>
          <a:prstGeom prst="rect">
            <a:avLst/>
          </a:prstGeom>
          <a:noFill/>
        </p:spPr>
        <p:txBody>
          <a:bodyPr anchor="ctr" rtlCol="false" lIns="0" tIns="0" rIns="0" bIns="0" wrap="square"/>
          <a:lstStyle/>
          <a:p>
            <a:pPr algn="l">
              <a:lnSpc>
                <a:spcPts val="3080"/>
              </a:lnSpc>
              <a:spcBef>
                <a:spcPts val="0"/>
              </a:spcBef>
              <a:buNone/>
            </a:pPr>
            <a:r>
              <a:rPr lang="en-US" sz="2200" b="true">
                <a:solidFill>
                  <a:srgbClr val="111111"/>
                </a:solidFill>
                <a:latin typeface="Nunito Semi-Bold"/>
                <a:ea typeface="Nunito Semi-Bold"/>
                <a:cs typeface="Nunito Semi-Bold"/>
                <a:sym typeface="Nunito Semi-Bold"/>
              </a:rPr>
              <a:t>No recommender uses a </a:t>
            </a:r>
            <a:r>
              <a:rPr lang="en-US" sz="2200" b="true">
                <a:solidFill>
                  <a:srgbClr val="111111"/>
                </a:solidFill>
                <a:latin typeface="Nunito Bold"/>
                <a:ea typeface="Nunito Bold"/>
                <a:cs typeface="Nunito Bold"/>
                <a:sym typeface="Nunito Bold"/>
              </a:rPr>
              <a:t>cooperative-game utility</a:t>
            </a:r>
            <a:r>
              <a:rPr lang="en-US" sz="2200" b="true">
                <a:solidFill>
                  <a:srgbClr val="111111"/>
                </a:solidFill>
                <a:latin typeface="Nunito Semi-Bold"/>
                <a:ea typeface="Nunito Semi-Bold"/>
                <a:cs typeface="Nunito Semi-Bold"/>
                <a:sym typeface="Nunito Semi-Bold"/>
              </a:rPr>
              <a:t> to decide, during training, how much each user, item and context should count, while keeping accuracy, context and diversity in the same objective.</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53</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RQ3, RQ4 and Objectives</a:t>
            </a:r>
          </a:p>
        </p:txBody>
      </p:sp>
      <p:sp>
        <p:nvSpPr>
          <p:cNvPr id="21" name="Rounded Rectangle 20"/>
          <p:cNvSpPr/>
          <p:nvPr/>
        </p:nvSpPr>
        <p:spPr>
          <a:xfrm>
            <a:off x="1028700" y="2559050"/>
            <a:ext cx="169155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Rounded Rectangle 24"/>
          <p:cNvSpPr/>
          <p:nvPr/>
        </p:nvSpPr>
        <p:spPr>
          <a:xfrm>
            <a:off x="1028700" y="3546602"/>
            <a:ext cx="7932420" cy="1417320"/>
          </a:xfrm>
          <a:prstGeom prst="roundRect">
            <a:avLst>
              <a:gd name="adj" fmla="val 14193"/>
            </a:avLst>
          </a:prstGeom>
          <a:solidFill>
            <a:srgbClr val="F6ECDF"/>
          </a:solidFill>
          <a:ln w="25400">
            <a:solidFill>
              <a:srgbClr val="4472C4"/>
            </a:solidFill>
          </a:ln>
        </p:spPr>
        <p:txBody>
          <a:bodyPr anchor="ctr" rtlCol="false" lIns="0" tIns="0" rIns="0" bIns="0" wrap="square"/>
          <a:lstStyle/>
          <a:p>
            <a:endParaRPr lang="en-US" sz="1800"/>
          </a:p>
        </p:txBody>
      </p:sp>
      <p:sp>
        <p:nvSpPr>
          <p:cNvPr id="26" name="Rounded Rectangle 25"/>
          <p:cNvSpPr/>
          <p:nvPr/>
        </p:nvSpPr>
        <p:spPr>
          <a:xfrm>
            <a:off x="134874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RQ3</a:t>
            </a:r>
          </a:p>
        </p:txBody>
      </p:sp>
      <p:sp>
        <p:nvSpPr>
          <p:cNvPr id="27" name="TextBox 26"/>
          <p:cNvSpPr txBox="1"/>
          <p:nvPr/>
        </p:nvSpPr>
        <p:spPr>
          <a:xfrm>
            <a:off x="1394460" y="3820922"/>
            <a:ext cx="7200900" cy="100584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Semi-Bold"/>
                <a:ea typeface="Nunito Semi-Bold"/>
                <a:cs typeface="Nunito Semi-Bold"/>
                <a:sym typeface="Nunito Semi-Bold"/>
              </a:rPr>
              <a:t>Can cooperative attribution move </a:t>
            </a:r>
            <a:r>
              <a:rPr lang="en-US" sz="1900" b="true">
                <a:solidFill>
                  <a:srgbClr val="111111"/>
                </a:solidFill>
                <a:latin typeface="Nunito Bold"/>
                <a:ea typeface="Nunito Bold"/>
                <a:cs typeface="Nunito Bold"/>
                <a:sym typeface="Nunito Bold"/>
              </a:rPr>
              <a:t>beyond post-hoc</a:t>
            </a:r>
            <a:r>
              <a:rPr lang="en-US" sz="1900" b="true">
                <a:solidFill>
                  <a:srgbClr val="111111"/>
                </a:solidFill>
                <a:latin typeface="Nunito Semi-Bold"/>
                <a:ea typeface="Nunito Semi-Bold"/>
                <a:cs typeface="Nunito Semi-Bold"/>
                <a:sym typeface="Nunito Semi-Bold"/>
              </a:rPr>
              <a:t> and become part of how a recommender learns?</a:t>
            </a:r>
          </a:p>
        </p:txBody>
      </p:sp>
      <p:sp>
        <p:nvSpPr>
          <p:cNvPr id="28" name="Rounded Rectangle 27"/>
          <p:cNvSpPr/>
          <p:nvPr/>
        </p:nvSpPr>
        <p:spPr>
          <a:xfrm>
            <a:off x="9326880" y="3546602"/>
            <a:ext cx="7932420" cy="1417320"/>
          </a:xfrm>
          <a:prstGeom prst="roundRect">
            <a:avLst>
              <a:gd name="adj" fmla="val 14193"/>
            </a:avLst>
          </a:prstGeom>
          <a:solidFill>
            <a:srgbClr val="F6ECDF"/>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9646920" y="3354578"/>
            <a:ext cx="92791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RQ4</a:t>
            </a:r>
          </a:p>
        </p:txBody>
      </p:sp>
      <p:sp>
        <p:nvSpPr>
          <p:cNvPr id="30" name="TextBox 29"/>
          <p:cNvSpPr txBox="1"/>
          <p:nvPr/>
        </p:nvSpPr>
        <p:spPr>
          <a:xfrm>
            <a:off x="9692640" y="3820922"/>
            <a:ext cx="7200900" cy="1005840"/>
          </a:xfrm>
          <a:prstGeom prst="rect">
            <a:avLst/>
          </a:prstGeom>
          <a:noFill/>
        </p:spPr>
        <p:txBody>
          <a:bodyPr anchor="ctr" rtlCol="false" lIns="0" tIns="0" rIns="0" bIns="0" wrap="square"/>
          <a:lstStyle/>
          <a:p>
            <a:pPr algn="l">
              <a:lnSpc>
                <a:spcPts val="2580"/>
              </a:lnSpc>
              <a:spcBef>
                <a:spcPts val="0"/>
              </a:spcBef>
              <a:buNone/>
            </a:pPr>
            <a:r>
              <a:rPr lang="en-US" sz="1843" b="true">
                <a:solidFill>
                  <a:srgbClr val="111111"/>
                </a:solidFill>
                <a:latin typeface="Nunito Semi-Bold"/>
                <a:ea typeface="Nunito Semi-Bold"/>
                <a:cs typeface="Nunito Semi-Bold"/>
                <a:sym typeface="Nunito Semi-Bold"/>
              </a:rPr>
              <a:t>Can it improve </a:t>
            </a:r>
            <a:r>
              <a:rPr lang="en-US" sz="1843" b="true">
                <a:solidFill>
                  <a:srgbClr val="111111"/>
                </a:solidFill>
                <a:latin typeface="Nunito Bold"/>
                <a:ea typeface="Nunito Bold"/>
                <a:cs typeface="Nunito Bold"/>
                <a:sym typeface="Nunito Bold"/>
              </a:rPr>
              <a:t>ranking accuracy, context and diversity together</a:t>
            </a:r>
            <a:r>
              <a:rPr lang="en-US" sz="1843" b="true">
                <a:solidFill>
                  <a:srgbClr val="111111"/>
                </a:solidFill>
                <a:latin typeface="Nunito Semi-Bold"/>
                <a:ea typeface="Nunito Semi-Bold"/>
                <a:cs typeface="Nunito Semi-Bold"/>
                <a:sym typeface="Nunito Semi-Bold"/>
              </a:rPr>
              <a:t> when importance comes from a cooperative-game utility?</a:t>
            </a:r>
          </a:p>
        </p:txBody>
      </p:sp>
      <p:graphicFrame>
        <p:nvGraphicFramePr>
          <p:cNvPr id="31" name="Table 30"/>
          <p:cNvGraphicFramePr>
            <a:graphicFrameLocks noGrp="1"/>
          </p:cNvGraphicFramePr>
          <p:nvPr/>
        </p:nvGraphicFramePr>
        <p:xfrm>
          <a:off x="1028700" y="5375402"/>
          <a:ext cx="16230599" cy="3291840"/>
        </p:xfrm>
        <a:graphic>
          <a:graphicData uri="http://schemas.openxmlformats.org/drawingml/2006/table">
            <a:tbl>
              <a:tblPr firstRow="0" bandRow="0" firstCol="0" lastRow="0" lastCol="0" bandCol="0">
                <a:tableStyleId>{2D5ABB26-0587-4C30-8999-92F81FD0307C}</a:tableStyleId>
              </a:tblPr>
              <a:tblGrid>
                <a:gridCol w="4785946"/>
                <a:gridCol w="7699130"/>
                <a:gridCol w="3745523"/>
              </a:tblGrid>
              <a:tr h="82296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What it delivers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Where it is shown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O1  ·  Recommendation as a cooperative game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Users, items and contexts are the </a:t>
                      </a:r>
                      <a:r>
                        <a:rPr lang="en-US" sz="1800" b="true">
                          <a:solidFill>
                            <a:srgbClr val="111111"/>
                          </a:solidFill>
                          <a:latin typeface="Nunito Bold"/>
                          <a:ea typeface="Nunito Bold"/>
                          <a:cs typeface="Nunito Bold"/>
                          <a:sym typeface="Nunito Bold"/>
                        </a:rPr>
                        <a:t>players</a:t>
                      </a:r>
                      <a:r>
                        <a:rPr lang="en-US" sz="1800" b="true">
                          <a:solidFill>
                            <a:srgbClr val="111111"/>
                          </a:solidFill>
                          <a:latin typeface="Nunito Semi-Bold"/>
                          <a:ea typeface="Nunito Semi-Bold"/>
                          <a:cs typeface="Nunito Semi-Bold"/>
                          <a:sym typeface="Nunito Semi-Bold"/>
                        </a:rPr>
                        <a:t>; the coalition utility mixes accuracy, diversity and novelty.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Game formulation, value function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O2  ·  Shapley inside message passing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Preference-aware Monte Carlo Shapley</a:t>
                      </a:r>
                      <a:r>
                        <a:rPr lang="en-US" sz="1800" b="true">
                          <a:solidFill>
                            <a:srgbClr val="111111"/>
                          </a:solidFill>
                          <a:latin typeface="Nunito Semi-Bold"/>
                          <a:ea typeface="Nunito Semi-Bold"/>
                          <a:cs typeface="Nunito Semi-Bold"/>
                          <a:sym typeface="Nunito Semi-Bold"/>
                        </a:rPr>
                        <a:t> estimates become dynamic hyperedge weights during training.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MC Shapley, architecture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822960">
                <a:tc>
                  <a:txBody>
                    <a:bodyPr anchor="ctr" rtlCol="false" lIns="0" tIns="0" rIns="0" bIns="0" wrap="square"/>
                    <a:lstStyle/>
                    <a:p>
                      <a:pPr algn="l">
                        <a:lnSpc>
                          <a:spcPts val="2340"/>
                        </a:lnSpc>
                        <a:spcBef>
                          <a:spcPts val="0"/>
                        </a:spcBef>
                        <a:buNone/>
                      </a:pPr>
                      <a:r>
                        <a:rPr lang="en-US" sz="1800" b="true">
                          <a:solidFill>
                            <a:srgbClr val="111111"/>
                          </a:solidFill>
                          <a:latin typeface="Nunito Bold"/>
                          <a:ea typeface="Nunito Bold"/>
                          <a:cs typeface="Nunito Bold"/>
                          <a:sym typeface="Nunito Bold"/>
                        </a:rPr>
                        <a:t>O3  ·  Accuracy, coverage and diversity together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Better NDCG and Recall </a:t>
                      </a:r>
                      <a:r>
                        <a:rPr lang="en-US" sz="1800" b="true">
                          <a:solidFill>
                            <a:srgbClr val="111111"/>
                          </a:solidFill>
                          <a:latin typeface="Nunito Bold"/>
                          <a:ea typeface="Nunito Bold"/>
                          <a:cs typeface="Nunito Bold"/>
                          <a:sym typeface="Nunito Bold"/>
                        </a:rPr>
                        <a:t>and</a:t>
                      </a:r>
                      <a:r>
                        <a:rPr lang="en-US" sz="1800" b="true">
                          <a:solidFill>
                            <a:srgbClr val="111111"/>
                          </a:solidFill>
                          <a:latin typeface="Nunito Semi-Bold"/>
                          <a:ea typeface="Nunito Semi-Bold"/>
                          <a:cs typeface="Nunito Semi-Bold"/>
                          <a:sym typeface="Nunito Semi-Bold"/>
                        </a:rPr>
                        <a:t> higher Coverage and ILD than the strongest baseline, on two datasets.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340"/>
                        </a:lnSpc>
                        <a:spcBef>
                          <a:spcPts val="0"/>
                        </a:spcBef>
                        <a:buNone/>
                      </a:pPr>
                      <a:r>
                        <a:rPr lang="en-US" sz="1800" b="true">
                          <a:solidFill>
                            <a:srgbClr val="111111"/>
                          </a:solidFill>
                          <a:latin typeface="Nunito Semi-Bold"/>
                          <a:ea typeface="Nunito Semi-Bold"/>
                          <a:cs typeface="Nunito Semi-Bold"/>
                          <a:sym typeface="Nunito Semi-Bold"/>
                        </a:rPr>
                        <a:t>Table 7.1, Fig. 7.2, 7.3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54</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Recommendation as a Cooperative Game</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7863840" cy="2194560"/>
          </a:xfrm>
          <a:prstGeom prst="rect">
            <a:avLst/>
          </a:prstGeom>
          <a:noFill/>
        </p:spPr>
        <p:txBody>
          <a:bodyPr anchor="t" rtlCol="false" lIns="0" tIns="0" rIns="0" bIns="0" wrap="square"/>
          <a:lstStyle/>
          <a:p>
            <a:pPr algn="l" marL="274320" indent="-274320">
              <a:lnSpc>
                <a:spcPts val="2764"/>
              </a:lnSpc>
              <a:spcBef>
                <a:spcPts val="0"/>
              </a:spcBef>
              <a:buClr>
                <a:srgbClr val="1F7A8C"/>
              </a:buClr>
              <a:buSzPct val="100000"/>
              <a:buFont typeface="Arial"/>
              <a:buChar char="•"/>
            </a:pPr>
            <a:r>
              <a:rPr lang="en-US" sz="1974" b="true">
                <a:solidFill>
                  <a:srgbClr val="111111"/>
                </a:solidFill>
                <a:latin typeface="Nunito Bold"/>
                <a:ea typeface="Nunito Bold"/>
                <a:cs typeface="Nunito Bold"/>
                <a:sym typeface="Nunito Bold"/>
              </a:rPr>
              <a:t>Player set N = U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I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C</a:t>
            </a:r>
            <a:r>
              <a:rPr lang="en-US" sz="1974" b="true">
                <a:solidFill>
                  <a:srgbClr val="111111"/>
                </a:solidFill>
                <a:latin typeface="Nunito Semi-Bold"/>
                <a:ea typeface="Nunito Semi-Bold"/>
                <a:cs typeface="Nunito Semi-Bold"/>
                <a:sym typeface="Nunito Semi-Bold"/>
              </a:rPr>
              <a:t> (users, items, contexts).</a:t>
            </a:r>
          </a:p>
          <a:p>
            <a:pPr algn="l" marL="274320" indent="-274320">
              <a:lnSpc>
                <a:spcPts val="2764"/>
              </a:lnSpc>
              <a:spcBef>
                <a:spcPts val="1128"/>
              </a:spcBef>
              <a:buClr>
                <a:srgbClr val="1F7A8C"/>
              </a:buClr>
              <a:buSzPct val="100000"/>
              <a:buFont typeface="Arial"/>
              <a:buChar char="•"/>
            </a:pPr>
            <a:r>
              <a:rPr lang="en-US" sz="1974" b="true">
                <a:solidFill>
                  <a:srgbClr val="111111"/>
                </a:solidFill>
                <a:latin typeface="Nunito Bold"/>
                <a:ea typeface="Nunito Bold"/>
                <a:cs typeface="Nunito Bold"/>
                <a:sym typeface="Nunito Bold"/>
              </a:rPr>
              <a:t>Hypergraph H = (V, E, W)</a:t>
            </a:r>
            <a:r>
              <a:rPr lang="en-US" sz="1974" b="true">
                <a:solidFill>
                  <a:srgbClr val="111111"/>
                </a:solidFill>
                <a:latin typeface="Nunito Semi-Bold"/>
                <a:ea typeface="Nunito Semi-Bold"/>
                <a:cs typeface="Nunito Semi-Bold"/>
                <a:sym typeface="Nunito Semi-Bold"/>
              </a:rPr>
              <a:t>; V = U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Semi-Bold"/>
                <a:ea typeface="Nunito Semi-Bold"/>
                <a:cs typeface="Nunito Semi-Bold"/>
                <a:sym typeface="Nunito Semi-Bold"/>
              </a:rPr>
              <a:t>I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Semi-Bold"/>
                <a:ea typeface="Nunito Semi-Bold"/>
                <a:cs typeface="Nunito Semi-Bold"/>
                <a:sym typeface="Nunito Semi-Bold"/>
              </a:rPr>
              <a:t>C; </a:t>
            </a:r>
            <a:r>
              <a:rPr lang="en-US" sz="1974" b="true">
                <a:solidFill>
                  <a:srgbClr val="111111"/>
                </a:solidFill>
                <a:latin typeface="Nunito Bold"/>
                <a:ea typeface="Nunito Bold"/>
                <a:cs typeface="Nunito Bold"/>
                <a:sym typeface="Nunito Bold"/>
              </a:rPr>
              <a:t>W = dynamic edge weights</a:t>
            </a:r>
            <a:r>
              <a:rPr lang="en-US" sz="1974" b="true">
                <a:solidFill>
                  <a:srgbClr val="111111"/>
                </a:solidFill>
                <a:latin typeface="Nunito Semi-Bold"/>
                <a:ea typeface="Nunito Semi-Bold"/>
                <a:cs typeface="Nunito Semi-Bold"/>
                <a:sym typeface="Nunito Semi-Bold"/>
              </a:rPr>
              <a:t> from Shapley estimates.</a:t>
            </a:r>
          </a:p>
          <a:p>
            <a:pPr algn="l" marL="274320" indent="-274320">
              <a:lnSpc>
                <a:spcPts val="2764"/>
              </a:lnSpc>
              <a:spcBef>
                <a:spcPts val="1128"/>
              </a:spcBef>
              <a:buClr>
                <a:srgbClr val="1F7A8C"/>
              </a:buClr>
              <a:buSzPct val="100000"/>
              <a:buFont typeface="Arial"/>
              <a:buChar char="•"/>
            </a:pPr>
            <a:r>
              <a:rPr lang="en-US" sz="1974" b="true">
                <a:solidFill>
                  <a:srgbClr val="111111"/>
                </a:solidFill>
                <a:latin typeface="Nunito Semi-Bold"/>
                <a:ea typeface="Nunito Semi-Bold"/>
                <a:cs typeface="Nunito Semi-Bold"/>
                <a:sym typeface="Nunito Semi-Bold"/>
              </a:rPr>
              <a:t>A </a:t>
            </a:r>
            <a:r>
              <a:rPr lang="en-US" sz="1974" b="true">
                <a:solidFill>
                  <a:srgbClr val="111111"/>
                </a:solidFill>
                <a:latin typeface="Nunito Bold"/>
                <a:ea typeface="Nunito Bold"/>
                <a:cs typeface="Nunito Bold"/>
                <a:sym typeface="Nunito Bold"/>
              </a:rPr>
              <a:t>coalition S </a:t>
            </a:r>
            <a:r>
              <a:rPr lang="en-US" sz="1974" b="true">
                <a:solidFill>
                  <a:srgbClr val="111111"/>
                </a:solidFill>
                <a:latin typeface="Cambria Math"/>
                <a:ea typeface="Cambria Math"/>
                <a:cs typeface="Cambria Math"/>
                <a:sym typeface="Cambria Math"/>
              </a:rPr>
              <a:t>⊆ </a:t>
            </a:r>
            <a:r>
              <a:rPr lang="en-US" sz="1974" b="true">
                <a:solidFill>
                  <a:srgbClr val="111111"/>
                </a:solidFill>
                <a:latin typeface="Nunito Bold"/>
                <a:ea typeface="Nunito Bold"/>
                <a:cs typeface="Nunito Bold"/>
                <a:sym typeface="Nunito Bold"/>
              </a:rPr>
              <a:t>N</a:t>
            </a:r>
            <a:r>
              <a:rPr lang="en-US" sz="1974" b="true">
                <a:solidFill>
                  <a:srgbClr val="111111"/>
                </a:solidFill>
                <a:latin typeface="Nunito Semi-Bold"/>
                <a:ea typeface="Nunito Semi-Bold"/>
                <a:cs typeface="Nunito Semi-Bold"/>
                <a:sym typeface="Nunito Semi-Bold"/>
              </a:rPr>
              <a:t> is the set of entities taking part in a recommendation episode.</a:t>
            </a:r>
          </a:p>
        </p:txBody>
      </p:sp>
      <p:sp>
        <p:nvSpPr>
          <p:cNvPr id="26" name="Rounded Rectangle 25"/>
          <p:cNvSpPr/>
          <p:nvPr/>
        </p:nvSpPr>
        <p:spPr>
          <a:xfrm>
            <a:off x="1028700" y="5649722"/>
            <a:ext cx="7863840" cy="1417320"/>
          </a:xfrm>
          <a:prstGeom prst="roundRect">
            <a:avLst>
              <a:gd name="adj" fmla="val 16129"/>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27" name="Equation"/>
              <p:cNvSpPr txBox="1"/>
              <p:nvPr/>
            </p:nvSpPr>
            <p:spPr>
              <a:xfrm>
                <a:off x="1257300" y="5759450"/>
                <a:ext cx="7406640" cy="658368"/>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1800" i="1">
                          <a:solidFill>
                            <a:srgbClr val="FFFFFF"/>
                          </a:solidFill>
                          <a:latin typeface="Cambria Math" panose="02040503050406030204" pitchFamily="18" charset="0"/>
                        </a:rPr>
                        <m:t xml:space="preserve">v</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α</m:t>
                      </m:r>
                      <m:r>
                        <m:rPr>
                          <m:sty m:val="p"/>
                        </m:rPr>
                        <a:rPr lang="en-US" sz="1800">
                          <a:solidFill>
                            <a:srgbClr val="FFFFFF"/>
                          </a:solidFill>
                          <a:latin typeface="Cambria Math" panose="02040503050406030204" pitchFamily="18" charset="0"/>
                        </a:rPr>
                        <m:t xml:space="preserve">·NDCG@20(</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β</m:t>
                      </m:r>
                      <m:r>
                        <m:rPr>
                          <m:sty m:val="p"/>
                        </m:rPr>
                        <a:rPr lang="en-US" sz="1800">
                          <a:solidFill>
                            <a:srgbClr val="FFFFFF"/>
                          </a:solidFill>
                          <a:latin typeface="Cambria Math" panose="02040503050406030204" pitchFamily="18" charset="0"/>
                        </a:rPr>
                        <m:t xml:space="preserve">·Diversity(</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r>
                        <a:rPr lang="en-US" sz="1800" i="1">
                          <a:solidFill>
                            <a:srgbClr val="FFFFFF"/>
                          </a:solidFill>
                          <a:latin typeface="Cambria Math" panose="02040503050406030204" pitchFamily="18" charset="0"/>
                        </a:rPr>
                        <m:t xml:space="preserve">γ</m:t>
                      </m:r>
                      <m:r>
                        <m:rPr>
                          <m:sty m:val="p"/>
                        </m:rPr>
                        <a:rPr lang="en-US" sz="1800">
                          <a:solidFill>
                            <a:srgbClr val="FFFFFF"/>
                          </a:solidFill>
                          <a:latin typeface="Cambria Math" panose="02040503050406030204" pitchFamily="18" charset="0"/>
                        </a:rPr>
                        <m:t xml:space="preserve">·ContextScore(</m:t>
                      </m:r>
                      <m:r>
                        <a:rPr lang="en-US" sz="1800" i="1">
                          <a:solidFill>
                            <a:srgbClr val="FFFFFF"/>
                          </a:solidFill>
                          <a:latin typeface="Cambria Math" panose="02040503050406030204" pitchFamily="18" charset="0"/>
                        </a:rPr>
                        <m:t xml:space="preserve">S</m:t>
                      </m:r>
                      <m:r>
                        <m:rPr>
                          <m:sty m:val="p"/>
                        </m:rPr>
                        <a:rPr lang="en-US" sz="1800">
                          <a:solidFill>
                            <a:srgbClr val="FFFFFF"/>
                          </a:solidFill>
                          <a:latin typeface="Cambria Math" panose="02040503050406030204" pitchFamily="18" charset="0"/>
                        </a:rPr>
                        <m:t xml:space="preserve">)</m:t>
                      </m:r>
                    </m:oMath>
                  </m:oMathPara>
                </a14:m>
                <a:endParaRPr lang="en-US" sz="1800"/>
              </a:p>
            </p:txBody>
          </p:sp>
        </mc:Choice>
        <mc:Fallback>
          <p:sp>
            <p:nvSpPr>
              <p:cNvPr id="27" name="Equation"/>
              <p:cNvSpPr txBox="1"/>
              <p:nvPr/>
            </p:nvSpPr>
            <p:spPr>
              <a:xfrm>
                <a:off x="1257300" y="5759450"/>
                <a:ext cx="7406640" cy="658368"/>
              </a:xfrm>
              <a:prstGeom prst="rect">
                <a:avLst/>
              </a:prstGeom>
              <a:blipFill>
                <a:blip r:embed="rId4"/>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28" name="Equation"/>
              <p:cNvSpPr txBox="1"/>
              <p:nvPr/>
            </p:nvSpPr>
            <p:spPr>
              <a:xfrm>
                <a:off x="1257300" y="6426962"/>
                <a:ext cx="7406640" cy="54864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1800" i="1">
                          <a:solidFill>
                            <a:srgbClr val="ECC665"/>
                          </a:solidFill>
                          <a:latin typeface="Cambria Math" panose="02040503050406030204" pitchFamily="18" charset="0"/>
                        </a:rPr>
                        <m:t xml:space="preserve">α</m:t>
                      </m:r>
                      <m:r>
                        <m:rPr>
                          <m:sty m:val="p"/>
                        </m:rPr>
                        <a:rPr lang="en-US" sz="1800">
                          <a:solidFill>
                            <a:srgbClr val="ECC665"/>
                          </a:solidFill>
                          <a:latin typeface="Cambria Math" panose="02040503050406030204" pitchFamily="18" charset="0"/>
                        </a:rPr>
                        <m:t xml:space="preserve">=0.60,  </m:t>
                      </m:r>
                      <m:r>
                        <a:rPr lang="en-US" sz="1800" i="1">
                          <a:solidFill>
                            <a:srgbClr val="ECC665"/>
                          </a:solidFill>
                          <a:latin typeface="Cambria Math" panose="02040503050406030204" pitchFamily="18" charset="0"/>
                        </a:rPr>
                        <m:t xml:space="preserve">β</m:t>
                      </m:r>
                      <m:r>
                        <m:rPr>
                          <m:sty m:val="p"/>
                        </m:rPr>
                        <a:rPr lang="en-US" sz="1800">
                          <a:solidFill>
                            <a:srgbClr val="ECC665"/>
                          </a:solidFill>
                          <a:latin typeface="Cambria Math" panose="02040503050406030204" pitchFamily="18" charset="0"/>
                        </a:rPr>
                        <m:t xml:space="preserve">=0.25,  </m:t>
                      </m:r>
                      <m:r>
                        <a:rPr lang="en-US" sz="1800" i="1">
                          <a:solidFill>
                            <a:srgbClr val="ECC665"/>
                          </a:solidFill>
                          <a:latin typeface="Cambria Math" panose="02040503050406030204" pitchFamily="18" charset="0"/>
                        </a:rPr>
                        <m:t xml:space="preserve">γ</m:t>
                      </m:r>
                      <m:r>
                        <m:rPr>
                          <m:sty m:val="p"/>
                        </m:rPr>
                        <a:rPr lang="en-US" sz="1800">
                          <a:solidFill>
                            <a:srgbClr val="ECC665"/>
                          </a:solidFill>
                          <a:latin typeface="Cambria Math" panose="02040503050406030204" pitchFamily="18" charset="0"/>
                        </a:rPr>
                        <m:t xml:space="preserve">=0.15,  </m:t>
                      </m:r>
                      <m:r>
                        <a:rPr lang="en-US" sz="1800" i="1">
                          <a:solidFill>
                            <a:srgbClr val="ECC665"/>
                          </a:solidFill>
                          <a:latin typeface="Cambria Math" panose="02040503050406030204" pitchFamily="18" charset="0"/>
                        </a:rPr>
                        <m:t xml:space="preserve">α</m:t>
                      </m:r>
                      <m:r>
                        <m:rPr>
                          <m:sty m:val="p"/>
                        </m:rPr>
                        <a:rPr lang="en-US" sz="1800">
                          <a:solidFill>
                            <a:srgbClr val="ECC665"/>
                          </a:solidFill>
                          <a:latin typeface="Cambria Math" panose="02040503050406030204" pitchFamily="18" charset="0"/>
                        </a:rPr>
                        <m:t xml:space="preserve">+</m:t>
                      </m:r>
                      <m:r>
                        <a:rPr lang="en-US" sz="1800" i="1">
                          <a:solidFill>
                            <a:srgbClr val="ECC665"/>
                          </a:solidFill>
                          <a:latin typeface="Cambria Math" panose="02040503050406030204" pitchFamily="18" charset="0"/>
                        </a:rPr>
                        <m:t xml:space="preserve">β</m:t>
                      </m:r>
                      <m:r>
                        <m:rPr>
                          <m:sty m:val="p"/>
                        </m:rPr>
                        <a:rPr lang="en-US" sz="1800">
                          <a:solidFill>
                            <a:srgbClr val="ECC665"/>
                          </a:solidFill>
                          <a:latin typeface="Cambria Math" panose="02040503050406030204" pitchFamily="18" charset="0"/>
                        </a:rPr>
                        <m:t xml:space="preserve">+</m:t>
                      </m:r>
                      <m:r>
                        <a:rPr lang="en-US" sz="1800" i="1">
                          <a:solidFill>
                            <a:srgbClr val="ECC665"/>
                          </a:solidFill>
                          <a:latin typeface="Cambria Math" panose="02040503050406030204" pitchFamily="18" charset="0"/>
                        </a:rPr>
                        <m:t xml:space="preserve">γ</m:t>
                      </m:r>
                      <m:r>
                        <m:rPr>
                          <m:sty m:val="p"/>
                        </m:rPr>
                        <a:rPr lang="en-US" sz="1800">
                          <a:solidFill>
                            <a:srgbClr val="ECC665"/>
                          </a:solidFill>
                          <a:latin typeface="Cambria Math" panose="02040503050406030204" pitchFamily="18" charset="0"/>
                        </a:rPr>
                        <m:t xml:space="preserve">=1</m:t>
                      </m:r>
                    </m:oMath>
                  </m:oMathPara>
                </a14:m>
                <a:endParaRPr lang="en-US" sz="1800"/>
              </a:p>
            </p:txBody>
          </p:sp>
        </mc:Choice>
        <mc:Fallback>
          <p:sp>
            <p:nvSpPr>
              <p:cNvPr id="28" name="Equation"/>
              <p:cNvSpPr txBox="1"/>
              <p:nvPr/>
            </p:nvSpPr>
            <p:spPr>
              <a:xfrm>
                <a:off x="1257300" y="6426962"/>
                <a:ext cx="7406640" cy="548640"/>
              </a:xfrm>
              <a:prstGeom prst="rect">
                <a:avLst/>
              </a:prstGeom>
              <a:blipFill>
                <a:blip r:embed="rId5"/>
                <a:stretch>
                  <a:fillRect/>
                </a:stretch>
              </a:blipFill>
            </p:spPr>
            <p:txBody>
              <a:bodyPr/>
              <a:lstStyle/>
              <a:p>
                <a:endParaRPr lang="en-US"/>
              </a:p>
            </p:txBody>
          </p:sp>
        </mc:Fallback>
      </mc:AlternateContent>
      <p:sp>
        <p:nvSpPr>
          <p:cNvPr id="29" name="TextBox 28"/>
          <p:cNvSpPr txBox="1"/>
          <p:nvPr/>
        </p:nvSpPr>
        <p:spPr>
          <a:xfrm>
            <a:off x="1028700" y="7249922"/>
            <a:ext cx="7863840" cy="2058670"/>
          </a:xfrm>
          <a:prstGeom prst="rect">
            <a:avLst/>
          </a:prstGeom>
          <a:noFill/>
        </p:spPr>
        <p:txBody>
          <a:bodyPr anchor="t" rtlCol="false" lIns="0" tIns="0" rIns="0" bIns="0" wrap="square"/>
          <a:lstStyle/>
          <a:p>
            <a:pPr algn="l">
              <a:lnSpc>
                <a:spcPts val="2520"/>
              </a:lnSpc>
              <a:spcBef>
                <a:spcPts val="0"/>
              </a:spcBef>
              <a:buNone/>
            </a:pPr>
            <a:r>
              <a:rPr lang="en-US" sz="1800" b="true">
                <a:solidFill>
                  <a:srgbClr val="111111"/>
                </a:solidFill>
                <a:latin typeface="Nunito Semi-Bold"/>
                <a:ea typeface="Nunito Semi-Bold"/>
                <a:cs typeface="Nunito Semi-Bold"/>
                <a:sym typeface="Nunito Semi-Bold"/>
              </a:rPr>
              <a:t>Preference term </a:t>
            </a:r>
            <a:r>
              <a:rPr lang="en-US" sz="1800" b="true">
                <a:solidFill>
                  <a:srgbClr val="111111"/>
                </a:solidFill>
                <a:latin typeface="Nunito Bold"/>
                <a:ea typeface="Nunito Bold"/>
                <a:cs typeface="Nunito Bold"/>
                <a:sym typeface="Nunito Bold"/>
              </a:rPr>
              <a:t>v</a:t>
            </a:r>
            <a:r>
              <a:rPr lang="en-US" sz="1800" b="true" baseline="-25000">
                <a:solidFill>
                  <a:srgbClr val="111111"/>
                </a:solidFill>
                <a:latin typeface="Nunito Bold"/>
                <a:ea typeface="Nunito Bold"/>
                <a:cs typeface="Nunito Bold"/>
                <a:sym typeface="Nunito Bold"/>
              </a:rPr>
              <a:t>pref</a:t>
            </a:r>
            <a:r>
              <a:rPr lang="en-US" sz="1800" b="true">
                <a:solidFill>
                  <a:srgbClr val="111111"/>
                </a:solidFill>
                <a:latin typeface="Nunito Bold"/>
                <a:ea typeface="Nunito Bold"/>
                <a:cs typeface="Nunito Bold"/>
                <a:sym typeface="Nunito Bold"/>
              </a:rPr>
              <a:t>(S) = v(S) + </a:t>
            </a:r>
            <a:r>
              <a:rPr lang="en-US" sz="1800" b="true">
                <a:solidFill>
                  <a:srgbClr val="111111"/>
                </a:solidFill>
                <a:latin typeface="Calibri"/>
                <a:ea typeface="Calibri"/>
                <a:cs typeface="Calibri"/>
                <a:sym typeface="Calibri"/>
              </a:rPr>
              <a:t>λ</a:t>
            </a:r>
            <a:r>
              <a:rPr lang="en-US" sz="1800" b="true" baseline="-25000">
                <a:solidFill>
                  <a:srgbClr val="111111"/>
                </a:solidFill>
                <a:latin typeface="Nunito Bold"/>
                <a:ea typeface="Nunito Bold"/>
                <a:cs typeface="Nunito Bold"/>
                <a:sym typeface="Nunito Bold"/>
              </a:rPr>
              <a:t>pref</a:t>
            </a:r>
            <a:r>
              <a:rPr lang="en-US" sz="1800" b="true">
                <a:solidFill>
                  <a:srgbClr val="111111"/>
                </a:solidFill>
                <a:latin typeface="Nunito Bold"/>
                <a:ea typeface="Nunito Bold"/>
                <a:cs typeface="Nunito Bold"/>
                <a:sym typeface="Nunito Bold"/>
              </a:rPr>
              <a:t> Σ sim(u,i)</a:t>
            </a:r>
            <a:r>
              <a:rPr lang="en-US" sz="1800" b="true">
                <a:solidFill>
                  <a:srgbClr val="111111"/>
                </a:solidFill>
                <a:latin typeface="Nunito Semi-Bold"/>
                <a:ea typeface="Nunito Semi-Bold"/>
                <a:cs typeface="Nunito Semi-Bold"/>
                <a:sym typeface="Nunito Semi-Bold"/>
              </a:rPr>
              <a:t>, </a:t>
            </a:r>
            <a:r>
              <a:rPr lang="en-US" sz="1800" b="true">
                <a:solidFill>
                  <a:srgbClr val="111111"/>
                </a:solidFill>
                <a:latin typeface="Calibri"/>
                <a:ea typeface="Calibri"/>
                <a:cs typeface="Calibri"/>
                <a:sym typeface="Calibri"/>
              </a:rPr>
              <a:t>λ</a:t>
            </a:r>
            <a:r>
              <a:rPr lang="en-US" sz="1800" b="true" baseline="-25000">
                <a:solidFill>
                  <a:srgbClr val="111111"/>
                </a:solidFill>
                <a:latin typeface="Nunito Semi-Bold"/>
                <a:ea typeface="Nunito Semi-Bold"/>
                <a:cs typeface="Nunito Semi-Bold"/>
                <a:sym typeface="Nunito Semi-Bold"/>
              </a:rPr>
              <a:t>pref</a:t>
            </a:r>
            <a:r>
              <a:rPr lang="en-US" sz="1800" b="true">
                <a:solidFill>
                  <a:srgbClr val="111111"/>
                </a:solidFill>
                <a:latin typeface="Nunito Semi-Bold"/>
                <a:ea typeface="Nunito Semi-Bold"/>
                <a:cs typeface="Nunito Semi-Bold"/>
                <a:sym typeface="Nunito Semi-Bold"/>
              </a:rPr>
              <a:t> = 0.20; weights grid-searched, </a:t>
            </a:r>
            <a:r>
              <a:rPr lang="en-US" sz="1800" b="true">
                <a:solidFill>
                  <a:srgbClr val="111111"/>
                </a:solidFill>
                <a:latin typeface="Nunito Bold"/>
                <a:ea typeface="Nunito Bold"/>
                <a:cs typeface="Nunito Bold"/>
                <a:sym typeface="Nunito Bold"/>
              </a:rPr>
              <a:t>&lt; 1.5 % variance</a:t>
            </a:r>
            <a:r>
              <a:rPr lang="en-US" sz="1800" b="true">
                <a:solidFill>
                  <a:srgbClr val="111111"/>
                </a:solidFill>
                <a:latin typeface="Nunito Semi-Bold"/>
                <a:ea typeface="Nunito Semi-Bold"/>
                <a:cs typeface="Nunito Semi-Bold"/>
                <a:sym typeface="Nunito Semi-Bold"/>
              </a:rPr>
              <a:t> in NDCG@20.</a:t>
            </a:r>
          </a:p>
          <a:p>
            <a:pPr algn="l">
              <a:lnSpc>
                <a:spcPts val="2520"/>
              </a:lnSpc>
              <a:spcBef>
                <a:spcPts val="800"/>
              </a:spcBef>
              <a:buNone/>
            </a:pPr>
            <a:r>
              <a:rPr lang="en-US" sz="1800" b="true">
                <a:solidFill>
                  <a:srgbClr val="111111"/>
                </a:solidFill>
                <a:latin typeface="Nunito Semi-Bold"/>
                <a:ea typeface="Nunito Semi-Bold"/>
                <a:cs typeface="Nunito Semi-Bold"/>
                <a:sym typeface="Nunito Semi-Bold"/>
              </a:rPr>
              <a:t>The </a:t>
            </a:r>
            <a:r>
              <a:rPr lang="en-US" sz="1800" b="true">
                <a:solidFill>
                  <a:srgbClr val="111111"/>
                </a:solidFill>
                <a:latin typeface="Nunito Bold"/>
                <a:ea typeface="Nunito Bold"/>
                <a:cs typeface="Nunito Bold"/>
                <a:sym typeface="Nunito Bold"/>
              </a:rPr>
              <a:t>same trade-off</a:t>
            </a:r>
            <a:r>
              <a:rPr lang="en-US" sz="1800" b="true">
                <a:solidFill>
                  <a:srgbClr val="111111"/>
                </a:solidFill>
                <a:latin typeface="Nunito Semi-Bold"/>
                <a:ea typeface="Nunito Semi-Bold"/>
                <a:cs typeface="Nunito Semi-Bold"/>
                <a:sym typeface="Nunito Semi-Bold"/>
              </a:rPr>
              <a:t> the recommender must satisfy is the one from which attribution is computed: explanatory game and predictive objective are </a:t>
            </a:r>
            <a:r>
              <a:rPr lang="en-US" sz="1800" b="true">
                <a:solidFill>
                  <a:srgbClr val="111111"/>
                </a:solidFill>
                <a:latin typeface="Nunito Bold"/>
                <a:ea typeface="Nunito Bold"/>
                <a:cs typeface="Nunito Bold"/>
                <a:sym typeface="Nunito Bold"/>
              </a:rPr>
              <a:t>aligned by design</a:t>
            </a:r>
            <a:r>
              <a:rPr lang="en-US" sz="1800" b="true">
                <a:solidFill>
                  <a:srgbClr val="111111"/>
                </a:solidFill>
                <a:latin typeface="Nunito Semi-Bold"/>
                <a:ea typeface="Nunito Semi-Bold"/>
                <a:cs typeface="Nunito Semi-Bold"/>
                <a:sym typeface="Nunito Semi-Bold"/>
              </a:rPr>
              <a:t>.</a:t>
            </a:r>
          </a:p>
        </p:txBody>
      </p:sp>
      <p:sp>
        <p:nvSpPr>
          <p:cNvPr id="30" name="TextBox 29"/>
          <p:cNvSpPr txBox="1"/>
          <p:nvPr/>
        </p:nvSpPr>
        <p:spPr>
          <a:xfrm>
            <a:off x="9441180" y="3363722"/>
            <a:ext cx="7818120" cy="365760"/>
          </a:xfrm>
          <a:prstGeom prst="rect">
            <a:avLst/>
          </a:prstGeom>
          <a:noFill/>
        </p:spPr>
        <p:txBody>
          <a:bodyPr anchor="t" rtlCol="false" lIns="0" tIns="0" rIns="0" bIns="0" wrap="square"/>
          <a:lstStyle/>
          <a:p>
            <a:pPr algn="ctr">
              <a:lnSpc>
                <a:spcPts val="1800"/>
              </a:lnSpc>
              <a:spcBef>
                <a:spcPts val="0"/>
              </a:spcBef>
              <a:buNone/>
            </a:pPr>
            <a:r>
              <a:rPr lang="en-US" sz="1400" b="true" spc="160">
                <a:solidFill>
                  <a:srgbClr val="1F7A8C"/>
                </a:solidFill>
                <a:latin typeface="Nunito Ultra-Bold"/>
                <a:ea typeface="Nunito Ultra-Bold"/>
                <a:cs typeface="Nunito Ultra-Bold"/>
                <a:sym typeface="Nunito Ultra-Bold"/>
              </a:rPr>
              <a:t>PLAYERS AND COALITIONS</a:t>
            </a:r>
          </a:p>
        </p:txBody>
      </p:sp>
      <p:sp>
        <p:nvSpPr>
          <p:cNvPr id="31" name="Rounded Rectangle 30"/>
          <p:cNvSpPr/>
          <p:nvPr/>
        </p:nvSpPr>
        <p:spPr>
          <a:xfrm>
            <a:off x="9715500" y="3912362"/>
            <a:ext cx="7269480" cy="2834640"/>
          </a:xfrm>
          <a:prstGeom prst="roundRect">
            <a:avLst>
              <a:gd name="adj" fmla="val 19354"/>
            </a:avLst>
          </a:prstGeom>
          <a:solidFill>
            <a:srgbClr val="F6ECDF"/>
          </a:solidFill>
          <a:ln>
            <a:noFill/>
          </a:ln>
        </p:spPr>
        <p:txBody>
          <a:bodyPr anchor="ctr" rtlCol="false" lIns="0" tIns="0" rIns="0" bIns="0" wrap="square"/>
          <a:lstStyle/>
          <a:p>
            <a:endParaRPr lang="en-US" sz="1800"/>
          </a:p>
        </p:txBody>
      </p:sp>
      <p:sp>
        <p:nvSpPr>
          <p:cNvPr id="32" name="TextBox 31"/>
          <p:cNvSpPr txBox="1"/>
          <p:nvPr/>
        </p:nvSpPr>
        <p:spPr>
          <a:xfrm>
            <a:off x="9441180" y="4022090"/>
            <a:ext cx="7818120" cy="365760"/>
          </a:xfrm>
          <a:prstGeom prst="rect">
            <a:avLst/>
          </a:prstGeom>
          <a:noFill/>
        </p:spPr>
        <p:txBody>
          <a:bodyPr anchor="t" rtlCol="false" lIns="0" tIns="0" rIns="0" bIns="0" wrap="square"/>
          <a:lstStyle/>
          <a:p>
            <a:pPr algn="ctr">
              <a:lnSpc>
                <a:spcPts val="1800"/>
              </a:lnSpc>
              <a:spcBef>
                <a:spcPts val="0"/>
              </a:spcBef>
              <a:buNone/>
            </a:pPr>
            <a:r>
              <a:rPr lang="en-US" sz="1500" b="true">
                <a:solidFill>
                  <a:srgbClr val="8A8378"/>
                </a:solidFill>
                <a:latin typeface="Nunito Bold"/>
                <a:ea typeface="Nunito Bold"/>
                <a:cs typeface="Nunito Bold"/>
                <a:sym typeface="Nunito Bold"/>
              </a:rPr>
              <a:t>coalition S </a:t>
            </a:r>
            <a:r>
              <a:rPr lang="en-US" sz="1500" b="true">
                <a:solidFill>
                  <a:srgbClr val="8A8378"/>
                </a:solidFill>
                <a:latin typeface="Cambria Math"/>
                <a:ea typeface="Cambria Math"/>
                <a:cs typeface="Cambria Math"/>
                <a:sym typeface="Cambria Math"/>
              </a:rPr>
              <a:t>⊆ </a:t>
            </a:r>
            <a:r>
              <a:rPr lang="en-US" sz="1500" b="true">
                <a:solidFill>
                  <a:srgbClr val="8A8378"/>
                </a:solidFill>
                <a:latin typeface="Nunito Bold"/>
                <a:ea typeface="Nunito Bold"/>
                <a:cs typeface="Nunito Bold"/>
                <a:sym typeface="Nunito Bold"/>
              </a:rPr>
              <a:t>N  ·  hyperedge e </a:t>
            </a:r>
            <a:r>
              <a:rPr lang="en-US" sz="1500" b="true">
                <a:solidFill>
                  <a:srgbClr val="8A8378"/>
                </a:solidFill>
                <a:latin typeface="Cambria Math"/>
                <a:ea typeface="Cambria Math"/>
                <a:cs typeface="Cambria Math"/>
                <a:sym typeface="Cambria Math"/>
              </a:rPr>
              <a:t>∈ </a:t>
            </a:r>
            <a:r>
              <a:rPr lang="en-US" sz="1500" b="true">
                <a:solidFill>
                  <a:srgbClr val="8A8378"/>
                </a:solidFill>
                <a:latin typeface="Nunito Bold"/>
                <a:ea typeface="Nunito Bold"/>
                <a:cs typeface="Nunito Bold"/>
                <a:sym typeface="Nunito Bold"/>
              </a:rPr>
              <a:t>E</a:t>
            </a:r>
          </a:p>
        </p:txBody>
      </p:sp>
      <p:sp>
        <p:nvSpPr>
          <p:cNvPr id="33" name="Oval 32"/>
          <p:cNvSpPr/>
          <p:nvPr/>
        </p:nvSpPr>
        <p:spPr>
          <a:xfrm>
            <a:off x="10165080" y="4598162"/>
            <a:ext cx="1737360" cy="1737360"/>
          </a:xfrm>
          <a:prstGeom prst="ellipse">
            <a:avLst/>
          </a:prstGeom>
          <a:solidFill>
            <a:srgbClr val="4472C4"/>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U</a:t>
            </a:r>
          </a:p>
          <a:p>
            <a:pPr algn="ctr">
              <a:lnSpc>
                <a:spcPts val="1800"/>
              </a:lnSpc>
              <a:spcBef>
                <a:spcPts val="200"/>
              </a:spcBef>
              <a:buNone/>
            </a:pPr>
            <a:r>
              <a:rPr lang="en-US" sz="1500" b="true">
                <a:solidFill>
                  <a:srgbClr val="F7F2EA"/>
                </a:solidFill>
                <a:latin typeface="Nunito Bold"/>
                <a:ea typeface="Nunito Bold"/>
                <a:cs typeface="Nunito Bold"/>
                <a:sym typeface="Nunito Bold"/>
              </a:rPr>
              <a:t>Users</a:t>
            </a:r>
          </a:p>
        </p:txBody>
      </p:sp>
      <p:sp>
        <p:nvSpPr>
          <p:cNvPr id="34" name="Oval 33"/>
          <p:cNvSpPr/>
          <p:nvPr/>
        </p:nvSpPr>
        <p:spPr>
          <a:xfrm>
            <a:off x="12481560" y="4598162"/>
            <a:ext cx="1737360" cy="1737360"/>
          </a:xfrm>
          <a:prstGeom prst="ellipse">
            <a:avLst/>
          </a:prstGeom>
          <a:solidFill>
            <a:srgbClr val="2F5597"/>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I</a:t>
            </a:r>
          </a:p>
          <a:p>
            <a:pPr algn="ctr">
              <a:lnSpc>
                <a:spcPts val="1800"/>
              </a:lnSpc>
              <a:spcBef>
                <a:spcPts val="200"/>
              </a:spcBef>
              <a:buNone/>
            </a:pPr>
            <a:r>
              <a:rPr lang="en-US" sz="1500" b="true">
                <a:solidFill>
                  <a:srgbClr val="F7F2EA"/>
                </a:solidFill>
                <a:latin typeface="Nunito Bold"/>
                <a:ea typeface="Nunito Bold"/>
                <a:cs typeface="Nunito Bold"/>
                <a:sym typeface="Nunito Bold"/>
              </a:rPr>
              <a:t>Items</a:t>
            </a:r>
          </a:p>
        </p:txBody>
      </p:sp>
      <p:sp>
        <p:nvSpPr>
          <p:cNvPr id="35" name="Oval 34"/>
          <p:cNvSpPr/>
          <p:nvPr/>
        </p:nvSpPr>
        <p:spPr>
          <a:xfrm>
            <a:off x="14798040" y="4598162"/>
            <a:ext cx="1737360" cy="1737360"/>
          </a:xfrm>
          <a:prstGeom prst="ellipse">
            <a:avLst/>
          </a:prstGeom>
          <a:solidFill>
            <a:srgbClr val="1F7A8C"/>
          </a:solidFill>
          <a:ln>
            <a:noFill/>
          </a:ln>
        </p:spPr>
        <p:txBody>
          <a:bodyPr anchor="ctr" rtlCol="false" lIns="0" tIns="0" rIns="0" bIns="0" wrap="square"/>
          <a:lstStyle/>
          <a:p>
            <a:pPr algn="ctr">
              <a:lnSpc>
                <a:spcPts val="3800"/>
              </a:lnSpc>
              <a:spcBef>
                <a:spcPts val="0"/>
              </a:spcBef>
              <a:buNone/>
            </a:pPr>
            <a:r>
              <a:rPr lang="en-US" sz="3400" b="true" spc="-170">
                <a:solidFill>
                  <a:srgbClr val="FFFFFF"/>
                </a:solidFill>
                <a:latin typeface="Roca Two Bold"/>
                <a:ea typeface="Roca Two Bold"/>
                <a:cs typeface="Roca Two Bold"/>
                <a:sym typeface="Roca Two Bold"/>
              </a:rPr>
              <a:t>C</a:t>
            </a:r>
          </a:p>
          <a:p>
            <a:pPr algn="ctr">
              <a:lnSpc>
                <a:spcPts val="1800"/>
              </a:lnSpc>
              <a:spcBef>
                <a:spcPts val="200"/>
              </a:spcBef>
              <a:buNone/>
            </a:pPr>
            <a:r>
              <a:rPr lang="en-US" sz="1500" b="true">
                <a:solidFill>
                  <a:srgbClr val="F7F2EA"/>
                </a:solidFill>
                <a:latin typeface="Nunito Bold"/>
                <a:ea typeface="Nunito Bold"/>
                <a:cs typeface="Nunito Bold"/>
                <a:sym typeface="Nunito Bold"/>
              </a:rPr>
              <a:t>Contexts</a:t>
            </a:r>
          </a:p>
        </p:txBody>
      </p:sp>
      <p:sp>
        <p:nvSpPr>
          <p:cNvPr id="36" name="Rounded Rectangle 35"/>
          <p:cNvSpPr/>
          <p:nvPr/>
        </p:nvSpPr>
        <p:spPr>
          <a:xfrm>
            <a:off x="9441180" y="7067042"/>
            <a:ext cx="7818120" cy="2241550"/>
          </a:xfrm>
          <a:prstGeom prst="roundRect">
            <a:avLst>
              <a:gd name="adj" fmla="val 10198"/>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7" name="Equation"/>
              <p:cNvSpPr txBox="1"/>
              <p:nvPr/>
            </p:nvSpPr>
            <p:spPr>
              <a:xfrm>
                <a:off x="9715500" y="7112762"/>
                <a:ext cx="1828800" cy="1120775"/>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2200" i="1">
                          <a:solidFill>
                            <a:srgbClr val="FFFFFF"/>
                          </a:solidFill>
                          <a:latin typeface="Cambria Math" panose="02040503050406030204" pitchFamily="18" charset="0"/>
                        </a:rPr>
                        <m:t xml:space="preserve">v</m:t>
                      </m:r>
                      <m:r>
                        <m:rPr>
                          <m:sty m:val="p"/>
                        </m:rPr>
                        <a:rPr lang="en-US" sz="2200">
                          <a:solidFill>
                            <a:srgbClr val="FFFFFF"/>
                          </a:solidFill>
                          <a:latin typeface="Cambria Math" panose="02040503050406030204" pitchFamily="18" charset="0"/>
                        </a:rPr>
                        <m:t xml:space="preserve">(</m:t>
                      </m:r>
                      <m:r>
                        <a:rPr lang="en-US" sz="2200" i="1">
                          <a:solidFill>
                            <a:srgbClr val="FFFFFF"/>
                          </a:solidFill>
                          <a:latin typeface="Cambria Math" panose="02040503050406030204" pitchFamily="18" charset="0"/>
                        </a:rPr>
                        <m:t xml:space="preserve">S</m:t>
                      </m:r>
                      <m:r>
                        <m:rPr>
                          <m:sty m:val="p"/>
                        </m:rPr>
                        <a:rPr lang="en-US" sz="2200">
                          <a:solidFill>
                            <a:srgbClr val="FFFFFF"/>
                          </a:solidFill>
                          <a:latin typeface="Cambria Math" panose="02040503050406030204" pitchFamily="18" charset="0"/>
                        </a:rPr>
                        <m:t xml:space="preserve">)</m:t>
                      </m:r>
                    </m:oMath>
                  </m:oMathPara>
                </a14:m>
                <a:endParaRPr lang="en-US" sz="2200"/>
              </a:p>
            </p:txBody>
          </p:sp>
        </mc:Choice>
        <mc:Fallback>
          <p:sp>
            <p:nvSpPr>
              <p:cNvPr id="37" name="Equation"/>
              <p:cNvSpPr txBox="1"/>
              <p:nvPr/>
            </p:nvSpPr>
            <p:spPr>
              <a:xfrm>
                <a:off x="9715500" y="7112762"/>
                <a:ext cx="1828800" cy="1120775"/>
              </a:xfrm>
              <a:prstGeom prst="rect">
                <a:avLst/>
              </a:prstGeom>
              <a:blipFill>
                <a:blip r:embed="rId6"/>
                <a:stretch>
                  <a:fillRect/>
                </a:stretch>
              </a:blipFill>
            </p:spPr>
            <p:txBody>
              <a:bodyPr/>
              <a:lstStyle/>
              <a:p>
                <a:endParaRPr lang="en-US"/>
              </a:p>
            </p:txBody>
          </p:sp>
        </mc:Fallback>
      </mc:AlternateContent>
      <p:sp>
        <p:nvSpPr>
          <p:cNvPr id="38" name="TextBox 37"/>
          <p:cNvSpPr txBox="1"/>
          <p:nvPr/>
        </p:nvSpPr>
        <p:spPr>
          <a:xfrm>
            <a:off x="11635740" y="7112762"/>
            <a:ext cx="5349240" cy="1120775"/>
          </a:xfrm>
          <a:prstGeom prst="rect">
            <a:avLst/>
          </a:prstGeom>
          <a:noFill/>
        </p:spPr>
        <p:txBody>
          <a:bodyPr anchor="ctr" rtlCol="false" lIns="0" tIns="0" rIns="0" bIns="0" wrap="square"/>
          <a:lstStyle/>
          <a:p>
            <a:pPr algn="l">
              <a:lnSpc>
                <a:spcPts val="2100"/>
              </a:lnSpc>
              <a:spcBef>
                <a:spcPts val="0"/>
              </a:spcBef>
              <a:buNone/>
            </a:pPr>
            <a:r>
              <a:rPr lang="en-US" sz="1700" b="true">
                <a:solidFill>
                  <a:srgbClr val="FFFFFF"/>
                </a:solidFill>
                <a:latin typeface="Nunito Bold"/>
                <a:ea typeface="Nunito Bold"/>
                <a:cs typeface="Nunito Bold"/>
                <a:sym typeface="Nunito Bold"/>
              </a:rPr>
              <a:t>quality of the recommendation that coalition S can achieve</a:t>
            </a:r>
          </a:p>
        </p:txBody>
      </p:sp>
      <mc:AlternateContent xmlns:mc="http://schemas.openxmlformats.org/markup-compatibility/2006">
        <mc:Choice xmlns:a14="http://schemas.microsoft.com/office/drawing/2010/main" Requires="a14">
          <p:sp>
            <p:nvSpPr>
              <p:cNvPr id="39" name="Equation"/>
              <p:cNvSpPr txBox="1"/>
              <p:nvPr/>
            </p:nvSpPr>
            <p:spPr>
              <a:xfrm>
                <a:off x="9715500" y="8142097"/>
                <a:ext cx="1828800" cy="1120775"/>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200" i="1">
                              <a:solidFill>
                                <a:srgbClr val="ECC665"/>
                              </a:solidFill>
                              <a:latin typeface="Cambria Math" panose="02040503050406030204" pitchFamily="18" charset="0"/>
                            </a:rPr>
                          </m:ctrlPr>
                        </m:sSubPr>
                        <m:e>
                          <m:acc>
                            <m:accPr>
                              <m:chr m:val="̂"/>
                              <m:ctrlPr>
                                <a:rPr lang="en-US" sz="2200" i="1">
                                  <a:solidFill>
                                    <a:srgbClr val="ECC665"/>
                                  </a:solidFill>
                                  <a:latin typeface="Cambria Math" panose="02040503050406030204" pitchFamily="18" charset="0"/>
                                </a:rPr>
                              </m:ctrlPr>
                            </m:accPr>
                            <m:e>
                              <m:r>
                                <a:rPr lang="en-US" sz="2200" i="1">
                                  <a:solidFill>
                                    <a:srgbClr val="ECC665"/>
                                  </a:solidFill>
                                  <a:latin typeface="Cambria Math" panose="02040503050406030204" pitchFamily="18" charset="0"/>
                                </a:rPr>
                                <m:t xml:space="preserve">φ</m:t>
                              </m:r>
                            </m:e>
                          </m:acc>
                        </m:e>
                        <m:sub>
                          <m:r>
                            <a:rPr lang="en-US" sz="2200" i="1">
                              <a:solidFill>
                                <a:srgbClr val="ECC665"/>
                              </a:solidFill>
                              <a:latin typeface="Cambria Math" panose="02040503050406030204" pitchFamily="18" charset="0"/>
                            </a:rPr>
                            <m:t xml:space="preserve">j</m:t>
                          </m:r>
                        </m:sub>
                      </m:sSub>
                      <m:r>
                        <m:rPr>
                          <m:sty m:val="p"/>
                        </m:rPr>
                        <a:rPr lang="en-US" sz="2200">
                          <a:solidFill>
                            <a:srgbClr val="ECC665"/>
                          </a:solidFill>
                          <a:latin typeface="Cambria Math" panose="02040503050406030204" pitchFamily="18" charset="0"/>
                        </a:rPr>
                        <m:t xml:space="preserve"> → </m:t>
                      </m:r>
                      <m:sSub>
                        <m:sSubPr>
                          <m:ctrlPr>
                            <a:rPr lang="en-US" sz="2200" i="1">
                              <a:solidFill>
                                <a:srgbClr val="ECC665"/>
                              </a:solidFill>
                              <a:latin typeface="Cambria Math" panose="02040503050406030204" pitchFamily="18" charset="0"/>
                            </a:rPr>
                          </m:ctrlPr>
                        </m:sSubPr>
                        <m:e>
                          <m:r>
                            <a:rPr lang="en-US" sz="2200" i="1">
                              <a:solidFill>
                                <a:srgbClr val="ECC665"/>
                              </a:solidFill>
                              <a:latin typeface="Cambria Math" panose="02040503050406030204" pitchFamily="18" charset="0"/>
                            </a:rPr>
                            <m:t xml:space="preserve">w</m:t>
                          </m:r>
                        </m:e>
                        <m:sub>
                          <m:r>
                            <a:rPr lang="en-US" sz="2200" i="1">
                              <a:solidFill>
                                <a:srgbClr val="ECC665"/>
                              </a:solidFill>
                              <a:latin typeface="Cambria Math" panose="02040503050406030204" pitchFamily="18" charset="0"/>
                            </a:rPr>
                            <m:t xml:space="preserve">jk</m:t>
                          </m:r>
                        </m:sub>
                      </m:sSub>
                    </m:oMath>
                  </m:oMathPara>
                </a14:m>
                <a:endParaRPr lang="en-US" sz="2200"/>
              </a:p>
            </p:txBody>
          </p:sp>
        </mc:Choice>
        <mc:Fallback>
          <p:sp>
            <p:nvSpPr>
              <p:cNvPr id="39" name="Equation"/>
              <p:cNvSpPr txBox="1"/>
              <p:nvPr/>
            </p:nvSpPr>
            <p:spPr>
              <a:xfrm>
                <a:off x="9715500" y="8142097"/>
                <a:ext cx="1828800" cy="1120775"/>
              </a:xfrm>
              <a:prstGeom prst="rect">
                <a:avLst/>
              </a:prstGeom>
              <a:blipFill>
                <a:blip r:embed="rId7"/>
                <a:stretch>
                  <a:fillRect/>
                </a:stretch>
              </a:blipFill>
            </p:spPr>
            <p:txBody>
              <a:bodyPr/>
              <a:lstStyle/>
              <a:p>
                <a:endParaRPr lang="en-US"/>
              </a:p>
            </p:txBody>
          </p:sp>
        </mc:Fallback>
      </mc:AlternateContent>
      <p:sp>
        <p:nvSpPr>
          <p:cNvPr id="40" name="TextBox 39"/>
          <p:cNvSpPr txBox="1"/>
          <p:nvPr/>
        </p:nvSpPr>
        <p:spPr>
          <a:xfrm>
            <a:off x="11635740" y="8142097"/>
            <a:ext cx="5349240" cy="1120775"/>
          </a:xfrm>
          <a:prstGeom prst="rect">
            <a:avLst/>
          </a:prstGeom>
          <a:noFill/>
        </p:spPr>
        <p:txBody>
          <a:bodyPr anchor="ctr" rtlCol="false" lIns="0" tIns="0" rIns="0" bIns="0" wrap="square"/>
          <a:lstStyle/>
          <a:p>
            <a:pPr algn="l">
              <a:lnSpc>
                <a:spcPts val="2100"/>
              </a:lnSpc>
              <a:spcBef>
                <a:spcPts val="0"/>
              </a:spcBef>
              <a:buNone/>
            </a:pPr>
            <a:r>
              <a:rPr lang="en-US" sz="1700" b="true">
                <a:solidFill>
                  <a:srgbClr val="ECC665"/>
                </a:solidFill>
                <a:latin typeface="Nunito Bold"/>
                <a:ea typeface="Nunito Bold"/>
                <a:cs typeface="Nunito Bold"/>
                <a:sym typeface="Nunito Bold"/>
              </a:rPr>
              <a:t>marginal contribution of player j </a:t>
            </a:r>
            <a:r>
              <a:rPr lang="en-US" sz="1700" b="true">
                <a:solidFill>
                  <a:srgbClr val="ECC665"/>
                </a:solidFill>
                <a:latin typeface="Calibri"/>
                <a:ea typeface="Calibri"/>
                <a:cs typeface="Calibri"/>
                <a:sym typeface="Calibri"/>
              </a:rPr>
              <a:t>→ </a:t>
            </a:r>
            <a:r>
              <a:rPr lang="en-US" sz="1700" b="true">
                <a:solidFill>
                  <a:srgbClr val="ECC665"/>
                </a:solidFill>
                <a:latin typeface="Nunito Bold"/>
                <a:ea typeface="Nunito Bold"/>
                <a:cs typeface="Nunito Bold"/>
                <a:sym typeface="Nunito Bold"/>
              </a:rPr>
              <a:t>dynamic hyperedge weight</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55</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Preference-Aware Monte Carlo Shapley</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8595360" cy="41148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Exact Shapley is </a:t>
            </a:r>
            <a:r>
              <a:rPr lang="en-US" sz="2100" b="true">
                <a:solidFill>
                  <a:srgbClr val="111111"/>
                </a:solidFill>
                <a:latin typeface="Nunito Bold"/>
                <a:ea typeface="Nunito Bold"/>
                <a:cs typeface="Nunito Bold"/>
                <a:sym typeface="Nunito Bold"/>
              </a:rPr>
              <a:t>combinatorial and not feasible</a:t>
            </a:r>
            <a:r>
              <a:rPr lang="en-US" sz="2100" b="true">
                <a:solidFill>
                  <a:srgbClr val="111111"/>
                </a:solidFill>
                <a:latin typeface="Nunito Semi-Bold"/>
                <a:ea typeface="Nunito Semi-Bold"/>
                <a:cs typeface="Nunito Semi-Bold"/>
                <a:sym typeface="Nunito Semi-Bold"/>
              </a:rPr>
              <a:t> for real systems.</a:t>
            </a:r>
          </a:p>
        </p:txBody>
      </p:sp>
      <p:sp>
        <p:nvSpPr>
          <p:cNvPr id="26" name="Rounded Rectangle 25"/>
          <p:cNvSpPr/>
          <p:nvPr/>
        </p:nvSpPr>
        <p:spPr>
          <a:xfrm>
            <a:off x="1028700" y="3866642"/>
            <a:ext cx="8595360" cy="2834640"/>
          </a:xfrm>
          <a:prstGeom prst="roundRect">
            <a:avLst>
              <a:gd name="adj" fmla="val 6451"/>
            </a:avLst>
          </a:prstGeom>
          <a:solidFill>
            <a:srgbClr val="D9E2F3"/>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27" name="Equation"/>
              <p:cNvSpPr txBox="1"/>
              <p:nvPr/>
            </p:nvSpPr>
            <p:spPr>
              <a:xfrm>
                <a:off x="1211580" y="3958082"/>
                <a:ext cx="8229600" cy="13258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2350" i="1">
                              <a:solidFill>
                                <a:srgbClr val="4472C4"/>
                              </a:solidFill>
                              <a:latin typeface="Cambria Math" panose="02040503050406030204" pitchFamily="18" charset="0"/>
                            </a:rPr>
                          </m:ctrlPr>
                        </m:sSubPr>
                        <m:e>
                          <m:acc>
                            <m:accPr>
                              <m:chr m:val="̂"/>
                              <m:ctrlPr>
                                <a:rPr lang="en-US" sz="2350" i="1">
                                  <a:solidFill>
                                    <a:srgbClr val="4472C4"/>
                                  </a:solidFill>
                                  <a:latin typeface="Cambria Math" panose="02040503050406030204" pitchFamily="18" charset="0"/>
                                </a:rPr>
                              </m:ctrlPr>
                            </m:accPr>
                            <m:e>
                              <m:r>
                                <a:rPr lang="en-US" sz="2350" i="1">
                                  <a:solidFill>
                                    <a:srgbClr val="4472C4"/>
                                  </a:solidFill>
                                  <a:latin typeface="Cambria Math" panose="02040503050406030204" pitchFamily="18" charset="0"/>
                                </a:rPr>
                                <m:t xml:space="preserve">φ</m:t>
                              </m:r>
                            </m:e>
                          </m:acc>
                        </m:e>
                        <m:sub>
                          <m:r>
                            <a:rPr lang="en-US" sz="2350" i="1">
                              <a:solidFill>
                                <a:srgbClr val="4472C4"/>
                              </a:solidFill>
                              <a:latin typeface="Cambria Math" panose="02040503050406030204" pitchFamily="18" charset="0"/>
                            </a:rPr>
                            <m:t xml:space="preserve">j</m:t>
                          </m:r>
                        </m:sub>
                      </m:sSub>
                      <m:r>
                        <m:rPr>
                          <m:sty m:val="p"/>
                        </m:rPr>
                        <a:rPr lang="en-US" sz="2350">
                          <a:solidFill>
                            <a:srgbClr val="4472C4"/>
                          </a:solidFill>
                          <a:latin typeface="Cambria Math" panose="02040503050406030204" pitchFamily="18" charset="0"/>
                        </a:rPr>
                        <m:t xml:space="preserve">=</m:t>
                      </m:r>
                      <m:f>
                        <m:fPr>
                          <m:ctrlPr>
                            <a:rPr lang="en-US" sz="2350" i="1">
                              <a:solidFill>
                                <a:srgbClr val="4472C4"/>
                              </a:solidFill>
                              <a:latin typeface="Cambria Math" panose="02040503050406030204" pitchFamily="18" charset="0"/>
                            </a:rPr>
                          </m:ctrlPr>
                        </m:fPr>
                        <m:num>
                          <m:r>
                            <m:rPr>
                              <m:sty m:val="p"/>
                            </m:rPr>
                            <a:rPr lang="en-US" sz="2350">
                              <a:solidFill>
                                <a:srgbClr val="4472C4"/>
                              </a:solidFill>
                              <a:latin typeface="Cambria Math" panose="02040503050406030204" pitchFamily="18" charset="0"/>
                            </a:rPr>
                            <m:t xml:space="preserve">1</m:t>
                          </m:r>
                        </m:num>
                        <m:den>
                          <m:r>
                            <a:rPr lang="en-US" sz="2350" i="1">
                              <a:solidFill>
                                <a:srgbClr val="4472C4"/>
                              </a:solidFill>
                              <a:latin typeface="Cambria Math" panose="02040503050406030204" pitchFamily="18" charset="0"/>
                            </a:rPr>
                            <m:t xml:space="preserve">M</m:t>
                          </m:r>
                        </m:den>
                      </m:f>
                      <m:nary>
                        <m:naryPr>
                          <m:chr m:val="∑"/>
                          <m:limLoc m:val="undOvr"/>
                          <m:ctrlPr>
                            <a:rPr lang="en-US" sz="2350" i="1">
                              <a:solidFill>
                                <a:srgbClr val="4472C4"/>
                              </a:solidFill>
                              <a:latin typeface="Cambria Math" panose="02040503050406030204" pitchFamily="18" charset="0"/>
                            </a:rPr>
                          </m:ctrlPr>
                        </m:naryPr>
                        <m:sub>
                          <m:r>
                            <a:rPr lang="en-US" sz="2350" i="1">
                              <a:solidFill>
                                <a:srgbClr val="4472C4"/>
                              </a:solidFill>
                              <a:latin typeface="Cambria Math" panose="02040503050406030204" pitchFamily="18" charset="0"/>
                            </a:rPr>
                            <m:t xml:space="preserve">m</m:t>
                          </m:r>
                          <m:r>
                            <m:rPr>
                              <m:sty m:val="p"/>
                            </m:rPr>
                            <a:rPr lang="en-US" sz="2350">
                              <a:solidFill>
                                <a:srgbClr val="4472C4"/>
                              </a:solidFill>
                              <a:latin typeface="Cambria Math" panose="02040503050406030204" pitchFamily="18" charset="0"/>
                            </a:rPr>
                            <m:t xml:space="preserve">=1</m:t>
                          </m:r>
                        </m:sub>
                        <m:sup>
                          <m:r>
                            <a:rPr lang="en-US" sz="2350" i="1">
                              <a:solidFill>
                                <a:srgbClr val="4472C4"/>
                              </a:solidFill>
                              <a:latin typeface="Cambria Math" panose="02040503050406030204" pitchFamily="18" charset="0"/>
                            </a:rPr>
                            <m:t xml:space="preserve">M</m:t>
                          </m:r>
                        </m:sup>
                        <m:e>
                          <m:d>
                            <m:dPr>
                              <m:begChr m:val="["/>
                              <m:endChr m:val="]"/>
                              <m:ctrlPr>
                                <a:rPr lang="en-US" sz="2350" i="1">
                                  <a:solidFill>
                                    <a:srgbClr val="4472C4"/>
                                  </a:solidFill>
                                  <a:latin typeface="Cambria Math" panose="02040503050406030204" pitchFamily="18" charset="0"/>
                                </a:rPr>
                              </m:ctrlPr>
                            </m:dPr>
                            <m:e>
                              <m:r>
                                <m:rPr>
                                  <m:sty m:val="p"/>
                                </m:rPr>
                                <a:rPr lang="en-US" sz="2350">
                                  <a:solidFill>
                                    <a:srgbClr val="4472C4"/>
                                  </a:solidFill>
                                  <a:latin typeface="Cambria Math" panose="02040503050406030204" pitchFamily="18" charset="0"/>
                                </a:rPr>
                                <m:t xml:space="preserve"> </m:t>
                              </m:r>
                              <m:r>
                                <a:rPr lang="en-US" sz="2350" i="1">
                                  <a:solidFill>
                                    <a:srgbClr val="4472C4"/>
                                  </a:solidFill>
                                  <a:latin typeface="Cambria Math" panose="02040503050406030204" pitchFamily="18" charset="0"/>
                                </a:rPr>
                                <m:t xml:space="preserve">v</m:t>
                              </m:r>
                              <m:r>
                                <m:rPr>
                                  <m:sty m:val="p"/>
                                </m:rPr>
                                <a:rPr lang="en-US" sz="2350">
                                  <a:solidFill>
                                    <a:srgbClr val="4472C4"/>
                                  </a:solidFill>
                                  <a:latin typeface="Cambria Math" panose="02040503050406030204" pitchFamily="18" charset="0"/>
                                </a:rPr>
                                <m:t xml:space="preserve">(</m:t>
                              </m:r>
                              <m:sSub>
                                <m:sSubPr>
                                  <m:ctrlPr>
                                    <a:rPr lang="en-US" sz="2350" i="1">
                                      <a:solidFill>
                                        <a:srgbClr val="4472C4"/>
                                      </a:solidFill>
                                      <a:latin typeface="Cambria Math" panose="02040503050406030204" pitchFamily="18" charset="0"/>
                                    </a:rPr>
                                  </m:ctrlPr>
                                </m:sSubPr>
                                <m:e>
                                  <m:r>
                                    <a:rPr lang="en-US" sz="2350" i="1">
                                      <a:solidFill>
                                        <a:srgbClr val="4472C4"/>
                                      </a:solidFill>
                                      <a:latin typeface="Cambria Math" panose="02040503050406030204" pitchFamily="18" charset="0"/>
                                    </a:rPr>
                                    <m:t xml:space="preserve">S</m:t>
                                  </m:r>
                                </m:e>
                                <m:sub>
                                  <m:r>
                                    <a:rPr lang="en-US" sz="2350" i="1">
                                      <a:solidFill>
                                        <a:srgbClr val="4472C4"/>
                                      </a:solidFill>
                                      <a:latin typeface="Cambria Math" panose="02040503050406030204" pitchFamily="18" charset="0"/>
                                    </a:rPr>
                                    <m:t xml:space="preserve">m</m:t>
                                  </m:r>
                                </m:sub>
                              </m:sSub>
                              <m:r>
                                <m:rPr>
                                  <m:sty m:val="p"/>
                                </m:rPr>
                                <a:rPr lang="en-US" sz="2350">
                                  <a:solidFill>
                                    <a:srgbClr val="4472C4"/>
                                  </a:solidFill>
                                  <a:latin typeface="Cambria Math" panose="02040503050406030204" pitchFamily="18" charset="0"/>
                                </a:rPr>
                                <m:t xml:space="preserve">∪{</m:t>
                              </m:r>
                              <m:r>
                                <a:rPr lang="en-US" sz="2350" i="1">
                                  <a:solidFill>
                                    <a:srgbClr val="4472C4"/>
                                  </a:solidFill>
                                  <a:latin typeface="Cambria Math" panose="02040503050406030204" pitchFamily="18" charset="0"/>
                                </a:rPr>
                                <m:t xml:space="preserve">j</m:t>
                              </m:r>
                              <m:r>
                                <m:rPr>
                                  <m:sty m:val="p"/>
                                </m:rPr>
                                <a:rPr lang="en-US" sz="2350">
                                  <a:solidFill>
                                    <a:srgbClr val="4472C4"/>
                                  </a:solidFill>
                                  <a:latin typeface="Cambria Math" panose="02040503050406030204" pitchFamily="18" charset="0"/>
                                </a:rPr>
                                <m:t xml:space="preserve">})−</m:t>
                              </m:r>
                              <m:r>
                                <a:rPr lang="en-US" sz="2350" i="1">
                                  <a:solidFill>
                                    <a:srgbClr val="4472C4"/>
                                  </a:solidFill>
                                  <a:latin typeface="Cambria Math" panose="02040503050406030204" pitchFamily="18" charset="0"/>
                                </a:rPr>
                                <m:t xml:space="preserve">v</m:t>
                              </m:r>
                              <m:r>
                                <m:rPr>
                                  <m:sty m:val="p"/>
                                </m:rPr>
                                <a:rPr lang="en-US" sz="2350">
                                  <a:solidFill>
                                    <a:srgbClr val="4472C4"/>
                                  </a:solidFill>
                                  <a:latin typeface="Cambria Math" panose="02040503050406030204" pitchFamily="18" charset="0"/>
                                </a:rPr>
                                <m:t xml:space="preserve">(</m:t>
                              </m:r>
                              <m:sSub>
                                <m:sSubPr>
                                  <m:ctrlPr>
                                    <a:rPr lang="en-US" sz="2350" i="1">
                                      <a:solidFill>
                                        <a:srgbClr val="4472C4"/>
                                      </a:solidFill>
                                      <a:latin typeface="Cambria Math" panose="02040503050406030204" pitchFamily="18" charset="0"/>
                                    </a:rPr>
                                  </m:ctrlPr>
                                </m:sSubPr>
                                <m:e>
                                  <m:r>
                                    <a:rPr lang="en-US" sz="2350" i="1">
                                      <a:solidFill>
                                        <a:srgbClr val="4472C4"/>
                                      </a:solidFill>
                                      <a:latin typeface="Cambria Math" panose="02040503050406030204" pitchFamily="18" charset="0"/>
                                    </a:rPr>
                                    <m:t xml:space="preserve">S</m:t>
                                  </m:r>
                                </m:e>
                                <m:sub>
                                  <m:r>
                                    <a:rPr lang="en-US" sz="2350" i="1">
                                      <a:solidFill>
                                        <a:srgbClr val="4472C4"/>
                                      </a:solidFill>
                                      <a:latin typeface="Cambria Math" panose="02040503050406030204" pitchFamily="18" charset="0"/>
                                    </a:rPr>
                                    <m:t xml:space="preserve">m</m:t>
                                  </m:r>
                                </m:sub>
                              </m:sSub>
                              <m:r>
                                <m:rPr>
                                  <m:sty m:val="p"/>
                                </m:rPr>
                                <a:rPr lang="en-US" sz="2350">
                                  <a:solidFill>
                                    <a:srgbClr val="4472C4"/>
                                  </a:solidFill>
                                  <a:latin typeface="Cambria Math" panose="02040503050406030204" pitchFamily="18" charset="0"/>
                                </a:rPr>
                                <m:t xml:space="preserve">) </m:t>
                              </m:r>
                            </m:e>
                          </m:d>
                        </m:e>
                      </m:nary>
                    </m:oMath>
                  </m:oMathPara>
                </a14:m>
                <a:endParaRPr lang="en-US" sz="2350"/>
              </a:p>
            </p:txBody>
          </p:sp>
        </mc:Choice>
        <mc:Fallback>
          <p:sp>
            <p:nvSpPr>
              <p:cNvPr id="27" name="Equation"/>
              <p:cNvSpPr txBox="1"/>
              <p:nvPr/>
            </p:nvSpPr>
            <p:spPr>
              <a:xfrm>
                <a:off x="1211580" y="3958082"/>
                <a:ext cx="8229600" cy="1325880"/>
              </a:xfrm>
              <a:prstGeom prst="rect">
                <a:avLst/>
              </a:prstGeom>
              <a:blipFill>
                <a:blip r:embed="rId4"/>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28" name="Equation"/>
              <p:cNvSpPr txBox="1"/>
              <p:nvPr/>
            </p:nvSpPr>
            <p:spPr>
              <a:xfrm>
                <a:off x="1211580" y="5283962"/>
                <a:ext cx="8229600" cy="132588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Sup>
                        <m:sSubSupPr>
                          <m:ctrlPr>
                            <a:rPr lang="en-US" sz="2350" i="1">
                              <a:solidFill>
                                <a:srgbClr val="1F7A8C"/>
                              </a:solidFill>
                              <a:latin typeface="Cambria Math" panose="02040503050406030204" pitchFamily="18" charset="0"/>
                            </a:rPr>
                          </m:ctrlPr>
                        </m:sSubSupPr>
                        <m:e>
                          <m:acc>
                            <m:accPr>
                              <m:chr m:val="̂"/>
                              <m:ctrlPr>
                                <a:rPr lang="en-US" sz="2350" i="1">
                                  <a:solidFill>
                                    <a:srgbClr val="1F7A8C"/>
                                  </a:solidFill>
                                  <a:latin typeface="Cambria Math" panose="02040503050406030204" pitchFamily="18" charset="0"/>
                                </a:rPr>
                              </m:ctrlPr>
                            </m:accPr>
                            <m:e>
                              <m:r>
                                <a:rPr lang="en-US" sz="2350" i="1">
                                  <a:solidFill>
                                    <a:srgbClr val="1F7A8C"/>
                                  </a:solidFill>
                                  <a:latin typeface="Cambria Math" panose="02040503050406030204" pitchFamily="18" charset="0"/>
                                </a:rPr>
                                <m:t xml:space="preserve">φ</m:t>
                              </m:r>
                            </m:e>
                          </m:acc>
                        </m:e>
                        <m:sub>
                          <m:r>
                            <a:rPr lang="en-US" sz="2350" i="1">
                              <a:solidFill>
                                <a:srgbClr val="1F7A8C"/>
                              </a:solidFill>
                              <a:latin typeface="Cambria Math" panose="02040503050406030204" pitchFamily="18" charset="0"/>
                            </a:rPr>
                            <m:t xml:space="preserve">j</m:t>
                          </m:r>
                        </m:sub>
                        <m:sup>
                          <m:r>
                            <m:rPr>
                              <m:sty m:val="p"/>
                            </m:rPr>
                            <a:rPr lang="en-US" sz="2350">
                              <a:solidFill>
                                <a:srgbClr val="1F7A8C"/>
                              </a:solidFill>
                              <a:latin typeface="Cambria Math" panose="02040503050406030204" pitchFamily="18" charset="0"/>
                            </a:rPr>
                            <m:t xml:space="preserve"> pref</m:t>
                          </m:r>
                        </m:sup>
                      </m:sSubSup>
                      <m:r>
                        <m:rPr>
                          <m:sty m:val="p"/>
                        </m:rPr>
                        <a:rPr lang="en-US" sz="2350">
                          <a:solidFill>
                            <a:srgbClr val="1F7A8C"/>
                          </a:solidFill>
                          <a:latin typeface="Cambria Math" panose="02040503050406030204" pitchFamily="18" charset="0"/>
                        </a:rPr>
                        <m:t xml:space="preserve">=</m:t>
                      </m:r>
                      <m:f>
                        <m:fPr>
                          <m:ctrlPr>
                            <a:rPr lang="en-US" sz="2350" i="1">
                              <a:solidFill>
                                <a:srgbClr val="1F7A8C"/>
                              </a:solidFill>
                              <a:latin typeface="Cambria Math" panose="02040503050406030204" pitchFamily="18" charset="0"/>
                            </a:rPr>
                          </m:ctrlPr>
                        </m:fPr>
                        <m:num>
                          <m:r>
                            <m:rPr>
                              <m:sty m:val="p"/>
                            </m:rPr>
                            <a:rPr lang="en-US" sz="2350">
                              <a:solidFill>
                                <a:srgbClr val="1F7A8C"/>
                              </a:solidFill>
                              <a:latin typeface="Cambria Math" panose="02040503050406030204" pitchFamily="18" charset="0"/>
                            </a:rPr>
                            <m:t xml:space="preserve">1</m:t>
                          </m:r>
                        </m:num>
                        <m:den>
                          <m:r>
                            <a:rPr lang="en-US" sz="2350" i="1">
                              <a:solidFill>
                                <a:srgbClr val="1F7A8C"/>
                              </a:solidFill>
                              <a:latin typeface="Cambria Math" panose="02040503050406030204" pitchFamily="18" charset="0"/>
                            </a:rPr>
                            <m:t xml:space="preserve">M</m:t>
                          </m:r>
                        </m:den>
                      </m:f>
                      <m:nary>
                        <m:naryPr>
                          <m:chr m:val="∑"/>
                          <m:limLoc m:val="undOvr"/>
                          <m:ctrlPr>
                            <a:rPr lang="en-US" sz="2350" i="1">
                              <a:solidFill>
                                <a:srgbClr val="1F7A8C"/>
                              </a:solidFill>
                              <a:latin typeface="Cambria Math" panose="02040503050406030204" pitchFamily="18" charset="0"/>
                            </a:rPr>
                          </m:ctrlPr>
                        </m:naryPr>
                        <m:sub>
                          <m:r>
                            <a:rPr lang="en-US" sz="2350" i="1">
                              <a:solidFill>
                                <a:srgbClr val="1F7A8C"/>
                              </a:solidFill>
                              <a:latin typeface="Cambria Math" panose="02040503050406030204" pitchFamily="18" charset="0"/>
                            </a:rPr>
                            <m:t xml:space="preserve">m</m:t>
                          </m:r>
                          <m:r>
                            <m:rPr>
                              <m:sty m:val="p"/>
                            </m:rPr>
                            <a:rPr lang="en-US" sz="2350">
                              <a:solidFill>
                                <a:srgbClr val="1F7A8C"/>
                              </a:solidFill>
                              <a:latin typeface="Cambria Math" panose="02040503050406030204" pitchFamily="18" charset="0"/>
                            </a:rPr>
                            <m:t xml:space="preserve">=1</m:t>
                          </m:r>
                        </m:sub>
                        <m:sup>
                          <m:r>
                            <a:rPr lang="en-US" sz="2350" i="1">
                              <a:solidFill>
                                <a:srgbClr val="1F7A8C"/>
                              </a:solidFill>
                              <a:latin typeface="Cambria Math" panose="02040503050406030204" pitchFamily="18" charset="0"/>
                            </a:rPr>
                            <m:t xml:space="preserve">M</m:t>
                          </m:r>
                        </m:sup>
                        <m:e>
                          <m:d>
                            <m:dPr>
                              <m:begChr m:val="["/>
                              <m:endChr m:val="]"/>
                              <m:ctrlPr>
                                <a:rPr lang="en-US" sz="2350" i="1">
                                  <a:solidFill>
                                    <a:srgbClr val="1F7A8C"/>
                                  </a:solidFill>
                                  <a:latin typeface="Cambria Math" panose="02040503050406030204" pitchFamily="18" charset="0"/>
                                </a:rPr>
                              </m:ctrlPr>
                            </m:dPr>
                            <m:e>
                              <m:r>
                                <m:rPr>
                                  <m:sty m:val="p"/>
                                </m:rPr>
                                <a:rPr lang="en-US" sz="2350">
                                  <a:solidFill>
                                    <a:srgbClr val="1F7A8C"/>
                                  </a:solidFill>
                                  <a:latin typeface="Cambria Math" panose="02040503050406030204" pitchFamily="18" charset="0"/>
                                </a:rPr>
                                <m:t xml:space="preserve"> </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v</m:t>
                                  </m:r>
                                </m:e>
                                <m:sub>
                                  <m:r>
                                    <m:rPr>
                                      <m:sty m:val="p"/>
                                    </m:rPr>
                                    <a:rPr lang="en-US" sz="2350">
                                      <a:solidFill>
                                        <a:srgbClr val="1F7A8C"/>
                                      </a:solidFill>
                                      <a:latin typeface="Cambria Math" panose="02040503050406030204" pitchFamily="18" charset="0"/>
                                    </a:rPr>
                                    <m:t xml:space="preserve">pref</m:t>
                                  </m:r>
                                </m:sub>
                              </m:sSub>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S</m:t>
                                  </m:r>
                                </m:e>
                                <m:sub>
                                  <m:r>
                                    <a:rPr lang="en-US" sz="2350" i="1">
                                      <a:solidFill>
                                        <a:srgbClr val="1F7A8C"/>
                                      </a:solidFill>
                                      <a:latin typeface="Cambria Math" panose="02040503050406030204" pitchFamily="18" charset="0"/>
                                    </a:rPr>
                                    <m:t xml:space="preserve">m</m:t>
                                  </m:r>
                                </m:sub>
                              </m:sSub>
                              <m:r>
                                <m:rPr>
                                  <m:sty m:val="p"/>
                                </m:rPr>
                                <a:rPr lang="en-US" sz="2350">
                                  <a:solidFill>
                                    <a:srgbClr val="1F7A8C"/>
                                  </a:solidFill>
                                  <a:latin typeface="Cambria Math" panose="02040503050406030204" pitchFamily="18" charset="0"/>
                                </a:rPr>
                                <m:t xml:space="preserve">∪{</m:t>
                              </m:r>
                              <m:r>
                                <a:rPr lang="en-US" sz="2350" i="1">
                                  <a:solidFill>
                                    <a:srgbClr val="1F7A8C"/>
                                  </a:solidFill>
                                  <a:latin typeface="Cambria Math" panose="02040503050406030204" pitchFamily="18" charset="0"/>
                                </a:rPr>
                                <m:t xml:space="preserve">j</m:t>
                              </m:r>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v</m:t>
                                  </m:r>
                                </m:e>
                                <m:sub>
                                  <m:r>
                                    <m:rPr>
                                      <m:sty m:val="p"/>
                                    </m:rPr>
                                    <a:rPr lang="en-US" sz="2350">
                                      <a:solidFill>
                                        <a:srgbClr val="1F7A8C"/>
                                      </a:solidFill>
                                      <a:latin typeface="Cambria Math" panose="02040503050406030204" pitchFamily="18" charset="0"/>
                                    </a:rPr>
                                    <m:t xml:space="preserve">pref</m:t>
                                  </m:r>
                                </m:sub>
                              </m:sSub>
                              <m:r>
                                <m:rPr>
                                  <m:sty m:val="p"/>
                                </m:rPr>
                                <a:rPr lang="en-US" sz="2350">
                                  <a:solidFill>
                                    <a:srgbClr val="1F7A8C"/>
                                  </a:solidFill>
                                  <a:latin typeface="Cambria Math" panose="02040503050406030204" pitchFamily="18" charset="0"/>
                                </a:rPr>
                                <m:t xml:space="preserve">(</m:t>
                              </m:r>
                              <m:sSub>
                                <m:sSubPr>
                                  <m:ctrlPr>
                                    <a:rPr lang="en-US" sz="2350" i="1">
                                      <a:solidFill>
                                        <a:srgbClr val="1F7A8C"/>
                                      </a:solidFill>
                                      <a:latin typeface="Cambria Math" panose="02040503050406030204" pitchFamily="18" charset="0"/>
                                    </a:rPr>
                                  </m:ctrlPr>
                                </m:sSubPr>
                                <m:e>
                                  <m:r>
                                    <a:rPr lang="en-US" sz="2350" i="1">
                                      <a:solidFill>
                                        <a:srgbClr val="1F7A8C"/>
                                      </a:solidFill>
                                      <a:latin typeface="Cambria Math" panose="02040503050406030204" pitchFamily="18" charset="0"/>
                                    </a:rPr>
                                    <m:t xml:space="preserve">S</m:t>
                                  </m:r>
                                </m:e>
                                <m:sub>
                                  <m:r>
                                    <a:rPr lang="en-US" sz="2350" i="1">
                                      <a:solidFill>
                                        <a:srgbClr val="1F7A8C"/>
                                      </a:solidFill>
                                      <a:latin typeface="Cambria Math" panose="02040503050406030204" pitchFamily="18" charset="0"/>
                                    </a:rPr>
                                    <m:t xml:space="preserve">m</m:t>
                                  </m:r>
                                </m:sub>
                              </m:sSub>
                              <m:r>
                                <m:rPr>
                                  <m:sty m:val="p"/>
                                </m:rPr>
                                <a:rPr lang="en-US" sz="2350">
                                  <a:solidFill>
                                    <a:srgbClr val="1F7A8C"/>
                                  </a:solidFill>
                                  <a:latin typeface="Cambria Math" panose="02040503050406030204" pitchFamily="18" charset="0"/>
                                </a:rPr>
                                <m:t xml:space="preserve">) </m:t>
                              </m:r>
                            </m:e>
                          </m:d>
                        </m:e>
                      </m:nary>
                    </m:oMath>
                  </m:oMathPara>
                </a14:m>
                <a:endParaRPr lang="en-US" sz="2350"/>
              </a:p>
            </p:txBody>
          </p:sp>
        </mc:Choice>
        <mc:Fallback>
          <p:sp>
            <p:nvSpPr>
              <p:cNvPr id="28" name="Equation"/>
              <p:cNvSpPr txBox="1"/>
              <p:nvPr/>
            </p:nvSpPr>
            <p:spPr>
              <a:xfrm>
                <a:off x="1211580" y="5283962"/>
                <a:ext cx="8229600" cy="1325880"/>
              </a:xfrm>
              <a:prstGeom prst="rect">
                <a:avLst/>
              </a:prstGeom>
              <a:blipFill>
                <a:blip r:embed="rId5"/>
                <a:stretch>
                  <a:fillRect/>
                </a:stretch>
              </a:blipFill>
            </p:spPr>
            <p:txBody>
              <a:bodyPr/>
              <a:lstStyle/>
              <a:p>
                <a:endParaRPr lang="en-US"/>
              </a:p>
            </p:txBody>
          </p:sp>
        </mc:Fallback>
      </mc:AlternateContent>
      <mc:AlternateContent xmlns:mc="http://schemas.openxmlformats.org/markup-compatibility/2006">
        <mc:Choice xmlns:a14="http://schemas.microsoft.com/office/drawing/2010/main" Requires="a14">
          <p:sp>
            <p:nvSpPr>
              <p:cNvPr id="29" name="Equation"/>
              <p:cNvSpPr txBox="1"/>
              <p:nvPr/>
            </p:nvSpPr>
            <p:spPr>
              <a:xfrm>
                <a:off x="1211580" y="6838442"/>
                <a:ext cx="8229600" cy="54864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m:rPr>
                          <m:sty m:val="p"/>
                        </m:rPr>
                        <a:rPr lang="en-US" sz="1600">
                          <a:solidFill>
                            <a:srgbClr val="111111"/>
                          </a:solidFill>
                          <a:latin typeface="Cambria Math" panose="02040503050406030204" pitchFamily="18" charset="0"/>
                        </a:rPr>
                        <m:t xml:space="preserve">Var</m:t>
                      </m:r>
                      <m:d>
                        <m:dPr>
                          <m:begChr m:val="["/>
                          <m:endChr m:val="]"/>
                          <m:ctrlPr>
                            <a:rPr lang="en-US" sz="1600" i="1">
                              <a:solidFill>
                                <a:srgbClr val="111111"/>
                              </a:solidFill>
                              <a:latin typeface="Cambria Math" panose="02040503050406030204" pitchFamily="18" charset="0"/>
                            </a:rPr>
                          </m:ctrlPr>
                        </m:dPr>
                        <m:e>
                          <m:sSub>
                            <m:sSubPr>
                              <m:ctrlPr>
                                <a:rPr lang="en-US" sz="1600" i="1">
                                  <a:solidFill>
                                    <a:srgbClr val="111111"/>
                                  </a:solidFill>
                                  <a:latin typeface="Cambria Math" panose="02040503050406030204" pitchFamily="18" charset="0"/>
                                </a:rPr>
                              </m:ctrlPr>
                            </m:sSubPr>
                            <m:e>
                              <m:acc>
                                <m:accPr>
                                  <m:chr m:val="̂"/>
                                  <m:ctrlPr>
                                    <a:rPr lang="en-US" sz="1600" i="1">
                                      <a:solidFill>
                                        <a:srgbClr val="111111"/>
                                      </a:solidFill>
                                      <a:latin typeface="Cambria Math" panose="02040503050406030204" pitchFamily="18" charset="0"/>
                                    </a:rPr>
                                  </m:ctrlPr>
                                </m:accPr>
                                <m:e>
                                  <m:r>
                                    <a:rPr lang="en-US" sz="1600" i="1">
                                      <a:solidFill>
                                        <a:srgbClr val="111111"/>
                                      </a:solidFill>
                                      <a:latin typeface="Cambria Math" panose="02040503050406030204" pitchFamily="18" charset="0"/>
                                    </a:rPr>
                                    <m:t xml:space="preserve">φ</m:t>
                                  </m:r>
                                </m:e>
                              </m:acc>
                            </m:e>
                            <m:sub>
                              <m:r>
                                <a:rPr lang="en-US" sz="1600" i="1">
                                  <a:solidFill>
                                    <a:srgbClr val="111111"/>
                                  </a:solidFill>
                                  <a:latin typeface="Cambria Math" panose="02040503050406030204" pitchFamily="18" charset="0"/>
                                </a:rPr>
                                <m:t xml:space="preserve">j</m:t>
                              </m:r>
                            </m:sub>
                          </m:sSub>
                        </m:e>
                      </m:d>
                      <m:r>
                        <m:rPr>
                          <m:sty m:val="p"/>
                        </m:rPr>
                        <a:rPr lang="en-US" sz="1600">
                          <a:solidFill>
                            <a:srgbClr val="111111"/>
                          </a:solidFill>
                          <a:latin typeface="Cambria Math" panose="02040503050406030204" pitchFamily="18" charset="0"/>
                        </a:rPr>
                        <m:t xml:space="preserve">=</m:t>
                      </m:r>
                      <m:sSup>
                        <m:sSupPr>
                          <m:ctrlPr>
                            <a:rPr lang="en-US" sz="1600" i="1">
                              <a:solidFill>
                                <a:srgbClr val="111111"/>
                              </a:solidFill>
                              <a:latin typeface="Cambria Math" panose="02040503050406030204" pitchFamily="18" charset="0"/>
                            </a:rPr>
                          </m:ctrlPr>
                        </m:sSupPr>
                        <m:e>
                          <m:r>
                            <a:rPr lang="en-US" sz="1600" i="1">
                              <a:solidFill>
                                <a:srgbClr val="111111"/>
                              </a:solidFill>
                              <a:latin typeface="Cambria Math" panose="02040503050406030204" pitchFamily="18" charset="0"/>
                            </a:rPr>
                            <m:t xml:space="preserve">σ</m:t>
                          </m:r>
                        </m:e>
                        <m:sup>
                          <m:r>
                            <m:rPr>
                              <m:sty m:val="p"/>
                            </m:rPr>
                            <a:rPr lang="en-US" sz="1600">
                              <a:solidFill>
                                <a:srgbClr val="111111"/>
                              </a:solidFill>
                              <a:latin typeface="Cambria Math" panose="02040503050406030204" pitchFamily="18" charset="0"/>
                            </a:rPr>
                            <m:t xml:space="preserve">2</m:t>
                          </m:r>
                        </m:sup>
                      </m:sSup>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M</m:t>
                      </m:r>
                      <m:r>
                        <m:rPr>
                          <m:sty m:val="p"/>
                        </m:rPr>
                        <a:rPr lang="en-US" sz="1600">
                          <a:solidFill>
                            <a:srgbClr val="111111"/>
                          </a:solidFill>
                          <a:latin typeface="Cambria Math" panose="02040503050406030204" pitchFamily="18" charset="0"/>
                        </a:rPr>
                        <m:t xml:space="preserve">  ⇒  MSE=</m:t>
                      </m:r>
                      <m:r>
                        <a:rPr lang="en-US" sz="1600" i="1">
                          <a:solidFill>
                            <a:srgbClr val="111111"/>
                          </a:solidFill>
                          <a:latin typeface="Cambria Math" panose="02040503050406030204" pitchFamily="18" charset="0"/>
                        </a:rPr>
                        <m:t xml:space="preserve">O</m:t>
                      </m:r>
                      <m:r>
                        <m:rPr>
                          <m:sty m:val="p"/>
                        </m:rPr>
                        <a:rPr lang="en-US" sz="1600">
                          <a:solidFill>
                            <a:srgbClr val="111111"/>
                          </a:solidFill>
                          <a:latin typeface="Cambria Math" panose="02040503050406030204" pitchFamily="18" charset="0"/>
                        </a:rPr>
                        <m:t xml:space="preserve">(1/</m:t>
                      </m:r>
                      <m:r>
                        <a:rPr lang="en-US" sz="1600" i="1">
                          <a:solidFill>
                            <a:srgbClr val="111111"/>
                          </a:solidFill>
                          <a:latin typeface="Cambria Math" panose="02040503050406030204" pitchFamily="18" charset="0"/>
                        </a:rPr>
                        <m:t xml:space="preserve">M</m:t>
                      </m:r>
                      <m:r>
                        <m:rPr>
                          <m:sty m:val="p"/>
                        </m:rPr>
                        <a:rPr lang="en-US" sz="1600">
                          <a:solidFill>
                            <a:srgbClr val="111111"/>
                          </a:solidFill>
                          <a:latin typeface="Cambria Math" panose="02040503050406030204" pitchFamily="18" charset="0"/>
                        </a:rPr>
                        <m:t xml:space="preserve">), |</m:t>
                      </m:r>
                      <m:r>
                        <m:rPr>
                          <m:nor/>
                        </m:rPr>
                        <a:rPr lang="en-US" sz="1600">
                          <a:solidFill>
                            <a:srgbClr val="111111"/>
                          </a:solidFill>
                          <a:latin typeface="Cambria Math" panose="02040503050406030204" pitchFamily="18" charset="0"/>
                        </a:rPr>
                        <m:t xml:space="preserve">error</m:t>
                      </m:r>
                      <m:r>
                        <m:rPr>
                          <m:sty m:val="p"/>
                        </m:rPr>
                        <a:rPr lang="en-US" sz="1600">
                          <a:solidFill>
                            <a:srgbClr val="111111"/>
                          </a:solidFill>
                          <a:latin typeface="Cambria Math" panose="02040503050406030204" pitchFamily="18" charset="0"/>
                        </a:rPr>
                        <m:t xml:space="preserve">|=</m:t>
                      </m:r>
                      <m:r>
                        <a:rPr lang="en-US" sz="1600" i="1">
                          <a:solidFill>
                            <a:srgbClr val="111111"/>
                          </a:solidFill>
                          <a:latin typeface="Cambria Math" panose="02040503050406030204" pitchFamily="18" charset="0"/>
                        </a:rPr>
                        <m:t xml:space="preserve">O</m:t>
                      </m:r>
                      <m:r>
                        <m:rPr>
                          <m:sty m:val="p"/>
                        </m:rPr>
                        <a:rPr lang="en-US" sz="1600">
                          <a:solidFill>
                            <a:srgbClr val="111111"/>
                          </a:solidFill>
                          <a:latin typeface="Cambria Math" panose="02040503050406030204" pitchFamily="18" charset="0"/>
                        </a:rPr>
                        <m:t xml:space="preserve">(1/</m:t>
                      </m:r>
                      <m:rad>
                        <m:radPr>
                          <m:degHide m:val="1"/>
                          <m:ctrlPr>
                            <a:rPr lang="en-US" sz="1600" i="1">
                              <a:solidFill>
                                <a:srgbClr val="111111"/>
                              </a:solidFill>
                              <a:latin typeface="Cambria Math" panose="02040503050406030204" pitchFamily="18" charset="0"/>
                            </a:rPr>
                          </m:ctrlPr>
                        </m:radPr>
                        <m:deg/>
                        <m:e>
                          <m:r>
                            <a:rPr lang="en-US" sz="1600" i="1">
                              <a:solidFill>
                                <a:srgbClr val="111111"/>
                              </a:solidFill>
                              <a:latin typeface="Cambria Math" panose="02040503050406030204" pitchFamily="18" charset="0"/>
                            </a:rPr>
                            <m:t xml:space="preserve">M</m:t>
                          </m:r>
                        </m:e>
                      </m:rad>
                      <m:r>
                        <m:rPr>
                          <m:sty m:val="p"/>
                        </m:rPr>
                        <a:rPr lang="en-US" sz="1600">
                          <a:solidFill>
                            <a:srgbClr val="111111"/>
                          </a:solidFill>
                          <a:latin typeface="Cambria Math" panose="02040503050406030204" pitchFamily="18" charset="0"/>
                        </a:rPr>
                        <m:t xml:space="preserve">)</m:t>
                      </m:r>
                    </m:oMath>
                  </m:oMathPara>
                </a14:m>
                <a:endParaRPr lang="en-US" sz="1600"/>
              </a:p>
            </p:txBody>
          </p:sp>
        </mc:Choice>
        <mc:Fallback>
          <p:sp>
            <p:nvSpPr>
              <p:cNvPr id="29" name="Equation"/>
              <p:cNvSpPr txBox="1"/>
              <p:nvPr/>
            </p:nvSpPr>
            <p:spPr>
              <a:xfrm>
                <a:off x="1211580" y="6838442"/>
                <a:ext cx="8229600" cy="548640"/>
              </a:xfrm>
              <a:prstGeom prst="rect">
                <a:avLst/>
              </a:prstGeom>
              <a:blipFill>
                <a:blip r:embed="rId6"/>
                <a:stretch>
                  <a:fillRect/>
                </a:stretch>
              </a:blipFill>
            </p:spPr>
            <p:txBody>
              <a:bodyPr/>
              <a:lstStyle/>
              <a:p>
                <a:endParaRPr lang="en-US"/>
              </a:p>
            </p:txBody>
          </p:sp>
        </mc:Fallback>
      </mc:AlternateContent>
      <p:sp>
        <p:nvSpPr>
          <p:cNvPr id="30" name="TextBox 29"/>
          <p:cNvSpPr txBox="1"/>
          <p:nvPr/>
        </p:nvSpPr>
        <p:spPr>
          <a:xfrm>
            <a:off x="1028700" y="7478522"/>
            <a:ext cx="8595360" cy="1830070"/>
          </a:xfrm>
          <a:prstGeom prst="rect">
            <a:avLst/>
          </a:prstGeom>
          <a:noFill/>
        </p:spPr>
        <p:txBody>
          <a:bodyPr anchor="t" rtlCol="false" lIns="0" tIns="0" rIns="0" bIns="0" wrap="square"/>
          <a:lstStyle/>
          <a:p>
            <a:pPr algn="l" marL="274320" indent="-274320">
              <a:lnSpc>
                <a:spcPts val="2341"/>
              </a:lnSpc>
              <a:spcBef>
                <a:spcPts val="0"/>
              </a:spcBef>
              <a:buClr>
                <a:srgbClr val="1F7A8C"/>
              </a:buClr>
              <a:buSzPct val="100000"/>
              <a:buFont typeface="Arial"/>
              <a:buChar char="•"/>
            </a:pPr>
            <a:r>
              <a:rPr lang="en-US" sz="1672" b="true">
                <a:solidFill>
                  <a:srgbClr val="111111"/>
                </a:solidFill>
                <a:latin typeface="Nunito Bold"/>
                <a:ea typeface="Nunito Bold"/>
                <a:cs typeface="Nunito Bold"/>
                <a:sym typeface="Nunito Bold"/>
              </a:rPr>
              <a:t>Unbiased estimator:</a:t>
            </a:r>
            <a:r>
              <a:rPr lang="en-US" sz="1672" b="true">
                <a:solidFill>
                  <a:srgbClr val="111111"/>
                </a:solidFill>
                <a:latin typeface="Nunito Semi-Bold"/>
                <a:ea typeface="Nunito Semi-Bold"/>
                <a:cs typeface="Nunito Semi-Bold"/>
                <a:sym typeface="Nunito Semi-Bold"/>
              </a:rPr>
              <a:t> error shrinks as the number of permutations M grows.</a:t>
            </a:r>
          </a:p>
          <a:p>
            <a:pPr algn="l" marL="274320" indent="-274320">
              <a:lnSpc>
                <a:spcPts val="2475"/>
              </a:lnSpc>
              <a:spcBef>
                <a:spcPts val="704"/>
              </a:spcBef>
              <a:buClr>
                <a:srgbClr val="1F7A8C"/>
              </a:buClr>
              <a:buSzPct val="100000"/>
              <a:buFont typeface="Arial"/>
              <a:buChar char="•"/>
            </a:pPr>
            <a:r>
              <a:rPr lang="en-US" sz="1672" b="true">
                <a:solidFill>
                  <a:srgbClr val="111111"/>
                </a:solidFill>
                <a:latin typeface="Nunito Bold"/>
                <a:ea typeface="Nunito Bold"/>
                <a:cs typeface="Nunito Bold"/>
                <a:sym typeface="Nunito Bold"/>
              </a:rPr>
              <a:t>M = 50 selected:</a:t>
            </a:r>
            <a:r>
              <a:rPr lang="en-US" sz="1672" b="true">
                <a:solidFill>
                  <a:srgbClr val="111111"/>
                </a:solidFill>
                <a:latin typeface="Nunito Semi-Bold"/>
                <a:ea typeface="Nunito Semi-Bold"/>
                <a:cs typeface="Nunito Semi-Bold"/>
                <a:sym typeface="Nunito Semi-Bold"/>
              </a:rPr>
              <a:t> MSE ≈ 1.4×10</a:t>
            </a:r>
            <a:r>
              <a:rPr lang="en-US" sz="1672" b="true" baseline="30000">
                <a:solidFill>
                  <a:srgbClr val="111111"/>
                </a:solidFill>
                <a:latin typeface="Nunito Semi-Bold"/>
                <a:ea typeface="Nunito Semi-Bold"/>
                <a:cs typeface="Nunito Semi-Bold"/>
                <a:sym typeface="Nunito Semi-Bold"/>
              </a:rPr>
              <a:t>−5</a:t>
            </a:r>
            <a:r>
              <a:rPr lang="en-US" sz="1672" b="true">
                <a:solidFill>
                  <a:srgbClr val="111111"/>
                </a:solidFill>
                <a:latin typeface="Nunito Semi-Bold"/>
                <a:ea typeface="Nunito Semi-Bold"/>
                <a:cs typeface="Nunito Semi-Bold"/>
                <a:sym typeface="Nunito Semi-Bold"/>
              </a:rPr>
              <a:t>, ≈ 99 % accuracy on MovieLens-1M; M = 100 </a:t>
            </a:r>
            <a:r>
              <a:rPr lang="en-US" sz="1672" b="true">
                <a:solidFill>
                  <a:srgbClr val="111111"/>
                </a:solidFill>
                <a:latin typeface="Calibri"/>
                <a:ea typeface="Calibri"/>
                <a:cs typeface="Calibri"/>
                <a:sym typeface="Calibri"/>
              </a:rPr>
              <a:t>→ </a:t>
            </a:r>
            <a:r>
              <a:rPr lang="en-US" sz="1672" b="true">
                <a:solidFill>
                  <a:srgbClr val="111111"/>
                </a:solidFill>
                <a:latin typeface="Nunito Semi-Bold"/>
                <a:ea typeface="Nunito Semi-Bold"/>
                <a:cs typeface="Nunito Semi-Bold"/>
                <a:sym typeface="Nunito Semi-Bold"/>
              </a:rPr>
              <a:t>MSE 3.5×10</a:t>
            </a:r>
            <a:r>
              <a:rPr lang="en-US" sz="1672" b="true" baseline="30000">
                <a:solidFill>
                  <a:srgbClr val="111111"/>
                </a:solidFill>
                <a:latin typeface="Nunito Semi-Bold"/>
                <a:ea typeface="Nunito Semi-Bold"/>
                <a:cs typeface="Nunito Semi-Bold"/>
                <a:sym typeface="Nunito Semi-Bold"/>
              </a:rPr>
              <a:t>−6</a:t>
            </a:r>
            <a:r>
              <a:rPr lang="en-US" sz="1672" b="true">
                <a:solidFill>
                  <a:srgbClr val="111111"/>
                </a:solidFill>
                <a:latin typeface="Nunito Semi-Bold"/>
                <a:ea typeface="Nunito Semi-Bold"/>
                <a:cs typeface="Nunito Semi-Bold"/>
                <a:sym typeface="Nunito Semi-Bold"/>
              </a:rPr>
              <a:t> (diminishing returns).</a:t>
            </a:r>
          </a:p>
          <a:p>
            <a:pPr algn="l" marL="274320" indent="-274320">
              <a:lnSpc>
                <a:spcPts val="2341"/>
              </a:lnSpc>
              <a:spcBef>
                <a:spcPts val="704"/>
              </a:spcBef>
              <a:buClr>
                <a:srgbClr val="1F7A8C"/>
              </a:buClr>
              <a:buSzPct val="100000"/>
              <a:buFont typeface="Arial"/>
              <a:buChar char="•"/>
            </a:pPr>
            <a:r>
              <a:rPr lang="en-US" sz="1672" b="true">
                <a:solidFill>
                  <a:srgbClr val="111111"/>
                </a:solidFill>
                <a:latin typeface="Nunito Semi-Bold"/>
                <a:ea typeface="Nunito Semi-Bold"/>
                <a:cs typeface="Nunito Semi-Bold"/>
                <a:sym typeface="Nunito Semi-Bold"/>
              </a:rPr>
              <a:t>Refreshed </a:t>
            </a:r>
            <a:r>
              <a:rPr lang="en-US" sz="1672" b="true">
                <a:solidFill>
                  <a:srgbClr val="111111"/>
                </a:solidFill>
                <a:latin typeface="Nunito Bold"/>
                <a:ea typeface="Nunito Bold"/>
                <a:cs typeface="Nunito Bold"/>
                <a:sym typeface="Nunito Bold"/>
              </a:rPr>
              <a:t>every 10 batches</a:t>
            </a:r>
            <a:r>
              <a:rPr lang="en-US" sz="1672" b="true">
                <a:solidFill>
                  <a:srgbClr val="111111"/>
                </a:solidFill>
                <a:latin typeface="Nunito Semi-Bold"/>
                <a:ea typeface="Nunito Semi-Bold"/>
                <a:cs typeface="Nunito Semi-Bold"/>
                <a:sym typeface="Nunito Semi-Bold"/>
              </a:rPr>
              <a:t> (≈ 49 updates / epoch), smoothed by an </a:t>
            </a:r>
            <a:r>
              <a:rPr lang="en-US" sz="1672" b="true">
                <a:solidFill>
                  <a:srgbClr val="111111"/>
                </a:solidFill>
                <a:latin typeface="Nunito Bold"/>
                <a:ea typeface="Nunito Bold"/>
                <a:cs typeface="Nunito Bold"/>
                <a:sym typeface="Nunito Bold"/>
              </a:rPr>
              <a:t>exponential moving average</a:t>
            </a:r>
            <a:r>
              <a:rPr lang="en-US" sz="1672" b="true">
                <a:solidFill>
                  <a:srgbClr val="111111"/>
                </a:solidFill>
                <a:latin typeface="Nunito Semi-Bold"/>
                <a:ea typeface="Nunito Semi-Bold"/>
                <a:cs typeface="Nunito Semi-Bold"/>
                <a:sym typeface="Nunito Semi-Bold"/>
              </a:rPr>
              <a:t>.</a:t>
            </a:r>
          </a:p>
        </p:txBody>
      </p:sp>
      <p:graphicFrame>
        <p:nvGraphicFramePr>
          <p:cNvPr id="31" name="Table 30"/>
          <p:cNvGraphicFramePr>
            <a:graphicFrameLocks noGrp="1"/>
          </p:cNvGraphicFramePr>
          <p:nvPr/>
        </p:nvGraphicFramePr>
        <p:xfrm>
          <a:off x="10172700" y="3363722"/>
          <a:ext cx="7086598" cy="2267712"/>
        </p:xfrm>
        <a:graphic>
          <a:graphicData uri="http://schemas.openxmlformats.org/drawingml/2006/table">
            <a:tbl>
              <a:tblPr firstRow="0" bandRow="0" firstCol="0" lastRow="0" lastCol="0" bandCol="0">
                <a:tableStyleId>{2D5ABB26-0587-4C30-8999-92F81FD0307C}</a:tableStyleId>
              </a:tblPr>
              <a:tblGrid>
                <a:gridCol w="1635369"/>
                <a:gridCol w="2998176"/>
                <a:gridCol w="2453053"/>
              </a:tblGrid>
              <a:tr h="566928">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MSE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340"/>
                        </a:lnSpc>
                        <a:spcBef>
                          <a:spcPts val="0"/>
                        </a:spcBef>
                        <a:buNone/>
                      </a:pPr>
                      <a:r>
                        <a:rPr lang="en-US" sz="1800" b="true">
                          <a:solidFill>
                            <a:srgbClr val="FFFFFF"/>
                          </a:solidFill>
                          <a:latin typeface="Nunito Bold"/>
                          <a:ea typeface="Nunito Bold"/>
                          <a:cs typeface="Nunito Bold"/>
                          <a:sym typeface="Nunito Bold"/>
                        </a:rPr>
                        <a:t>Accuracy</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5.6×10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⁵</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96 %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50 </a:t>
                      </a:r>
                      <a:r>
                        <a:rPr lang="en-US" sz="1800" b="true">
                          <a:solidFill>
                            <a:srgbClr val="111111"/>
                          </a:solidFill>
                          <a:latin typeface="Cambria Math"/>
                          <a:ea typeface="Cambria Math"/>
                          <a:cs typeface="Cambria Math"/>
                          <a:sym typeface="Cambria Math"/>
                        </a:rPr>
                        <a: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1.4×10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⁵</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99 %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66928">
                <a:tc>
                  <a:txBody>
                    <a:bodyPr anchor="ctr" rtlCol="false" lIns="0" tIns="0" rIns="0" bIns="0" wrap="square"/>
                    <a:lstStyle/>
                    <a:p>
                      <a:pPr algn="ctr">
                        <a:lnSpc>
                          <a:spcPts val="2340"/>
                        </a:lnSpc>
                        <a:spcBef>
                          <a:spcPts val="0"/>
                        </a:spcBef>
                        <a:buNone/>
                      </a:pPr>
                      <a:r>
                        <a:rPr lang="en-US" sz="1800" b="true">
                          <a:solidFill>
                            <a:srgbClr val="111111"/>
                          </a:solidFill>
                          <a:latin typeface="Nunito Bold"/>
                          <a:ea typeface="Nunito Bold"/>
                          <a:cs typeface="Nunito Bold"/>
                          <a:sym typeface="Nunito Bold"/>
                        </a:rPr>
                        <a:t>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3.5×10</a:t>
                      </a:r>
                      <a:r>
                        <a:rPr lang="en-US" sz="1800" b="true">
                          <a:solidFill>
                            <a:srgbClr val="111111"/>
                          </a:solidFill>
                          <a:latin typeface="Cambria Math"/>
                          <a:ea typeface="Cambria Math"/>
                          <a:cs typeface="Cambria Math"/>
                          <a:sym typeface="Cambria Math"/>
                        </a:rPr>
                        <a:t>⁻</a:t>
                      </a:r>
                      <a:r>
                        <a:rPr lang="en-US" sz="1800" b="true">
                          <a:solidFill>
                            <a:srgbClr val="111111"/>
                          </a:solidFill>
                          <a:latin typeface="Nunito Semi-Bold"/>
                          <a:ea typeface="Nunito Semi-Bold"/>
                          <a:cs typeface="Nunito Semi-Bold"/>
                          <a:sym typeface="Nunito Semi-Bold"/>
                        </a:rPr>
                        <a:t>⁶</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340"/>
                        </a:lnSpc>
                        <a:spcBef>
                          <a:spcPts val="0"/>
                        </a:spcBef>
                        <a:buNone/>
                      </a:pPr>
                      <a:r>
                        <a:rPr lang="en-US" sz="1800" b="true">
                          <a:solidFill>
                            <a:srgbClr val="111111"/>
                          </a:solidFill>
                          <a:latin typeface="Nunito Semi-Bold"/>
                          <a:ea typeface="Nunito Semi-Bold"/>
                          <a:cs typeface="Nunito Semi-Bold"/>
                          <a:sym typeface="Nunito Semi-Bold"/>
                        </a:rPr>
                        <a:t>≈ 99.5 %</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32" name="TextBox 31"/>
          <p:cNvSpPr txBox="1"/>
          <p:nvPr/>
        </p:nvSpPr>
        <p:spPr>
          <a:xfrm>
            <a:off x="10172700" y="5704586"/>
            <a:ext cx="7086600" cy="36576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Semi-Bold"/>
                <a:ea typeface="Nunito Semi-Bold"/>
                <a:cs typeface="Nunito Semi-Bold"/>
                <a:sym typeface="Nunito Semi-Bold"/>
              </a:rPr>
              <a:t>M = 50 balances estimator quality against per-epoch cost; rows 25/100 show the O(1/M) trend.</a:t>
            </a:r>
          </a:p>
        </p:txBody>
      </p:sp>
      <p:sp>
        <p:nvSpPr>
          <p:cNvPr id="33" name="Rounded Rectangle 32"/>
          <p:cNvSpPr/>
          <p:nvPr/>
        </p:nvSpPr>
        <p:spPr>
          <a:xfrm>
            <a:off x="10172700" y="6362954"/>
            <a:ext cx="7086600" cy="2945638"/>
          </a:xfrm>
          <a:prstGeom prst="roundRect">
            <a:avLst>
              <a:gd name="adj" fmla="val 10554"/>
            </a:avLst>
          </a:prstGeom>
          <a:solidFill>
            <a:srgbClr val="4472C4"/>
          </a:solidFill>
          <a:ln>
            <a:noFill/>
          </a:ln>
        </p:spPr>
        <p:txBody>
          <a:bodyPr anchor="ctr" rtlCol="false" lIns="0" tIns="0" rIns="0" bIns="0" wrap="square"/>
          <a:lstStyle/>
          <a:p>
            <a:endParaRPr lang="en-US" sz="1800"/>
          </a:p>
        </p:txBody>
      </p:sp>
      <p:sp>
        <p:nvSpPr>
          <p:cNvPr id="34" name="Rounded Rectangle 33"/>
          <p:cNvSpPr/>
          <p:nvPr/>
        </p:nvSpPr>
        <p:spPr>
          <a:xfrm>
            <a:off x="10629900" y="6125210"/>
            <a:ext cx="321070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In the training loop</a:t>
            </a:r>
          </a:p>
        </p:txBody>
      </p:sp>
      <p:sp>
        <p:nvSpPr>
          <p:cNvPr id="35" name="TextBox 34"/>
          <p:cNvSpPr txBox="1"/>
          <p:nvPr/>
        </p:nvSpPr>
        <p:spPr>
          <a:xfrm>
            <a:off x="10629900" y="6957314"/>
            <a:ext cx="6217920" cy="1574038"/>
          </a:xfrm>
          <a:prstGeom prst="rect">
            <a:avLst/>
          </a:prstGeom>
          <a:noFill/>
        </p:spPr>
        <p:txBody>
          <a:bodyPr anchor="t" rtlCol="false" lIns="0" tIns="0" rIns="0" bIns="0" wrap="square"/>
          <a:lstStyle/>
          <a:p>
            <a:pPr algn="l" marL="274320" indent="-274320">
              <a:lnSpc>
                <a:spcPts val="2369"/>
              </a:lnSpc>
              <a:spcBef>
                <a:spcPts val="0"/>
              </a:spcBef>
              <a:buClr>
                <a:srgbClr val="ECC665"/>
              </a:buClr>
              <a:buSzPct val="100000"/>
              <a:buFont typeface="Arial"/>
              <a:buChar char="•"/>
            </a:pPr>
            <a:r>
              <a:rPr lang="en-US" sz="1692" b="true">
                <a:solidFill>
                  <a:srgbClr val="FFFFFF"/>
                </a:solidFill>
                <a:latin typeface="Nunito Semi-Bold"/>
                <a:ea typeface="Nunito Semi-Bold"/>
                <a:cs typeface="Nunito Semi-Bold"/>
                <a:sym typeface="Nunito Semi-Bold"/>
              </a:rPr>
              <a:t>Sample M permutations per refresh </a:t>
            </a:r>
            <a:r>
              <a:rPr lang="en-US" sz="1692" b="true">
                <a:solidFill>
                  <a:srgbClr val="FFFFFF"/>
                </a:solidFill>
                <a:latin typeface="Calibri"/>
                <a:ea typeface="Calibri"/>
                <a:cs typeface="Calibri"/>
                <a:sym typeface="Calibri"/>
              </a:rPr>
              <a:t>→ </a:t>
            </a:r>
            <a:r>
              <a:rPr lang="en-US" sz="1692" b="true">
                <a:solidFill>
                  <a:srgbClr val="FFFFFF"/>
                </a:solidFill>
                <a:latin typeface="Nunito Semi-Bold"/>
                <a:ea typeface="Nunito Semi-Bold"/>
                <a:cs typeface="Nunito Semi-Bold"/>
                <a:sym typeface="Nunito Semi-Bold"/>
              </a:rPr>
              <a:t>estimate </a:t>
            </a:r>
            <a:r>
              <a:rPr lang="en-US" sz="1692" b="true">
                <a:solidFill>
                  <a:srgbClr val="FFFFFF"/>
                </a:solidFill>
                <a:latin typeface="Cambria Math"/>
                <a:ea typeface="Cambria Math"/>
                <a:cs typeface="Cambria Math"/>
                <a:sym typeface="Cambria Math"/>
              </a:rPr>
              <a:t>φ̂ </a:t>
            </a:r>
            <a:r>
              <a:rPr lang="en-US" sz="1692" b="true">
                <a:solidFill>
                  <a:srgbClr val="FFFFFF"/>
                </a:solidFill>
                <a:latin typeface="Nunito Semi-Bold"/>
                <a:ea typeface="Nunito Semi-Bold"/>
                <a:cs typeface="Nunito Semi-Bold"/>
                <a:sym typeface="Nunito Semi-Bold"/>
              </a:rPr>
              <a:t>for the players in the episode.</a:t>
            </a:r>
          </a:p>
          <a:p>
            <a:pPr algn="l" marL="274320" indent="-274320">
              <a:lnSpc>
                <a:spcPts val="2369"/>
              </a:lnSpc>
              <a:spcBef>
                <a:spcPts val="658"/>
              </a:spcBef>
              <a:buClr>
                <a:srgbClr val="ECC665"/>
              </a:buClr>
              <a:buSzPct val="100000"/>
              <a:buFont typeface="Arial"/>
              <a:buChar char="•"/>
            </a:pPr>
            <a:r>
              <a:rPr lang="en-US" sz="1692" b="true">
                <a:solidFill>
                  <a:srgbClr val="FFFFFF"/>
                </a:solidFill>
                <a:latin typeface="Nunito Semi-Bold"/>
                <a:ea typeface="Nunito Semi-Bold"/>
                <a:cs typeface="Nunito Semi-Bold"/>
                <a:sym typeface="Nunito Semi-Bold"/>
              </a:rPr>
              <a:t>Clip, EMA-smooth, normalise </a:t>
            </a:r>
            <a:r>
              <a:rPr lang="en-US" sz="1692" b="true">
                <a:solidFill>
                  <a:srgbClr val="FFFFFF"/>
                </a:solidFill>
                <a:latin typeface="Calibri"/>
                <a:ea typeface="Calibri"/>
                <a:cs typeface="Calibri"/>
                <a:sym typeface="Calibri"/>
              </a:rPr>
              <a:t>→ </a:t>
            </a:r>
            <a:r>
              <a:rPr lang="en-US" sz="1692" b="true">
                <a:solidFill>
                  <a:srgbClr val="FFFFFF"/>
                </a:solidFill>
                <a:latin typeface="Nunito Bold"/>
                <a:ea typeface="Nunito Bold"/>
                <a:cs typeface="Nunito Bold"/>
                <a:sym typeface="Nunito Bold"/>
              </a:rPr>
              <a:t>hypergraph edge weights</a:t>
            </a:r>
            <a:r>
              <a:rPr lang="en-US" sz="1692" b="true">
                <a:solidFill>
                  <a:srgbClr val="FFFFFF"/>
                </a:solidFill>
                <a:latin typeface="Nunito Semi-Bold"/>
                <a:ea typeface="Nunito Semi-Bold"/>
                <a:cs typeface="Nunito Semi-Bold"/>
                <a:sym typeface="Nunito Semi-Bold"/>
              </a:rPr>
              <a:t>.</a:t>
            </a:r>
          </a:p>
          <a:p>
            <a:pPr algn="l" marL="274320" indent="-274320">
              <a:lnSpc>
                <a:spcPts val="2369"/>
              </a:lnSpc>
              <a:spcBef>
                <a:spcPts val="658"/>
              </a:spcBef>
              <a:buClr>
                <a:srgbClr val="ECC665"/>
              </a:buClr>
              <a:buSzPct val="100000"/>
              <a:buFont typeface="Arial"/>
              <a:buChar char="•"/>
            </a:pPr>
            <a:r>
              <a:rPr lang="en-US" sz="1692" b="true">
                <a:solidFill>
                  <a:srgbClr val="FFFFFF"/>
                </a:solidFill>
                <a:latin typeface="Nunito Semi-Bold"/>
                <a:ea typeface="Nunito Semi-Bold"/>
                <a:cs typeface="Nunito Semi-Bold"/>
                <a:sym typeface="Nunito Semi-Bold"/>
              </a:rPr>
              <a:t>Cost per epoch:</a:t>
            </a:r>
          </a:p>
        </p:txBody>
      </p:sp>
      <mc:AlternateContent xmlns:mc="http://schemas.openxmlformats.org/markup-compatibility/2006">
        <mc:Choice xmlns:a14="http://schemas.microsoft.com/office/drawing/2010/main" Requires="a14">
          <p:sp>
            <p:nvSpPr>
              <p:cNvPr id="36" name="Equation"/>
              <p:cNvSpPr txBox="1"/>
              <p:nvPr/>
            </p:nvSpPr>
            <p:spPr>
              <a:xfrm>
                <a:off x="10629900" y="8531352"/>
                <a:ext cx="6172200" cy="5943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1900" i="1">
                          <a:solidFill>
                            <a:srgbClr val="ECC665"/>
                          </a:solidFill>
                          <a:latin typeface="Cambria Math" panose="02040503050406030204" pitchFamily="18" charset="0"/>
                        </a:rPr>
                        <m:t xml:space="preserve">O</m:t>
                      </m:r>
                      <m:d>
                        <m:dPr>
                          <m:ctrlPr>
                            <a:rPr lang="en-US" sz="1900" i="1">
                              <a:solidFill>
                                <a:srgbClr val="ECC665"/>
                              </a:solidFill>
                              <a:latin typeface="Cambria Math" panose="02040503050406030204" pitchFamily="18" charset="0"/>
                            </a:rPr>
                          </m:ctrlPr>
                        </m:dPr>
                        <m:e>
                          <m:r>
                            <m:rPr>
                              <m:sty m:val="p"/>
                            </m:rPr>
                            <a:rPr lang="en-US" sz="1900">
                              <a:solidFill>
                                <a:srgbClr val="ECC665"/>
                              </a:solidFill>
                              <a:latin typeface="Cambria Math" panose="02040503050406030204" pitchFamily="18" charset="0"/>
                            </a:rPr>
                            <m:t xml:space="preserve">(</m:t>
                          </m:r>
                          <m:r>
                            <a:rPr lang="en-US" sz="1900" i="1">
                              <a:solidFill>
                                <a:srgbClr val="ECC665"/>
                              </a:solidFill>
                              <a:latin typeface="Cambria Math" panose="02040503050406030204" pitchFamily="18" charset="0"/>
                            </a:rPr>
                            <m:t xml:space="preserve">L</m:t>
                          </m:r>
                          <m:r>
                            <m:rPr>
                              <m:sty m:val="p"/>
                            </m:rPr>
                            <a:rPr lang="en-US" sz="1900">
                              <a:solidFill>
                                <a:srgbClr val="ECC665"/>
                              </a:solidFill>
                              <a:latin typeface="Cambria Math" panose="02040503050406030204" pitchFamily="18" charset="0"/>
                            </a:rPr>
                            <m:t xml:space="preserve">+1) </m:t>
                          </m:r>
                          <m:r>
                            <a:rPr lang="en-US" sz="1900" i="1">
                              <a:solidFill>
                                <a:srgbClr val="ECC665"/>
                              </a:solidFill>
                              <a:latin typeface="Cambria Math" panose="02040503050406030204" pitchFamily="18" charset="0"/>
                            </a:rPr>
                            <m:t xml:space="preserve">m</m:t>
                          </m:r>
                          <m:r>
                            <m:rPr>
                              <m:sty m:val="p"/>
                            </m:rPr>
                            <a:rPr lang="en-US" sz="1900">
                              <a:solidFill>
                                <a:srgbClr val="ECC665"/>
                              </a:solidFill>
                              <a:latin typeface="Cambria Math" panose="02040503050406030204" pitchFamily="18" charset="0"/>
                            </a:rPr>
                            <m:t xml:space="preserve"> </m:t>
                          </m:r>
                          <m:r>
                            <a:rPr lang="en-US" sz="1900" i="1">
                              <a:solidFill>
                                <a:srgbClr val="ECC665"/>
                              </a:solidFill>
                              <a:latin typeface="Cambria Math" panose="02040503050406030204" pitchFamily="18" charset="0"/>
                            </a:rPr>
                            <m:t xml:space="preserve">d</m:t>
                          </m:r>
                        </m:e>
                      </m:d>
                      <m:r>
                        <m:rPr>
                          <m:sty m:val="p"/>
                        </m:rPr>
                        <a:rPr lang="en-US" sz="1900">
                          <a:solidFill>
                            <a:srgbClr val="ECC665"/>
                          </a:solidFill>
                          <a:latin typeface="Cambria Math" panose="02040503050406030204" pitchFamily="18" charset="0"/>
                        </a:rPr>
                        <m:t xml:space="preserve">+</m:t>
                      </m:r>
                      <m:r>
                        <a:rPr lang="en-US" sz="1900" i="1">
                          <a:solidFill>
                            <a:srgbClr val="ECC665"/>
                          </a:solidFill>
                          <a:latin typeface="Cambria Math" panose="02040503050406030204" pitchFamily="18" charset="0"/>
                        </a:rPr>
                        <m:t xml:space="preserve">O</m:t>
                      </m:r>
                      <m:d>
                        <m:dPr>
                          <m:ctrlPr>
                            <a:rPr lang="en-US" sz="1900" i="1">
                              <a:solidFill>
                                <a:srgbClr val="ECC665"/>
                              </a:solidFill>
                              <a:latin typeface="Cambria Math" panose="02040503050406030204" pitchFamily="18" charset="0"/>
                            </a:rPr>
                          </m:ctrlPr>
                        </m:dPr>
                        <m:e>
                          <m:r>
                            <m:rPr>
                              <m:sty m:val="p"/>
                            </m:rPr>
                            <a:rPr lang="en-US" sz="1900">
                              <a:solidFill>
                                <a:srgbClr val="ECC665"/>
                              </a:solidFill>
                              <a:latin typeface="Cambria Math" panose="02040503050406030204" pitchFamily="18" charset="0"/>
                            </a:rPr>
                            <m:t xml:space="preserve">(</m:t>
                          </m:r>
                          <m:r>
                            <a:rPr lang="en-US" sz="1900" i="1">
                              <a:solidFill>
                                <a:srgbClr val="ECC665"/>
                              </a:solidFill>
                              <a:latin typeface="Cambria Math" panose="02040503050406030204" pitchFamily="18" charset="0"/>
                            </a:rPr>
                            <m:t xml:space="preserve">M</m:t>
                          </m:r>
                          <m:r>
                            <m:rPr>
                              <m:sty m:val="p"/>
                            </m:rPr>
                            <a:rPr lang="en-US" sz="1900">
                              <a:solidFill>
                                <a:srgbClr val="ECC665"/>
                              </a:solidFill>
                              <a:latin typeface="Cambria Math" panose="02040503050406030204" pitchFamily="18" charset="0"/>
                            </a:rPr>
                            <m:t xml:space="preserve">/</m:t>
                          </m:r>
                          <m:r>
                            <a:rPr lang="en-US" sz="1900" i="1">
                              <a:solidFill>
                                <a:srgbClr val="ECC665"/>
                              </a:solidFill>
                              <a:latin typeface="Cambria Math" panose="02040503050406030204" pitchFamily="18" charset="0"/>
                            </a:rPr>
                            <m:t xml:space="preserve">f</m:t>
                          </m:r>
                          <m:r>
                            <m:rPr>
                              <m:sty m:val="p"/>
                            </m:rPr>
                            <a:rPr lang="en-US" sz="1900">
                              <a:solidFill>
                                <a:srgbClr val="ECC665"/>
                              </a:solidFill>
                              <a:latin typeface="Cambria Math" panose="02040503050406030204" pitchFamily="18" charset="0"/>
                            </a:rPr>
                            <m:t xml:space="preserve">) </m:t>
                          </m:r>
                          <m:r>
                            <a:rPr lang="en-US" sz="1900" i="1">
                              <a:solidFill>
                                <a:srgbClr val="ECC665"/>
                              </a:solidFill>
                              <a:latin typeface="Cambria Math" panose="02040503050406030204" pitchFamily="18" charset="0"/>
                            </a:rPr>
                            <m:t xml:space="preserve">m</m:t>
                          </m:r>
                        </m:e>
                      </m:d>
                    </m:oMath>
                  </m:oMathPara>
                </a14:m>
                <a:endParaRPr lang="en-US" sz="1900"/>
              </a:p>
            </p:txBody>
          </p:sp>
        </mc:Choice>
        <mc:Fallback>
          <p:sp>
            <p:nvSpPr>
              <p:cNvPr id="36" name="Equation"/>
              <p:cNvSpPr txBox="1"/>
              <p:nvPr/>
            </p:nvSpPr>
            <p:spPr>
              <a:xfrm>
                <a:off x="10629900" y="8531352"/>
                <a:ext cx="6172200" cy="594360"/>
              </a:xfrm>
              <a:prstGeom prst="rect">
                <a:avLst/>
              </a:prstGeom>
              <a:blipFill>
                <a:blip r:embed="rId7"/>
                <a:stretch>
                  <a:fillRect/>
                </a:stretch>
              </a:blipFill>
            </p:spPr>
            <p:txBody>
              <a:bodyPr/>
              <a:lstStyle/>
              <a:p>
                <a:endParaRPr lang="en-US"/>
              </a:p>
            </p:txBody>
          </p:sp>
        </mc:Fallback>
      </mc:AlternateContent>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56</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Shapley-Weighted Hypergraph Message Passing</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Rounded Rectangle 24"/>
          <p:cNvSpPr/>
          <p:nvPr/>
        </p:nvSpPr>
        <p:spPr>
          <a:xfrm>
            <a:off x="1028700" y="3363722"/>
            <a:ext cx="16230600" cy="1691640"/>
          </a:xfrm>
          <a:prstGeom prst="roundRect">
            <a:avLst>
              <a:gd name="adj" fmla="val 13513"/>
            </a:avLst>
          </a:prstGeom>
          <a:solidFill>
            <a:srgbClr val="FFFFFF"/>
          </a:solidFill>
          <a:ln w="15875">
            <a:solidFill>
              <a:srgbClr val="E3D6C4"/>
            </a:solidFill>
          </a:ln>
        </p:spPr>
        <p:txBody>
          <a:bodyPr anchor="ctr" rtlCol="false" lIns="0" tIns="0" rIns="0" bIns="0" wrap="square"/>
          <a:lstStyle/>
          <a:p>
            <a:endParaRPr lang="en-US" sz="1800"/>
          </a:p>
        </p:txBody>
      </p:sp>
      <p:pic>
        <p:nvPicPr>
          <p:cNvPr id="26" name="Picture 25" descr="dyhucog_arch.png"/>
          <p:cNvPicPr>
            <a:picLocks noChangeAspect="1"/>
          </p:cNvPicPr>
          <p:nvPr/>
        </p:nvPicPr>
        <p:blipFill>
          <a:blip r:embed="rId4"/>
          <a:stretch>
            <a:fillRect/>
          </a:stretch>
        </p:blipFill>
        <p:spPr>
          <a:xfrm>
            <a:off x="6205039" y="3500882"/>
            <a:ext cx="5877921" cy="1417320"/>
          </a:xfrm>
          <a:prstGeom prst="rect">
            <a:avLst/>
          </a:prstGeom>
        </p:spPr>
      </p:pic>
      <p:sp>
        <p:nvSpPr>
          <p:cNvPr id="27" name="TextBox 26"/>
          <p:cNvSpPr txBox="1"/>
          <p:nvPr/>
        </p:nvSpPr>
        <p:spPr>
          <a:xfrm>
            <a:off x="1211580" y="4671314"/>
            <a:ext cx="15864840" cy="411480"/>
          </a:xfrm>
          <a:prstGeom prst="rect">
            <a:avLst/>
          </a:prstGeom>
          <a:noFill/>
        </p:spPr>
        <p:txBody>
          <a:bodyPr anchor="t" rtlCol="false" lIns="0" tIns="0" rIns="0" bIns="0" wrap="square"/>
          <a:lstStyle/>
          <a:p>
            <a:pPr algn="r">
              <a:lnSpc>
                <a:spcPts val="1600"/>
              </a:lnSpc>
              <a:spcBef>
                <a:spcPts val="0"/>
              </a:spcBef>
              <a:buNone/>
            </a:pPr>
            <a:r>
              <a:rPr lang="en-US" sz="1200" b="true">
                <a:solidFill>
                  <a:srgbClr val="8A8378"/>
                </a:solidFill>
                <a:latin typeface="Nunito Semi-Bold"/>
                <a:ea typeface="Nunito Semi-Bold"/>
                <a:cs typeface="Nunito Semi-Bold"/>
                <a:sym typeface="Nunito Semi-Bold"/>
              </a:rPr>
              <a:t>Fig. 7.1 (thesis): workflow of the DyHuCoG architecture</a:t>
            </a:r>
          </a:p>
        </p:txBody>
      </p:sp>
      <p:sp>
        <p:nvSpPr>
          <p:cNvPr id="28" name="Rounded Rectangle 27"/>
          <p:cNvSpPr/>
          <p:nvPr/>
        </p:nvSpPr>
        <p:spPr>
          <a:xfrm>
            <a:off x="1028700" y="5283962"/>
            <a:ext cx="16230600" cy="609811"/>
          </a:xfrm>
          <a:prstGeom prst="roundRect">
            <a:avLst>
              <a:gd name="adj" fmla="val 23991"/>
            </a:avLst>
          </a:prstGeom>
          <a:solidFill>
            <a:srgbClr val="F6ECDF"/>
          </a:solidFill>
          <a:ln>
            <a:noFill/>
          </a:ln>
        </p:spPr>
        <p:txBody>
          <a:bodyPr anchor="ctr" rtlCol="false" lIns="0" tIns="0" rIns="0" bIns="0" wrap="square"/>
          <a:lstStyle/>
          <a:p>
            <a:endParaRPr lang="en-US" sz="1800"/>
          </a:p>
        </p:txBody>
      </p:sp>
      <p:sp>
        <p:nvSpPr>
          <p:cNvPr id="29" name="TextBox 28"/>
          <p:cNvSpPr txBox="1"/>
          <p:nvPr/>
        </p:nvSpPr>
        <p:spPr>
          <a:xfrm>
            <a:off x="1348740" y="5283962"/>
            <a:ext cx="3291840" cy="609811"/>
          </a:xfrm>
          <a:prstGeom prst="rect">
            <a:avLst/>
          </a:prstGeom>
          <a:noFill/>
        </p:spPr>
        <p:txBody>
          <a:bodyPr anchor="ctr" rtlCol="false" lIns="0" tIns="0" rIns="0" bIns="0" wrap="square"/>
          <a:lstStyle/>
          <a:p>
            <a:pPr algn="l">
              <a:lnSpc>
                <a:spcPts val="2200"/>
              </a:lnSpc>
              <a:spcBef>
                <a:spcPts val="0"/>
              </a:spcBef>
              <a:buNone/>
            </a:pPr>
            <a:r>
              <a:rPr lang="en-US" sz="1800" b="true">
                <a:solidFill>
                  <a:srgbClr val="4472C4"/>
                </a:solidFill>
                <a:latin typeface="Nunito Ultra-Bold"/>
                <a:ea typeface="Nunito Ultra-Bold"/>
                <a:cs typeface="Nunito Ultra-Bold"/>
                <a:sym typeface="Nunito Ultra-Bold"/>
              </a:rPr>
              <a:t>Base propagation</a:t>
            </a:r>
          </a:p>
        </p:txBody>
      </p:sp>
      <mc:AlternateContent xmlns:mc="http://schemas.openxmlformats.org/markup-compatibility/2006">
        <mc:Choice xmlns:a14="http://schemas.microsoft.com/office/drawing/2010/main" Requires="a14">
          <p:sp>
            <p:nvSpPr>
              <p:cNvPr id="30" name="Equation"/>
              <p:cNvSpPr txBox="1"/>
              <p:nvPr/>
            </p:nvSpPr>
            <p:spPr>
              <a:xfrm>
                <a:off x="4686300" y="5283962"/>
                <a:ext cx="12298680" cy="609811"/>
              </a:xfrm>
              <a:prstGeom prst="rect">
                <a:avLst/>
              </a:prstGeom>
              <a:noFill/>
            </p:spPr>
            <p:txBody>
              <a:bodyPr wrap="none" rtlCol="0" anchor="ctr" lIns="0" tIns="0" rIns="0" bIns="0"/>
              <a:lstStyle/>
              <a:p>
                <a:pPr algn="l"/>
                <a14:m xmlns:m="http://schemas.openxmlformats.org/officeDocument/2006/math">
                  <m:oMathPara>
                    <m:oMathParaPr>
                      <m:jc m:val="left"/>
                    </m:oMathParaPr>
                    <m:oMath>
                      <m:sSup>
                        <m:sSupPr>
                          <m:ctrlPr>
                            <a:rPr lang="en-US" sz="2200" i="1">
                              <a:solidFill>
                                <a:srgbClr val="111111"/>
                              </a:solidFill>
                              <a:latin typeface="Cambria Math" panose="02040503050406030204" pitchFamily="18" charset="0"/>
                            </a:rPr>
                          </m:ctrlPr>
                        </m:sSupPr>
                        <m:e>
                          <m:r>
                            <a:rPr lang="en-US" sz="2200" i="1">
                              <a:solidFill>
                                <a:srgbClr val="111111"/>
                              </a:solidFill>
                              <a:latin typeface="Cambria Math" panose="02040503050406030204" pitchFamily="18" charset="0"/>
                            </a:rPr>
                            <m:t xml:space="preserve">e</m:t>
                          </m:r>
                        </m:e>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+1)</m:t>
                          </m:r>
                        </m:sup>
                      </m:s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σ</m:t>
                      </m:r>
                      <m:d>
                        <m:dPr>
                          <m:ctrlPr>
                            <a:rPr lang="en-US" sz="2200" i="1">
                              <a:solidFill>
                                <a:srgbClr val="111111"/>
                              </a:solidFill>
                              <a:latin typeface="Cambria Math" panose="02040503050406030204" pitchFamily="18" charset="0"/>
                            </a:rPr>
                          </m:ctrlPr>
                        </m:dPr>
                        <m:e>
                          <m:sSup>
                            <m:sSupPr>
                              <m:ctrlPr>
                                <a:rPr lang="en-US" sz="2200" i="1">
                                  <a:solidFill>
                                    <a:srgbClr val="111111"/>
                                  </a:solidFill>
                                  <a:latin typeface="Cambria Math" panose="02040503050406030204" pitchFamily="18" charset="0"/>
                                </a:rPr>
                              </m:ctrlPr>
                            </m:sSupPr>
                            <m:e>
                              <m:r>
                                <a:rPr lang="en-US" sz="2200" i="1">
                                  <a:solidFill>
                                    <a:srgbClr val="111111"/>
                                  </a:solidFill>
                                  <a:latin typeface="Cambria Math" panose="02040503050406030204" pitchFamily="18" charset="0"/>
                                </a:rPr>
                                <m:t xml:space="preserve">D</m:t>
                              </m:r>
                            </m:e>
                            <m:sup>
                              <m:r>
                                <m:rPr>
                                  <m:sty m:val="p"/>
                                </m:rPr>
                                <a:rPr lang="en-US" sz="2200">
                                  <a:solidFill>
                                    <a:srgbClr val="111111"/>
                                  </a:solidFill>
                                  <a:latin typeface="Cambria Math" panose="02040503050406030204" pitchFamily="18" charset="0"/>
                                </a:rPr>
                                <m:t xml:space="preserve">−1/2</m:t>
                              </m:r>
                            </m:sup>
                          </m:sSup>
                          <m:r>
                            <a:rPr lang="en-US" sz="2200" i="1">
                              <a:solidFill>
                                <a:srgbClr val="111111"/>
                              </a:solidFill>
                              <a:latin typeface="Cambria Math" panose="02040503050406030204" pitchFamily="18" charset="0"/>
                            </a:rPr>
                            <m:t xml:space="preserve">A</m:t>
                          </m:r>
                          <m:r>
                            <m:rPr>
                              <m:sty m:val="p"/>
                            </m:rPr>
                            <a:rPr lang="en-US" sz="2200">
                              <a:solidFill>
                                <a:srgbClr val="111111"/>
                              </a:solidFill>
                              <a:latin typeface="Cambria Math" panose="02040503050406030204" pitchFamily="18" charset="0"/>
                            </a:rPr>
                            <m:t xml:space="preserve"> </m:t>
                          </m:r>
                          <m:sSup>
                            <m:sSupPr>
                              <m:ctrlPr>
                                <a:rPr lang="en-US" sz="2200" i="1">
                                  <a:solidFill>
                                    <a:srgbClr val="111111"/>
                                  </a:solidFill>
                                  <a:latin typeface="Cambria Math" panose="02040503050406030204" pitchFamily="18" charset="0"/>
                                </a:rPr>
                              </m:ctrlPr>
                            </m:sSupPr>
                            <m:e>
                              <m:r>
                                <a:rPr lang="en-US" sz="2200" i="1">
                                  <a:solidFill>
                                    <a:srgbClr val="111111"/>
                                  </a:solidFill>
                                  <a:latin typeface="Cambria Math" panose="02040503050406030204" pitchFamily="18" charset="0"/>
                                </a:rPr>
                                <m:t xml:space="preserve">D</m:t>
                              </m:r>
                            </m:e>
                            <m:sup>
                              <m:r>
                                <m:rPr>
                                  <m:sty m:val="p"/>
                                </m:rPr>
                                <a:rPr lang="en-US" sz="2200">
                                  <a:solidFill>
                                    <a:srgbClr val="111111"/>
                                  </a:solidFill>
                                  <a:latin typeface="Cambria Math" panose="02040503050406030204" pitchFamily="18" charset="0"/>
                                </a:rPr>
                                <m:t xml:space="preserve">−1/2</m:t>
                              </m:r>
                            </m:sup>
                          </m:sSup>
                          <m:r>
                            <m:rPr>
                              <m:sty m:val="p"/>
                            </m:rPr>
                            <a:rPr lang="en-US" sz="2200">
                              <a:solidFill>
                                <a:srgbClr val="111111"/>
                              </a:solidFill>
                              <a:latin typeface="Cambria Math" panose="02040503050406030204" pitchFamily="18" charset="0"/>
                            </a:rPr>
                            <m:t xml:space="preserve"> </m:t>
                          </m:r>
                          <m:sSup>
                            <m:sSupPr>
                              <m:ctrlPr>
                                <a:rPr lang="en-US" sz="2200" i="1">
                                  <a:solidFill>
                                    <a:srgbClr val="111111"/>
                                  </a:solidFill>
                                  <a:latin typeface="Cambria Math" panose="02040503050406030204" pitchFamily="18" charset="0"/>
                                </a:rPr>
                              </m:ctrlPr>
                            </m:sSupPr>
                            <m:e>
                              <m:r>
                                <a:rPr lang="en-US" sz="2200" i="1">
                                  <a:solidFill>
                                    <a:srgbClr val="111111"/>
                                  </a:solidFill>
                                  <a:latin typeface="Cambria Math" panose="02040503050406030204" pitchFamily="18" charset="0"/>
                                </a:rPr>
                                <m:t xml:space="preserve">e</m:t>
                              </m:r>
                            </m:e>
                            <m:sup>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up>
                          </m:sSup>
                        </m:e>
                      </m:d>
                    </m:oMath>
                  </m:oMathPara>
                </a14:m>
                <a:endParaRPr lang="en-US" sz="2200"/>
              </a:p>
            </p:txBody>
          </p:sp>
        </mc:Choice>
        <mc:Fallback>
          <p:sp>
            <p:nvSpPr>
              <p:cNvPr id="30" name="Equation"/>
              <p:cNvSpPr txBox="1"/>
              <p:nvPr/>
            </p:nvSpPr>
            <p:spPr>
              <a:xfrm>
                <a:off x="4686300" y="5283962"/>
                <a:ext cx="12298680" cy="609811"/>
              </a:xfrm>
              <a:prstGeom prst="rect">
                <a:avLst/>
              </a:prstGeom>
              <a:blipFill>
                <a:blip r:embed="rId5"/>
                <a:stretch>
                  <a:fillRect/>
                </a:stretch>
              </a:blipFill>
            </p:spPr>
            <p:txBody>
              <a:bodyPr/>
              <a:lstStyle/>
              <a:p>
                <a:endParaRPr lang="en-US"/>
              </a:p>
            </p:txBody>
          </p:sp>
        </mc:Fallback>
      </mc:AlternateContent>
      <p:sp>
        <p:nvSpPr>
          <p:cNvPr id="31" name="Rounded Rectangle 30"/>
          <p:cNvSpPr/>
          <p:nvPr/>
        </p:nvSpPr>
        <p:spPr>
          <a:xfrm>
            <a:off x="1028700" y="5985213"/>
            <a:ext cx="16230600" cy="609811"/>
          </a:xfrm>
          <a:prstGeom prst="roundRect">
            <a:avLst>
              <a:gd name="adj" fmla="val 23991"/>
            </a:avLst>
          </a:prstGeom>
          <a:solidFill>
            <a:srgbClr val="FBF4EB"/>
          </a:solidFill>
          <a:ln>
            <a:noFill/>
          </a:ln>
        </p:spPr>
        <p:txBody>
          <a:bodyPr anchor="ctr" rtlCol="false" lIns="0" tIns="0" rIns="0" bIns="0" wrap="square"/>
          <a:lstStyle/>
          <a:p>
            <a:endParaRPr lang="en-US" sz="1800"/>
          </a:p>
        </p:txBody>
      </p:sp>
      <p:sp>
        <p:nvSpPr>
          <p:cNvPr id="32" name="TextBox 31"/>
          <p:cNvSpPr txBox="1"/>
          <p:nvPr/>
        </p:nvSpPr>
        <p:spPr>
          <a:xfrm>
            <a:off x="1348740" y="5985213"/>
            <a:ext cx="3291840" cy="609811"/>
          </a:xfrm>
          <a:prstGeom prst="rect">
            <a:avLst/>
          </a:prstGeom>
          <a:noFill/>
        </p:spPr>
        <p:txBody>
          <a:bodyPr anchor="ctr" rtlCol="false" lIns="0" tIns="0" rIns="0" bIns="0" wrap="square"/>
          <a:lstStyle/>
          <a:p>
            <a:pPr algn="l">
              <a:lnSpc>
                <a:spcPts val="2200"/>
              </a:lnSpc>
              <a:spcBef>
                <a:spcPts val="0"/>
              </a:spcBef>
              <a:buNone/>
            </a:pPr>
            <a:r>
              <a:rPr lang="en-US" sz="1800" b="true">
                <a:solidFill>
                  <a:srgbClr val="4472C4"/>
                </a:solidFill>
                <a:latin typeface="Nunito Ultra-Bold"/>
                <a:ea typeface="Nunito Ultra-Bold"/>
                <a:cs typeface="Nunito Ultra-Bold"/>
                <a:sym typeface="Nunito Ultra-Bold"/>
              </a:rPr>
              <a:t>Shapley-weighted</a:t>
            </a:r>
          </a:p>
        </p:txBody>
      </p:sp>
      <mc:AlternateContent xmlns:mc="http://schemas.openxmlformats.org/markup-compatibility/2006">
        <mc:Choice xmlns:a14="http://schemas.microsoft.com/office/drawing/2010/main" Requires="a14">
          <p:sp>
            <p:nvSpPr>
              <p:cNvPr id="33" name="Equation"/>
              <p:cNvSpPr txBox="1"/>
              <p:nvPr/>
            </p:nvSpPr>
            <p:spPr>
              <a:xfrm>
                <a:off x="4686300" y="5985213"/>
                <a:ext cx="12298680" cy="609811"/>
              </a:xfrm>
              <a:prstGeom prst="rect">
                <a:avLst/>
              </a:prstGeom>
              <a:noFill/>
            </p:spPr>
            <p:txBody>
              <a:bodyPr wrap="none" rtlCol="0" anchor="ctr" lIns="0" tIns="0" rIns="0" bIns="0"/>
              <a:lstStyle/>
              <a:p>
                <a:pPr algn="l"/>
                <a14:m xmlns:m="http://schemas.openxmlformats.org/officeDocument/2006/math">
                  <m:oMathPara>
                    <m:oMathParaPr>
                      <m:jc m:val="left"/>
                    </m:oMathParaPr>
                    <m:oMath>
                      <m:sSubSup>
                        <m:sSubSupPr>
                          <m:ctrlPr>
                            <a:rPr lang="en-US" sz="1750" i="1">
                              <a:solidFill>
                                <a:srgbClr val="111111"/>
                              </a:solidFill>
                              <a:latin typeface="Cambria Math" panose="02040503050406030204" pitchFamily="18" charset="0"/>
                            </a:rPr>
                          </m:ctrlPr>
                        </m:sSubSupPr>
                        <m:e>
                          <m:r>
                            <a:rPr lang="en-US" sz="1750" i="1">
                              <a:solidFill>
                                <a:srgbClr val="111111"/>
                              </a:solidFill>
                              <a:latin typeface="Cambria Math" panose="02040503050406030204" pitchFamily="18" charset="0"/>
                            </a:rPr>
                            <m:t xml:space="preserve">e</m:t>
                          </m:r>
                        </m:e>
                        <m:sub>
                          <m:r>
                            <a:rPr lang="en-US" sz="1750" i="1">
                              <a:solidFill>
                                <a:srgbClr val="111111"/>
                              </a:solidFill>
                              <a:latin typeface="Cambria Math" panose="02040503050406030204" pitchFamily="18" charset="0"/>
                            </a:rPr>
                            <m:t xml:space="preserve">j</m:t>
                          </m:r>
                        </m:sub>
                        <m:sup>
                          <m:r>
                            <m:rPr>
                              <m:sty m:val="p"/>
                            </m:rPr>
                            <a:rPr lang="en-US" sz="1750">
                              <a:solidFill>
                                <a:srgbClr val="111111"/>
                              </a:solidFill>
                              <a:latin typeface="Cambria Math" panose="02040503050406030204" pitchFamily="18" charset="0"/>
                            </a:rPr>
                            <m:t xml:space="preserve">(</m:t>
                          </m:r>
                          <m:r>
                            <a:rPr lang="en-US" sz="1750" i="1">
                              <a:solidFill>
                                <a:srgbClr val="111111"/>
                              </a:solidFill>
                              <a:latin typeface="Cambria Math" panose="02040503050406030204" pitchFamily="18" charset="0"/>
                            </a:rPr>
                            <m:t xml:space="preserve">l</m:t>
                          </m:r>
                          <m:r>
                            <m:rPr>
                              <m:sty m:val="p"/>
                            </m:rPr>
                            <a:rPr lang="en-US" sz="1750">
                              <a:solidFill>
                                <a:srgbClr val="111111"/>
                              </a:solidFill>
                              <a:latin typeface="Cambria Math" panose="02040503050406030204" pitchFamily="18" charset="0"/>
                            </a:rPr>
                            <m:t xml:space="preserve">+1)</m:t>
                          </m:r>
                        </m:sup>
                      </m:sSubSup>
                      <m:r>
                        <m:rPr>
                          <m:sty m:val="p"/>
                        </m:rPr>
                        <a:rPr lang="en-US" sz="1750">
                          <a:solidFill>
                            <a:srgbClr val="111111"/>
                          </a:solidFill>
                          <a:latin typeface="Cambria Math" panose="02040503050406030204" pitchFamily="18" charset="0"/>
                        </a:rPr>
                        <m:t xml:space="preserve">=</m:t>
                      </m:r>
                      <m:r>
                        <a:rPr lang="en-US" sz="1750" i="1">
                          <a:solidFill>
                            <a:srgbClr val="111111"/>
                          </a:solidFill>
                          <a:latin typeface="Cambria Math" panose="02040503050406030204" pitchFamily="18" charset="0"/>
                        </a:rPr>
                        <m:t xml:space="preserve">σ</m:t>
                      </m:r>
                      <m:d>
                        <m:dPr>
                          <m:ctrlPr>
                            <a:rPr lang="en-US" sz="1750" i="1">
                              <a:solidFill>
                                <a:srgbClr val="111111"/>
                              </a:solidFill>
                              <a:latin typeface="Cambria Math" panose="02040503050406030204" pitchFamily="18" charset="0"/>
                            </a:rPr>
                          </m:ctrlPr>
                        </m:dPr>
                        <m:e>
                          <m:sSup>
                            <m:sSupPr>
                              <m:ctrlPr>
                                <a:rPr lang="en-US" sz="1750" i="1">
                                  <a:solidFill>
                                    <a:srgbClr val="111111"/>
                                  </a:solidFill>
                                  <a:latin typeface="Cambria Math" panose="02040503050406030204" pitchFamily="18" charset="0"/>
                                </a:rPr>
                              </m:ctrlPr>
                            </m:sSupPr>
                            <m:e>
                              <m:r>
                                <a:rPr lang="en-US" sz="1750" i="1">
                                  <a:solidFill>
                                    <a:srgbClr val="111111"/>
                                  </a:solidFill>
                                  <a:latin typeface="Cambria Math" panose="02040503050406030204" pitchFamily="18" charset="0"/>
                                </a:rPr>
                                <m:t xml:space="preserve">W</m:t>
                              </m:r>
                            </m:e>
                            <m:sup>
                              <m:r>
                                <m:rPr>
                                  <m:sty m:val="p"/>
                                </m:rPr>
                                <a:rPr lang="en-US" sz="1750">
                                  <a:solidFill>
                                    <a:srgbClr val="111111"/>
                                  </a:solidFill>
                                  <a:latin typeface="Cambria Math" panose="02040503050406030204" pitchFamily="18" charset="0"/>
                                </a:rPr>
                                <m:t xml:space="preserve">(</m:t>
                              </m:r>
                              <m:r>
                                <a:rPr lang="en-US" sz="1750" i="1">
                                  <a:solidFill>
                                    <a:srgbClr val="111111"/>
                                  </a:solidFill>
                                  <a:latin typeface="Cambria Math" panose="02040503050406030204" pitchFamily="18" charset="0"/>
                                </a:rPr>
                                <m:t xml:space="preserve">l</m:t>
                              </m:r>
                              <m:r>
                                <m:rPr>
                                  <m:sty m:val="p"/>
                                </m:rPr>
                                <a:rPr lang="en-US" sz="1750">
                                  <a:solidFill>
                                    <a:srgbClr val="111111"/>
                                  </a:solidFill>
                                  <a:latin typeface="Cambria Math" panose="02040503050406030204" pitchFamily="18" charset="0"/>
                                </a:rPr>
                                <m:t xml:space="preserve">)</m:t>
                              </m:r>
                            </m:sup>
                          </m:sSup>
                          <m:sSubSup>
                            <m:sSubSupPr>
                              <m:ctrlPr>
                                <a:rPr lang="en-US" sz="1750" i="1">
                                  <a:solidFill>
                                    <a:srgbClr val="111111"/>
                                  </a:solidFill>
                                  <a:latin typeface="Cambria Math" panose="02040503050406030204" pitchFamily="18" charset="0"/>
                                </a:rPr>
                              </m:ctrlPr>
                            </m:sSubSupPr>
                            <m:e>
                              <m:r>
                                <a:rPr lang="en-US" sz="1750" i="1">
                                  <a:solidFill>
                                    <a:srgbClr val="111111"/>
                                  </a:solidFill>
                                  <a:latin typeface="Cambria Math" panose="02040503050406030204" pitchFamily="18" charset="0"/>
                                </a:rPr>
                                <m:t xml:space="preserve">e</m:t>
                              </m:r>
                            </m:e>
                            <m:sub>
                              <m:r>
                                <a:rPr lang="en-US" sz="1750" i="1">
                                  <a:solidFill>
                                    <a:srgbClr val="111111"/>
                                  </a:solidFill>
                                  <a:latin typeface="Cambria Math" panose="02040503050406030204" pitchFamily="18" charset="0"/>
                                </a:rPr>
                                <m:t xml:space="preserve">j</m:t>
                              </m:r>
                            </m:sub>
                            <m:sup>
                              <m:r>
                                <m:rPr>
                                  <m:sty m:val="p"/>
                                </m:rPr>
                                <a:rPr lang="en-US" sz="1750">
                                  <a:solidFill>
                                    <a:srgbClr val="111111"/>
                                  </a:solidFill>
                                  <a:latin typeface="Cambria Math" panose="02040503050406030204" pitchFamily="18" charset="0"/>
                                </a:rPr>
                                <m:t xml:space="preserve">(</m:t>
                              </m:r>
                              <m:r>
                                <a:rPr lang="en-US" sz="1750" i="1">
                                  <a:solidFill>
                                    <a:srgbClr val="111111"/>
                                  </a:solidFill>
                                  <a:latin typeface="Cambria Math" panose="02040503050406030204" pitchFamily="18" charset="0"/>
                                </a:rPr>
                                <m:t xml:space="preserve">l</m:t>
                              </m:r>
                              <m:r>
                                <m:rPr>
                                  <m:sty m:val="p"/>
                                </m:rPr>
                                <a:rPr lang="en-US" sz="1750">
                                  <a:solidFill>
                                    <a:srgbClr val="111111"/>
                                  </a:solidFill>
                                  <a:latin typeface="Cambria Math" panose="02040503050406030204" pitchFamily="18" charset="0"/>
                                </a:rPr>
                                <m:t xml:space="preserve">)</m:t>
                              </m:r>
                            </m:sup>
                          </m:sSubSup>
                          <m:r>
                            <m:rPr>
                              <m:sty m:val="p"/>
                            </m:rPr>
                            <a:rPr lang="en-US" sz="1750">
                              <a:solidFill>
                                <a:srgbClr val="111111"/>
                              </a:solidFill>
                              <a:latin typeface="Cambria Math" panose="02040503050406030204" pitchFamily="18" charset="0"/>
                            </a:rPr>
                            <m:t xml:space="preserve">+</m:t>
                          </m:r>
                          <m:nary>
                            <m:naryPr>
                              <m:chr m:val="∑"/>
                              <m:limLoc m:val="subSup"/>
                              <m:supHide m:val="1"/>
                              <m:ctrlPr>
                                <a:rPr lang="en-US" sz="1750" i="1">
                                  <a:solidFill>
                                    <a:srgbClr val="111111"/>
                                  </a:solidFill>
                                  <a:latin typeface="Cambria Math" panose="02040503050406030204" pitchFamily="18" charset="0"/>
                                </a:rPr>
                              </m:ctrlPr>
                            </m:naryPr>
                            <m:sub>
                              <m:r>
                                <a:rPr lang="en-US" sz="1750" i="1">
                                  <a:solidFill>
                                    <a:srgbClr val="111111"/>
                                  </a:solidFill>
                                  <a:latin typeface="Cambria Math" panose="02040503050406030204" pitchFamily="18" charset="0"/>
                                </a:rPr>
                                <m:t xml:space="preserve">k</m:t>
                              </m:r>
                              <m:r>
                                <m:rPr>
                                  <m:sty m:val="p"/>
                                </m:rPr>
                                <a:rPr lang="en-US" sz="1750">
                                  <a:solidFill>
                                    <a:srgbClr val="111111"/>
                                  </a:solidFill>
                                  <a:latin typeface="Cambria Math" panose="02040503050406030204" pitchFamily="18" charset="0"/>
                                </a:rPr>
                                <m:t xml:space="preserve">∈</m:t>
                              </m:r>
                              <m:r>
                                <m:rPr>
                                  <m:scr m:val="script"/>
                                  <m:sty m:val="p"/>
                                </m:rPr>
                                <a:rPr lang="en-US" sz="1750">
                                  <a:solidFill>
                                    <a:srgbClr val="111111"/>
                                  </a:solidFill>
                                  <a:latin typeface="Cambria Math" panose="02040503050406030204" pitchFamily="18" charset="0"/>
                                </a:rPr>
                                <m:t xml:space="preserve">N</m:t>
                              </m:r>
                              <m:r>
                                <m:rPr>
                                  <m:sty m:val="p"/>
                                </m:rPr>
                                <a:rPr lang="en-US" sz="1750">
                                  <a:solidFill>
                                    <a:srgbClr val="111111"/>
                                  </a:solidFill>
                                  <a:latin typeface="Cambria Math" panose="02040503050406030204" pitchFamily="18" charset="0"/>
                                </a:rPr>
                                <m:t xml:space="preserve">(</m:t>
                              </m:r>
                              <m:r>
                                <a:rPr lang="en-US" sz="1750" i="1">
                                  <a:solidFill>
                                    <a:srgbClr val="111111"/>
                                  </a:solidFill>
                                  <a:latin typeface="Cambria Math" panose="02040503050406030204" pitchFamily="18" charset="0"/>
                                </a:rPr>
                                <m:t xml:space="preserve">j</m:t>
                              </m:r>
                              <m:r>
                                <m:rPr>
                                  <m:sty m:val="p"/>
                                </m:rPr>
                                <a:rPr lang="en-US" sz="1750">
                                  <a:solidFill>
                                    <a:srgbClr val="111111"/>
                                  </a:solidFill>
                                  <a:latin typeface="Cambria Math" panose="02040503050406030204" pitchFamily="18" charset="0"/>
                                </a:rPr>
                                <m:t xml:space="preserve">)</m:t>
                              </m:r>
                            </m:sub>
                            <m:sup/>
                            <m:e>
                              <m:sSub>
                                <m:sSubPr>
                                  <m:ctrlPr>
                                    <a:rPr lang="en-US" sz="1750" i="1">
                                      <a:solidFill>
                                        <a:srgbClr val="111111"/>
                                      </a:solidFill>
                                      <a:latin typeface="Cambria Math" panose="02040503050406030204" pitchFamily="18" charset="0"/>
                                    </a:rPr>
                                  </m:ctrlPr>
                                </m:sSubPr>
                                <m:e>
                                  <m:r>
                                    <a:rPr lang="en-US" sz="1750" i="1">
                                      <a:solidFill>
                                        <a:srgbClr val="111111"/>
                                      </a:solidFill>
                                      <a:latin typeface="Cambria Math" panose="02040503050406030204" pitchFamily="18" charset="0"/>
                                    </a:rPr>
                                    <m:t xml:space="preserve">w</m:t>
                                  </m:r>
                                </m:e>
                                <m:sub>
                                  <m:r>
                                    <a:rPr lang="en-US" sz="1750" i="1">
                                      <a:solidFill>
                                        <a:srgbClr val="111111"/>
                                      </a:solidFill>
                                      <a:latin typeface="Cambria Math" panose="02040503050406030204" pitchFamily="18" charset="0"/>
                                    </a:rPr>
                                    <m:t xml:space="preserve">jk</m:t>
                                  </m:r>
                                </m:sub>
                              </m:sSub>
                            </m:e>
                          </m:nary>
                          <m:r>
                            <m:rPr>
                              <m:sty m:val="p"/>
                            </m:rPr>
                            <a:rPr lang="en-US" sz="1750">
                              <a:solidFill>
                                <a:srgbClr val="111111"/>
                              </a:solidFill>
                              <a:latin typeface="Cambria Math" panose="02040503050406030204" pitchFamily="18" charset="0"/>
                            </a:rPr>
                            <m:t xml:space="preserve"> </m:t>
                          </m:r>
                          <m:sSubSup>
                            <m:sSubSupPr>
                              <m:ctrlPr>
                                <a:rPr lang="en-US" sz="1750" i="1">
                                  <a:solidFill>
                                    <a:srgbClr val="111111"/>
                                  </a:solidFill>
                                  <a:latin typeface="Cambria Math" panose="02040503050406030204" pitchFamily="18" charset="0"/>
                                </a:rPr>
                              </m:ctrlPr>
                            </m:sSubSupPr>
                            <m:e>
                              <m:r>
                                <a:rPr lang="en-US" sz="1750" i="1">
                                  <a:solidFill>
                                    <a:srgbClr val="111111"/>
                                  </a:solidFill>
                                  <a:latin typeface="Cambria Math" panose="02040503050406030204" pitchFamily="18" charset="0"/>
                                </a:rPr>
                                <m:t xml:space="preserve">e</m:t>
                              </m:r>
                            </m:e>
                            <m:sub>
                              <m:r>
                                <a:rPr lang="en-US" sz="1750" i="1">
                                  <a:solidFill>
                                    <a:srgbClr val="111111"/>
                                  </a:solidFill>
                                  <a:latin typeface="Cambria Math" panose="02040503050406030204" pitchFamily="18" charset="0"/>
                                </a:rPr>
                                <m:t xml:space="preserve">k</m:t>
                              </m:r>
                            </m:sub>
                            <m:sup>
                              <m:r>
                                <m:rPr>
                                  <m:sty m:val="p"/>
                                </m:rPr>
                                <a:rPr lang="en-US" sz="1750">
                                  <a:solidFill>
                                    <a:srgbClr val="111111"/>
                                  </a:solidFill>
                                  <a:latin typeface="Cambria Math" panose="02040503050406030204" pitchFamily="18" charset="0"/>
                                </a:rPr>
                                <m:t xml:space="preserve">(</m:t>
                              </m:r>
                              <m:r>
                                <a:rPr lang="en-US" sz="1750" i="1">
                                  <a:solidFill>
                                    <a:srgbClr val="111111"/>
                                  </a:solidFill>
                                  <a:latin typeface="Cambria Math" panose="02040503050406030204" pitchFamily="18" charset="0"/>
                                </a:rPr>
                                <m:t xml:space="preserve">l</m:t>
                              </m:r>
                              <m:r>
                                <m:rPr>
                                  <m:sty m:val="p"/>
                                </m:rPr>
                                <a:rPr lang="en-US" sz="1750">
                                  <a:solidFill>
                                    <a:srgbClr val="111111"/>
                                  </a:solidFill>
                                  <a:latin typeface="Cambria Math" panose="02040503050406030204" pitchFamily="18" charset="0"/>
                                </a:rPr>
                                <m:t xml:space="preserve">)</m:t>
                              </m:r>
                            </m:sup>
                          </m:sSubSup>
                        </m:e>
                      </m:d>
                    </m:oMath>
                  </m:oMathPara>
                </a14:m>
                <a:endParaRPr lang="en-US" sz="1750"/>
              </a:p>
            </p:txBody>
          </p:sp>
        </mc:Choice>
        <mc:Fallback>
          <p:sp>
            <p:nvSpPr>
              <p:cNvPr id="33" name="Equation"/>
              <p:cNvSpPr txBox="1"/>
              <p:nvPr/>
            </p:nvSpPr>
            <p:spPr>
              <a:xfrm>
                <a:off x="4686300" y="5985213"/>
                <a:ext cx="12298680" cy="609811"/>
              </a:xfrm>
              <a:prstGeom prst="rect">
                <a:avLst/>
              </a:prstGeom>
              <a:blipFill>
                <a:blip r:embed="rId6"/>
                <a:stretch>
                  <a:fillRect/>
                </a:stretch>
              </a:blipFill>
            </p:spPr>
            <p:txBody>
              <a:bodyPr/>
              <a:lstStyle/>
              <a:p>
                <a:endParaRPr lang="en-US"/>
              </a:p>
            </p:txBody>
          </p:sp>
        </mc:Fallback>
      </mc:AlternateContent>
      <p:sp>
        <p:nvSpPr>
          <p:cNvPr id="34" name="Rounded Rectangle 33"/>
          <p:cNvSpPr/>
          <p:nvPr/>
        </p:nvSpPr>
        <p:spPr>
          <a:xfrm>
            <a:off x="1028700" y="6686465"/>
            <a:ext cx="16230600" cy="609811"/>
          </a:xfrm>
          <a:prstGeom prst="roundRect">
            <a:avLst>
              <a:gd name="adj" fmla="val 23991"/>
            </a:avLst>
          </a:prstGeom>
          <a:solidFill>
            <a:srgbClr val="F6ECDF"/>
          </a:solidFill>
          <a:ln>
            <a:noFill/>
          </a:ln>
        </p:spPr>
        <p:txBody>
          <a:bodyPr anchor="ctr" rtlCol="false" lIns="0" tIns="0" rIns="0" bIns="0" wrap="square"/>
          <a:lstStyle/>
          <a:p>
            <a:endParaRPr lang="en-US" sz="1800"/>
          </a:p>
        </p:txBody>
      </p:sp>
      <p:sp>
        <p:nvSpPr>
          <p:cNvPr id="35" name="TextBox 34"/>
          <p:cNvSpPr txBox="1"/>
          <p:nvPr/>
        </p:nvSpPr>
        <p:spPr>
          <a:xfrm>
            <a:off x="1348740" y="6686465"/>
            <a:ext cx="3291840" cy="609811"/>
          </a:xfrm>
          <a:prstGeom prst="rect">
            <a:avLst/>
          </a:prstGeom>
          <a:noFill/>
        </p:spPr>
        <p:txBody>
          <a:bodyPr anchor="ctr" rtlCol="false" lIns="0" tIns="0" rIns="0" bIns="0" wrap="square"/>
          <a:lstStyle/>
          <a:p>
            <a:pPr algn="l">
              <a:lnSpc>
                <a:spcPts val="2200"/>
              </a:lnSpc>
              <a:spcBef>
                <a:spcPts val="0"/>
              </a:spcBef>
              <a:buNone/>
            </a:pPr>
            <a:r>
              <a:rPr lang="en-US" sz="1800" b="true">
                <a:solidFill>
                  <a:srgbClr val="4472C4"/>
                </a:solidFill>
                <a:latin typeface="Nunito Ultra-Bold"/>
                <a:ea typeface="Nunito Ultra-Bold"/>
                <a:cs typeface="Nunito Ultra-Bold"/>
                <a:sym typeface="Nunito Ultra-Bold"/>
              </a:rPr>
              <a:t>Normalised weights</a:t>
            </a:r>
          </a:p>
        </p:txBody>
      </p:sp>
      <mc:AlternateContent xmlns:mc="http://schemas.openxmlformats.org/markup-compatibility/2006">
        <mc:Choice xmlns:a14="http://schemas.microsoft.com/office/drawing/2010/main" Requires="a14">
          <p:sp>
            <p:nvSpPr>
              <p:cNvPr id="36" name="Equation"/>
              <p:cNvSpPr txBox="1"/>
              <p:nvPr/>
            </p:nvSpPr>
            <p:spPr>
              <a:xfrm>
                <a:off x="4686300" y="6686465"/>
                <a:ext cx="9372600" cy="609811"/>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050" i="1">
                              <a:solidFill>
                                <a:srgbClr val="111111"/>
                              </a:solidFill>
                              <a:latin typeface="Cambria Math" panose="02040503050406030204" pitchFamily="18" charset="0"/>
                            </a:rPr>
                          </m:ctrlPr>
                        </m:sSubPr>
                        <m:e>
                          <m:r>
                            <a:rPr lang="en-US" sz="2050" i="1">
                              <a:solidFill>
                                <a:srgbClr val="111111"/>
                              </a:solidFill>
                              <a:latin typeface="Cambria Math" panose="02040503050406030204" pitchFamily="18" charset="0"/>
                            </a:rPr>
                            <m:t xml:space="preserve">w</m:t>
                          </m:r>
                        </m:e>
                        <m:sub>
                          <m:r>
                            <a:rPr lang="en-US" sz="2050" i="1">
                              <a:solidFill>
                                <a:srgbClr val="111111"/>
                              </a:solidFill>
                              <a:latin typeface="Cambria Math" panose="02040503050406030204" pitchFamily="18" charset="0"/>
                            </a:rPr>
                            <m:t xml:space="preserve">jk</m:t>
                          </m:r>
                        </m:sub>
                      </m:sSub>
                      <m:r>
                        <m:rPr>
                          <m:sty m:val="p"/>
                        </m:rPr>
                        <a:rPr lang="en-US" sz="2050">
                          <a:solidFill>
                            <a:srgbClr val="111111"/>
                          </a:solidFill>
                          <a:latin typeface="Cambria Math" panose="02040503050406030204" pitchFamily="18" charset="0"/>
                        </a:rPr>
                        <m:t xml:space="preserve">=</m:t>
                      </m:r>
                      <m:sSub>
                        <m:sSubPr>
                          <m:ctrlPr>
                            <a:rPr lang="en-US" sz="2050" i="1">
                              <a:solidFill>
                                <a:srgbClr val="111111"/>
                              </a:solidFill>
                              <a:latin typeface="Cambria Math" panose="02040503050406030204" pitchFamily="18" charset="0"/>
                            </a:rPr>
                          </m:ctrlPr>
                        </m:sSubPr>
                        <m:e>
                          <m:acc>
                            <m:accPr>
                              <m:chr m:val="̂"/>
                              <m:ctrlPr>
                                <a:rPr lang="en-US" sz="2050" i="1">
                                  <a:solidFill>
                                    <a:srgbClr val="111111"/>
                                  </a:solidFill>
                                  <a:latin typeface="Cambria Math" panose="02040503050406030204" pitchFamily="18" charset="0"/>
                                </a:rPr>
                              </m:ctrlPr>
                            </m:accPr>
                            <m:e>
                              <m:r>
                                <a:rPr lang="en-US" sz="2050" i="1">
                                  <a:solidFill>
                                    <a:srgbClr val="111111"/>
                                  </a:solidFill>
                                  <a:latin typeface="Cambria Math" panose="02040503050406030204" pitchFamily="18" charset="0"/>
                                </a:rPr>
                                <m:t xml:space="preserve">φ</m:t>
                              </m:r>
                            </m:e>
                          </m:acc>
                        </m:e>
                        <m:sub>
                          <m:r>
                            <a:rPr lang="en-US" sz="2050" i="1">
                              <a:solidFill>
                                <a:srgbClr val="111111"/>
                              </a:solidFill>
                              <a:latin typeface="Cambria Math" panose="02040503050406030204" pitchFamily="18" charset="0"/>
                            </a:rPr>
                            <m:t xml:space="preserve">jk</m:t>
                          </m:r>
                        </m:sub>
                      </m:sSub>
                      <m:r>
                        <m:rPr>
                          <m:sty m:val="p"/>
                        </m:rPr>
                        <a:rPr lang="en-US" sz="2050">
                          <a:solidFill>
                            <a:srgbClr val="111111"/>
                          </a:solidFill>
                          <a:latin typeface="Cambria Math" panose="02040503050406030204" pitchFamily="18" charset="0"/>
                        </a:rPr>
                        <m:t xml:space="preserve"> / </m:t>
                      </m:r>
                      <m:nary>
                        <m:naryPr>
                          <m:chr m:val="∑"/>
                          <m:limLoc m:val="subSup"/>
                          <m:supHide m:val="1"/>
                          <m:ctrlPr>
                            <a:rPr lang="en-US" sz="2050" i="1">
                              <a:solidFill>
                                <a:srgbClr val="111111"/>
                              </a:solidFill>
                              <a:latin typeface="Cambria Math" panose="02040503050406030204" pitchFamily="18" charset="0"/>
                            </a:rPr>
                          </m:ctrlPr>
                        </m:naryPr>
                        <m:sub>
                          <m:r>
                            <a:rPr lang="en-US" sz="2050" i="1">
                              <a:solidFill>
                                <a:srgbClr val="111111"/>
                              </a:solidFill>
                              <a:latin typeface="Cambria Math" panose="02040503050406030204" pitchFamily="18" charset="0"/>
                            </a:rPr>
                            <m:t xml:space="preserve">k′</m:t>
                          </m:r>
                          <m:r>
                            <m:rPr>
                              <m:sty m:val="p"/>
                            </m:rPr>
                            <a:rPr lang="en-US" sz="2050">
                              <a:solidFill>
                                <a:srgbClr val="111111"/>
                              </a:solidFill>
                              <a:latin typeface="Cambria Math" panose="02040503050406030204" pitchFamily="18" charset="0"/>
                            </a:rPr>
                            <m:t xml:space="preserve">∈</m:t>
                          </m:r>
                          <m:r>
                            <m:rPr>
                              <m:scr m:val="script"/>
                              <m:sty m:val="p"/>
                            </m:rPr>
                            <a:rPr lang="en-US" sz="2050">
                              <a:solidFill>
                                <a:srgbClr val="111111"/>
                              </a:solidFill>
                              <a:latin typeface="Cambria Math" panose="02040503050406030204" pitchFamily="18" charset="0"/>
                            </a:rPr>
                            <m:t xml:space="preserve">N</m:t>
                          </m:r>
                          <m:r>
                            <m:rPr>
                              <m:sty m:val="p"/>
                            </m:rPr>
                            <a:rPr lang="en-US" sz="2050">
                              <a:solidFill>
                                <a:srgbClr val="111111"/>
                              </a:solidFill>
                              <a:latin typeface="Cambria Math" panose="02040503050406030204" pitchFamily="18" charset="0"/>
                            </a:rPr>
                            <m:t xml:space="preserve">(</m:t>
                          </m:r>
                          <m:r>
                            <a:rPr lang="en-US" sz="2050" i="1">
                              <a:solidFill>
                                <a:srgbClr val="111111"/>
                              </a:solidFill>
                              <a:latin typeface="Cambria Math" panose="02040503050406030204" pitchFamily="18" charset="0"/>
                            </a:rPr>
                            <m:t xml:space="preserve">j</m:t>
                          </m:r>
                          <m:r>
                            <m:rPr>
                              <m:sty m:val="p"/>
                            </m:rPr>
                            <a:rPr lang="en-US" sz="2050">
                              <a:solidFill>
                                <a:srgbClr val="111111"/>
                              </a:solidFill>
                              <a:latin typeface="Cambria Math" panose="02040503050406030204" pitchFamily="18" charset="0"/>
                            </a:rPr>
                            <m:t xml:space="preserve">)</m:t>
                          </m:r>
                        </m:sub>
                        <m:sup/>
                        <m:e>
                          <m:sSub>
                            <m:sSubPr>
                              <m:ctrlPr>
                                <a:rPr lang="en-US" sz="2050" i="1">
                                  <a:solidFill>
                                    <a:srgbClr val="111111"/>
                                  </a:solidFill>
                                  <a:latin typeface="Cambria Math" panose="02040503050406030204" pitchFamily="18" charset="0"/>
                                </a:rPr>
                              </m:ctrlPr>
                            </m:sSubPr>
                            <m:e>
                              <m:acc>
                                <m:accPr>
                                  <m:chr m:val="̂"/>
                                  <m:ctrlPr>
                                    <a:rPr lang="en-US" sz="2050" i="1">
                                      <a:solidFill>
                                        <a:srgbClr val="111111"/>
                                      </a:solidFill>
                                      <a:latin typeface="Cambria Math" panose="02040503050406030204" pitchFamily="18" charset="0"/>
                                    </a:rPr>
                                  </m:ctrlPr>
                                </m:accPr>
                                <m:e>
                                  <m:r>
                                    <a:rPr lang="en-US" sz="2050" i="1">
                                      <a:solidFill>
                                        <a:srgbClr val="111111"/>
                                      </a:solidFill>
                                      <a:latin typeface="Cambria Math" panose="02040503050406030204" pitchFamily="18" charset="0"/>
                                    </a:rPr>
                                    <m:t xml:space="preserve">φ</m:t>
                                  </m:r>
                                </m:e>
                              </m:acc>
                            </m:e>
                            <m:sub>
                              <m:r>
                                <a:rPr lang="en-US" sz="2050" i="1">
                                  <a:solidFill>
                                    <a:srgbClr val="111111"/>
                                  </a:solidFill>
                                  <a:latin typeface="Cambria Math" panose="02040503050406030204" pitchFamily="18" charset="0"/>
                                </a:rPr>
                                <m:t xml:space="preserve">jk′</m:t>
                              </m:r>
                            </m:sub>
                          </m:sSub>
                        </m:e>
                      </m:nary>
                    </m:oMath>
                  </m:oMathPara>
                </a14:m>
                <a:endParaRPr lang="en-US" sz="2050"/>
              </a:p>
            </p:txBody>
          </p:sp>
        </mc:Choice>
        <mc:Fallback>
          <p:sp>
            <p:nvSpPr>
              <p:cNvPr id="36" name="Equation"/>
              <p:cNvSpPr txBox="1"/>
              <p:nvPr/>
            </p:nvSpPr>
            <p:spPr>
              <a:xfrm>
                <a:off x="4686300" y="6686465"/>
                <a:ext cx="9372600" cy="609811"/>
              </a:xfrm>
              <a:prstGeom prst="rect">
                <a:avLst/>
              </a:prstGeom>
              <a:blipFill>
                <a:blip r:embed="rId7"/>
                <a:stretch>
                  <a:fillRect/>
                </a:stretch>
              </a:blipFill>
            </p:spPr>
            <p:txBody>
              <a:bodyPr/>
              <a:lstStyle/>
              <a:p>
                <a:endParaRPr lang="en-US"/>
              </a:p>
            </p:txBody>
          </p:sp>
        </mc:Fallback>
      </mc:AlternateContent>
      <p:sp>
        <p:nvSpPr>
          <p:cNvPr id="37" name="TextBox 36"/>
          <p:cNvSpPr txBox="1"/>
          <p:nvPr/>
        </p:nvSpPr>
        <p:spPr>
          <a:xfrm>
            <a:off x="14241780" y="6686465"/>
            <a:ext cx="2743200" cy="609811"/>
          </a:xfrm>
          <a:prstGeom prst="rect">
            <a:avLst/>
          </a:prstGeom>
          <a:noFill/>
        </p:spPr>
        <p:txBody>
          <a:bodyPr anchor="ctr" rtlCol="false" lIns="0" tIns="0" rIns="0" bIns="0" wrap="square"/>
          <a:lstStyle/>
          <a:p>
            <a:pPr algn="r">
              <a:lnSpc>
                <a:spcPts val="1800"/>
              </a:lnSpc>
              <a:spcBef>
                <a:spcPts val="0"/>
              </a:spcBef>
              <a:buNone/>
            </a:pPr>
            <a:r>
              <a:rPr lang="en-US" sz="1500" b="true">
                <a:solidFill>
                  <a:srgbClr val="8A8378"/>
                </a:solidFill>
                <a:latin typeface="Nunito Semi-Bold"/>
                <a:ea typeface="Nunito Semi-Bold"/>
                <a:cs typeface="Nunito Semi-Bold"/>
                <a:sym typeface="Nunito Semi-Bold"/>
              </a:rPr>
              <a:t>clipped + EMA-smoothed</a:t>
            </a:r>
          </a:p>
        </p:txBody>
      </p:sp>
      <p:sp>
        <p:nvSpPr>
          <p:cNvPr id="38" name="Rounded Rectangle 37"/>
          <p:cNvSpPr/>
          <p:nvPr/>
        </p:nvSpPr>
        <p:spPr>
          <a:xfrm>
            <a:off x="1028700" y="7387717"/>
            <a:ext cx="16230600" cy="609811"/>
          </a:xfrm>
          <a:prstGeom prst="roundRect">
            <a:avLst>
              <a:gd name="adj" fmla="val 23991"/>
            </a:avLst>
          </a:prstGeom>
          <a:solidFill>
            <a:srgbClr val="FBF4EB"/>
          </a:solidFill>
          <a:ln>
            <a:noFill/>
          </a:ln>
        </p:spPr>
        <p:txBody>
          <a:bodyPr anchor="ctr" rtlCol="false" lIns="0" tIns="0" rIns="0" bIns="0" wrap="square"/>
          <a:lstStyle/>
          <a:p>
            <a:endParaRPr lang="en-US" sz="1800"/>
          </a:p>
        </p:txBody>
      </p:sp>
      <p:sp>
        <p:nvSpPr>
          <p:cNvPr id="39" name="TextBox 38"/>
          <p:cNvSpPr txBox="1"/>
          <p:nvPr/>
        </p:nvSpPr>
        <p:spPr>
          <a:xfrm>
            <a:off x="1348740" y="7387717"/>
            <a:ext cx="3291840" cy="609811"/>
          </a:xfrm>
          <a:prstGeom prst="rect">
            <a:avLst/>
          </a:prstGeom>
          <a:noFill/>
        </p:spPr>
        <p:txBody>
          <a:bodyPr anchor="ctr" rtlCol="false" lIns="0" tIns="0" rIns="0" bIns="0" wrap="square"/>
          <a:lstStyle/>
          <a:p>
            <a:pPr algn="l">
              <a:lnSpc>
                <a:spcPts val="2200"/>
              </a:lnSpc>
              <a:spcBef>
                <a:spcPts val="0"/>
              </a:spcBef>
              <a:buNone/>
            </a:pPr>
            <a:r>
              <a:rPr lang="en-US" sz="1800" b="true">
                <a:solidFill>
                  <a:srgbClr val="4472C4"/>
                </a:solidFill>
                <a:latin typeface="Nunito Ultra-Bold"/>
                <a:ea typeface="Nunito Ultra-Bold"/>
                <a:cs typeface="Nunito Ultra-Bold"/>
                <a:sym typeface="Nunito Ultra-Bold"/>
              </a:rPr>
              <a:t>Attention gate</a:t>
            </a:r>
          </a:p>
        </p:txBody>
      </p:sp>
      <mc:AlternateContent xmlns:mc="http://schemas.openxmlformats.org/markup-compatibility/2006">
        <mc:Choice xmlns:a14="http://schemas.microsoft.com/office/drawing/2010/main" Requires="a14">
          <p:sp>
            <p:nvSpPr>
              <p:cNvPr id="40" name="Equation"/>
              <p:cNvSpPr txBox="1"/>
              <p:nvPr/>
            </p:nvSpPr>
            <p:spPr>
              <a:xfrm>
                <a:off x="4686300" y="7387717"/>
                <a:ext cx="12298680" cy="609811"/>
              </a:xfrm>
              <a:prstGeom prst="rect">
                <a:avLst/>
              </a:prstGeom>
              <a:noFill/>
            </p:spPr>
            <p:txBody>
              <a:bodyPr wrap="none" rtlCol="0" anchor="ctr" lIns="0" tIns="0" rIns="0" bIns="0"/>
              <a:lstStyle/>
              <a:p>
                <a:pPr algn="l"/>
                <a14:m xmlns:m="http://schemas.openxmlformats.org/officeDocument/2006/math">
                  <m:oMathPara>
                    <m:oMathParaPr>
                      <m:jc m:val="left"/>
                    </m:oMathParaPr>
                    <m:oMath>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a</m:t>
                          </m:r>
                        </m:e>
                        <m:sub>
                          <m:r>
                            <a:rPr lang="en-US" sz="2200" i="1">
                              <a:solidFill>
                                <a:srgbClr val="111111"/>
                              </a:solidFill>
                              <a:latin typeface="Cambria Math" panose="02040503050406030204" pitchFamily="18" charset="0"/>
                            </a:rPr>
                            <m:t xml:space="preserve">ui</m:t>
                          </m:r>
                        </m:sub>
                      </m:sSub>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σ</m:t>
                      </m:r>
                      <m:d>
                        <m:dPr>
                          <m:ctrlPr>
                            <a:rPr lang="en-US" sz="2200" i="1">
                              <a:solidFill>
                                <a:srgbClr val="111111"/>
                              </a:solidFill>
                              <a:latin typeface="Cambria Math" panose="02040503050406030204" pitchFamily="18" charset="0"/>
                            </a:rPr>
                          </m:ctrlPr>
                        </m:dPr>
                        <m:e>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W</m:t>
                              </m:r>
                            </m:e>
                            <m:sub>
                              <m:r>
                                <a:rPr lang="en-US" sz="2200" i="1">
                                  <a:solidFill>
                                    <a:srgbClr val="111111"/>
                                  </a:solidFill>
                                  <a:latin typeface="Cambria Math" panose="02040503050406030204" pitchFamily="18" charset="0"/>
                                </a:rPr>
                                <m:t xml:space="preserve">a</m:t>
                              </m:r>
                            </m:sub>
                          </m:sSub>
                          <m:r>
                            <m:rPr>
                              <m:sty m:val="p"/>
                            </m:rPr>
                            <a:rPr lang="en-US" sz="2200">
                              <a:solidFill>
                                <a:srgbClr val="111111"/>
                              </a:solidFill>
                              <a:latin typeface="Cambria Math" panose="02040503050406030204" pitchFamily="18" charset="0"/>
                            </a:rPr>
                            <m:t xml:space="preserve"> [ </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u</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i</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l</m:t>
                              </m:r>
                            </m:e>
                            <m:sub>
                              <m:r>
                                <a:rPr lang="en-US" sz="2200" i="1">
                                  <a:solidFill>
                                    <a:srgbClr val="111111"/>
                                  </a:solidFill>
                                  <a:latin typeface="Cambria Math" panose="02040503050406030204" pitchFamily="18" charset="0"/>
                                </a:rPr>
                                <m:t xml:space="preserve">i</m:t>
                              </m:r>
                            </m:sub>
                          </m:sSub>
                          <m:r>
                            <m:rPr>
                              <m:sty m:val="p"/>
                            </m:rPr>
                            <a:rPr lang="en-US" sz="2200">
                              <a:solidFill>
                                <a:srgbClr val="111111"/>
                              </a:solidFill>
                              <a:latin typeface="Cambria Math" panose="02040503050406030204" pitchFamily="18" charset="0"/>
                            </a:rPr>
                            <m:t xml:space="preserve"> ]</m:t>
                          </m:r>
                        </m:e>
                      </m:d>
                      <m:r>
                        <m:rPr>
                          <m:sty m:val="p"/>
                        </m:rPr>
                        <a:rPr lang="en-US" sz="2200">
                          <a:solidFill>
                            <a:srgbClr val="111111"/>
                          </a:solidFill>
                          <a:latin typeface="Cambria Math" panose="02040503050406030204" pitchFamily="18" charset="0"/>
                        </a:rPr>
                        <m:t xml:space="preserve">,  </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y</m:t>
                          </m:r>
                        </m:e>
                        <m:sub>
                          <m:r>
                            <a:rPr lang="en-US" sz="2200" i="1">
                              <a:solidFill>
                                <a:srgbClr val="111111"/>
                              </a:solidFill>
                              <a:latin typeface="Cambria Math" panose="02040503050406030204" pitchFamily="18" charset="0"/>
                            </a:rPr>
                            <m:t xml:space="preserve">ui</m:t>
                          </m:r>
                        </m:sub>
                      </m:sSub>
                      <m:r>
                        <m:rPr>
                          <m:sty m:val="p"/>
                        </m:rPr>
                        <a:rPr lang="en-US" sz="2200">
                          <a:solidFill>
                            <a:srgbClr val="111111"/>
                          </a:solidFill>
                          <a:latin typeface="Cambria Math" panose="02040503050406030204" pitchFamily="18" charset="0"/>
                        </a:rPr>
                        <m:t xml:space="preserve">=(1+</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a</m:t>
                          </m:r>
                        </m:e>
                        <m:sub>
                          <m:r>
                            <a:rPr lang="en-US" sz="2200" i="1">
                              <a:solidFill>
                                <a:srgbClr val="111111"/>
                              </a:solidFill>
                              <a:latin typeface="Cambria Math" panose="02040503050406030204" pitchFamily="18" charset="0"/>
                            </a:rPr>
                            <m:t xml:space="preserve">ui</m:t>
                          </m:r>
                        </m:sub>
                      </m:sSub>
                      <m:r>
                        <m:rPr>
                          <m:sty m:val="p"/>
                        </m:rPr>
                        <a:rPr lang="en-US" sz="2200">
                          <a:solidFill>
                            <a:srgbClr val="111111"/>
                          </a:solidFill>
                          <a:latin typeface="Cambria Math" panose="02040503050406030204" pitchFamily="18" charset="0"/>
                        </a:rPr>
                        <m:t xml:space="preserve">) ⟨</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u</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e</m:t>
                          </m:r>
                        </m:e>
                        <m:sub>
                          <m:r>
                            <a:rPr lang="en-US" sz="2200" i="1">
                              <a:solidFill>
                                <a:srgbClr val="111111"/>
                              </a:solidFill>
                              <a:latin typeface="Cambria Math" panose="02040503050406030204" pitchFamily="18" charset="0"/>
                            </a:rPr>
                            <m:t xml:space="preserve">i</m:t>
                          </m:r>
                        </m:sub>
                      </m:sSub>
                      <m:r>
                        <m:rPr>
                          <m:sty m:val="p"/>
                        </m:rPr>
                        <a:rPr lang="en-US" sz="2200">
                          <a:solidFill>
                            <a:srgbClr val="111111"/>
                          </a:solidFill>
                          <a:latin typeface="Cambria Math" panose="02040503050406030204" pitchFamily="18" charset="0"/>
                        </a:rPr>
                        <m:t xml:space="preserve">⟩</m:t>
                      </m:r>
                    </m:oMath>
                  </m:oMathPara>
                </a14:m>
                <a:endParaRPr lang="en-US" sz="2200"/>
              </a:p>
            </p:txBody>
          </p:sp>
        </mc:Choice>
        <mc:Fallback>
          <p:sp>
            <p:nvSpPr>
              <p:cNvPr id="40" name="Equation"/>
              <p:cNvSpPr txBox="1"/>
              <p:nvPr/>
            </p:nvSpPr>
            <p:spPr>
              <a:xfrm>
                <a:off x="4686300" y="7387717"/>
                <a:ext cx="12298680" cy="609811"/>
              </a:xfrm>
              <a:prstGeom prst="rect">
                <a:avLst/>
              </a:prstGeom>
              <a:blipFill>
                <a:blip r:embed="rId8"/>
                <a:stretch>
                  <a:fillRect/>
                </a:stretch>
              </a:blipFill>
            </p:spPr>
            <p:txBody>
              <a:bodyPr/>
              <a:lstStyle/>
              <a:p>
                <a:endParaRPr lang="en-US"/>
              </a:p>
            </p:txBody>
          </p:sp>
        </mc:Fallback>
      </mc:AlternateContent>
      <p:sp>
        <p:nvSpPr>
          <p:cNvPr id="41" name="Rounded Rectangle 40"/>
          <p:cNvSpPr/>
          <p:nvPr/>
        </p:nvSpPr>
        <p:spPr>
          <a:xfrm>
            <a:off x="1028700" y="8088968"/>
            <a:ext cx="16230600" cy="609811"/>
          </a:xfrm>
          <a:prstGeom prst="roundRect">
            <a:avLst>
              <a:gd name="adj" fmla="val 23991"/>
            </a:avLst>
          </a:prstGeom>
          <a:solidFill>
            <a:srgbClr val="F6ECDF"/>
          </a:solidFill>
          <a:ln>
            <a:noFill/>
          </a:ln>
        </p:spPr>
        <p:txBody>
          <a:bodyPr anchor="ctr" rtlCol="false" lIns="0" tIns="0" rIns="0" bIns="0" wrap="square"/>
          <a:lstStyle/>
          <a:p>
            <a:endParaRPr lang="en-US" sz="1800"/>
          </a:p>
        </p:txBody>
      </p:sp>
      <p:sp>
        <p:nvSpPr>
          <p:cNvPr id="42" name="TextBox 41"/>
          <p:cNvSpPr txBox="1"/>
          <p:nvPr/>
        </p:nvSpPr>
        <p:spPr>
          <a:xfrm>
            <a:off x="1348740" y="8088968"/>
            <a:ext cx="3291840" cy="609811"/>
          </a:xfrm>
          <a:prstGeom prst="rect">
            <a:avLst/>
          </a:prstGeom>
          <a:noFill/>
        </p:spPr>
        <p:txBody>
          <a:bodyPr anchor="ctr" rtlCol="false" lIns="0" tIns="0" rIns="0" bIns="0" wrap="square"/>
          <a:lstStyle/>
          <a:p>
            <a:pPr algn="l">
              <a:lnSpc>
                <a:spcPts val="2200"/>
              </a:lnSpc>
              <a:spcBef>
                <a:spcPts val="0"/>
              </a:spcBef>
              <a:buNone/>
            </a:pPr>
            <a:r>
              <a:rPr lang="en-US" sz="1800" b="true">
                <a:solidFill>
                  <a:srgbClr val="4472C4"/>
                </a:solidFill>
                <a:latin typeface="Nunito Ultra-Bold"/>
                <a:ea typeface="Nunito Ultra-Bold"/>
                <a:cs typeface="Nunito Ultra-Bold"/>
                <a:sym typeface="Nunito Ultra-Bold"/>
              </a:rPr>
              <a:t>Context-aware score</a:t>
            </a:r>
          </a:p>
        </p:txBody>
      </p:sp>
      <mc:AlternateContent xmlns:mc="http://schemas.openxmlformats.org/markup-compatibility/2006">
        <mc:Choice xmlns:a14="http://schemas.microsoft.com/office/drawing/2010/main" Requires="a14">
          <p:sp>
            <p:nvSpPr>
              <p:cNvPr id="43" name="Equation"/>
              <p:cNvSpPr txBox="1"/>
              <p:nvPr/>
            </p:nvSpPr>
            <p:spPr>
              <a:xfrm>
                <a:off x="4686300" y="8088968"/>
                <a:ext cx="12298680" cy="609811"/>
              </a:xfrm>
              <a:prstGeom prst="rect">
                <a:avLst/>
              </a:prstGeom>
              <a:noFill/>
            </p:spPr>
            <p:txBody>
              <a:bodyPr wrap="none" rtlCol="0" anchor="ctr" lIns="0" tIns="0" rIns="0" bIns="0"/>
              <a:lstStyle/>
              <a:p>
                <a:pPr algn="l"/>
                <a14:m xmlns:m="http://schemas.openxmlformats.org/officeDocument/2006/math">
                  <m:oMathPara>
                    <m:oMathParaPr>
                      <m:jc m:val="left"/>
                    </m:oMathParaPr>
                    <m:oMath>
                      <m:r>
                        <a:rPr lang="en-US" sz="2200" i="1">
                          <a:solidFill>
                            <a:srgbClr val="111111"/>
                          </a:solidFill>
                          <a:latin typeface="Cambria Math" panose="02040503050406030204" pitchFamily="18" charset="0"/>
                        </a:rPr>
                        <m:t xml:space="preserve">f</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u</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i</m:t>
                      </m:r>
                      <m:r>
                        <m:rPr>
                          <m:sty m:val="p"/>
                        </m:rPr>
                        <a:rPr lang="en-US" sz="2200">
                          <a:solidFill>
                            <a:srgbClr val="111111"/>
                          </a:solidFill>
                          <a:latin typeface="Cambria Math" panose="02040503050406030204" pitchFamily="18" charset="0"/>
                        </a:rPr>
                        <m:t xml:space="preserve">,</m:t>
                      </m:r>
                      <m:r>
                        <a:rPr lang="en-US" sz="2200" i="1">
                          <a:solidFill>
                            <a:srgbClr val="111111"/>
                          </a:solidFill>
                          <a:latin typeface="Cambria Math" panose="02040503050406030204" pitchFamily="18" charset="0"/>
                        </a:rPr>
                        <m:t xml:space="preserve">c</m:t>
                      </m:r>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y</m:t>
                          </m:r>
                        </m:e>
                        <m:sub>
                          <m:r>
                            <a:rPr lang="en-US" sz="2200" i="1">
                              <a:solidFill>
                                <a:srgbClr val="111111"/>
                              </a:solidFill>
                              <a:latin typeface="Cambria Math" panose="02040503050406030204" pitchFamily="18" charset="0"/>
                            </a:rPr>
                            <m:t xml:space="preserve">ui</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λ</m:t>
                          </m:r>
                        </m:e>
                        <m:sub>
                          <m:r>
                            <a:rPr lang="en-US" sz="2200" i="1">
                              <a:solidFill>
                                <a:srgbClr val="111111"/>
                              </a:solidFill>
                              <a:latin typeface="Cambria Math" panose="02040503050406030204" pitchFamily="18" charset="0"/>
                            </a:rPr>
                            <m:t xml:space="preserve">c</m:t>
                          </m:r>
                        </m:sub>
                      </m:sSub>
                      <m:r>
                        <m:rPr>
                          <m:sty m:val="p"/>
                        </m:rPr>
                        <a:rPr lang="en-US" sz="2200">
                          <a:solidFill>
                            <a:srgbClr val="111111"/>
                          </a:solidFill>
                          <a:latin typeface="Cambria Math" panose="02040503050406030204" pitchFamily="18" charset="0"/>
                        </a:rPr>
                        <m:t xml:space="preserve"> ⟨ </m:t>
                      </m:r>
                      <m:r>
                        <a:rPr lang="en-US" sz="2200" i="1">
                          <a:solidFill>
                            <a:srgbClr val="111111"/>
                          </a:solidFill>
                          <a:latin typeface="Cambria Math" panose="02040503050406030204" pitchFamily="18" charset="0"/>
                        </a:rPr>
                        <m:t xml:space="preserve">g</m:t>
                      </m:r>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c</m:t>
                          </m:r>
                        </m:e>
                        <m:sub>
                          <m:r>
                            <a:rPr lang="en-US" sz="2200" i="1">
                              <a:solidFill>
                                <a:srgbClr val="111111"/>
                              </a:solidFill>
                              <a:latin typeface="Cambria Math" panose="02040503050406030204" pitchFamily="18" charset="0"/>
                            </a:rPr>
                            <m:t xml:space="preserve">ui</m:t>
                          </m:r>
                        </m:sub>
                      </m:sSub>
                      <m:r>
                        <m:rPr>
                          <m:sty m:val="p"/>
                        </m:rPr>
                        <a:rPr lang="en-US" sz="2200">
                          <a:solidFill>
                            <a:srgbClr val="111111"/>
                          </a:solidFill>
                          <a:latin typeface="Cambria Math" panose="02040503050406030204" pitchFamily="18" charset="0"/>
                        </a:rPr>
                        <m:t xml:space="preserve">), </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e</m:t>
                          </m:r>
                        </m:e>
                        <m:sub>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c</m:t>
                              </m:r>
                            </m:e>
                            <m:sub>
                              <m:r>
                                <a:rPr lang="en-US" sz="2200" i="1">
                                  <a:solidFill>
                                    <a:srgbClr val="111111"/>
                                  </a:solidFill>
                                  <a:latin typeface="Cambria Math" panose="02040503050406030204" pitchFamily="18" charset="0"/>
                                </a:rPr>
                                <m:t xml:space="preserve">ui</m:t>
                              </m:r>
                            </m:sub>
                          </m:sSub>
                        </m:sub>
                      </m:sSub>
                      <m:r>
                        <m:rPr>
                          <m:sty m:val="p"/>
                        </m:rPr>
                        <a:rPr lang="en-US" sz="2200">
                          <a:solidFill>
                            <a:srgbClr val="111111"/>
                          </a:solidFill>
                          <a:latin typeface="Cambria Math" panose="02040503050406030204" pitchFamily="18" charset="0"/>
                        </a:rPr>
                        <m:t xml:space="preserve">⟩</m:t>
                      </m:r>
                    </m:oMath>
                  </m:oMathPara>
                </a14:m>
                <a:endParaRPr lang="en-US" sz="2200"/>
              </a:p>
            </p:txBody>
          </p:sp>
        </mc:Choice>
        <mc:Fallback>
          <p:sp>
            <p:nvSpPr>
              <p:cNvPr id="43" name="Equation"/>
              <p:cNvSpPr txBox="1"/>
              <p:nvPr/>
            </p:nvSpPr>
            <p:spPr>
              <a:xfrm>
                <a:off x="4686300" y="8088968"/>
                <a:ext cx="12298680" cy="609811"/>
              </a:xfrm>
              <a:prstGeom prst="rect">
                <a:avLst/>
              </a:prstGeom>
              <a:blipFill>
                <a:blip r:embed="rId9"/>
                <a:stretch>
                  <a:fillRect/>
                </a:stretch>
              </a:blipFill>
            </p:spPr>
            <p:txBody>
              <a:bodyPr/>
              <a:lstStyle/>
              <a:p>
                <a:endParaRPr lang="en-US"/>
              </a:p>
            </p:txBody>
          </p:sp>
        </mc:Fallback>
      </mc:AlternateContent>
      <p:sp>
        <p:nvSpPr>
          <p:cNvPr id="44" name="Rounded Rectangle 43"/>
          <p:cNvSpPr/>
          <p:nvPr/>
        </p:nvSpPr>
        <p:spPr>
          <a:xfrm>
            <a:off x="1028700" y="8790220"/>
            <a:ext cx="16230600" cy="609811"/>
          </a:xfrm>
          <a:prstGeom prst="roundRect">
            <a:avLst>
              <a:gd name="adj" fmla="val 23991"/>
            </a:avLst>
          </a:prstGeom>
          <a:solidFill>
            <a:srgbClr val="FBF4EB"/>
          </a:solidFill>
          <a:ln>
            <a:noFill/>
          </a:ln>
        </p:spPr>
        <p:txBody>
          <a:bodyPr anchor="ctr" rtlCol="false" lIns="0" tIns="0" rIns="0" bIns="0" wrap="square"/>
          <a:lstStyle/>
          <a:p>
            <a:endParaRPr lang="en-US" sz="1800"/>
          </a:p>
        </p:txBody>
      </p:sp>
      <p:sp>
        <p:nvSpPr>
          <p:cNvPr id="45" name="TextBox 44"/>
          <p:cNvSpPr txBox="1"/>
          <p:nvPr/>
        </p:nvSpPr>
        <p:spPr>
          <a:xfrm>
            <a:off x="1348740" y="8790220"/>
            <a:ext cx="3291840" cy="609811"/>
          </a:xfrm>
          <a:prstGeom prst="rect">
            <a:avLst/>
          </a:prstGeom>
          <a:noFill/>
        </p:spPr>
        <p:txBody>
          <a:bodyPr anchor="ctr" rtlCol="false" lIns="0" tIns="0" rIns="0" bIns="0" wrap="square"/>
          <a:lstStyle/>
          <a:p>
            <a:pPr algn="l">
              <a:lnSpc>
                <a:spcPts val="2200"/>
              </a:lnSpc>
              <a:spcBef>
                <a:spcPts val="0"/>
              </a:spcBef>
              <a:buNone/>
            </a:pPr>
            <a:r>
              <a:rPr lang="en-US" sz="1800" b="true">
                <a:solidFill>
                  <a:srgbClr val="4472C4"/>
                </a:solidFill>
                <a:latin typeface="Nunito Ultra-Bold"/>
                <a:ea typeface="Nunito Ultra-Bold"/>
                <a:cs typeface="Nunito Ultra-Bold"/>
                <a:sym typeface="Nunito Ultra-Bold"/>
              </a:rPr>
              <a:t>Training loss</a:t>
            </a:r>
          </a:p>
        </p:txBody>
      </p:sp>
      <mc:AlternateContent xmlns:mc="http://schemas.openxmlformats.org/markup-compatibility/2006">
        <mc:Choice xmlns:a14="http://schemas.microsoft.com/office/drawing/2010/main" Requires="a14">
          <p:sp>
            <p:nvSpPr>
              <p:cNvPr id="46" name="Equation"/>
              <p:cNvSpPr txBox="1"/>
              <p:nvPr/>
            </p:nvSpPr>
            <p:spPr>
              <a:xfrm>
                <a:off x="4686300" y="8790220"/>
                <a:ext cx="9372600" cy="609811"/>
              </a:xfrm>
              <a:prstGeom prst="rect">
                <a:avLst/>
              </a:prstGeom>
              <a:noFill/>
            </p:spPr>
            <p:txBody>
              <a:bodyPr wrap="none" rtlCol="0" anchor="ctr" lIns="0" tIns="0" rIns="0" bIns="0"/>
              <a:lstStyle/>
              <a:p>
                <a:pPr algn="l"/>
                <a14:m xmlns:m="http://schemas.openxmlformats.org/officeDocument/2006/math">
                  <m:oMathPara>
                    <m:oMathParaPr>
                      <m:jc m:val="left"/>
                    </m:oMathParaPr>
                    <m:oMath>
                      <m:r>
                        <m:rPr>
                          <m:scr m:val="script"/>
                          <m:sty m:val="p"/>
                        </m:rPr>
                        <a:rPr lang="en-US" sz="2200">
                          <a:solidFill>
                            <a:srgbClr val="111111"/>
                          </a:solidFill>
                          <a:latin typeface="Cambria Math" panose="02040503050406030204" pitchFamily="18" charset="0"/>
                        </a:rPr>
                        <m:t xml:space="preserve">L</m:t>
                      </m:r>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m:rPr>
                              <m:scr m:val="script"/>
                              <m:sty m:val="p"/>
                            </m:rPr>
                            <a:rPr lang="en-US" sz="2200">
                              <a:solidFill>
                                <a:srgbClr val="111111"/>
                              </a:solidFill>
                              <a:latin typeface="Cambria Math" panose="02040503050406030204" pitchFamily="18" charset="0"/>
                            </a:rPr>
                            <m:t xml:space="preserve">L</m:t>
                          </m:r>
                        </m:e>
                        <m:sub>
                          <m:r>
                            <m:rPr>
                              <m:sty m:val="p"/>
                            </m:rPr>
                            <a:rPr lang="en-US" sz="2200">
                              <a:solidFill>
                                <a:srgbClr val="111111"/>
                              </a:solidFill>
                              <a:latin typeface="Cambria Math" panose="02040503050406030204" pitchFamily="18" charset="0"/>
                            </a:rPr>
                            <m:t xml:space="preserve">rec</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λ</m:t>
                          </m:r>
                        </m:e>
                        <m:sub>
                          <m:r>
                            <m:rPr>
                              <m:sty m:val="p"/>
                            </m:rPr>
                            <a:rPr lang="en-US" sz="2200">
                              <a:solidFill>
                                <a:srgbClr val="111111"/>
                              </a:solidFill>
                              <a:latin typeface="Cambria Math" panose="02040503050406030204" pitchFamily="18" charset="0"/>
                            </a:rPr>
                            <m:t xml:space="preserve">div</m:t>
                          </m:r>
                        </m:sub>
                      </m:sSub>
                      <m:r>
                        <m:rPr>
                          <m:sty m:val="p"/>
                        </m:rPr>
                        <a:rPr lang="en-US" sz="2200">
                          <a:solidFill>
                            <a:srgbClr val="111111"/>
                          </a:solidFill>
                          <a:latin typeface="Cambria Math" panose="02040503050406030204" pitchFamily="18" charset="0"/>
                        </a:rPr>
                        <m:t xml:space="preserve"> </m:t>
                      </m:r>
                      <m:sSub>
                        <m:sSubPr>
                          <m:ctrlPr>
                            <a:rPr lang="en-US" sz="2200" i="1">
                              <a:solidFill>
                                <a:srgbClr val="111111"/>
                              </a:solidFill>
                              <a:latin typeface="Cambria Math" panose="02040503050406030204" pitchFamily="18" charset="0"/>
                            </a:rPr>
                          </m:ctrlPr>
                        </m:sSubPr>
                        <m:e>
                          <m:r>
                            <m:rPr>
                              <m:scr m:val="script"/>
                              <m:sty m:val="p"/>
                            </m:rPr>
                            <a:rPr lang="en-US" sz="2200">
                              <a:solidFill>
                                <a:srgbClr val="111111"/>
                              </a:solidFill>
                              <a:latin typeface="Cambria Math" panose="02040503050406030204" pitchFamily="18" charset="0"/>
                            </a:rPr>
                            <m:t xml:space="preserve">L</m:t>
                          </m:r>
                        </m:e>
                        <m:sub>
                          <m:r>
                            <m:rPr>
                              <m:sty m:val="p"/>
                            </m:rPr>
                            <a:rPr lang="en-US" sz="2200">
                              <a:solidFill>
                                <a:srgbClr val="111111"/>
                              </a:solidFill>
                              <a:latin typeface="Cambria Math" panose="02040503050406030204" pitchFamily="18" charset="0"/>
                            </a:rPr>
                            <m:t xml:space="preserve">div</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λ</m:t>
                          </m:r>
                        </m:e>
                        <m:sub>
                          <m:r>
                            <m:rPr>
                              <m:sty m:val="p"/>
                            </m:rPr>
                            <a:rPr lang="en-US" sz="2200">
                              <a:solidFill>
                                <a:srgbClr val="111111"/>
                              </a:solidFill>
                              <a:latin typeface="Cambria Math" panose="02040503050406030204" pitchFamily="18" charset="0"/>
                            </a:rPr>
                            <m:t xml:space="preserve">ctx</m:t>
                          </m:r>
                        </m:sub>
                      </m:sSub>
                      <m:r>
                        <m:rPr>
                          <m:sty m:val="p"/>
                        </m:rPr>
                        <a:rPr lang="en-US" sz="2200">
                          <a:solidFill>
                            <a:srgbClr val="111111"/>
                          </a:solidFill>
                          <a:latin typeface="Cambria Math" panose="02040503050406030204" pitchFamily="18" charset="0"/>
                        </a:rPr>
                        <m:t xml:space="preserve"> </m:t>
                      </m:r>
                      <m:sSub>
                        <m:sSubPr>
                          <m:ctrlPr>
                            <a:rPr lang="en-US" sz="2200" i="1">
                              <a:solidFill>
                                <a:srgbClr val="111111"/>
                              </a:solidFill>
                              <a:latin typeface="Cambria Math" panose="02040503050406030204" pitchFamily="18" charset="0"/>
                            </a:rPr>
                          </m:ctrlPr>
                        </m:sSubPr>
                        <m:e>
                          <m:r>
                            <m:rPr>
                              <m:scr m:val="script"/>
                              <m:sty m:val="p"/>
                            </m:rPr>
                            <a:rPr lang="en-US" sz="2200">
                              <a:solidFill>
                                <a:srgbClr val="111111"/>
                              </a:solidFill>
                              <a:latin typeface="Cambria Math" panose="02040503050406030204" pitchFamily="18" charset="0"/>
                            </a:rPr>
                            <m:t xml:space="preserve">L</m:t>
                          </m:r>
                        </m:e>
                        <m:sub>
                          <m:r>
                            <m:rPr>
                              <m:sty m:val="p"/>
                            </m:rPr>
                            <a:rPr lang="en-US" sz="2200">
                              <a:solidFill>
                                <a:srgbClr val="111111"/>
                              </a:solidFill>
                              <a:latin typeface="Cambria Math" panose="02040503050406030204" pitchFamily="18" charset="0"/>
                            </a:rPr>
                            <m:t xml:space="preserve">ctx</m:t>
                          </m:r>
                        </m:sub>
                      </m:sSub>
                      <m:r>
                        <m:rPr>
                          <m:sty m:val="p"/>
                        </m:rPr>
                        <a:rPr lang="en-US" sz="2200">
                          <a:solidFill>
                            <a:srgbClr val="111111"/>
                          </a:solidFill>
                          <a:latin typeface="Cambria Math" panose="02040503050406030204" pitchFamily="18" charset="0"/>
                        </a:rPr>
                        <m:t xml:space="preserve">+</m:t>
                      </m:r>
                      <m:sSub>
                        <m:sSubPr>
                          <m:ctrlPr>
                            <a:rPr lang="en-US" sz="2200" i="1">
                              <a:solidFill>
                                <a:srgbClr val="111111"/>
                              </a:solidFill>
                              <a:latin typeface="Cambria Math" panose="02040503050406030204" pitchFamily="18" charset="0"/>
                            </a:rPr>
                          </m:ctrlPr>
                        </m:sSubPr>
                        <m:e>
                          <m:r>
                            <a:rPr lang="en-US" sz="2200" i="1">
                              <a:solidFill>
                                <a:srgbClr val="111111"/>
                              </a:solidFill>
                              <a:latin typeface="Cambria Math" panose="02040503050406030204" pitchFamily="18" charset="0"/>
                            </a:rPr>
                            <m:t xml:space="preserve">λ</m:t>
                          </m:r>
                        </m:e>
                        <m:sub>
                          <m:r>
                            <m:rPr>
                              <m:sty m:val="p"/>
                            </m:rPr>
                            <a:rPr lang="en-US" sz="2200">
                              <a:solidFill>
                                <a:srgbClr val="111111"/>
                              </a:solidFill>
                              <a:latin typeface="Cambria Math" panose="02040503050406030204" pitchFamily="18" charset="0"/>
                            </a:rPr>
                            <m:t xml:space="preserve">reg</m:t>
                          </m:r>
                        </m:sub>
                      </m:sSub>
                      <m:r>
                        <m:rPr>
                          <m:sty m:val="p"/>
                        </m:rPr>
                        <a:rPr lang="en-US" sz="2200">
                          <a:solidFill>
                            <a:srgbClr val="111111"/>
                          </a:solidFill>
                          <a:latin typeface="Cambria Math" panose="02040503050406030204" pitchFamily="18" charset="0"/>
                        </a:rPr>
                        <m:t xml:space="preserve"> </m:t>
                      </m:r>
                      <m:sSub>
                        <m:sSubPr>
                          <m:ctrlPr>
                            <a:rPr lang="en-US" sz="2200" i="1">
                              <a:solidFill>
                                <a:srgbClr val="111111"/>
                              </a:solidFill>
                              <a:latin typeface="Cambria Math" panose="02040503050406030204" pitchFamily="18" charset="0"/>
                            </a:rPr>
                          </m:ctrlPr>
                        </m:sSubPr>
                        <m:e>
                          <m:r>
                            <m:rPr>
                              <m:scr m:val="script"/>
                              <m:sty m:val="p"/>
                            </m:rPr>
                            <a:rPr lang="en-US" sz="2200">
                              <a:solidFill>
                                <a:srgbClr val="111111"/>
                              </a:solidFill>
                              <a:latin typeface="Cambria Math" panose="02040503050406030204" pitchFamily="18" charset="0"/>
                            </a:rPr>
                            <m:t xml:space="preserve">L</m:t>
                          </m:r>
                        </m:e>
                        <m:sub>
                          <m:r>
                            <m:rPr>
                              <m:sty m:val="p"/>
                            </m:rPr>
                            <a:rPr lang="en-US" sz="2200">
                              <a:solidFill>
                                <a:srgbClr val="111111"/>
                              </a:solidFill>
                              <a:latin typeface="Cambria Math" panose="02040503050406030204" pitchFamily="18" charset="0"/>
                            </a:rPr>
                            <m:t xml:space="preserve">reg</m:t>
                          </m:r>
                        </m:sub>
                      </m:sSub>
                    </m:oMath>
                  </m:oMathPara>
                </a14:m>
                <a:endParaRPr lang="en-US" sz="2200"/>
              </a:p>
            </p:txBody>
          </p:sp>
        </mc:Choice>
        <mc:Fallback>
          <p:sp>
            <p:nvSpPr>
              <p:cNvPr id="46" name="Equation"/>
              <p:cNvSpPr txBox="1"/>
              <p:nvPr/>
            </p:nvSpPr>
            <p:spPr>
              <a:xfrm>
                <a:off x="4686300" y="8790220"/>
                <a:ext cx="9372600" cy="609811"/>
              </a:xfrm>
              <a:prstGeom prst="rect">
                <a:avLst/>
              </a:prstGeom>
              <a:blipFill>
                <a:blip r:embed="rId10"/>
                <a:stretch>
                  <a:fillRect/>
                </a:stretch>
              </a:blipFill>
            </p:spPr>
            <p:txBody>
              <a:bodyPr/>
              <a:lstStyle/>
              <a:p>
                <a:endParaRPr lang="en-US"/>
              </a:p>
            </p:txBody>
          </p:sp>
        </mc:Fallback>
      </mc:AlternateContent>
      <p:sp>
        <p:nvSpPr>
          <p:cNvPr id="47" name="TextBox 46"/>
          <p:cNvSpPr txBox="1"/>
          <p:nvPr/>
        </p:nvSpPr>
        <p:spPr>
          <a:xfrm>
            <a:off x="14241780" y="8790220"/>
            <a:ext cx="2743200" cy="609811"/>
          </a:xfrm>
          <a:prstGeom prst="rect">
            <a:avLst/>
          </a:prstGeom>
          <a:noFill/>
        </p:spPr>
        <p:txBody>
          <a:bodyPr anchor="ctr" rtlCol="false" lIns="0" tIns="0" rIns="0" bIns="0" wrap="square"/>
          <a:lstStyle/>
          <a:p>
            <a:pPr algn="r">
              <a:lnSpc>
                <a:spcPts val="1800"/>
              </a:lnSpc>
              <a:spcBef>
                <a:spcPts val="0"/>
              </a:spcBef>
              <a:buNone/>
            </a:pPr>
            <a:r>
              <a:rPr lang="en-US" sz="1500" b="true">
                <a:solidFill>
                  <a:srgbClr val="8A8378"/>
                </a:solidFill>
                <a:latin typeface="Nunito Semi-Bold"/>
                <a:ea typeface="Nunito Semi-Bold"/>
                <a:cs typeface="Nunito Semi-Bold"/>
                <a:sym typeface="Nunito Semi-Bold"/>
              </a:rPr>
              <a:t>BPR + diversity + context + L2</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[20] Harper, F. M. &amp; Konstan, J. A. The MovieLens Datasets: History and Context. ACM TiiS 5(4), 19 (2015).  ·  McAuley, J. et al. Amazon Review Data (Amazon-Book). UCSD (2018).   [27] Holm, S. A Simple Sequentially Rejective Multiple Test Procedure. Scand. J. Statist. 6(2), 65–70 (1979).  ·  Cohen, J. Statistical Power Analysis for the Behavioral Sciences (1988).</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57</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Evaluation Protocol</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graphicFrame>
        <p:nvGraphicFramePr>
          <p:cNvPr id="25" name="Table 24"/>
          <p:cNvGraphicFramePr>
            <a:graphicFrameLocks noGrp="1"/>
          </p:cNvGraphicFramePr>
          <p:nvPr/>
        </p:nvGraphicFramePr>
        <p:xfrm>
          <a:off x="1028700" y="3363722"/>
          <a:ext cx="9966960" cy="5073396"/>
        </p:xfrm>
        <a:graphic>
          <a:graphicData uri="http://schemas.openxmlformats.org/drawingml/2006/table">
            <a:tbl>
              <a:tblPr firstRow="0" bandRow="0" firstCol="0" lastRow="0" lastCol="0" bandCol="0">
                <a:tableStyleId>{2D5ABB26-0587-4C30-8999-92F81FD0307C}</a:tableStyleId>
              </a:tblPr>
              <a:tblGrid>
                <a:gridCol w="2377440"/>
                <a:gridCol w="7589520"/>
              </a:tblGrid>
              <a:tr h="54864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Step</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Setting used in this contribution</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Datasets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MovieLens-1M (dense, 0.0447) and Amazon-Book (sparse, 0.0006); Yelp2018 as a check</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Split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User-level, time-ordered 70 / 10 / 20; leave-one-out target per user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Baselines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MF, NCF, LightGCN, RecDCL, HCCF, HPCF (strongest reference)</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Metrics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NDCG@20 (main), Recall@20, Catalogue Coverage, Intra-List Diversity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48640">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Repeats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Five seeds {42 … 46}; mean ± standard deviation reported</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Statistics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Paired t-test and Wilcoxon on per-user NDCG@20; Holm–Bonferroni; Cohen's d</a:t>
                      </a:r>
                      <a:r>
                        <a:rPr lang="en-US" sz="1700" b="true" baseline="-25000">
                          <a:solidFill>
                            <a:srgbClr val="111111"/>
                          </a:solidFill>
                          <a:latin typeface="Nunito Semi-Bold"/>
                          <a:ea typeface="Nunito Semi-Bold"/>
                          <a:cs typeface="Nunito Semi-Bold"/>
                          <a:sym typeface="Nunito Semi-Bold"/>
                        </a:rPr>
                        <a:t>z</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Ablation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Remove one component at a time: Shapley, hypergraph, attention, context, diversity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6" name="Rounded Rectangle 25"/>
          <p:cNvSpPr/>
          <p:nvPr/>
        </p:nvSpPr>
        <p:spPr>
          <a:xfrm>
            <a:off x="11452860" y="3592322"/>
            <a:ext cx="5806440" cy="5670550"/>
          </a:xfrm>
          <a:prstGeom prst="roundRect">
            <a:avLst>
              <a:gd name="adj" fmla="val 5482"/>
            </a:avLst>
          </a:prstGeom>
          <a:solidFill>
            <a:srgbClr val="4472C4"/>
          </a:solidFill>
          <a:ln>
            <a:noFill/>
          </a:ln>
        </p:spPr>
        <p:txBody>
          <a:bodyPr anchor="ctr" rtlCol="false" lIns="0" tIns="0" rIns="0" bIns="0" wrap="square"/>
          <a:lstStyle/>
          <a:p>
            <a:endParaRPr lang="en-US" sz="1800"/>
          </a:p>
        </p:txBody>
      </p:sp>
      <p:sp>
        <p:nvSpPr>
          <p:cNvPr id="27" name="Rounded Rectangle 26"/>
          <p:cNvSpPr/>
          <p:nvPr/>
        </p:nvSpPr>
        <p:spPr>
          <a:xfrm>
            <a:off x="11910060" y="3354578"/>
            <a:ext cx="3849870"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What counts as success</a:t>
            </a:r>
          </a:p>
        </p:txBody>
      </p:sp>
      <p:sp>
        <p:nvSpPr>
          <p:cNvPr id="28" name="TextBox 27"/>
          <p:cNvSpPr txBox="1"/>
          <p:nvPr/>
        </p:nvSpPr>
        <p:spPr>
          <a:xfrm>
            <a:off x="11910060" y="4232402"/>
            <a:ext cx="4937760" cy="4756150"/>
          </a:xfrm>
          <a:prstGeom prst="rect">
            <a:avLst/>
          </a:prstGeom>
          <a:noFill/>
        </p:spPr>
        <p:txBody>
          <a:bodyPr anchor="t" rtlCol="false" lIns="0" tIns="0" rIns="0" bIns="0" wrap="square"/>
          <a:lstStyle/>
          <a:p>
            <a:pPr algn="l" marL="274320" indent="-274320">
              <a:lnSpc>
                <a:spcPts val="2660"/>
              </a:lnSpc>
              <a:spcBef>
                <a:spcPts val="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Beat HPCF on both datasets</a:t>
            </a:r>
            <a:r>
              <a:rPr lang="en-US" sz="1900" b="true">
                <a:solidFill>
                  <a:srgbClr val="FFFFFF"/>
                </a:solidFill>
                <a:latin typeface="Nunito Semi-Bold"/>
                <a:ea typeface="Nunito Semi-Bold"/>
                <a:cs typeface="Nunito Semi-Bold"/>
                <a:sym typeface="Nunito Semi-Bold"/>
              </a:rPr>
              <a:t> in NDCG@20 and Recall@20, with p &lt; 0.05 after correction.</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Coverage and ILD go up at the same time</a:t>
            </a:r>
            <a:r>
              <a:rPr lang="en-US" sz="1900" b="true">
                <a:solidFill>
                  <a:srgbClr val="FFFFFF"/>
                </a:solidFill>
                <a:latin typeface="Nunito Semi-Bold"/>
                <a:ea typeface="Nunito Semi-Bold"/>
                <a:cs typeface="Nunito Semi-Bold"/>
                <a:sym typeface="Nunito Semi-Bold"/>
              </a:rPr>
              <a:t>: no accuracy-for-diversity trade.</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Every component matters</a:t>
            </a:r>
            <a:r>
              <a:rPr lang="en-US" sz="1900" b="true">
                <a:solidFill>
                  <a:srgbClr val="FFFFFF"/>
                </a:solidFill>
                <a:latin typeface="Nunito Semi-Bold"/>
                <a:ea typeface="Nunito Semi-Bold"/>
                <a:cs typeface="Nunito Semi-Bold"/>
                <a:sym typeface="Nunito Semi-Bold"/>
              </a:rPr>
              <a:t>: removing any one of them lowers NDCG@20.</a:t>
            </a:r>
          </a:p>
          <a:p>
            <a:pPr algn="l" marL="274320" indent="-274320">
              <a:lnSpc>
                <a:spcPts val="2660"/>
              </a:lnSpc>
              <a:spcBef>
                <a:spcPts val="1000"/>
              </a:spcBef>
              <a:buClr>
                <a:srgbClr val="ECC665"/>
              </a:buClr>
              <a:buSzPct val="100000"/>
              <a:buFont typeface="Arial"/>
              <a:buChar char="•"/>
            </a:pPr>
            <a:r>
              <a:rPr lang="en-US" sz="1900" b="true">
                <a:solidFill>
                  <a:srgbClr val="FFFFFF"/>
                </a:solidFill>
                <a:latin typeface="Nunito Bold"/>
                <a:ea typeface="Nunito Bold"/>
                <a:cs typeface="Nunito Bold"/>
                <a:sym typeface="Nunito Bold"/>
              </a:rPr>
              <a:t>Overhead stays bounded</a:t>
            </a:r>
            <a:r>
              <a:rPr lang="en-US" sz="1900" b="true">
                <a:solidFill>
                  <a:srgbClr val="FFFFFF"/>
                </a:solidFill>
                <a:latin typeface="Nunito Semi-Bold"/>
                <a:ea typeface="Nunito Semi-Bold"/>
                <a:cs typeface="Nunito Semi-Bold"/>
                <a:sym typeface="Nunito Semi-Bold"/>
              </a:rPr>
              <a:t>: training time within about 2× HPCF; real-time inference.</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58</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Main Results on MovieLens-1M</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6035040" cy="457327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Bold"/>
                <a:ea typeface="Nunito Bold"/>
                <a:cs typeface="Nunito Bold"/>
                <a:sym typeface="Nunito Bold"/>
              </a:rPr>
              <a:t>DyHuCoG is best on all four metrics</a:t>
            </a:r>
            <a:r>
              <a:rPr lang="en-US" sz="1900" b="true">
                <a:solidFill>
                  <a:srgbClr val="111111"/>
                </a:solidFill>
                <a:latin typeface="Nunito Semi-Bold"/>
                <a:ea typeface="Nunito Semi-Bold"/>
                <a:cs typeface="Nunito Semi-Bold"/>
                <a:sym typeface="Nunito Semi-Bold"/>
              </a:rPr>
              <a:t> against six baselines from four model families.</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NDCG@20 </a:t>
            </a:r>
            <a:r>
              <a:rPr lang="en-US" sz="1900" b="true">
                <a:solidFill>
                  <a:srgbClr val="111111"/>
                </a:solidFill>
                <a:latin typeface="Nunito Bold"/>
                <a:ea typeface="Nunito Bold"/>
                <a:cs typeface="Nunito Bold"/>
                <a:sym typeface="Nunito Bold"/>
              </a:rPr>
              <a:t>0.2775 vs 0.2528</a:t>
            </a:r>
            <a:r>
              <a:rPr lang="en-US" sz="1900" b="true">
                <a:solidFill>
                  <a:srgbClr val="111111"/>
                </a:solidFill>
                <a:latin typeface="Nunito Semi-Bold"/>
                <a:ea typeface="Nunito Semi-Bold"/>
                <a:cs typeface="Nunito Semi-Bold"/>
                <a:sym typeface="Nunito Semi-Bold"/>
              </a:rPr>
              <a:t> for HPCF (+9.8 %); Recall@20 </a:t>
            </a:r>
            <a:r>
              <a:rPr lang="en-US" sz="1900" b="true">
                <a:solidFill>
                  <a:srgbClr val="111111"/>
                </a:solidFill>
                <a:latin typeface="Nunito Bold"/>
                <a:ea typeface="Nunito Bold"/>
                <a:cs typeface="Nunito Bold"/>
                <a:sym typeface="Nunito Bold"/>
              </a:rPr>
              <a:t>0.2362 vs 0.2098</a:t>
            </a:r>
            <a:r>
              <a:rPr lang="en-US" sz="1900" b="true">
                <a:solidFill>
                  <a:srgbClr val="111111"/>
                </a:solidFill>
                <a:latin typeface="Nunito Semi-Bold"/>
                <a:ea typeface="Nunito Semi-Bold"/>
                <a:cs typeface="Nunito Semi-Bold"/>
                <a:sym typeface="Nunito Semi-Bold"/>
              </a:rPr>
              <a:t> (+12.6 %).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Coverage </a:t>
            </a:r>
            <a:r>
              <a:rPr lang="en-US" sz="1900" b="true">
                <a:solidFill>
                  <a:srgbClr val="111111"/>
                </a:solidFill>
                <a:latin typeface="Nunito Bold"/>
                <a:ea typeface="Nunito Bold"/>
                <a:cs typeface="Nunito Bold"/>
                <a:sym typeface="Nunito Bold"/>
              </a:rPr>
              <a:t>0.397 vs 0.342</a:t>
            </a:r>
            <a:r>
              <a:rPr lang="en-US" sz="1900" b="true">
                <a:solidFill>
                  <a:srgbClr val="111111"/>
                </a:solidFill>
                <a:latin typeface="Nunito Semi-Bold"/>
                <a:ea typeface="Nunito Semi-Bold"/>
                <a:cs typeface="Nunito Semi-Bold"/>
                <a:sym typeface="Nunito Semi-Bold"/>
              </a:rPr>
              <a:t> (+16.1 %) and ILD </a:t>
            </a:r>
            <a:r>
              <a:rPr lang="en-US" sz="1900" b="true">
                <a:solidFill>
                  <a:srgbClr val="111111"/>
                </a:solidFill>
                <a:latin typeface="Nunito Bold"/>
                <a:ea typeface="Nunito Bold"/>
                <a:cs typeface="Nunito Bold"/>
                <a:sym typeface="Nunito Bold"/>
              </a:rPr>
              <a:t>0.516 vs 0.461</a:t>
            </a:r>
            <a:r>
              <a:rPr lang="en-US" sz="1900" b="true">
                <a:solidFill>
                  <a:srgbClr val="111111"/>
                </a:solidFill>
                <a:latin typeface="Nunito Semi-Bold"/>
                <a:ea typeface="Nunito Semi-Bold"/>
                <a:cs typeface="Nunito Semi-Bold"/>
                <a:sym typeface="Nunito Semi-Bold"/>
              </a:rPr>
              <a:t> (+11.9 %): more of the catalogue reaches users.</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The gap widens from classical (MF) to graph (LightGCN) to hypergraph (HCCF, HPCF) models, and DyHuCoG adds another step on top of the strongest.</a:t>
            </a:r>
          </a:p>
        </p:txBody>
      </p:sp>
      <p:sp>
        <p:nvSpPr>
          <p:cNvPr id="26" name="Rounded Rectangle 25"/>
          <p:cNvSpPr/>
          <p:nvPr/>
        </p:nvSpPr>
        <p:spPr>
          <a:xfrm>
            <a:off x="1028700" y="8119872"/>
            <a:ext cx="6035040" cy="1097280"/>
          </a:xfrm>
          <a:prstGeom prst="roundRect">
            <a:avLst>
              <a:gd name="adj" fmla="val 25000"/>
            </a:avLst>
          </a:prstGeom>
          <a:solidFill>
            <a:srgbClr val="4472C4"/>
          </a:solidFill>
          <a:ln>
            <a:noFill/>
          </a:ln>
        </p:spPr>
        <p:txBody>
          <a:bodyPr anchor="ctr" rtlCol="false" lIns="137160" tIns="91440" rIns="137160" bIns="91440" wrap="square"/>
          <a:lstStyle/>
          <a:p>
            <a:pPr algn="ctr">
              <a:lnSpc>
                <a:spcPts val="3300"/>
              </a:lnSpc>
              <a:spcBef>
                <a:spcPts val="0"/>
              </a:spcBef>
              <a:buNone/>
            </a:pPr>
            <a:r>
              <a:rPr lang="en-US" sz="3000" b="true">
                <a:solidFill>
                  <a:srgbClr val="ECC665"/>
                </a:solidFill>
                <a:latin typeface="Nunito Ultra-Bold"/>
                <a:ea typeface="Nunito Ultra-Bold"/>
                <a:cs typeface="Nunito Ultra-Bold"/>
                <a:sym typeface="Nunito Ultra-Bold"/>
              </a:rPr>
              <a:t>+9.8 %  ·  +12.6 %</a:t>
            </a:r>
          </a:p>
          <a:p>
            <a:pPr algn="ctr">
              <a:lnSpc>
                <a:spcPts val="1875"/>
              </a:lnSpc>
              <a:spcBef>
                <a:spcPts val="400"/>
              </a:spcBef>
              <a:buNone/>
            </a:pPr>
            <a:r>
              <a:rPr lang="en-US" sz="1500" b="true">
                <a:solidFill>
                  <a:srgbClr val="FFFFFF"/>
                </a:solidFill>
                <a:latin typeface="Nunito Semi-Bold"/>
                <a:ea typeface="Nunito Semi-Bold"/>
                <a:cs typeface="Nunito Semi-Bold"/>
                <a:sym typeface="Nunito Semi-Bold"/>
              </a:rPr>
              <a:t>NDCG@20 · Recall@20 over HPCF</a:t>
            </a:r>
          </a:p>
        </p:txBody>
      </p:sp>
      <p:graphicFrame>
        <p:nvGraphicFramePr>
          <p:cNvPr id="27" name="Table 26"/>
          <p:cNvGraphicFramePr>
            <a:graphicFrameLocks noGrp="1"/>
          </p:cNvGraphicFramePr>
          <p:nvPr/>
        </p:nvGraphicFramePr>
        <p:xfrm>
          <a:off x="7520940" y="3363722"/>
          <a:ext cx="9738358" cy="4828032"/>
        </p:xfrm>
        <a:graphic>
          <a:graphicData uri="http://schemas.openxmlformats.org/drawingml/2006/table">
            <a:tbl>
              <a:tblPr firstRow="0" bandRow="0" firstCol="0" lastRow="0" lastCol="0" bandCol="0">
                <a:tableStyleId>{2D5ABB26-0587-4C30-8999-92F81FD0307C}</a:tableStyleId>
              </a:tblPr>
              <a:tblGrid>
                <a:gridCol w="2217646"/>
                <a:gridCol w="1928388"/>
                <a:gridCol w="1928388"/>
                <a:gridCol w="1831968"/>
                <a:gridCol w="1831968"/>
              </a:tblGrid>
              <a:tr h="60350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Model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Recall@20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Coverage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ILD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0.1200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0.0880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0.239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0.367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0.1300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0.1100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0.398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LightGCN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0.2130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0.1790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0.308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0.423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RecDCL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0.2296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0.1918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0.324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0.445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HCCF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0.2050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0.327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0.448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HPCF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0.2528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0.2098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0.342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0.461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603504">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0.2775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0.2362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0.397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0.516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28" name="TextBox 27"/>
          <p:cNvSpPr txBox="1"/>
          <p:nvPr/>
        </p:nvSpPr>
        <p:spPr>
          <a:xfrm>
            <a:off x="7520940" y="8301482"/>
            <a:ext cx="9738360" cy="54864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Semi-Bold"/>
                <a:ea typeface="Nunito Semi-Bold"/>
                <a:cs typeface="Nunito Semi-Bold"/>
                <a:sym typeface="Nunito Semi-Bold"/>
              </a:rPr>
              <a:t>Table 7.1 (thesis): mean over five seeds; ± standard deviation in the backup slides. Best value per column in the bold row.</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59</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Main Results on Amazon-Book</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63722"/>
            <a:ext cx="6035040" cy="4573270"/>
          </a:xfrm>
          <a:prstGeom prst="rect">
            <a:avLst/>
          </a:prstGeom>
          <a:noFill/>
        </p:spPr>
        <p:txBody>
          <a:bodyPr anchor="t" rtlCol="false" lIns="0" tIns="0" rIns="0" bIns="0" wrap="square"/>
          <a:lstStyle/>
          <a:p>
            <a:pPr algn="l" marL="274320" indent="-274320">
              <a:lnSpc>
                <a:spcPts val="2660"/>
              </a:lnSpc>
              <a:spcBef>
                <a:spcPts val="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Same picture on the </a:t>
            </a:r>
            <a:r>
              <a:rPr lang="en-US" sz="1900" b="true">
                <a:solidFill>
                  <a:srgbClr val="111111"/>
                </a:solidFill>
                <a:latin typeface="Nunito Bold"/>
                <a:ea typeface="Nunito Bold"/>
                <a:cs typeface="Nunito Bold"/>
                <a:sym typeface="Nunito Bold"/>
              </a:rPr>
              <a:t>sparse</a:t>
            </a:r>
            <a:r>
              <a:rPr lang="en-US" sz="1900" b="true">
                <a:solidFill>
                  <a:srgbClr val="111111"/>
                </a:solidFill>
                <a:latin typeface="Nunito Semi-Bold"/>
                <a:ea typeface="Nunito Semi-Bold"/>
                <a:cs typeface="Nunito Semi-Bold"/>
                <a:sym typeface="Nunito Semi-Bold"/>
              </a:rPr>
              <a:t> dataset (density 0.0006), with </a:t>
            </a:r>
            <a:r>
              <a:rPr lang="en-US" sz="1900" b="true">
                <a:solidFill>
                  <a:srgbClr val="111111"/>
                </a:solidFill>
                <a:latin typeface="Nunito Bold"/>
                <a:ea typeface="Nunito Bold"/>
                <a:cs typeface="Nunito Bold"/>
                <a:sym typeface="Nunito Bold"/>
              </a:rPr>
              <a:t>larger relative gains</a:t>
            </a:r>
            <a:r>
              <a:rPr lang="en-US" sz="1900" b="true">
                <a:solidFill>
                  <a:srgbClr val="111111"/>
                </a:solidFill>
                <a:latin typeface="Nunito Semi-Bold"/>
                <a:ea typeface="Nunito Semi-Bold"/>
                <a:cs typeface="Nunito Semi-Bold"/>
                <a:sym typeface="Nunito Semi-Bold"/>
              </a:rPr>
              <a:t>.</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NDCG@20 </a:t>
            </a:r>
            <a:r>
              <a:rPr lang="en-US" sz="1900" b="true">
                <a:solidFill>
                  <a:srgbClr val="111111"/>
                </a:solidFill>
                <a:latin typeface="Nunito Bold"/>
                <a:ea typeface="Nunito Bold"/>
                <a:cs typeface="Nunito Bold"/>
                <a:sym typeface="Nunito Bold"/>
              </a:rPr>
              <a:t>0.0306 vs 0.0270</a:t>
            </a:r>
            <a:r>
              <a:rPr lang="en-US" sz="1900" b="true">
                <a:solidFill>
                  <a:srgbClr val="111111"/>
                </a:solidFill>
                <a:latin typeface="Nunito Semi-Bold"/>
                <a:ea typeface="Nunito Semi-Bold"/>
                <a:cs typeface="Nunito Semi-Bold"/>
                <a:sym typeface="Nunito Semi-Bold"/>
              </a:rPr>
              <a:t> for HPCF (+13.3 %); Recall@20 </a:t>
            </a:r>
            <a:r>
              <a:rPr lang="en-US" sz="1900" b="true">
                <a:solidFill>
                  <a:srgbClr val="111111"/>
                </a:solidFill>
                <a:latin typeface="Nunito Bold"/>
                <a:ea typeface="Nunito Bold"/>
                <a:cs typeface="Nunito Bold"/>
                <a:sym typeface="Nunito Bold"/>
              </a:rPr>
              <a:t>0.0417 vs 0.0359</a:t>
            </a:r>
            <a:r>
              <a:rPr lang="en-US" sz="1900" b="true">
                <a:solidFill>
                  <a:srgbClr val="111111"/>
                </a:solidFill>
                <a:latin typeface="Nunito Semi-Bold"/>
                <a:ea typeface="Nunito Semi-Bold"/>
                <a:cs typeface="Nunito Semi-Bold"/>
                <a:sym typeface="Nunito Semi-Bold"/>
              </a:rPr>
              <a:t> (+16.2 %).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Coverage </a:t>
            </a:r>
            <a:r>
              <a:rPr lang="en-US" sz="1900" b="true">
                <a:solidFill>
                  <a:srgbClr val="111111"/>
                </a:solidFill>
                <a:latin typeface="Nunito Bold"/>
                <a:ea typeface="Nunito Bold"/>
                <a:cs typeface="Nunito Bold"/>
                <a:sym typeface="Nunito Bold"/>
              </a:rPr>
              <a:t>0.336 vs 0.259</a:t>
            </a:r>
            <a:r>
              <a:rPr lang="en-US" sz="1900" b="true">
                <a:solidFill>
                  <a:srgbClr val="111111"/>
                </a:solidFill>
                <a:latin typeface="Nunito Semi-Bold"/>
                <a:ea typeface="Nunito Semi-Bold"/>
                <a:cs typeface="Nunito Semi-Bold"/>
                <a:sym typeface="Nunito Semi-Bold"/>
              </a:rPr>
              <a:t> (+29.7 %) and ILD </a:t>
            </a:r>
            <a:r>
              <a:rPr lang="en-US" sz="1900" b="true">
                <a:solidFill>
                  <a:srgbClr val="111111"/>
                </a:solidFill>
                <a:latin typeface="Nunito Bold"/>
                <a:ea typeface="Nunito Bold"/>
                <a:cs typeface="Nunito Bold"/>
                <a:sym typeface="Nunito Bold"/>
              </a:rPr>
              <a:t>0.602 vs 0.535</a:t>
            </a:r>
            <a:r>
              <a:rPr lang="en-US" sz="1900" b="true">
                <a:solidFill>
                  <a:srgbClr val="111111"/>
                </a:solidFill>
                <a:latin typeface="Nunito Semi-Bold"/>
                <a:ea typeface="Nunito Semi-Bold"/>
                <a:cs typeface="Nunito Semi-Bold"/>
                <a:sym typeface="Nunito Semi-Bold"/>
              </a:rPr>
              <a:t> (+12.5 %).</a:t>
            </a:r>
          </a:p>
          <a:p>
            <a:pPr algn="l" marL="274320" indent="-274320">
              <a:lnSpc>
                <a:spcPts val="2660"/>
              </a:lnSpc>
              <a:spcBef>
                <a:spcPts val="1000"/>
              </a:spcBef>
              <a:buClr>
                <a:srgbClr val="1F7A8C"/>
              </a:buClr>
              <a:buSzPct val="100000"/>
              <a:buFont typeface="Arial"/>
              <a:buChar char="•"/>
            </a:pPr>
            <a:r>
              <a:rPr lang="en-US" sz="1900" b="true">
                <a:solidFill>
                  <a:srgbClr val="111111"/>
                </a:solidFill>
                <a:latin typeface="Nunito Semi-Bold"/>
                <a:ea typeface="Nunito Semi-Bold"/>
                <a:cs typeface="Nunito Semi-Bold"/>
                <a:sym typeface="Nunito Semi-Bold"/>
              </a:rPr>
              <a:t>Absolute values are low for every model because the matrix is almost empty; what matters is the </a:t>
            </a:r>
            <a:r>
              <a:rPr lang="en-US" sz="1900" b="true">
                <a:solidFill>
                  <a:srgbClr val="111111"/>
                </a:solidFill>
                <a:latin typeface="Nunito Bold"/>
                <a:ea typeface="Nunito Bold"/>
                <a:cs typeface="Nunito Bold"/>
                <a:sym typeface="Nunito Bold"/>
              </a:rPr>
              <a:t>consistent ordering and the widening gap</a:t>
            </a:r>
            <a:r>
              <a:rPr lang="en-US" sz="1900" b="true">
                <a:solidFill>
                  <a:srgbClr val="111111"/>
                </a:solidFill>
                <a:latin typeface="Nunito Semi-Bold"/>
                <a:ea typeface="Nunito Semi-Bold"/>
                <a:cs typeface="Nunito Semi-Bold"/>
                <a:sym typeface="Nunito Semi-Bold"/>
              </a:rPr>
              <a:t> where data are weakest.</a:t>
            </a:r>
          </a:p>
        </p:txBody>
      </p:sp>
      <p:sp>
        <p:nvSpPr>
          <p:cNvPr id="26" name="Rounded Rectangle 25"/>
          <p:cNvSpPr/>
          <p:nvPr/>
        </p:nvSpPr>
        <p:spPr>
          <a:xfrm>
            <a:off x="1028700" y="8119872"/>
            <a:ext cx="6035040" cy="1097280"/>
          </a:xfrm>
          <a:prstGeom prst="roundRect">
            <a:avLst>
              <a:gd name="adj" fmla="val 25000"/>
            </a:avLst>
          </a:prstGeom>
          <a:solidFill>
            <a:srgbClr val="4472C4"/>
          </a:solidFill>
          <a:ln>
            <a:noFill/>
          </a:ln>
        </p:spPr>
        <p:txBody>
          <a:bodyPr anchor="ctr" rtlCol="false" lIns="137160" tIns="91440" rIns="137160" bIns="91440" wrap="square"/>
          <a:lstStyle/>
          <a:p>
            <a:pPr algn="ctr">
              <a:lnSpc>
                <a:spcPts val="3300"/>
              </a:lnSpc>
              <a:spcBef>
                <a:spcPts val="0"/>
              </a:spcBef>
              <a:buNone/>
            </a:pPr>
            <a:r>
              <a:rPr lang="en-US" sz="3000" b="true">
                <a:solidFill>
                  <a:srgbClr val="ECC665"/>
                </a:solidFill>
                <a:latin typeface="Nunito Ultra-Bold"/>
                <a:ea typeface="Nunito Ultra-Bold"/>
                <a:cs typeface="Nunito Ultra-Bold"/>
                <a:sym typeface="Nunito Ultra-Bold"/>
              </a:rPr>
              <a:t>+13.3 %  ·  +16.2 %</a:t>
            </a:r>
          </a:p>
          <a:p>
            <a:pPr algn="ctr">
              <a:lnSpc>
                <a:spcPts val="1875"/>
              </a:lnSpc>
              <a:spcBef>
                <a:spcPts val="400"/>
              </a:spcBef>
              <a:buNone/>
            </a:pPr>
            <a:r>
              <a:rPr lang="en-US" sz="1500" b="true">
                <a:solidFill>
                  <a:srgbClr val="FFFFFF"/>
                </a:solidFill>
                <a:latin typeface="Nunito Semi-Bold"/>
                <a:ea typeface="Nunito Semi-Bold"/>
                <a:cs typeface="Nunito Semi-Bold"/>
                <a:sym typeface="Nunito Semi-Bold"/>
              </a:rPr>
              <a:t>NDCG@20 · Recall@20 over HPCF</a:t>
            </a:r>
          </a:p>
        </p:txBody>
      </p:sp>
      <p:graphicFrame>
        <p:nvGraphicFramePr>
          <p:cNvPr id="27" name="Table 26"/>
          <p:cNvGraphicFramePr>
            <a:graphicFrameLocks noGrp="1"/>
          </p:cNvGraphicFramePr>
          <p:nvPr/>
        </p:nvGraphicFramePr>
        <p:xfrm>
          <a:off x="7520940" y="3363722"/>
          <a:ext cx="9738358" cy="4828032"/>
        </p:xfrm>
        <a:graphic>
          <a:graphicData uri="http://schemas.openxmlformats.org/drawingml/2006/table">
            <a:tbl>
              <a:tblPr firstRow="0" bandRow="0" firstCol="0" lastRow="0" lastCol="0" bandCol="0">
                <a:tableStyleId>{2D5ABB26-0587-4C30-8999-92F81FD0307C}</a:tableStyleId>
              </a:tblPr>
              <a:tblGrid>
                <a:gridCol w="2217646"/>
                <a:gridCol w="1928388"/>
                <a:gridCol w="1928388"/>
                <a:gridCol w="1831968"/>
                <a:gridCol w="1831968"/>
              </a:tblGrid>
              <a:tr h="603504">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Model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Recall@20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Coverage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ILD</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MF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0.0049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0.168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NCF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0.0085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0.193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0.458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LightGCN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0.0320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0.491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RecDCL</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0.0346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0.512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HCCF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0.0344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0.248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0.520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603504">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HPCF</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0.0270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0.0359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0.535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603504">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0.0306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0.0417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0.336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0.602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28" name="TextBox 27"/>
          <p:cNvSpPr txBox="1"/>
          <p:nvPr/>
        </p:nvSpPr>
        <p:spPr>
          <a:xfrm>
            <a:off x="7520940" y="8301482"/>
            <a:ext cx="9738360" cy="54864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Semi-Bold"/>
                <a:ea typeface="Nunito Semi-Bold"/>
                <a:cs typeface="Nunito Semi-Bold"/>
                <a:sym typeface="Nunito Semi-Bold"/>
              </a:rPr>
              <a:t>Table 7.1 (thesis): mean over five seeds; ± standard deviation in the backup slides. Best value per column in the bold row.</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60</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Ablation: Every Component Contributes</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TextBox 24"/>
          <p:cNvSpPr txBox="1"/>
          <p:nvPr/>
        </p:nvSpPr>
        <p:spPr>
          <a:xfrm>
            <a:off x="1028700" y="3318002"/>
            <a:ext cx="78867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TABLE 7.2  ·  MOVIELENS-1M</a:t>
            </a:r>
          </a:p>
        </p:txBody>
      </p:sp>
      <p:graphicFrame>
        <p:nvGraphicFramePr>
          <p:cNvPr id="26" name="Table 25"/>
          <p:cNvGraphicFramePr>
            <a:graphicFrameLocks noGrp="1"/>
          </p:cNvGraphicFramePr>
          <p:nvPr/>
        </p:nvGraphicFramePr>
        <p:xfrm>
          <a:off x="1028700" y="3683762"/>
          <a:ext cx="7886698" cy="3214116"/>
        </p:xfrm>
        <a:graphic>
          <a:graphicData uri="http://schemas.openxmlformats.org/drawingml/2006/table">
            <a:tbl>
              <a:tblPr firstRow="0" bandRow="0" firstCol="0" lastRow="0" lastCol="0" bandCol="0">
                <a:tableStyleId>{2D5ABB26-0587-4C30-8999-92F81FD0307C}</a:tableStyleId>
              </a:tblPr>
              <a:tblGrid>
                <a:gridCol w="3836772"/>
                <a:gridCol w="2131540"/>
                <a:gridCol w="1918386"/>
              </a:tblGrid>
              <a:tr h="457200">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Variant</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Drop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9486">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Full 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0.2775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Shapley value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−4.6 %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Hypergraph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0.2586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Attention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0.2678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−3.5 %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9486">
                <a:tc>
                  <a:txBody>
                    <a:bodyPr anchor="ctr" rtlCol="false" lIns="0" tIns="0" rIns="0" bIns="0" wrap="square"/>
                    <a:lstStyle/>
                    <a:p>
                      <a:pPr algn="l">
                        <a:lnSpc>
                          <a:spcPts val="2210"/>
                        </a:lnSpc>
                        <a:spcBef>
                          <a:spcPts val="0"/>
                        </a:spcBef>
                        <a:buNone/>
                      </a:pPr>
                      <a:r>
                        <a:rPr lang="en-US" sz="1700" b="1">
                          <a:solidFill>
                            <a:srgbClr val="1F7A8C"/>
                          </a:solidFill>
                          <a:latin typeface="Nunito Bold"/>
                          <a:ea typeface="Nunito Bold"/>
                          <a:cs typeface="Nunito Bold"/>
                          <a:sym typeface="Nunito Bold"/>
                        </a:rPr>
                        <a:t>w/o Context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0.2547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−8.2 %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Diversity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0.2614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−5.8 %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27" name="TextBox 26"/>
          <p:cNvSpPr txBox="1"/>
          <p:nvPr/>
        </p:nvSpPr>
        <p:spPr>
          <a:xfrm>
            <a:off x="9372600" y="3318002"/>
            <a:ext cx="78867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AMAZON-BOOK</a:t>
            </a:r>
          </a:p>
        </p:txBody>
      </p:sp>
      <p:graphicFrame>
        <p:nvGraphicFramePr>
          <p:cNvPr id="28" name="Table 27"/>
          <p:cNvGraphicFramePr>
            <a:graphicFrameLocks noGrp="1"/>
          </p:cNvGraphicFramePr>
          <p:nvPr/>
        </p:nvGraphicFramePr>
        <p:xfrm>
          <a:off x="9372600" y="3683762"/>
          <a:ext cx="7886698" cy="3214116"/>
        </p:xfrm>
        <a:graphic>
          <a:graphicData uri="http://schemas.openxmlformats.org/drawingml/2006/table">
            <a:tbl>
              <a:tblPr firstRow="0" bandRow="0" firstCol="0" lastRow="0" lastCol="0" bandCol="0">
                <a:tableStyleId>{2D5ABB26-0587-4C30-8999-92F81FD0307C}</a:tableStyleId>
              </a:tblPr>
              <a:tblGrid>
                <a:gridCol w="3836772"/>
                <a:gridCol w="2131540"/>
                <a:gridCol w="1918386"/>
              </a:tblGrid>
              <a:tr h="457200">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Variant</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NDCG@20</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Drop</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9486">
                <a:tc>
                  <a:txBody>
                    <a:bodyPr anchor="ctr" rtlCol="false" lIns="0" tIns="0" rIns="0" bIns="0" wrap="square"/>
                    <a:lstStyle/>
                    <a:p>
                      <a:pPr algn="l">
                        <a:lnSpc>
                          <a:spcPts val="2210"/>
                        </a:lnSpc>
                        <a:spcBef>
                          <a:spcPts val="0"/>
                        </a:spcBef>
                        <a:buNone/>
                      </a:pPr>
                      <a:r>
                        <a:rPr lang="en-US" sz="1700" b="1">
                          <a:solidFill>
                            <a:srgbClr val="111111"/>
                          </a:solidFill>
                          <a:latin typeface="Nunito Bold"/>
                          <a:ea typeface="Nunito Bold"/>
                          <a:cs typeface="Nunito Bold"/>
                          <a:sym typeface="Nunito Bold"/>
                        </a:rPr>
                        <a:t>Full DyHuCoG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0.0306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2210"/>
                        </a:lnSpc>
                        <a:spcBef>
                          <a:spcPts val="0"/>
                        </a:spcBef>
                        <a:buNone/>
                      </a:pPr>
                      <a:r>
                        <a:rPr lang="en-US" sz="1700" b="1">
                          <a:solidFill>
                            <a:srgbClr val="111111"/>
                          </a:solidFill>
                          <a:latin typeface="Nunito Semi-Bold"/>
                          <a:ea typeface="Nunito Semi-Bold"/>
                          <a:cs typeface="Nunito Semi-Bold"/>
                          <a:sym typeface="Nunito Semi-Bold"/>
                        </a:rPr>
                        <a: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Shapley value</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0.0287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−6.1 %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Hypergraph</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0.0279</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−8.9 %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Attention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0.0295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−3.5 %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9486">
                <a:tc>
                  <a:txBody>
                    <a:bodyPr anchor="ctr" rtlCol="false" lIns="0" tIns="0" rIns="0" bIns="0" wrap="square"/>
                    <a:lstStyle/>
                    <a:p>
                      <a:pPr algn="l">
                        <a:lnSpc>
                          <a:spcPts val="2210"/>
                        </a:lnSpc>
                        <a:spcBef>
                          <a:spcPts val="0"/>
                        </a:spcBef>
                        <a:buNone/>
                      </a:pPr>
                      <a:r>
                        <a:rPr lang="en-US" sz="1700" b="1">
                          <a:solidFill>
                            <a:srgbClr val="1F7A8C"/>
                          </a:solidFill>
                          <a:latin typeface="Nunito Bold"/>
                          <a:ea typeface="Nunito Bold"/>
                          <a:cs typeface="Nunito Bold"/>
                          <a:sym typeface="Nunito Bold"/>
                        </a:rPr>
                        <a:t>w/o Context</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0.0272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1">
                          <a:solidFill>
                            <a:srgbClr val="1F7A8C"/>
                          </a:solidFill>
                          <a:latin typeface="Nunito Semi-Bold"/>
                          <a:ea typeface="Nunito Semi-Bold"/>
                          <a:cs typeface="Nunito Semi-Bold"/>
                          <a:sym typeface="Nunito Semi-Bold"/>
                        </a:rPr>
                        <a:t>−11.0 %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9486">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w/o Diversity</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0.0288</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−5.8 %</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29" name="Rounded Rectangle 28"/>
          <p:cNvSpPr/>
          <p:nvPr/>
        </p:nvSpPr>
        <p:spPr>
          <a:xfrm>
            <a:off x="1028700" y="7537958"/>
            <a:ext cx="16230600" cy="1724914"/>
          </a:xfrm>
          <a:prstGeom prst="roundRect">
            <a:avLst>
              <a:gd name="adj" fmla="val 18023"/>
            </a:avLst>
          </a:prstGeom>
          <a:solidFill>
            <a:srgbClr val="F6ECDF"/>
          </a:solidFill>
          <a:ln>
            <a:noFill/>
          </a:ln>
        </p:spPr>
        <p:txBody>
          <a:bodyPr anchor="ctr" rtlCol="false" lIns="0" tIns="0" rIns="0" bIns="0" wrap="square"/>
          <a:lstStyle/>
          <a:p>
            <a:endParaRPr lang="en-US" sz="1800"/>
          </a:p>
        </p:txBody>
      </p:sp>
      <p:sp>
        <p:nvSpPr>
          <p:cNvPr id="30" name="Rounded Rectangle 29"/>
          <p:cNvSpPr/>
          <p:nvPr/>
        </p:nvSpPr>
        <p:spPr>
          <a:xfrm>
            <a:off x="1485900" y="7300214"/>
            <a:ext cx="1757407"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Reading</a:t>
            </a:r>
          </a:p>
        </p:txBody>
      </p:sp>
      <p:sp>
        <p:nvSpPr>
          <p:cNvPr id="31" name="TextBox 30"/>
          <p:cNvSpPr txBox="1"/>
          <p:nvPr/>
        </p:nvSpPr>
        <p:spPr>
          <a:xfrm>
            <a:off x="1531620" y="8086598"/>
            <a:ext cx="15270480" cy="993394"/>
          </a:xfrm>
          <a:prstGeom prst="rect">
            <a:avLst/>
          </a:prstGeom>
          <a:noFill/>
        </p:spPr>
        <p:txBody>
          <a:bodyPr anchor="t" rtlCol="false" lIns="0" tIns="0" rIns="0" bIns="0" wrap="square"/>
          <a:lstStyle/>
          <a:p>
            <a:pPr algn="l" marL="274320" indent="-274320">
              <a:lnSpc>
                <a:spcPts val="2142"/>
              </a:lnSpc>
              <a:spcBef>
                <a:spcPts val="0"/>
              </a:spcBef>
              <a:buClr>
                <a:srgbClr val="1F7A8C"/>
              </a:buClr>
              <a:buSzPct val="100000"/>
              <a:buFont typeface="Arial"/>
              <a:buChar char="•"/>
            </a:pPr>
            <a:r>
              <a:rPr lang="en-US" sz="1530" b="true">
                <a:solidFill>
                  <a:srgbClr val="111111"/>
                </a:solidFill>
                <a:latin typeface="Nunito Bold"/>
                <a:ea typeface="Nunito Bold"/>
                <a:cs typeface="Nunito Bold"/>
                <a:sym typeface="Nunito Bold"/>
              </a:rPr>
              <a:t>Context</a:t>
            </a:r>
            <a:r>
              <a:rPr lang="en-US" sz="1530" b="true">
                <a:solidFill>
                  <a:srgbClr val="111111"/>
                </a:solidFill>
                <a:latin typeface="Nunito Semi-Bold"/>
                <a:ea typeface="Nunito Semi-Bold"/>
                <a:cs typeface="Nunito Semi-Bold"/>
                <a:sym typeface="Nunito Semi-Bold"/>
              </a:rPr>
              <a:t> is the most important component (−8.2 % / −11.0 %), then the </a:t>
            </a:r>
            <a:r>
              <a:rPr lang="en-US" sz="1530" b="true">
                <a:solidFill>
                  <a:srgbClr val="111111"/>
                </a:solidFill>
                <a:latin typeface="Nunito Bold"/>
                <a:ea typeface="Nunito Bold"/>
                <a:cs typeface="Nunito Bold"/>
                <a:sym typeface="Nunito Bold"/>
              </a:rPr>
              <a:t>hypergraph</a:t>
            </a:r>
            <a:r>
              <a:rPr lang="en-US" sz="1530" b="true">
                <a:solidFill>
                  <a:srgbClr val="111111"/>
                </a:solidFill>
                <a:latin typeface="Nunito Semi-Bold"/>
                <a:ea typeface="Nunito Semi-Bold"/>
                <a:cs typeface="Nunito Semi-Bold"/>
                <a:sym typeface="Nunito Semi-Bold"/>
              </a:rPr>
              <a:t> structure (−6.8 % / −8.9 %).</a:t>
            </a:r>
          </a:p>
          <a:p>
            <a:pPr algn="l" marL="274320" indent="-274320">
              <a:lnSpc>
                <a:spcPts val="2142"/>
              </a:lnSpc>
              <a:spcBef>
                <a:spcPts val="510"/>
              </a:spcBef>
              <a:buClr>
                <a:srgbClr val="1F7A8C"/>
              </a:buClr>
              <a:buSzPct val="100000"/>
              <a:buFont typeface="Arial"/>
              <a:buChar char="•"/>
            </a:pPr>
            <a:r>
              <a:rPr lang="en-US" sz="1530" b="true">
                <a:solidFill>
                  <a:srgbClr val="111111"/>
                </a:solidFill>
                <a:latin typeface="Nunito Semi-Bold"/>
                <a:ea typeface="Nunito Semi-Bold"/>
                <a:cs typeface="Nunito Semi-Bold"/>
                <a:sym typeface="Nunito Semi-Bold"/>
              </a:rPr>
              <a:t>Removing </a:t>
            </a:r>
            <a:r>
              <a:rPr lang="en-US" sz="1530" b="true">
                <a:solidFill>
                  <a:srgbClr val="111111"/>
                </a:solidFill>
                <a:latin typeface="Nunito Bold"/>
                <a:ea typeface="Nunito Bold"/>
                <a:cs typeface="Nunito Bold"/>
                <a:sym typeface="Nunito Bold"/>
              </a:rPr>
              <a:t>Shapley</a:t>
            </a:r>
            <a:r>
              <a:rPr lang="en-US" sz="1530" b="true">
                <a:solidFill>
                  <a:srgbClr val="111111"/>
                </a:solidFill>
                <a:latin typeface="Nunito Semi-Bold"/>
                <a:ea typeface="Nunito Semi-Bold"/>
                <a:cs typeface="Nunito Semi-Bold"/>
                <a:sym typeface="Nunito Semi-Bold"/>
              </a:rPr>
              <a:t> weighting costs 4.6 % / 6.1 %: more on the sparser dataset, where fair credit for weak signals matters most.</a:t>
            </a:r>
          </a:p>
          <a:p>
            <a:pPr algn="l" marL="274320" indent="-274320">
              <a:lnSpc>
                <a:spcPts val="2142"/>
              </a:lnSpc>
              <a:spcBef>
                <a:spcPts val="510"/>
              </a:spcBef>
              <a:buClr>
                <a:srgbClr val="1F7A8C"/>
              </a:buClr>
              <a:buSzPct val="100000"/>
              <a:buFont typeface="Arial"/>
              <a:buChar char="•"/>
            </a:pPr>
            <a:r>
              <a:rPr lang="en-US" sz="1530" b="true">
                <a:solidFill>
                  <a:srgbClr val="111111"/>
                </a:solidFill>
                <a:latin typeface="Nunito Semi-Bold"/>
                <a:ea typeface="Nunito Semi-Bold"/>
                <a:cs typeface="Nunito Semi-Bold"/>
                <a:sym typeface="Nunito Semi-Bold"/>
              </a:rPr>
              <a:t>The ablation removes one component at a time; it does not test combinations.</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   [8] Castro, J., Gómez, D. &amp; Tejada, J. Polynomial Calculation of the Shapley Value Based on Sampling. Computers &amp; Operations Research 36(5), 1726–1730 (2009).</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61</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Efficiency and Shapley Convergence</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Rounded Rectangle 24"/>
          <p:cNvSpPr/>
          <p:nvPr/>
        </p:nvSpPr>
        <p:spPr>
          <a:xfrm>
            <a:off x="1028700" y="3455162"/>
            <a:ext cx="3851910" cy="2103120"/>
          </a:xfrm>
          <a:prstGeom prst="roundRect">
            <a:avLst>
              <a:gd name="adj" fmla="val 13043"/>
            </a:avLst>
          </a:prstGeom>
          <a:solidFill>
            <a:srgbClr val="4472C4"/>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1.78×</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training time vs HPCF </a:t>
            </a:r>
            <a:r>
              <a:rPr lang="en-US" sz="1700" b="true">
                <a:solidFill>
                  <a:srgbClr val="FFFFFF"/>
                </a:solidFill>
                <a:latin typeface="Nunito Bold"/>
                <a:ea typeface="Nunito Bold"/>
                <a:cs typeface="Nunito Bold"/>
                <a:sym typeface="Nunito Bold"/>
              </a:rPr>
              <a:t>(≈ 2000 s vs 1125 s, ML-1M)</a:t>
            </a:r>
          </a:p>
        </p:txBody>
      </p:sp>
      <p:sp>
        <p:nvSpPr>
          <p:cNvPr id="26" name="Rounded Rectangle 25"/>
          <p:cNvSpPr/>
          <p:nvPr/>
        </p:nvSpPr>
        <p:spPr>
          <a:xfrm>
            <a:off x="5154930" y="3455162"/>
            <a:ext cx="3851910" cy="2103120"/>
          </a:xfrm>
          <a:prstGeom prst="roundRect">
            <a:avLst>
              <a:gd name="adj" fmla="val 13043"/>
            </a:avLst>
          </a:prstGeom>
          <a:solidFill>
            <a:srgbClr val="2F5597"/>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1.84 ms</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inference / query on ML-1M </a:t>
            </a:r>
            <a:r>
              <a:rPr lang="en-US" sz="1700" b="true">
                <a:solidFill>
                  <a:srgbClr val="FFFFFF"/>
                </a:solidFill>
                <a:latin typeface="Nunito Bold"/>
                <a:ea typeface="Nunito Bold"/>
                <a:cs typeface="Nunito Bold"/>
                <a:sym typeface="Nunito Bold"/>
              </a:rPr>
              <a:t>(8.52 ms Amazon)</a:t>
            </a:r>
          </a:p>
        </p:txBody>
      </p:sp>
      <p:sp>
        <p:nvSpPr>
          <p:cNvPr id="27" name="Rounded Rectangle 26"/>
          <p:cNvSpPr/>
          <p:nvPr/>
        </p:nvSpPr>
        <p:spPr>
          <a:xfrm>
            <a:off x="9281160" y="3455162"/>
            <a:ext cx="3851910" cy="2103120"/>
          </a:xfrm>
          <a:prstGeom prst="roundRect">
            <a:avLst>
              <a:gd name="adj" fmla="val 13043"/>
            </a:avLst>
          </a:prstGeom>
          <a:solidFill>
            <a:srgbClr val="1F7A8C"/>
          </a:solidFill>
          <a:ln>
            <a:noFill/>
          </a:ln>
        </p:spPr>
        <p:txBody>
          <a:bodyPr anchor="ctr" rtlCol="false" lIns="137160" tIns="91440" rIns="137160" bIns="91440" wrap="square"/>
          <a:lstStyle/>
          <a:p>
            <a:pPr algn="ctr">
              <a:lnSpc>
                <a:spcPts val="3960"/>
              </a:lnSpc>
              <a:spcBef>
                <a:spcPts val="0"/>
              </a:spcBef>
              <a:buNone/>
            </a:pPr>
            <a:r>
              <a:rPr lang="en-US" sz="3600" b="true">
                <a:solidFill>
                  <a:srgbClr val="FFFFFF"/>
                </a:solidFill>
                <a:latin typeface="Nunito Ultra-Bold"/>
                <a:ea typeface="Nunito Ultra-Bold"/>
                <a:cs typeface="Nunito Ultra-Bold"/>
                <a:sym typeface="Nunito Ultra-Bold"/>
              </a:rPr>
              <a:t>4.4 GB</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memory ML-1M vs 4.1 GB </a:t>
            </a:r>
            <a:r>
              <a:rPr lang="en-US" sz="1700" b="true">
                <a:solidFill>
                  <a:srgbClr val="FFFFFF"/>
                </a:solidFill>
                <a:latin typeface="Nunito Bold"/>
                <a:ea typeface="Nunito Bold"/>
                <a:cs typeface="Nunito Bold"/>
                <a:sym typeface="Nunito Bold"/>
              </a:rPr>
              <a:t>(17.9 vs 16.8 GB Amazon)</a:t>
            </a:r>
          </a:p>
        </p:txBody>
      </p:sp>
      <p:sp>
        <p:nvSpPr>
          <p:cNvPr id="28" name="Rounded Rectangle 27"/>
          <p:cNvSpPr/>
          <p:nvPr/>
        </p:nvSpPr>
        <p:spPr>
          <a:xfrm>
            <a:off x="13407390" y="3455162"/>
            <a:ext cx="3851910" cy="2103120"/>
          </a:xfrm>
          <a:prstGeom prst="roundRect">
            <a:avLst>
              <a:gd name="adj" fmla="val 13043"/>
            </a:avLst>
          </a:prstGeom>
          <a:solidFill>
            <a:srgbClr val="111111"/>
          </a:solidFill>
          <a:ln>
            <a:noFill/>
          </a:ln>
        </p:spPr>
        <p:txBody>
          <a:bodyPr anchor="ctr" rtlCol="false" lIns="137160" tIns="91440" rIns="137160" bIns="91440" wrap="square"/>
          <a:lstStyle/>
          <a:p>
            <a:pPr algn="ctr">
              <a:lnSpc>
                <a:spcPts val="3960"/>
              </a:lnSpc>
              <a:spcBef>
                <a:spcPts val="0"/>
              </a:spcBef>
              <a:buNone/>
            </a:pPr>
            <a:r>
              <a:rPr lang="en-US" sz="3600" b="true">
                <a:solidFill>
                  <a:srgbClr val="ECC665"/>
                </a:solidFill>
                <a:latin typeface="Nunito Ultra-Bold"/>
                <a:ea typeface="Nunito Ultra-Bold"/>
                <a:cs typeface="Nunito Ultra-Bold"/>
                <a:sym typeface="Nunito Ultra-Bold"/>
              </a:rPr>
              <a:t>M = 50</a:t>
            </a:r>
          </a:p>
          <a:p>
            <a:pPr algn="ctr">
              <a:lnSpc>
                <a:spcPts val="2125"/>
              </a:lnSpc>
              <a:spcBef>
                <a:spcPts val="400"/>
              </a:spcBef>
              <a:buNone/>
            </a:pPr>
            <a:r>
              <a:rPr lang="en-US" sz="1700" b="true">
                <a:solidFill>
                  <a:srgbClr val="FFFFFF"/>
                </a:solidFill>
                <a:latin typeface="Nunito Semi-Bold"/>
                <a:ea typeface="Nunito Semi-Bold"/>
                <a:cs typeface="Nunito Semi-Bold"/>
                <a:sym typeface="Nunito Semi-Bold"/>
              </a:rPr>
              <a:t>MSE 1.4×10</a:t>
            </a:r>
            <a:r>
              <a:rPr lang="en-US" sz="1700" b="true" baseline="30000">
                <a:solidFill>
                  <a:srgbClr val="FFFFFF"/>
                </a:solidFill>
                <a:latin typeface="Nunito Semi-Bold"/>
                <a:ea typeface="Nunito Semi-Bold"/>
                <a:cs typeface="Nunito Semi-Bold"/>
                <a:sym typeface="Nunito Semi-Bold"/>
              </a:rPr>
              <a:t>−5</a:t>
            </a:r>
            <a:r>
              <a:rPr lang="en-US" sz="1700" b="true">
                <a:solidFill>
                  <a:srgbClr val="FFFFFF"/>
                </a:solidFill>
                <a:latin typeface="Nunito Semi-Bold"/>
                <a:ea typeface="Nunito Semi-Bold"/>
                <a:cs typeface="Nunito Semi-Bold"/>
                <a:sym typeface="Nunito Semi-Bold"/>
              </a:rPr>
              <a:t> · </a:t>
            </a:r>
            <a:r>
              <a:rPr lang="en-US" sz="1700" b="true">
                <a:solidFill>
                  <a:srgbClr val="FFFFFF"/>
                </a:solidFill>
                <a:latin typeface="Nunito Bold"/>
                <a:ea typeface="Nunito Bold"/>
                <a:cs typeface="Nunito Bold"/>
                <a:sym typeface="Nunito Bold"/>
              </a:rPr>
              <a:t>≈ 99 % accuracy</a:t>
            </a:r>
          </a:p>
        </p:txBody>
      </p:sp>
      <p:sp>
        <p:nvSpPr>
          <p:cNvPr id="29" name="TextBox 28"/>
          <p:cNvSpPr txBox="1"/>
          <p:nvPr/>
        </p:nvSpPr>
        <p:spPr>
          <a:xfrm>
            <a:off x="1028700" y="5604002"/>
            <a:ext cx="16230600" cy="411480"/>
          </a:xfrm>
          <a:prstGeom prst="rect">
            <a:avLst/>
          </a:prstGeom>
          <a:noFill/>
        </p:spPr>
        <p:txBody>
          <a:bodyPr anchor="t" rtlCol="false" lIns="0" tIns="0" rIns="0" bIns="0" wrap="square"/>
          <a:lstStyle/>
          <a:p>
            <a:pPr algn="l">
              <a:lnSpc>
                <a:spcPts val="1700"/>
              </a:lnSpc>
              <a:spcBef>
                <a:spcPts val="0"/>
              </a:spcBef>
              <a:buNone/>
            </a:pPr>
            <a:r>
              <a:rPr lang="en-US" sz="1300" b="true">
                <a:solidFill>
                  <a:srgbClr val="8A8378"/>
                </a:solidFill>
                <a:latin typeface="Nunito Semi-Bold"/>
                <a:ea typeface="Nunito Semi-Bold"/>
                <a:cs typeface="Nunito Semi-Bold"/>
                <a:sym typeface="Nunito Semi-Bold"/>
              </a:rPr>
              <a:t>Table 7.3 (thesis): runtime and scalability  ·  Table 7.4 (thesis): Monte Carlo convergence and runtime trade-offs. Full tables in the backup slides.</a:t>
            </a:r>
          </a:p>
        </p:txBody>
      </p:sp>
      <p:sp>
        <p:nvSpPr>
          <p:cNvPr id="30" name="Rounded Rectangle 29"/>
          <p:cNvSpPr/>
          <p:nvPr/>
        </p:nvSpPr>
        <p:spPr>
          <a:xfrm>
            <a:off x="1028700" y="6244082"/>
            <a:ext cx="7932420" cy="3110230"/>
          </a:xfrm>
          <a:prstGeom prst="roundRect">
            <a:avLst>
              <a:gd name="adj" fmla="val 9995"/>
            </a:avLst>
          </a:prstGeom>
          <a:solidFill>
            <a:srgbClr val="F6ECDF"/>
          </a:solidFill>
          <a:ln>
            <a:noFill/>
          </a:ln>
        </p:spPr>
        <p:txBody>
          <a:bodyPr anchor="ctr" rtlCol="false" lIns="0" tIns="0" rIns="0" bIns="0" wrap="square"/>
          <a:lstStyle/>
          <a:p>
            <a:endParaRPr lang="en-US" sz="1800"/>
          </a:p>
        </p:txBody>
      </p:sp>
      <p:sp>
        <p:nvSpPr>
          <p:cNvPr id="31" name="Rounded Rectangle 30"/>
          <p:cNvSpPr/>
          <p:nvPr/>
        </p:nvSpPr>
        <p:spPr>
          <a:xfrm>
            <a:off x="1485900" y="6006338"/>
            <a:ext cx="2185051"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Complexity</a:t>
            </a:r>
          </a:p>
        </p:txBody>
      </p:sp>
      <p:sp>
        <p:nvSpPr>
          <p:cNvPr id="32" name="TextBox 31"/>
          <p:cNvSpPr txBox="1"/>
          <p:nvPr/>
        </p:nvSpPr>
        <p:spPr>
          <a:xfrm>
            <a:off x="1531620" y="6884162"/>
            <a:ext cx="6972300" cy="1555750"/>
          </a:xfrm>
          <a:prstGeom prst="rect">
            <a:avLst/>
          </a:prstGeom>
          <a:noFill/>
        </p:spPr>
        <p:txBody>
          <a:bodyPr anchor="t" rtlCol="false" lIns="0" tIns="0" rIns="0" bIns="0" wrap="square"/>
          <a:lstStyle/>
          <a:p>
            <a:pPr algn="l" marL="274320" indent="-274320">
              <a:lnSpc>
                <a:spcPts val="2548"/>
              </a:lnSpc>
              <a:spcBef>
                <a:spcPts val="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Per-epoch cost: propagation plus periodic Shapley refresh:</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A refresh every f = 10 batches keeps the overhead bounded.</a:t>
            </a:r>
          </a:p>
          <a:p>
            <a:pPr algn="l" marL="274320" indent="-274320">
              <a:lnSpc>
                <a:spcPts val="2548"/>
              </a:lnSpc>
              <a:spcBef>
                <a:spcPts val="910"/>
              </a:spcBef>
              <a:buClr>
                <a:srgbClr val="1F7A8C"/>
              </a:buClr>
              <a:buSzPct val="100000"/>
              <a:buFont typeface="Arial"/>
              <a:buChar char="•"/>
            </a:pPr>
            <a:r>
              <a:rPr lang="en-US" sz="1820" b="true">
                <a:solidFill>
                  <a:srgbClr val="111111"/>
                </a:solidFill>
                <a:latin typeface="Nunito Semi-Bold"/>
                <a:ea typeface="Nunito Semi-Bold"/>
                <a:cs typeface="Nunito Semi-Bold"/>
                <a:sym typeface="Nunito Semi-Bold"/>
              </a:rPr>
              <a:t>Inference latency is </a:t>
            </a:r>
            <a:r>
              <a:rPr lang="en-US" sz="1820" b="true">
                <a:solidFill>
                  <a:srgbClr val="111111"/>
                </a:solidFill>
                <a:latin typeface="Nunito Bold"/>
                <a:ea typeface="Nunito Bold"/>
                <a:cs typeface="Nunito Bold"/>
                <a:sym typeface="Nunito Bold"/>
              </a:rPr>
              <a:t>suitable for real-time use</a:t>
            </a:r>
            <a:r>
              <a:rPr lang="en-US" sz="1820" b="true">
                <a:solidFill>
                  <a:srgbClr val="111111"/>
                </a:solidFill>
                <a:latin typeface="Nunito Semi-Bold"/>
                <a:ea typeface="Nunito Semi-Bold"/>
                <a:cs typeface="Nunito Semi-Bold"/>
                <a:sym typeface="Nunito Semi-Bold"/>
              </a:rPr>
              <a:t>.</a:t>
            </a:r>
          </a:p>
        </p:txBody>
      </p:sp>
      <mc:AlternateContent xmlns:mc="http://schemas.openxmlformats.org/markup-compatibility/2006">
        <mc:Choice xmlns:a14="http://schemas.microsoft.com/office/drawing/2010/main" Requires="a14">
          <p:sp>
            <p:nvSpPr>
              <p:cNvPr id="33" name="Equation"/>
              <p:cNvSpPr txBox="1"/>
              <p:nvPr/>
            </p:nvSpPr>
            <p:spPr>
              <a:xfrm>
                <a:off x="1531620" y="8485632"/>
                <a:ext cx="6926580" cy="64008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2000" i="1">
                          <a:solidFill>
                            <a:srgbClr val="4472C4"/>
                          </a:solidFill>
                          <a:latin typeface="Cambria Math" panose="02040503050406030204" pitchFamily="18" charset="0"/>
                        </a:rPr>
                        <m:t xml:space="preserve">O</m:t>
                      </m:r>
                      <m:d>
                        <m:dPr>
                          <m:ctrlPr>
                            <a:rPr lang="en-US" sz="2000" i="1">
                              <a:solidFill>
                                <a:srgbClr val="4472C4"/>
                              </a:solidFill>
                              <a:latin typeface="Cambria Math" panose="02040503050406030204" pitchFamily="18" charset="0"/>
                            </a:rPr>
                          </m:ctrlPr>
                        </m:dPr>
                        <m:e>
                          <m:r>
                            <m:rPr>
                              <m:sty m:val="p"/>
                            </m:rPr>
                            <a:rPr lang="en-US" sz="2000">
                              <a:solidFill>
                                <a:srgbClr val="4472C4"/>
                              </a:solidFill>
                              <a:latin typeface="Cambria Math" panose="02040503050406030204" pitchFamily="18" charset="0"/>
                            </a:rPr>
                            <m:t xml:space="preserve">(</m:t>
                          </m:r>
                          <m:r>
                            <a:rPr lang="en-US" sz="2000" i="1">
                              <a:solidFill>
                                <a:srgbClr val="4472C4"/>
                              </a:solidFill>
                              <a:latin typeface="Cambria Math" panose="02040503050406030204" pitchFamily="18" charset="0"/>
                            </a:rPr>
                            <m:t xml:space="preserve">L</m:t>
                          </m:r>
                          <m:r>
                            <m:rPr>
                              <m:sty m:val="p"/>
                            </m:rPr>
                            <a:rPr lang="en-US" sz="2000">
                              <a:solidFill>
                                <a:srgbClr val="4472C4"/>
                              </a:solidFill>
                              <a:latin typeface="Cambria Math" panose="02040503050406030204" pitchFamily="18" charset="0"/>
                            </a:rPr>
                            <m:t xml:space="preserve">+1) </m:t>
                          </m:r>
                          <m:r>
                            <a:rPr lang="en-US" sz="2000" i="1">
                              <a:solidFill>
                                <a:srgbClr val="4472C4"/>
                              </a:solidFill>
                              <a:latin typeface="Cambria Math" panose="02040503050406030204" pitchFamily="18" charset="0"/>
                            </a:rPr>
                            <m:t xml:space="preserve">m</m:t>
                          </m:r>
                          <m:r>
                            <m:rPr>
                              <m:sty m:val="p"/>
                            </m:rPr>
                            <a:rPr lang="en-US" sz="2000">
                              <a:solidFill>
                                <a:srgbClr val="4472C4"/>
                              </a:solidFill>
                              <a:latin typeface="Cambria Math" panose="02040503050406030204" pitchFamily="18" charset="0"/>
                            </a:rPr>
                            <m:t xml:space="preserve"> </m:t>
                          </m:r>
                          <m:r>
                            <a:rPr lang="en-US" sz="2000" i="1">
                              <a:solidFill>
                                <a:srgbClr val="4472C4"/>
                              </a:solidFill>
                              <a:latin typeface="Cambria Math" panose="02040503050406030204" pitchFamily="18" charset="0"/>
                            </a:rPr>
                            <m:t xml:space="preserve">d</m:t>
                          </m:r>
                        </m:e>
                      </m:d>
                      <m:r>
                        <m:rPr>
                          <m:sty m:val="p"/>
                        </m:rPr>
                        <a:rPr lang="en-US" sz="2000">
                          <a:solidFill>
                            <a:srgbClr val="4472C4"/>
                          </a:solidFill>
                          <a:latin typeface="Cambria Math" panose="02040503050406030204" pitchFamily="18" charset="0"/>
                        </a:rPr>
                        <m:t xml:space="preserve">+</m:t>
                      </m:r>
                      <m:r>
                        <a:rPr lang="en-US" sz="2000" i="1">
                          <a:solidFill>
                            <a:srgbClr val="4472C4"/>
                          </a:solidFill>
                          <a:latin typeface="Cambria Math" panose="02040503050406030204" pitchFamily="18" charset="0"/>
                        </a:rPr>
                        <m:t xml:space="preserve">O</m:t>
                      </m:r>
                      <m:d>
                        <m:dPr>
                          <m:ctrlPr>
                            <a:rPr lang="en-US" sz="2000" i="1">
                              <a:solidFill>
                                <a:srgbClr val="4472C4"/>
                              </a:solidFill>
                              <a:latin typeface="Cambria Math" panose="02040503050406030204" pitchFamily="18" charset="0"/>
                            </a:rPr>
                          </m:ctrlPr>
                        </m:dPr>
                        <m:e>
                          <m:r>
                            <m:rPr>
                              <m:sty m:val="p"/>
                            </m:rPr>
                            <a:rPr lang="en-US" sz="2000">
                              <a:solidFill>
                                <a:srgbClr val="4472C4"/>
                              </a:solidFill>
                              <a:latin typeface="Cambria Math" panose="02040503050406030204" pitchFamily="18" charset="0"/>
                            </a:rPr>
                            <m:t xml:space="preserve">(</m:t>
                          </m:r>
                          <m:r>
                            <a:rPr lang="en-US" sz="2000" i="1">
                              <a:solidFill>
                                <a:srgbClr val="4472C4"/>
                              </a:solidFill>
                              <a:latin typeface="Cambria Math" panose="02040503050406030204" pitchFamily="18" charset="0"/>
                            </a:rPr>
                            <m:t xml:space="preserve">M</m:t>
                          </m:r>
                          <m:r>
                            <m:rPr>
                              <m:sty m:val="p"/>
                            </m:rPr>
                            <a:rPr lang="en-US" sz="2000">
                              <a:solidFill>
                                <a:srgbClr val="4472C4"/>
                              </a:solidFill>
                              <a:latin typeface="Cambria Math" panose="02040503050406030204" pitchFamily="18" charset="0"/>
                            </a:rPr>
                            <m:t xml:space="preserve">/</m:t>
                          </m:r>
                          <m:r>
                            <a:rPr lang="en-US" sz="2000" i="1">
                              <a:solidFill>
                                <a:srgbClr val="4472C4"/>
                              </a:solidFill>
                              <a:latin typeface="Cambria Math" panose="02040503050406030204" pitchFamily="18" charset="0"/>
                            </a:rPr>
                            <m:t xml:space="preserve">f</m:t>
                          </m:r>
                          <m:r>
                            <m:rPr>
                              <m:sty m:val="p"/>
                            </m:rPr>
                            <a:rPr lang="en-US" sz="2000">
                              <a:solidFill>
                                <a:srgbClr val="4472C4"/>
                              </a:solidFill>
                              <a:latin typeface="Cambria Math" panose="02040503050406030204" pitchFamily="18" charset="0"/>
                            </a:rPr>
                            <m:t xml:space="preserve">) </m:t>
                          </m:r>
                          <m:r>
                            <a:rPr lang="en-US" sz="2000" i="1">
                              <a:solidFill>
                                <a:srgbClr val="4472C4"/>
                              </a:solidFill>
                              <a:latin typeface="Cambria Math" panose="02040503050406030204" pitchFamily="18" charset="0"/>
                            </a:rPr>
                            <m:t xml:space="preserve">m</m:t>
                          </m:r>
                        </m:e>
                      </m:d>
                    </m:oMath>
                  </m:oMathPara>
                </a14:m>
                <a:endParaRPr lang="en-US" sz="2000"/>
              </a:p>
            </p:txBody>
          </p:sp>
        </mc:Choice>
        <mc:Fallback>
          <p:sp>
            <p:nvSpPr>
              <p:cNvPr id="33" name="Equation"/>
              <p:cNvSpPr txBox="1"/>
              <p:nvPr/>
            </p:nvSpPr>
            <p:spPr>
              <a:xfrm>
                <a:off x="1531620" y="8485632"/>
                <a:ext cx="6926580" cy="640080"/>
              </a:xfrm>
              <a:prstGeom prst="rect">
                <a:avLst/>
              </a:prstGeom>
              <a:blipFill>
                <a:blip r:embed="rId4"/>
                <a:stretch>
                  <a:fillRect/>
                </a:stretch>
              </a:blipFill>
            </p:spPr>
            <p:txBody>
              <a:bodyPr/>
              <a:lstStyle/>
              <a:p>
                <a:endParaRPr lang="en-US"/>
              </a:p>
            </p:txBody>
          </p:sp>
        </mc:Fallback>
      </mc:AlternateContent>
      <p:sp>
        <p:nvSpPr>
          <p:cNvPr id="34" name="Rounded Rectangle 33"/>
          <p:cNvSpPr/>
          <p:nvPr/>
        </p:nvSpPr>
        <p:spPr>
          <a:xfrm>
            <a:off x="9326880" y="6244082"/>
            <a:ext cx="7932420" cy="3110230"/>
          </a:xfrm>
          <a:prstGeom prst="roundRect">
            <a:avLst>
              <a:gd name="adj" fmla="val 9995"/>
            </a:avLst>
          </a:prstGeom>
          <a:solidFill>
            <a:srgbClr val="4472C4"/>
          </a:solidFill>
          <a:ln>
            <a:noFill/>
          </a:ln>
        </p:spPr>
        <p:txBody>
          <a:bodyPr anchor="ctr" rtlCol="false" lIns="0" tIns="0" rIns="0" bIns="0" wrap="square"/>
          <a:lstStyle/>
          <a:p>
            <a:endParaRPr lang="en-US" sz="1800"/>
          </a:p>
        </p:txBody>
      </p:sp>
      <p:sp>
        <p:nvSpPr>
          <p:cNvPr id="35" name="Rounded Rectangle 34"/>
          <p:cNvSpPr/>
          <p:nvPr/>
        </p:nvSpPr>
        <p:spPr>
          <a:xfrm>
            <a:off x="9784080" y="6006338"/>
            <a:ext cx="2398585"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Convergence</a:t>
            </a:r>
          </a:p>
        </p:txBody>
      </p:sp>
      <p:sp>
        <p:nvSpPr>
          <p:cNvPr id="36" name="TextBox 35"/>
          <p:cNvSpPr txBox="1"/>
          <p:nvPr/>
        </p:nvSpPr>
        <p:spPr>
          <a:xfrm>
            <a:off x="9829800" y="6884162"/>
            <a:ext cx="6972300" cy="2195830"/>
          </a:xfrm>
          <a:prstGeom prst="rect">
            <a:avLst/>
          </a:prstGeom>
          <a:noFill/>
        </p:spPr>
        <p:txBody>
          <a:bodyPr anchor="t" rtlCol="false" lIns="0" tIns="0" rIns="0" bIns="0" wrap="square"/>
          <a:lstStyle/>
          <a:p>
            <a:pPr algn="l" marL="274320" indent="-274320">
              <a:lnSpc>
                <a:spcPts val="2960"/>
              </a:lnSpc>
              <a:spcBef>
                <a:spcPts val="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 = 50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MSE 1.4×10</a:t>
            </a:r>
            <a:r>
              <a:rPr lang="en-US" sz="2000" b="true" baseline="30000">
                <a:solidFill>
                  <a:srgbClr val="FFFFFF"/>
                </a:solidFill>
                <a:latin typeface="Nunito Semi-Bold"/>
                <a:ea typeface="Nunito Semi-Bold"/>
                <a:cs typeface="Nunito Semi-Bold"/>
                <a:sym typeface="Nunito Semi-Bold"/>
              </a:rPr>
              <a:t>−5</a:t>
            </a:r>
            <a:r>
              <a:rPr lang="en-US" sz="2000" b="true">
                <a:solidFill>
                  <a:srgbClr val="FFFFFF"/>
                </a:solidFill>
                <a:latin typeface="Nunito Semi-Bold"/>
                <a:ea typeface="Nunito Semi-Bold"/>
                <a:cs typeface="Nunito Semi-Bold"/>
                <a:sym typeface="Nunito Semi-Bold"/>
              </a:rPr>
              <a:t>, ≈ 99 % accuracy.</a:t>
            </a:r>
          </a:p>
          <a:p>
            <a:pPr algn="l" marL="274320" indent="-274320">
              <a:lnSpc>
                <a:spcPts val="296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M = 100 </a:t>
            </a:r>
            <a:r>
              <a:rPr lang="en-US" sz="2000" b="true">
                <a:solidFill>
                  <a:srgbClr val="FFFFFF"/>
                </a:solidFill>
                <a:latin typeface="Calibri"/>
                <a:ea typeface="Calibri"/>
                <a:cs typeface="Calibri"/>
                <a:sym typeface="Calibri"/>
              </a:rPr>
              <a:t>→ </a:t>
            </a:r>
            <a:r>
              <a:rPr lang="en-US" sz="2000" b="true">
                <a:solidFill>
                  <a:srgbClr val="FFFFFF"/>
                </a:solidFill>
                <a:latin typeface="Nunito Semi-Bold"/>
                <a:ea typeface="Nunito Semi-Bold"/>
                <a:cs typeface="Nunito Semi-Bold"/>
                <a:sym typeface="Nunito Semi-Bold"/>
              </a:rPr>
              <a:t>MSE 3.5×10</a:t>
            </a:r>
            <a:r>
              <a:rPr lang="en-US" sz="2000" b="true" baseline="30000">
                <a:solidFill>
                  <a:srgbClr val="FFFFFF"/>
                </a:solidFill>
                <a:latin typeface="Nunito Semi-Bold"/>
                <a:ea typeface="Nunito Semi-Bold"/>
                <a:cs typeface="Nunito Semi-Bold"/>
                <a:sym typeface="Nunito Semi-Bold"/>
              </a:rPr>
              <a:t>−6</a:t>
            </a:r>
            <a:r>
              <a:rPr lang="en-US" sz="2000" b="true">
                <a:solidFill>
                  <a:srgbClr val="FFFFFF"/>
                </a:solidFill>
                <a:latin typeface="Nunito Semi-Bold"/>
                <a:ea typeface="Nunito Semi-Bold"/>
                <a:cs typeface="Nunito Semi-Bold"/>
                <a:sym typeface="Nunito Semi-Bold"/>
              </a:rPr>
              <a:t>: </a:t>
            </a:r>
            <a:r>
              <a:rPr lang="en-US" sz="2000" b="true">
                <a:solidFill>
                  <a:srgbClr val="FFFFFF"/>
                </a:solidFill>
                <a:latin typeface="Nunito Bold"/>
                <a:ea typeface="Nunito Bold"/>
                <a:cs typeface="Nunito Bold"/>
                <a:sym typeface="Nunito Bold"/>
              </a:rPr>
              <a:t>diminishing returns</a:t>
            </a:r>
            <a:r>
              <a:rPr lang="en-US" sz="2000" b="true">
                <a:solidFill>
                  <a:srgbClr val="FFFFFF"/>
                </a:solidFill>
                <a:latin typeface="Nunito Semi-Bold"/>
                <a:ea typeface="Nunito Semi-Bold"/>
                <a:cs typeface="Nunito Semi-Bold"/>
                <a:sym typeface="Nunito Semi-Bold"/>
              </a:rPr>
              <a:t>.</a:t>
            </a:r>
          </a:p>
          <a:p>
            <a:pPr algn="l" marL="274320" indent="-274320">
              <a:lnSpc>
                <a:spcPts val="2800"/>
              </a:lnSpc>
              <a:spcBef>
                <a:spcPts val="1000"/>
              </a:spcBef>
              <a:buClr>
                <a:srgbClr val="ECC665"/>
              </a:buClr>
              <a:buSzPct val="100000"/>
              <a:buFont typeface="Arial"/>
              <a:buChar char="•"/>
            </a:pPr>
            <a:r>
              <a:rPr lang="en-US" sz="2000" b="true">
                <a:solidFill>
                  <a:srgbClr val="FFFFFF"/>
                </a:solidFill>
                <a:latin typeface="Nunito Semi-Bold"/>
                <a:ea typeface="Nunito Semi-Bold"/>
                <a:cs typeface="Nunito Semi-Bold"/>
                <a:sym typeface="Nunito Semi-Bold"/>
              </a:rPr>
              <a:t>The overhead is the price of an in-training attribution signal: measurable, but modest.</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[27] Holm, S. A Simple Sequentially Rejective Multiple Test Procedure. Scand. J. Statist. 6(2), 65–70 (1979).  ·  Cohen, J. Statistical Power Analysis for the Behavioral Sciences (1988).</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62</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Statistical Significance</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Findings</a:t>
            </a:r>
          </a:p>
        </p:txBody>
      </p:sp>
      <p:sp>
        <p:nvSpPr>
          <p:cNvPr id="25" name="Rounded Rectangle 24"/>
          <p:cNvSpPr/>
          <p:nvPr/>
        </p:nvSpPr>
        <p:spPr>
          <a:xfrm>
            <a:off x="1028700" y="3455162"/>
            <a:ext cx="5196840" cy="2194560"/>
          </a:xfrm>
          <a:prstGeom prst="roundRect">
            <a:avLst>
              <a:gd name="adj" fmla="val 12500"/>
            </a:avLst>
          </a:prstGeom>
          <a:solidFill>
            <a:srgbClr val="4472C4"/>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26" name="Equation"/>
              <p:cNvSpPr txBox="1"/>
              <p:nvPr/>
            </p:nvSpPr>
            <p:spPr>
              <a:xfrm>
                <a:off x="121158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3800" i="1">
                          <a:solidFill>
                            <a:srgbClr val="ECC665"/>
                          </a:solidFill>
                          <a:latin typeface="Cambria Math" panose="02040503050406030204" pitchFamily="18" charset="0"/>
                        </a:rPr>
                        <m:t xml:space="preserve">t</m:t>
                      </m:r>
                      <m:r>
                        <m:rPr>
                          <m:sty m:val="p"/>
                        </m:rPr>
                        <a:rPr lang="en-US" sz="3800">
                          <a:solidFill>
                            <a:srgbClr val="ECC665"/>
                          </a:solidFill>
                          <a:latin typeface="Cambria Math" panose="02040503050406030204" pitchFamily="18" charset="0"/>
                        </a:rPr>
                        <m:t xml:space="preserve">=46.38</m:t>
                      </m:r>
                    </m:oMath>
                  </m:oMathPara>
                </a14:m>
                <a:endParaRPr lang="en-US" sz="3800"/>
              </a:p>
            </p:txBody>
          </p:sp>
        </mc:Choice>
        <mc:Fallback>
          <p:sp>
            <p:nvSpPr>
              <p:cNvPr id="26" name="Equation"/>
              <p:cNvSpPr txBox="1"/>
              <p:nvPr/>
            </p:nvSpPr>
            <p:spPr>
              <a:xfrm>
                <a:off x="1211580" y="3729482"/>
                <a:ext cx="4831080" cy="1051560"/>
              </a:xfrm>
              <a:prstGeom prst="rect">
                <a:avLst/>
              </a:prstGeom>
              <a:blipFill>
                <a:blip r:embed="rId4"/>
                <a:stretch>
                  <a:fillRect/>
                </a:stretch>
              </a:blipFill>
            </p:spPr>
            <p:txBody>
              <a:bodyPr/>
              <a:lstStyle/>
              <a:p>
                <a:endParaRPr lang="en-US"/>
              </a:p>
            </p:txBody>
          </p:sp>
        </mc:Fallback>
      </mc:AlternateContent>
      <p:sp>
        <p:nvSpPr>
          <p:cNvPr id="27" name="TextBox 26"/>
          <p:cNvSpPr txBox="1"/>
          <p:nvPr/>
        </p:nvSpPr>
        <p:spPr>
          <a:xfrm>
            <a:off x="130302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Semi-Bold"/>
                <a:ea typeface="Nunito Semi-Bold"/>
                <a:cs typeface="Nunito Semi-Bold"/>
                <a:sym typeface="Nunito Semi-Bold"/>
              </a:rPr>
              <a:t>paired t-test vs HPCF · </a:t>
            </a:r>
            <a:r>
              <a:rPr lang="en-US" sz="1700" b="true">
                <a:solidFill>
                  <a:srgbClr val="FFFFFF"/>
                </a:solidFill>
                <a:latin typeface="Nunito Bold"/>
                <a:ea typeface="Nunito Bold"/>
                <a:cs typeface="Nunito Bold"/>
                <a:sym typeface="Nunito Bold"/>
              </a:rPr>
              <a:t>df = 6,039</a:t>
            </a:r>
          </a:p>
        </p:txBody>
      </p:sp>
      <p:sp>
        <p:nvSpPr>
          <p:cNvPr id="28" name="Rounded Rectangle 27"/>
          <p:cNvSpPr/>
          <p:nvPr/>
        </p:nvSpPr>
        <p:spPr>
          <a:xfrm>
            <a:off x="6545580" y="3455162"/>
            <a:ext cx="5196840" cy="2194560"/>
          </a:xfrm>
          <a:prstGeom prst="roundRect">
            <a:avLst>
              <a:gd name="adj" fmla="val 12500"/>
            </a:avLst>
          </a:prstGeom>
          <a:solidFill>
            <a:srgbClr val="2F5597"/>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29" name="Equation"/>
              <p:cNvSpPr txBox="1"/>
              <p:nvPr/>
            </p:nvSpPr>
            <p:spPr>
              <a:xfrm>
                <a:off x="672846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sSub>
                        <m:sSubPr>
                          <m:ctrlPr>
                            <a:rPr lang="en-US" sz="3800" i="1">
                              <a:solidFill>
                                <a:srgbClr val="ECC665"/>
                              </a:solidFill>
                              <a:latin typeface="Cambria Math" panose="02040503050406030204" pitchFamily="18" charset="0"/>
                            </a:rPr>
                          </m:ctrlPr>
                        </m:sSubPr>
                        <m:e>
                          <m:r>
                            <a:rPr lang="en-US" sz="3800" i="1">
                              <a:solidFill>
                                <a:srgbClr val="ECC665"/>
                              </a:solidFill>
                              <a:latin typeface="Cambria Math" panose="02040503050406030204" pitchFamily="18" charset="0"/>
                            </a:rPr>
                            <m:t xml:space="preserve">d</m:t>
                          </m:r>
                        </m:e>
                        <m:sub>
                          <m:r>
                            <a:rPr lang="en-US" sz="3800" i="1">
                              <a:solidFill>
                                <a:srgbClr val="ECC665"/>
                              </a:solidFill>
                              <a:latin typeface="Cambria Math" panose="02040503050406030204" pitchFamily="18" charset="0"/>
                            </a:rPr>
                            <m:t xml:space="preserve">z</m:t>
                          </m:r>
                        </m:sub>
                      </m:sSub>
                      <m:r>
                        <m:rPr>
                          <m:sty m:val="p"/>
                        </m:rPr>
                        <a:rPr lang="en-US" sz="3800">
                          <a:solidFill>
                            <a:srgbClr val="ECC665"/>
                          </a:solidFill>
                          <a:latin typeface="Cambria Math" panose="02040503050406030204" pitchFamily="18" charset="0"/>
                        </a:rPr>
                        <m:t xml:space="preserve">=1.33</m:t>
                      </m:r>
                    </m:oMath>
                  </m:oMathPara>
                </a14:m>
                <a:endParaRPr lang="en-US" sz="3800"/>
              </a:p>
            </p:txBody>
          </p:sp>
        </mc:Choice>
        <mc:Fallback>
          <p:sp>
            <p:nvSpPr>
              <p:cNvPr id="29" name="Equation"/>
              <p:cNvSpPr txBox="1"/>
              <p:nvPr/>
            </p:nvSpPr>
            <p:spPr>
              <a:xfrm>
                <a:off x="6728460" y="3729482"/>
                <a:ext cx="4831080" cy="1051560"/>
              </a:xfrm>
              <a:prstGeom prst="rect">
                <a:avLst/>
              </a:prstGeom>
              <a:blipFill>
                <a:blip r:embed="rId5"/>
                <a:stretch>
                  <a:fillRect/>
                </a:stretch>
              </a:blipFill>
            </p:spPr>
            <p:txBody>
              <a:bodyPr/>
              <a:lstStyle/>
              <a:p>
                <a:endParaRPr lang="en-US"/>
              </a:p>
            </p:txBody>
          </p:sp>
        </mc:Fallback>
      </mc:AlternateContent>
      <p:sp>
        <p:nvSpPr>
          <p:cNvPr id="30" name="TextBox 29"/>
          <p:cNvSpPr txBox="1"/>
          <p:nvPr/>
        </p:nvSpPr>
        <p:spPr>
          <a:xfrm>
            <a:off x="681990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Bold"/>
                <a:ea typeface="Nunito Bold"/>
                <a:cs typeface="Nunito Bold"/>
                <a:sym typeface="Nunito Bold"/>
              </a:rPr>
              <a:t>Cohen's d</a:t>
            </a:r>
            <a:r>
              <a:rPr lang="en-US" sz="1700" b="true" baseline="-25000">
                <a:solidFill>
                  <a:srgbClr val="FFFFFF"/>
                </a:solidFill>
                <a:latin typeface="Nunito Bold"/>
                <a:ea typeface="Nunito Bold"/>
                <a:cs typeface="Nunito Bold"/>
                <a:sym typeface="Nunito Bold"/>
              </a:rPr>
              <a:t>z</a:t>
            </a:r>
            <a:r>
              <a:rPr lang="en-US" sz="1700" b="true">
                <a:solidFill>
                  <a:srgbClr val="FFFFFF"/>
                </a:solidFill>
                <a:latin typeface="Nunito Semi-Bold"/>
                <a:ea typeface="Nunito Semi-Bold"/>
                <a:cs typeface="Nunito Semi-Bold"/>
                <a:sym typeface="Nunito Semi-Bold"/>
              </a:rPr>
              <a:t> · a large effect size</a:t>
            </a:r>
          </a:p>
        </p:txBody>
      </p:sp>
      <p:sp>
        <p:nvSpPr>
          <p:cNvPr id="31" name="Rounded Rectangle 30"/>
          <p:cNvSpPr/>
          <p:nvPr/>
        </p:nvSpPr>
        <p:spPr>
          <a:xfrm>
            <a:off x="12062460" y="3455162"/>
            <a:ext cx="5196840" cy="2194560"/>
          </a:xfrm>
          <a:prstGeom prst="roundRect">
            <a:avLst>
              <a:gd name="adj" fmla="val 12500"/>
            </a:avLst>
          </a:prstGeom>
          <a:solidFill>
            <a:srgbClr val="1F7A8C"/>
          </a:solidFill>
          <a:ln>
            <a:noFill/>
          </a:ln>
        </p:spPr>
        <p:txBody>
          <a:bodyPr anchor="ctr" rtlCol="false" lIns="0" tIns="0" rIns="0" bIns="0" wrap="square"/>
          <a:lstStyle/>
          <a:p>
            <a:endParaRPr lang="en-US" sz="1800"/>
          </a:p>
        </p:txBody>
      </p:sp>
      <mc:AlternateContent xmlns:mc="http://schemas.openxmlformats.org/markup-compatibility/2006">
        <mc:Choice xmlns:a14="http://schemas.microsoft.com/office/drawing/2010/main" Requires="a14">
          <p:sp>
            <p:nvSpPr>
              <p:cNvPr id="32" name="Equation"/>
              <p:cNvSpPr txBox="1"/>
              <p:nvPr/>
            </p:nvSpPr>
            <p:spPr>
              <a:xfrm>
                <a:off x="12245340" y="3729482"/>
                <a:ext cx="4831080" cy="1051560"/>
              </a:xfrm>
              <a:prstGeom prst="rect">
                <a:avLst/>
              </a:prstGeom>
              <a:noFill/>
            </p:spPr>
            <p:txBody>
              <a:bodyPr wrap="none" rtlCol="0" anchor="ctr" lIns="0" tIns="0" rIns="0" bIns="0"/>
              <a:lstStyle/>
              <a:p>
                <a:pPr algn="ctr"/>
                <a14:m xmlns:m="http://schemas.openxmlformats.org/officeDocument/2006/math">
                  <m:oMathPara>
                    <m:oMathParaPr>
                      <m:jc m:val="centerGroup"/>
                    </m:oMathParaPr>
                    <m:oMath>
                      <m:r>
                        <a:rPr lang="en-US" sz="3800" i="1">
                          <a:solidFill>
                            <a:srgbClr val="FFFFFF"/>
                          </a:solidFill>
                          <a:latin typeface="Cambria Math" panose="02040503050406030204" pitchFamily="18" charset="0"/>
                        </a:rPr>
                        <m:t xml:space="preserve">p</m:t>
                      </m:r>
                      <m:r>
                        <m:rPr>
                          <m:sty m:val="p"/>
                        </m:rPr>
                        <a:rPr lang="en-US" sz="3800">
                          <a:solidFill>
                            <a:srgbClr val="FFFFFF"/>
                          </a:solidFill>
                          <a:latin typeface="Cambria Math" panose="02040503050406030204" pitchFamily="18" charset="0"/>
                        </a:rPr>
                        <m:t xml:space="preserve">=1.8×</m:t>
                      </m:r>
                      <m:sSup>
                        <m:sSupPr>
                          <m:ctrlPr>
                            <a:rPr lang="en-US" sz="3800" i="1">
                              <a:solidFill>
                                <a:srgbClr val="FFFFFF"/>
                              </a:solidFill>
                              <a:latin typeface="Cambria Math" panose="02040503050406030204" pitchFamily="18" charset="0"/>
                            </a:rPr>
                          </m:ctrlPr>
                        </m:sSupPr>
                        <m:e>
                          <m:r>
                            <m:rPr>
                              <m:sty m:val="p"/>
                            </m:rPr>
                            <a:rPr lang="en-US" sz="3800">
                              <a:solidFill>
                                <a:srgbClr val="FFFFFF"/>
                              </a:solidFill>
                              <a:latin typeface="Cambria Math" panose="02040503050406030204" pitchFamily="18" charset="0"/>
                            </a:rPr>
                            <m:t xml:space="preserve">10</m:t>
                          </m:r>
                        </m:e>
                        <m:sup>
                          <m:r>
                            <m:rPr>
                              <m:sty m:val="p"/>
                            </m:rPr>
                            <a:rPr lang="en-US" sz="3800">
                              <a:solidFill>
                                <a:srgbClr val="FFFFFF"/>
                              </a:solidFill>
                              <a:latin typeface="Cambria Math" panose="02040503050406030204" pitchFamily="18" charset="0"/>
                            </a:rPr>
                            <m:t xml:space="preserve">−270</m:t>
                          </m:r>
                        </m:sup>
                      </m:sSup>
                    </m:oMath>
                  </m:oMathPara>
                </a14:m>
                <a:endParaRPr lang="en-US" sz="3800"/>
              </a:p>
            </p:txBody>
          </p:sp>
        </mc:Choice>
        <mc:Fallback>
          <p:sp>
            <p:nvSpPr>
              <p:cNvPr id="32" name="Equation"/>
              <p:cNvSpPr txBox="1"/>
              <p:nvPr/>
            </p:nvSpPr>
            <p:spPr>
              <a:xfrm>
                <a:off x="12245340" y="3729482"/>
                <a:ext cx="4831080" cy="1051560"/>
              </a:xfrm>
              <a:prstGeom prst="rect">
                <a:avLst/>
              </a:prstGeom>
              <a:blipFill>
                <a:blip r:embed="rId6"/>
                <a:stretch>
                  <a:fillRect/>
                </a:stretch>
              </a:blipFill>
            </p:spPr>
            <p:txBody>
              <a:bodyPr/>
              <a:lstStyle/>
              <a:p>
                <a:endParaRPr lang="en-US"/>
              </a:p>
            </p:txBody>
          </p:sp>
        </mc:Fallback>
      </mc:AlternateContent>
      <p:sp>
        <p:nvSpPr>
          <p:cNvPr id="33" name="TextBox 32"/>
          <p:cNvSpPr txBox="1"/>
          <p:nvPr/>
        </p:nvSpPr>
        <p:spPr>
          <a:xfrm>
            <a:off x="12336780" y="4826762"/>
            <a:ext cx="4648200" cy="640080"/>
          </a:xfrm>
          <a:prstGeom prst="rect">
            <a:avLst/>
          </a:prstGeom>
          <a:noFill/>
        </p:spPr>
        <p:txBody>
          <a:bodyPr anchor="t" rtlCol="false" lIns="0" tIns="0" rIns="0" bIns="0" wrap="square"/>
          <a:lstStyle/>
          <a:p>
            <a:pPr algn="ctr">
              <a:lnSpc>
                <a:spcPts val="2200"/>
              </a:lnSpc>
              <a:spcBef>
                <a:spcPts val="0"/>
              </a:spcBef>
              <a:buNone/>
            </a:pPr>
            <a:r>
              <a:rPr lang="en-US" sz="1700" b="true">
                <a:solidFill>
                  <a:srgbClr val="FFFFFF"/>
                </a:solidFill>
                <a:latin typeface="Nunito Semi-Bold"/>
                <a:ea typeface="Nunito Semi-Bold"/>
                <a:cs typeface="Nunito Semi-Bold"/>
                <a:sym typeface="Nunito Semi-Bold"/>
              </a:rPr>
              <a:t>after </a:t>
            </a:r>
            <a:r>
              <a:rPr lang="en-US" sz="1700" b="true">
                <a:solidFill>
                  <a:srgbClr val="FFFFFF"/>
                </a:solidFill>
                <a:latin typeface="Nunito Bold"/>
                <a:ea typeface="Nunito Bold"/>
                <a:cs typeface="Nunito Bold"/>
                <a:sym typeface="Nunito Bold"/>
              </a:rPr>
              <a:t>Holm–Bonferroni</a:t>
            </a:r>
            <a:r>
              <a:rPr lang="en-US" sz="1700" b="true">
                <a:solidFill>
                  <a:srgbClr val="FFFFFF"/>
                </a:solidFill>
                <a:latin typeface="Nunito Semi-Bold"/>
                <a:ea typeface="Nunito Semi-Bold"/>
                <a:cs typeface="Nunito Semi-Bold"/>
                <a:sym typeface="Nunito Semi-Bold"/>
              </a:rPr>
              <a:t> correction</a:t>
            </a:r>
          </a:p>
        </p:txBody>
      </p:sp>
      <p:sp>
        <p:nvSpPr>
          <p:cNvPr id="34" name="TextBox 33"/>
          <p:cNvSpPr txBox="1"/>
          <p:nvPr/>
        </p:nvSpPr>
        <p:spPr>
          <a:xfrm>
            <a:off x="1028700" y="5695442"/>
            <a:ext cx="16230600" cy="411480"/>
          </a:xfrm>
          <a:prstGeom prst="rect">
            <a:avLst/>
          </a:prstGeom>
          <a:noFill/>
        </p:spPr>
        <p:txBody>
          <a:bodyPr anchor="t" rtlCol="false" lIns="0" tIns="0" rIns="0" bIns="0" wrap="square"/>
          <a:lstStyle/>
          <a:p>
            <a:pPr algn="l">
              <a:lnSpc>
                <a:spcPts val="1700"/>
              </a:lnSpc>
              <a:spcBef>
                <a:spcPts val="0"/>
              </a:spcBef>
              <a:buNone/>
            </a:pPr>
            <a:r>
              <a:rPr lang="en-US" sz="1300" b="true">
                <a:solidFill>
                  <a:srgbClr val="8A8378"/>
                </a:solidFill>
                <a:latin typeface="Nunito Semi-Bold"/>
                <a:ea typeface="Nunito Semi-Bold"/>
                <a:cs typeface="Nunito Semi-Bold"/>
                <a:sym typeface="Nunito Semi-Bold"/>
              </a:rPr>
              <a:t>Table 7.6 (thesis): paired tests on per-user NDCG@20, DyHuCoG vs HPCF (all six comparisons in the backup slides).</a:t>
            </a:r>
          </a:p>
        </p:txBody>
      </p:sp>
      <p:sp>
        <p:nvSpPr>
          <p:cNvPr id="35" name="Rounded Rectangle 34"/>
          <p:cNvSpPr/>
          <p:nvPr/>
        </p:nvSpPr>
        <p:spPr>
          <a:xfrm>
            <a:off x="1028700" y="6335522"/>
            <a:ext cx="16230600" cy="2973070"/>
          </a:xfrm>
          <a:prstGeom prst="roundRect">
            <a:avLst>
              <a:gd name="adj" fmla="val 10457"/>
            </a:avLst>
          </a:prstGeom>
          <a:solidFill>
            <a:srgbClr val="F6ECDF"/>
          </a:solidFill>
          <a:ln>
            <a:noFill/>
          </a:ln>
        </p:spPr>
        <p:txBody>
          <a:bodyPr anchor="ctr" rtlCol="false" lIns="0" tIns="0" rIns="0" bIns="0" wrap="square"/>
          <a:lstStyle/>
          <a:p>
            <a:endParaRPr lang="en-US" sz="1800"/>
          </a:p>
        </p:txBody>
      </p:sp>
      <p:sp>
        <p:nvSpPr>
          <p:cNvPr id="36" name="Rounded Rectangle 35"/>
          <p:cNvSpPr/>
          <p:nvPr/>
        </p:nvSpPr>
        <p:spPr>
          <a:xfrm>
            <a:off x="1485900" y="6097778"/>
            <a:ext cx="1794243"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Protocol</a:t>
            </a:r>
          </a:p>
        </p:txBody>
      </p:sp>
      <p:sp>
        <p:nvSpPr>
          <p:cNvPr id="37" name="TextBox 36"/>
          <p:cNvSpPr txBox="1"/>
          <p:nvPr/>
        </p:nvSpPr>
        <p:spPr>
          <a:xfrm>
            <a:off x="1531620" y="6975602"/>
            <a:ext cx="15270480" cy="2058670"/>
          </a:xfrm>
          <a:prstGeom prst="rect">
            <a:avLst/>
          </a:prstGeom>
          <a:noFill/>
        </p:spPr>
        <p:txBody>
          <a:bodyPr anchor="t" rtlCol="false" lIns="0" tIns="0" rIns="0" bIns="0" wrap="square"/>
          <a:lstStyle/>
          <a:p>
            <a:pPr algn="l" marL="274320" indent="-274320">
              <a:lnSpc>
                <a:spcPts val="2940"/>
              </a:lnSpc>
              <a:spcBef>
                <a:spcPts val="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Paired t-tests on </a:t>
            </a:r>
            <a:r>
              <a:rPr lang="en-US" sz="2100" b="true">
                <a:solidFill>
                  <a:srgbClr val="111111"/>
                </a:solidFill>
                <a:latin typeface="Nunito Bold"/>
                <a:ea typeface="Nunito Bold"/>
                <a:cs typeface="Nunito Bold"/>
                <a:sym typeface="Nunito Bold"/>
              </a:rPr>
              <a:t>per-user NDCG@20</a:t>
            </a:r>
            <a:r>
              <a:rPr lang="en-US" sz="2100" b="true">
                <a:solidFill>
                  <a:srgbClr val="111111"/>
                </a:solidFill>
                <a:latin typeface="Nunito Semi-Bold"/>
                <a:ea typeface="Nunito Semi-Bold"/>
                <a:cs typeface="Nunito Semi-Bold"/>
                <a:sym typeface="Nunito Semi-Bold"/>
              </a:rPr>
              <a:t> (n = 6,040 users, MovieLens-1M).</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Semi-Bold"/>
                <a:ea typeface="Nunito Semi-Bold"/>
                <a:cs typeface="Nunito Semi-Bold"/>
                <a:sym typeface="Nunito Semi-Bold"/>
              </a:rPr>
              <a:t>DyHuCoG beats </a:t>
            </a:r>
            <a:r>
              <a:rPr lang="en-US" sz="2100" b="true">
                <a:solidFill>
                  <a:srgbClr val="111111"/>
                </a:solidFill>
                <a:latin typeface="Nunito Bold"/>
                <a:ea typeface="Nunito Bold"/>
                <a:cs typeface="Nunito Bold"/>
                <a:sym typeface="Nunito Bold"/>
              </a:rPr>
              <a:t>every baseline</a:t>
            </a:r>
            <a:r>
              <a:rPr lang="en-US" sz="2100" b="true">
                <a:solidFill>
                  <a:srgbClr val="111111"/>
                </a:solidFill>
                <a:latin typeface="Nunito Semi-Bold"/>
                <a:ea typeface="Nunito Semi-Bold"/>
                <a:cs typeface="Nunito Semi-Bold"/>
                <a:sym typeface="Nunito Semi-Bold"/>
              </a:rPr>
              <a:t> with very small p-values after Holm–Bonferroni correction.</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Wilcoxon signed-rank test</a:t>
            </a:r>
            <a:r>
              <a:rPr lang="en-US" sz="2100" b="true">
                <a:solidFill>
                  <a:srgbClr val="111111"/>
                </a:solidFill>
                <a:latin typeface="Nunito Semi-Bold"/>
                <a:ea typeface="Nunito Semi-Bold"/>
                <a:cs typeface="Nunito Semi-Bold"/>
                <a:sym typeface="Nunito Semi-Bold"/>
              </a:rPr>
              <a:t> also significant (p &lt; 0.001): the result does not depend on normality.</a:t>
            </a:r>
          </a:p>
          <a:p>
            <a:pPr algn="l" marL="274320" indent="-274320">
              <a:lnSpc>
                <a:spcPts val="2940"/>
              </a:lnSpc>
              <a:spcBef>
                <a:spcPts val="900"/>
              </a:spcBef>
              <a:buClr>
                <a:srgbClr val="1F7A8C"/>
              </a:buClr>
              <a:buSzPct val="100000"/>
              <a:buFont typeface="Arial"/>
              <a:buChar char="•"/>
            </a:pPr>
            <a:r>
              <a:rPr lang="en-US" sz="2100" b="true">
                <a:solidFill>
                  <a:srgbClr val="111111"/>
                </a:solidFill>
                <a:latin typeface="Nunito Bold"/>
                <a:ea typeface="Nunito Bold"/>
                <a:cs typeface="Nunito Bold"/>
                <a:sym typeface="Nunito Bold"/>
              </a:rPr>
              <a:t>Effect sizes are large</a:t>
            </a:r>
            <a:r>
              <a:rPr lang="en-US" sz="2100" b="true">
                <a:solidFill>
                  <a:srgbClr val="111111"/>
                </a:solidFill>
                <a:latin typeface="Nunito Semi-Bold"/>
                <a:ea typeface="Nunito Semi-Bold"/>
                <a:cs typeface="Nunito Semi-Bold"/>
                <a:sym typeface="Nunito Semi-Bold"/>
              </a:rPr>
              <a:t>: the improvements really matter, they are not only statistically visible.</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63</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Answers to RQ3 and RQ4</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546602"/>
            <a:ext cx="7932420" cy="1600200"/>
          </a:xfrm>
          <a:prstGeom prst="roundRect">
            <a:avLst>
              <a:gd name="adj" fmla="val 12571"/>
            </a:avLst>
          </a:prstGeom>
          <a:solidFill>
            <a:srgbClr val="F6ECDF"/>
          </a:solidFill>
          <a:ln w="25400">
            <a:solidFill>
              <a:srgbClr val="4472C4"/>
            </a:solidFill>
          </a:ln>
        </p:spPr>
        <p:txBody>
          <a:bodyPr anchor="ctr" rtlCol="false" lIns="0" tIns="0" rIns="0" bIns="0" wrap="square"/>
          <a:lstStyle/>
          <a:p>
            <a:endParaRPr lang="en-US" sz="1800"/>
          </a:p>
        </p:txBody>
      </p:sp>
      <p:sp>
        <p:nvSpPr>
          <p:cNvPr id="26" name="Rounded Rectangle 25"/>
          <p:cNvSpPr/>
          <p:nvPr/>
        </p:nvSpPr>
        <p:spPr>
          <a:xfrm>
            <a:off x="134874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RQ3</a:t>
            </a:r>
          </a:p>
        </p:txBody>
      </p:sp>
      <p:sp>
        <p:nvSpPr>
          <p:cNvPr id="27" name="TextBox 26"/>
          <p:cNvSpPr txBox="1"/>
          <p:nvPr/>
        </p:nvSpPr>
        <p:spPr>
          <a:xfrm>
            <a:off x="1394460" y="3820922"/>
            <a:ext cx="7200900" cy="118872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Bold"/>
                <a:ea typeface="Nunito Bold"/>
                <a:cs typeface="Nunito Bold"/>
                <a:sym typeface="Nunito Bold"/>
              </a:rPr>
              <a:t>Yes.</a:t>
            </a:r>
            <a:r>
              <a:rPr lang="en-US" sz="1900" b="true">
                <a:solidFill>
                  <a:srgbClr val="111111"/>
                </a:solidFill>
                <a:latin typeface="Nunito Semi-Bold"/>
                <a:ea typeface="Nunito Semi-Bold"/>
                <a:cs typeface="Nunito Semi-Bold"/>
                <a:sym typeface="Nunito Semi-Bold"/>
              </a:rPr>
              <a:t> Attribution becomes an </a:t>
            </a:r>
            <a:r>
              <a:rPr lang="en-US" sz="1900" b="true">
                <a:solidFill>
                  <a:srgbClr val="111111"/>
                </a:solidFill>
                <a:latin typeface="Nunito Bold"/>
                <a:ea typeface="Nunito Bold"/>
                <a:cs typeface="Nunito Bold"/>
                <a:sym typeface="Nunito Bold"/>
              </a:rPr>
              <a:t>in-training signal</a:t>
            </a:r>
            <a:r>
              <a:rPr lang="en-US" sz="1900" b="true">
                <a:solidFill>
                  <a:srgbClr val="111111"/>
                </a:solidFill>
                <a:latin typeface="Nunito Semi-Bold"/>
                <a:ea typeface="Nunito Semi-Bold"/>
                <a:cs typeface="Nunito Semi-Bold"/>
                <a:sym typeface="Nunito Semi-Bold"/>
              </a:rPr>
              <a:t>: Shapley estimates set the hyperedge weights while the model learns, instead of describing it afterwards.</a:t>
            </a:r>
          </a:p>
        </p:txBody>
      </p:sp>
      <p:sp>
        <p:nvSpPr>
          <p:cNvPr id="28" name="Rounded Rectangle 27"/>
          <p:cNvSpPr/>
          <p:nvPr/>
        </p:nvSpPr>
        <p:spPr>
          <a:xfrm>
            <a:off x="9326880" y="3546602"/>
            <a:ext cx="7932420" cy="1600200"/>
          </a:xfrm>
          <a:prstGeom prst="roundRect">
            <a:avLst>
              <a:gd name="adj" fmla="val 12571"/>
            </a:avLst>
          </a:prstGeom>
          <a:solidFill>
            <a:srgbClr val="F6ECDF"/>
          </a:solidFill>
          <a:ln w="25400">
            <a:solidFill>
              <a:srgbClr val="4472C4"/>
            </a:solidFill>
          </a:ln>
        </p:spPr>
        <p:txBody>
          <a:bodyPr anchor="ctr" rtlCol="false" lIns="0" tIns="0" rIns="0" bIns="0" wrap="square"/>
          <a:lstStyle/>
          <a:p>
            <a:endParaRPr lang="en-US" sz="1800"/>
          </a:p>
        </p:txBody>
      </p:sp>
      <p:sp>
        <p:nvSpPr>
          <p:cNvPr id="29" name="Rounded Rectangle 28"/>
          <p:cNvSpPr/>
          <p:nvPr/>
        </p:nvSpPr>
        <p:spPr>
          <a:xfrm>
            <a:off x="9646920" y="3354578"/>
            <a:ext cx="2112238"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ANSWER TO RQ4</a:t>
            </a:r>
          </a:p>
        </p:txBody>
      </p:sp>
      <p:sp>
        <p:nvSpPr>
          <p:cNvPr id="30" name="TextBox 29"/>
          <p:cNvSpPr txBox="1"/>
          <p:nvPr/>
        </p:nvSpPr>
        <p:spPr>
          <a:xfrm>
            <a:off x="9692640" y="3820922"/>
            <a:ext cx="7200900" cy="1188720"/>
          </a:xfrm>
          <a:prstGeom prst="rect">
            <a:avLst/>
          </a:prstGeom>
          <a:noFill/>
        </p:spPr>
        <p:txBody>
          <a:bodyPr anchor="ctr" rtlCol="false" lIns="0" tIns="0" rIns="0" bIns="0" wrap="square"/>
          <a:lstStyle/>
          <a:p>
            <a:pPr algn="l">
              <a:lnSpc>
                <a:spcPts val="2660"/>
              </a:lnSpc>
              <a:spcBef>
                <a:spcPts val="0"/>
              </a:spcBef>
              <a:buNone/>
            </a:pPr>
            <a:r>
              <a:rPr lang="en-US" sz="1900" b="true">
                <a:solidFill>
                  <a:srgbClr val="111111"/>
                </a:solidFill>
                <a:latin typeface="Nunito Bold"/>
                <a:ea typeface="Nunito Bold"/>
                <a:cs typeface="Nunito Bold"/>
                <a:sym typeface="Nunito Bold"/>
              </a:rPr>
              <a:t>Yes.</a:t>
            </a:r>
            <a:r>
              <a:rPr lang="en-US" sz="1900" b="true">
                <a:solidFill>
                  <a:srgbClr val="111111"/>
                </a:solidFill>
                <a:latin typeface="Nunito Semi-Bold"/>
                <a:ea typeface="Nunito Semi-Bold"/>
                <a:cs typeface="Nunito Semi-Bold"/>
                <a:sym typeface="Nunito Semi-Bold"/>
              </a:rPr>
              <a:t> Ranking, coverage and diversity </a:t>
            </a:r>
            <a:r>
              <a:rPr lang="en-US" sz="1900" b="true">
                <a:solidFill>
                  <a:srgbClr val="111111"/>
                </a:solidFill>
                <a:latin typeface="Nunito Bold"/>
                <a:ea typeface="Nunito Bold"/>
                <a:cs typeface="Nunito Bold"/>
                <a:sym typeface="Nunito Bold"/>
              </a:rPr>
              <a:t>improve together</a:t>
            </a:r>
            <a:r>
              <a:rPr lang="en-US" sz="1900" b="true">
                <a:solidFill>
                  <a:srgbClr val="111111"/>
                </a:solidFill>
                <a:latin typeface="Nunito Semi-Bold"/>
                <a:ea typeface="Nunito Semi-Bold"/>
                <a:cs typeface="Nunito Semi-Bold"/>
                <a:sym typeface="Nunito Semi-Bold"/>
              </a:rPr>
              <a:t> on both datasets, with the largest gains where data are sparsest.</a:t>
            </a:r>
          </a:p>
        </p:txBody>
      </p:sp>
      <p:graphicFrame>
        <p:nvGraphicFramePr>
          <p:cNvPr id="31" name="Table 30"/>
          <p:cNvGraphicFramePr>
            <a:graphicFrameLocks noGrp="1"/>
          </p:cNvGraphicFramePr>
          <p:nvPr/>
        </p:nvGraphicFramePr>
        <p:xfrm>
          <a:off x="1028700" y="5558282"/>
          <a:ext cx="16230599" cy="3061716"/>
        </p:xfrm>
        <a:graphic>
          <a:graphicData uri="http://schemas.openxmlformats.org/drawingml/2006/table">
            <a:tbl>
              <a:tblPr firstRow="0" bandRow="0" firstCol="0" lastRow="0" lastCol="0" bandCol="0">
                <a:tableStyleId>{2D5ABB26-0587-4C30-8999-92F81FD0307C}</a:tableStyleId>
              </a:tblPr>
              <a:tblGrid>
                <a:gridCol w="5826369"/>
                <a:gridCol w="1352550"/>
                <a:gridCol w="9051680"/>
              </a:tblGrid>
              <a:tr h="731520">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Objective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210"/>
                        </a:lnSpc>
                        <a:spcBef>
                          <a:spcPts val="0"/>
                        </a:spcBef>
                        <a:buNone/>
                      </a:pPr>
                      <a:r>
                        <a:rPr lang="en-US" sz="1700" b="true">
                          <a:solidFill>
                            <a:srgbClr val="FFFFFF"/>
                          </a:solidFill>
                          <a:latin typeface="Nunito Bold"/>
                          <a:ea typeface="Nunito Bold"/>
                          <a:cs typeface="Nunito Bold"/>
                          <a:sym typeface="Nunito Bold"/>
                        </a:rPr>
                        <a:t>Status</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210"/>
                        </a:lnSpc>
                        <a:spcBef>
                          <a:spcPts val="0"/>
                        </a:spcBef>
                        <a:buNone/>
                      </a:pPr>
                      <a:r>
                        <a:rPr lang="en-US" sz="1700" b="true">
                          <a:solidFill>
                            <a:srgbClr val="FFFFFF"/>
                          </a:solidFill>
                          <a:latin typeface="Nunito Bold"/>
                          <a:ea typeface="Nunito Bold"/>
                          <a:cs typeface="Nunito Bold"/>
                          <a:sym typeface="Nunito Bold"/>
                        </a:rPr>
                        <a:t>Evidence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O1  ·  Recommendation as a cooperative game over users, items and contexts</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Player set U </a:t>
                      </a:r>
                      <a:r>
                        <a:rPr lang="en-US" sz="1700" b="true">
                          <a:solidFill>
                            <a:srgbClr val="111111"/>
                          </a:solidFill>
                          <a:latin typeface="Cambria Math"/>
                          <a:ea typeface="Cambria Math"/>
                          <a:cs typeface="Cambria Math"/>
                          <a:sym typeface="Cambria Math"/>
                        </a:rPr>
                        <a:t>∪ </a:t>
                      </a:r>
                      <a:r>
                        <a:rPr lang="en-US" sz="1700" b="true">
                          <a:solidFill>
                            <a:srgbClr val="111111"/>
                          </a:solidFill>
                          <a:latin typeface="Nunito Semi-Bold"/>
                          <a:ea typeface="Nunito Semi-Bold"/>
                          <a:cs typeface="Nunito Semi-Bold"/>
                          <a:sym typeface="Nunito Semi-Bold"/>
                        </a:rPr>
                        <a:t>I </a:t>
                      </a:r>
                      <a:r>
                        <a:rPr lang="en-US" sz="1700" b="true">
                          <a:solidFill>
                            <a:srgbClr val="111111"/>
                          </a:solidFill>
                          <a:latin typeface="Cambria Math"/>
                          <a:ea typeface="Cambria Math"/>
                          <a:cs typeface="Cambria Math"/>
                          <a:sym typeface="Cambria Math"/>
                        </a:rPr>
                        <a:t>∪ </a:t>
                      </a:r>
                      <a:r>
                        <a:rPr lang="en-US" sz="1700" b="true">
                          <a:solidFill>
                            <a:srgbClr val="111111"/>
                          </a:solidFill>
                          <a:latin typeface="Nunito Semi-Bold"/>
                          <a:ea typeface="Nunito Semi-Bold"/>
                          <a:cs typeface="Nunito Semi-Bold"/>
                          <a:sym typeface="Nunito Semi-Bold"/>
                        </a:rPr>
                        <a:t>C; coalition utility </a:t>
                      </a:r>
                      <a:r>
                        <a:rPr lang="en-US" sz="1700" b="true">
                          <a:solidFill>
                            <a:srgbClr val="111111"/>
                          </a:solidFill>
                          <a:latin typeface="Calibri"/>
                          <a:ea typeface="Calibri"/>
                          <a:cs typeface="Calibri"/>
                          <a:sym typeface="Calibri"/>
                        </a:rPr>
                        <a:t>α</a:t>
                      </a:r>
                      <a:r>
                        <a:rPr lang="en-US" sz="1700" b="true">
                          <a:solidFill>
                            <a:srgbClr val="111111"/>
                          </a:solidFill>
                          <a:latin typeface="Nunito Semi-Bold"/>
                          <a:ea typeface="Nunito Semi-Bold"/>
                          <a:cs typeface="Nunito Semi-Bold"/>
                          <a:sym typeface="Nunito Semi-Bold"/>
                        </a:rPr>
                        <a:t>·accuracy + </a:t>
                      </a:r>
                      <a:r>
                        <a:rPr lang="en-US" sz="1700" b="true">
                          <a:solidFill>
                            <a:srgbClr val="111111"/>
                          </a:solidFill>
                          <a:latin typeface="Calibri"/>
                          <a:ea typeface="Calibri"/>
                          <a:cs typeface="Calibri"/>
                          <a:sym typeface="Calibri"/>
                        </a:rPr>
                        <a:t>β</a:t>
                      </a:r>
                      <a:r>
                        <a:rPr lang="en-US" sz="1700" b="true">
                          <a:solidFill>
                            <a:srgbClr val="111111"/>
                          </a:solidFill>
                          <a:latin typeface="Nunito Semi-Bold"/>
                          <a:ea typeface="Nunito Semi-Bold"/>
                          <a:cs typeface="Nunito Semi-Bold"/>
                          <a:sym typeface="Nunito Semi-Bold"/>
                        </a:rPr>
                        <a:t>·diversity + </a:t>
                      </a:r>
                      <a:r>
                        <a:rPr lang="en-US" sz="1700" b="true">
                          <a:solidFill>
                            <a:srgbClr val="111111"/>
                          </a:solidFill>
                          <a:latin typeface="Calibri"/>
                          <a:ea typeface="Calibri"/>
                          <a:cs typeface="Calibri"/>
                          <a:sym typeface="Calibri"/>
                        </a:rPr>
                        <a:t>γ</a:t>
                      </a:r>
                      <a:r>
                        <a:rPr lang="en-US" sz="1700" b="true">
                          <a:solidFill>
                            <a:srgbClr val="111111"/>
                          </a:solidFill>
                          <a:latin typeface="Nunito Semi-Bold"/>
                          <a:ea typeface="Nunito Semi-Bold"/>
                          <a:cs typeface="Nunito Semi-Bold"/>
                          <a:sym typeface="Nunito Semi-Bold"/>
                        </a:rPr>
                        <a:t>·novelty</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O2  ·  Preference-aware Monte Carlo Shapley inside message passing</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M = 50 permutations, ≈ 99 % accuracy, refreshed every 10 batches; ablation −4.6 % / −6.1 % without it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776732">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O3  ·  Ranking, coverage and diversity together</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Met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210"/>
                        </a:lnSpc>
                        <a:spcBef>
                          <a:spcPts val="0"/>
                        </a:spcBef>
                        <a:buNone/>
                      </a:pPr>
                      <a:r>
                        <a:rPr lang="en-US" sz="1700" b="true">
                          <a:solidFill>
                            <a:srgbClr val="111111"/>
                          </a:solidFill>
                          <a:latin typeface="Nunito Semi-Bold"/>
                          <a:ea typeface="Nunito Semi-Bold"/>
                          <a:cs typeface="Nunito Semi-Bold"/>
                          <a:sym typeface="Nunito Semi-Bold"/>
                        </a:rPr>
                        <a:t>+9.8 % / +13.3 % NDCG@20, +16.1 % / +29.7 % Coverage, +11.9 % / +12.5 % ILD over HPCF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64</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Key Findings</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363722"/>
            <a:ext cx="16230600" cy="1339913"/>
          </a:xfrm>
          <a:prstGeom prst="roundRect">
            <a:avLst>
              <a:gd name="adj" fmla="val 15013"/>
            </a:avLst>
          </a:prstGeom>
          <a:solidFill>
            <a:srgbClr val="F6ECDF"/>
          </a:solidFill>
          <a:ln>
            <a:noFill/>
          </a:ln>
        </p:spPr>
        <p:txBody>
          <a:bodyPr anchor="ctr" rtlCol="false" lIns="0" tIns="0" rIns="0" bIns="0" wrap="square"/>
          <a:lstStyle/>
          <a:p>
            <a:endParaRPr lang="en-US" sz="1800"/>
          </a:p>
        </p:txBody>
      </p:sp>
      <p:sp>
        <p:nvSpPr>
          <p:cNvPr id="26" name="Oval 25"/>
          <p:cNvSpPr/>
          <p:nvPr/>
        </p:nvSpPr>
        <p:spPr>
          <a:xfrm>
            <a:off x="1303020" y="3750214"/>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1</a:t>
            </a:r>
          </a:p>
        </p:txBody>
      </p:sp>
      <p:sp>
        <p:nvSpPr>
          <p:cNvPr id="27" name="TextBox 26"/>
          <p:cNvSpPr txBox="1"/>
          <p:nvPr/>
        </p:nvSpPr>
        <p:spPr>
          <a:xfrm>
            <a:off x="2171700" y="3473450"/>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accuracy / diversity / context trade-off is not fixed by nature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When importance comes from a cooperative-game utility, NDCG, Recall, Coverage and ILD all move up together.</a:t>
            </a:r>
          </a:p>
        </p:txBody>
      </p:sp>
      <p:sp>
        <p:nvSpPr>
          <p:cNvPr id="28" name="Rounded Rectangle 27"/>
          <p:cNvSpPr/>
          <p:nvPr/>
        </p:nvSpPr>
        <p:spPr>
          <a:xfrm>
            <a:off x="1028700" y="4868227"/>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29" name="Oval 28"/>
          <p:cNvSpPr/>
          <p:nvPr/>
        </p:nvSpPr>
        <p:spPr>
          <a:xfrm>
            <a:off x="1303020" y="5254720"/>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2</a:t>
            </a:r>
          </a:p>
        </p:txBody>
      </p:sp>
      <p:sp>
        <p:nvSpPr>
          <p:cNvPr id="30" name="TextBox 29"/>
          <p:cNvSpPr txBox="1"/>
          <p:nvPr/>
        </p:nvSpPr>
        <p:spPr>
          <a:xfrm>
            <a:off x="2171700" y="4977955"/>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Gains are largest where data are weakest</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+13.3 % NDCG@20 on Amazon-Book vs +9.8 % on MovieLens-1M; +10.9 % / +9.6 % for cold users and cold items.</a:t>
            </a:r>
          </a:p>
        </p:txBody>
      </p:sp>
      <p:sp>
        <p:nvSpPr>
          <p:cNvPr id="31" name="Rounded Rectangle 30"/>
          <p:cNvSpPr/>
          <p:nvPr/>
        </p:nvSpPr>
        <p:spPr>
          <a:xfrm>
            <a:off x="1028700" y="6372733"/>
            <a:ext cx="16230600" cy="1339913"/>
          </a:xfrm>
          <a:prstGeom prst="roundRect">
            <a:avLst>
              <a:gd name="adj" fmla="val 15013"/>
            </a:avLst>
          </a:prstGeom>
          <a:solidFill>
            <a:srgbClr val="F6ECDF"/>
          </a:solidFill>
          <a:ln>
            <a:noFill/>
          </a:ln>
        </p:spPr>
        <p:txBody>
          <a:bodyPr anchor="ctr" rtlCol="false" lIns="0" tIns="0" rIns="0" bIns="0" wrap="square"/>
          <a:lstStyle/>
          <a:p>
            <a:endParaRPr lang="en-US" sz="1800"/>
          </a:p>
        </p:txBody>
      </p:sp>
      <p:sp>
        <p:nvSpPr>
          <p:cNvPr id="32" name="Oval 31"/>
          <p:cNvSpPr/>
          <p:nvPr/>
        </p:nvSpPr>
        <p:spPr>
          <a:xfrm>
            <a:off x="1303020" y="6759225"/>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3</a:t>
            </a:r>
          </a:p>
        </p:txBody>
      </p:sp>
      <p:sp>
        <p:nvSpPr>
          <p:cNvPr id="33" name="TextBox 32"/>
          <p:cNvSpPr txBox="1"/>
          <p:nvPr/>
        </p:nvSpPr>
        <p:spPr>
          <a:xfrm>
            <a:off x="2171700" y="6482461"/>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Context and structure carry the most weight</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Removing context (−8.2 % / −11.0 %) or the hypergraph (−6.8 % / −8.9 %) hurts most; Shapley weighting adds a further 4.6 % / 6.1 %.</a:t>
            </a:r>
          </a:p>
        </p:txBody>
      </p:sp>
      <p:sp>
        <p:nvSpPr>
          <p:cNvPr id="34" name="Rounded Rectangle 33"/>
          <p:cNvSpPr/>
          <p:nvPr/>
        </p:nvSpPr>
        <p:spPr>
          <a:xfrm>
            <a:off x="1028700" y="7877238"/>
            <a:ext cx="16230600" cy="1339913"/>
          </a:xfrm>
          <a:prstGeom prst="roundRect">
            <a:avLst>
              <a:gd name="adj" fmla="val 15013"/>
            </a:avLst>
          </a:prstGeom>
          <a:solidFill>
            <a:srgbClr val="FBF4EB"/>
          </a:solidFill>
          <a:ln>
            <a:noFill/>
          </a:ln>
        </p:spPr>
        <p:txBody>
          <a:bodyPr anchor="ctr" rtlCol="false" lIns="0" tIns="0" rIns="0" bIns="0" wrap="square"/>
          <a:lstStyle/>
          <a:p>
            <a:endParaRPr lang="en-US" sz="1800"/>
          </a:p>
        </p:txBody>
      </p:sp>
      <p:sp>
        <p:nvSpPr>
          <p:cNvPr id="35" name="Oval 34"/>
          <p:cNvSpPr/>
          <p:nvPr/>
        </p:nvSpPr>
        <p:spPr>
          <a:xfrm>
            <a:off x="1303020" y="8263731"/>
            <a:ext cx="566928" cy="566928"/>
          </a:xfrm>
          <a:prstGeom prst="ellipse">
            <a:avLst/>
          </a:prstGeom>
          <a:solidFill>
            <a:srgbClr val="4472C4"/>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4</a:t>
            </a:r>
          </a:p>
        </p:txBody>
      </p:sp>
      <p:sp>
        <p:nvSpPr>
          <p:cNvPr id="36" name="TextBox 35"/>
          <p:cNvSpPr txBox="1"/>
          <p:nvPr/>
        </p:nvSpPr>
        <p:spPr>
          <a:xfrm>
            <a:off x="2171700" y="7986966"/>
            <a:ext cx="14767560" cy="1120457"/>
          </a:xfrm>
          <a:prstGeom prst="rect">
            <a:avLst/>
          </a:prstGeom>
          <a:noFill/>
        </p:spPr>
        <p:txBody>
          <a:bodyPr anchor="ctr" rtlCol="false" lIns="0" tIns="0" rIns="0" bIns="0" wrap="square"/>
          <a:lstStyle/>
          <a:p>
            <a:pPr algn="l">
              <a:lnSpc>
                <a:spcPts val="2500"/>
              </a:lnSpc>
              <a:spcBef>
                <a:spcPts val="0"/>
              </a:spcBef>
              <a:buNone/>
            </a:pPr>
            <a:r>
              <a:rPr lang="en-US" sz="2100" b="true">
                <a:solidFill>
                  <a:srgbClr val="4472C4"/>
                </a:solidFill>
                <a:latin typeface="Nunito Ultra-Bold"/>
                <a:ea typeface="Nunito Ultra-Bold"/>
                <a:cs typeface="Nunito Ultra-Bold"/>
                <a:sym typeface="Nunito Ultra-Bold"/>
              </a:rPr>
              <a:t>The improvement is statistically solid and affordable</a:t>
            </a:r>
          </a:p>
          <a:p>
            <a:pPr algn="l">
              <a:lnSpc>
                <a:spcPts val="2400"/>
              </a:lnSpc>
              <a:spcBef>
                <a:spcPts val="400"/>
              </a:spcBef>
              <a:buNone/>
            </a:pPr>
            <a:r>
              <a:rPr lang="en-US" sz="1900" b="true">
                <a:solidFill>
                  <a:srgbClr val="111111"/>
                </a:solidFill>
                <a:latin typeface="Nunito Semi-Bold"/>
                <a:ea typeface="Nunito Semi-Bold"/>
                <a:cs typeface="Nunito Semi-Bold"/>
                <a:sym typeface="Nunito Semi-Bold"/>
              </a:rPr>
              <a:t>t = 46.38, d</a:t>
            </a:r>
            <a:r>
              <a:rPr lang="en-US" sz="1900" b="true" baseline="-25000">
                <a:solidFill>
                  <a:srgbClr val="111111"/>
                </a:solidFill>
                <a:latin typeface="Nunito Semi-Bold"/>
                <a:ea typeface="Nunito Semi-Bold"/>
                <a:cs typeface="Nunito Semi-Bold"/>
                <a:sym typeface="Nunito Semi-Bold"/>
              </a:rPr>
              <a:t>z</a:t>
            </a:r>
            <a:r>
              <a:rPr lang="en-US" sz="1900" b="true">
                <a:solidFill>
                  <a:srgbClr val="111111"/>
                </a:solidFill>
                <a:latin typeface="Nunito Semi-Bold"/>
                <a:ea typeface="Nunito Semi-Bold"/>
                <a:cs typeface="Nunito Semi-Bold"/>
                <a:sym typeface="Nunito Semi-Bold"/>
              </a:rPr>
              <a:t> = 1.33, p &lt; 10</a:t>
            </a:r>
            <a:r>
              <a:rPr lang="en-US" sz="1900" b="true" baseline="30000">
                <a:solidFill>
                  <a:srgbClr val="111111"/>
                </a:solidFill>
                <a:latin typeface="Nunito Semi-Bold"/>
                <a:ea typeface="Nunito Semi-Bold"/>
                <a:cs typeface="Nunito Semi-Bold"/>
                <a:sym typeface="Nunito Semi-Bold"/>
              </a:rPr>
              <a:t>−200</a:t>
            </a:r>
            <a:r>
              <a:rPr lang="en-US" sz="1900" b="true">
                <a:solidFill>
                  <a:srgbClr val="111111"/>
                </a:solidFill>
                <a:latin typeface="Nunito Semi-Bold"/>
                <a:ea typeface="Nunito Semi-Bold"/>
                <a:cs typeface="Nunito Semi-Bold"/>
                <a:sym typeface="Nunito Semi-Bold"/>
              </a:rPr>
              <a:t> vs HPCF; training ≈ 1.78× HPCF, inference 1.84 ms per query.</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65</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363722"/>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26" name="TextBox 25"/>
          <p:cNvSpPr txBox="1"/>
          <p:nvPr/>
        </p:nvSpPr>
        <p:spPr>
          <a:xfrm>
            <a:off x="139446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COMPUTE OVERHEAD</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Roughly </a:t>
            </a:r>
            <a:r>
              <a:rPr lang="en-US" sz="1900" b="true">
                <a:solidFill>
                  <a:srgbClr val="FFFFFF"/>
                </a:solidFill>
                <a:latin typeface="Nunito Bold"/>
                <a:ea typeface="Nunito Bold"/>
                <a:cs typeface="Nunito Bold"/>
                <a:sym typeface="Nunito Bold"/>
              </a:rPr>
              <a:t>1.78× the training time</a:t>
            </a:r>
            <a:r>
              <a:rPr lang="en-US" sz="1900" b="true">
                <a:solidFill>
                  <a:srgbClr val="FFFFFF"/>
                </a:solidFill>
                <a:latin typeface="Nunito Semi-Bold"/>
                <a:ea typeface="Nunito Semi-Bold"/>
                <a:cs typeface="Nunito Semi-Bold"/>
                <a:sym typeface="Nunito Semi-Bold"/>
              </a:rPr>
              <a:t> of HPCF on MovieLens-1M (≈ 3.4× MF); acceptable, but not free.</a:t>
            </a:r>
          </a:p>
        </p:txBody>
      </p:sp>
      <p:sp>
        <p:nvSpPr>
          <p:cNvPr id="27" name="Rounded Rectangle 26"/>
          <p:cNvSpPr/>
          <p:nvPr/>
        </p:nvSpPr>
        <p:spPr>
          <a:xfrm>
            <a:off x="9304020" y="3363722"/>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28" name="TextBox 27"/>
          <p:cNvSpPr txBox="1"/>
          <p:nvPr/>
        </p:nvSpPr>
        <p:spPr>
          <a:xfrm>
            <a:off x="9669780" y="3638042"/>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NEEDS MEANINGFUL CONTEXT</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The largest single component is </a:t>
            </a:r>
            <a:r>
              <a:rPr lang="en-US" sz="1900" b="true">
                <a:solidFill>
                  <a:srgbClr val="FFFFFF"/>
                </a:solidFill>
                <a:latin typeface="Nunito Bold"/>
                <a:ea typeface="Nunito Bold"/>
                <a:cs typeface="Nunito Bold"/>
                <a:sym typeface="Nunito Bold"/>
              </a:rPr>
              <a:t>context</a:t>
            </a:r>
            <a:r>
              <a:rPr lang="en-US" sz="1900" b="true">
                <a:solidFill>
                  <a:srgbClr val="FFFFFF"/>
                </a:solidFill>
                <a:latin typeface="Nunito Semi-Bold"/>
                <a:ea typeface="Nunito Semi-Bold"/>
                <a:cs typeface="Nunito Semi-Bold"/>
                <a:sym typeface="Nunito Semi-Bold"/>
              </a:rPr>
              <a:t>; on data without usable context the gain shrinks.</a:t>
            </a:r>
          </a:p>
        </p:txBody>
      </p:sp>
      <p:sp>
        <p:nvSpPr>
          <p:cNvPr id="29" name="Rounded Rectangle 28"/>
          <p:cNvSpPr/>
          <p:nvPr/>
        </p:nvSpPr>
        <p:spPr>
          <a:xfrm>
            <a:off x="1028700" y="5810377"/>
            <a:ext cx="7955280" cy="2172335"/>
          </a:xfrm>
          <a:prstGeom prst="roundRect">
            <a:avLst>
              <a:gd name="adj" fmla="val 11786"/>
            </a:avLst>
          </a:prstGeom>
          <a:solidFill>
            <a:srgbClr val="2F5597"/>
          </a:solidFill>
          <a:ln>
            <a:noFill/>
          </a:ln>
        </p:spPr>
        <p:txBody>
          <a:bodyPr anchor="ctr" rtlCol="false" lIns="0" tIns="0" rIns="0" bIns="0" wrap="square"/>
          <a:lstStyle/>
          <a:p>
            <a:endParaRPr lang="en-US" sz="1800"/>
          </a:p>
        </p:txBody>
      </p:sp>
      <p:sp>
        <p:nvSpPr>
          <p:cNvPr id="30" name="TextBox 29"/>
          <p:cNvSpPr txBox="1"/>
          <p:nvPr/>
        </p:nvSpPr>
        <p:spPr>
          <a:xfrm>
            <a:off x="139446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MONTE CARLO VARIANCE</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M = 50 gives ≈ 99 % accuracy; </a:t>
            </a:r>
            <a:r>
              <a:rPr lang="en-US" sz="1900" b="true">
                <a:solidFill>
                  <a:srgbClr val="FFFFFF"/>
                </a:solidFill>
                <a:latin typeface="Nunito Bold"/>
                <a:ea typeface="Nunito Bold"/>
                <a:cs typeface="Nunito Bold"/>
                <a:sym typeface="Nunito Bold"/>
              </a:rPr>
              <a:t>variance reduction</a:t>
            </a:r>
            <a:r>
              <a:rPr lang="en-US" sz="1900" b="true">
                <a:solidFill>
                  <a:srgbClr val="FFFFFF"/>
                </a:solidFill>
                <a:latin typeface="Nunito Semi-Bold"/>
                <a:ea typeface="Nunito Semi-Bold"/>
                <a:cs typeface="Nunito Semi-Bold"/>
                <a:sym typeface="Nunito Semi-Bold"/>
              </a:rPr>
              <a:t> could cut the refresh cost further.</a:t>
            </a:r>
          </a:p>
        </p:txBody>
      </p:sp>
      <p:sp>
        <p:nvSpPr>
          <p:cNvPr id="31" name="Rounded Rectangle 30"/>
          <p:cNvSpPr/>
          <p:nvPr/>
        </p:nvSpPr>
        <p:spPr>
          <a:xfrm>
            <a:off x="9304020" y="5810377"/>
            <a:ext cx="7955280" cy="2172335"/>
          </a:xfrm>
          <a:prstGeom prst="roundRect">
            <a:avLst>
              <a:gd name="adj" fmla="val 11786"/>
            </a:avLst>
          </a:prstGeom>
          <a:solidFill>
            <a:srgbClr val="4472C4"/>
          </a:solidFill>
          <a:ln>
            <a:noFill/>
          </a:ln>
        </p:spPr>
        <p:txBody>
          <a:bodyPr anchor="ctr" rtlCol="false" lIns="0" tIns="0" rIns="0" bIns="0" wrap="square"/>
          <a:lstStyle/>
          <a:p>
            <a:endParaRPr lang="en-US" sz="1800"/>
          </a:p>
        </p:txBody>
      </p:sp>
      <p:sp>
        <p:nvSpPr>
          <p:cNvPr id="32" name="TextBox 31"/>
          <p:cNvSpPr txBox="1"/>
          <p:nvPr/>
        </p:nvSpPr>
        <p:spPr>
          <a:xfrm>
            <a:off x="9669780" y="6084697"/>
            <a:ext cx="7223760" cy="1715135"/>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ECC665"/>
                </a:solidFill>
                <a:latin typeface="Nunito Ultra-Bold"/>
                <a:ea typeface="Nunito Ultra-Bold"/>
                <a:cs typeface="Nunito Ultra-Bold"/>
                <a:sym typeface="Nunito Ultra-Bold"/>
              </a:rPr>
              <a:t>SCOPE OF THE CLAIM</a:t>
            </a:r>
          </a:p>
          <a:p>
            <a:pPr algn="l">
              <a:lnSpc>
                <a:spcPts val="2400"/>
              </a:lnSpc>
              <a:spcBef>
                <a:spcPts val="800"/>
              </a:spcBef>
              <a:buNone/>
            </a:pPr>
            <a:r>
              <a:rPr lang="en-US" sz="1900" b="true">
                <a:solidFill>
                  <a:srgbClr val="FFFFFF"/>
                </a:solidFill>
                <a:latin typeface="Nunito Semi-Bold"/>
                <a:ea typeface="Nunito Semi-Bold"/>
                <a:cs typeface="Nunito Semi-Bold"/>
                <a:sym typeface="Nunito Semi-Bold"/>
              </a:rPr>
              <a:t>Component-wise ablation only; baselines fixed in early 2026, so superiority is claimed </a:t>
            </a:r>
            <a:r>
              <a:rPr lang="en-US" sz="1900" b="true">
                <a:solidFill>
                  <a:srgbClr val="FFFFFF"/>
                </a:solidFill>
                <a:latin typeface="Nunito Bold"/>
                <a:ea typeface="Nunito Bold"/>
                <a:cs typeface="Nunito Bold"/>
                <a:sym typeface="Nunito Bold"/>
              </a:rPr>
              <a:t>only against the tested baselines</a:t>
            </a:r>
            <a:r>
              <a:rPr lang="en-US" sz="1900" b="true">
                <a:solidFill>
                  <a:srgbClr val="FFFFFF"/>
                </a:solidFill>
                <a:latin typeface="Nunito Semi-Bold"/>
                <a:ea typeface="Nunito Semi-Bold"/>
                <a:cs typeface="Nunito Semi-Bold"/>
                <a:sym typeface="Nunito Semi-Bold"/>
              </a:rPr>
              <a:t>.</a:t>
            </a:r>
          </a:p>
        </p:txBody>
      </p:sp>
      <p:sp>
        <p:nvSpPr>
          <p:cNvPr id="33" name="Rounded Rectangle 32"/>
          <p:cNvSpPr/>
          <p:nvPr/>
        </p:nvSpPr>
        <p:spPr>
          <a:xfrm>
            <a:off x="1028700" y="8348472"/>
            <a:ext cx="16230600" cy="960120"/>
          </a:xfrm>
          <a:prstGeom prst="roundRect">
            <a:avLst>
              <a:gd name="adj" fmla="val 23809"/>
            </a:avLst>
          </a:prstGeom>
          <a:noFill/>
          <a:ln w="31750">
            <a:solidFill>
              <a:srgbClr val="1F7A8C"/>
            </a:solidFill>
          </a:ln>
        </p:spPr>
        <p:txBody>
          <a:bodyPr anchor="ctr" rtlCol="false" lIns="457200" tIns="91440" rIns="457200" bIns="91440" wrap="square"/>
          <a:lstStyle/>
          <a:p>
            <a:pPr algn="ctr">
              <a:lnSpc>
                <a:spcPts val="2500"/>
              </a:lnSpc>
              <a:spcBef>
                <a:spcPts val="0"/>
              </a:spcBef>
              <a:buNone/>
            </a:pPr>
            <a:r>
              <a:rPr lang="en-US" sz="2000" b="true">
                <a:solidFill>
                  <a:srgbClr val="111111"/>
                </a:solidFill>
                <a:latin typeface="Nunito Semi-Bold"/>
                <a:ea typeface="Nunito Semi-Bold"/>
                <a:cs typeface="Nunito Semi-Bold"/>
                <a:sym typeface="Nunito Semi-Bold"/>
              </a:rPr>
              <a:t>None of these change the main message: attribution can </a:t>
            </a:r>
            <a:r>
              <a:rPr lang="en-US" sz="2000" b="true">
                <a:solidFill>
                  <a:srgbClr val="111111"/>
                </a:solidFill>
                <a:latin typeface="Nunito Bold"/>
                <a:ea typeface="Nunito Bold"/>
                <a:cs typeface="Nunito Bold"/>
                <a:sym typeface="Nunito Bold"/>
              </a:rPr>
              <a:t>guide learning</a:t>
            </a:r>
            <a:r>
              <a:rPr lang="en-US" sz="2000" b="true">
                <a:solidFill>
                  <a:srgbClr val="111111"/>
                </a:solidFill>
                <a:latin typeface="Nunito Semi-Bold"/>
                <a:ea typeface="Nunito Semi-Bold"/>
                <a:cs typeface="Nunito Semi-Bold"/>
                <a:sym typeface="Nunito Semi-Bold"/>
              </a:rPr>
              <a:t>, not only describe it.</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66</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CONTRIBUTION III: DYHUCOG, A DYNAMIC HYPERGRAPH COOPERATIVE GAME</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Takeaway: Contribution III</a:t>
            </a:r>
          </a:p>
        </p:txBody>
      </p:sp>
      <p:sp>
        <p:nvSpPr>
          <p:cNvPr id="21" name="Rounded Rectangle 20"/>
          <p:cNvSpPr/>
          <p:nvPr/>
        </p:nvSpPr>
        <p:spPr>
          <a:xfrm>
            <a:off x="1028700" y="2559050"/>
            <a:ext cx="169155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Objectives</a:t>
            </a:r>
          </a:p>
        </p:txBody>
      </p:sp>
      <p:sp>
        <p:nvSpPr>
          <p:cNvPr id="22" name="Rounded Rectangle 21"/>
          <p:cNvSpPr/>
          <p:nvPr/>
        </p:nvSpPr>
        <p:spPr>
          <a:xfrm>
            <a:off x="2848269" y="2559050"/>
            <a:ext cx="1998119"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Methodology</a:t>
            </a:r>
          </a:p>
        </p:txBody>
      </p:sp>
      <p:sp>
        <p:nvSpPr>
          <p:cNvPr id="23" name="Rounded Rectangle 22"/>
          <p:cNvSpPr/>
          <p:nvPr/>
        </p:nvSpPr>
        <p:spPr>
          <a:xfrm>
            <a:off x="4974404" y="2559050"/>
            <a:ext cx="136944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Results</a:t>
            </a:r>
          </a:p>
        </p:txBody>
      </p:sp>
      <p:sp>
        <p:nvSpPr>
          <p:cNvPr id="24" name="Rounded Rectangle 23"/>
          <p:cNvSpPr/>
          <p:nvPr/>
        </p:nvSpPr>
        <p:spPr>
          <a:xfrm>
            <a:off x="6471866" y="2559050"/>
            <a:ext cx="1474931"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Findings</a:t>
            </a:r>
          </a:p>
        </p:txBody>
      </p:sp>
      <p:sp>
        <p:nvSpPr>
          <p:cNvPr id="25" name="Rounded Rectangle 24"/>
          <p:cNvSpPr/>
          <p:nvPr/>
        </p:nvSpPr>
        <p:spPr>
          <a:xfrm>
            <a:off x="1028700" y="3363722"/>
            <a:ext cx="5196840" cy="2651760"/>
          </a:xfrm>
          <a:prstGeom prst="roundRect">
            <a:avLst>
              <a:gd name="adj" fmla="val 10344"/>
            </a:avLst>
          </a:prstGeom>
          <a:solidFill>
            <a:srgbClr val="4472C4"/>
          </a:solidFill>
          <a:ln>
            <a:noFill/>
          </a:ln>
        </p:spPr>
        <p:txBody>
          <a:bodyPr anchor="ctr" rtlCol="false" lIns="0" tIns="0" rIns="0" bIns="0" wrap="square"/>
          <a:lstStyle/>
          <a:p>
            <a:endParaRPr lang="en-US" sz="1800"/>
          </a:p>
        </p:txBody>
      </p:sp>
      <p:sp>
        <p:nvSpPr>
          <p:cNvPr id="26" name="TextBox 25"/>
          <p:cNvSpPr txBox="1"/>
          <p:nvPr/>
        </p:nvSpPr>
        <p:spPr>
          <a:xfrm>
            <a:off x="139446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First-class</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Shapley estimates shape the hyperedge weights during training.</a:t>
            </a:r>
          </a:p>
        </p:txBody>
      </p:sp>
      <p:sp>
        <p:nvSpPr>
          <p:cNvPr id="27" name="Rounded Rectangle 26"/>
          <p:cNvSpPr/>
          <p:nvPr/>
        </p:nvSpPr>
        <p:spPr>
          <a:xfrm>
            <a:off x="6545580" y="3363722"/>
            <a:ext cx="5196840" cy="2651760"/>
          </a:xfrm>
          <a:prstGeom prst="roundRect">
            <a:avLst>
              <a:gd name="adj" fmla="val 10344"/>
            </a:avLst>
          </a:prstGeom>
          <a:solidFill>
            <a:srgbClr val="2F5597"/>
          </a:solidFill>
          <a:ln>
            <a:noFill/>
          </a:ln>
        </p:spPr>
        <p:txBody>
          <a:bodyPr anchor="ctr" rtlCol="false" lIns="0" tIns="0" rIns="0" bIns="0" wrap="square"/>
          <a:lstStyle/>
          <a:p>
            <a:endParaRPr lang="en-US" sz="1800"/>
          </a:p>
        </p:txBody>
      </p:sp>
      <p:sp>
        <p:nvSpPr>
          <p:cNvPr id="28" name="TextBox 27"/>
          <p:cNvSpPr txBox="1"/>
          <p:nvPr/>
        </p:nvSpPr>
        <p:spPr>
          <a:xfrm>
            <a:off x="691134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ECC665"/>
                </a:solidFill>
                <a:latin typeface="Roca Two Bold"/>
                <a:ea typeface="Roca Two Bold"/>
                <a:cs typeface="Roca Two Bold"/>
                <a:sym typeface="Roca Two Bold"/>
              </a:rPr>
              <a:t>Read-out</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The waterfall shows the same terms the loss optimises: ranking, diversity, context, preference.</a:t>
            </a:r>
          </a:p>
        </p:txBody>
      </p:sp>
      <p:sp>
        <p:nvSpPr>
          <p:cNvPr id="29" name="Rounded Rectangle 28"/>
          <p:cNvSpPr/>
          <p:nvPr/>
        </p:nvSpPr>
        <p:spPr>
          <a:xfrm>
            <a:off x="12062460" y="3363722"/>
            <a:ext cx="5196840" cy="2651760"/>
          </a:xfrm>
          <a:prstGeom prst="roundRect">
            <a:avLst>
              <a:gd name="adj" fmla="val 10344"/>
            </a:avLst>
          </a:prstGeom>
          <a:solidFill>
            <a:srgbClr val="1F7A8C"/>
          </a:solidFill>
          <a:ln>
            <a:noFill/>
          </a:ln>
        </p:spPr>
        <p:txBody>
          <a:bodyPr anchor="ctr" rtlCol="false" lIns="0" tIns="0" rIns="0" bIns="0" wrap="square"/>
          <a:lstStyle/>
          <a:p>
            <a:endParaRPr lang="en-US" sz="1800"/>
          </a:p>
        </p:txBody>
      </p:sp>
      <p:sp>
        <p:nvSpPr>
          <p:cNvPr id="30" name="TextBox 29"/>
          <p:cNvSpPr txBox="1"/>
          <p:nvPr/>
        </p:nvSpPr>
        <p:spPr>
          <a:xfrm>
            <a:off x="12428220" y="3683762"/>
            <a:ext cx="4465320" cy="2103120"/>
          </a:xfrm>
          <a:prstGeom prst="rect">
            <a:avLst/>
          </a:prstGeom>
          <a:noFill/>
        </p:spPr>
        <p:txBody>
          <a:bodyPr anchor="t" rtlCol="false" lIns="0" tIns="0" rIns="0" bIns="0" wrap="square"/>
          <a:lstStyle/>
          <a:p>
            <a:pPr algn="l">
              <a:lnSpc>
                <a:spcPts val="3200"/>
              </a:lnSpc>
              <a:spcBef>
                <a:spcPts val="0"/>
              </a:spcBef>
              <a:buNone/>
            </a:pPr>
            <a:r>
              <a:rPr lang="en-US" sz="2800" b="true" spc="-120">
                <a:solidFill>
                  <a:srgbClr val="FFFFFF"/>
                </a:solidFill>
                <a:latin typeface="Roca Two Bold"/>
                <a:ea typeface="Roca Two Bold"/>
                <a:cs typeface="Roca Two Bold"/>
                <a:sym typeface="Roca Two Bold"/>
              </a:rPr>
              <a:t>Axiomatic</a:t>
            </a:r>
          </a:p>
          <a:p>
            <a:pPr algn="l">
              <a:lnSpc>
                <a:spcPts val="2400"/>
              </a:lnSpc>
              <a:spcBef>
                <a:spcPts val="1000"/>
              </a:spcBef>
              <a:buNone/>
            </a:pPr>
            <a:r>
              <a:rPr lang="en-US" sz="1900" b="true">
                <a:solidFill>
                  <a:srgbClr val="F7F2EA"/>
                </a:solidFill>
                <a:latin typeface="Nunito Semi-Bold"/>
                <a:ea typeface="Nunito Semi-Bold"/>
                <a:cs typeface="Nunito Semi-Bold"/>
                <a:sym typeface="Nunito Semi-Bold"/>
              </a:rPr>
              <a:t>Built on the four Shapley axioms, in line with trustworthy-AI expectations.</a:t>
            </a:r>
          </a:p>
        </p:txBody>
      </p:sp>
      <p:sp>
        <p:nvSpPr>
          <p:cNvPr id="31" name="Rounded Rectangle 30"/>
          <p:cNvSpPr/>
          <p:nvPr/>
        </p:nvSpPr>
        <p:spPr>
          <a:xfrm>
            <a:off x="1028700" y="6472682"/>
            <a:ext cx="16230600" cy="1600200"/>
          </a:xfrm>
          <a:prstGeom prst="roundRect">
            <a:avLst>
              <a:gd name="adj" fmla="val 12571"/>
            </a:avLst>
          </a:prstGeom>
          <a:solidFill>
            <a:srgbClr val="F6ECDF"/>
          </a:solidFill>
          <a:ln w="25400">
            <a:solidFill>
              <a:srgbClr val="1F7A8C"/>
            </a:solidFill>
          </a:ln>
        </p:spPr>
        <p:txBody>
          <a:bodyPr anchor="ctr" rtlCol="false" lIns="0" tIns="0" rIns="0" bIns="0" wrap="square"/>
          <a:lstStyle/>
          <a:p>
            <a:endParaRPr lang="en-US" sz="1800"/>
          </a:p>
        </p:txBody>
      </p:sp>
      <p:sp>
        <p:nvSpPr>
          <p:cNvPr id="32" name="Rounded Rectangle 31"/>
          <p:cNvSpPr/>
          <p:nvPr/>
        </p:nvSpPr>
        <p:spPr>
          <a:xfrm>
            <a:off x="1348740" y="6280658"/>
            <a:ext cx="3471275"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CONTRIBUTION III</a:t>
            </a:r>
          </a:p>
        </p:txBody>
      </p:sp>
      <p:sp>
        <p:nvSpPr>
          <p:cNvPr id="33" name="TextBox 32"/>
          <p:cNvSpPr txBox="1"/>
          <p:nvPr/>
        </p:nvSpPr>
        <p:spPr>
          <a:xfrm>
            <a:off x="1394460" y="6747002"/>
            <a:ext cx="15499080" cy="1188720"/>
          </a:xfrm>
          <a:prstGeom prst="rect">
            <a:avLst/>
          </a:prstGeom>
          <a:noFill/>
        </p:spPr>
        <p:txBody>
          <a:bodyPr anchor="ctr" rtlCol="false" lIns="0" tIns="0" rIns="0" bIns="0" wrap="square"/>
          <a:lstStyle/>
          <a:p>
            <a:pPr algn="l">
              <a:lnSpc>
                <a:spcPts val="3220"/>
              </a:lnSpc>
              <a:spcBef>
                <a:spcPts val="0"/>
              </a:spcBef>
              <a:buNone/>
            </a:pPr>
            <a:r>
              <a:rPr lang="en-US" sz="2300" b="true">
                <a:solidFill>
                  <a:srgbClr val="111111"/>
                </a:solidFill>
                <a:latin typeface="Nunito Semi-Bold"/>
                <a:ea typeface="Nunito Semi-Bold"/>
                <a:cs typeface="Nunito Semi-Bold"/>
                <a:sym typeface="Nunito Semi-Bold"/>
              </a:rPr>
              <a:t>Attribution becomes a </a:t>
            </a:r>
            <a:r>
              <a:rPr lang="en-US" sz="2300" b="true">
                <a:solidFill>
                  <a:srgbClr val="111111"/>
                </a:solidFill>
                <a:latin typeface="Nunito Bold"/>
                <a:ea typeface="Nunito Bold"/>
                <a:cs typeface="Nunito Bold"/>
                <a:sym typeface="Nunito Bold"/>
              </a:rPr>
              <a:t>first-class part of the learning objective</a:t>
            </a:r>
            <a:r>
              <a:rPr lang="en-US" sz="2300" b="true">
                <a:solidFill>
                  <a:srgbClr val="111111"/>
                </a:solidFill>
                <a:latin typeface="Nunito Semi-Bold"/>
                <a:ea typeface="Nunito Semi-Bold"/>
                <a:cs typeface="Nunito Semi-Bold"/>
                <a:sym typeface="Nunito Semi-Bold"/>
              </a:rPr>
              <a:t>: the explanation is a direct read-out of what the model optimises, so it is </a:t>
            </a:r>
            <a:r>
              <a:rPr lang="en-US" sz="2300" b="true">
                <a:solidFill>
                  <a:srgbClr val="111111"/>
                </a:solidFill>
                <a:latin typeface="Nunito Bold"/>
                <a:ea typeface="Nunito Bold"/>
                <a:cs typeface="Nunito Bold"/>
                <a:sym typeface="Nunito Bold"/>
              </a:rPr>
              <a:t>faithful by design</a:t>
            </a:r>
            <a:r>
              <a:rPr lang="en-US" sz="2300" b="true">
                <a:solidFill>
                  <a:srgbClr val="111111"/>
                </a:solidFill>
                <a:latin typeface="Nunito Semi-Bold"/>
                <a:ea typeface="Nunito Semi-Bold"/>
                <a:cs typeface="Nunito Semi-Bold"/>
                <a:sym typeface="Nunito Semi-Bold"/>
              </a:rPr>
              <a:t>, not an outside approximation.</a:t>
            </a:r>
          </a:p>
        </p:txBody>
      </p:sp>
      <p:sp>
        <p:nvSpPr>
          <p:cNvPr id="34" name="Rounded Rectangle 33"/>
          <p:cNvSpPr/>
          <p:nvPr/>
        </p:nvSpPr>
        <p:spPr>
          <a:xfrm>
            <a:off x="1028700" y="8392922"/>
            <a:ext cx="16230600" cy="961390"/>
          </a:xfrm>
          <a:prstGeom prst="roundRect">
            <a:avLst>
              <a:gd name="adj" fmla="val 23778"/>
            </a:avLst>
          </a:prstGeom>
          <a:solidFill>
            <a:srgbClr val="4472C4"/>
          </a:solidFill>
          <a:ln>
            <a:noFill/>
          </a:ln>
        </p:spPr>
        <p:txBody>
          <a:bodyPr anchor="ctr" rtlCol="false" lIns="457200" tIns="45720" rIns="457200" bIns="45720" wrap="square"/>
          <a:lstStyle/>
          <a:p>
            <a:pPr algn="ctr">
              <a:lnSpc>
                <a:spcPts val="2500"/>
              </a:lnSpc>
              <a:spcBef>
                <a:spcPts val="0"/>
              </a:spcBef>
              <a:buNone/>
            </a:pPr>
            <a:r>
              <a:rPr lang="en-US" sz="2000" b="true">
                <a:solidFill>
                  <a:srgbClr val="FFFFFF"/>
                </a:solidFill>
                <a:latin typeface="Nunito Semi-Bold"/>
                <a:ea typeface="Nunito Semi-Bold"/>
                <a:cs typeface="Nunito Semi-Bold"/>
                <a:sym typeface="Nunito Semi-Bold"/>
              </a:rPr>
              <a:t>From </a:t>
            </a:r>
            <a:r>
              <a:rPr lang="en-US" sz="2000" b="true">
                <a:solidFill>
                  <a:srgbClr val="FFFFFF"/>
                </a:solidFill>
                <a:latin typeface="Nunito Bold"/>
                <a:ea typeface="Nunito Bold"/>
                <a:cs typeface="Nunito Bold"/>
                <a:sym typeface="Nunito Bold"/>
              </a:rPr>
              <a:t>post-hoc description</a:t>
            </a:r>
            <a:r>
              <a:rPr lang="en-US" sz="2000" b="true">
                <a:solidFill>
                  <a:srgbClr val="FFFFFF"/>
                </a:solidFill>
                <a:latin typeface="Nunito Semi-Bold"/>
                <a:ea typeface="Nunito Semi-Bold"/>
                <a:cs typeface="Nunito Semi-Bold"/>
                <a:sym typeface="Nunito Semi-Bold"/>
              </a:rPr>
              <a:t> (C1, C2) to </a:t>
            </a:r>
            <a:r>
              <a:rPr lang="en-US" sz="2000" b="true">
                <a:solidFill>
                  <a:srgbClr val="FFFFFF"/>
                </a:solidFill>
                <a:latin typeface="Nunito Bold"/>
                <a:ea typeface="Nunito Bold"/>
                <a:cs typeface="Nunito Bold"/>
                <a:sym typeface="Nunito Bold"/>
              </a:rPr>
              <a:t>in-training guidance</a:t>
            </a:r>
            <a:r>
              <a:rPr lang="en-US" sz="2000" b="true">
                <a:solidFill>
                  <a:srgbClr val="FFFFFF"/>
                </a:solidFill>
                <a:latin typeface="Nunito Semi-Bold"/>
                <a:ea typeface="Nunito Semi-Bold"/>
                <a:cs typeface="Nunito Semi-Bold"/>
                <a:sym typeface="Nunito Semi-Bold"/>
              </a:rPr>
              <a:t> (C3): the strongest claim of the thesis.</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67</a:t>
            </a:r>
          </a:p>
        </p:txBody>
      </p:sp>
      <p:sp>
        <p:nvSpPr>
          <p:cNvPr id="5" name="TextBox 4"/>
          <p:cNvSpPr txBox="1"/>
          <p:nvPr/>
        </p:nvSpPr>
        <p:spPr>
          <a:xfrm>
            <a:off x="1028700" y="2331720"/>
            <a:ext cx="14859000" cy="2286000"/>
          </a:xfrm>
          <a:prstGeom prst="rect">
            <a:avLst/>
          </a:prstGeom>
          <a:noFill/>
        </p:spPr>
        <p:txBody>
          <a:bodyPr anchor="t" rtlCol="false" lIns="0" tIns="0" rIns="0" bIns="0" wrap="square"/>
          <a:lstStyle/>
          <a:p>
            <a:pPr algn="l">
              <a:lnSpc>
                <a:spcPts val="15300"/>
              </a:lnSpc>
              <a:spcBef>
                <a:spcPts val="0"/>
              </a:spcBef>
              <a:buNone/>
            </a:pPr>
            <a:r>
              <a:rPr lang="en-US" sz="15000" b="true" spc="-870">
                <a:solidFill>
                  <a:srgbClr val="111111"/>
                </a:solidFill>
                <a:latin typeface="Roca Two Bold"/>
                <a:ea typeface="Roca Two Bold"/>
                <a:cs typeface="Roca Two Bold"/>
                <a:sym typeface="Roca Two Bold"/>
              </a:rPr>
              <a:t>Conclusion</a:t>
            </a:r>
          </a:p>
        </p:txBody>
      </p:sp>
      <p:sp>
        <p:nvSpPr>
          <p:cNvPr id="6" name="Oval 5"/>
          <p:cNvSpPr/>
          <p:nvPr/>
        </p:nvSpPr>
        <p:spPr>
          <a:xfrm>
            <a:off x="10873987" y="2918460"/>
            <a:ext cx="1005840" cy="1005840"/>
          </a:xfrm>
          <a:prstGeom prst="ellipse">
            <a:avLst/>
          </a:prstGeom>
          <a:solidFill>
            <a:srgbClr val="ECC665"/>
          </a:solidFill>
          <a:ln>
            <a:noFill/>
          </a:ln>
        </p:spPr>
        <p:txBody>
          <a:bodyPr anchor="ctr" rtlCol="false" lIns="0" tIns="0" rIns="0" bIns="0" wrap="square"/>
          <a:lstStyle/>
          <a:p>
            <a:endParaRPr lang="en-US" sz="1800"/>
          </a:p>
        </p:txBody>
      </p:sp>
      <p:sp>
        <p:nvSpPr>
          <p:cNvPr id="7" name="TextBox 6"/>
          <p:cNvSpPr txBox="1"/>
          <p:nvPr/>
        </p:nvSpPr>
        <p:spPr>
          <a:xfrm>
            <a:off x="10873987" y="2918460"/>
            <a:ext cx="1005840" cy="1005840"/>
          </a:xfrm>
          <a:prstGeom prst="rect">
            <a:avLst/>
          </a:prstGeom>
          <a:noFill/>
        </p:spPr>
        <p:txBody>
          <a:bodyPr anchor="ctr" rtlCol="false" lIns="0" tIns="0" rIns="0" bIns="0" wrap="square"/>
          <a:lstStyle/>
          <a:p>
            <a:pPr algn="ctr">
              <a:lnSpc>
                <a:spcPts val="3400"/>
              </a:lnSpc>
              <a:spcBef>
                <a:spcPts val="0"/>
              </a:spcBef>
              <a:buNone/>
            </a:pPr>
            <a:r>
              <a:rPr lang="en-US" sz="3000" b="true">
                <a:solidFill>
                  <a:srgbClr val="111111"/>
                </a:solidFill>
                <a:latin typeface="Nunito Ultra-Bold"/>
                <a:ea typeface="Nunito Ultra-Bold"/>
                <a:cs typeface="Nunito Ultra-Bold"/>
                <a:sym typeface="Nunito Ultra-Bold"/>
              </a:rPr>
              <a:t>07</a:t>
            </a:r>
          </a:p>
        </p:txBody>
      </p:sp>
      <p:sp>
        <p:nvSpPr>
          <p:cNvPr id="8" name="TextBox 7"/>
          <p:cNvSpPr txBox="1"/>
          <p:nvPr/>
        </p:nvSpPr>
        <p:spPr>
          <a:xfrm>
            <a:off x="1028700" y="4465320"/>
            <a:ext cx="16230600" cy="640080"/>
          </a:xfrm>
          <a:prstGeom prst="rect">
            <a:avLst/>
          </a:prstGeom>
          <a:noFill/>
        </p:spPr>
        <p:txBody>
          <a:bodyPr anchor="t" rtlCol="false" lIns="0" tIns="0" rIns="0" bIns="0" wrap="square"/>
          <a:lstStyle/>
          <a:p>
            <a:pPr algn="l">
              <a:lnSpc>
                <a:spcPts val="3800"/>
              </a:lnSpc>
              <a:spcBef>
                <a:spcPts val="0"/>
              </a:spcBef>
              <a:buNone/>
            </a:pPr>
            <a:r>
              <a:rPr lang="en-US" sz="3000" b="true" spc="-150">
                <a:solidFill>
                  <a:srgbClr val="4472C4"/>
                </a:solidFill>
                <a:latin typeface="Nunito Bold"/>
                <a:ea typeface="Nunito Bold"/>
                <a:cs typeface="Nunito Bold"/>
                <a:sym typeface="Nunito Bold"/>
              </a:rPr>
              <a:t>Synthesis, publications, limitations and perspectives</a:t>
            </a:r>
          </a:p>
        </p:txBody>
      </p:sp>
      <p:sp>
        <p:nvSpPr>
          <p:cNvPr id="9" name="Rectangle 8"/>
          <p:cNvSpPr/>
          <p:nvPr/>
        </p:nvSpPr>
        <p:spPr>
          <a:xfrm>
            <a:off x="0" y="5440680"/>
            <a:ext cx="18288000" cy="4846320"/>
          </a:xfrm>
          <a:prstGeom prst="rect">
            <a:avLst/>
          </a:prstGeom>
          <a:solidFill>
            <a:srgbClr val="4472C4"/>
          </a:solidFill>
          <a:ln>
            <a:noFill/>
          </a:ln>
        </p:spPr>
        <p:txBody>
          <a:bodyPr anchor="ctr" rtlCol="false" lIns="0" tIns="0" rIns="0" bIns="0" wrap="square"/>
          <a:lstStyle/>
          <a:p>
            <a:endParaRPr lang="en-US" sz="1800"/>
          </a:p>
        </p:txBody>
      </p:sp>
      <p:sp>
        <p:nvSpPr>
          <p:cNvPr id="10" name="TextBox 9"/>
          <p:cNvSpPr txBox="1"/>
          <p:nvPr/>
        </p:nvSpPr>
        <p:spPr>
          <a:xfrm>
            <a:off x="102870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Synthesis</a:t>
            </a:r>
          </a:p>
        </p:txBody>
      </p:sp>
      <p:cxnSp>
        <p:nvCxnSpPr>
          <p:cNvPr id="11" name="Connector 10"/>
          <p:cNvCxnSpPr/>
          <p:nvPr/>
        </p:nvCxnSpPr>
        <p:spPr>
          <a:xfrm>
            <a:off x="1028700" y="6464808"/>
            <a:ext cx="640080" cy="0"/>
          </a:xfrm>
          <a:prstGeom prst="line">
            <a:avLst/>
          </a:prstGeom>
          <a:ln w="31750">
            <a:solidFill>
              <a:srgbClr val="ECC665"/>
            </a:solidFill>
          </a:ln>
        </p:spPr>
      </p:cxnSp>
      <p:sp>
        <p:nvSpPr>
          <p:cNvPr id="12" name="TextBox 11"/>
          <p:cNvSpPr txBox="1"/>
          <p:nvPr/>
        </p:nvSpPr>
        <p:spPr>
          <a:xfrm>
            <a:off x="102870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Three contributions, one cooperative-game thread: faithful explanation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consistency across levels </a:t>
            </a:r>
            <a:r>
              <a:rPr lang="en-US" sz="2100" b="true">
                <a:solidFill>
                  <a:srgbClr val="FFFFFF"/>
                </a:solidFill>
                <a:latin typeface="Calibri"/>
                <a:ea typeface="Calibri"/>
                <a:cs typeface="Calibri"/>
                <a:sym typeface="Calibri"/>
              </a:rPr>
              <a:t>→ </a:t>
            </a:r>
            <a:r>
              <a:rPr lang="en-US" sz="2100" b="true">
                <a:solidFill>
                  <a:srgbClr val="FFFFFF"/>
                </a:solidFill>
                <a:latin typeface="Nunito Semi-Bold"/>
                <a:ea typeface="Nunito Semi-Bold"/>
                <a:cs typeface="Nunito Semi-Bold"/>
                <a:sym typeface="Nunito Semi-Bold"/>
              </a:rPr>
              <a:t>in-training attribution.</a:t>
            </a:r>
          </a:p>
        </p:txBody>
      </p:sp>
      <p:sp>
        <p:nvSpPr>
          <p:cNvPr id="13" name="TextBox 12"/>
          <p:cNvSpPr txBox="1"/>
          <p:nvPr/>
        </p:nvSpPr>
        <p:spPr>
          <a:xfrm>
            <a:off x="657606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Limitations</a:t>
            </a:r>
          </a:p>
        </p:txBody>
      </p:sp>
      <p:cxnSp>
        <p:nvCxnSpPr>
          <p:cNvPr id="14" name="Connector 13"/>
          <p:cNvCxnSpPr/>
          <p:nvPr/>
        </p:nvCxnSpPr>
        <p:spPr>
          <a:xfrm>
            <a:off x="6576060" y="6464808"/>
            <a:ext cx="640080" cy="0"/>
          </a:xfrm>
          <a:prstGeom prst="line">
            <a:avLst/>
          </a:prstGeom>
          <a:ln w="31750">
            <a:solidFill>
              <a:srgbClr val="ECC665"/>
            </a:solidFill>
          </a:ln>
        </p:spPr>
      </p:cxnSp>
      <p:sp>
        <p:nvSpPr>
          <p:cNvPr id="15" name="TextBox 14"/>
          <p:cNvSpPr txBox="1"/>
          <p:nvPr/>
        </p:nvSpPr>
        <p:spPr>
          <a:xfrm>
            <a:off x="657606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Approximation everywhere; surrogate fidelity; tabular and offline settings; no user study of actionability yet.</a:t>
            </a:r>
          </a:p>
        </p:txBody>
      </p:sp>
      <p:sp>
        <p:nvSpPr>
          <p:cNvPr id="16" name="TextBox 15"/>
          <p:cNvSpPr txBox="1"/>
          <p:nvPr/>
        </p:nvSpPr>
        <p:spPr>
          <a:xfrm>
            <a:off x="12123420" y="5943600"/>
            <a:ext cx="5135880" cy="457200"/>
          </a:xfrm>
          <a:prstGeom prst="rect">
            <a:avLst/>
          </a:prstGeom>
          <a:noFill/>
        </p:spPr>
        <p:txBody>
          <a:bodyPr anchor="t" rtlCol="false" lIns="0" tIns="0" rIns="0" bIns="0" wrap="square"/>
          <a:lstStyle/>
          <a:p>
            <a:pPr algn="l">
              <a:lnSpc>
                <a:spcPts val="2800"/>
              </a:lnSpc>
              <a:spcBef>
                <a:spcPts val="0"/>
              </a:spcBef>
              <a:buNone/>
            </a:pPr>
            <a:r>
              <a:rPr lang="en-US" sz="2300" b="true">
                <a:solidFill>
                  <a:srgbClr val="ECC665"/>
                </a:solidFill>
                <a:latin typeface="Nunito Ultra-Bold"/>
                <a:ea typeface="Nunito Ultra-Bold"/>
                <a:cs typeface="Nunito Ultra-Bold"/>
                <a:sym typeface="Nunito Ultra-Bold"/>
              </a:rPr>
              <a:t>Perspectives</a:t>
            </a:r>
          </a:p>
        </p:txBody>
      </p:sp>
      <p:cxnSp>
        <p:nvCxnSpPr>
          <p:cNvPr id="17" name="Connector 16"/>
          <p:cNvCxnSpPr/>
          <p:nvPr/>
        </p:nvCxnSpPr>
        <p:spPr>
          <a:xfrm>
            <a:off x="12123420" y="6464808"/>
            <a:ext cx="640080" cy="0"/>
          </a:xfrm>
          <a:prstGeom prst="line">
            <a:avLst/>
          </a:prstGeom>
          <a:ln w="31750">
            <a:solidFill>
              <a:srgbClr val="ECC665"/>
            </a:solidFill>
          </a:ln>
        </p:spPr>
      </p:cxnSp>
      <p:sp>
        <p:nvSpPr>
          <p:cNvPr id="18" name="TextBox 17"/>
          <p:cNvSpPr txBox="1"/>
          <p:nvPr/>
        </p:nvSpPr>
        <p:spPr>
          <a:xfrm>
            <a:off x="12123420" y="6675120"/>
            <a:ext cx="5135880" cy="3108960"/>
          </a:xfrm>
          <a:prstGeom prst="rect">
            <a:avLst/>
          </a:prstGeom>
          <a:noFill/>
        </p:spPr>
        <p:txBody>
          <a:bodyPr anchor="t" rtlCol="false" lIns="0" tIns="0" rIns="0" bIns="0" wrap="square"/>
          <a:lstStyle/>
          <a:p>
            <a:pPr algn="l">
              <a:lnSpc>
                <a:spcPts val="2940"/>
              </a:lnSpc>
              <a:spcBef>
                <a:spcPts val="0"/>
              </a:spcBef>
              <a:buNone/>
            </a:pPr>
            <a:r>
              <a:rPr lang="en-US" sz="2100" b="true">
                <a:solidFill>
                  <a:srgbClr val="FFFFFF"/>
                </a:solidFill>
                <a:latin typeface="Nunito Semi-Bold"/>
                <a:ea typeface="Nunito Semi-Bold"/>
                <a:cs typeface="Nunito Semi-Bold"/>
                <a:sym typeface="Nunito Semi-Bold"/>
              </a:rPr>
              <a:t>Scalable attribution, online / streaming recommendation, user-centred and trustworthy-AI evaluation.</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[1] Louhichi, M., Nesmaoui, R., Mbarek, M. &amp; Lazaar, M. Shapley Values for Explaining the Black Box Nature of Machine Learning Model Clustering. Procedia Computer Science 220, 806–811 (2023).   [2] Louhichi, M., Nesmaoui, R. &amp; Lazaar, M. Game Theory Meets Explainable AI: An Enhanced Approach to Understanding Black Box Models Through Shapley Values. IJACSA 16(7), 716–725 (2025).   [3] Louhichi, M., Nesmaoui, R. &amp; Lazaar, M. DyHuCoG: A Dynamic Hypergraph Cooperative Game for Preference-aware Recommendation. IJIES 19(2), 887–902 (2026).</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68</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Synthesis of the Three Contributions</a:t>
            </a:r>
          </a:p>
        </p:txBody>
      </p:sp>
      <p:sp>
        <p:nvSpPr>
          <p:cNvPr id="21" name="Rounded Rectangle 20"/>
          <p:cNvSpPr/>
          <p:nvPr/>
        </p:nvSpPr>
        <p:spPr>
          <a:xfrm>
            <a:off x="1028700" y="2559050"/>
            <a:ext cx="1604433"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Synthesis</a:t>
            </a:r>
          </a:p>
        </p:txBody>
      </p:sp>
      <p:sp>
        <p:nvSpPr>
          <p:cNvPr id="22" name="Rounded Rectangle 21"/>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3" name="Rounded Rectangle 22"/>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4" name="Rounded Rectangle 23"/>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5" name="Rounded Rectangle 24"/>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graphicFrame>
        <p:nvGraphicFramePr>
          <p:cNvPr id="26" name="Table 25"/>
          <p:cNvGraphicFramePr>
            <a:graphicFrameLocks noGrp="1"/>
          </p:cNvGraphicFramePr>
          <p:nvPr/>
        </p:nvGraphicFramePr>
        <p:xfrm>
          <a:off x="1028700" y="3363722"/>
          <a:ext cx="16230598" cy="2584704"/>
        </p:xfrm>
        <a:graphic>
          <a:graphicData uri="http://schemas.openxmlformats.org/drawingml/2006/table">
            <a:tbl>
              <a:tblPr firstRow="0" bandRow="0" firstCol="0" lastRow="0" lastCol="0" bandCol="0">
                <a:tableStyleId>{2D5ABB26-0587-4C30-8999-92F81FD0307C}</a:tableStyleId>
              </a:tblPr>
              <a:tblGrid>
                <a:gridCol w="1159328"/>
                <a:gridCol w="4379685"/>
                <a:gridCol w="4637314"/>
                <a:gridCol w="6054271"/>
              </a:tblGrid>
              <a:tr h="566928">
                <a:tc>
                  <a:txBody>
                    <a:bodyPr anchor="ctr" rtlCol="false" lIns="0" tIns="0" rIns="0" bIns="0" wrap="square"/>
                    <a:lstStyle/>
                    <a:p>
                      <a:pPr algn="ctr">
                        <a:lnSpc>
                          <a:spcPts val="2080"/>
                        </a:lnSpc>
                        <a:spcBef>
                          <a:spcPts val="0"/>
                        </a:spcBef>
                        <a:buNone/>
                      </a:pPr>
                      <a:endParaRPr lang="en-US" sz="2200"/>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Main idea</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Achievement</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Key finding</a:t>
                      </a:r>
                    </a:p>
                  </a:txBody>
                  <a:tcPr marL="73152" marR="73152"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C1</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4472C4"/>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Explain black-box clustering via Shapley</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PCA–K-Means–LightGBM–TreeSHAP pipeline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Faithful, chemistry-consistent cluster attribution (wine)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725424">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C2</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2F5597"/>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Multi-level, large-scale clustering XAI</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Cross-level SHAP aggregation + Proposition 6.1</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Consistent across levels; explains the differences between them</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725424">
                <a:tc>
                  <a:txBody>
                    <a:bodyPr anchor="ctr" rtlCol="false" lIns="0" tIns="0" rIns="0" bIns="0" wrap="square"/>
                    <a:lstStyle/>
                    <a:p>
                      <a:pPr algn="ctr">
                        <a:lnSpc>
                          <a:spcPts val="2600"/>
                        </a:lnSpc>
                        <a:spcBef>
                          <a:spcPts val="0"/>
                        </a:spcBef>
                        <a:buNone/>
                      </a:pPr>
                      <a:r>
                        <a:rPr lang="en-US" sz="2200" b="true" spc="-110">
                          <a:solidFill>
                            <a:srgbClr val="FFFFFF"/>
                          </a:solidFill>
                          <a:latin typeface="Roca Two Bold"/>
                          <a:ea typeface="Roca Two Bold"/>
                          <a:cs typeface="Roca Two Bold"/>
                          <a:sym typeface="Roca Two Bold"/>
                        </a:rPr>
                        <a:t>C3</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F7A8C"/>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DyHuCoG hypergraph cooperative game</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Preference-aware Shapley as an in-training signal</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2080"/>
                        </a:lnSpc>
                        <a:spcBef>
                          <a:spcPts val="0"/>
                        </a:spcBef>
                        <a:buNone/>
                      </a:pPr>
                      <a:r>
                        <a:rPr lang="en-US" sz="1600" b="true">
                          <a:solidFill>
                            <a:srgbClr val="111111"/>
                          </a:solidFill>
                          <a:latin typeface="Nunito Semi-Bold"/>
                          <a:ea typeface="Nunito Semi-Bold"/>
                          <a:cs typeface="Nunito Semi-Bold"/>
                          <a:sym typeface="Nunito Semi-Bold"/>
                        </a:rPr>
                        <a:t>Accuracy + coverage + diversity improve together</a:t>
                      </a:r>
                    </a:p>
                  </a:txBody>
                  <a:tcPr marL="73152" marR="73152"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27" name="Rounded Rectangle 26"/>
          <p:cNvSpPr/>
          <p:nvPr/>
        </p:nvSpPr>
        <p:spPr>
          <a:xfrm>
            <a:off x="1028700" y="6314186"/>
            <a:ext cx="4023360" cy="822960"/>
          </a:xfrm>
          <a:prstGeom prst="roundRect">
            <a:avLst>
              <a:gd name="adj" fmla="val 27777"/>
            </a:avLst>
          </a:prstGeom>
          <a:solidFill>
            <a:srgbClr val="4472C4"/>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Explain</a:t>
            </a:r>
          </a:p>
          <a:p>
            <a:pPr algn="ctr">
              <a:lnSpc>
                <a:spcPts val="1560"/>
              </a:lnSpc>
              <a:spcBef>
                <a:spcPts val="300"/>
              </a:spcBef>
              <a:buNone/>
            </a:pPr>
            <a:r>
              <a:rPr lang="en-US" sz="1300" b="true">
                <a:solidFill>
                  <a:srgbClr val="FFFFFF"/>
                </a:solidFill>
                <a:latin typeface="Nunito Semi-Bold"/>
                <a:ea typeface="Nunito Semi-Bold"/>
                <a:cs typeface="Nunito Semi-Bold"/>
                <a:sym typeface="Nunito Semi-Bold"/>
              </a:rPr>
              <a:t>post-hoc, single level</a:t>
            </a:r>
          </a:p>
        </p:txBody>
      </p:sp>
      <p:cxnSp>
        <p:nvCxnSpPr>
          <p:cNvPr id="28" name="Connector 27"/>
          <p:cNvCxnSpPr/>
          <p:nvPr/>
        </p:nvCxnSpPr>
        <p:spPr>
          <a:xfrm>
            <a:off x="5143500" y="6725666"/>
            <a:ext cx="1897380" cy="0"/>
          </a:xfrm>
          <a:prstGeom prst="line">
            <a:avLst/>
          </a:prstGeom>
          <a:ln w="38100">
            <a:solidFill>
              <a:srgbClr val="4472C4"/>
            </a:solidFill>
            <a:tailEnd type="triangle" w="med" len="med"/>
          </a:ln>
        </p:spPr>
      </p:cxnSp>
      <p:sp>
        <p:nvSpPr>
          <p:cNvPr id="29" name="Rounded Rectangle 28"/>
          <p:cNvSpPr/>
          <p:nvPr/>
        </p:nvSpPr>
        <p:spPr>
          <a:xfrm>
            <a:off x="7132320" y="6314186"/>
            <a:ext cx="4023360" cy="822960"/>
          </a:xfrm>
          <a:prstGeom prst="roundRect">
            <a:avLst>
              <a:gd name="adj" fmla="val 27777"/>
            </a:avLst>
          </a:prstGeom>
          <a:solidFill>
            <a:srgbClr val="2F5597"/>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Scale</a:t>
            </a:r>
          </a:p>
          <a:p>
            <a:pPr algn="ctr">
              <a:lnSpc>
                <a:spcPts val="1560"/>
              </a:lnSpc>
              <a:spcBef>
                <a:spcPts val="300"/>
              </a:spcBef>
              <a:buNone/>
            </a:pPr>
            <a:r>
              <a:rPr lang="en-US" sz="1300" b="true">
                <a:solidFill>
                  <a:srgbClr val="FFFFFF"/>
                </a:solidFill>
                <a:latin typeface="Nunito Semi-Bold"/>
                <a:ea typeface="Nunito Semi-Bold"/>
                <a:cs typeface="Nunito Semi-Bold"/>
                <a:sym typeface="Nunito Semi-Bold"/>
              </a:rPr>
              <a:t>post-hoc, hierarchical</a:t>
            </a:r>
          </a:p>
        </p:txBody>
      </p:sp>
      <p:cxnSp>
        <p:nvCxnSpPr>
          <p:cNvPr id="30" name="Connector 29"/>
          <p:cNvCxnSpPr/>
          <p:nvPr/>
        </p:nvCxnSpPr>
        <p:spPr>
          <a:xfrm>
            <a:off x="11247120" y="6725666"/>
            <a:ext cx="1897380" cy="0"/>
          </a:xfrm>
          <a:prstGeom prst="line">
            <a:avLst/>
          </a:prstGeom>
          <a:ln w="38100">
            <a:solidFill>
              <a:srgbClr val="4472C4"/>
            </a:solidFill>
            <a:tailEnd type="triangle" w="med" len="med"/>
          </a:ln>
        </p:spPr>
      </p:cxnSp>
      <p:sp>
        <p:nvSpPr>
          <p:cNvPr id="31" name="Rounded Rectangle 30"/>
          <p:cNvSpPr/>
          <p:nvPr/>
        </p:nvSpPr>
        <p:spPr>
          <a:xfrm>
            <a:off x="13235940" y="6314186"/>
            <a:ext cx="4023360" cy="822960"/>
          </a:xfrm>
          <a:prstGeom prst="roundRect">
            <a:avLst>
              <a:gd name="adj" fmla="val 27777"/>
            </a:avLst>
          </a:prstGeom>
          <a:solidFill>
            <a:srgbClr val="1F7A8C"/>
          </a:solidFill>
          <a:ln>
            <a:noFill/>
          </a:ln>
        </p:spPr>
        <p:txBody>
          <a:bodyPr anchor="ctr" rtlCol="false" lIns="91440" tIns="45720" rIns="91440" bIns="45720" wrap="square"/>
          <a:lstStyle/>
          <a:p>
            <a:pPr algn="ctr">
              <a:lnSpc>
                <a:spcPts val="2415"/>
              </a:lnSpc>
              <a:spcBef>
                <a:spcPts val="0"/>
              </a:spcBef>
              <a:buNone/>
            </a:pPr>
            <a:r>
              <a:rPr lang="en-US" sz="2100" b="true">
                <a:solidFill>
                  <a:srgbClr val="FFFFFF"/>
                </a:solidFill>
                <a:latin typeface="Nunito Bold"/>
                <a:ea typeface="Nunito Bold"/>
                <a:cs typeface="Nunito Bold"/>
                <a:sym typeface="Nunito Bold"/>
              </a:rPr>
              <a:t>Guide</a:t>
            </a:r>
          </a:p>
          <a:p>
            <a:pPr algn="ctr">
              <a:lnSpc>
                <a:spcPts val="1560"/>
              </a:lnSpc>
              <a:spcBef>
                <a:spcPts val="300"/>
              </a:spcBef>
              <a:buNone/>
            </a:pPr>
            <a:r>
              <a:rPr lang="en-US" sz="1300" b="true">
                <a:solidFill>
                  <a:srgbClr val="FFFFFF"/>
                </a:solidFill>
                <a:latin typeface="Nunito Semi-Bold"/>
                <a:ea typeface="Nunito Semi-Bold"/>
                <a:cs typeface="Nunito Semi-Bold"/>
                <a:sym typeface="Nunito Semi-Bold"/>
              </a:rPr>
              <a:t>in-training signal</a:t>
            </a:r>
          </a:p>
        </p:txBody>
      </p:sp>
      <p:sp>
        <p:nvSpPr>
          <p:cNvPr id="32" name="Rounded Rectangle 31"/>
          <p:cNvSpPr/>
          <p:nvPr/>
        </p:nvSpPr>
        <p:spPr>
          <a:xfrm>
            <a:off x="1028700" y="7640066"/>
            <a:ext cx="16230600" cy="1577086"/>
          </a:xfrm>
          <a:prstGeom prst="roundRect">
            <a:avLst>
              <a:gd name="adj" fmla="val 12755"/>
            </a:avLst>
          </a:prstGeom>
          <a:solidFill>
            <a:srgbClr val="F6ECDF"/>
          </a:solidFill>
          <a:ln w="25400">
            <a:solidFill>
              <a:srgbClr val="1F7A8C"/>
            </a:solidFill>
          </a:ln>
        </p:spPr>
        <p:txBody>
          <a:bodyPr anchor="ctr" rtlCol="false" lIns="0" tIns="0" rIns="0" bIns="0" wrap="square"/>
          <a:lstStyle/>
          <a:p>
            <a:endParaRPr lang="en-US" sz="1800"/>
          </a:p>
        </p:txBody>
      </p:sp>
      <p:sp>
        <p:nvSpPr>
          <p:cNvPr id="33" name="Rounded Rectangle 32"/>
          <p:cNvSpPr/>
          <p:nvPr/>
        </p:nvSpPr>
        <p:spPr>
          <a:xfrm>
            <a:off x="1348740" y="7448042"/>
            <a:ext cx="2510554" cy="384048"/>
          </a:xfrm>
          <a:prstGeom prst="roundRect">
            <a:avLst>
              <a:gd name="adj" fmla="val 50000"/>
            </a:avLst>
          </a:prstGeom>
          <a:solidFill>
            <a:srgbClr val="1F7A8C"/>
          </a:solidFill>
          <a:ln w="28575">
            <a:solidFill>
              <a:srgbClr val="1F7A8C"/>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TAKEAWAY  ·  THESIS</a:t>
            </a:r>
          </a:p>
        </p:txBody>
      </p:sp>
      <p:sp>
        <p:nvSpPr>
          <p:cNvPr id="34" name="TextBox 33"/>
          <p:cNvSpPr txBox="1"/>
          <p:nvPr/>
        </p:nvSpPr>
        <p:spPr>
          <a:xfrm>
            <a:off x="1394460" y="7914386"/>
            <a:ext cx="15499080" cy="1165606"/>
          </a:xfrm>
          <a:prstGeom prst="rect">
            <a:avLst/>
          </a:prstGeom>
          <a:noFill/>
        </p:spPr>
        <p:txBody>
          <a:bodyPr anchor="ctr" rtlCol="false" lIns="0" tIns="0" rIns="0" bIns="0" wrap="square"/>
          <a:lstStyle/>
          <a:p>
            <a:pPr algn="l">
              <a:lnSpc>
                <a:spcPts val="2800"/>
              </a:lnSpc>
              <a:spcBef>
                <a:spcPts val="0"/>
              </a:spcBef>
              <a:buNone/>
            </a:pPr>
            <a:r>
              <a:rPr lang="en-US" sz="2000" b="true">
                <a:solidFill>
                  <a:srgbClr val="111111"/>
                </a:solidFill>
                <a:latin typeface="Nunito Semi-Bold"/>
                <a:ea typeface="Nunito Semi-Bold"/>
                <a:cs typeface="Nunito Semi-Bold"/>
                <a:sym typeface="Nunito Semi-Bold"/>
              </a:rPr>
              <a:t>One cooperative-game definition, three value functions: the same Shapley logic </a:t>
            </a:r>
            <a:r>
              <a:rPr lang="en-US" sz="2000" b="true">
                <a:solidFill>
                  <a:srgbClr val="111111"/>
                </a:solidFill>
                <a:latin typeface="Nunito Bold"/>
                <a:ea typeface="Nunito Bold"/>
                <a:cs typeface="Nunito Bold"/>
                <a:sym typeface="Nunito Bold"/>
              </a:rPr>
              <a:t>explains</a:t>
            </a:r>
            <a:r>
              <a:rPr lang="en-US" sz="2000" b="true">
                <a:solidFill>
                  <a:srgbClr val="111111"/>
                </a:solidFill>
                <a:latin typeface="Nunito Semi-Bold"/>
                <a:ea typeface="Nunito Semi-Bold"/>
                <a:cs typeface="Nunito Semi-Bold"/>
                <a:sym typeface="Nunito Semi-Bold"/>
              </a:rPr>
              <a:t> a partition, </a:t>
            </a:r>
            <a:r>
              <a:rPr lang="en-US" sz="2000" b="true">
                <a:solidFill>
                  <a:srgbClr val="111111"/>
                </a:solidFill>
                <a:latin typeface="Nunito Bold"/>
                <a:ea typeface="Nunito Bold"/>
                <a:cs typeface="Nunito Bold"/>
                <a:sym typeface="Nunito Bold"/>
              </a:rPr>
              <a:t>stays consistent</a:t>
            </a:r>
            <a:r>
              <a:rPr lang="en-US" sz="2000" b="true">
                <a:solidFill>
                  <a:srgbClr val="111111"/>
                </a:solidFill>
                <a:latin typeface="Nunito Semi-Bold"/>
                <a:ea typeface="Nunito Semi-Bold"/>
                <a:cs typeface="Nunito Semi-Bold"/>
                <a:sym typeface="Nunito Semi-Bold"/>
              </a:rPr>
              <a:t> across levels, and finally </a:t>
            </a:r>
            <a:r>
              <a:rPr lang="en-US" sz="2000" b="true">
                <a:solidFill>
                  <a:srgbClr val="111111"/>
                </a:solidFill>
                <a:latin typeface="Nunito Bold"/>
                <a:ea typeface="Nunito Bold"/>
                <a:cs typeface="Nunito Bold"/>
                <a:sym typeface="Nunito Bold"/>
              </a:rPr>
              <a:t>guides</a:t>
            </a:r>
            <a:r>
              <a:rPr lang="en-US" sz="2000" b="true">
                <a:solidFill>
                  <a:srgbClr val="111111"/>
                </a:solidFill>
                <a:latin typeface="Nunito Semi-Bold"/>
                <a:ea typeface="Nunito Semi-Bold"/>
                <a:cs typeface="Nunito Semi-Bold"/>
                <a:sym typeface="Nunito Semi-Bold"/>
              </a:rPr>
              <a:t> what a recommender learns.</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69</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Publications Supporting the Thesis</a:t>
            </a:r>
          </a:p>
        </p:txBody>
      </p:sp>
      <p:sp>
        <p:nvSpPr>
          <p:cNvPr id="21" name="Rounded Rectangle 20"/>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2" name="Rounded Rectangle 21"/>
          <p:cNvSpPr/>
          <p:nvPr/>
        </p:nvSpPr>
        <p:spPr>
          <a:xfrm>
            <a:off x="2761149" y="2559050"/>
            <a:ext cx="189357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Publications</a:t>
            </a:r>
          </a:p>
        </p:txBody>
      </p:sp>
      <p:sp>
        <p:nvSpPr>
          <p:cNvPr id="23" name="Rounded Rectangle 22"/>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4" name="Rounded Rectangle 23"/>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5" name="Rounded Rectangle 24"/>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graphicFrame>
        <p:nvGraphicFramePr>
          <p:cNvPr id="26" name="Table 25"/>
          <p:cNvGraphicFramePr>
            <a:graphicFrameLocks noGrp="1"/>
          </p:cNvGraphicFramePr>
          <p:nvPr/>
        </p:nvGraphicFramePr>
        <p:xfrm>
          <a:off x="1028700" y="3363722"/>
          <a:ext cx="16230594" cy="3291840"/>
        </p:xfrm>
        <a:graphic>
          <a:graphicData uri="http://schemas.openxmlformats.org/drawingml/2006/table">
            <a:tbl>
              <a:tblPr firstRow="0" bandRow="0" firstCol="0" lastRow="0" lastCol="0" bandCol="0">
                <a:tableStyleId>{2D5ABB26-0587-4C30-8999-92F81FD0307C}</a:tableStyleId>
              </a:tblPr>
              <a:tblGrid>
                <a:gridCol w="656729"/>
                <a:gridCol w="2814554"/>
                <a:gridCol w="5253835"/>
                <a:gridCol w="3189828"/>
                <a:gridCol w="750547"/>
                <a:gridCol w="2439280"/>
                <a:gridCol w="1125821"/>
              </a:tblGrid>
              <a:tr h="822960">
                <a:tc>
                  <a:txBody>
                    <a:bodyPr anchor="ctr" rtlCol="false" lIns="0" tIns="0" rIns="0" bIns="0" wrap="square"/>
                    <a:lstStyle/>
                    <a:p>
                      <a:pPr algn="ctr">
                        <a:lnSpc>
                          <a:spcPts val="1820"/>
                        </a:lnSpc>
                        <a:spcBef>
                          <a:spcPts val="0"/>
                        </a:spcBef>
                        <a:buNone/>
                      </a:pPr>
                      <a:endParaRPr lang="en-US" sz="2200"/>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Authors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Title</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Journal</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Year</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DOI</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Status</a:t>
                      </a:r>
                    </a:p>
                  </a:txBody>
                  <a:tcPr marL="64008" marR="64008"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4472C4"/>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Mbarek,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Shapley Values for Explaining the Black Box Nature of Machine Learning Model Clustering</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Procedia Computer Science 220, 806–811</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2023</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10.1016/j.procs.2023.03.107</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2F5597"/>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Game Theory Meets Explainable AI: An Enhanced Approach to Understanding Black Box Models Through Shapley Values</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IJACSA 16(7), 716–725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2025</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10.14569/IJACSA.2025.0160780</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822960">
                <a:tc>
                  <a:txBody>
                    <a:bodyPr anchor="ctr" rtlCol="false" lIns="0" tIns="0" rIns="0" bIns="0" wrap="square"/>
                    <a:lstStyle/>
                    <a:p>
                      <a:pPr algn="ctr">
                        <a:lnSpc>
                          <a:spcPts val="2800"/>
                        </a:lnSpc>
                        <a:spcBef>
                          <a:spcPts val="0"/>
                        </a:spcBef>
                        <a:buNone/>
                      </a:pPr>
                      <a:r>
                        <a:rPr lang="en-US" sz="2400" b="true" spc="-120">
                          <a:solidFill>
                            <a:srgbClr val="FFFFFF"/>
                          </a:solidFill>
                          <a:latin typeface="Roca Two Bold"/>
                          <a:ea typeface="Roca Two Bold"/>
                          <a:cs typeface="Roca Two Bold"/>
                          <a:sym typeface="Roca Two Bold"/>
                        </a:rPr>
                        <a:t>III</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1F7A8C"/>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M. Louhichi, R. Nesmaoui, M. Lazaar</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DyHuCoG: A Dynamic Hypergraph Cooperative Game for Preference-aware Recommendation</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IJIES 19(2), 887–902</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2026</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820"/>
                        </a:lnSpc>
                        <a:spcBef>
                          <a:spcPts val="0"/>
                        </a:spcBef>
                        <a:buNone/>
                      </a:pPr>
                      <a:r>
                        <a:rPr lang="en-US" sz="1400" b="true">
                          <a:solidFill>
                            <a:srgbClr val="111111"/>
                          </a:solidFill>
                          <a:latin typeface="Nunito Semi-Bold"/>
                          <a:ea typeface="Nunito Semi-Bold"/>
                          <a:cs typeface="Nunito Semi-Bold"/>
                          <a:sym typeface="Nunito Semi-Bold"/>
                        </a:rPr>
                        <a:t>10.22266/ijies2026.0228.54</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1">
                          <a:solidFill>
                            <a:srgbClr val="4472C4"/>
                          </a:solidFill>
                          <a:latin typeface="Nunito Semi-Bold"/>
                          <a:ea typeface="Nunito Semi-Bold"/>
                          <a:cs typeface="Nunito Semi-Bold"/>
                          <a:sym typeface="Nunito Semi-Bold"/>
                        </a:rPr>
                        <a:t>Published</a:t>
                      </a:r>
                    </a:p>
                  </a:txBody>
                  <a:tcPr marL="64008" marR="64008"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27" name="Rounded Rectangle 26"/>
          <p:cNvSpPr/>
          <p:nvPr/>
        </p:nvSpPr>
        <p:spPr>
          <a:xfrm>
            <a:off x="1028700" y="7341362"/>
            <a:ext cx="7932420" cy="1921510"/>
          </a:xfrm>
          <a:prstGeom prst="roundRect">
            <a:avLst>
              <a:gd name="adj" fmla="val 16179"/>
            </a:avLst>
          </a:prstGeom>
          <a:solidFill>
            <a:srgbClr val="F6ECDF"/>
          </a:solidFill>
          <a:ln>
            <a:noFill/>
          </a:ln>
        </p:spPr>
        <p:txBody>
          <a:bodyPr anchor="ctr" rtlCol="false" lIns="0" tIns="0" rIns="0" bIns="0" wrap="square"/>
          <a:lstStyle/>
          <a:p>
            <a:endParaRPr lang="en-US" sz="1800"/>
          </a:p>
        </p:txBody>
      </p:sp>
      <p:sp>
        <p:nvSpPr>
          <p:cNvPr id="28" name="Rounded Rectangle 27"/>
          <p:cNvSpPr/>
          <p:nvPr/>
        </p:nvSpPr>
        <p:spPr>
          <a:xfrm>
            <a:off x="1485900" y="7103618"/>
            <a:ext cx="3560649"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Mapping to the thesis</a:t>
            </a:r>
          </a:p>
        </p:txBody>
      </p:sp>
      <p:sp>
        <p:nvSpPr>
          <p:cNvPr id="29" name="TextBox 28"/>
          <p:cNvSpPr txBox="1"/>
          <p:nvPr/>
        </p:nvSpPr>
        <p:spPr>
          <a:xfrm>
            <a:off x="1485900" y="7890002"/>
            <a:ext cx="7063740" cy="1189990"/>
          </a:xfrm>
          <a:prstGeom prst="rect">
            <a:avLst/>
          </a:prstGeom>
          <a:noFill/>
        </p:spPr>
        <p:txBody>
          <a:bodyPr anchor="t" rtlCol="false" lIns="0" tIns="0" rIns="0" bIns="0" wrap="square"/>
          <a:lstStyle/>
          <a:p>
            <a:pPr algn="l" marL="274320" indent="-274320">
              <a:lnSpc>
                <a:spcPts val="2094"/>
              </a:lnSpc>
              <a:spcBef>
                <a:spcPts val="0"/>
              </a:spcBef>
              <a:buClr>
                <a:srgbClr val="1F7A8C"/>
              </a:buClr>
              <a:buSzPct val="100000"/>
              <a:buFont typeface="Arial"/>
              <a:buChar char="•"/>
            </a:pPr>
            <a:r>
              <a:rPr lang="en-US" sz="1496" b="true">
                <a:solidFill>
                  <a:srgbClr val="111111"/>
                </a:solidFill>
                <a:latin typeface="Nunito Bold"/>
                <a:ea typeface="Nunito Bold"/>
                <a:cs typeface="Nunito Bold"/>
                <a:sym typeface="Nunito Bold"/>
              </a:rPr>
              <a:t>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 (Chapter 5)  ·  </a:t>
            </a:r>
            <a:r>
              <a:rPr lang="en-US" sz="1496" b="true">
                <a:solidFill>
                  <a:srgbClr val="111111"/>
                </a:solidFill>
                <a:latin typeface="Nunito Bold"/>
                <a:ea typeface="Nunito Bold"/>
                <a:cs typeface="Nunito Bold"/>
                <a:sym typeface="Nunito Bold"/>
              </a:rPr>
              <a:t>II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II (Chapter 6)  ·  </a:t>
            </a:r>
            <a:r>
              <a:rPr lang="en-US" sz="1496" b="true">
                <a:solidFill>
                  <a:srgbClr val="111111"/>
                </a:solidFill>
                <a:latin typeface="Nunito Bold"/>
                <a:ea typeface="Nunito Bold"/>
                <a:cs typeface="Nunito Bold"/>
                <a:sym typeface="Nunito Bold"/>
              </a:rPr>
              <a:t>III</a:t>
            </a:r>
            <a:r>
              <a:rPr lang="en-US" sz="1496" b="true">
                <a:solidFill>
                  <a:srgbClr val="111111"/>
                </a:solidFill>
                <a:latin typeface="Calibri"/>
                <a:ea typeface="Calibri"/>
                <a:cs typeface="Calibri"/>
                <a:sym typeface="Calibri"/>
              </a:rPr>
              <a:t> → </a:t>
            </a:r>
            <a:r>
              <a:rPr lang="en-US" sz="1496" b="true">
                <a:solidFill>
                  <a:srgbClr val="111111"/>
                </a:solidFill>
                <a:latin typeface="Nunito Semi-Bold"/>
                <a:ea typeface="Nunito Semi-Bold"/>
                <a:cs typeface="Nunito Semi-Bold"/>
                <a:sym typeface="Nunito Semi-Bold"/>
              </a:rPr>
              <a:t>Contribution III (Chapter 7).</a:t>
            </a:r>
          </a:p>
          <a:p>
            <a:pPr algn="l" marL="274320" indent="-274320">
              <a:lnSpc>
                <a:spcPts val="2094"/>
              </a:lnSpc>
              <a:spcBef>
                <a:spcPts val="352"/>
              </a:spcBef>
              <a:buClr>
                <a:srgbClr val="1F7A8C"/>
              </a:buClr>
              <a:buSzPct val="100000"/>
              <a:buFont typeface="Arial"/>
              <a:buChar char="•"/>
            </a:pPr>
            <a:r>
              <a:rPr lang="en-US" sz="1496" b="true">
                <a:solidFill>
                  <a:srgbClr val="111111"/>
                </a:solidFill>
                <a:latin typeface="Nunito Semi-Bold"/>
                <a:ea typeface="Nunito Semi-Bold"/>
                <a:cs typeface="Nunito Semi-Bold"/>
                <a:sym typeface="Nunito Semi-Bold"/>
              </a:rPr>
              <a:t>Three journal articles, candidate as </a:t>
            </a:r>
            <a:r>
              <a:rPr lang="en-US" sz="1496" b="true">
                <a:solidFill>
                  <a:srgbClr val="111111"/>
                </a:solidFill>
                <a:latin typeface="Nunito Bold"/>
                <a:ea typeface="Nunito Bold"/>
                <a:cs typeface="Nunito Bold"/>
                <a:sym typeface="Nunito Bold"/>
              </a:rPr>
              <a:t>first author</a:t>
            </a:r>
            <a:r>
              <a:rPr lang="en-US" sz="1496" b="true">
                <a:solidFill>
                  <a:srgbClr val="111111"/>
                </a:solidFill>
                <a:latin typeface="Nunito Semi-Bold"/>
                <a:ea typeface="Nunito Semi-Bold"/>
                <a:cs typeface="Nunito Semi-Bold"/>
                <a:sym typeface="Nunito Semi-Bold"/>
              </a:rPr>
              <a:t>; IJACSA and IJIES are Scopus-indexed.</a:t>
            </a:r>
          </a:p>
        </p:txBody>
      </p:sp>
      <p:sp>
        <p:nvSpPr>
          <p:cNvPr id="30" name="Rounded Rectangle 29"/>
          <p:cNvSpPr/>
          <p:nvPr/>
        </p:nvSpPr>
        <p:spPr>
          <a:xfrm>
            <a:off x="9326880" y="7341362"/>
            <a:ext cx="7932420" cy="1921510"/>
          </a:xfrm>
          <a:prstGeom prst="roundRect">
            <a:avLst>
              <a:gd name="adj" fmla="val 16179"/>
            </a:avLst>
          </a:prstGeom>
          <a:solidFill>
            <a:srgbClr val="4472C4"/>
          </a:solidFill>
          <a:ln>
            <a:noFill/>
          </a:ln>
        </p:spPr>
        <p:txBody>
          <a:bodyPr anchor="ctr" rtlCol="false" lIns="0" tIns="0" rIns="0" bIns="0" wrap="square"/>
          <a:lstStyle/>
          <a:p>
            <a:endParaRPr lang="en-US" sz="1800"/>
          </a:p>
        </p:txBody>
      </p:sp>
      <p:sp>
        <p:nvSpPr>
          <p:cNvPr id="31" name="Rounded Rectangle 30"/>
          <p:cNvSpPr/>
          <p:nvPr/>
        </p:nvSpPr>
        <p:spPr>
          <a:xfrm>
            <a:off x="9784080" y="7103618"/>
            <a:ext cx="4399246"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Related work with the team</a:t>
            </a:r>
          </a:p>
        </p:txBody>
      </p:sp>
      <p:sp>
        <p:nvSpPr>
          <p:cNvPr id="32" name="TextBox 31"/>
          <p:cNvSpPr txBox="1"/>
          <p:nvPr/>
        </p:nvSpPr>
        <p:spPr>
          <a:xfrm>
            <a:off x="9784080" y="7890002"/>
            <a:ext cx="7063740" cy="1189990"/>
          </a:xfrm>
          <a:prstGeom prst="rect">
            <a:avLst/>
          </a:prstGeom>
          <a:noFill/>
        </p:spPr>
        <p:txBody>
          <a:bodyPr anchor="t" rtlCol="false" lIns="0" tIns="0" rIns="0" bIns="0" wrap="square"/>
          <a:lstStyle/>
          <a:p>
            <a:pPr algn="l" marL="274320" indent="-274320">
              <a:lnSpc>
                <a:spcPts val="2173"/>
              </a:lnSpc>
              <a:spcBef>
                <a:spcPts val="0"/>
              </a:spcBef>
              <a:buClr>
                <a:srgbClr val="ECC665"/>
              </a:buClr>
              <a:buSzPct val="100000"/>
              <a:buFont typeface="Arial"/>
              <a:buChar char="•"/>
            </a:pPr>
            <a:r>
              <a:rPr lang="en-US" sz="1552" b="true">
                <a:solidFill>
                  <a:srgbClr val="FFFFFF"/>
                </a:solidFill>
                <a:latin typeface="Nunito Semi-Bold"/>
                <a:ea typeface="Nunito Semi-Bold"/>
                <a:cs typeface="Nunito Semi-Bold"/>
                <a:sym typeface="Nunito Semi-Bold"/>
              </a:rPr>
              <a:t>Nesmaoui, R., </a:t>
            </a:r>
            <a:r>
              <a:rPr lang="en-US" sz="1552" b="true">
                <a:solidFill>
                  <a:srgbClr val="FFFFFF"/>
                </a:solidFill>
                <a:latin typeface="Nunito Bold"/>
                <a:ea typeface="Nunito Bold"/>
                <a:cs typeface="Nunito Bold"/>
                <a:sym typeface="Nunito Bold"/>
              </a:rPr>
              <a:t>Louhichi, M.</a:t>
            </a:r>
            <a:r>
              <a:rPr lang="en-US" sz="1552" b="true">
                <a:solidFill>
                  <a:srgbClr val="FFFFFF"/>
                </a:solidFill>
                <a:latin typeface="Nunito Semi-Bold"/>
                <a:ea typeface="Nunito Semi-Bold"/>
                <a:cs typeface="Nunito Semi-Bold"/>
                <a:sym typeface="Nunito Semi-Bold"/>
              </a:rPr>
              <a:t> &amp; Lazaar, M. Dynamic Recommender Systems with Real-time Shapley Value-based Contribution Adjustment. IJIES 18, 241–257 (2025): the same cooperative-game view, applied to real-time contribution adjustment.</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70</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Limitations, Stated Honestly</a:t>
            </a:r>
          </a:p>
        </p:txBody>
      </p:sp>
      <p:sp>
        <p:nvSpPr>
          <p:cNvPr id="21" name="Rounded Rectangle 20"/>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2" name="Rounded Rectangle 21"/>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3" name="Rounded Rectangle 22"/>
          <p:cNvSpPr/>
          <p:nvPr/>
        </p:nvSpPr>
        <p:spPr>
          <a:xfrm>
            <a:off x="4782741" y="2559050"/>
            <a:ext cx="1765486"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Limitations</a:t>
            </a:r>
          </a:p>
        </p:txBody>
      </p:sp>
      <p:sp>
        <p:nvSpPr>
          <p:cNvPr id="24" name="Rounded Rectangle 23"/>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5" name="Rounded Rectangle 24"/>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sp>
        <p:nvSpPr>
          <p:cNvPr id="26" name="Rounded Rectangle 25"/>
          <p:cNvSpPr/>
          <p:nvPr/>
        </p:nvSpPr>
        <p:spPr>
          <a:xfrm>
            <a:off x="1028700" y="3455162"/>
            <a:ext cx="7978140" cy="2789555"/>
          </a:xfrm>
          <a:prstGeom prst="roundRect">
            <a:avLst>
              <a:gd name="adj" fmla="val 9833"/>
            </a:avLst>
          </a:prstGeom>
          <a:solidFill>
            <a:srgbClr val="4472C4"/>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Computational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Exact Shapley is not feasible; every contribution relies on approximation, surrogates or limited reporting.</a:t>
            </a:r>
          </a:p>
        </p:txBody>
      </p:sp>
      <p:sp>
        <p:nvSpPr>
          <p:cNvPr id="27" name="Rounded Rectangle 26"/>
          <p:cNvSpPr/>
          <p:nvPr/>
        </p:nvSpPr>
        <p:spPr>
          <a:xfrm>
            <a:off x="9281160" y="3455162"/>
            <a:ext cx="7978140" cy="2789555"/>
          </a:xfrm>
          <a:prstGeom prst="roundRect">
            <a:avLst>
              <a:gd name="adj" fmla="val 9833"/>
            </a:avLst>
          </a:prstGeom>
          <a:solidFill>
            <a:srgbClr val="2F5597"/>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Methodological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Clustering depends on surrogate fidelity; recommendation depends on stable approximate contributions and useful context.</a:t>
            </a:r>
          </a:p>
        </p:txBody>
      </p:sp>
      <p:sp>
        <p:nvSpPr>
          <p:cNvPr id="28" name="Rounded Rectangle 27"/>
          <p:cNvSpPr/>
          <p:nvPr/>
        </p:nvSpPr>
        <p:spPr>
          <a:xfrm>
            <a:off x="1028700" y="6519037"/>
            <a:ext cx="7978140" cy="2789555"/>
          </a:xfrm>
          <a:prstGeom prst="roundRect">
            <a:avLst>
              <a:gd name="adj" fmla="val 9833"/>
            </a:avLst>
          </a:prstGeom>
          <a:solidFill>
            <a:srgbClr val="1F7A8C"/>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FFFFFF"/>
                </a:solidFill>
                <a:latin typeface="Roca Two Bold"/>
                <a:ea typeface="Roca Two Bold"/>
                <a:cs typeface="Roca Two Bold"/>
                <a:sym typeface="Roca Two Bold"/>
              </a:rPr>
              <a:t>Empirical</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Tabular clustering + benchmark recommendation; no multimodal, sequential or online setting; no dedicated user study of actionability.</a:t>
            </a:r>
          </a:p>
        </p:txBody>
      </p:sp>
      <p:sp>
        <p:nvSpPr>
          <p:cNvPr id="29" name="Rounded Rectangle 28"/>
          <p:cNvSpPr/>
          <p:nvPr/>
        </p:nvSpPr>
        <p:spPr>
          <a:xfrm>
            <a:off x="9281160" y="6519037"/>
            <a:ext cx="7978140" cy="2789555"/>
          </a:xfrm>
          <a:prstGeom prst="roundRect">
            <a:avLst>
              <a:gd name="adj" fmla="val 9833"/>
            </a:avLst>
          </a:prstGeom>
          <a:solidFill>
            <a:srgbClr val="111111"/>
          </a:solidFill>
          <a:ln>
            <a:noFill/>
          </a:ln>
        </p:spPr>
        <p:txBody>
          <a:bodyPr anchor="ctr" rtlCol="false" lIns="457200" tIns="274320" rIns="457200" bIns="274320" wrap="square"/>
          <a:lstStyle/>
          <a:p>
            <a:pPr algn="l">
              <a:lnSpc>
                <a:spcPts val="3400"/>
              </a:lnSpc>
              <a:spcBef>
                <a:spcPts val="0"/>
              </a:spcBef>
              <a:buNone/>
            </a:pPr>
            <a:r>
              <a:rPr lang="en-US" sz="3000" b="true" spc="-120">
                <a:solidFill>
                  <a:srgbClr val="ECC665"/>
                </a:solidFill>
                <a:latin typeface="Roca Two Bold"/>
                <a:ea typeface="Roca Two Bold"/>
                <a:cs typeface="Roca Two Bold"/>
                <a:sym typeface="Roca Two Bold"/>
              </a:rPr>
              <a:t>Claim scope</a:t>
            </a:r>
          </a:p>
          <a:p>
            <a:pPr algn="l">
              <a:lnSpc>
                <a:spcPts val="2600"/>
              </a:lnSpc>
              <a:spcBef>
                <a:spcPts val="1200"/>
              </a:spcBef>
              <a:buNone/>
            </a:pPr>
            <a:r>
              <a:rPr lang="en-US" sz="2000" b="true">
                <a:solidFill>
                  <a:srgbClr val="F7F2EA"/>
                </a:solidFill>
                <a:latin typeface="Nunito Semi-Bold"/>
                <a:ea typeface="Nunito Semi-Bold"/>
                <a:cs typeface="Nunito Semi-Bold"/>
                <a:sym typeface="Nunito Semi-Bold"/>
              </a:rPr>
              <a:t>A consistent and productive shared view, not one fully unified framework that removes all tension.</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71</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Perspectives: Turning Limitations into an Agenda</a:t>
            </a:r>
          </a:p>
        </p:txBody>
      </p:sp>
      <p:sp>
        <p:nvSpPr>
          <p:cNvPr id="21" name="Rounded Rectangle 20"/>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2" name="Rounded Rectangle 21"/>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3" name="Rounded Rectangle 22"/>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4" name="Rounded Rectangle 23"/>
          <p:cNvSpPr/>
          <p:nvPr/>
        </p:nvSpPr>
        <p:spPr>
          <a:xfrm>
            <a:off x="6676243" y="2559050"/>
            <a:ext cx="1934074"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Perspectives</a:t>
            </a:r>
          </a:p>
        </p:txBody>
      </p:sp>
      <p:sp>
        <p:nvSpPr>
          <p:cNvPr id="25" name="Rounded Rectangle 24"/>
          <p:cNvSpPr/>
          <p:nvPr/>
        </p:nvSpPr>
        <p:spPr>
          <a:xfrm>
            <a:off x="8738333" y="2559050"/>
            <a:ext cx="1753007"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Conclusion</a:t>
            </a:r>
          </a:p>
        </p:txBody>
      </p:sp>
      <p:sp>
        <p:nvSpPr>
          <p:cNvPr id="26" name="Rounded Rectangle 25"/>
          <p:cNvSpPr/>
          <p:nvPr/>
        </p:nvSpPr>
        <p:spPr>
          <a:xfrm>
            <a:off x="1028700" y="3455162"/>
            <a:ext cx="7978140" cy="2789555"/>
          </a:xfrm>
          <a:prstGeom prst="roundRect">
            <a:avLst>
              <a:gd name="adj" fmla="val 9833"/>
            </a:avLst>
          </a:prstGeom>
          <a:solidFill>
            <a:srgbClr val="4472C4"/>
          </a:solidFill>
          <a:ln>
            <a:noFill/>
          </a:ln>
        </p:spPr>
        <p:txBody>
          <a:bodyPr anchor="ctr" rtlCol="false" lIns="0" tIns="0" rIns="0" bIns="0" wrap="square"/>
          <a:lstStyle/>
          <a:p>
            <a:endParaRPr lang="en-US" sz="1800"/>
          </a:p>
        </p:txBody>
      </p:sp>
      <p:sp>
        <p:nvSpPr>
          <p:cNvPr id="27" name="Oval 26"/>
          <p:cNvSpPr/>
          <p:nvPr/>
        </p:nvSpPr>
        <p:spPr>
          <a:xfrm>
            <a:off x="1394460" y="3820922"/>
            <a:ext cx="731520" cy="731520"/>
          </a:xfrm>
          <a:prstGeom prst="ellipse">
            <a:avLst/>
          </a:prstGeom>
          <a:solidFill>
            <a:srgbClr val="ECC665"/>
          </a:solidFill>
          <a:ln>
            <a:noFill/>
          </a:ln>
        </p:spPr>
        <p:txBody>
          <a:bodyPr anchor="ctr" rtlCol="false" lIns="0" tIns="0" rIns="0" bIns="0" wrap="square"/>
          <a:lstStyle/>
          <a:p>
            <a:pPr algn="ctr">
              <a:lnSpc>
                <a:spcPts val="2200"/>
              </a:lnSpc>
              <a:spcBef>
                <a:spcPts val="0"/>
              </a:spcBef>
              <a:buNone/>
            </a:pPr>
            <a:r>
              <a:rPr lang="en-US" sz="2000" b="true">
                <a:solidFill>
                  <a:srgbClr val="111111"/>
                </a:solidFill>
                <a:latin typeface="Nunito Ultra-Bold"/>
                <a:ea typeface="Nunito Ultra-Bold"/>
                <a:cs typeface="Nunito Ultra-Bold"/>
                <a:sym typeface="Nunito Ultra-Bold"/>
              </a:rPr>
              <a:t>01</a:t>
            </a:r>
          </a:p>
        </p:txBody>
      </p:sp>
      <p:sp>
        <p:nvSpPr>
          <p:cNvPr id="28" name="TextBox 27"/>
          <p:cNvSpPr txBox="1"/>
          <p:nvPr/>
        </p:nvSpPr>
        <p:spPr>
          <a:xfrm>
            <a:off x="2354580" y="3775202"/>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Scalable cooperative attribution</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Lower-variance Shapley estimators, learned proposal distributions, adaptive refresh rules.</a:t>
            </a:r>
          </a:p>
        </p:txBody>
      </p:sp>
      <p:sp>
        <p:nvSpPr>
          <p:cNvPr id="29" name="Rounded Rectangle 28"/>
          <p:cNvSpPr/>
          <p:nvPr/>
        </p:nvSpPr>
        <p:spPr>
          <a:xfrm>
            <a:off x="9281160" y="3455162"/>
            <a:ext cx="7978140" cy="2789555"/>
          </a:xfrm>
          <a:prstGeom prst="roundRect">
            <a:avLst>
              <a:gd name="adj" fmla="val 9833"/>
            </a:avLst>
          </a:prstGeom>
          <a:solidFill>
            <a:srgbClr val="F6ECDF"/>
          </a:solidFill>
          <a:ln>
            <a:noFill/>
          </a:ln>
        </p:spPr>
        <p:txBody>
          <a:bodyPr anchor="ctr" rtlCol="false" lIns="0" tIns="0" rIns="0" bIns="0" wrap="square"/>
          <a:lstStyle/>
          <a:p>
            <a:endParaRPr lang="en-US" sz="1800"/>
          </a:p>
        </p:txBody>
      </p:sp>
      <p:sp>
        <p:nvSpPr>
          <p:cNvPr id="30" name="Oval 29"/>
          <p:cNvSpPr/>
          <p:nvPr/>
        </p:nvSpPr>
        <p:spPr>
          <a:xfrm>
            <a:off x="9646920" y="3820922"/>
            <a:ext cx="731520" cy="731520"/>
          </a:xfrm>
          <a:prstGeom prst="ellipse">
            <a:avLst/>
          </a:prstGeom>
          <a:solidFill>
            <a:srgbClr val="1F7A8C"/>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02</a:t>
            </a:r>
          </a:p>
        </p:txBody>
      </p:sp>
      <p:sp>
        <p:nvSpPr>
          <p:cNvPr id="31" name="TextBox 30"/>
          <p:cNvSpPr txBox="1"/>
          <p:nvPr/>
        </p:nvSpPr>
        <p:spPr>
          <a:xfrm>
            <a:off x="10607040" y="3775202"/>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111111"/>
                </a:solidFill>
                <a:latin typeface="Nunito Ultra-Bold"/>
                <a:ea typeface="Nunito Ultra-Bold"/>
                <a:cs typeface="Nunito Ultra-Bold"/>
                <a:sym typeface="Nunito Ultra-Bold"/>
              </a:rPr>
              <a:t>Online / streaming recommendation</a:t>
            </a:r>
          </a:p>
          <a:p>
            <a:pPr algn="l">
              <a:lnSpc>
                <a:spcPts val="2660"/>
              </a:lnSpc>
              <a:spcBef>
                <a:spcPts val="800"/>
              </a:spcBef>
              <a:buNone/>
            </a:pPr>
            <a:r>
              <a:rPr lang="en-US" sz="1900" b="true">
                <a:solidFill>
                  <a:srgbClr val="111111"/>
                </a:solidFill>
                <a:latin typeface="Nunito Semi-Bold"/>
                <a:ea typeface="Nunito Semi-Bold"/>
                <a:cs typeface="Nunito Semi-Bold"/>
                <a:sym typeface="Nunito Semi-Bold"/>
              </a:rPr>
              <a:t>Truly incremental settings with changing graphs and delayed feedback; this also addresses the static-graph limitation.</a:t>
            </a:r>
          </a:p>
        </p:txBody>
      </p:sp>
      <p:sp>
        <p:nvSpPr>
          <p:cNvPr id="32" name="Rounded Rectangle 31"/>
          <p:cNvSpPr/>
          <p:nvPr/>
        </p:nvSpPr>
        <p:spPr>
          <a:xfrm>
            <a:off x="1028700" y="6519037"/>
            <a:ext cx="7978140" cy="2789555"/>
          </a:xfrm>
          <a:prstGeom prst="roundRect">
            <a:avLst>
              <a:gd name="adj" fmla="val 9833"/>
            </a:avLst>
          </a:prstGeom>
          <a:solidFill>
            <a:srgbClr val="F6ECDF"/>
          </a:solidFill>
          <a:ln>
            <a:noFill/>
          </a:ln>
        </p:spPr>
        <p:txBody>
          <a:bodyPr anchor="ctr" rtlCol="false" lIns="0" tIns="0" rIns="0" bIns="0" wrap="square"/>
          <a:lstStyle/>
          <a:p>
            <a:endParaRPr lang="en-US" sz="1800"/>
          </a:p>
        </p:txBody>
      </p:sp>
      <p:sp>
        <p:nvSpPr>
          <p:cNvPr id="33" name="Oval 32"/>
          <p:cNvSpPr/>
          <p:nvPr/>
        </p:nvSpPr>
        <p:spPr>
          <a:xfrm>
            <a:off x="1394460" y="6884797"/>
            <a:ext cx="731520" cy="731520"/>
          </a:xfrm>
          <a:prstGeom prst="ellipse">
            <a:avLst/>
          </a:prstGeom>
          <a:solidFill>
            <a:srgbClr val="1F7A8C"/>
          </a:solidFill>
          <a:ln>
            <a:noFill/>
          </a:ln>
        </p:spPr>
        <p:txBody>
          <a:bodyPr anchor="ctr" rtlCol="false" lIns="0" tIns="0" rIns="0" bIns="0" wrap="square"/>
          <a:lstStyle/>
          <a:p>
            <a:pPr algn="ctr">
              <a:lnSpc>
                <a:spcPts val="2200"/>
              </a:lnSpc>
              <a:spcBef>
                <a:spcPts val="0"/>
              </a:spcBef>
              <a:buNone/>
            </a:pPr>
            <a:r>
              <a:rPr lang="en-US" sz="2000" b="true">
                <a:solidFill>
                  <a:srgbClr val="FFFFFF"/>
                </a:solidFill>
                <a:latin typeface="Nunito Ultra-Bold"/>
                <a:ea typeface="Nunito Ultra-Bold"/>
                <a:cs typeface="Nunito Ultra-Bold"/>
                <a:sym typeface="Nunito Ultra-Bold"/>
              </a:rPr>
              <a:t>03</a:t>
            </a:r>
          </a:p>
        </p:txBody>
      </p:sp>
      <p:sp>
        <p:nvSpPr>
          <p:cNvPr id="34" name="TextBox 33"/>
          <p:cNvSpPr txBox="1"/>
          <p:nvPr/>
        </p:nvSpPr>
        <p:spPr>
          <a:xfrm>
            <a:off x="2354580" y="6839077"/>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111111"/>
                </a:solidFill>
                <a:latin typeface="Nunito Ultra-Bold"/>
                <a:ea typeface="Nunito Ultra-Bold"/>
                <a:cs typeface="Nunito Ultra-Bold"/>
                <a:sym typeface="Nunito Ultra-Bold"/>
              </a:rPr>
              <a:t>Richer user-centred evaluation</a:t>
            </a:r>
          </a:p>
          <a:p>
            <a:pPr algn="l">
              <a:lnSpc>
                <a:spcPts val="2660"/>
              </a:lnSpc>
              <a:spcBef>
                <a:spcPts val="800"/>
              </a:spcBef>
              <a:buNone/>
            </a:pPr>
            <a:r>
              <a:rPr lang="en-US" sz="1900" b="true">
                <a:solidFill>
                  <a:srgbClr val="111111"/>
                </a:solidFill>
                <a:latin typeface="Nunito Semi-Bold"/>
                <a:ea typeface="Nunito Semi-Bold"/>
                <a:cs typeface="Nunito Semi-Bold"/>
                <a:sym typeface="Nunito Semi-Bold"/>
              </a:rPr>
              <a:t>Do explanations measurably improve analyst judgement, user trust, quality of action or perceived fairness?</a:t>
            </a:r>
          </a:p>
        </p:txBody>
      </p:sp>
      <p:sp>
        <p:nvSpPr>
          <p:cNvPr id="35" name="Rounded Rectangle 34"/>
          <p:cNvSpPr/>
          <p:nvPr/>
        </p:nvSpPr>
        <p:spPr>
          <a:xfrm>
            <a:off x="9281160" y="6519037"/>
            <a:ext cx="7978140" cy="2789555"/>
          </a:xfrm>
          <a:prstGeom prst="roundRect">
            <a:avLst>
              <a:gd name="adj" fmla="val 9833"/>
            </a:avLst>
          </a:prstGeom>
          <a:solidFill>
            <a:srgbClr val="4472C4"/>
          </a:solidFill>
          <a:ln>
            <a:noFill/>
          </a:ln>
        </p:spPr>
        <p:txBody>
          <a:bodyPr anchor="ctr" rtlCol="false" lIns="0" tIns="0" rIns="0" bIns="0" wrap="square"/>
          <a:lstStyle/>
          <a:p>
            <a:endParaRPr lang="en-US" sz="1800"/>
          </a:p>
        </p:txBody>
      </p:sp>
      <p:sp>
        <p:nvSpPr>
          <p:cNvPr id="36" name="Oval 35"/>
          <p:cNvSpPr/>
          <p:nvPr/>
        </p:nvSpPr>
        <p:spPr>
          <a:xfrm>
            <a:off x="9646920" y="6884797"/>
            <a:ext cx="731520" cy="731520"/>
          </a:xfrm>
          <a:prstGeom prst="ellipse">
            <a:avLst/>
          </a:prstGeom>
          <a:solidFill>
            <a:srgbClr val="ECC665"/>
          </a:solidFill>
          <a:ln>
            <a:noFill/>
          </a:ln>
        </p:spPr>
        <p:txBody>
          <a:bodyPr anchor="ctr" rtlCol="false" lIns="0" tIns="0" rIns="0" bIns="0" wrap="square"/>
          <a:lstStyle/>
          <a:p>
            <a:pPr algn="ctr">
              <a:lnSpc>
                <a:spcPts val="2200"/>
              </a:lnSpc>
              <a:spcBef>
                <a:spcPts val="0"/>
              </a:spcBef>
              <a:buNone/>
            </a:pPr>
            <a:r>
              <a:rPr lang="en-US" sz="2000" b="true">
                <a:solidFill>
                  <a:srgbClr val="111111"/>
                </a:solidFill>
                <a:latin typeface="Nunito Ultra-Bold"/>
                <a:ea typeface="Nunito Ultra-Bold"/>
                <a:cs typeface="Nunito Ultra-Bold"/>
                <a:sym typeface="Nunito Ultra-Bold"/>
              </a:rPr>
              <a:t>04</a:t>
            </a:r>
          </a:p>
        </p:txBody>
      </p:sp>
      <p:sp>
        <p:nvSpPr>
          <p:cNvPr id="37" name="TextBox 36"/>
          <p:cNvSpPr txBox="1"/>
          <p:nvPr/>
        </p:nvSpPr>
        <p:spPr>
          <a:xfrm>
            <a:off x="10607040" y="6839077"/>
            <a:ext cx="6286500" cy="2240915"/>
          </a:xfrm>
          <a:prstGeom prst="rect">
            <a:avLst/>
          </a:prstGeom>
          <a:noFill/>
        </p:spPr>
        <p:txBody>
          <a:bodyPr anchor="ctr" rtlCol="false" lIns="0" tIns="0" rIns="0" bIns="0" wrap="square"/>
          <a:lstStyle/>
          <a:p>
            <a:pPr algn="l">
              <a:lnSpc>
                <a:spcPts val="3000"/>
              </a:lnSpc>
              <a:spcBef>
                <a:spcPts val="0"/>
              </a:spcBef>
              <a:buNone/>
            </a:pPr>
            <a:r>
              <a:rPr lang="en-US" sz="2400" b="true">
                <a:solidFill>
                  <a:srgbClr val="FFFFFF"/>
                </a:solidFill>
                <a:latin typeface="Nunito Ultra-Bold"/>
                <a:ea typeface="Nunito Ultra-Bold"/>
                <a:cs typeface="Nunito Ultra-Bold"/>
                <a:sym typeface="Nunito Ultra-Bold"/>
              </a:rPr>
              <a:t>Broader trustworthy-AI evaluation</a:t>
            </a:r>
          </a:p>
          <a:p>
            <a:pPr algn="l">
              <a:lnSpc>
                <a:spcPts val="2660"/>
              </a:lnSpc>
              <a:spcBef>
                <a:spcPts val="800"/>
              </a:spcBef>
              <a:buNone/>
            </a:pPr>
            <a:r>
              <a:rPr lang="en-US" sz="1900" b="true">
                <a:solidFill>
                  <a:srgbClr val="F1EDE6"/>
                </a:solidFill>
                <a:latin typeface="Nunito Semi-Bold"/>
                <a:ea typeface="Nunito Semi-Bold"/>
                <a:cs typeface="Nunito Semi-Bold"/>
                <a:sym typeface="Nunito Semi-Bold"/>
              </a:rPr>
              <a:t>Exposure fairness, transparency requirements, auditing for governance.</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[24] Arrieta, A. B. et al. Explainable Artificial Intelligence (XAI): Concepts, Taxonomies, Opportunities and Challenges. Information Fusion 58, 82–115 (2020).   [26] European Union. Regulation (EU) 2024/1689 (AI Act), Art. 13 (2024).  ·  Regulation (EU) 2016/679 (GDPR), Art. 22 (2016).  ·  OECD. Recommendation of the Council on Artificial Intelligence (2019).</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72</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Conclusion</a:t>
            </a:r>
          </a:p>
        </p:txBody>
      </p:sp>
      <p:sp>
        <p:nvSpPr>
          <p:cNvPr id="21" name="Rounded Rectangle 20"/>
          <p:cNvSpPr/>
          <p:nvPr/>
        </p:nvSpPr>
        <p:spPr>
          <a:xfrm>
            <a:off x="1028700" y="2559050"/>
            <a:ext cx="1604433"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Synthesis</a:t>
            </a:r>
          </a:p>
        </p:txBody>
      </p:sp>
      <p:sp>
        <p:nvSpPr>
          <p:cNvPr id="22" name="Rounded Rectangle 21"/>
          <p:cNvSpPr/>
          <p:nvPr/>
        </p:nvSpPr>
        <p:spPr>
          <a:xfrm>
            <a:off x="2761149" y="2559050"/>
            <a:ext cx="189357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Publications</a:t>
            </a:r>
          </a:p>
        </p:txBody>
      </p:sp>
      <p:sp>
        <p:nvSpPr>
          <p:cNvPr id="23" name="Rounded Rectangle 22"/>
          <p:cNvSpPr/>
          <p:nvPr/>
        </p:nvSpPr>
        <p:spPr>
          <a:xfrm>
            <a:off x="4782741" y="2559050"/>
            <a:ext cx="1765486"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Limitations</a:t>
            </a:r>
          </a:p>
        </p:txBody>
      </p:sp>
      <p:sp>
        <p:nvSpPr>
          <p:cNvPr id="24" name="Rounded Rectangle 23"/>
          <p:cNvSpPr/>
          <p:nvPr/>
        </p:nvSpPr>
        <p:spPr>
          <a:xfrm>
            <a:off x="6676243" y="2559050"/>
            <a:ext cx="1934074" cy="420624"/>
          </a:xfrm>
          <a:prstGeom prst="roundRect">
            <a:avLst>
              <a:gd name="adj" fmla="val 50000"/>
            </a:avLst>
          </a:prstGeom>
          <a:noFill/>
          <a:ln w="28575">
            <a:solidFill>
              <a:srgbClr val="4472C4"/>
            </a:solidFill>
          </a:ln>
        </p:spPr>
        <p:txBody>
          <a:bodyPr anchor="ctr" rtlCol="false" lIns="45720" tIns="0" rIns="45720" bIns="0" wrap="square"/>
          <a:lstStyle/>
          <a:p>
            <a:pPr algn="ctr">
              <a:lnSpc>
                <a:spcPts val="2160"/>
              </a:lnSpc>
              <a:spcBef>
                <a:spcPts val="0"/>
              </a:spcBef>
              <a:buNone/>
            </a:pPr>
            <a:r>
              <a:rPr lang="en-US" sz="1800" b="true">
                <a:solidFill>
                  <a:srgbClr val="4472C4"/>
                </a:solidFill>
                <a:latin typeface="Nunito Bold"/>
                <a:ea typeface="Nunito Bold"/>
                <a:cs typeface="Nunito Bold"/>
                <a:sym typeface="Nunito Bold"/>
              </a:rPr>
              <a:t>Perspectives</a:t>
            </a:r>
          </a:p>
        </p:txBody>
      </p:sp>
      <p:sp>
        <p:nvSpPr>
          <p:cNvPr id="25" name="Rounded Rectangle 24"/>
          <p:cNvSpPr/>
          <p:nvPr/>
        </p:nvSpPr>
        <p:spPr>
          <a:xfrm>
            <a:off x="8738333" y="2559050"/>
            <a:ext cx="1753007" cy="420624"/>
          </a:xfrm>
          <a:prstGeom prst="roundRect">
            <a:avLst>
              <a:gd name="adj" fmla="val 50000"/>
            </a:avLst>
          </a:prstGeom>
          <a:solidFill>
            <a:srgbClr val="4472C4"/>
          </a:solidFill>
          <a:ln>
            <a:noFill/>
          </a:ln>
        </p:spPr>
        <p:txBody>
          <a:bodyPr anchor="ctr" rtlCol="false" lIns="45720" tIns="0" rIns="45720" bIns="0" wrap="square"/>
          <a:lstStyle/>
          <a:p>
            <a:pPr algn="ctr">
              <a:lnSpc>
                <a:spcPts val="2160"/>
              </a:lnSpc>
              <a:spcBef>
                <a:spcPts val="0"/>
              </a:spcBef>
              <a:buNone/>
            </a:pPr>
            <a:r>
              <a:rPr lang="en-US" sz="1800" b="true">
                <a:solidFill>
                  <a:srgbClr val="FFFFFF"/>
                </a:solidFill>
                <a:latin typeface="Nunito Bold"/>
                <a:ea typeface="Nunito Bold"/>
                <a:cs typeface="Nunito Bold"/>
                <a:sym typeface="Nunito Bold"/>
              </a:rPr>
              <a:t>Conclusion</a:t>
            </a:r>
          </a:p>
        </p:txBody>
      </p:sp>
      <p:sp>
        <p:nvSpPr>
          <p:cNvPr id="26" name="Rounded Rectangle 25"/>
          <p:cNvSpPr/>
          <p:nvPr/>
        </p:nvSpPr>
        <p:spPr>
          <a:xfrm>
            <a:off x="1028700" y="3546602"/>
            <a:ext cx="16230600" cy="1554480"/>
          </a:xfrm>
          <a:prstGeom prst="roundRect">
            <a:avLst>
              <a:gd name="adj" fmla="val 12941"/>
            </a:avLst>
          </a:prstGeom>
          <a:solidFill>
            <a:srgbClr val="F6ECDF"/>
          </a:solidFill>
          <a:ln w="25400">
            <a:solidFill>
              <a:srgbClr val="4472C4"/>
            </a:solidFill>
          </a:ln>
        </p:spPr>
        <p:txBody>
          <a:bodyPr anchor="ctr" rtlCol="false" lIns="0" tIns="0" rIns="0" bIns="0" wrap="square"/>
          <a:lstStyle/>
          <a:p>
            <a:endParaRPr lang="en-US" sz="1800"/>
          </a:p>
        </p:txBody>
      </p:sp>
      <p:sp>
        <p:nvSpPr>
          <p:cNvPr id="27" name="Rounded Rectangle 26"/>
          <p:cNvSpPr/>
          <p:nvPr/>
        </p:nvSpPr>
        <p:spPr>
          <a:xfrm>
            <a:off x="1348740" y="3354578"/>
            <a:ext cx="2073230" cy="384048"/>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1680"/>
              </a:lnSpc>
              <a:spcBef>
                <a:spcPts val="0"/>
              </a:spcBef>
              <a:buNone/>
            </a:pPr>
            <a:r>
              <a:rPr lang="en-US" sz="1400" b="true">
                <a:solidFill>
                  <a:srgbClr val="FFFFFF"/>
                </a:solidFill>
                <a:latin typeface="Nunito Bold"/>
                <a:ea typeface="Nunito Bold"/>
                <a:cs typeface="Nunito Bold"/>
                <a:sym typeface="Nunito Bold"/>
              </a:rPr>
              <a:t>THESIS ANSWER</a:t>
            </a:r>
          </a:p>
        </p:txBody>
      </p:sp>
      <p:sp>
        <p:nvSpPr>
          <p:cNvPr id="28" name="TextBox 27"/>
          <p:cNvSpPr txBox="1"/>
          <p:nvPr/>
        </p:nvSpPr>
        <p:spPr>
          <a:xfrm>
            <a:off x="1394460" y="3820922"/>
            <a:ext cx="15499080" cy="1143000"/>
          </a:xfrm>
          <a:prstGeom prst="rect">
            <a:avLst/>
          </a:prstGeom>
          <a:noFill/>
        </p:spPr>
        <p:txBody>
          <a:bodyPr anchor="ctr" rtlCol="false" lIns="0" tIns="0" rIns="0" bIns="0" wrap="square"/>
          <a:lstStyle/>
          <a:p>
            <a:pPr algn="l">
              <a:lnSpc>
                <a:spcPts val="3123"/>
              </a:lnSpc>
              <a:spcBef>
                <a:spcPts val="0"/>
              </a:spcBef>
              <a:buNone/>
            </a:pPr>
            <a:r>
              <a:rPr lang="en-US" sz="2231" b="true">
                <a:solidFill>
                  <a:srgbClr val="111111"/>
                </a:solidFill>
                <a:latin typeface="Nunito Semi-Bold"/>
                <a:ea typeface="Nunito Semi-Bold"/>
                <a:cs typeface="Nunito Semi-Bold"/>
                <a:sym typeface="Nunito Semi-Bold"/>
              </a:rPr>
              <a:t>Cooperative game theory can serve as a </a:t>
            </a:r>
            <a:r>
              <a:rPr lang="en-US" sz="2231" b="true">
                <a:solidFill>
                  <a:srgbClr val="111111"/>
                </a:solidFill>
                <a:latin typeface="Nunito Bold"/>
                <a:ea typeface="Nunito Bold"/>
                <a:cs typeface="Nunito Bold"/>
                <a:sym typeface="Nunito Bold"/>
              </a:rPr>
              <a:t>shared methodological view for actionable explanation</a:t>
            </a:r>
            <a:r>
              <a:rPr lang="en-US" sz="2231" b="true">
                <a:solidFill>
                  <a:srgbClr val="111111"/>
                </a:solidFill>
                <a:latin typeface="Nunito Semi-Bold"/>
                <a:ea typeface="Nunito Semi-Bold"/>
                <a:cs typeface="Nunito Semi-Bold"/>
                <a:sym typeface="Nunito Semi-Bold"/>
              </a:rPr>
              <a:t> across clustering and recommendation: the same Shapley logic explains, stays consistent across levels, and guides learning.</a:t>
            </a:r>
          </a:p>
        </p:txBody>
      </p:sp>
      <p:sp>
        <p:nvSpPr>
          <p:cNvPr id="29" name="TextBox 28"/>
          <p:cNvSpPr txBox="1"/>
          <p:nvPr/>
        </p:nvSpPr>
        <p:spPr>
          <a:xfrm>
            <a:off x="1028700" y="5421122"/>
            <a:ext cx="16230600" cy="320040"/>
          </a:xfrm>
          <a:prstGeom prst="rect">
            <a:avLst/>
          </a:prstGeom>
          <a:noFill/>
        </p:spPr>
        <p:txBody>
          <a:bodyPr anchor="t" rtlCol="false" lIns="0" tIns="0" rIns="0" bIns="0" wrap="square"/>
          <a:lstStyle/>
          <a:p>
            <a:pPr algn="l">
              <a:lnSpc>
                <a:spcPts val="1800"/>
              </a:lnSpc>
              <a:spcBef>
                <a:spcPts val="0"/>
              </a:spcBef>
              <a:buNone/>
            </a:pPr>
            <a:r>
              <a:rPr lang="en-US" sz="1400" b="true" spc="160">
                <a:solidFill>
                  <a:srgbClr val="1F7A8C"/>
                </a:solidFill>
                <a:latin typeface="Nunito Ultra-Bold"/>
                <a:ea typeface="Nunito Ultra-Bold"/>
                <a:cs typeface="Nunito Ultra-Bold"/>
                <a:sym typeface="Nunito Ultra-Bold"/>
              </a:rPr>
              <a:t>KEY OUTCOMES</a:t>
            </a:r>
          </a:p>
        </p:txBody>
      </p:sp>
      <p:sp>
        <p:nvSpPr>
          <p:cNvPr id="30" name="Rounded Rectangle 29"/>
          <p:cNvSpPr/>
          <p:nvPr/>
        </p:nvSpPr>
        <p:spPr>
          <a:xfrm>
            <a:off x="1028700" y="5832602"/>
            <a:ext cx="3851910" cy="3384550"/>
          </a:xfrm>
          <a:prstGeom prst="roundRect">
            <a:avLst>
              <a:gd name="adj" fmla="val 8105"/>
            </a:avLst>
          </a:prstGeom>
          <a:solidFill>
            <a:srgbClr val="F6ECDF"/>
          </a:solidFill>
          <a:ln>
            <a:noFill/>
          </a:ln>
        </p:spPr>
        <p:txBody>
          <a:bodyPr anchor="ctr" rtlCol="false" lIns="0" tIns="0" rIns="0" bIns="0" wrap="square"/>
          <a:lstStyle/>
          <a:p>
            <a:endParaRPr lang="en-US" sz="1800"/>
          </a:p>
        </p:txBody>
      </p:sp>
      <p:sp>
        <p:nvSpPr>
          <p:cNvPr id="31" name="Oval 30"/>
          <p:cNvSpPr/>
          <p:nvPr/>
        </p:nvSpPr>
        <p:spPr>
          <a:xfrm>
            <a:off x="1348740" y="6106922"/>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1</a:t>
            </a:r>
          </a:p>
        </p:txBody>
      </p:sp>
      <p:sp>
        <p:nvSpPr>
          <p:cNvPr id="32" name="TextBox 31"/>
          <p:cNvSpPr txBox="1"/>
          <p:nvPr/>
        </p:nvSpPr>
        <p:spPr>
          <a:xfrm>
            <a:off x="134874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Common language</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Shapley attribution as a common formal language for assigning importance to features, interactions and contexts.</a:t>
            </a:r>
          </a:p>
        </p:txBody>
      </p:sp>
      <p:sp>
        <p:nvSpPr>
          <p:cNvPr id="33" name="Rounded Rectangle 32"/>
          <p:cNvSpPr/>
          <p:nvPr/>
        </p:nvSpPr>
        <p:spPr>
          <a:xfrm>
            <a:off x="5154930" y="5832602"/>
            <a:ext cx="3851910" cy="3384550"/>
          </a:xfrm>
          <a:prstGeom prst="roundRect">
            <a:avLst>
              <a:gd name="adj" fmla="val 8105"/>
            </a:avLst>
          </a:prstGeom>
          <a:solidFill>
            <a:srgbClr val="FBF4EB"/>
          </a:solidFill>
          <a:ln>
            <a:noFill/>
          </a:ln>
        </p:spPr>
        <p:txBody>
          <a:bodyPr anchor="ctr" rtlCol="false" lIns="0" tIns="0" rIns="0" bIns="0" wrap="square"/>
          <a:lstStyle/>
          <a:p>
            <a:endParaRPr lang="en-US" sz="1800"/>
          </a:p>
        </p:txBody>
      </p:sp>
      <p:sp>
        <p:nvSpPr>
          <p:cNvPr id="34" name="Oval 33"/>
          <p:cNvSpPr/>
          <p:nvPr/>
        </p:nvSpPr>
        <p:spPr>
          <a:xfrm>
            <a:off x="5474970" y="6106922"/>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2</a:t>
            </a:r>
          </a:p>
        </p:txBody>
      </p:sp>
      <p:sp>
        <p:nvSpPr>
          <p:cNvPr id="35" name="TextBox 34"/>
          <p:cNvSpPr txBox="1"/>
          <p:nvPr/>
        </p:nvSpPr>
        <p:spPr>
          <a:xfrm>
            <a:off x="547497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Three achievements</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Faithful clustering explanation, consistent multi-level explanation, contribution-aware recommendation learning.</a:t>
            </a:r>
          </a:p>
        </p:txBody>
      </p:sp>
      <p:sp>
        <p:nvSpPr>
          <p:cNvPr id="36" name="Rounded Rectangle 35"/>
          <p:cNvSpPr/>
          <p:nvPr/>
        </p:nvSpPr>
        <p:spPr>
          <a:xfrm>
            <a:off x="9281160" y="5832602"/>
            <a:ext cx="3851910" cy="3384550"/>
          </a:xfrm>
          <a:prstGeom prst="roundRect">
            <a:avLst>
              <a:gd name="adj" fmla="val 8105"/>
            </a:avLst>
          </a:prstGeom>
          <a:solidFill>
            <a:srgbClr val="F6ECDF"/>
          </a:solidFill>
          <a:ln>
            <a:noFill/>
          </a:ln>
        </p:spPr>
        <p:txBody>
          <a:bodyPr anchor="ctr" rtlCol="false" lIns="0" tIns="0" rIns="0" bIns="0" wrap="square"/>
          <a:lstStyle/>
          <a:p>
            <a:endParaRPr lang="en-US" sz="1800"/>
          </a:p>
        </p:txBody>
      </p:sp>
      <p:sp>
        <p:nvSpPr>
          <p:cNvPr id="37" name="Oval 36"/>
          <p:cNvSpPr/>
          <p:nvPr/>
        </p:nvSpPr>
        <p:spPr>
          <a:xfrm>
            <a:off x="9601200" y="6106922"/>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3</a:t>
            </a:r>
          </a:p>
        </p:txBody>
      </p:sp>
      <p:sp>
        <p:nvSpPr>
          <p:cNvPr id="38" name="TextBox 37"/>
          <p:cNvSpPr txBox="1"/>
          <p:nvPr/>
        </p:nvSpPr>
        <p:spPr>
          <a:xfrm>
            <a:off x="960120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Explanation as method</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Not a comment added later: from post-hoc description to in-training guidance.</a:t>
            </a:r>
          </a:p>
        </p:txBody>
      </p:sp>
      <p:sp>
        <p:nvSpPr>
          <p:cNvPr id="39" name="Rounded Rectangle 38"/>
          <p:cNvSpPr/>
          <p:nvPr/>
        </p:nvSpPr>
        <p:spPr>
          <a:xfrm>
            <a:off x="13407390" y="5832602"/>
            <a:ext cx="3851910" cy="3384550"/>
          </a:xfrm>
          <a:prstGeom prst="roundRect">
            <a:avLst>
              <a:gd name="adj" fmla="val 8105"/>
            </a:avLst>
          </a:prstGeom>
          <a:solidFill>
            <a:srgbClr val="FBF4EB"/>
          </a:solidFill>
          <a:ln>
            <a:noFill/>
          </a:ln>
        </p:spPr>
        <p:txBody>
          <a:bodyPr anchor="ctr" rtlCol="false" lIns="0" tIns="0" rIns="0" bIns="0" wrap="square"/>
          <a:lstStyle/>
          <a:p>
            <a:endParaRPr lang="en-US" sz="1800"/>
          </a:p>
        </p:txBody>
      </p:sp>
      <p:sp>
        <p:nvSpPr>
          <p:cNvPr id="40" name="Oval 39"/>
          <p:cNvSpPr/>
          <p:nvPr/>
        </p:nvSpPr>
        <p:spPr>
          <a:xfrm>
            <a:off x="13727430" y="6106922"/>
            <a:ext cx="502920" cy="502920"/>
          </a:xfrm>
          <a:prstGeom prst="ellipse">
            <a:avLst/>
          </a:prstGeom>
          <a:solidFill>
            <a:srgbClr val="1F7A8C"/>
          </a:solidFill>
          <a:ln>
            <a:noFill/>
          </a:ln>
        </p:spPr>
        <p:txBody>
          <a:bodyPr anchor="ctr" rtlCol="false" lIns="0" tIns="0" rIns="0" bIns="0" wrap="square"/>
          <a:lstStyle/>
          <a:p>
            <a:pPr algn="ctr">
              <a:lnSpc>
                <a:spcPts val="1870"/>
              </a:lnSpc>
              <a:spcBef>
                <a:spcPts val="0"/>
              </a:spcBef>
              <a:buNone/>
            </a:pPr>
            <a:r>
              <a:rPr lang="en-US" sz="1700" b="true">
                <a:solidFill>
                  <a:srgbClr val="FFFFFF"/>
                </a:solidFill>
                <a:latin typeface="Nunito Ultra-Bold"/>
                <a:ea typeface="Nunito Ultra-Bold"/>
                <a:cs typeface="Nunito Ultra-Bold"/>
                <a:sym typeface="Nunito Ultra-Bold"/>
              </a:rPr>
              <a:t>4</a:t>
            </a:r>
          </a:p>
        </p:txBody>
      </p:sp>
      <p:sp>
        <p:nvSpPr>
          <p:cNvPr id="41" name="TextBox 40"/>
          <p:cNvSpPr txBox="1"/>
          <p:nvPr/>
        </p:nvSpPr>
        <p:spPr>
          <a:xfrm>
            <a:off x="13727430" y="6747002"/>
            <a:ext cx="3211830" cy="2332990"/>
          </a:xfrm>
          <a:prstGeom prst="rect">
            <a:avLst/>
          </a:prstGeom>
          <a:noFill/>
        </p:spPr>
        <p:txBody>
          <a:bodyPr anchor="t" rtlCol="false" lIns="0" tIns="0" rIns="0" bIns="0" wrap="square"/>
          <a:lstStyle/>
          <a:p>
            <a:pPr algn="l">
              <a:lnSpc>
                <a:spcPts val="2625"/>
              </a:lnSpc>
              <a:spcBef>
                <a:spcPts val="0"/>
              </a:spcBef>
              <a:buNone/>
            </a:pPr>
            <a:r>
              <a:rPr lang="en-US" sz="2100" b="true">
                <a:solidFill>
                  <a:srgbClr val="4472C4"/>
                </a:solidFill>
                <a:latin typeface="Nunito Ultra-Bold"/>
                <a:ea typeface="Nunito Ultra-Bold"/>
                <a:cs typeface="Nunito Ultra-Bold"/>
                <a:sym typeface="Nunito Ultra-Bold"/>
              </a:rPr>
              <a:t>Trustworthy AI</a:t>
            </a:r>
          </a:p>
          <a:p>
            <a:pPr algn="l">
              <a:lnSpc>
                <a:spcPts val="2380"/>
              </a:lnSpc>
              <a:spcBef>
                <a:spcPts val="600"/>
              </a:spcBef>
              <a:buNone/>
            </a:pPr>
            <a:r>
              <a:rPr lang="en-US" sz="1700" b="true">
                <a:solidFill>
                  <a:srgbClr val="111111"/>
                </a:solidFill>
                <a:latin typeface="Nunito Semi-Bold"/>
                <a:ea typeface="Nunito Semi-Bold"/>
                <a:cs typeface="Nunito Semi-Bold"/>
                <a:sym typeface="Nunito Semi-Bold"/>
              </a:rPr>
              <a:t>Aligned with EU AI Act, OECD principles and GDPR expectations.</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73</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References (1 / 2)</a:t>
            </a:r>
          </a:p>
        </p:txBody>
      </p:sp>
      <p:sp>
        <p:nvSpPr>
          <p:cNvPr id="21" name="Rounded Rectangle 20"/>
          <p:cNvSpPr/>
          <p:nvPr/>
        </p:nvSpPr>
        <p:spPr>
          <a:xfrm>
            <a:off x="1028700" y="2714498"/>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22" name="Rounded Rectangle 21"/>
          <p:cNvSpPr/>
          <p:nvPr/>
        </p:nvSpPr>
        <p:spPr>
          <a:xfrm>
            <a:off x="1138428" y="2769362"/>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a:t>
            </a:r>
          </a:p>
        </p:txBody>
      </p:sp>
      <p:sp>
        <p:nvSpPr>
          <p:cNvPr id="23" name="TextBox 22"/>
          <p:cNvSpPr txBox="1"/>
          <p:nvPr/>
        </p:nvSpPr>
        <p:spPr>
          <a:xfrm>
            <a:off x="1943100" y="2714498"/>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Louhichi, M., Nesmaoui, R., Mbarek, M. &amp; Lazaar, M. Shapley Values for Explaining the Black Box Nature of Machine Learning Model Clustering. Procedia Computer Science 220, 806–811 (2023).</a:t>
            </a:r>
          </a:p>
        </p:txBody>
      </p:sp>
      <p:sp>
        <p:nvSpPr>
          <p:cNvPr id="24" name="Rounded Rectangle 23"/>
          <p:cNvSpPr/>
          <p:nvPr/>
        </p:nvSpPr>
        <p:spPr>
          <a:xfrm>
            <a:off x="1028700" y="3202486"/>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25" name="Rounded Rectangle 24"/>
          <p:cNvSpPr/>
          <p:nvPr/>
        </p:nvSpPr>
        <p:spPr>
          <a:xfrm>
            <a:off x="1138428" y="3257350"/>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a:t>
            </a:r>
          </a:p>
        </p:txBody>
      </p:sp>
      <p:sp>
        <p:nvSpPr>
          <p:cNvPr id="26" name="TextBox 25"/>
          <p:cNvSpPr txBox="1"/>
          <p:nvPr/>
        </p:nvSpPr>
        <p:spPr>
          <a:xfrm>
            <a:off x="1943100" y="3202486"/>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Louhichi, M., Nesmaoui, R. &amp; Lazaar, M. Game Theory Meets Explainable AI: An Enhanced Approach to Understanding Black Box Models Through Shapley Values. IJACSA 16(7), 716–725 (2025).</a:t>
            </a:r>
          </a:p>
        </p:txBody>
      </p:sp>
      <p:sp>
        <p:nvSpPr>
          <p:cNvPr id="27" name="Rounded Rectangle 26"/>
          <p:cNvSpPr/>
          <p:nvPr/>
        </p:nvSpPr>
        <p:spPr>
          <a:xfrm>
            <a:off x="1028700" y="3690474"/>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28" name="Rounded Rectangle 27"/>
          <p:cNvSpPr/>
          <p:nvPr/>
        </p:nvSpPr>
        <p:spPr>
          <a:xfrm>
            <a:off x="1138428" y="3745338"/>
            <a:ext cx="640080" cy="323396"/>
          </a:xfrm>
          <a:prstGeom prst="roundRect">
            <a:avLst>
              <a:gd name="adj" fmla="val 22619"/>
            </a:avLst>
          </a:prstGeom>
          <a:solidFill>
            <a:srgbClr val="4472C4"/>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[3]</a:t>
            </a:r>
          </a:p>
        </p:txBody>
      </p:sp>
      <p:sp>
        <p:nvSpPr>
          <p:cNvPr id="29" name="TextBox 28"/>
          <p:cNvSpPr txBox="1"/>
          <p:nvPr/>
        </p:nvSpPr>
        <p:spPr>
          <a:xfrm>
            <a:off x="1943100" y="3690474"/>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Louhichi, M., Nesmaoui, R. &amp; Lazaar, M. DyHuCoG: A Dynamic Hypergraph Cooperative Game for Preference-aware Recommendation. IJIES 19(2), 887–902 (2026).</a:t>
            </a:r>
          </a:p>
        </p:txBody>
      </p:sp>
      <p:sp>
        <p:nvSpPr>
          <p:cNvPr id="30" name="Rounded Rectangle 29"/>
          <p:cNvSpPr/>
          <p:nvPr/>
        </p:nvSpPr>
        <p:spPr>
          <a:xfrm>
            <a:off x="1028700" y="417846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1" name="Rounded Rectangle 30"/>
          <p:cNvSpPr/>
          <p:nvPr/>
        </p:nvSpPr>
        <p:spPr>
          <a:xfrm>
            <a:off x="1138428" y="423332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[4]</a:t>
            </a:r>
          </a:p>
        </p:txBody>
      </p:sp>
      <p:sp>
        <p:nvSpPr>
          <p:cNvPr id="32" name="TextBox 31"/>
          <p:cNvSpPr txBox="1"/>
          <p:nvPr/>
        </p:nvSpPr>
        <p:spPr>
          <a:xfrm>
            <a:off x="1943100" y="4178463"/>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Shapley, L. S. A Value for n-Person Games. Contributions to the Theory of Games II, 307–317, Princeton University Press (1953).</a:t>
            </a:r>
          </a:p>
        </p:txBody>
      </p:sp>
      <p:sp>
        <p:nvSpPr>
          <p:cNvPr id="33" name="Rounded Rectangle 32"/>
          <p:cNvSpPr/>
          <p:nvPr/>
        </p:nvSpPr>
        <p:spPr>
          <a:xfrm>
            <a:off x="1028700" y="4666451"/>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34" name="Rounded Rectangle 33"/>
          <p:cNvSpPr/>
          <p:nvPr/>
        </p:nvSpPr>
        <p:spPr>
          <a:xfrm>
            <a:off x="1138428" y="4721315"/>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[5]</a:t>
            </a:r>
          </a:p>
        </p:txBody>
      </p:sp>
      <p:sp>
        <p:nvSpPr>
          <p:cNvPr id="35" name="TextBox 34"/>
          <p:cNvSpPr txBox="1"/>
          <p:nvPr/>
        </p:nvSpPr>
        <p:spPr>
          <a:xfrm>
            <a:off x="1943100" y="4666451"/>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Lundberg, S. M. &amp; Lee, S.-I. A Unified Approach to Interpreting Model Predictions (SHAP). NeurIPS 30, 4765–4774 (2017).</a:t>
            </a:r>
          </a:p>
        </p:txBody>
      </p:sp>
      <p:sp>
        <p:nvSpPr>
          <p:cNvPr id="36" name="Rounded Rectangle 35"/>
          <p:cNvSpPr/>
          <p:nvPr/>
        </p:nvSpPr>
        <p:spPr>
          <a:xfrm>
            <a:off x="1028700" y="515444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7" name="Rounded Rectangle 36"/>
          <p:cNvSpPr/>
          <p:nvPr/>
        </p:nvSpPr>
        <p:spPr>
          <a:xfrm>
            <a:off x="1138428" y="520930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[6]</a:t>
            </a:r>
          </a:p>
        </p:txBody>
      </p:sp>
      <p:sp>
        <p:nvSpPr>
          <p:cNvPr id="38" name="TextBox 37"/>
          <p:cNvSpPr txBox="1"/>
          <p:nvPr/>
        </p:nvSpPr>
        <p:spPr>
          <a:xfrm>
            <a:off x="1943100" y="5154440"/>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Lundberg, S. M. et al. From Local Explanations to Global Understanding with Explainable AI for Trees (TreeSHAP). Nature Machine Intelligence 2, 56–67 (2020).</a:t>
            </a:r>
          </a:p>
        </p:txBody>
      </p:sp>
      <p:sp>
        <p:nvSpPr>
          <p:cNvPr id="39" name="Rounded Rectangle 38"/>
          <p:cNvSpPr/>
          <p:nvPr/>
        </p:nvSpPr>
        <p:spPr>
          <a:xfrm>
            <a:off x="1028700" y="5642428"/>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40" name="Rounded Rectangle 39"/>
          <p:cNvSpPr/>
          <p:nvPr/>
        </p:nvSpPr>
        <p:spPr>
          <a:xfrm>
            <a:off x="1138428" y="569729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[7]</a:t>
            </a:r>
          </a:p>
        </p:txBody>
      </p:sp>
      <p:sp>
        <p:nvSpPr>
          <p:cNvPr id="41" name="TextBox 40"/>
          <p:cNvSpPr txBox="1"/>
          <p:nvPr/>
        </p:nvSpPr>
        <p:spPr>
          <a:xfrm>
            <a:off x="1943100" y="5642428"/>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Ribeiro, M. T., Singh, S. &amp; Guestrin, C. "Why Should I Trust You?": Explaining the Predictions of Any Classifier (LIME). KDD, 1135–1144 (2016).</a:t>
            </a:r>
          </a:p>
        </p:txBody>
      </p:sp>
      <p:sp>
        <p:nvSpPr>
          <p:cNvPr id="42" name="Rounded Rectangle 41"/>
          <p:cNvSpPr/>
          <p:nvPr/>
        </p:nvSpPr>
        <p:spPr>
          <a:xfrm>
            <a:off x="1028700" y="613041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3" name="Rounded Rectangle 42"/>
          <p:cNvSpPr/>
          <p:nvPr/>
        </p:nvSpPr>
        <p:spPr>
          <a:xfrm>
            <a:off x="1138428" y="618528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[8]</a:t>
            </a:r>
          </a:p>
        </p:txBody>
      </p:sp>
      <p:sp>
        <p:nvSpPr>
          <p:cNvPr id="44" name="TextBox 43"/>
          <p:cNvSpPr txBox="1"/>
          <p:nvPr/>
        </p:nvSpPr>
        <p:spPr>
          <a:xfrm>
            <a:off x="1943100" y="6130417"/>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Castro, J., Gómez, D. &amp; Tejada, J. Polynomial Calculation of the Shapley Value Based on Sampling. Computers &amp; Operations Research 36(5), 1726–1730 (2009).</a:t>
            </a:r>
          </a:p>
        </p:txBody>
      </p:sp>
      <p:sp>
        <p:nvSpPr>
          <p:cNvPr id="45" name="Rounded Rectangle 44"/>
          <p:cNvSpPr/>
          <p:nvPr/>
        </p:nvSpPr>
        <p:spPr>
          <a:xfrm>
            <a:off x="1028700" y="6618405"/>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46" name="Rounded Rectangle 45"/>
          <p:cNvSpPr/>
          <p:nvPr/>
        </p:nvSpPr>
        <p:spPr>
          <a:xfrm>
            <a:off x="1138428" y="6673269"/>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[9]</a:t>
            </a:r>
          </a:p>
        </p:txBody>
      </p:sp>
      <p:sp>
        <p:nvSpPr>
          <p:cNvPr id="47" name="TextBox 46"/>
          <p:cNvSpPr txBox="1"/>
          <p:nvPr/>
        </p:nvSpPr>
        <p:spPr>
          <a:xfrm>
            <a:off x="1943100" y="6618405"/>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Štrumbelj, E. &amp; Kononenko, I. An Efficient Explanation of Individual Classifications Using Game Theory. JMLR 11, 1–18 (2010).</a:t>
            </a:r>
          </a:p>
        </p:txBody>
      </p:sp>
      <p:sp>
        <p:nvSpPr>
          <p:cNvPr id="48" name="Rounded Rectangle 47"/>
          <p:cNvSpPr/>
          <p:nvPr/>
        </p:nvSpPr>
        <p:spPr>
          <a:xfrm>
            <a:off x="1028700" y="710639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9" name="Rounded Rectangle 48"/>
          <p:cNvSpPr/>
          <p:nvPr/>
        </p:nvSpPr>
        <p:spPr>
          <a:xfrm>
            <a:off x="1138428" y="716125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[10]</a:t>
            </a:r>
          </a:p>
        </p:txBody>
      </p:sp>
      <p:sp>
        <p:nvSpPr>
          <p:cNvPr id="50" name="TextBox 49"/>
          <p:cNvSpPr txBox="1"/>
          <p:nvPr/>
        </p:nvSpPr>
        <p:spPr>
          <a:xfrm>
            <a:off x="1943100" y="7106393"/>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Koren, Y., Bell, R. &amp; Volinsky, C. Matrix Factorization Techniques for Recommender Systems. Computer 42(8), 30–37 (2009).</a:t>
            </a:r>
          </a:p>
        </p:txBody>
      </p:sp>
      <p:sp>
        <p:nvSpPr>
          <p:cNvPr id="51" name="Rounded Rectangle 50"/>
          <p:cNvSpPr/>
          <p:nvPr/>
        </p:nvSpPr>
        <p:spPr>
          <a:xfrm>
            <a:off x="1028700" y="7594382"/>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52" name="Rounded Rectangle 51"/>
          <p:cNvSpPr/>
          <p:nvPr/>
        </p:nvSpPr>
        <p:spPr>
          <a:xfrm>
            <a:off x="1138428" y="7649246"/>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[11]</a:t>
            </a:r>
          </a:p>
        </p:txBody>
      </p:sp>
      <p:sp>
        <p:nvSpPr>
          <p:cNvPr id="53" name="TextBox 52"/>
          <p:cNvSpPr txBox="1"/>
          <p:nvPr/>
        </p:nvSpPr>
        <p:spPr>
          <a:xfrm>
            <a:off x="1943100" y="7594382"/>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He, X. et al. Neural Collaborative Filtering. WWW, 173–182 (2017).</a:t>
            </a:r>
          </a:p>
        </p:txBody>
      </p:sp>
      <p:sp>
        <p:nvSpPr>
          <p:cNvPr id="54" name="Rounded Rectangle 53"/>
          <p:cNvSpPr/>
          <p:nvPr/>
        </p:nvSpPr>
        <p:spPr>
          <a:xfrm>
            <a:off x="1028700" y="808237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5" name="Rounded Rectangle 54"/>
          <p:cNvSpPr/>
          <p:nvPr/>
        </p:nvSpPr>
        <p:spPr>
          <a:xfrm>
            <a:off x="1138428" y="813723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[12]</a:t>
            </a:r>
          </a:p>
        </p:txBody>
      </p:sp>
      <p:sp>
        <p:nvSpPr>
          <p:cNvPr id="56" name="TextBox 55"/>
          <p:cNvSpPr txBox="1"/>
          <p:nvPr/>
        </p:nvSpPr>
        <p:spPr>
          <a:xfrm>
            <a:off x="1943100" y="8082370"/>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He, X. et al. LightGCN: Simplifying and Powering Graph Convolution Network for Recommendation. SIGIR, 639–648 (2020).</a:t>
            </a:r>
          </a:p>
        </p:txBody>
      </p:sp>
      <p:sp>
        <p:nvSpPr>
          <p:cNvPr id="57" name="Rounded Rectangle 56"/>
          <p:cNvSpPr/>
          <p:nvPr/>
        </p:nvSpPr>
        <p:spPr>
          <a:xfrm>
            <a:off x="1028700" y="8570359"/>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58" name="Rounded Rectangle 57"/>
          <p:cNvSpPr/>
          <p:nvPr/>
        </p:nvSpPr>
        <p:spPr>
          <a:xfrm>
            <a:off x="1138428" y="8625223"/>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[13]</a:t>
            </a:r>
          </a:p>
        </p:txBody>
      </p:sp>
      <p:sp>
        <p:nvSpPr>
          <p:cNvPr id="59" name="TextBox 58"/>
          <p:cNvSpPr txBox="1"/>
          <p:nvPr/>
        </p:nvSpPr>
        <p:spPr>
          <a:xfrm>
            <a:off x="1943100" y="8570359"/>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Xia, L. et al. Hypergraph Contrastive Collaborative Filtering (HCCF). SIGIR, 70–79 (2022).</a:t>
            </a:r>
          </a:p>
        </p:txBody>
      </p:sp>
      <p:sp>
        <p:nvSpPr>
          <p:cNvPr id="60" name="Rounded Rectangle 59"/>
          <p:cNvSpPr/>
          <p:nvPr/>
        </p:nvSpPr>
        <p:spPr>
          <a:xfrm>
            <a:off x="1028700" y="905834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61" name="Rounded Rectangle 60"/>
          <p:cNvSpPr/>
          <p:nvPr/>
        </p:nvSpPr>
        <p:spPr>
          <a:xfrm>
            <a:off x="1138428" y="911321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[14]</a:t>
            </a:r>
          </a:p>
        </p:txBody>
      </p:sp>
      <p:sp>
        <p:nvSpPr>
          <p:cNvPr id="62" name="TextBox 61"/>
          <p:cNvSpPr txBox="1"/>
          <p:nvPr/>
        </p:nvSpPr>
        <p:spPr>
          <a:xfrm>
            <a:off x="1943100" y="9058347"/>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Xiangyi, Y. et al. Hypergraph Projection Enhanced Collaborative Filtering (HPCF). Int. J. Data Science and Analytics 19(2), 269–281 (2025).</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74</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CONCLUSION &amp; PERSPECTIVES</a:t>
            </a:r>
          </a:p>
        </p:txBody>
      </p:sp>
      <p:sp>
        <p:nvSpPr>
          <p:cNvPr id="6" name="Rounded Rectangle 5"/>
          <p:cNvSpPr/>
          <p:nvPr/>
        </p:nvSpPr>
        <p:spPr>
          <a:xfrm>
            <a:off x="1451610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7" name="TextBox 6"/>
          <p:cNvSpPr txBox="1"/>
          <p:nvPr/>
        </p:nvSpPr>
        <p:spPr>
          <a:xfrm>
            <a:off x="1451610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1</a:t>
            </a:r>
          </a:p>
        </p:txBody>
      </p:sp>
      <p:sp>
        <p:nvSpPr>
          <p:cNvPr id="8" name="Rounded Rectangle 7"/>
          <p:cNvSpPr/>
          <p:nvPr/>
        </p:nvSpPr>
        <p:spPr>
          <a:xfrm>
            <a:off x="14918436"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9" name="TextBox 8"/>
          <p:cNvSpPr txBox="1"/>
          <p:nvPr/>
        </p:nvSpPr>
        <p:spPr>
          <a:xfrm>
            <a:off x="1491843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2</a:t>
            </a:r>
          </a:p>
        </p:txBody>
      </p:sp>
      <p:sp>
        <p:nvSpPr>
          <p:cNvPr id="10" name="Rounded Rectangle 9"/>
          <p:cNvSpPr/>
          <p:nvPr/>
        </p:nvSpPr>
        <p:spPr>
          <a:xfrm>
            <a:off x="15320772"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1" name="TextBox 10"/>
          <p:cNvSpPr txBox="1"/>
          <p:nvPr/>
        </p:nvSpPr>
        <p:spPr>
          <a:xfrm>
            <a:off x="15320772"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3</a:t>
            </a:r>
          </a:p>
        </p:txBody>
      </p:sp>
      <p:sp>
        <p:nvSpPr>
          <p:cNvPr id="12" name="Rounded Rectangle 11"/>
          <p:cNvSpPr/>
          <p:nvPr/>
        </p:nvSpPr>
        <p:spPr>
          <a:xfrm>
            <a:off x="15723108"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3" name="TextBox 12"/>
          <p:cNvSpPr txBox="1"/>
          <p:nvPr/>
        </p:nvSpPr>
        <p:spPr>
          <a:xfrm>
            <a:off x="15723108"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4</a:t>
            </a:r>
          </a:p>
        </p:txBody>
      </p:sp>
      <p:sp>
        <p:nvSpPr>
          <p:cNvPr id="14" name="Rounded Rectangle 13"/>
          <p:cNvSpPr/>
          <p:nvPr/>
        </p:nvSpPr>
        <p:spPr>
          <a:xfrm>
            <a:off x="16125444"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5" name="TextBox 14"/>
          <p:cNvSpPr txBox="1"/>
          <p:nvPr/>
        </p:nvSpPr>
        <p:spPr>
          <a:xfrm>
            <a:off x="16125444"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5</a:t>
            </a:r>
          </a:p>
        </p:txBody>
      </p:sp>
      <p:sp>
        <p:nvSpPr>
          <p:cNvPr id="16" name="Rounded Rectangle 15"/>
          <p:cNvSpPr/>
          <p:nvPr/>
        </p:nvSpPr>
        <p:spPr>
          <a:xfrm>
            <a:off x="16527780" y="1371600"/>
            <a:ext cx="329184" cy="329184"/>
          </a:xfrm>
          <a:prstGeom prst="roundRect">
            <a:avLst>
              <a:gd name="adj" fmla="val 16666"/>
            </a:avLst>
          </a:prstGeom>
          <a:solidFill>
            <a:srgbClr val="FFFFFF"/>
          </a:solidFill>
          <a:ln w="15875">
            <a:solidFill>
              <a:srgbClr val="E3D6C4"/>
            </a:solidFill>
          </a:ln>
        </p:spPr>
        <p:txBody>
          <a:bodyPr anchor="ctr" rtlCol="false" lIns="0" tIns="0" rIns="0" bIns="0" wrap="square"/>
          <a:lstStyle/>
          <a:p>
            <a:endParaRPr lang="en-US" sz="1800"/>
          </a:p>
        </p:txBody>
      </p:sp>
      <p:sp>
        <p:nvSpPr>
          <p:cNvPr id="17" name="TextBox 16"/>
          <p:cNvSpPr txBox="1"/>
          <p:nvPr/>
        </p:nvSpPr>
        <p:spPr>
          <a:xfrm>
            <a:off x="16527780"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8A8378"/>
                </a:solidFill>
                <a:latin typeface="Nunito Ultra-Bold"/>
                <a:ea typeface="Nunito Ultra-Bold"/>
                <a:cs typeface="Nunito Ultra-Bold"/>
                <a:sym typeface="Nunito Ultra-Bold"/>
              </a:rPr>
              <a:t>6</a:t>
            </a:r>
          </a:p>
        </p:txBody>
      </p:sp>
      <p:sp>
        <p:nvSpPr>
          <p:cNvPr id="18" name="Rounded Rectangle 17"/>
          <p:cNvSpPr/>
          <p:nvPr/>
        </p:nvSpPr>
        <p:spPr>
          <a:xfrm>
            <a:off x="16930116" y="1371600"/>
            <a:ext cx="329184" cy="329184"/>
          </a:xfrm>
          <a:prstGeom prst="roundRect">
            <a:avLst>
              <a:gd name="adj" fmla="val 16666"/>
            </a:avLst>
          </a:prstGeom>
          <a:solidFill>
            <a:srgbClr val="4472C4"/>
          </a:solidFill>
          <a:ln w="15875">
            <a:solidFill>
              <a:srgbClr val="4472C4"/>
            </a:solidFill>
          </a:ln>
        </p:spPr>
        <p:txBody>
          <a:bodyPr anchor="ctr" rtlCol="false" lIns="0" tIns="0" rIns="0" bIns="0" wrap="square"/>
          <a:lstStyle/>
          <a:p>
            <a:endParaRPr lang="en-US" sz="1800"/>
          </a:p>
        </p:txBody>
      </p:sp>
      <p:sp>
        <p:nvSpPr>
          <p:cNvPr id="19" name="TextBox 18"/>
          <p:cNvSpPr txBox="1"/>
          <p:nvPr/>
        </p:nvSpPr>
        <p:spPr>
          <a:xfrm>
            <a:off x="16930116" y="1371600"/>
            <a:ext cx="329184" cy="329184"/>
          </a:xfrm>
          <a:prstGeom prst="rect">
            <a:avLst/>
          </a:prstGeom>
          <a:noFill/>
        </p:spPr>
        <p:txBody>
          <a:bodyPr anchor="ctr" rtlCol="false" lIns="0" tIns="0" rIns="0" bIns="0" wrap="square"/>
          <a:lstStyle/>
          <a:p>
            <a:pPr algn="ctr">
              <a:lnSpc>
                <a:spcPts val="1500"/>
              </a:lnSpc>
              <a:spcBef>
                <a:spcPts val="0"/>
              </a:spcBef>
              <a:buNone/>
            </a:pPr>
            <a:r>
              <a:rPr lang="en-US" sz="1300" b="true">
                <a:solidFill>
                  <a:srgbClr val="FFFFFF"/>
                </a:solidFill>
                <a:latin typeface="Nunito Ultra-Bold"/>
                <a:ea typeface="Nunito Ultra-Bold"/>
                <a:cs typeface="Nunito Ultra-Bold"/>
                <a:sym typeface="Nunito Ultra-Bold"/>
              </a:rPr>
              <a:t>7</a:t>
            </a:r>
          </a:p>
        </p:txBody>
      </p:sp>
      <p:sp>
        <p:nvSpPr>
          <p:cNvPr id="20" name="TextBox 19"/>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References (2 / 2)</a:t>
            </a:r>
          </a:p>
        </p:txBody>
      </p:sp>
      <p:sp>
        <p:nvSpPr>
          <p:cNvPr id="21" name="Rounded Rectangle 20"/>
          <p:cNvSpPr/>
          <p:nvPr/>
        </p:nvSpPr>
        <p:spPr>
          <a:xfrm>
            <a:off x="1028700" y="2714498"/>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22" name="Rounded Rectangle 21"/>
          <p:cNvSpPr/>
          <p:nvPr/>
        </p:nvSpPr>
        <p:spPr>
          <a:xfrm>
            <a:off x="1138428" y="276936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[15]</a:t>
            </a:r>
          </a:p>
        </p:txBody>
      </p:sp>
      <p:sp>
        <p:nvSpPr>
          <p:cNvPr id="23" name="TextBox 22"/>
          <p:cNvSpPr txBox="1"/>
          <p:nvPr/>
        </p:nvSpPr>
        <p:spPr>
          <a:xfrm>
            <a:off x="1943100" y="2714498"/>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Zhang, D. et al. RecDCL: Dual Contrastive Learning for Recommendation. The Web Conference, 3655–3666 (2024).</a:t>
            </a:r>
          </a:p>
        </p:txBody>
      </p:sp>
      <p:sp>
        <p:nvSpPr>
          <p:cNvPr id="24" name="Rounded Rectangle 23"/>
          <p:cNvSpPr/>
          <p:nvPr/>
        </p:nvSpPr>
        <p:spPr>
          <a:xfrm>
            <a:off x="1028700" y="3202486"/>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25" name="Rounded Rectangle 24"/>
          <p:cNvSpPr/>
          <p:nvPr/>
        </p:nvSpPr>
        <p:spPr>
          <a:xfrm>
            <a:off x="1138428" y="3257350"/>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[16]</a:t>
            </a:r>
          </a:p>
        </p:txBody>
      </p:sp>
      <p:sp>
        <p:nvSpPr>
          <p:cNvPr id="26" name="TextBox 25"/>
          <p:cNvSpPr txBox="1"/>
          <p:nvPr/>
        </p:nvSpPr>
        <p:spPr>
          <a:xfrm>
            <a:off x="1943100" y="3202486"/>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Feng, Y. et al. Hypergraph Neural Networks. AAAI 33, 3558–3565 (2019).</a:t>
            </a:r>
          </a:p>
        </p:txBody>
      </p:sp>
      <p:sp>
        <p:nvSpPr>
          <p:cNvPr id="27" name="Rounded Rectangle 26"/>
          <p:cNvSpPr/>
          <p:nvPr/>
        </p:nvSpPr>
        <p:spPr>
          <a:xfrm>
            <a:off x="1028700" y="3690474"/>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28" name="Rounded Rectangle 27"/>
          <p:cNvSpPr/>
          <p:nvPr/>
        </p:nvSpPr>
        <p:spPr>
          <a:xfrm>
            <a:off x="1138428" y="3745338"/>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[17]</a:t>
            </a:r>
          </a:p>
        </p:txBody>
      </p:sp>
      <p:sp>
        <p:nvSpPr>
          <p:cNvPr id="29" name="TextBox 28"/>
          <p:cNvSpPr txBox="1"/>
          <p:nvPr/>
        </p:nvSpPr>
        <p:spPr>
          <a:xfrm>
            <a:off x="1943100" y="3690474"/>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Rousseeuw, P. J. Silhouettes: A Graphical Aid to the Interpretation and Validation of Cluster Analysis. J. Comput. Appl. Math. 20, 53–65 (1987).</a:t>
            </a:r>
          </a:p>
        </p:txBody>
      </p:sp>
      <p:sp>
        <p:nvSpPr>
          <p:cNvPr id="30" name="Rounded Rectangle 29"/>
          <p:cNvSpPr/>
          <p:nvPr/>
        </p:nvSpPr>
        <p:spPr>
          <a:xfrm>
            <a:off x="1028700" y="417846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1" name="Rounded Rectangle 30"/>
          <p:cNvSpPr/>
          <p:nvPr/>
        </p:nvSpPr>
        <p:spPr>
          <a:xfrm>
            <a:off x="1138428" y="423332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[18]</a:t>
            </a:r>
          </a:p>
        </p:txBody>
      </p:sp>
      <p:sp>
        <p:nvSpPr>
          <p:cNvPr id="32" name="TextBox 31"/>
          <p:cNvSpPr txBox="1"/>
          <p:nvPr/>
        </p:nvSpPr>
        <p:spPr>
          <a:xfrm>
            <a:off x="1943100" y="4178463"/>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Gramegna, A. &amp; Giudici, P. SHAP and LIME: An Evaluation of Discriminative Power in Credit Risk. Frontiers in AI 4, 752558 (2021).</a:t>
            </a:r>
          </a:p>
        </p:txBody>
      </p:sp>
      <p:sp>
        <p:nvSpPr>
          <p:cNvPr id="33" name="Rounded Rectangle 32"/>
          <p:cNvSpPr/>
          <p:nvPr/>
        </p:nvSpPr>
        <p:spPr>
          <a:xfrm>
            <a:off x="1028700" y="4666451"/>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34" name="Rounded Rectangle 33"/>
          <p:cNvSpPr/>
          <p:nvPr/>
        </p:nvSpPr>
        <p:spPr>
          <a:xfrm>
            <a:off x="1138428" y="4721315"/>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[19]</a:t>
            </a:r>
          </a:p>
        </p:txBody>
      </p:sp>
      <p:sp>
        <p:nvSpPr>
          <p:cNvPr id="35" name="TextBox 34"/>
          <p:cNvSpPr txBox="1"/>
          <p:nvPr/>
        </p:nvSpPr>
        <p:spPr>
          <a:xfrm>
            <a:off x="1943100" y="4666451"/>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Cortez, P. et al. Wine Quality. UCI Machine Learning Repository (2009).  ·  Dua, D. &amp; Taniskidou, E. Beijing Multi-Site Air Quality Data. UCI Machine Learning Repository (2017).</a:t>
            </a:r>
          </a:p>
        </p:txBody>
      </p:sp>
      <p:sp>
        <p:nvSpPr>
          <p:cNvPr id="36" name="Rounded Rectangle 35"/>
          <p:cNvSpPr/>
          <p:nvPr/>
        </p:nvSpPr>
        <p:spPr>
          <a:xfrm>
            <a:off x="1028700" y="515444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37" name="Rounded Rectangle 36"/>
          <p:cNvSpPr/>
          <p:nvPr/>
        </p:nvSpPr>
        <p:spPr>
          <a:xfrm>
            <a:off x="1138428" y="520930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[20]</a:t>
            </a:r>
          </a:p>
        </p:txBody>
      </p:sp>
      <p:sp>
        <p:nvSpPr>
          <p:cNvPr id="38" name="TextBox 37"/>
          <p:cNvSpPr txBox="1"/>
          <p:nvPr/>
        </p:nvSpPr>
        <p:spPr>
          <a:xfrm>
            <a:off x="1943100" y="5154440"/>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Harper, F. M. &amp; Konstan, J. A. The MovieLens Datasets: History and Context. ACM TiiS 5(4), 19 (2015).  ·  McAuley, J. et al. Amazon Review Data (Amazon-Book). UCSD (2018).</a:t>
            </a:r>
          </a:p>
        </p:txBody>
      </p:sp>
      <p:sp>
        <p:nvSpPr>
          <p:cNvPr id="39" name="Rounded Rectangle 38"/>
          <p:cNvSpPr/>
          <p:nvPr/>
        </p:nvSpPr>
        <p:spPr>
          <a:xfrm>
            <a:off x="1028700" y="5642428"/>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40" name="Rounded Rectangle 39"/>
          <p:cNvSpPr/>
          <p:nvPr/>
        </p:nvSpPr>
        <p:spPr>
          <a:xfrm>
            <a:off x="1138428" y="5697292"/>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[21]</a:t>
            </a:r>
          </a:p>
        </p:txBody>
      </p:sp>
      <p:sp>
        <p:nvSpPr>
          <p:cNvPr id="41" name="TextBox 40"/>
          <p:cNvSpPr txBox="1"/>
          <p:nvPr/>
        </p:nvSpPr>
        <p:spPr>
          <a:xfrm>
            <a:off x="1943100" y="5642428"/>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Zhang, Y. &amp; Chen, X. Explainable Recommendation: A Survey and New Perspectives. Foundations and Trends in IR 14(1), 1–101 (2020).</a:t>
            </a:r>
          </a:p>
        </p:txBody>
      </p:sp>
      <p:sp>
        <p:nvSpPr>
          <p:cNvPr id="42" name="Rounded Rectangle 41"/>
          <p:cNvSpPr/>
          <p:nvPr/>
        </p:nvSpPr>
        <p:spPr>
          <a:xfrm>
            <a:off x="1028700" y="613041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3" name="Rounded Rectangle 42"/>
          <p:cNvSpPr/>
          <p:nvPr/>
        </p:nvSpPr>
        <p:spPr>
          <a:xfrm>
            <a:off x="1138428" y="618528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[22]</a:t>
            </a:r>
          </a:p>
        </p:txBody>
      </p:sp>
      <p:sp>
        <p:nvSpPr>
          <p:cNvPr id="44" name="TextBox 43"/>
          <p:cNvSpPr txBox="1"/>
          <p:nvPr/>
        </p:nvSpPr>
        <p:spPr>
          <a:xfrm>
            <a:off x="1943100" y="6130417"/>
            <a:ext cx="15179040" cy="433124"/>
          </a:xfrm>
          <a:prstGeom prst="rect">
            <a:avLst/>
          </a:prstGeom>
          <a:noFill/>
        </p:spPr>
        <p:txBody>
          <a:bodyPr anchor="ctr" rtlCol="false" lIns="0" tIns="0" rIns="0" bIns="0" wrap="square"/>
          <a:lstStyle/>
          <a:p>
            <a:pPr algn="l">
              <a:lnSpc>
                <a:spcPts val="1765"/>
              </a:lnSpc>
              <a:spcBef>
                <a:spcPts val="0"/>
              </a:spcBef>
              <a:buNone/>
            </a:pPr>
            <a:r>
              <a:rPr lang="en-US" sz="1261" b="true">
                <a:solidFill>
                  <a:srgbClr val="111111"/>
                </a:solidFill>
                <a:latin typeface="Nunito Semi-Bold"/>
                <a:ea typeface="Nunito Semi-Bold"/>
                <a:cs typeface="Nunito Semi-Bold"/>
                <a:sym typeface="Nunito Semi-Bold"/>
              </a:rPr>
              <a:t>Adomavicius, G. &amp; Tuzhilin, A. Toward the Next Generation of Recommender Systems. IEEE TKDE 17(6), 734–749 (2005).  ·  Burke, R. Hybrid Recommender Systems. UMUAI 12(4), 331–370 (2002).</a:t>
            </a:r>
          </a:p>
        </p:txBody>
      </p:sp>
      <p:sp>
        <p:nvSpPr>
          <p:cNvPr id="45" name="Rounded Rectangle 44"/>
          <p:cNvSpPr/>
          <p:nvPr/>
        </p:nvSpPr>
        <p:spPr>
          <a:xfrm>
            <a:off x="1028700" y="6618405"/>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46" name="Rounded Rectangle 45"/>
          <p:cNvSpPr/>
          <p:nvPr/>
        </p:nvSpPr>
        <p:spPr>
          <a:xfrm>
            <a:off x="1138428" y="6673269"/>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[23]</a:t>
            </a:r>
          </a:p>
        </p:txBody>
      </p:sp>
      <p:sp>
        <p:nvSpPr>
          <p:cNvPr id="47" name="TextBox 46"/>
          <p:cNvSpPr txBox="1"/>
          <p:nvPr/>
        </p:nvSpPr>
        <p:spPr>
          <a:xfrm>
            <a:off x="1943100" y="6618405"/>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Zhu, Z. et al. Popularity Bias in Dynamic Recommendation. KDD, 2439–2449 (2021).  ·  Hurley, N. &amp; Zhang, M. Novelty and Diversity in Top-N Recommendation. ACM TOIT 10(4) (2011).</a:t>
            </a:r>
          </a:p>
        </p:txBody>
      </p:sp>
      <p:sp>
        <p:nvSpPr>
          <p:cNvPr id="48" name="Rounded Rectangle 47"/>
          <p:cNvSpPr/>
          <p:nvPr/>
        </p:nvSpPr>
        <p:spPr>
          <a:xfrm>
            <a:off x="1028700" y="7106393"/>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49" name="Rounded Rectangle 48"/>
          <p:cNvSpPr/>
          <p:nvPr/>
        </p:nvSpPr>
        <p:spPr>
          <a:xfrm>
            <a:off x="1138428" y="7161257"/>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[24]</a:t>
            </a:r>
          </a:p>
        </p:txBody>
      </p:sp>
      <p:sp>
        <p:nvSpPr>
          <p:cNvPr id="50" name="TextBox 49"/>
          <p:cNvSpPr txBox="1"/>
          <p:nvPr/>
        </p:nvSpPr>
        <p:spPr>
          <a:xfrm>
            <a:off x="1943100" y="7106393"/>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Arrieta, A. B. et al. Explainable Artificial Intelligence (XAI): Concepts, Taxonomies, Opportunities and Challenges. Information Fusion 58, 82–115 (2020).</a:t>
            </a:r>
          </a:p>
        </p:txBody>
      </p:sp>
      <p:sp>
        <p:nvSpPr>
          <p:cNvPr id="51" name="Rounded Rectangle 50"/>
          <p:cNvSpPr/>
          <p:nvPr/>
        </p:nvSpPr>
        <p:spPr>
          <a:xfrm>
            <a:off x="1028700" y="7594382"/>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52" name="Rounded Rectangle 51"/>
          <p:cNvSpPr/>
          <p:nvPr/>
        </p:nvSpPr>
        <p:spPr>
          <a:xfrm>
            <a:off x="1138428" y="7649246"/>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[25]</a:t>
            </a:r>
          </a:p>
        </p:txBody>
      </p:sp>
      <p:sp>
        <p:nvSpPr>
          <p:cNvPr id="53" name="TextBox 52"/>
          <p:cNvSpPr txBox="1"/>
          <p:nvPr/>
        </p:nvSpPr>
        <p:spPr>
          <a:xfrm>
            <a:off x="1943100" y="7594382"/>
            <a:ext cx="15179040" cy="433124"/>
          </a:xfrm>
          <a:prstGeom prst="rect">
            <a:avLst/>
          </a:prstGeom>
          <a:noFill/>
        </p:spPr>
        <p:txBody>
          <a:bodyPr anchor="ctr" rtlCol="false" lIns="0" tIns="0" rIns="0" bIns="0" wrap="square"/>
          <a:lstStyle/>
          <a:p>
            <a:pPr algn="l">
              <a:lnSpc>
                <a:spcPts val="1602"/>
              </a:lnSpc>
              <a:spcBef>
                <a:spcPts val="0"/>
              </a:spcBef>
              <a:buNone/>
            </a:pPr>
            <a:r>
              <a:rPr lang="en-US" sz="1144" b="true">
                <a:solidFill>
                  <a:srgbClr val="111111"/>
                </a:solidFill>
                <a:latin typeface="Nunito Semi-Bold"/>
                <a:ea typeface="Nunito Semi-Bold"/>
                <a:cs typeface="Nunito Semi-Bold"/>
                <a:sym typeface="Nunito Semi-Bold"/>
              </a:rPr>
              <a:t>Doshi-Velez, F. &amp; Kim, B. Towards a Rigorous Science of Interpretable Machine Learning. arXiv:1702.08608 (2017).  ·  Rudin, C. et al. Interpretable ML: Fundamental Principles and 10 Grand Challenges. Statistics Surveys 16 (2022).</a:t>
            </a:r>
          </a:p>
        </p:txBody>
      </p:sp>
      <p:sp>
        <p:nvSpPr>
          <p:cNvPr id="54" name="Rounded Rectangle 53"/>
          <p:cNvSpPr/>
          <p:nvPr/>
        </p:nvSpPr>
        <p:spPr>
          <a:xfrm>
            <a:off x="1028700" y="8082370"/>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55" name="Rounded Rectangle 54"/>
          <p:cNvSpPr/>
          <p:nvPr/>
        </p:nvSpPr>
        <p:spPr>
          <a:xfrm>
            <a:off x="1138428" y="8137234"/>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[26]</a:t>
            </a:r>
          </a:p>
        </p:txBody>
      </p:sp>
      <p:sp>
        <p:nvSpPr>
          <p:cNvPr id="56" name="TextBox 55"/>
          <p:cNvSpPr txBox="1"/>
          <p:nvPr/>
        </p:nvSpPr>
        <p:spPr>
          <a:xfrm>
            <a:off x="1943100" y="8082370"/>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European Union. Regulation (EU) 2024/1689 (AI Act), Art. 13 (2024).  ·  Regulation (EU) 2016/679 (GDPR), Art. 22 (2016).  ·  OECD. Recommendation of the Council on Artificial Intelligence (2019).</a:t>
            </a:r>
          </a:p>
        </p:txBody>
      </p:sp>
      <p:sp>
        <p:nvSpPr>
          <p:cNvPr id="57" name="Rounded Rectangle 56"/>
          <p:cNvSpPr/>
          <p:nvPr/>
        </p:nvSpPr>
        <p:spPr>
          <a:xfrm>
            <a:off x="1028700" y="8570359"/>
            <a:ext cx="16230600" cy="433124"/>
          </a:xfrm>
          <a:prstGeom prst="roundRect">
            <a:avLst>
              <a:gd name="adj" fmla="val 21111"/>
            </a:avLst>
          </a:prstGeom>
          <a:solidFill>
            <a:srgbClr val="F6ECDF"/>
          </a:solidFill>
          <a:ln>
            <a:noFill/>
          </a:ln>
        </p:spPr>
        <p:txBody>
          <a:bodyPr anchor="ctr" rtlCol="false" lIns="0" tIns="0" rIns="0" bIns="0" wrap="square"/>
          <a:lstStyle/>
          <a:p>
            <a:endParaRPr lang="en-US" sz="1800"/>
          </a:p>
        </p:txBody>
      </p:sp>
      <p:sp>
        <p:nvSpPr>
          <p:cNvPr id="58" name="Rounded Rectangle 57"/>
          <p:cNvSpPr/>
          <p:nvPr/>
        </p:nvSpPr>
        <p:spPr>
          <a:xfrm>
            <a:off x="1138428" y="8625223"/>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[27]</a:t>
            </a:r>
          </a:p>
        </p:txBody>
      </p:sp>
      <p:sp>
        <p:nvSpPr>
          <p:cNvPr id="59" name="TextBox 58"/>
          <p:cNvSpPr txBox="1"/>
          <p:nvPr/>
        </p:nvSpPr>
        <p:spPr>
          <a:xfrm>
            <a:off x="1943100" y="8570359"/>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Holm, S. A Simple Sequentially Rejective Multiple Test Procedure. Scand. J. Statist. 6(2), 65–70 (1979).  ·  Cohen, J. Statistical Power Analysis for the Behavioral Sciences (1988).</a:t>
            </a:r>
          </a:p>
        </p:txBody>
      </p:sp>
      <p:sp>
        <p:nvSpPr>
          <p:cNvPr id="60" name="Rounded Rectangle 59"/>
          <p:cNvSpPr/>
          <p:nvPr/>
        </p:nvSpPr>
        <p:spPr>
          <a:xfrm>
            <a:off x="1028700" y="9058347"/>
            <a:ext cx="16230600" cy="433124"/>
          </a:xfrm>
          <a:prstGeom prst="roundRect">
            <a:avLst>
              <a:gd name="adj" fmla="val 21111"/>
            </a:avLst>
          </a:prstGeom>
          <a:solidFill>
            <a:srgbClr val="FBF4EB"/>
          </a:solidFill>
          <a:ln>
            <a:noFill/>
          </a:ln>
        </p:spPr>
        <p:txBody>
          <a:bodyPr anchor="ctr" rtlCol="false" lIns="0" tIns="0" rIns="0" bIns="0" wrap="square"/>
          <a:lstStyle/>
          <a:p>
            <a:endParaRPr lang="en-US" sz="1800"/>
          </a:p>
        </p:txBody>
      </p:sp>
      <p:sp>
        <p:nvSpPr>
          <p:cNvPr id="61" name="Rounded Rectangle 60"/>
          <p:cNvSpPr/>
          <p:nvPr/>
        </p:nvSpPr>
        <p:spPr>
          <a:xfrm>
            <a:off x="1138428" y="9113211"/>
            <a:ext cx="640080" cy="323396"/>
          </a:xfrm>
          <a:prstGeom prst="roundRect">
            <a:avLst>
              <a:gd name="adj" fmla="val 22619"/>
            </a:avLst>
          </a:prstGeom>
          <a:solidFill>
            <a:srgbClr val="1F7A8C"/>
          </a:solidFill>
          <a:ln>
            <a:noFill/>
          </a:ln>
        </p:spPr>
        <p:txBody>
          <a:bodyPr anchor="ctr" rtlCol="false" lIns="91440" tIns="45720" rIns="91440" bIns="45720" wrap="square"/>
          <a:lstStyle/>
          <a:p>
            <a:pPr algn="ctr">
              <a:lnSpc>
                <a:spcPts val="1380"/>
              </a:lnSpc>
              <a:spcBef>
                <a:spcPts val="0"/>
              </a:spcBef>
              <a:buNone/>
            </a:pPr>
            <a:r>
              <a:rPr lang="en-US" sz="1200" b="true">
                <a:solidFill>
                  <a:srgbClr val="FFFFFF"/>
                </a:solidFill>
                <a:latin typeface="Nunito Bold"/>
                <a:ea typeface="Nunito Bold"/>
                <a:cs typeface="Nunito Bold"/>
                <a:sym typeface="Nunito Bold"/>
              </a:rPr>
              <a:t>[28]</a:t>
            </a:r>
          </a:p>
        </p:txBody>
      </p:sp>
      <p:sp>
        <p:nvSpPr>
          <p:cNvPr id="62" name="TextBox 61"/>
          <p:cNvSpPr txBox="1"/>
          <p:nvPr/>
        </p:nvSpPr>
        <p:spPr>
          <a:xfrm>
            <a:off x="1943100" y="9058347"/>
            <a:ext cx="15179040" cy="433124"/>
          </a:xfrm>
          <a:prstGeom prst="rect">
            <a:avLst/>
          </a:prstGeom>
          <a:noFill/>
        </p:spPr>
        <p:txBody>
          <a:bodyPr anchor="ctr" rtlCol="false" lIns="0" tIns="0" rIns="0" bIns="0" wrap="square"/>
          <a:lstStyle/>
          <a:p>
            <a:pPr algn="l">
              <a:lnSpc>
                <a:spcPts val="1820"/>
              </a:lnSpc>
              <a:spcBef>
                <a:spcPts val="0"/>
              </a:spcBef>
              <a:buNone/>
            </a:pPr>
            <a:r>
              <a:rPr lang="en-US" sz="1300" b="true">
                <a:solidFill>
                  <a:srgbClr val="111111"/>
                </a:solidFill>
                <a:latin typeface="Nunito Semi-Bold"/>
                <a:ea typeface="Nunito Semi-Bold"/>
                <a:cs typeface="Nunito Semi-Bold"/>
                <a:sym typeface="Nunito Semi-Bold"/>
              </a:rPr>
              <a:t>Nesmaoui, R., Louhichi, M. &amp; Lazaar, M. Dynamic Recommender Systems with Real-time Shapley Value-based Contribution Adjustment. IJIES 18, 241–257 (2025).</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image.png"/>
          <p:cNvPicPr>
            <a:picLocks noChangeAspect="1"/>
          </p:cNvPicPr>
          <p:nvPr/>
        </p:nvPicPr>
        <p:blipFill>
          <a:blip r:embed="rId2"/>
          <a:stretch>
            <a:fillRect/>
          </a:stretch>
        </p:blipFill>
        <p:spPr>
          <a:xfrm>
            <a:off x="-1143000" y="0"/>
            <a:ext cx="10287000" cy="10287000"/>
          </a:xfrm>
          <a:prstGeom prst="rect">
            <a:avLst/>
          </a:prstGeom>
        </p:spPr>
      </p:pic>
      <p:pic>
        <p:nvPicPr>
          <p:cNvPr id="3" name="Picture 2" descr="image.png"/>
          <p:cNvPicPr>
            <a:picLocks noChangeAspect="1"/>
          </p:cNvPicPr>
          <p:nvPr/>
        </p:nvPicPr>
        <p:blipFill>
          <a:blip r:embed="rId2"/>
          <a:stretch>
            <a:fillRect/>
          </a:stretch>
        </p:blipFill>
        <p:spPr>
          <a:xfrm>
            <a:off x="9144000" y="0"/>
            <a:ext cx="10287000" cy="10287000"/>
          </a:xfrm>
          <a:prstGeom prst="rect">
            <a:avLst/>
          </a:prstGeom>
        </p:spPr>
      </p:pic>
      <p:pic>
        <p:nvPicPr>
          <p:cNvPr id="4" name="Picture 3" descr="ensias_logo.jpg"/>
          <p:cNvPicPr>
            <a:picLocks noChangeAspect="1"/>
          </p:cNvPicPr>
          <p:nvPr/>
        </p:nvPicPr>
        <p:blipFill>
          <a:blip r:embed="rId3"/>
          <a:stretch>
            <a:fillRect/>
          </a:stretch>
        </p:blipFill>
        <p:spPr>
          <a:xfrm>
            <a:off x="1028700" y="9674352"/>
            <a:ext cx="542964" cy="384048"/>
          </a:xfrm>
          <a:prstGeom prst="rect">
            <a:avLst/>
          </a:prstGeom>
        </p:spPr>
      </p:pic>
      <p:sp>
        <p:nvSpPr>
          <p:cNvPr id="5" name="TextBox 4"/>
          <p:cNvSpPr txBox="1"/>
          <p:nvPr/>
        </p:nvSpPr>
        <p:spPr>
          <a:xfrm>
            <a:off x="1577340" y="9747504"/>
            <a:ext cx="12801600" cy="274320"/>
          </a:xfrm>
          <a:prstGeom prst="rect">
            <a:avLst/>
          </a:prstGeom>
          <a:noFill/>
        </p:spPr>
        <p:txBody>
          <a:bodyPr anchor="t" rtlCol="false" lIns="0" tIns="0" rIns="0" bIns="0" wrap="square"/>
          <a:lstStyle/>
          <a:p>
            <a:pPr algn="l">
              <a:lnSpc>
                <a:spcPts val="1600"/>
              </a:lnSpc>
              <a:spcBef>
                <a:spcPts val="0"/>
              </a:spcBef>
              <a:buNone/>
            </a:pPr>
            <a:r>
              <a:rPr lang="en-US" sz="1300" b="true">
                <a:solidFill>
                  <a:srgbClr val="8A8378"/>
                </a:solidFill>
                <a:latin typeface="Nunito Bold"/>
                <a:ea typeface="Nunito Bold"/>
                <a:cs typeface="Nunito Bold"/>
                <a:sym typeface="Nunito Bold"/>
              </a:rPr>
              <a:t>Cooperative Game Theory for Explainable AI in Recommendation Systems  ·  A Shapley Framework for Actionable Insight</a:t>
            </a:r>
          </a:p>
        </p:txBody>
      </p:sp>
      <p:sp>
        <p:nvSpPr>
          <p:cNvPr id="6" name="TextBox 5"/>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75</a:t>
            </a:r>
          </a:p>
        </p:txBody>
      </p:sp>
      <p:sp>
        <p:nvSpPr>
          <p:cNvPr id="7" name="TextBox 6"/>
          <p:cNvSpPr txBox="1"/>
          <p:nvPr/>
        </p:nvSpPr>
        <p:spPr>
          <a:xfrm>
            <a:off x="1028700" y="2514600"/>
            <a:ext cx="16230600" cy="3291840"/>
          </a:xfrm>
          <a:prstGeom prst="rect">
            <a:avLst/>
          </a:prstGeom>
          <a:noFill/>
        </p:spPr>
        <p:txBody>
          <a:bodyPr anchor="t" rtlCol="false" lIns="0" tIns="0" rIns="0" bIns="0" wrap="square"/>
          <a:lstStyle/>
          <a:p>
            <a:pPr algn="ctr">
              <a:lnSpc>
                <a:spcPts val="15000"/>
              </a:lnSpc>
              <a:spcBef>
                <a:spcPts val="0"/>
              </a:spcBef>
              <a:buNone/>
            </a:pPr>
            <a:r>
              <a:rPr lang="en-US" sz="15000" b="true" spc="-800">
                <a:solidFill>
                  <a:srgbClr val="111111"/>
                </a:solidFill>
                <a:latin typeface="Roca Two Bold"/>
                <a:ea typeface="Roca Two Bold"/>
                <a:cs typeface="Roca Two Bold"/>
                <a:sym typeface="Roca Two Bold"/>
              </a:rPr>
              <a:t>Thank You</a:t>
            </a:r>
          </a:p>
          <a:p>
            <a:pPr algn="ctr">
              <a:lnSpc>
                <a:spcPts val="8400"/>
              </a:lnSpc>
              <a:spcBef>
                <a:spcPts val="400"/>
              </a:spcBef>
              <a:buNone/>
            </a:pPr>
            <a:r>
              <a:rPr lang="en-US" sz="7200" b="true" spc="-350">
                <a:solidFill>
                  <a:srgbClr val="111111"/>
                </a:solidFill>
                <a:latin typeface="Roca Two Bold"/>
                <a:ea typeface="Roca Two Bold"/>
                <a:cs typeface="Roca Two Bold"/>
                <a:sym typeface="Roca Two Bold"/>
              </a:rPr>
              <a:t>for your attention</a:t>
            </a:r>
          </a:p>
        </p:txBody>
      </p:sp>
      <p:pic>
        <p:nvPicPr>
          <p:cNvPr id="8" name="Picture 7" descr="image.png"/>
          <p:cNvPicPr>
            <a:picLocks noChangeAspect="1"/>
          </p:cNvPicPr>
          <p:nvPr/>
        </p:nvPicPr>
        <p:blipFill>
          <a:blip r:embed="rId4"/>
          <a:stretch>
            <a:fillRect/>
          </a:stretch>
        </p:blipFill>
        <p:spPr>
          <a:xfrm>
            <a:off x="13350240" y="2468880"/>
            <a:ext cx="822960" cy="747445"/>
          </a:xfrm>
          <a:prstGeom prst="rect">
            <a:avLst/>
          </a:prstGeom>
        </p:spPr>
      </p:pic>
      <p:pic>
        <p:nvPicPr>
          <p:cNvPr id="9" name="Picture 8" descr="image.png"/>
          <p:cNvPicPr>
            <a:picLocks noChangeAspect="1"/>
          </p:cNvPicPr>
          <p:nvPr/>
        </p:nvPicPr>
        <p:blipFill>
          <a:blip r:embed="rId5"/>
          <a:stretch>
            <a:fillRect/>
          </a:stretch>
        </p:blipFill>
        <p:spPr>
          <a:xfrm rot="20700000">
            <a:off x="3291840" y="4846320"/>
            <a:ext cx="685800" cy="925673"/>
          </a:xfrm>
          <a:prstGeom prst="rect">
            <a:avLst/>
          </a:prstGeom>
        </p:spPr>
      </p:pic>
      <p:sp>
        <p:nvSpPr>
          <p:cNvPr id="10" name="Oval 9"/>
          <p:cNvSpPr/>
          <p:nvPr/>
        </p:nvSpPr>
        <p:spPr>
          <a:xfrm>
            <a:off x="15613380" y="5760720"/>
            <a:ext cx="1005840" cy="1005840"/>
          </a:xfrm>
          <a:prstGeom prst="ellipse">
            <a:avLst/>
          </a:prstGeom>
          <a:solidFill>
            <a:srgbClr val="4472C4"/>
          </a:solidFill>
          <a:ln>
            <a:noFill/>
          </a:ln>
        </p:spPr>
        <p:txBody>
          <a:bodyPr anchor="ctr" rtlCol="false" lIns="0" tIns="0" rIns="0" bIns="0" wrap="square"/>
          <a:lstStyle/>
          <a:p>
            <a:pPr algn="ctr">
              <a:lnSpc>
                <a:spcPts val="4400"/>
              </a:lnSpc>
              <a:spcBef>
                <a:spcPts val="0"/>
              </a:spcBef>
              <a:buNone/>
            </a:pPr>
            <a:r>
              <a:rPr lang="en-US" sz="4000" b="true" spc="-200">
                <a:solidFill>
                  <a:srgbClr val="FFFFFF"/>
                </a:solidFill>
                <a:latin typeface="Roca Two Bold"/>
                <a:ea typeface="Roca Two Bold"/>
                <a:cs typeface="Roca Two Bold"/>
                <a:sym typeface="Roca Two Bold"/>
              </a:rPr>
              <a:t>?</a:t>
            </a:r>
          </a:p>
        </p:txBody>
      </p:sp>
      <p:sp>
        <p:nvSpPr>
          <p:cNvPr id="11" name="TextBox 10"/>
          <p:cNvSpPr txBox="1"/>
          <p:nvPr/>
        </p:nvSpPr>
        <p:spPr>
          <a:xfrm>
            <a:off x="1028700" y="6583680"/>
            <a:ext cx="16230600" cy="640080"/>
          </a:xfrm>
          <a:prstGeom prst="rect">
            <a:avLst/>
          </a:prstGeom>
          <a:noFill/>
        </p:spPr>
        <p:txBody>
          <a:bodyPr anchor="t" rtlCol="false" lIns="0" tIns="0" rIns="0" bIns="0" wrap="square"/>
          <a:lstStyle/>
          <a:p>
            <a:pPr algn="ctr">
              <a:lnSpc>
                <a:spcPts val="3400"/>
              </a:lnSpc>
              <a:spcBef>
                <a:spcPts val="0"/>
              </a:spcBef>
              <a:buNone/>
            </a:pPr>
            <a:r>
              <a:rPr lang="en-US" sz="2800" b="true">
                <a:solidFill>
                  <a:srgbClr val="4472C4"/>
                </a:solidFill>
                <a:latin typeface="Nunito Bold"/>
                <a:ea typeface="Nunito Bold"/>
                <a:cs typeface="Nunito Bold"/>
                <a:sym typeface="Nunito Bold"/>
              </a:rPr>
              <a:t>Questions &amp; Discussion  ·  I welcome your questions and comments.</a:t>
            </a:r>
          </a:p>
        </p:txBody>
      </p:sp>
      <p:sp>
        <p:nvSpPr>
          <p:cNvPr id="12" name="Rounded Rectangle 11"/>
          <p:cNvSpPr/>
          <p:nvPr/>
        </p:nvSpPr>
        <p:spPr>
          <a:xfrm>
            <a:off x="102870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300" b="true" spc="150">
                <a:solidFill>
                  <a:srgbClr val="1F7A8C"/>
                </a:solidFill>
                <a:latin typeface="Nunito Ultra-Bold"/>
                <a:ea typeface="Nunito Ultra-Bold"/>
                <a:cs typeface="Nunito Ultra-Bold"/>
                <a:sym typeface="Nunito Ultra-Bold"/>
              </a:rPr>
              <a:t>CANDIDATE</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Mouad LOUHICHI</a:t>
            </a:r>
          </a:p>
        </p:txBody>
      </p:sp>
      <p:sp>
        <p:nvSpPr>
          <p:cNvPr id="13" name="Rounded Rectangle 12"/>
          <p:cNvSpPr/>
          <p:nvPr/>
        </p:nvSpPr>
        <p:spPr>
          <a:xfrm>
            <a:off x="515493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300" b="true" spc="150">
                <a:solidFill>
                  <a:srgbClr val="1F7A8C"/>
                </a:solidFill>
                <a:latin typeface="Nunito Ultra-Bold"/>
                <a:ea typeface="Nunito Ultra-Bold"/>
                <a:cs typeface="Nunito Ultra-Bold"/>
                <a:sym typeface="Nunito Ultra-Bold"/>
              </a:rPr>
              <a:t>SUPERVISOR</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Pr. Mohamed LAZAAR</a:t>
            </a:r>
          </a:p>
        </p:txBody>
      </p:sp>
      <p:sp>
        <p:nvSpPr>
          <p:cNvPr id="14" name="Rounded Rectangle 13"/>
          <p:cNvSpPr/>
          <p:nvPr/>
        </p:nvSpPr>
        <p:spPr>
          <a:xfrm>
            <a:off x="928116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300" b="true" spc="150">
                <a:solidFill>
                  <a:srgbClr val="1F7A8C"/>
                </a:solidFill>
                <a:latin typeface="Nunito Ultra-Bold"/>
                <a:ea typeface="Nunito Ultra-Bold"/>
                <a:cs typeface="Nunito Ultra-Bold"/>
                <a:sym typeface="Nunito Ultra-Bold"/>
              </a:rPr>
              <a:t>LABORATORY</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ENSIAS · UM5 Rabat</a:t>
            </a:r>
          </a:p>
        </p:txBody>
      </p:sp>
      <p:sp>
        <p:nvSpPr>
          <p:cNvPr id="15" name="Rounded Rectangle 14"/>
          <p:cNvSpPr/>
          <p:nvPr/>
        </p:nvSpPr>
        <p:spPr>
          <a:xfrm>
            <a:off x="13407390" y="7818120"/>
            <a:ext cx="3851910" cy="1051560"/>
          </a:xfrm>
          <a:prstGeom prst="roundRect">
            <a:avLst>
              <a:gd name="adj" fmla="val 17391"/>
            </a:avLst>
          </a:prstGeom>
          <a:solidFill>
            <a:srgbClr val="FFFFFF"/>
          </a:solidFill>
          <a:ln w="15875">
            <a:solidFill>
              <a:srgbClr val="E3D6C4"/>
            </a:solidFill>
          </a:ln>
        </p:spPr>
        <p:txBody>
          <a:bodyPr anchor="ctr" rtlCol="false" lIns="91440" tIns="45720" rIns="91440" bIns="45720" wrap="square"/>
          <a:lstStyle/>
          <a:p>
            <a:pPr algn="ctr">
              <a:lnSpc>
                <a:spcPts val="1600"/>
              </a:lnSpc>
              <a:spcBef>
                <a:spcPts val="0"/>
              </a:spcBef>
              <a:buNone/>
            </a:pPr>
            <a:r>
              <a:rPr lang="en-US" sz="1300" b="true" spc="150">
                <a:solidFill>
                  <a:srgbClr val="1F7A8C"/>
                </a:solidFill>
                <a:latin typeface="Nunito Ultra-Bold"/>
                <a:ea typeface="Nunito Ultra-Bold"/>
                <a:cs typeface="Nunito Ultra-Bold"/>
                <a:sym typeface="Nunito Ultra-Bold"/>
              </a:rPr>
              <a:t>DEFENCE</a:t>
            </a:r>
          </a:p>
          <a:p>
            <a:pPr algn="ctr">
              <a:lnSpc>
                <a:spcPts val="2400"/>
              </a:lnSpc>
              <a:spcBef>
                <a:spcPts val="400"/>
              </a:spcBef>
              <a:buNone/>
            </a:pPr>
            <a:r>
              <a:rPr lang="en-US" sz="2000" b="true">
                <a:solidFill>
                  <a:srgbClr val="111111"/>
                </a:solidFill>
                <a:latin typeface="Nunito Ultra-Bold"/>
                <a:ea typeface="Nunito Ultra-Bold"/>
                <a:cs typeface="Nunito Ultra-Bold"/>
                <a:sym typeface="Nunito Ultra-Bold"/>
              </a:rPr>
              <a:t>Rabat · 2026</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um5_logo.png"/>
          <p:cNvPicPr>
            <a:picLocks noChangeAspect="1"/>
          </p:cNvPicPr>
          <p:nvPr/>
        </p:nvPicPr>
        <p:blipFill>
          <a:blip r:embed="rId2"/>
          <a:stretch>
            <a:fillRect/>
          </a:stretch>
        </p:blipFill>
        <p:spPr>
          <a:xfrm>
            <a:off x="1028700" y="457200"/>
            <a:ext cx="1255612" cy="914400"/>
          </a:xfrm>
          <a:prstGeom prst="rect">
            <a:avLst/>
          </a:prstGeom>
        </p:spPr>
      </p:pic>
      <p:pic>
        <p:nvPicPr>
          <p:cNvPr id="3" name="Picture 2" descr="ministry_logo.png"/>
          <p:cNvPicPr>
            <a:picLocks noChangeAspect="1"/>
          </p:cNvPicPr>
          <p:nvPr/>
        </p:nvPicPr>
        <p:blipFill>
          <a:blip r:embed="rId3"/>
          <a:stretch>
            <a:fillRect/>
          </a:stretch>
        </p:blipFill>
        <p:spPr>
          <a:xfrm>
            <a:off x="8001000" y="365760"/>
            <a:ext cx="2167205" cy="1143000"/>
          </a:xfrm>
          <a:prstGeom prst="rect">
            <a:avLst/>
          </a:prstGeom>
        </p:spPr>
      </p:pic>
      <p:pic>
        <p:nvPicPr>
          <p:cNvPr id="4" name="Picture 3" descr="ensias_logo.jpg"/>
          <p:cNvPicPr>
            <a:picLocks noChangeAspect="1"/>
          </p:cNvPicPr>
          <p:nvPr/>
        </p:nvPicPr>
        <p:blipFill>
          <a:blip r:embed="rId4"/>
          <a:stretch>
            <a:fillRect/>
          </a:stretch>
        </p:blipFill>
        <p:spPr>
          <a:xfrm>
            <a:off x="15796260" y="411480"/>
            <a:ext cx="1422050" cy="1005840"/>
          </a:xfrm>
          <a:prstGeom prst="rect">
            <a:avLst/>
          </a:prstGeom>
        </p:spPr>
      </p:pic>
      <p:sp>
        <p:nvSpPr>
          <p:cNvPr id="5" name="TextBox 4"/>
          <p:cNvSpPr txBox="1"/>
          <p:nvPr/>
        </p:nvSpPr>
        <p:spPr>
          <a:xfrm>
            <a:off x="1028700" y="1536192"/>
            <a:ext cx="16230600" cy="365760"/>
          </a:xfrm>
          <a:prstGeom prst="rect">
            <a:avLst/>
          </a:prstGeom>
          <a:noFill/>
        </p:spPr>
        <p:txBody>
          <a:bodyPr anchor="t" rtlCol="false" lIns="0" tIns="0" rIns="0" bIns="0" wrap="square"/>
          <a:lstStyle/>
          <a:p>
            <a:pPr algn="ctr">
              <a:lnSpc>
                <a:spcPts val="1900"/>
              </a:lnSpc>
              <a:spcBef>
                <a:spcPts val="0"/>
              </a:spcBef>
              <a:buNone/>
            </a:pPr>
            <a:r>
              <a:rPr lang="en-US" sz="1500" b="true">
                <a:solidFill>
                  <a:srgbClr val="8A8378"/>
                </a:solidFill>
                <a:latin typeface="Nunito Bold"/>
                <a:ea typeface="Nunito Bold"/>
                <a:cs typeface="Nunito Bold"/>
                <a:sym typeface="Nunito Bold"/>
              </a:rPr>
              <a:t>Doctoral Studies Center in Information and Engineering Sciences and Technologies (ST2I)</a:t>
            </a:r>
          </a:p>
        </p:txBody>
      </p:sp>
      <p:sp>
        <p:nvSpPr>
          <p:cNvPr id="6" name="TextBox 5"/>
          <p:cNvSpPr txBox="1"/>
          <p:nvPr/>
        </p:nvSpPr>
        <p:spPr>
          <a:xfrm>
            <a:off x="1028700" y="1938528"/>
            <a:ext cx="16230600" cy="365760"/>
          </a:xfrm>
          <a:prstGeom prst="rect">
            <a:avLst/>
          </a:prstGeom>
          <a:noFill/>
        </p:spPr>
        <p:txBody>
          <a:bodyPr anchor="t" rtlCol="false" lIns="0" tIns="0" rIns="0" bIns="0" wrap="square"/>
          <a:lstStyle/>
          <a:p>
            <a:pPr algn="ctr">
              <a:lnSpc>
                <a:spcPts val="1900"/>
              </a:lnSpc>
              <a:spcBef>
                <a:spcPts val="0"/>
              </a:spcBef>
              <a:buNone/>
            </a:pPr>
            <a:r>
              <a:rPr lang="en-US" sz="1400" b="true" spc="200">
                <a:solidFill>
                  <a:srgbClr val="1F7A8C"/>
                </a:solidFill>
                <a:latin typeface="Nunito Ultra-Bold"/>
                <a:ea typeface="Nunito Ultra-Bold"/>
                <a:cs typeface="Nunito Ultra-Bold"/>
                <a:sym typeface="Nunito Ultra-Bold"/>
              </a:rPr>
              <a:t>QUESTIONS &amp; DISCUSSION  ·  THANK YOU</a:t>
            </a:r>
          </a:p>
        </p:txBody>
      </p:sp>
      <p:sp>
        <p:nvSpPr>
          <p:cNvPr id="7" name="TextBox 6"/>
          <p:cNvSpPr txBox="1"/>
          <p:nvPr/>
        </p:nvSpPr>
        <p:spPr>
          <a:xfrm>
            <a:off x="1028700" y="2286000"/>
            <a:ext cx="16230600" cy="1828800"/>
          </a:xfrm>
          <a:prstGeom prst="rect">
            <a:avLst/>
          </a:prstGeom>
          <a:noFill/>
        </p:spPr>
        <p:txBody>
          <a:bodyPr anchor="t" rtlCol="false" lIns="0" tIns="0" rIns="0" bIns="0" wrap="square"/>
          <a:lstStyle/>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Cooperative Game Theory for</a:t>
            </a:r>
          </a:p>
          <a:p>
            <a:pPr algn="ctr">
              <a:lnSpc>
                <a:spcPts val="5400"/>
              </a:lnSpc>
              <a:spcBef>
                <a:spcPts val="0"/>
              </a:spcBef>
              <a:buNone/>
            </a:pPr>
            <a:r>
              <a:rPr lang="en-US" sz="5000" b="true" spc="-300">
                <a:solidFill>
                  <a:srgbClr val="111111"/>
                </a:solidFill>
                <a:latin typeface="Roca Two Bold"/>
                <a:ea typeface="Roca Two Bold"/>
                <a:cs typeface="Roca Two Bold"/>
                <a:sym typeface="Roca Two Bold"/>
              </a:rPr>
              <a:t>Explainable AI in Recommendation Systems</a:t>
            </a:r>
          </a:p>
        </p:txBody>
      </p:sp>
      <p:sp>
        <p:nvSpPr>
          <p:cNvPr id="8" name="TextBox 7"/>
          <p:cNvSpPr txBox="1"/>
          <p:nvPr/>
        </p:nvSpPr>
        <p:spPr>
          <a:xfrm>
            <a:off x="1028700" y="3913632"/>
            <a:ext cx="16230600" cy="457200"/>
          </a:xfrm>
          <a:prstGeom prst="rect">
            <a:avLst/>
          </a:prstGeom>
          <a:noFill/>
        </p:spPr>
        <p:txBody>
          <a:bodyPr anchor="t" rtlCol="false" lIns="0" tIns="0" rIns="0" bIns="0" wrap="square"/>
          <a:lstStyle/>
          <a:p>
            <a:pPr algn="ctr">
              <a:lnSpc>
                <a:spcPts val="3000"/>
              </a:lnSpc>
              <a:spcBef>
                <a:spcPts val="0"/>
              </a:spcBef>
              <a:buNone/>
            </a:pPr>
            <a:r>
              <a:rPr lang="en-US" sz="2500" b="true" spc="-100">
                <a:solidFill>
                  <a:srgbClr val="4472C4"/>
                </a:solidFill>
                <a:latin typeface="Nunito Bold"/>
                <a:ea typeface="Nunito Bold"/>
                <a:cs typeface="Nunito Bold"/>
                <a:sym typeface="Nunito Bold"/>
              </a:rPr>
              <a:t>A Shapley Framework for Actionable Insight</a:t>
            </a:r>
          </a:p>
        </p:txBody>
      </p:sp>
      <p:sp>
        <p:nvSpPr>
          <p:cNvPr id="9" name="Rounded Rectangle 8"/>
          <p:cNvSpPr/>
          <p:nvPr/>
        </p:nvSpPr>
        <p:spPr>
          <a:xfrm>
            <a:off x="2926080" y="4526280"/>
            <a:ext cx="6035040" cy="786384"/>
          </a:xfrm>
          <a:prstGeom prst="roundRect">
            <a:avLst>
              <a:gd name="adj" fmla="val 27906"/>
            </a:avLst>
          </a:prstGeom>
          <a:solidFill>
            <a:srgbClr val="4472C4"/>
          </a:solidFill>
          <a:ln>
            <a:noFill/>
          </a:ln>
        </p:spPr>
        <p:txBody>
          <a:bodyPr anchor="ctr" rtlCol="false" lIns="91440" tIns="45720" rIns="91440" bIns="45720" wrap="square"/>
          <a:lstStyle/>
          <a:p>
            <a:pPr algn="ctr">
              <a:lnSpc>
                <a:spcPts val="1400"/>
              </a:lnSpc>
              <a:spcBef>
                <a:spcPts val="0"/>
              </a:spcBef>
              <a:buNone/>
            </a:pPr>
            <a:r>
              <a:rPr lang="en-US" sz="1100" b="true" spc="150">
                <a:solidFill>
                  <a:srgbClr val="ECC665"/>
                </a:solidFill>
                <a:latin typeface="Nunito Ultra-Bold"/>
                <a:ea typeface="Nunito Ultra-Bold"/>
                <a:cs typeface="Nunito Ultra-Bold"/>
                <a:sym typeface="Nunito Ultra-Bold"/>
              </a:rPr>
              <a:t>PHD VIVA PRESENTED BY</a:t>
            </a:r>
          </a:p>
          <a:p>
            <a:pPr algn="ctr">
              <a:lnSpc>
                <a:spcPts val="2600"/>
              </a:lnSpc>
              <a:spcBef>
                <a:spcPts val="200"/>
              </a:spcBef>
              <a:buNone/>
            </a:pPr>
            <a:r>
              <a:rPr lang="en-US" sz="2200" b="true">
                <a:solidFill>
                  <a:srgbClr val="FFFFFF"/>
                </a:solidFill>
                <a:latin typeface="Nunito Ultra-Bold"/>
                <a:ea typeface="Nunito Ultra-Bold"/>
                <a:cs typeface="Nunito Ultra-Bold"/>
                <a:sym typeface="Nunito Ultra-Bold"/>
              </a:rPr>
              <a:t>Mouad LOUHICHI</a:t>
            </a:r>
          </a:p>
        </p:txBody>
      </p:sp>
      <p:sp>
        <p:nvSpPr>
          <p:cNvPr id="10" name="Rounded Rectangle 9"/>
          <p:cNvSpPr/>
          <p:nvPr/>
        </p:nvSpPr>
        <p:spPr>
          <a:xfrm>
            <a:off x="9326880" y="4526280"/>
            <a:ext cx="6035040" cy="786384"/>
          </a:xfrm>
          <a:prstGeom prst="roundRect">
            <a:avLst>
              <a:gd name="adj" fmla="val 27906"/>
            </a:avLst>
          </a:prstGeom>
          <a:solidFill>
            <a:srgbClr val="F6ECDF"/>
          </a:solidFill>
          <a:ln>
            <a:noFill/>
          </a:ln>
        </p:spPr>
        <p:txBody>
          <a:bodyPr anchor="ctr" rtlCol="false" lIns="91440" tIns="45720" rIns="91440" bIns="45720" wrap="square"/>
          <a:lstStyle/>
          <a:p>
            <a:pPr algn="ctr">
              <a:lnSpc>
                <a:spcPts val="1400"/>
              </a:lnSpc>
              <a:spcBef>
                <a:spcPts val="0"/>
              </a:spcBef>
              <a:buNone/>
            </a:pPr>
            <a:r>
              <a:rPr lang="en-US" sz="1100" b="true" spc="150">
                <a:solidFill>
                  <a:srgbClr val="1F7A8C"/>
                </a:solidFill>
                <a:latin typeface="Nunito Ultra-Bold"/>
                <a:ea typeface="Nunito Ultra-Bold"/>
                <a:cs typeface="Nunito Ultra-Bold"/>
                <a:sym typeface="Nunito Ultra-Bold"/>
              </a:rPr>
              <a:t>SUPERVISED BY</a:t>
            </a:r>
          </a:p>
          <a:p>
            <a:pPr algn="ctr">
              <a:lnSpc>
                <a:spcPts val="2400"/>
              </a:lnSpc>
              <a:spcBef>
                <a:spcPts val="200"/>
              </a:spcBef>
              <a:buNone/>
            </a:pPr>
            <a:r>
              <a:rPr lang="en-US" sz="2000" b="true">
                <a:solidFill>
                  <a:srgbClr val="111111"/>
                </a:solidFill>
                <a:latin typeface="Nunito Ultra-Bold"/>
                <a:ea typeface="Nunito Ultra-Bold"/>
                <a:cs typeface="Nunito Ultra-Bold"/>
                <a:sym typeface="Nunito Ultra-Bold"/>
              </a:rPr>
              <a:t>Pr. Mohamed LAZAAR  ·  PES, ENSIAS</a:t>
            </a:r>
          </a:p>
        </p:txBody>
      </p:sp>
      <p:sp>
        <p:nvSpPr>
          <p:cNvPr id="11" name="TextBox 10"/>
          <p:cNvSpPr txBox="1"/>
          <p:nvPr/>
        </p:nvSpPr>
        <p:spPr>
          <a:xfrm>
            <a:off x="1028700" y="5504688"/>
            <a:ext cx="16230600" cy="274320"/>
          </a:xfrm>
          <a:prstGeom prst="rect">
            <a:avLst/>
          </a:prstGeom>
          <a:noFill/>
        </p:spPr>
        <p:txBody>
          <a:bodyPr anchor="t" rtlCol="false" lIns="0" tIns="0" rIns="0" bIns="0" wrap="square"/>
          <a:lstStyle/>
          <a:p>
            <a:pPr algn="l">
              <a:lnSpc>
                <a:spcPts val="1500"/>
              </a:lnSpc>
              <a:spcBef>
                <a:spcPts val="0"/>
              </a:spcBef>
              <a:buNone/>
            </a:pPr>
            <a:r>
              <a:rPr lang="en-US" sz="1200" b="true" spc="200">
                <a:solidFill>
                  <a:srgbClr val="8A8378"/>
                </a:solidFill>
                <a:latin typeface="Nunito Ultra-Bold"/>
                <a:ea typeface="Nunito Ultra-Bold"/>
                <a:cs typeface="Nunito Ultra-Bold"/>
                <a:sym typeface="Nunito Ultra-Bold"/>
              </a:rPr>
              <a:t>JURY MEMBERS</a:t>
            </a:r>
          </a:p>
        </p:txBody>
      </p:sp>
      <p:graphicFrame>
        <p:nvGraphicFramePr>
          <p:cNvPr id="12" name="Table 11"/>
          <p:cNvGraphicFramePr>
            <a:graphicFrameLocks noGrp="1"/>
          </p:cNvGraphicFramePr>
          <p:nvPr/>
        </p:nvGraphicFramePr>
        <p:xfrm>
          <a:off x="1028700" y="5797296"/>
          <a:ext cx="16230599" cy="3552190"/>
        </p:xfrm>
        <a:graphic>
          <a:graphicData uri="http://schemas.openxmlformats.org/drawingml/2006/table">
            <a:tbl>
              <a:tblPr firstRow="0" bandRow="0" firstCol="0" lastRow="0" lastCol="0" bandCol="0">
                <a:tableStyleId>{2D5ABB26-0587-4C30-8999-92F81FD0307C}</a:tableStyleId>
              </a:tblPr>
              <a:tblGrid>
                <a:gridCol w="1971942"/>
                <a:gridCol w="5005699"/>
                <a:gridCol w="1365190"/>
                <a:gridCol w="7887768"/>
              </a:tblGrid>
              <a:tr h="340360">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Role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Name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560"/>
                        </a:lnSpc>
                        <a:spcBef>
                          <a:spcPts val="0"/>
                        </a:spcBef>
                        <a:buNone/>
                      </a:pPr>
                      <a:r>
                        <a:rPr lang="en-US" sz="1200" b="true">
                          <a:solidFill>
                            <a:srgbClr val="FFFFFF"/>
                          </a:solidFill>
                          <a:latin typeface="Nunito Bold"/>
                          <a:ea typeface="Nunito Bold"/>
                          <a:cs typeface="Nunito Bold"/>
                          <a:sym typeface="Nunito Bold"/>
                        </a:rPr>
                        <a:t>Grade</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l">
                        <a:lnSpc>
                          <a:spcPts val="1560"/>
                        </a:lnSpc>
                        <a:spcBef>
                          <a:spcPts val="0"/>
                        </a:spcBef>
                        <a:buNone/>
                      </a:pPr>
                      <a:r>
                        <a:rPr lang="en-US" sz="1200" b="true">
                          <a:solidFill>
                            <a:srgbClr val="FFFFFF"/>
                          </a:solidFill>
                          <a:latin typeface="Nunito Bold"/>
                          <a:ea typeface="Nunito Bold"/>
                          <a:cs typeface="Nunito Bold"/>
                          <a:sym typeface="Nunito Bold"/>
                        </a:rPr>
                        <a:t>Institution</a:t>
                      </a:r>
                    </a:p>
                  </a:txBody>
                  <a:tcPr marL="45720" marR="45720"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President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Abdellatif EL AFIA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Supervisor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Mohamed LAZAAR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M'hamed AIT KBIR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FST, Abdelmalek Essaâdi University, Tangier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Oussama MAHBOUB</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ENSA, Abdelmalek Essaâdi University, Tetouan</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Reviewer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Noureddine KERZAZI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Hicham OMARA</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FP Taza, Sidi Mohamed Ben Abdellah University, Fez</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Fatima OUZAYD</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PES</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Examiner</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Yasser EL MADANI EL ALAMI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ENSIAS, Mohammed V University, Rabat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356870">
                <a:tc>
                  <a:txBody>
                    <a:bodyPr anchor="ctr" rtlCol="false" lIns="0" tIns="0" rIns="0" bIns="0" wrap="square"/>
                    <a:lstStyle/>
                    <a:p>
                      <a:pPr algn="l">
                        <a:lnSpc>
                          <a:spcPts val="1690"/>
                        </a:lnSpc>
                        <a:spcBef>
                          <a:spcPts val="0"/>
                        </a:spcBef>
                        <a:buNone/>
                      </a:pPr>
                      <a:r>
                        <a:rPr lang="en-US" sz="1300" b="true">
                          <a:solidFill>
                            <a:srgbClr val="111111"/>
                          </a:solidFill>
                          <a:latin typeface="Nunito Bold"/>
                          <a:ea typeface="Nunito Bold"/>
                          <a:cs typeface="Nunito Bold"/>
                          <a:sym typeface="Nunito Bold"/>
                        </a:rPr>
                        <a:t>Guest</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Pr. Yassine AFOUDI</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690"/>
                        </a:lnSpc>
                        <a:spcBef>
                          <a:spcPts val="0"/>
                        </a:spcBef>
                        <a:buNone/>
                      </a:pPr>
                      <a:r>
                        <a:rPr lang="en-US" sz="1300" b="true">
                          <a:solidFill>
                            <a:srgbClr val="111111"/>
                          </a:solidFill>
                          <a:latin typeface="Nunito Semi-Bold"/>
                          <a:ea typeface="Nunito Semi-Bold"/>
                          <a:cs typeface="Nunito Semi-Bold"/>
                          <a:sym typeface="Nunito Semi-Bold"/>
                        </a:rPr>
                        <a:t>MC</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l">
                        <a:lnSpc>
                          <a:spcPts val="1690"/>
                        </a:lnSpc>
                        <a:spcBef>
                          <a:spcPts val="0"/>
                        </a:spcBef>
                        <a:buNone/>
                      </a:pPr>
                      <a:r>
                        <a:rPr lang="en-US" sz="1300" b="true">
                          <a:solidFill>
                            <a:srgbClr val="111111"/>
                          </a:solidFill>
                          <a:latin typeface="Nunito Semi-Bold"/>
                          <a:ea typeface="Nunito Semi-Bold"/>
                          <a:cs typeface="Nunito Semi-Bold"/>
                          <a:sym typeface="Nunito Semi-Bold"/>
                        </a:rPr>
                        <a:t>Faculty of Sciences, Cadi Ayyad University, Marrakech</a:t>
                      </a:r>
                    </a:p>
                  </a:txBody>
                  <a:tcPr marL="45720" marR="45720"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bl>
          </a:graphicData>
        </a:graphic>
      </p:graphicFrame>
      <p:sp>
        <p:nvSpPr>
          <p:cNvPr id="13" name="TextBox 12"/>
          <p:cNvSpPr txBox="1"/>
          <p:nvPr/>
        </p:nvSpPr>
        <p:spPr>
          <a:xfrm>
            <a:off x="1028700" y="9514078"/>
            <a:ext cx="16230600" cy="274320"/>
          </a:xfrm>
          <a:prstGeom prst="rect">
            <a:avLst/>
          </a:prstGeom>
          <a:noFill/>
        </p:spPr>
        <p:txBody>
          <a:bodyPr anchor="t" rtlCol="false" lIns="0" tIns="0" rIns="0" bIns="0" wrap="square"/>
          <a:lstStyle/>
          <a:p>
            <a:pPr algn="ctr">
              <a:lnSpc>
                <a:spcPts val="1700"/>
              </a:lnSpc>
              <a:spcBef>
                <a:spcPts val="0"/>
              </a:spcBef>
              <a:buNone/>
            </a:pPr>
            <a:r>
              <a:rPr lang="en-US" sz="1400" b="true">
                <a:solidFill>
                  <a:srgbClr val="8A8378"/>
                </a:solidFill>
                <a:latin typeface="Nunito Bold"/>
                <a:ea typeface="Nunito Bold"/>
                <a:cs typeface="Nunito Bold"/>
                <a:sym typeface="Nunito Bold"/>
              </a:rPr>
              <a:t>Rabat, Morocco  ·  2026</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77</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6" name="TextBox 5"/>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 7.1, Full Results (mean </a:t>
            </a:r>
            <a:r>
              <a:rPr lang="en-US" sz="4600" b="true" spc="-230">
                <a:solidFill>
                  <a:srgbClr val="111111"/>
                </a:solidFill>
                <a:latin typeface="Cambria Math"/>
                <a:ea typeface="Cambria Math"/>
                <a:cs typeface="Cambria Math"/>
                <a:sym typeface="Cambria Math"/>
              </a:rPr>
              <a:t>± </a:t>
            </a:r>
            <a:r>
              <a:rPr lang="en-US" sz="4600" b="true" spc="-230">
                <a:solidFill>
                  <a:srgbClr val="111111"/>
                </a:solidFill>
                <a:latin typeface="Roca Two Bold"/>
                <a:ea typeface="Roca Two Bold"/>
                <a:cs typeface="Roca Two Bold"/>
                <a:sym typeface="Roca Two Bold"/>
              </a:rPr>
              <a:t>std, 5 seeds)</a:t>
            </a:r>
          </a:p>
        </p:txBody>
      </p:sp>
      <p:sp>
        <p:nvSpPr>
          <p:cNvPr id="7" name="TextBox 6"/>
          <p:cNvSpPr txBox="1"/>
          <p:nvPr/>
        </p:nvSpPr>
        <p:spPr>
          <a:xfrm>
            <a:off x="1028700" y="2897378"/>
            <a:ext cx="78867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MOVIELENS-1M</a:t>
            </a:r>
          </a:p>
        </p:txBody>
      </p:sp>
      <p:graphicFrame>
        <p:nvGraphicFramePr>
          <p:cNvPr id="8" name="Table 7"/>
          <p:cNvGraphicFramePr>
            <a:graphicFrameLocks noGrp="1"/>
          </p:cNvGraphicFramePr>
          <p:nvPr/>
        </p:nvGraphicFramePr>
        <p:xfrm>
          <a:off x="1028700" y="3263138"/>
          <a:ext cx="7886699" cy="3803904"/>
        </p:xfrm>
        <a:graphic>
          <a:graphicData uri="http://schemas.openxmlformats.org/drawingml/2006/table">
            <a:tbl>
              <a:tblPr firstRow="0" bandRow="0" firstCol="0" lastRow="0" lastCol="0" bandCol="0">
                <a:tableStyleId>{2D5ABB26-0587-4C30-8999-92F81FD0307C}</a:tableStyleId>
              </a:tblPr>
              <a:tblGrid>
                <a:gridCol w="1354281"/>
                <a:gridCol w="1752600"/>
                <a:gridCol w="1752600"/>
                <a:gridCol w="1513609"/>
                <a:gridCol w="1513609"/>
              </a:tblGrid>
              <a:tr h="47548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NDCG@20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Recall@20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Coverage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ILD</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0.1200 ± 0.0025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0.0880 ± 0.0020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0.239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0.367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0.1300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0.1100 ± 0.0022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0.269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0.398 ± 0.008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0.2130 ± 0.0030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0.1790 ± 0.0027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0.308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0.423 ± 0.007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0.2296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0.1918 ± 0.0029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0.324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0.445 ± 0.007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0.2470 ± 0.0035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0.2050 ± 0.0031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0.327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0.448 ± 0.006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0.2528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0.2098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0.342 ± 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0.461 ± 0.006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75488">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0.2775 ± 0.0039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0.2362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0.397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0.516 ± 0.005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9" name="TextBox 8"/>
          <p:cNvSpPr txBox="1"/>
          <p:nvPr/>
        </p:nvSpPr>
        <p:spPr>
          <a:xfrm>
            <a:off x="9372600" y="2897378"/>
            <a:ext cx="788670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AMAZON-BOOK</a:t>
            </a:r>
          </a:p>
        </p:txBody>
      </p:sp>
      <p:graphicFrame>
        <p:nvGraphicFramePr>
          <p:cNvPr id="10" name="Table 9"/>
          <p:cNvGraphicFramePr>
            <a:graphicFrameLocks noGrp="1"/>
          </p:cNvGraphicFramePr>
          <p:nvPr/>
        </p:nvGraphicFramePr>
        <p:xfrm>
          <a:off x="9372600" y="3263138"/>
          <a:ext cx="7886699" cy="3803904"/>
        </p:xfrm>
        <a:graphic>
          <a:graphicData uri="http://schemas.openxmlformats.org/drawingml/2006/table">
            <a:tbl>
              <a:tblPr firstRow="0" bandRow="0" firstCol="0" lastRow="0" lastCol="0" bandCol="0">
                <a:tableStyleId>{2D5ABB26-0587-4C30-8999-92F81FD0307C}</a:tableStyleId>
              </a:tblPr>
              <a:tblGrid>
                <a:gridCol w="1354281"/>
                <a:gridCol w="1752600"/>
                <a:gridCol w="1752600"/>
                <a:gridCol w="1513609"/>
                <a:gridCol w="1513609"/>
              </a:tblGrid>
              <a:tr h="475488">
                <a:tc>
                  <a:txBody>
                    <a:bodyPr anchor="ctr" rtlCol="false" lIns="0" tIns="0" rIns="0" bIns="0" wrap="square"/>
                    <a:lstStyle/>
                    <a:p>
                      <a:pPr algn="l">
                        <a:lnSpc>
                          <a:spcPts val="1820"/>
                        </a:lnSpc>
                        <a:spcBef>
                          <a:spcPts val="0"/>
                        </a:spcBef>
                        <a:buNone/>
                      </a:pPr>
                      <a:r>
                        <a:rPr lang="en-US" sz="14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NDCG@20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Recall@20</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Coverage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820"/>
                        </a:lnSpc>
                        <a:spcBef>
                          <a:spcPts val="0"/>
                        </a:spcBef>
                        <a:buNone/>
                      </a:pPr>
                      <a:r>
                        <a:rPr lang="en-US" sz="1400" b="true">
                          <a:solidFill>
                            <a:srgbClr val="FFFFFF"/>
                          </a:solidFill>
                          <a:latin typeface="Nunito Bold"/>
                          <a:ea typeface="Nunito Bold"/>
                          <a:cs typeface="Nunito Bold"/>
                          <a:sym typeface="Nunito Bold"/>
                        </a:rPr>
                        <a:t>ILD</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0.0049 ± 0.0005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0.0093 ± 0.0009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0.168 ± 0.013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0.425 ± 0.014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0.0085 ± 0.0008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0.0142 ± 0.0014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0.193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0.458 ± 0.013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0.0236 ± 0.0024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0.0320 ± 0.0032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0.226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0.491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0.0255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0.0346 ± 0.0035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0.242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0.512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0.0258 ± 0.0026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0.0344 ± 0.0034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0.248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0.520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75488">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0.0270 ± 0.0027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0.0359 ± 0.0036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0.259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0.535 ± 0.011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75488">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0.0306 ± 0.0031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0.0417 ± 0.0042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0.336 ± 0.012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0.602 ± 0.010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11" name="Rounded Rectangle 10"/>
          <p:cNvSpPr/>
          <p:nvPr/>
        </p:nvSpPr>
        <p:spPr>
          <a:xfrm>
            <a:off x="1028700" y="7387082"/>
            <a:ext cx="16230600" cy="822960"/>
          </a:xfrm>
          <a:prstGeom prst="roundRect">
            <a:avLst>
              <a:gd name="adj" fmla="val 24444"/>
            </a:avLst>
          </a:prstGeom>
          <a:solidFill>
            <a:srgbClr val="F6ECDF"/>
          </a:solidFill>
          <a:ln>
            <a:noFill/>
          </a:ln>
        </p:spPr>
        <p:txBody>
          <a:bodyPr anchor="ctr" rtlCol="false" lIns="365760" tIns="45720" rIns="365760" bIns="45720" wrap="square"/>
          <a:lstStyle/>
          <a:p>
            <a:pPr algn="ctr">
              <a:lnSpc>
                <a:spcPts val="2200"/>
              </a:lnSpc>
              <a:spcBef>
                <a:spcPts val="0"/>
              </a:spcBef>
              <a:buNone/>
            </a:pPr>
            <a:r>
              <a:rPr lang="en-US" sz="1700" b="true">
                <a:solidFill>
                  <a:srgbClr val="111111"/>
                </a:solidFill>
                <a:latin typeface="Nunito Semi-Bold"/>
                <a:ea typeface="Nunito Semi-Bold"/>
                <a:cs typeface="Nunito Semi-Bold"/>
                <a:sym typeface="Nunito Semi-Bold"/>
              </a:rPr>
              <a:t>Standard deviations are roughly </a:t>
            </a:r>
            <a:r>
              <a:rPr lang="en-US" sz="1700" b="true">
                <a:solidFill>
                  <a:srgbClr val="111111"/>
                </a:solidFill>
                <a:latin typeface="Nunito Bold"/>
                <a:ea typeface="Nunito Bold"/>
                <a:cs typeface="Nunito Bold"/>
                <a:sym typeface="Nunito Bold"/>
              </a:rPr>
              <a:t>one tenth of the gap</a:t>
            </a:r>
            <a:r>
              <a:rPr lang="en-US" sz="1700" b="true">
                <a:solidFill>
                  <a:srgbClr val="111111"/>
                </a:solidFill>
                <a:latin typeface="Nunito Semi-Bold"/>
                <a:ea typeface="Nunito Semi-Bold"/>
                <a:cs typeface="Nunito Semi-Bold"/>
                <a:sym typeface="Nunito Semi-Bold"/>
              </a:rPr>
              <a:t> between DyHuCoG and HPCF on every metric, so the ordering is stable across seeds.</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[27] Holm, S. A Simple Sequentially Rejective Multiple Test Procedure. Scand. J. Statist. 6(2), 65–70 (1979).  ·  Cohen, J. Statistical Power Analysis for the Behavioral Sciences (1988).</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78</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6" name="TextBox 5"/>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 7.6, Paired Tests vs Every Baseline</a:t>
            </a:r>
          </a:p>
        </p:txBody>
      </p:sp>
      <p:graphicFrame>
        <p:nvGraphicFramePr>
          <p:cNvPr id="7" name="Table 6"/>
          <p:cNvGraphicFramePr>
            <a:graphicFrameLocks noGrp="1"/>
          </p:cNvGraphicFramePr>
          <p:nvPr/>
        </p:nvGraphicFramePr>
        <p:xfrm>
          <a:off x="1028700" y="2943098"/>
          <a:ext cx="16230597" cy="3968496"/>
        </p:xfrm>
        <a:graphic>
          <a:graphicData uri="http://schemas.openxmlformats.org/drawingml/2006/table">
            <a:tbl>
              <a:tblPr firstRow="0" bandRow="0" firstCol="0" lastRow="0" lastCol="0" bandCol="0">
                <a:tableStyleId>{2D5ABB26-0587-4C30-8999-92F81FD0307C}</a:tableStyleId>
              </a:tblPr>
              <a:tblGrid>
                <a:gridCol w="4725364"/>
                <a:gridCol w="2054506"/>
                <a:gridCol w="2670858"/>
                <a:gridCol w="2054506"/>
                <a:gridCol w="2465407"/>
                <a:gridCol w="2259956"/>
              </a:tblGrid>
              <a:tr h="566928">
                <a:tc>
                  <a:txBody>
                    <a:bodyPr anchor="ctr" rtlCol="false" lIns="0" tIns="0" rIns="0" bIns="0" wrap="square"/>
                    <a:lstStyle/>
                    <a:p>
                      <a:pPr algn="l">
                        <a:lnSpc>
                          <a:spcPts val="2080"/>
                        </a:lnSpc>
                        <a:spcBef>
                          <a:spcPts val="0"/>
                        </a:spcBef>
                        <a:buNone/>
                      </a:pPr>
                      <a:r>
                        <a:rPr lang="en-US" sz="1600" b="true">
                          <a:solidFill>
                            <a:srgbClr val="FFFFFF"/>
                          </a:solidFill>
                          <a:latin typeface="Nunito Bold"/>
                          <a:ea typeface="Nunito Bold"/>
                          <a:cs typeface="Nunito Bold"/>
                          <a:sym typeface="Nunito Bold"/>
                        </a:rPr>
                        <a:t>Comparison (per-user NDCG@20, ML-1M)</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t statistic</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p-value</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Cohen's d</a:t>
                      </a:r>
                      <a:r>
                        <a:rPr lang="en-US" sz="1600" b="true" baseline="-25000">
                          <a:solidFill>
                            <a:srgbClr val="FFFFFF"/>
                          </a:solidFill>
                          <a:latin typeface="Nunito Bold"/>
                          <a:ea typeface="Nunito Bold"/>
                          <a:cs typeface="Nunito Bold"/>
                          <a:sym typeface="Nunito Bold"/>
                        </a:rPr>
                        <a:t>z</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Holm threshold </a:t>
                      </a:r>
                      <a:r>
                        <a:rPr lang="en-US" sz="1600" b="true">
                          <a:solidFill>
                            <a:srgbClr val="FFFFFF"/>
                          </a:solidFill>
                          <a:latin typeface="Calibri"/>
                          <a:ea typeface="Calibri"/>
                          <a:cs typeface="Calibri"/>
                          <a:sym typeface="Calibri"/>
                        </a:rPr>
                        <a:t>α</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2080"/>
                        </a:lnSpc>
                        <a:spcBef>
                          <a:spcPts val="0"/>
                        </a:spcBef>
                        <a:buNone/>
                      </a:pPr>
                      <a:r>
                        <a:rPr lang="en-US" sz="1600" b="true">
                          <a:solidFill>
                            <a:srgbClr val="FFFFFF"/>
                          </a:solidFill>
                          <a:latin typeface="Nunito Bold"/>
                          <a:ea typeface="Nunito Bold"/>
                          <a:cs typeface="Nunito Bold"/>
                          <a:sym typeface="Nunito Bold"/>
                        </a:rPr>
                        <a:t>Result</a:t>
                      </a:r>
                    </a:p>
                  </a:txBody>
                  <a:tcPr marL="82296" marR="82296"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HPCF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46.38</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1.81 × 10</a:t>
                      </a:r>
                      <a:r>
                        <a:rPr lang="en-US" sz="1700" b="true" baseline="30000">
                          <a:solidFill>
                            <a:srgbClr val="111111"/>
                          </a:solidFill>
                          <a:latin typeface="Nunito Semi-Bold"/>
                          <a:ea typeface="Nunito Semi-Bold"/>
                          <a:cs typeface="Nunito Semi-Bold"/>
                          <a:sym typeface="Nunito Semi-Bold"/>
                        </a:rPr>
                        <a:t>−270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1.33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0.0500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RecDCL</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92.72</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2.67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0.0083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HCCF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61.21</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1.76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LightGCN</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132.19</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3.80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0.0125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NCF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311.13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8.95</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0.0167</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566928">
                <a:tc>
                  <a:txBody>
                    <a:bodyPr anchor="ctr" rtlCol="false" lIns="0" tIns="0" rIns="0" bIns="0" wrap="square"/>
                    <a:lstStyle/>
                    <a:p>
                      <a:pPr algn="l">
                        <a:lnSpc>
                          <a:spcPts val="2210"/>
                        </a:lnSpc>
                        <a:spcBef>
                          <a:spcPts val="0"/>
                        </a:spcBef>
                        <a:buNone/>
                      </a:pPr>
                      <a:r>
                        <a:rPr lang="en-US" sz="1700" b="true">
                          <a:solidFill>
                            <a:srgbClr val="111111"/>
                          </a:solidFill>
                          <a:latin typeface="Nunito Bold"/>
                          <a:ea typeface="Nunito Bold"/>
                          <a:cs typeface="Nunito Bold"/>
                          <a:sym typeface="Nunito Bold"/>
                        </a:rPr>
                        <a:t>DyHuCoG vs MF</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341.76</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&lt; 10</a:t>
                      </a:r>
                      <a:r>
                        <a:rPr lang="en-US" sz="1700" b="true" baseline="30000">
                          <a:solidFill>
                            <a:srgbClr val="111111"/>
                          </a:solidFill>
                          <a:latin typeface="Nunito Semi-Bold"/>
                          <a:ea typeface="Nunito Semi-Bold"/>
                          <a:cs typeface="Nunito Semi-Bold"/>
                          <a:sym typeface="Nunito Semi-Bold"/>
                        </a:rPr>
                        <a:t>−300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9.83</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0.0250</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2210"/>
                        </a:lnSpc>
                        <a:spcBef>
                          <a:spcPts val="0"/>
                        </a:spcBef>
                        <a:buNone/>
                      </a:pPr>
                      <a:r>
                        <a:rPr lang="en-US" sz="1700" b="true">
                          <a:solidFill>
                            <a:srgbClr val="111111"/>
                          </a:solidFill>
                          <a:latin typeface="Nunito Semi-Bold"/>
                          <a:ea typeface="Nunito Semi-Bold"/>
                          <a:cs typeface="Nunito Semi-Bold"/>
                          <a:sym typeface="Nunito Semi-Bold"/>
                        </a:rPr>
                        <a:t>significant</a:t>
                      </a:r>
                    </a:p>
                  </a:txBody>
                  <a:tcPr marL="82296" marR="82296"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8" name="Rounded Rectangle 7"/>
          <p:cNvSpPr/>
          <p:nvPr/>
        </p:nvSpPr>
        <p:spPr>
          <a:xfrm>
            <a:off x="1028700" y="7551674"/>
            <a:ext cx="7932420" cy="1665478"/>
          </a:xfrm>
          <a:prstGeom prst="roundRect">
            <a:avLst>
              <a:gd name="adj" fmla="val 18667"/>
            </a:avLst>
          </a:prstGeom>
          <a:solidFill>
            <a:srgbClr val="F6ECDF"/>
          </a:solidFill>
          <a:ln>
            <a:noFill/>
          </a:ln>
        </p:spPr>
        <p:txBody>
          <a:bodyPr anchor="ctr" rtlCol="false" lIns="0" tIns="0" rIns="0" bIns="0" wrap="square"/>
          <a:lstStyle/>
          <a:p>
            <a:endParaRPr lang="en-US" sz="1800"/>
          </a:p>
        </p:txBody>
      </p:sp>
      <p:sp>
        <p:nvSpPr>
          <p:cNvPr id="9" name="Rounded Rectangle 8"/>
          <p:cNvSpPr/>
          <p:nvPr/>
        </p:nvSpPr>
        <p:spPr>
          <a:xfrm>
            <a:off x="1485900" y="7313930"/>
            <a:ext cx="2585068" cy="438912"/>
          </a:xfrm>
          <a:prstGeom prst="roundRect">
            <a:avLst>
              <a:gd name="adj" fmla="val 50000"/>
            </a:avLst>
          </a:prstGeom>
          <a:solidFill>
            <a:srgbClr val="4472C4"/>
          </a:solidFill>
          <a:ln w="28575">
            <a:solidFill>
              <a:srgbClr val="4472C4"/>
            </a:solidFill>
          </a:ln>
        </p:spPr>
        <p:txBody>
          <a:bodyPr anchor="ctr" rtlCol="false" lIns="45720" tIns="0" rIns="45720" bIns="0" wrap="square"/>
          <a:lstStyle/>
          <a:p>
            <a:pPr algn="ctr">
              <a:lnSpc>
                <a:spcPts val="2640"/>
              </a:lnSpc>
              <a:spcBef>
                <a:spcPts val="0"/>
              </a:spcBef>
              <a:buNone/>
            </a:pPr>
            <a:r>
              <a:rPr lang="en-US" sz="2200" b="true">
                <a:solidFill>
                  <a:srgbClr val="FFFFFF"/>
                </a:solidFill>
                <a:latin typeface="Nunito Bold"/>
                <a:ea typeface="Nunito Bold"/>
                <a:cs typeface="Nunito Bold"/>
                <a:sym typeface="Nunito Bold"/>
              </a:rPr>
              <a:t>How to read it</a:t>
            </a:r>
          </a:p>
        </p:txBody>
      </p:sp>
      <p:sp>
        <p:nvSpPr>
          <p:cNvPr id="10" name="TextBox 9"/>
          <p:cNvSpPr txBox="1"/>
          <p:nvPr/>
        </p:nvSpPr>
        <p:spPr>
          <a:xfrm>
            <a:off x="1485900" y="8100314"/>
            <a:ext cx="7063740" cy="933958"/>
          </a:xfrm>
          <a:prstGeom prst="rect">
            <a:avLst/>
          </a:prstGeom>
          <a:noFill/>
        </p:spPr>
        <p:txBody>
          <a:bodyPr anchor="t" rtlCol="false" lIns="0" tIns="0" rIns="0" bIns="0" wrap="square"/>
          <a:lstStyle/>
          <a:p>
            <a:pPr algn="l" marL="274320" indent="-274320">
              <a:lnSpc>
                <a:spcPts val="2173"/>
              </a:lnSpc>
              <a:spcBef>
                <a:spcPts val="0"/>
              </a:spcBef>
              <a:buClr>
                <a:srgbClr val="1F7A8C"/>
              </a:buClr>
              <a:buSzPct val="100000"/>
              <a:buFont typeface="Arial"/>
              <a:buChar char="•"/>
            </a:pPr>
            <a:r>
              <a:rPr lang="en-US" sz="1552" b="true">
                <a:solidFill>
                  <a:srgbClr val="111111"/>
                </a:solidFill>
                <a:latin typeface="Nunito Semi-Bold"/>
                <a:ea typeface="Nunito Semi-Bold"/>
                <a:cs typeface="Nunito Semi-Bold"/>
                <a:sym typeface="Nunito Semi-Bold"/>
              </a:rPr>
              <a:t>Paired t-test over </a:t>
            </a:r>
            <a:r>
              <a:rPr lang="en-US" sz="1552" b="true">
                <a:solidFill>
                  <a:srgbClr val="111111"/>
                </a:solidFill>
                <a:latin typeface="Nunito Bold"/>
                <a:ea typeface="Nunito Bold"/>
                <a:cs typeface="Nunito Bold"/>
                <a:sym typeface="Nunito Bold"/>
              </a:rPr>
              <a:t>6,040 users</a:t>
            </a:r>
            <a:r>
              <a:rPr lang="en-US" sz="1552" b="true">
                <a:solidFill>
                  <a:srgbClr val="111111"/>
                </a:solidFill>
                <a:latin typeface="Nunito Semi-Bold"/>
                <a:ea typeface="Nunito Semi-Bold"/>
                <a:cs typeface="Nunito Semi-Bold"/>
                <a:sym typeface="Nunito Semi-Bold"/>
              </a:rPr>
              <a:t> (df = 6,039); Holm–Bonferroni gives each of the six p-values its own threshold.</a:t>
            </a:r>
          </a:p>
          <a:p>
            <a:pPr algn="l" marL="274320" indent="-274320">
              <a:lnSpc>
                <a:spcPts val="2173"/>
              </a:lnSpc>
              <a:spcBef>
                <a:spcPts val="388"/>
              </a:spcBef>
              <a:buClr>
                <a:srgbClr val="1F7A8C"/>
              </a:buClr>
              <a:buSzPct val="100000"/>
              <a:buFont typeface="Arial"/>
              <a:buChar char="•"/>
            </a:pPr>
            <a:r>
              <a:rPr lang="en-US" sz="1552" b="true">
                <a:solidFill>
                  <a:srgbClr val="111111"/>
                </a:solidFill>
                <a:latin typeface="Nunito Semi-Bold"/>
                <a:ea typeface="Nunito Semi-Bold"/>
                <a:cs typeface="Nunito Semi-Bold"/>
                <a:sym typeface="Nunito Semi-Bold"/>
              </a:rPr>
              <a:t>Every p-value is far below its threshold; </a:t>
            </a:r>
            <a:r>
              <a:rPr lang="en-US" sz="1552" b="true">
                <a:solidFill>
                  <a:srgbClr val="111111"/>
                </a:solidFill>
                <a:latin typeface="Nunito Bold"/>
                <a:ea typeface="Nunito Bold"/>
                <a:cs typeface="Nunito Bold"/>
                <a:sym typeface="Nunito Bold"/>
              </a:rPr>
              <a:t>Wilcoxon</a:t>
            </a:r>
            <a:r>
              <a:rPr lang="en-US" sz="1552" b="true">
                <a:solidFill>
                  <a:srgbClr val="111111"/>
                </a:solidFill>
                <a:latin typeface="Nunito Semi-Bold"/>
                <a:ea typeface="Nunito Semi-Bold"/>
                <a:cs typeface="Nunito Semi-Bold"/>
                <a:sym typeface="Nunito Semi-Bold"/>
              </a:rPr>
              <a:t> agrees (p &lt; 0.001).</a:t>
            </a:r>
          </a:p>
        </p:txBody>
      </p:sp>
      <p:sp>
        <p:nvSpPr>
          <p:cNvPr id="11" name="Rounded Rectangle 10"/>
          <p:cNvSpPr/>
          <p:nvPr/>
        </p:nvSpPr>
        <p:spPr>
          <a:xfrm>
            <a:off x="9326880" y="7551674"/>
            <a:ext cx="7932420" cy="1665478"/>
          </a:xfrm>
          <a:prstGeom prst="roundRect">
            <a:avLst>
              <a:gd name="adj" fmla="val 18667"/>
            </a:avLst>
          </a:prstGeom>
          <a:solidFill>
            <a:srgbClr val="4472C4"/>
          </a:solidFill>
          <a:ln>
            <a:noFill/>
          </a:ln>
        </p:spPr>
        <p:txBody>
          <a:bodyPr anchor="ctr" rtlCol="false" lIns="0" tIns="0" rIns="0" bIns="0" wrap="square"/>
          <a:lstStyle/>
          <a:p>
            <a:endParaRPr lang="en-US" sz="1800"/>
          </a:p>
        </p:txBody>
      </p:sp>
      <p:sp>
        <p:nvSpPr>
          <p:cNvPr id="12" name="Rounded Rectangle 11"/>
          <p:cNvSpPr/>
          <p:nvPr/>
        </p:nvSpPr>
        <p:spPr>
          <a:xfrm>
            <a:off x="9784080" y="7313930"/>
            <a:ext cx="2026195" cy="438912"/>
          </a:xfrm>
          <a:prstGeom prst="roundRect">
            <a:avLst>
              <a:gd name="adj" fmla="val 50000"/>
            </a:avLst>
          </a:prstGeom>
          <a:solidFill>
            <a:srgbClr val="FFFFFF"/>
          </a:solidFill>
          <a:ln w="28575">
            <a:solidFill>
              <a:srgbClr val="FFFFFF"/>
            </a:solidFill>
          </a:ln>
        </p:spPr>
        <p:txBody>
          <a:bodyPr anchor="ctr" rtlCol="false" lIns="45720" tIns="0" rIns="45720" bIns="0" wrap="square"/>
          <a:lstStyle/>
          <a:p>
            <a:pPr algn="ctr">
              <a:lnSpc>
                <a:spcPts val="2640"/>
              </a:lnSpc>
              <a:spcBef>
                <a:spcPts val="0"/>
              </a:spcBef>
              <a:buNone/>
            </a:pPr>
            <a:r>
              <a:rPr lang="en-US" sz="2200" b="true">
                <a:solidFill>
                  <a:srgbClr val="4472C4"/>
                </a:solidFill>
                <a:latin typeface="Nunito Bold"/>
                <a:ea typeface="Nunito Bold"/>
                <a:cs typeface="Nunito Bold"/>
                <a:sym typeface="Nunito Bold"/>
              </a:rPr>
              <a:t>Effect size</a:t>
            </a:r>
          </a:p>
        </p:txBody>
      </p:sp>
      <p:sp>
        <p:nvSpPr>
          <p:cNvPr id="13" name="TextBox 12"/>
          <p:cNvSpPr txBox="1"/>
          <p:nvPr/>
        </p:nvSpPr>
        <p:spPr>
          <a:xfrm>
            <a:off x="9784080" y="8100314"/>
            <a:ext cx="7063740" cy="933958"/>
          </a:xfrm>
          <a:prstGeom prst="rect">
            <a:avLst/>
          </a:prstGeom>
          <a:noFill/>
        </p:spPr>
        <p:txBody>
          <a:bodyPr anchor="t" rtlCol="false" lIns="0" tIns="0" rIns="0" bIns="0" wrap="square"/>
          <a:lstStyle/>
          <a:p>
            <a:pPr algn="l" marL="274320" indent="-274320">
              <a:lnSpc>
                <a:spcPts val="2226"/>
              </a:lnSpc>
              <a:spcBef>
                <a:spcPts val="0"/>
              </a:spcBef>
              <a:buClr>
                <a:srgbClr val="ECC665"/>
              </a:buClr>
              <a:buSzPct val="100000"/>
              <a:buFont typeface="Arial"/>
              <a:buChar char="•"/>
            </a:pPr>
            <a:r>
              <a:rPr lang="en-US" sz="1504" b="true">
                <a:solidFill>
                  <a:srgbClr val="FFFFFF"/>
                </a:solidFill>
                <a:latin typeface="Nunito Semi-Bold"/>
                <a:ea typeface="Nunito Semi-Bold"/>
                <a:cs typeface="Nunito Semi-Bold"/>
                <a:sym typeface="Nunito Semi-Bold"/>
              </a:rPr>
              <a:t>Cohen's d</a:t>
            </a:r>
            <a:r>
              <a:rPr lang="en-US" sz="1504" b="true" baseline="-25000">
                <a:solidFill>
                  <a:srgbClr val="FFFFFF"/>
                </a:solidFill>
                <a:latin typeface="Nunito Semi-Bold"/>
                <a:ea typeface="Nunito Semi-Bold"/>
                <a:cs typeface="Nunito Semi-Bold"/>
                <a:sym typeface="Nunito Semi-Bold"/>
              </a:rPr>
              <a:t>z</a:t>
            </a:r>
            <a:r>
              <a:rPr lang="en-US" sz="1504" b="true">
                <a:solidFill>
                  <a:srgbClr val="FFFFFF"/>
                </a:solidFill>
                <a:latin typeface="Nunito Semi-Bold"/>
                <a:ea typeface="Nunito Semi-Bold"/>
                <a:cs typeface="Nunito Semi-Bold"/>
                <a:sym typeface="Nunito Semi-Bold"/>
              </a:rPr>
              <a:t> ≥ 1.33 everywhere: </a:t>
            </a:r>
            <a:r>
              <a:rPr lang="en-US" sz="1504" b="true">
                <a:solidFill>
                  <a:srgbClr val="FFFFFF"/>
                </a:solidFill>
                <a:latin typeface="Nunito Bold"/>
                <a:ea typeface="Nunito Bold"/>
                <a:cs typeface="Nunito Bold"/>
                <a:sym typeface="Nunito Bold"/>
              </a:rPr>
              <a:t>large</a:t>
            </a:r>
            <a:r>
              <a:rPr lang="en-US" sz="1504" b="true">
                <a:solidFill>
                  <a:srgbClr val="FFFFFF"/>
                </a:solidFill>
                <a:latin typeface="Nunito Semi-Bold"/>
                <a:ea typeface="Nunito Semi-Bold"/>
                <a:cs typeface="Nunito Semi-Bold"/>
                <a:sym typeface="Nunito Semi-Bold"/>
              </a:rPr>
              <a:t> (0.8) is exceeded even against the strongest baseline.</a:t>
            </a:r>
          </a:p>
          <a:p>
            <a:pPr algn="l" marL="274320" indent="-274320">
              <a:lnSpc>
                <a:spcPts val="2106"/>
              </a:lnSpc>
              <a:spcBef>
                <a:spcPts val="376"/>
              </a:spcBef>
              <a:buClr>
                <a:srgbClr val="ECC665"/>
              </a:buClr>
              <a:buSzPct val="100000"/>
              <a:buFont typeface="Arial"/>
              <a:buChar char="•"/>
            </a:pPr>
            <a:r>
              <a:rPr lang="en-US" sz="1504" b="true">
                <a:solidFill>
                  <a:srgbClr val="FFFFFF"/>
                </a:solidFill>
                <a:latin typeface="Nunito Semi-Bold"/>
                <a:ea typeface="Nunito Semi-Bold"/>
                <a:cs typeface="Nunito Semi-Bold"/>
                <a:sym typeface="Nunito Semi-Bold"/>
              </a:rPr>
              <a:t>The improvement is practically meaningful, not only statistically visible.</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ensias_logo.jpg"/>
          <p:cNvPicPr>
            <a:picLocks noChangeAspect="1"/>
          </p:cNvPicPr>
          <p:nvPr/>
        </p:nvPicPr>
        <p:blipFill>
          <a:blip r:embed="rId2"/>
          <a:stretch>
            <a:fillRect/>
          </a:stretch>
        </p:blipFill>
        <p:spPr>
          <a:xfrm>
            <a:off x="1028700" y="9674352"/>
            <a:ext cx="542964" cy="384048"/>
          </a:xfrm>
          <a:prstGeom prst="rect">
            <a:avLst/>
          </a:prstGeom>
        </p:spPr>
      </p:pic>
      <p:sp>
        <p:nvSpPr>
          <p:cNvPr id="3" name="TextBox 2"/>
          <p:cNvSpPr txBox="1"/>
          <p:nvPr/>
        </p:nvSpPr>
        <p:spPr>
          <a:xfrm>
            <a:off x="1577340" y="9601200"/>
            <a:ext cx="14493240" cy="566928"/>
          </a:xfrm>
          <a:prstGeom prst="rect">
            <a:avLst/>
          </a:prstGeom>
          <a:noFill/>
        </p:spPr>
        <p:txBody>
          <a:bodyPr anchor="ctr" rtlCol="false" lIns="0" tIns="0" rIns="0" bIns="0" wrap="square"/>
          <a:lstStyle/>
          <a:p>
            <a:pPr algn="l">
              <a:lnSpc>
                <a:spcPts val="1200"/>
              </a:lnSpc>
              <a:spcBef>
                <a:spcPts val="0"/>
              </a:spcBef>
              <a:buNone/>
            </a:pPr>
            <a:r>
              <a:rPr lang="en-US" sz="1000" b="true">
                <a:solidFill>
                  <a:srgbClr val="8A8378"/>
                </a:solidFill>
                <a:latin typeface="Nunito Semi-Bold"/>
                <a:ea typeface="Nunito Semi-Bold"/>
                <a:cs typeface="Nunito Semi-Bold"/>
                <a:sym typeface="Nunito Semi-Bold"/>
              </a:rPr>
              <a:t>[3] Louhichi, M., Nesmaoui, R. &amp; Lazaar, M. DyHuCoG: A Dynamic Hypergraph Cooperative Game for Preference-aware Recommendation. IJIES 19(2), 887–902 (2026).   [8] Castro, J., Gómez, D. &amp; Tejada, J. Polynomial Calculation of the Shapley Value Based on Sampling. Computers &amp; Operations Research 36(5), 1726–1730 (2009).</a:t>
            </a:r>
          </a:p>
        </p:txBody>
      </p:sp>
      <p:sp>
        <p:nvSpPr>
          <p:cNvPr id="4" name="TextBox 3"/>
          <p:cNvSpPr txBox="1"/>
          <p:nvPr/>
        </p:nvSpPr>
        <p:spPr>
          <a:xfrm>
            <a:off x="16162020" y="9692640"/>
            <a:ext cx="1097280" cy="329184"/>
          </a:xfrm>
          <a:prstGeom prst="rect">
            <a:avLst/>
          </a:prstGeom>
          <a:noFill/>
        </p:spPr>
        <p:txBody>
          <a:bodyPr anchor="t" rtlCol="false" lIns="0" tIns="0" rIns="0" bIns="0" wrap="square"/>
          <a:lstStyle/>
          <a:p>
            <a:pPr algn="r">
              <a:lnSpc>
                <a:spcPts val="2200"/>
              </a:lnSpc>
              <a:spcBef>
                <a:spcPts val="0"/>
              </a:spcBef>
              <a:buNone/>
            </a:pPr>
            <a:r>
              <a:rPr lang="en-US" sz="1800" b="true">
                <a:solidFill>
                  <a:srgbClr val="111111"/>
                </a:solidFill>
                <a:latin typeface="Nunito Ultra-Bold"/>
                <a:ea typeface="Nunito Ultra-Bold"/>
                <a:cs typeface="Nunito Ultra-Bold"/>
                <a:sym typeface="Nunito Ultra-Bold"/>
              </a:rPr>
              <a:t>79</a:t>
            </a:r>
          </a:p>
        </p:txBody>
      </p:sp>
      <p:sp>
        <p:nvSpPr>
          <p:cNvPr id="5" name="TextBox 4"/>
          <p:cNvSpPr txBox="1"/>
          <p:nvPr/>
        </p:nvSpPr>
        <p:spPr>
          <a:xfrm>
            <a:off x="1028700" y="1389888"/>
            <a:ext cx="12938760" cy="329184"/>
          </a:xfrm>
          <a:prstGeom prst="rect">
            <a:avLst/>
          </a:prstGeom>
          <a:noFill/>
        </p:spPr>
        <p:txBody>
          <a:bodyPr anchor="t" rtlCol="false" lIns="0" tIns="0" rIns="0" bIns="0" wrap="square"/>
          <a:lstStyle/>
          <a:p>
            <a:pPr algn="l">
              <a:lnSpc>
                <a:spcPts val="2000"/>
              </a:lnSpc>
              <a:spcBef>
                <a:spcPts val="0"/>
              </a:spcBef>
              <a:buNone/>
            </a:pPr>
            <a:r>
              <a:rPr lang="en-US" sz="1500" b="true" spc="160">
                <a:solidFill>
                  <a:srgbClr val="1F7A8C"/>
                </a:solidFill>
                <a:latin typeface="Nunito Ultra-Bold"/>
                <a:ea typeface="Nunito Ultra-Bold"/>
                <a:cs typeface="Nunito Ultra-Bold"/>
                <a:sym typeface="Nunito Ultra-Bold"/>
              </a:rPr>
              <a:t>BACKUP</a:t>
            </a:r>
          </a:p>
        </p:txBody>
      </p:sp>
      <p:sp>
        <p:nvSpPr>
          <p:cNvPr id="6" name="TextBox 5"/>
          <p:cNvSpPr txBox="1"/>
          <p:nvPr/>
        </p:nvSpPr>
        <p:spPr>
          <a:xfrm>
            <a:off x="1028700" y="1719072"/>
            <a:ext cx="16230600" cy="730250"/>
          </a:xfrm>
          <a:prstGeom prst="rect">
            <a:avLst/>
          </a:prstGeom>
          <a:noFill/>
        </p:spPr>
        <p:txBody>
          <a:bodyPr anchor="t" rtlCol="false" lIns="0" tIns="0" rIns="0" bIns="0" wrap="square"/>
          <a:lstStyle/>
          <a:p>
            <a:pPr algn="l">
              <a:lnSpc>
                <a:spcPts val="5060"/>
              </a:lnSpc>
              <a:spcBef>
                <a:spcPts val="0"/>
              </a:spcBef>
              <a:buNone/>
            </a:pPr>
            <a:r>
              <a:rPr lang="en-US" sz="4600" b="true" spc="-230">
                <a:solidFill>
                  <a:srgbClr val="111111"/>
                </a:solidFill>
                <a:latin typeface="Roca Two Bold"/>
                <a:ea typeface="Roca Two Bold"/>
                <a:cs typeface="Roca Two Bold"/>
                <a:sym typeface="Roca Two Bold"/>
              </a:rPr>
              <a:t>Backup: Tables 7.3 and 7.4, Cost and Convergence</a:t>
            </a:r>
          </a:p>
        </p:txBody>
      </p:sp>
      <p:sp>
        <p:nvSpPr>
          <p:cNvPr id="7" name="TextBox 6"/>
          <p:cNvSpPr txBox="1"/>
          <p:nvPr/>
        </p:nvSpPr>
        <p:spPr>
          <a:xfrm>
            <a:off x="1028700" y="2897378"/>
            <a:ext cx="1024128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TABLE 7.3  ·  RUNTIME AND MEMORY</a:t>
            </a:r>
          </a:p>
        </p:txBody>
      </p:sp>
      <p:graphicFrame>
        <p:nvGraphicFramePr>
          <p:cNvPr id="8" name="Table 7"/>
          <p:cNvGraphicFramePr>
            <a:graphicFrameLocks noGrp="1"/>
          </p:cNvGraphicFramePr>
          <p:nvPr/>
        </p:nvGraphicFramePr>
        <p:xfrm>
          <a:off x="1028700" y="3263138"/>
          <a:ext cx="10241276" cy="3790188"/>
        </p:xfrm>
        <a:graphic>
          <a:graphicData uri="http://schemas.openxmlformats.org/drawingml/2006/table">
            <a:tbl>
              <a:tblPr firstRow="0" bandRow="0" firstCol="0" lastRow="0" lastCol="0" bandCol="0">
                <a:tableStyleId>{2D5ABB26-0587-4C30-8999-92F81FD0307C}</a:tableStyleId>
              </a:tblPr>
              <a:tblGrid>
                <a:gridCol w="1503307"/>
                <a:gridCol w="1597263"/>
                <a:gridCol w="1127480"/>
                <a:gridCol w="1127480"/>
                <a:gridCol w="1691220"/>
                <a:gridCol w="1127480"/>
                <a:gridCol w="1127480"/>
                <a:gridCol w="939566"/>
              </a:tblGrid>
              <a:tr h="589788">
                <a:tc>
                  <a:txBody>
                    <a:bodyPr anchor="ctr" rtlCol="false" lIns="0" tIns="0" rIns="0" bIns="0" wrap="square"/>
                    <a:lstStyle/>
                    <a:p>
                      <a:pPr algn="l">
                        <a:lnSpc>
                          <a:spcPts val="1690"/>
                        </a:lnSpc>
                        <a:spcBef>
                          <a:spcPts val="0"/>
                        </a:spcBef>
                        <a:buNone/>
                      </a:pPr>
                      <a:r>
                        <a:rPr lang="en-US" sz="1300" b="true">
                          <a:solidFill>
                            <a:srgbClr val="FFFFFF"/>
                          </a:solidFill>
                          <a:latin typeface="Nunito Bold"/>
                          <a:ea typeface="Nunito Bold"/>
                          <a:cs typeface="Nunito Bold"/>
                          <a:sym typeface="Nunito Bold"/>
                        </a:rPr>
                        <a:t>Model</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Train (s) ML-1M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Infer (ms)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Mem (GB)</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Train (s) Amazon</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Infer (ms)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Mem (GB)</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 MF (ML-1M)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MF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485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0.54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2,202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2.46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8.5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NCF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675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0.76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3,073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3.42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LightGCN</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786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0.88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3,645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4.05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12.8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RecDCL</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968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4,527</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5.04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15.6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1.89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HCCF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952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1.06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4,419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4.92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15.3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1.96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l">
                        <a:lnSpc>
                          <a:spcPts val="1820"/>
                        </a:lnSpc>
                        <a:spcBef>
                          <a:spcPts val="0"/>
                        </a:spcBef>
                        <a:buNone/>
                      </a:pPr>
                      <a:r>
                        <a:rPr lang="en-US" sz="1400" b="true">
                          <a:solidFill>
                            <a:srgbClr val="111111"/>
                          </a:solidFill>
                          <a:latin typeface="Nunito Bold"/>
                          <a:ea typeface="Nunito Bold"/>
                          <a:cs typeface="Nunito Bold"/>
                          <a:sym typeface="Nunito Bold"/>
                        </a:rPr>
                        <a:t>HPCF</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1.18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5,234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5.48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2.19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7200">
                <a:tc>
                  <a:txBody>
                    <a:bodyPr anchor="ctr" rtlCol="false" lIns="0" tIns="0" rIns="0" bIns="0" wrap="square"/>
                    <a:lstStyle/>
                    <a:p>
                      <a:pPr algn="l">
                        <a:lnSpc>
                          <a:spcPts val="1820"/>
                        </a:lnSpc>
                        <a:spcBef>
                          <a:spcPts val="0"/>
                        </a:spcBef>
                        <a:buNone/>
                      </a:pPr>
                      <a:r>
                        <a:rPr lang="en-US" sz="1400" b="1">
                          <a:solidFill>
                            <a:srgbClr val="111111"/>
                          </a:solidFill>
                          <a:latin typeface="Nunito Bold"/>
                          <a:ea typeface="Nunito Bold"/>
                          <a:cs typeface="Nunito Bold"/>
                          <a:sym typeface="Nunito Bold"/>
                        </a:rPr>
                        <a:t>DyHuCoG</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2,000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1.84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4.4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9,279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8.52</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17.9</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3.41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bl>
          </a:graphicData>
        </a:graphic>
      </p:graphicFrame>
      <p:sp>
        <p:nvSpPr>
          <p:cNvPr id="9" name="TextBox 8"/>
          <p:cNvSpPr txBox="1"/>
          <p:nvPr/>
        </p:nvSpPr>
        <p:spPr>
          <a:xfrm>
            <a:off x="11727180" y="2897378"/>
            <a:ext cx="5532120" cy="320040"/>
          </a:xfrm>
          <a:prstGeom prst="rect">
            <a:avLst/>
          </a:prstGeom>
          <a:noFill/>
        </p:spPr>
        <p:txBody>
          <a:bodyPr anchor="t" rtlCol="false" lIns="0" tIns="0" rIns="0" bIns="0" wrap="square"/>
          <a:lstStyle/>
          <a:p>
            <a:pPr algn="l">
              <a:lnSpc>
                <a:spcPts val="1600"/>
              </a:lnSpc>
              <a:spcBef>
                <a:spcPts val="0"/>
              </a:spcBef>
              <a:buNone/>
            </a:pPr>
            <a:r>
              <a:rPr lang="en-US" sz="1300" b="true" spc="150">
                <a:solidFill>
                  <a:srgbClr val="1F7A8C"/>
                </a:solidFill>
                <a:latin typeface="Nunito Ultra-Bold"/>
                <a:ea typeface="Nunito Ultra-Bold"/>
                <a:cs typeface="Nunito Ultra-Bold"/>
                <a:sym typeface="Nunito Ultra-Bold"/>
              </a:rPr>
              <a:t>TABLE 7.4  ·  MONTE CARLO SHAPLEY</a:t>
            </a:r>
          </a:p>
        </p:txBody>
      </p:sp>
      <p:graphicFrame>
        <p:nvGraphicFramePr>
          <p:cNvPr id="10" name="Table 9"/>
          <p:cNvGraphicFramePr>
            <a:graphicFrameLocks noGrp="1"/>
          </p:cNvGraphicFramePr>
          <p:nvPr/>
        </p:nvGraphicFramePr>
        <p:xfrm>
          <a:off x="11727180" y="3263138"/>
          <a:ext cx="5532120" cy="2286000"/>
        </p:xfrm>
        <a:graphic>
          <a:graphicData uri="http://schemas.openxmlformats.org/drawingml/2006/table">
            <a:tbl>
              <a:tblPr firstRow="0" bandRow="0" firstCol="0" lastRow="0" lastCol="0" bandCol="0">
                <a:tableStyleId>{2D5ABB26-0587-4C30-8999-92F81FD0307C}</a:tableStyleId>
              </a:tblPr>
              <a:tblGrid>
                <a:gridCol w="737616"/>
                <a:gridCol w="1475232"/>
                <a:gridCol w="1198626"/>
                <a:gridCol w="1198626"/>
                <a:gridCol w="922020"/>
              </a:tblGrid>
              <a:tr h="457200">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M</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MSE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Accuracy</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Train (s)</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c>
                  <a:txBody>
                    <a:bodyPr anchor="ctr" rtlCol="false" lIns="0" tIns="0" rIns="0" bIns="0" wrap="square"/>
                    <a:lstStyle/>
                    <a:p>
                      <a:pPr algn="ctr">
                        <a:lnSpc>
                          <a:spcPts val="1690"/>
                        </a:lnSpc>
                        <a:spcBef>
                          <a:spcPts val="0"/>
                        </a:spcBef>
                        <a:buNone/>
                      </a:pPr>
                      <a:r>
                        <a:rPr lang="en-US" sz="1300" b="true">
                          <a:solidFill>
                            <a:srgbClr val="FFFFFF"/>
                          </a:solidFill>
                          <a:latin typeface="Nunito Bold"/>
                          <a:ea typeface="Nunito Bold"/>
                          <a:cs typeface="Nunito Bold"/>
                          <a:sym typeface="Nunito Bold"/>
                        </a:rPr>
                        <a:t>× base</a:t>
                      </a:r>
                    </a:p>
                  </a:txBody>
                  <a:tcPr marL="54864" marR="54864" marT="45720" marB="45720" anchor="ctr">
                    <a:lnL w="12700" cap="flat" cmpd="sng" algn="ctr">
                      <a:solidFill>
                        <a:srgbClr val="4472C4"/>
                      </a:solidFill>
                      <a:prstDash val="solid"/>
                    </a:lnL>
                    <a:lnR w="12700" cap="flat" cmpd="sng" algn="ctr">
                      <a:solidFill>
                        <a:srgbClr val="4472C4"/>
                      </a:solidFill>
                      <a:prstDash val="solid"/>
                    </a:lnR>
                    <a:lnT w="12700" cap="flat" cmpd="sng" algn="ctr">
                      <a:solidFill>
                        <a:srgbClr val="4472C4"/>
                      </a:solidFill>
                      <a:prstDash val="solid"/>
                    </a:lnT>
                    <a:lnB w="12700" cap="flat" cmpd="sng" algn="ctr">
                      <a:solidFill>
                        <a:srgbClr val="4472C4"/>
                      </a:solidFill>
                      <a:prstDash val="solid"/>
                    </a:lnB>
                    <a:solidFill>
                      <a:srgbClr val="4472C4"/>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1.4 × 10</a:t>
                      </a:r>
                      <a:r>
                        <a:rPr lang="en-US" sz="1400" b="true" baseline="30000">
                          <a:solidFill>
                            <a:srgbClr val="111111"/>
                          </a:solidFill>
                          <a:latin typeface="Nunito Semi-Bold"/>
                          <a:ea typeface="Nunito Semi-Bold"/>
                          <a:cs typeface="Nunito Semi-Bold"/>
                          <a:sym typeface="Nunito Semi-Bold"/>
                        </a:rPr>
                        <a:t>−4</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95 %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1,460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1.3×</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FFFFF"/>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5.6 × 10</a:t>
                      </a:r>
                      <a:r>
                        <a:rPr lang="en-US" sz="1400" b="true" baseline="30000">
                          <a:solidFill>
                            <a:srgbClr val="111111"/>
                          </a:solidFill>
                          <a:latin typeface="Nunito Semi-Bold"/>
                          <a:ea typeface="Nunito Semi-Bold"/>
                          <a:cs typeface="Nunito Semi-Bold"/>
                          <a:sym typeface="Nunito Semi-Bold"/>
                        </a:rPr>
                        <a:t>−5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98 %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1,800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1.6×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r h="457200">
                <a:tc>
                  <a:txBody>
                    <a:bodyPr anchor="ctr" rtlCol="false" lIns="0" tIns="0" rIns="0" bIns="0" wrap="square"/>
                    <a:lstStyle/>
                    <a:p>
                      <a:pPr algn="ctr">
                        <a:lnSpc>
                          <a:spcPts val="1820"/>
                        </a:lnSpc>
                        <a:spcBef>
                          <a:spcPts val="0"/>
                        </a:spcBef>
                        <a:buNone/>
                      </a:pPr>
                      <a:r>
                        <a:rPr lang="en-US" sz="1400" b="1">
                          <a:solidFill>
                            <a:srgbClr val="111111"/>
                          </a:solidFill>
                          <a:latin typeface="Nunito Bold"/>
                          <a:ea typeface="Nunito Bold"/>
                          <a:cs typeface="Nunito Bold"/>
                          <a:sym typeface="Nunito Bold"/>
                        </a:rPr>
                        <a:t>50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1.4 × 10</a:t>
                      </a:r>
                      <a:r>
                        <a:rPr lang="en-US" sz="1400" b="1" baseline="30000">
                          <a:solidFill>
                            <a:srgbClr val="111111"/>
                          </a:solidFill>
                          <a:latin typeface="Nunito Semi-Bold"/>
                          <a:ea typeface="Nunito Semi-Bold"/>
                          <a:cs typeface="Nunito Semi-Bold"/>
                          <a:sym typeface="Nunito Semi-Bold"/>
                        </a:rPr>
                        <a:t>−5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99 %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2,001</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c>
                  <a:txBody>
                    <a:bodyPr anchor="ctr" rtlCol="false" lIns="0" tIns="0" rIns="0" bIns="0" wrap="square"/>
                    <a:lstStyle/>
                    <a:p>
                      <a:pPr algn="ctr">
                        <a:lnSpc>
                          <a:spcPts val="1820"/>
                        </a:lnSpc>
                        <a:spcBef>
                          <a:spcPts val="0"/>
                        </a:spcBef>
                        <a:buNone/>
                      </a:pPr>
                      <a:r>
                        <a:rPr lang="en-US" sz="1400" b="1">
                          <a:solidFill>
                            <a:srgbClr val="111111"/>
                          </a:solidFill>
                          <a:latin typeface="Nunito Semi-Bold"/>
                          <a:ea typeface="Nunito Semi-Bold"/>
                          <a:cs typeface="Nunito Semi-Bold"/>
                          <a:sym typeface="Nunito Semi-Bold"/>
                        </a:rPr>
                        <a:t>1.78×</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D9E2F3"/>
                    </a:solidFill>
                  </a:tcPr>
                </a:tc>
              </a:tr>
              <a:tr h="457200">
                <a:tc>
                  <a:txBody>
                    <a:bodyPr anchor="ctr" rtlCol="false" lIns="0" tIns="0" rIns="0" bIns="0" wrap="square"/>
                    <a:lstStyle/>
                    <a:p>
                      <a:pPr algn="ctr">
                        <a:lnSpc>
                          <a:spcPts val="1820"/>
                        </a:lnSpc>
                        <a:spcBef>
                          <a:spcPts val="0"/>
                        </a:spcBef>
                        <a:buNone/>
                      </a:pPr>
                      <a:r>
                        <a:rPr lang="en-US" sz="1400" b="true">
                          <a:solidFill>
                            <a:srgbClr val="111111"/>
                          </a:solidFill>
                          <a:latin typeface="Nunito Bold"/>
                          <a:ea typeface="Nunito Bold"/>
                          <a:cs typeface="Nunito Bold"/>
                          <a:sym typeface="Nunito Bold"/>
                        </a:rPr>
                        <a:t>100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3.5 × 10</a:t>
                      </a:r>
                      <a:r>
                        <a:rPr lang="en-US" sz="1400" b="true" baseline="30000">
                          <a:solidFill>
                            <a:srgbClr val="111111"/>
                          </a:solidFill>
                          <a:latin typeface="Nunito Semi-Bold"/>
                          <a:ea typeface="Nunito Semi-Bold"/>
                          <a:cs typeface="Nunito Semi-Bold"/>
                          <a:sym typeface="Nunito Semi-Bold"/>
                        </a:rPr>
                        <a:t>−6</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99.5 %</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 2,810</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c>
                  <a:txBody>
                    <a:bodyPr anchor="ctr" rtlCol="false" lIns="0" tIns="0" rIns="0" bIns="0" wrap="square"/>
                    <a:lstStyle/>
                    <a:p>
                      <a:pPr algn="ctr">
                        <a:lnSpc>
                          <a:spcPts val="1820"/>
                        </a:lnSpc>
                        <a:spcBef>
                          <a:spcPts val="0"/>
                        </a:spcBef>
                        <a:buNone/>
                      </a:pPr>
                      <a:r>
                        <a:rPr lang="en-US" sz="1400" b="true">
                          <a:solidFill>
                            <a:srgbClr val="111111"/>
                          </a:solidFill>
                          <a:latin typeface="Nunito Semi-Bold"/>
                          <a:ea typeface="Nunito Semi-Bold"/>
                          <a:cs typeface="Nunito Semi-Bold"/>
                          <a:sym typeface="Nunito Semi-Bold"/>
                        </a:rPr>
                        <a:t>2.5×</a:t>
                      </a:r>
                    </a:p>
                  </a:txBody>
                  <a:tcPr marL="54864" marR="54864" marT="45720" marB="45720" anchor="ctr">
                    <a:lnL w="12700" cap="flat" cmpd="sng" algn="ctr">
                      <a:solidFill>
                        <a:srgbClr val="E3D6C4"/>
                      </a:solidFill>
                      <a:prstDash val="solid"/>
                    </a:lnL>
                    <a:lnR w="12700" cap="flat" cmpd="sng" algn="ctr">
                      <a:solidFill>
                        <a:srgbClr val="E3D6C4"/>
                      </a:solidFill>
                      <a:prstDash val="solid"/>
                    </a:lnR>
                    <a:lnT w="12700" cap="flat" cmpd="sng" algn="ctr">
                      <a:solidFill>
                        <a:srgbClr val="E3D6C4"/>
                      </a:solidFill>
                      <a:prstDash val="solid"/>
                    </a:lnT>
                    <a:lnB w="12700" cap="flat" cmpd="sng" algn="ctr">
                      <a:solidFill>
                        <a:srgbClr val="E3D6C4"/>
                      </a:solidFill>
                      <a:prstDash val="solid"/>
                    </a:lnB>
                    <a:solidFill>
                      <a:srgbClr val="F6ECDF"/>
                    </a:solidFill>
                  </a:tcPr>
                </a:tc>
              </a:tr>
            </a:tbl>
          </a:graphicData>
        </a:graphic>
      </p:graphicFrame>
      <p:sp>
        <p:nvSpPr>
          <p:cNvPr id="11" name="Rounded Rectangle 10"/>
          <p:cNvSpPr/>
          <p:nvPr/>
        </p:nvSpPr>
        <p:spPr>
          <a:xfrm>
            <a:off x="1028700" y="7419086"/>
            <a:ext cx="16230600" cy="1005840"/>
          </a:xfrm>
          <a:prstGeom prst="roundRect">
            <a:avLst>
              <a:gd name="adj" fmla="val 20000"/>
            </a:avLst>
          </a:prstGeom>
          <a:solidFill>
            <a:srgbClr val="F6ECDF"/>
          </a:solidFill>
          <a:ln>
            <a:noFill/>
          </a:ln>
        </p:spPr>
        <p:txBody>
          <a:bodyPr anchor="ctr" rtlCol="false" lIns="365760" tIns="45720" rIns="365760" bIns="45720" wrap="square"/>
          <a:lstStyle/>
          <a:p>
            <a:pPr algn="ctr">
              <a:lnSpc>
                <a:spcPts val="2200"/>
              </a:lnSpc>
              <a:spcBef>
                <a:spcPts val="0"/>
              </a:spcBef>
              <a:buNone/>
            </a:pPr>
            <a:r>
              <a:rPr lang="en-US" sz="1700" b="true">
                <a:solidFill>
                  <a:srgbClr val="111111"/>
                </a:solidFill>
                <a:latin typeface="Nunito Semi-Bold"/>
                <a:ea typeface="Nunito Semi-Bold"/>
                <a:cs typeface="Nunito Semi-Bold"/>
                <a:sym typeface="Nunito Semi-Bold"/>
              </a:rPr>
              <a:t>DyHuCoG costs about </a:t>
            </a:r>
            <a:r>
              <a:rPr lang="en-US" sz="1700" b="true">
                <a:solidFill>
                  <a:srgbClr val="111111"/>
                </a:solidFill>
                <a:latin typeface="Nunito Bold"/>
                <a:ea typeface="Nunito Bold"/>
                <a:cs typeface="Nunito Bold"/>
                <a:sym typeface="Nunito Bold"/>
              </a:rPr>
              <a:t>1.78× HPCF</a:t>
            </a:r>
            <a:r>
              <a:rPr lang="en-US" sz="1700" b="true">
                <a:solidFill>
                  <a:srgbClr val="111111"/>
                </a:solidFill>
                <a:latin typeface="Nunito Semi-Bold"/>
                <a:ea typeface="Nunito Semi-Bold"/>
                <a:cs typeface="Nunito Semi-Bold"/>
                <a:sym typeface="Nunito Semi-Bold"/>
              </a:rPr>
              <a:t> in training time and stays under </a:t>
            </a:r>
            <a:r>
              <a:rPr lang="en-US" sz="1700" b="true">
                <a:solidFill>
                  <a:srgbClr val="111111"/>
                </a:solidFill>
                <a:latin typeface="Nunito Bold"/>
                <a:ea typeface="Nunito Bold"/>
                <a:cs typeface="Nunito Bold"/>
                <a:sym typeface="Nunito Bold"/>
              </a:rPr>
              <a:t>2 ms per query</a:t>
            </a:r>
            <a:r>
              <a:rPr lang="en-US" sz="1700" b="true">
                <a:solidFill>
                  <a:srgbClr val="111111"/>
                </a:solidFill>
                <a:latin typeface="Nunito Semi-Bold"/>
                <a:ea typeface="Nunito Semi-Bold"/>
                <a:cs typeface="Nunito Semi-Bold"/>
                <a:sym typeface="Nunito Semi-Bold"/>
              </a:rPr>
              <a:t> on MovieLens-1M; M = 50 permutations is the knee of the accuracy / cost curve, which is why it is the default.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DAHURed54lA</dc:identifier>
  <dcterms:modified xsi:type="dcterms:W3CDTF">2011-08-01T06:04:30Z</dcterms:modified>
  <cp:revision>1</cp:revision>
  <dc:title>Beige Green Modern Illustrative Playful Thesis Defense Presentation</dc:title>
</cp:coreProperties>
</file>