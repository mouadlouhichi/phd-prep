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xml"/><Relationship Id="rId26" Type="http://schemas.openxmlformats.org/officeDocument/2006/relationships/notesMaster" Target="notesMasters/notesMaster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slide" Target="slides/slide14.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 Id="rId45" Type="http://schemas.openxmlformats.org/officeDocument/2006/relationships/slide" Target="slides/slide20.xml"/><Relationship Id="rId46" Type="http://schemas.openxmlformats.org/officeDocument/2006/relationships/slide" Target="slides/slide21.xml"/><Relationship Id="rId47" Type="http://schemas.openxmlformats.org/officeDocument/2006/relationships/slide" Target="slides/slide22.xml"/><Relationship Id="rId48" Type="http://schemas.openxmlformats.org/officeDocument/2006/relationships/slide" Target="slides/slide23.xml"/><Relationship Id="rId49" Type="http://schemas.openxmlformats.org/officeDocument/2006/relationships/slide" Target="slides/slide24.xml"/><Relationship Id="rId50" Type="http://schemas.openxmlformats.org/officeDocument/2006/relationships/slide" Target="slides/slide25.xml"/><Relationship Id="rId51" Type="http://schemas.openxmlformats.org/officeDocument/2006/relationships/slide" Target="slides/slide26.xml"/><Relationship Id="rId52" Type="http://schemas.openxmlformats.org/officeDocument/2006/relationships/slide" Target="slides/slide27.xml"/><Relationship Id="rId53" Type="http://schemas.openxmlformats.org/officeDocument/2006/relationships/slide" Target="slides/slide28.xml"/><Relationship Id="rId54" Type="http://schemas.openxmlformats.org/officeDocument/2006/relationships/slide" Target="slides/slide29.xml"/><Relationship Id="rId55" Type="http://schemas.openxmlformats.org/officeDocument/2006/relationships/slide" Target="slides/slide30.xml"/><Relationship Id="rId56" Type="http://schemas.openxmlformats.org/officeDocument/2006/relationships/slide" Target="slides/slide31.xml"/><Relationship Id="rId57" Type="http://schemas.openxmlformats.org/officeDocument/2006/relationships/slide" Target="slides/slide32.xml"/><Relationship Id="rId58" Type="http://schemas.openxmlformats.org/officeDocument/2006/relationships/slide" Target="slides/slide33.xml"/><Relationship Id="rId59" Type="http://schemas.openxmlformats.org/officeDocument/2006/relationships/slide" Target="slides/slide34.xml"/><Relationship Id="rId60" Type="http://schemas.openxmlformats.org/officeDocument/2006/relationships/slide" Target="slides/slide35.xml"/><Relationship Id="rId61" Type="http://schemas.openxmlformats.org/officeDocument/2006/relationships/slide" Target="slides/slide36.xml"/><Relationship Id="rId62" Type="http://schemas.openxmlformats.org/officeDocument/2006/relationships/slide" Target="slides/slide37.xml"/><Relationship Id="rId63" Type="http://schemas.openxmlformats.org/officeDocument/2006/relationships/slide" Target="slides/slide38.xml"/><Relationship Id="rId64" Type="http://schemas.openxmlformats.org/officeDocument/2006/relationships/slide" Target="slides/slide39.xml"/><Relationship Id="rId65" Type="http://schemas.openxmlformats.org/officeDocument/2006/relationships/slide" Target="slides/slide40.xml"/><Relationship Id="rId66" Type="http://schemas.openxmlformats.org/officeDocument/2006/relationships/slide" Target="slides/slide41.xml"/><Relationship Id="rId67" Type="http://schemas.openxmlformats.org/officeDocument/2006/relationships/slide" Target="slides/slide42.xml"/><Relationship Id="rId68" Type="http://schemas.openxmlformats.org/officeDocument/2006/relationships/slide" Target="slides/slide43.xml"/><Relationship Id="rId69" Type="http://schemas.openxmlformats.org/officeDocument/2006/relationships/slide" Target="slides/slide44.xml"/><Relationship Id="rId70" Type="http://schemas.openxmlformats.org/officeDocument/2006/relationships/slide" Target="slides/slide45.xml"/><Relationship Id="rId71" Type="http://schemas.openxmlformats.org/officeDocument/2006/relationships/slide" Target="slides/slide46.xml"/><Relationship Id="rId72" Type="http://schemas.openxmlformats.org/officeDocument/2006/relationships/slide" Target="slides/slide47.xml"/><Relationship Id="rId73" Type="http://schemas.openxmlformats.org/officeDocument/2006/relationships/slide" Target="slides/slide48.xml"/><Relationship Id="rId74" Type="http://schemas.openxmlformats.org/officeDocument/2006/relationships/slide" Target="slides/slide49.xml"/><Relationship Id="rId75" Type="http://schemas.openxmlformats.org/officeDocument/2006/relationships/slide" Target="slides/slide50.xml"/><Relationship Id="rId76" Type="http://schemas.openxmlformats.org/officeDocument/2006/relationships/slide" Target="slides/slide51.xml"/><Relationship Id="rId77" Type="http://schemas.openxmlformats.org/officeDocument/2006/relationships/slide" Target="slides/slide52.xml"/><Relationship Id="rId78" Type="http://schemas.openxmlformats.org/officeDocument/2006/relationships/slide" Target="slides/slide53.xml"/><Relationship Id="rId79" Type="http://schemas.openxmlformats.org/officeDocument/2006/relationships/slide" Target="slides/slide54.xml"/><Relationship Id="rId80" Type="http://schemas.openxmlformats.org/officeDocument/2006/relationships/slide" Target="slides/slide55.xml"/><Relationship Id="rId81" Type="http://schemas.openxmlformats.org/officeDocument/2006/relationships/slide" Target="slides/slide56.xml"/><Relationship Id="rId82" Type="http://schemas.openxmlformats.org/officeDocument/2006/relationships/slide" Target="slides/slide57.xml"/><Relationship Id="rId83" Type="http://schemas.openxmlformats.org/officeDocument/2006/relationships/slide" Target="slides/slide58.xml"/><Relationship Id="rId84" Type="http://schemas.openxmlformats.org/officeDocument/2006/relationships/slide" Target="slides/slide59.xml"/><Relationship Id="rId85" Type="http://schemas.openxmlformats.org/officeDocument/2006/relationships/slide" Target="slides/slide60.xml"/><Relationship Id="rId86" Type="http://schemas.openxmlformats.org/officeDocument/2006/relationships/slide" Target="slides/slide61.xml"/><Relationship Id="rId87" Type="http://schemas.openxmlformats.org/officeDocument/2006/relationships/slide" Target="slides/slide62.xml"/><Relationship Id="rId88" Type="http://schemas.openxmlformats.org/officeDocument/2006/relationships/slide" Target="slides/slide63.xml"/><Relationship Id="rId89" Type="http://schemas.openxmlformats.org/officeDocument/2006/relationships/slide" Target="slides/slide64.xml"/><Relationship Id="rId90" Type="http://schemas.openxmlformats.org/officeDocument/2006/relationships/slide" Target="slides/slide65.xml"/><Relationship Id="rId91" Type="http://schemas.openxmlformats.org/officeDocument/2006/relationships/slide" Target="slides/slide66.xml"/><Relationship Id="rId92" Type="http://schemas.openxmlformats.org/officeDocument/2006/relationships/slide" Target="slides/slide67.xml"/><Relationship Id="rId93" Type="http://schemas.openxmlformats.org/officeDocument/2006/relationships/slide" Target="slides/slide68.xml"/><Relationship Id="rId94" Type="http://schemas.openxmlformats.org/officeDocument/2006/relationships/slide" Target="slides/slide69.xml"/><Relationship Id="rId95" Type="http://schemas.openxmlformats.org/officeDocument/2006/relationships/slide" Target="slides/slide70.xml"/><Relationship Id="rId96" Type="http://schemas.openxmlformats.org/officeDocument/2006/relationships/slide" Target="slides/slide71.xml"/><Relationship Id="rId97" Type="http://schemas.openxmlformats.org/officeDocument/2006/relationships/slide" Target="slides/slide72.xml"/><Relationship Id="rId98" Type="http://schemas.openxmlformats.org/officeDocument/2006/relationships/slide" Target="slides/slide73.xml"/><Relationship Id="rId99" Type="http://schemas.openxmlformats.org/officeDocument/2006/relationships/slide" Target="slides/slide74.xml"/><Relationship Id="rId100" Type="http://schemas.openxmlformats.org/officeDocument/2006/relationships/slide" Target="slides/slide75.xml"/><Relationship Id="rId101" Type="http://schemas.openxmlformats.org/officeDocument/2006/relationships/slide" Target="slides/slide76.xml"/><Relationship Id="rId102" Type="http://schemas.openxmlformats.org/officeDocument/2006/relationships/slide" Target="slides/slide77.xml"/><Relationship Id="rId103" Type="http://schemas.openxmlformats.org/officeDocument/2006/relationships/slide" Target="slides/slide78.xml"/><Relationship Id="rId104"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giving me the opportunity to present my work today.</a:t>
            </a:r>
          </a:p>
          <a:p/>
          <a:p>
            <a:r>
              <a:t>My name is Mouad Louhichi, and the thesis I am defending, supervised by Professor Mohamed Lazaar, is entitled: "Cooperative Game Theory for Explainable Artificial Intelligence in Recommendation Systems: A Shapley Framework for Actionable Insight."</a:t>
            </a:r>
          </a:p>
          <a:p/>
          <a:p>
            <a:r>
              <a:t>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this presentation. I'll start with the Introduction, then the Context and Problematic, and the Experimental Protocol.</a:t>
            </a:r>
          </a:p>
          <a:p/>
          <a:p>
            <a:r>
              <a:t>Then the three contributions, each following the same path: the gap, the objectives, the methodology, the protocol, the results and the findings.</a:t>
            </a:r>
          </a:p>
          <a:p/>
          <a:p>
            <a:r>
              <a:t>And finally I'll finish with the Conclusion and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a:t>
            </a:r>
          </a:p>
          <a:p/>
          <a:p>
            <a:r>
              <a:t>The first question I would like to address is: why has explainability become a core requirement for modern recommendation systems?</a:t>
            </a:r>
          </a:p>
          <a:p/>
          <a:p>
            <a:r>
              <a:t>Time check: minute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comes down to three questions.</a:t>
            </a:r>
          </a:p>
          <a:p/>
          <a:p>
            <a:r>
              <a:t>First, how do black-box systems shape what billions of users see, buy and watch? Recommenders already influence news, study, health and credit decisions.</a:t>
            </a:r>
          </a:p>
          <a:p/>
          <a:p>
            <a:r>
              <a:t>Second, why do state-of-the-art recommenders and clustering pipelines stay black boxes for users and designers? Deep and graph models hide their logic and are hard to audit.</a:t>
            </a:r>
          </a:p>
          <a:p/>
          <a:p>
            <a:r>
              <a:t>Third, how can transparency be built into the model instead of added afterwards? That is the tension on this slide: as models gain power, they lose the transparency we need. This thesis treats accuracy and interpretability as two goals to be met together, not traded against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a:t>
            </a:r>
          </a:p>
          <a:p/>
          <a:p>
            <a:r>
              <a:t>An explanation is actionable when it points to something we can actually change, and when changing it clearly affects the model output.</a:t>
            </a:r>
          </a:p>
          <a:p/>
          <a:p>
            <a:r>
              <a:t>It should also speak the language of the domain, like acidity in wine, pollution indicators in air quality, or user preferences in recommendation.</a:t>
            </a:r>
          </a:p>
          <a:p/>
          <a:p>
            <a:r>
              <a:t>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this in context.</a:t>
            </a:r>
          </a:p>
          <a:p/>
          <a:p>
            <a:r>
              <a:t>Recommendation systems started with similarity models, then matrix factorisation, then neural and graph models, and now hypergraphs. Each step made the ranking stronger, and each step hid more of the reasoning. So the gap keeps growing: the models do more, and we can explain less.</a:t>
            </a:r>
          </a:p>
          <a:p/>
          <a:p>
            <a:r>
              <a:t>Why does this matter? Three reasons. Users get outputs without any reason, so trust drops. Designers cannot debug what they cannot inspect. And regulators now ask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systems are not only theoretical models. They are already part of everyday applications.</a:t>
            </a:r>
          </a:p>
          <a:p/>
          <a:p>
            <a:r>
              <a:t>Netflix, Spotify, Amazon and Yelp use recommendation to personalize the experience of millions of users.</a:t>
            </a:r>
          </a:p>
          <a:p/>
          <a:p>
            <a:r>
              <a:t>The performance is impressive, but the reasoning behind each suggestion stays hidden from the user.</a:t>
            </a:r>
          </a:p>
          <a:p/>
          <a:p>
            <a:r>
              <a:t>Everywhere, and hidden: that is exactly the gap this thesis targets.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a:t>
            </a:r>
          </a:p>
          <a:p/>
          <a:p>
            <a:r>
              <a:t>To understand where the difficulty comes from, I will briefly review the main recommendation approaches and explain their respective limitations.</a:t>
            </a:r>
          </a:p>
          <a:p/>
          <a:p>
            <a:r>
              <a:t>Time check: about minute five.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evolution, several limits appear. Data sparsity, because the interaction matrix is almost empty. Cold-start, when new users or items have no history. Popularity bias, where exposure follows exposure. And above all, the absence of interpretability, which for clustering is even harder, because local and global explanations rarely agree.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structural limitations are on this slide, and they are what this thesis works on.</a:t>
            </a:r>
          </a:p>
          <a:p/>
          <a:p>
            <a:r>
              <a:t>Lack of explainability: complex models are still hard to explain faithfully and actionably.</a:t>
            </a:r>
          </a:p>
          <a:p/>
          <a:p>
            <a:r>
              <a:t>Difficulty of scaling: a local explanation does not carry over to a multi-level structure, or to hundreds of thousands of records.</a:t>
            </a:r>
          </a:p>
          <a:p/>
          <a:p>
            <a:r>
              <a:t>Weak integration into learning: most explanations stay post-hoc, so they never shape how the model learns, nor how it handles the accuracy, diversity and context trade-off.</a:t>
            </a:r>
          </a:p>
          <a:p/>
          <a:p>
            <a:r>
              <a:t>The gap is the orange box: the literature still lacks one cooperative-attribution framework that explains clustering faithfully, stays consistent across levels, and then works as an in-training signal in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questions structure the work, and the slide maps each one to a contribution.</a:t>
            </a:r>
          </a:p>
          <a:p/>
          <a:p>
            <a:r>
              <a:t>RQ1: can Shapley values explain black-box clustering faithfully, at instance level and at cluster level? RQ2: can this extend to large-scale, multi-level clustering while staying feasible and consistent? RQ3: can cooperative attribution move beyond post-hoc and become part of how a recommender learns? RQ4: can ranking, context and diversity improve together when importance comes from a cooperative-game utility? RQ5: what does one cooperative-game view bring to both tasks?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thesis is three contributions that build on each other.</a:t>
            </a:r>
          </a:p>
          <a:p/>
          <a:p>
            <a:r>
              <a:t>C1 explains a black-box partition: the features are the players, the Silhouette of the clustering is the value function, and a LightGBM surrogate with TreeSHAP brings the attribution back to the original variables.</a:t>
            </a:r>
          </a:p>
          <a:p/>
          <a:p>
            <a:r>
              <a:t>C2 keeps that explanation consistent across levels and at scale, through the cross-level aggregation of Proposition 6.1.</a:t>
            </a:r>
          </a:p>
          <a:p/>
          <a:p>
            <a:r>
              <a:t>C3, DyHuCoG, moves attribution inside the model: preference-aware Monte Carlo Shapley becomes an in-training signal on a hypergraph.</a:t>
            </a:r>
          </a:p>
          <a:p/>
          <a:p>
            <a:r>
              <a:t>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a:t>
            </a:r>
          </a:p>
          <a:p/>
          <a:p>
            <a:r>
              <a:t>The objective is to make the evaluation consistent and reproducible across all experiments.</a:t>
            </a:r>
          </a:p>
          <a:p/>
          <a:p>
            <a:r>
              <a:t>I will present the datasets, the baselines, the evaluation metrics, and the computational environment.</a:t>
            </a:r>
          </a:p>
          <a:p/>
          <a:p>
            <a:r>
              <a:t>Time check: about minute ten.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the prevention of data leakage are central to the design, as the slide summarises.</a:t>
            </a:r>
          </a:p>
          <a:p/>
          <a:p>
            <a:r>
              <a:t>For clustering, five-fold cross-validation checks the surrogate and attribution stability, features are standardised, k is chosen by elbow, Silhouette and Davies-Bouldin, and the surrogate must pass a fidelity floor of macro-F1 around 0.82.</a:t>
            </a:r>
          </a:p>
          <a:p/>
          <a:p>
            <a:r>
              <a:t>For recommendation, the split is user-level and time-ordered, 70 train, 10 validation and 20 test, with a leave-one-out target, ratings above 3 as positive, and seeds 42 to 46 with early stopping.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baselines cover four families, so the effect of cooperative attribution is not confused with a lucky model choice.</a:t>
            </a:r>
          </a:p>
          <a:p/>
          <a:p>
            <a:r>
              <a:t>For clustering explanation, the comparison is the LIME surrogate pipeline. For recommendation, the slide lists MF, NCF, LightGCN, RecDCL, HCCF and HPCF, and HPCF is the strongest reference.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computational environment: clustering experiments ran on a standard workstation, while DyHuCoG training used an RTX 4090 GPU.</a:t>
            </a:r>
          </a:p>
          <a:p/>
          <a:p>
            <a:r>
              <a:t>These configurations let us evaluate performance and scalability in realistic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a:t>
            </a:r>
          </a:p>
          <a:p/>
          <a:p>
            <a:r>
              <a:t>The objective here is to answer the following question: can we explain the decisions of a black-box clustering model using a principled attribution method?</a:t>
            </a:r>
          </a:p>
          <a:p/>
          <a:p>
            <a:r>
              <a:t>Time check: about minute fourteen.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a:t>
            </a:r>
          </a:p>
          <a:p/>
          <a:p>
            <a:r>
              <a:t>Unlike supervised learning, clustering has no predefined target variable. The model discovers groups directly from the data, which makes the reason behind each cluster harder to understand.</a:t>
            </a:r>
          </a:p>
          <a:p/>
          <a:p>
            <a:r>
              <a:t>Existing explanation approaches focus either on individual instances or on global cluster descriptions, but rarely provide both levels at once.</a:t>
            </a:r>
          </a:p>
          <a:p/>
          <a:p>
            <a:r>
              <a:t>Therefore,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Provide a cluster-level explanation that keeps feature-level attribution. Keep that attribution in the original variables, because explanations are only useful when domain experts can read them. And justify why the cooperative concept, rather than a local surrogate, is the right attribution rule.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surrogate? Direct TreeSHAP on K-Means is impossible, because TreeSHAP explains tree models, not centroids, and explaining the PCA representation would move the attribution away from the interpretable variables. So the pipeline is four steps: K-Means labels, a LightGBM surrogate that predicts them from the original features, TreeSHAP on that surrogate, and then global importance, cluster profiles and local force plots. The bridge is valid only while the surrogate stays faithful: the floor is macro-F1 about 0.82.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and the slide shows the trade-off.</a:t>
            </a:r>
          </a:p>
          <a:p/>
          <a:p>
            <a:r>
              <a:t>Geometrically, k = 2 wins, with Silhouette 0.214 and Davies-Bouldin 1.775, against 0.144 and 2.097 for k = 3.</a:t>
            </a:r>
          </a:p>
          <a:p/>
          <a:p>
            <a:r>
              <a:t>But k = 3 is selected because three clusters give a richer, more meaningful wine partition, so more actionable explanations. Interpretability outranks geometry. And the 0.63 Silhouette you will see later belongs to Beijing, not to this partition.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ranking is chemically readable: density first, then pH, fixed acidity, sulfur dioxide and alcohol. Density and pH separate wine styles, sulfur dioxide reflects preservation, alcohol shapes body. This is not a side effect of the classifier: the surrogate reproduces the partition from the original variables, and every driver is something a wine maker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RQ1. Shapley values can explain a black-box partition when the surrogate is faithful, at cluster level and at instance level, in the original variables. Compared with LIME, the advantage is the formal cooperative-game foundation: efficiency, symmetry, null player and additivity.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a:t>
            </a:r>
          </a:p>
          <a:p/>
          <a:p>
            <a:r>
              <a:t>The approach provides explanations at different levels while maintaining the meaning of the original variables.</a:t>
            </a:r>
          </a:p>
          <a:p/>
          <a:p>
            <a:r>
              <a:t>Therefore,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first contribution also presents some limitations.</a:t>
            </a:r>
          </a:p>
          <a:p/>
          <a:p>
            <a:r>
              <a:t>First, the quality of the explanation depends on the fidelity of the surrogate model.</a:t>
            </a:r>
          </a:p>
          <a:p/>
          <a:p>
            <a:r>
              <a:t>Second, the evaluation is performed on tabular data, so the generalization to other data types remains open.</a:t>
            </a:r>
          </a:p>
          <a:p/>
          <a:p>
            <a:r>
              <a:t>Finally, the explanation remains single-level. It explains one clustering structure, but does not explain how feature importance changes across different levels of organization.</a:t>
            </a:r>
          </a:p>
          <a:p/>
          <a:p>
            <a:r>
              <a:t>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Shapley attribution is a principled way to explain an unsupervised model, and keeping it in the original feature space is what makes it actionable. But real data are rarely single-level: broad groups contain nested sub-groups. That is the next question.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a:t>
            </a:r>
          </a:p>
          <a:p/>
          <a:p>
            <a:r>
              <a:t>The objective is to extend Shapley-based explanation from single-level clustering to large-scale and multi-level clustering.</a:t>
            </a:r>
          </a:p>
          <a:p/>
          <a:p>
            <a:r>
              <a:t>This contribution addresses the second research question.</a:t>
            </a:r>
          </a:p>
          <a:p/>
          <a:p>
            <a:r>
              <a:t>Time check: about minute twenty.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difficulty is scale and consistency together. When a large cluster is divided, the explanation must stay readable for the parent, for each child, and across levels. Existing hierarchical work reports structure but gives no formal link between a parent explanation and its children: that missing link is the research gap.</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objectives. Build a genuine multi-level workflow, with a surrogate per level rather than a rerun of the single-level pipeline. Provide a formal consistency argument, Proposition 6.1, that relates parent and child importance. And validate at scale on new data: the Beijing air quality records, a domain far from wine.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is recursive. The full dataset is partitioned into coarse clusters, then each cluster can be divided again. At every level a surrogate is trained and SHAP is computed in the same original feature space, so importance stays comparable across levels. The aggregation is not a naive average: it respects cluster size and the nesting structure.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Proposition 6.1 is the theoretical core: the expected absolute importance of a feature at the parent level equals the size-weighted expectation over its children, plus a residual induced by surrogate approximation, which vanishes under perfect fidelity. It does not say that explanations are identical across levels; it says the differences can be interpreted rather than dismissed as inconsistency.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with a Silhouette score of about 0.63 and a Davies-Bouldin score around 0.55.</a:t>
            </a:r>
          </a:p>
          <a:p/>
          <a:p>
            <a:r>
              <a:t>And the stability analysis shows the conclusions remain consistent under changes in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gives an interesting environmental interpretation.</a:t>
            </a:r>
          </a:p>
          <a:p/>
          <a:p>
            <a:r>
              <a:t>The most important variables are temperature, dew point, and pressure, followed by pollutants such as carbon monoxide, nitrogen dioxide, and particulate matter.</a:t>
            </a:r>
          </a:p>
          <a:p/>
          <a:p>
            <a:r>
              <a:t>Pollution patterns are not determined by pollutant concentrations alone.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figure is where the multi-level view earns its keep. At the coarse level, temperature and dew point dominate because they separate the broad regimes: that is regime selection. Inside a cluster, other variables become informative, CO, SO2, PM10, wind speed, pressure or ozone: that is variation within a regime. The change is not a contradiction; it is what Proposition 6.1 makes interpretable.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a:t>
            </a:r>
          </a:p>
          <a:p/>
          <a:p>
            <a:r>
              <a:t>Shapley explanations can be extended to large-scale and multi-level clustering when the hierarchy is explicitly defined and the approximation process is transparent.</a:t>
            </a:r>
          </a:p>
          <a:p/>
          <a:p>
            <a:r>
              <a:t>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a:t>
            </a:r>
          </a:p>
          <a:p/>
          <a:p>
            <a:r>
              <a:t>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limitations remain. The clustering process is still static, although the air quality data have a temporal dimension. The explanations still depend on surrogate models. And most importantly, attribution is still post-hoc: it explains what the model has learned, but it does not take part in the learning itself. That is what opens Contribution III.</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Contribution II therefore delivers explanations that scale and stay consistent across levels, but the pipeline is still static. Preferences change over time, and nothing here adapts to that. That open point is exactly what Contribution III takes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a:t>
            </a:r>
          </a:p>
          <a:p/>
          <a:p>
            <a:r>
              <a:t>This contribution represents the main transition of the thesis.</a:t>
            </a:r>
          </a:p>
          <a:p/>
          <a:p>
            <a:r>
              <a:t>In the first two contributions, Shapley values were used to explain models after they were trained.</a:t>
            </a:r>
          </a:p>
          <a:p/>
          <a:p>
            <a:r>
              <a:t>Here, the objective is different: can attribution become part of the learning process itself?</a:t>
            </a:r>
          </a:p>
          <a:p/>
          <a:p>
            <a:r>
              <a:t>Time check: about minute twenty-six.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in existing models is that message importance is uniform or attention-weighted, with no marginal-contribution account, diversity is a re-ranking heuristic, and interpretability is added after prediction. Contributions I and II showed that Shapley attribution is faithful, but still post-hoc: it never changed what the model learned. That is what DyHuCoG changes.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research questions, shown at the top of the slide: can cooperative attribution become part of how a recommender learns, and can it improve ranking, context and diversity together?</a:t>
            </a:r>
          </a:p>
          <a:p/>
          <a:p>
            <a:r>
              <a:t>Three objectives answer them. First, model recommendation as a cooperative game over users, items and contexts, where the coalition utility mixes accuracy, diversity and context. Second, put preference-aware Monte Carlo Shapley inside message passing, as dynamic hyperedge weights. Third, show that ranking, coverage and diversity improve together on two datasets.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the idea, recommendation is represented as a cooperative game. The players are the users, the items and the contexts of an episode, and their interactions are hyperedges, which allows higher-order relations. Each entity's contribution is estimated with Shapley values, so the model learns not only that a relationship exists, but how much it is worth for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impossible for large recommendation systems, because the number of coalitions grows exponentially with the number of players. So DyHuCoG samples a limited number of permutations and averages the marginal contributions, which preserves the main properties of the estimator. The table gives accuracy against a high-sample reference, not against the exact values: 25 samples already reach about 98 percent, and M = 50 reaches about 99, so 50 is the balance point rather than the cheapest option.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a:t>
            </a:r>
          </a:p>
          <a:p/>
          <a:p>
            <a:r>
              <a:t>The model starts from a hypergraph recommendation structure where information is propagated through message passing.</a:t>
            </a:r>
          </a:p>
          <a:p/>
          <a:p>
            <a:r>
              <a:t>The main modification is the introduction of Shapley-based weights inside this propagation process.</a:t>
            </a:r>
          </a:p>
          <a:p/>
          <a:p>
            <a:r>
              <a:t>Important relationships receive stronger influence, while less informative relationships contribute less.</a:t>
            </a:r>
          </a:p>
          <a:p/>
          <a:p>
            <a:r>
              <a:t>An attention mechanism is also introduced to stabilize the learning process.</a:t>
            </a:r>
          </a:p>
          <a:p/>
          <a:p>
            <a:r>
              <a:t>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a:t>
            </a:r>
          </a:p>
          <a:p/>
          <a:p>
            <a:r>
              <a:t>Compared with the strongest baseline, HPCF, the NDCG score improves from 0.2528 to 0.2775, about 9.8 percent, and Recall improves as well, from 0.2098 to 0.2362.</a:t>
            </a:r>
          </a:p>
          <a:p/>
          <a:p>
            <a:r>
              <a:t>Coverage and diversity stay higher too, so the gain does not come from pushing popular items: the variety of the recommendations is preserved.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a much more challenging sparse recommendation scenario.</a:t>
            </a:r>
          </a:p>
          <a:p/>
          <a:p>
            <a:r>
              <a:t>Despite the higher difficulty, DyHuCoG continues to outperform the baselines, and the improvement over HPCF reaches approximately 13.3 percent in NDCG.</a:t>
            </a:r>
          </a:p>
          <a:p/>
          <a:p>
            <a:r>
              <a:t>So cooperative attribution remains useful even when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ablation removes one component at a time, and every component matters. Context is the largest drop, so contextual signals are the substrate; the hypergraph structure comes next; removing Shapley weighting costs 4.6 percent on MovieLens-1M and 6.1 percent on Amazon-Book. So cooperative attribution contributes directly to learning, and more so when the data are sparser.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a:t>
            </a:r>
          </a:p>
          <a:p/>
          <a:p>
            <a:r>
              <a:t>DyHuCoG requires more training time than traditional hypergraph recommenders because attribution is computed during learning, while inference stays practical.</a:t>
            </a:r>
          </a:p>
          <a:p/>
          <a:p>
            <a:r>
              <a:t>Concretely, training takes about 1.78 times HPCF on MovieLens-1M, and inference stays at 1.84 milliseconds per query, suitable for real-time use.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performed with paired tests on per-user results.</a:t>
            </a:r>
          </a:p>
          <a:p/>
          <a:p>
            <a:r>
              <a:t>The tests confirm that the improvements over the baselines are significant, and the effect sizes show that the gain is practically meaningful.</a:t>
            </a:r>
          </a:p>
          <a:p/>
          <a:p>
            <a:r>
              <a:t>The slide gives the figures: t = 46.38, a Cohen's d of 1.33, significant after Holm-Bonferroni correction.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answer RQ3 and RQ4. Shapley attribution can move beyond post-hoc and become part of the learning process, and ranking, coverage and diversity improve together on both datasets, with the largest gains where the data are sparsest. Attribution becomes not only an explanation mechanism, but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attribution is used while the model learns. The ablation shows it matters, removing Shapley weighting costs 4.6 percent on MovieLens-1M and 6.1 percent on Amazon-Book. On MovieLens-1M the improvement is statistically solid, t equals 46.38 with an effect size of 1.33 after Holm correction; on Amazon-Book I report the same ordering as a descriptive gain over five seeds.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this contribution also has limitations.</a:t>
            </a:r>
          </a:p>
          <a:p/>
          <a:p>
            <a:r>
              <a:t>First, the integration of Shapley estimation increases computational cost.</a:t>
            </a:r>
          </a:p>
          <a:p/>
          <a:p>
            <a:r>
              <a:t>Second, the effectiveness of the approach depends on the availability of meaningful contextual information.</a:t>
            </a:r>
          </a:p>
          <a:p/>
          <a:p>
            <a:r>
              <a:t>Third, Monte Carlo estimation can still be improved through more advanced sampling strategies.</a:t>
            </a:r>
          </a:p>
          <a:p/>
          <a:p>
            <a:r>
              <a:t>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a:t>
            </a:r>
          </a:p>
          <a:p/>
          <a:p>
            <a:r>
              <a:t>Explanation is no longer only an observation after the model is built.</a:t>
            </a:r>
          </a:p>
          <a:p/>
          <a:p>
            <a:r>
              <a:t>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bring everything together: the synthesis, the publications, the limitations, the perspectives, and then the thesis answer.</a:t>
            </a:r>
          </a:p>
          <a:p/>
          <a:p>
            <a:r>
              <a:t>Before the closing claim, I want to state the limitations honestly, and the perspectives they open.</a:t>
            </a:r>
          </a:p>
          <a:p/>
          <a:p>
            <a:r>
              <a:t>Time check: about minute thirty-four.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thesis in one view.</a:t>
            </a:r>
          </a:p>
          <a:p/>
          <a:p>
            <a:r>
              <a:t>C1 explains a black-box partition with Shapley attribution. C2 keeps that explanation consistent across levels at scale. C3, DyHuCoG, uses attribution as an in-training signal, and improves accuracy, coverage and diversity together.</a:t>
            </a:r>
          </a:p>
          <a:p/>
          <a:p>
            <a:r>
              <a:t>Read across the three rows, the same logic moves from post-hoc description to in-training guidance: explain, scale, guide.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a:t>
            </a:r>
          </a:p>
          <a:p/>
          <a:p>
            <a:r>
              <a:t>These publications correspond to the three main stages of the thesis: explainable clustering, multi-level explainability, and cooperative recommendation learning.</a:t>
            </a:r>
          </a:p>
          <a:p/>
          <a:p>
            <a:r>
              <a:t>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a:t>
            </a:r>
          </a:p>
          <a:p/>
          <a:p>
            <a:r>
              <a:t>First, exact Shapley computation remains expensive, requiring approximation methods.</a:t>
            </a:r>
          </a:p>
          <a:p/>
          <a:p>
            <a:r>
              <a:t>Second, surrogate-based explanations depend on the quality of the approximation.</a:t>
            </a:r>
          </a:p>
          <a:p/>
          <a:p>
            <a:r>
              <a:t>Third, the current experiments are mainly offline and based on benchmark datasets.</a:t>
            </a:r>
          </a:p>
          <a:p/>
          <a:p>
            <a:r>
              <a:t>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limitations become an agenda, and I see four directions.</a:t>
            </a:r>
          </a:p>
          <a:p/>
          <a:p>
            <a:r>
              <a:t>More scalable cooperative attribution: lower-variance Shapley estimators, learned proposal distributions and adaptive refresh rules.</a:t>
            </a:r>
          </a:p>
          <a:p/>
          <a:p>
            <a:r>
              <a:t>Truly online and streaming recommendation, with changing graphs and delayed feedback, which also removes the static-graph assumption.</a:t>
            </a:r>
          </a:p>
          <a:p/>
          <a:p>
            <a:r>
              <a:t>Richer user-centred evaluation: do explanations measurably improve judgement, trust and perceived fairness?</a:t>
            </a:r>
          </a:p>
          <a:p/>
          <a:p>
            <a:r>
              <a:t>And broader trustworthy-AI evaluation, including exposure fairness and auditing for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answer is in the orange box: cooperative game theory can serve as a shared methodological view for actionable explanation across clustering and recommendation.</a:t>
            </a:r>
          </a:p>
          <a:p/>
          <a:p>
            <a:r>
              <a:t>Four outcomes support it: a common formal language for assigning importance to features, interactions and contexts; faithful clustering explanation and consistent multi-level explanation; explanation as a method rather than a comment added later; and alignment with the expectations of the AI Act, the OECD principles and the GDPR.</a:t>
            </a:r>
          </a:p>
          <a:p/>
          <a:p>
            <a:r>
              <a:t>Explanation does not have to remain a description of what happened. It can help us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the two reference slides lists the foundations of this work: my own three papers, Shapley, SHAP, TreeSHAP, LIME, and the recommender baselines from matrix factorisation to HPCF.</a:t>
            </a:r>
          </a:p>
          <a:p/>
          <a:p>
            <a:r>
              <a:t>I will not discuss them individually, but they are the scientific foundations of the three contributions.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the methodology, the theoretical foundations, or the experimental results.</a:t>
            </a:r>
          </a:p>
          <a:p/>
          <a:p>
            <a:r>
              <a:t>I will stay on the closing slide for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a:t>
            </a:r>
          </a:p>
          <a:p/>
          <a:p>
            <a:r>
              <a:t>The principle is simple: the system recommends items according to their characteristics and the user's previous preferences.</a:t>
            </a:r>
          </a:p>
          <a:p/>
          <a:p>
            <a:r>
              <a:t>The main advantage of this approach is that it is naturally explainable. The recommendation can be linked to visible features that users and experts can understand.</a:t>
            </a:r>
          </a:p>
          <a:p/>
          <a:p>
            <a:r>
              <a:t>However,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a:t>
            </a:r>
          </a:p>
          <a:p/>
          <a:p>
            <a:r>
              <a:t>Here, the system does not rely on item features, but instead learns from the behaviour and preferences of similar users.</a:t>
            </a:r>
          </a:p>
          <a:p/>
          <a:p>
            <a:r>
              <a:t>This idea has been extremely successful because it can discover hidden patterns from user-item interactions.</a:t>
            </a:r>
          </a:p>
          <a:p/>
          <a:p>
            <a:r>
              <a:t>However,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a:t>
            </a:r>
          </a:p>
          <a:p/>
          <a:p>
            <a:r>
              <a:t>Hybrid systems combine different sources of information to reduce the limitations of individual methods.</a:t>
            </a:r>
          </a:p>
          <a:p/>
          <a:p>
            <a:r>
              <a:t>Matrix factorization became one of the most successful approaches because it provides accurate and scalable recommendations.</a:t>
            </a:r>
          </a:p>
          <a:p/>
          <a:p>
            <a:r>
              <a:t>However, the learned user and item factors are latent representations. They improve prediction performance, but their meaning is usually unknown.</a:t>
            </a:r>
          </a:p>
          <a:p/>
          <a:p>
            <a:r>
              <a:t>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one that is most important for this thesis, is graph-based and hypergraph recommendation.</a:t>
            </a:r>
          </a:p>
          <a:p/>
          <a:p>
            <a:r>
              <a:t>These approaches represent users, items and their interactions as nodes and edges in a graph, and they use message passing, as in LightGCN, HCCF and HPCF, so that information reaches multi-hop neighbours.</a:t>
            </a:r>
          </a:p>
          <a:p/>
          <a:p>
            <a:r>
              <a:t>Hypergraphs go one step further: a single hyperedge can connect a user, an item and a context at the same time, which is why they reach state of the art on sparse benchmarks such as MovieLens-1M and Amazon-Book.</a:t>
            </a:r>
          </a:p>
          <a:p/>
          <a:p>
            <a:r>
              <a:t>The price: large graphs cost compute and memory, and every message is treated as equally important, so which relationships mattered stays hidden. That hidden importance is the gap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in this thesis, covering both clustering and recommendation tasks.</a:t>
            </a:r>
          </a:p>
          <a:p/>
          <a:p>
            <a:r>
              <a:t>For clustering, I use Wine Quality and Beijing Air Quality. The first checks whether explanations stay connected to meaningful physical variables. The second provides a larger and more complex scenario for scalability and multi-level explanations.</a:t>
            </a:r>
          </a:p>
          <a:p/>
          <a:p>
            <a:r>
              <a:t>The first dataset is the Portuguese White Wine Quality dataset.</a:t>
            </a:r>
          </a:p>
          <a:p/>
          <a:p>
            <a:r>
              <a:t>It contains 4,898 samples described by 11 physicochemical measurements, including acidity, density, sulphates, and alcohol.</a:t>
            </a:r>
          </a:p>
          <a:p/>
          <a:p>
            <a:r>
              <a:t>It suits the first contribution because every variable has a clear meaning in the chemistry of wine.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with 383,585 hourly records.</a:t>
            </a:r>
          </a:p>
          <a:p/>
          <a:p>
            <a:r>
              <a:t>The slide lists the 11 modelling variables: six pollutants and five weather variables.</a:t>
            </a:r>
          </a:p>
          <a:p/>
          <a:p>
            <a:r>
              <a:t>It provides a much larger and more complex scenario, used to test scalability and multi-level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recommendation benchmark is MovieLens-1M: about one million ratings from 6,040 users on 3,706 movies, with a density near 0.045.</a:t>
            </a:r>
          </a:p>
          <a:p/>
          <a:p>
            <a:r>
              <a:t>It is the standard benchmark of the field, so the comparison with LightGCN, HCCF and HPCF is directly readable.</a:t>
            </a:r>
          </a:p>
          <a:p/>
          <a:p>
            <a:r>
              <a:t>Ratings above 3 become positive implicit feedback, and the genre is used as the context proxy.</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benchmark is Amazon-Book: 52,643 users, 91,599 books and about three million interactions, so the density is near 0.0006 and the user-item matrix is almost empty.</a:t>
            </a:r>
          </a:p>
          <a:p/>
          <a:p>
            <a:r>
              <a:t>I include it to test whether Shapley-guided weighting helps most when the signal is weakest, and it is the large-scale benchmark of Contribution III.</a:t>
            </a:r>
          </a:p>
          <a:p/>
          <a:p>
            <a:r>
              <a:t>That gap between 0.045 and 0.0006 is the core of the robustness argument.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metrics answer different questions. For recommendation, NDCG@20 is the main ranking measure, and coverage and intra-list diversity matter because quality is not only accuracy. For clustering, Silhouette and Davies-Bouldin judge the partitions, and they are also the value function of the clustering game.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a:t>
            </a:r>
          </a:p>
          <a:p/>
          <a:p>
            <a:r>
              <a:t>A cooperative game has players, the coalitions between them, and a value function that measures what each coalition creates on its own. On the slide, the band example: alone, Guitar, Voice and Drums earn 60, 40 and 20, reach 140 as a duo, and 200 as the whole band; Guitar and Drums together are worth 100.</a:t>
            </a:r>
          </a:p>
          <a:p/>
          <a:p>
            <a:r>
              <a:t>The Shapley value shares the total fairly, as the average marginal contribution over every arrival order: one order adds 40, then 40, then 120, and the average over the six orders is 90, 70, 40. As the orange bar states, it is the only rule satisfying the four axioms at once.</a:t>
            </a:r>
          </a:p>
          <a:p/>
          <a:p>
            <a:r>
              <a:t>In this thesis, the players are the input features and the value function is the Silhouette of the clustering.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for this contribution is straightforward. We compare SHAP and LIME on stability and cross-cluster comparability, and we check the global ranking against the known chemistry of the wine.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protocol keeps the same principles as Contribution I, with two changes. First, clustering runs on the full Beijing dataset. Second, each level gets its own surrogate, and the explanations are then aggregated across levels with size weights, followed by a sensitivity check on k, projection dimension and surrogate depth.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protocol for the recommendation study. Two datasets: MovieLens-1M as the dense benchmark and Amazon-Book as the sparse one, with Yelp2018 as an auxiliary check. The split is user-level and time-ordered, 70, 10 and 20, with a leave-one-out target, and ratings above 3 are positives. Six baselines from four model families, four metrics with NDCG@20 as the main one, five seeds, and a component-wise ablation.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reference slide completes the list: the datasets, the evaluation metrics, the AI Act and OECD texts, and the related work with the team.</a:t>
            </a:r>
          </a:p>
          <a:p/>
          <a:p>
            <a:r>
              <a:t>Taken together, these two slides are the full bibliography of the thesis.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a:t>
            </a:r>
          </a:p>
          <a:p/>
          <a:p>
            <a:r>
              <a:t>I would be pleased to answer your questions and discuss any aspect of this work, including the methodology, theoretical foundations, or experimental results.</a:t>
            </a:r>
          </a:p>
          <a:p/>
          <a:p>
            <a:r>
              <a:t>(Pre-defence check: confirm the jury list on this slide against the official convocation.)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 part of the main flow. Shown only during the discussion if asked.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xml"/><Relationship Id="rId5" Type="http://schemas.openxmlformats.org/officeDocument/2006/relationships/image" Target="../media/image5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7.xml"/><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notesSlide" Target="../notesSlides/notesSlide6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image" Target="../media/image62.png"/><Relationship Id="rId5" Type="http://schemas.openxmlformats.org/officeDocument/2006/relationships/notesSlide" Target="../notesSlides/notesSlide6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3.png"/><Relationship Id="rId5" Type="http://schemas.openxmlformats.org/officeDocument/2006/relationships/notesSlide" Target="../notesSlides/notesSlide6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image" Target="../media/image64.png"/><Relationship Id="rId5" Type="http://schemas.openxmlformats.org/officeDocument/2006/relationships/notesSlide" Target="../notesSlides/notesSlide6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6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6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image" Target="../media/image68.png"/><Relationship Id="rId8" Type="http://schemas.openxmlformats.org/officeDocument/2006/relationships/image" Target="../media/image69.png"/><Relationship Id="rId9" Type="http://schemas.openxmlformats.org/officeDocument/2006/relationships/image" Target="../media/image70.png"/><Relationship Id="rId10" Type="http://schemas.openxmlformats.org/officeDocument/2006/relationships/notesSlide" Target="../notesSlides/notesSlide7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image" Target="../media/image71.png"/><Relationship Id="rId5" Type="http://schemas.openxmlformats.org/officeDocument/2006/relationships/image" Target="../media/image72.png"/><Relationship Id="rId6" Type="http://schemas.openxmlformats.org/officeDocument/2006/relationships/notesSlide" Target="../notesSlides/notesSlide7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22.xml"/><Relationship Id="rId5" Type="http://schemas.openxmlformats.org/officeDocument/2006/relationships/image" Target="../media/image73.png"/><Relationship Id="rId6" Type="http://schemas.openxmlformats.org/officeDocument/2006/relationships/image" Target="../media/image7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2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30.xml"/><Relationship Id="rId5" Type="http://schemas.openxmlformats.org/officeDocument/2006/relationships/image" Target="../media/image75.png"/><Relationship Id="rId6" Type="http://schemas.openxmlformats.org/officeDocument/2006/relationships/image" Target="../media/image7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31.xml"/><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7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33.xml"/><Relationship Id="rId5" Type="http://schemas.openxmlformats.org/officeDocument/2006/relationships/image" Target="../media/image8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34.xml"/><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42.xml"/><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 Id="rId8" Type="http://schemas.openxmlformats.org/officeDocument/2006/relationships/image" Target="../media/image8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43.xml"/><Relationship Id="rId5" Type="http://schemas.openxmlformats.org/officeDocument/2006/relationships/image" Target="../media/image86.png"/><Relationship Id="rId6" Type="http://schemas.openxmlformats.org/officeDocument/2006/relationships/image" Target="../media/image8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44.xml"/><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7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4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4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4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49.xml"/><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8.png"/><Relationship Id="rId4"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4.png"/><Relationship Id="rId4" Type="http://schemas.openxmlformats.org/officeDocument/2006/relationships/notesSlide" Target="../notesSlides/notesSlide5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6.png"/><Relationship Id="rId4" Type="http://schemas.openxmlformats.org/officeDocument/2006/relationships/notesSlide" Target="../notesSlides/notesSlide5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5.png"/><Relationship Id="rId4" Type="http://schemas.openxmlformats.org/officeDocument/2006/relationships/notesSlide" Target="../notesSlides/notesSlide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11.png"/><Relationship Id="rId4"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6.png"/><Relationship Id="rId4" Type="http://schemas.openxmlformats.org/officeDocument/2006/relationships/notesSlide" Target="../notesSlides/notesSlide5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40.png"/><Relationship Id="rId4" Type="http://schemas.openxmlformats.org/officeDocument/2006/relationships/notesSlide" Target="../notesSlides/notesSlide5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3.png"/><Relationship Id="rId4" Type="http://schemas.openxmlformats.org/officeDocument/2006/relationships/notesSlide" Target="../notesSlides/notesSlide6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notesSlide" Target="../notesSlides/notesSlide7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6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3.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38.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28.png"/><Relationship Id="rId4"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7" name="TextBox 6"/>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8" name="Picture 7" descr="image.png"/>
          <p:cNvPicPr>
            <a:picLocks noChangeAspect="1"/>
          </p:cNvPicPr>
          <p:nvPr/>
        </p:nvPicPr>
        <p:blipFill>
          <a:blip r:embed="rId3"/>
          <a:stretch>
            <a:fillRect/>
          </a:stretch>
        </p:blipFill>
        <p:spPr>
          <a:xfrm>
            <a:off x="11612880" y="1554480"/>
            <a:ext cx="548640" cy="301180"/>
          </a:xfrm>
          <a:prstGeom prst="rect">
            <a:avLst/>
          </a:prstGeom>
        </p:spPr>
      </p:pic>
      <p:pic>
        <p:nvPicPr>
          <p:cNvPr id="9" name="Picture 8"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10" name="TextBox 9"/>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11" name="Rounded Rectangle 10"/>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2" name="Rounded Rectangle 11"/>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3" name="Rounded Rectangle 12"/>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4" name="Rounded Rectangle 13"/>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5" name="Rounded Rectangle 14"/>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6" name="Rounded Rectangle 15"/>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7" name="Rounded Rectangle 16"/>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8" name="Rounded Rectangle 17"/>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8" name="Oval 7"/>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pic>
        <p:nvPicPr>
          <p:cNvPr id="25" name="Picture 24" descr="image.png"/>
          <p:cNvPicPr>
            <a:picLocks noChangeAspect="1"/>
          </p:cNvPicPr>
          <p:nvPr/>
        </p:nvPicPr>
        <p:blipFill>
          <a:blip r:embed="rId3"/>
          <a:stretch>
            <a:fillRect/>
          </a:stretch>
        </p:blipFill>
        <p:spPr>
          <a:xfrm>
            <a:off x="8592285" y="1673352"/>
            <a:ext cx="457200" cy="250983"/>
          </a:xfrm>
          <a:prstGeom prst="rect">
            <a:avLst/>
          </a:prstGeom>
        </p:spPr>
      </p:pic>
      <p:sp>
        <p:nvSpPr>
          <p:cNvPr id="26" name="Rounded Rectangle 25"/>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Rounded Rectangle 28"/>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31" name="TextBox 30"/>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in systems used at global scale.</a:t>
            </a:r>
          </a:p>
        </p:txBody>
      </p:sp>
      <p:sp>
        <p:nvSpPr>
          <p:cNvPr id="32" name="Rounded Rectangle 31"/>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34" name="TextBox 33"/>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transparency duties.</a:t>
            </a:r>
          </a:p>
        </p:txBody>
      </p:sp>
      <p:sp>
        <p:nvSpPr>
          <p:cNvPr id="35" name="Rounded Rectangle 34"/>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7" name="TextBox 36"/>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8" name="Rounded Rectangle 37"/>
          <p:cNvSpPr/>
          <p:nvPr/>
        </p:nvSpPr>
        <p:spPr>
          <a:xfrm>
            <a:off x="1028700" y="8039099"/>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pic>
        <p:nvPicPr>
          <p:cNvPr id="25" name="Picture 24" descr="image.png"/>
          <p:cNvPicPr>
            <a:picLocks noChangeAspect="1"/>
          </p:cNvPicPr>
          <p:nvPr/>
        </p:nvPicPr>
        <p:blipFill>
          <a:blip r:embed="rId3"/>
          <a:stretch>
            <a:fillRect/>
          </a:stretch>
        </p:blipFill>
        <p:spPr>
          <a:xfrm>
            <a:off x="9706798" y="1673352"/>
            <a:ext cx="457200" cy="415247"/>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9" name="TextBox 28"/>
          <p:cNvSpPr txBox="1"/>
          <p:nvPr/>
        </p:nvSpPr>
        <p:spPr>
          <a:xfrm>
            <a:off x="1028700" y="3178810"/>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something we can actually change</a:t>
            </a:r>
            <a:r>
              <a:rPr lang="en-US" sz="2100" b="true">
                <a:solidFill>
                  <a:srgbClr val="111111"/>
                </a:solidFill>
                <a:latin typeface="Nunito Semi-Bold"/>
                <a:ea typeface="Nunito Semi-Bold"/>
                <a:cs typeface="Nunito Semi-Bold"/>
                <a:sym typeface="Nunito Semi-Bold"/>
              </a:rPr>
              <a:t>, and changing it </a:t>
            </a:r>
            <a:r>
              <a:rPr lang="en-US" sz="2100" b="true">
                <a:solidFill>
                  <a:srgbClr val="111111"/>
                </a:solidFill>
                <a:latin typeface="Nunito Bold"/>
                <a:ea typeface="Nunito Bold"/>
                <a:cs typeface="Nunito Bold"/>
                <a:sym typeface="Nunito Bold"/>
              </a:rPr>
              <a:t>clearly affects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It should also </a:t>
            </a:r>
            <a:r>
              <a:rPr lang="en-US" sz="2100" b="true">
                <a:solidFill>
                  <a:srgbClr val="111111"/>
                </a:solidFill>
                <a:latin typeface="Nunito Bold"/>
                <a:ea typeface="Nunito Bold"/>
                <a:cs typeface="Nunito Bold"/>
                <a:sym typeface="Nunito Bold"/>
              </a:rPr>
              <a:t>speak the language of the domain</a:t>
            </a:r>
            <a:r>
              <a:rPr lang="en-US" sz="2100" b="true">
                <a:solidFill>
                  <a:srgbClr val="111111"/>
                </a:solidFill>
                <a:latin typeface="Nunito Semi-Bold"/>
                <a:ea typeface="Nunito Semi-Bold"/>
                <a:cs typeface="Nunito Semi-Bold"/>
                <a:sym typeface="Nunito Semi-Bold"/>
              </a:rPr>
              <a:t>: acidity in wine, pollution indicators in air quality, user preferences in recommendation, not a hidden latent code.</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 good explanation does not only describe what happened. It tells us </a:t>
            </a:r>
            <a:r>
              <a:rPr lang="en-US" sz="2100" b="true">
                <a:solidFill>
                  <a:srgbClr val="111111"/>
                </a:solidFill>
                <a:latin typeface="Nunito Bold"/>
                <a:ea typeface="Nunito Bold"/>
                <a:cs typeface="Nunito Bold"/>
                <a:sym typeface="Nunito Bold"/>
              </a:rPr>
              <a:t>what to change to improve the outcome</a:t>
            </a:r>
            <a:r>
              <a:rPr lang="en-US" sz="2100" b="true">
                <a:solidFill>
                  <a:srgbClr val="111111"/>
                </a:solidFill>
                <a:latin typeface="Nunito Semi-Bold"/>
                <a:ea typeface="Nunito Semi-Bold"/>
                <a:cs typeface="Nunito Semi-Bold"/>
                <a:sym typeface="Nunito Semi-Bold"/>
              </a:rPr>
              <a:t>.</a:t>
            </a:r>
          </a:p>
        </p:txBody>
      </p:sp>
      <p:pic>
        <p:nvPicPr>
          <p:cNvPr id="30" name="Picture 29" descr="intro_actionable.png"/>
          <p:cNvPicPr>
            <a:picLocks noChangeAspect="1"/>
          </p:cNvPicPr>
          <p:nvPr/>
        </p:nvPicPr>
        <p:blipFill>
          <a:blip r:embed="rId5"/>
          <a:stretch>
            <a:fillRect/>
          </a:stretch>
        </p:blipFill>
        <p:spPr>
          <a:xfrm>
            <a:off x="9441180" y="4295382"/>
            <a:ext cx="7818120" cy="4264429"/>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pic>
        <p:nvPicPr>
          <p:cNvPr id="25" name="Picture 24" descr="image.png"/>
          <p:cNvPicPr>
            <a:picLocks noChangeAspect="1"/>
          </p:cNvPicPr>
          <p:nvPr/>
        </p:nvPicPr>
        <p:blipFill>
          <a:blip r:embed="rId3"/>
          <a:stretch>
            <a:fillRect/>
          </a:stretch>
        </p:blipFill>
        <p:spPr>
          <a:xfrm>
            <a:off x="5880294" y="1673352"/>
            <a:ext cx="457200" cy="452148"/>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TextBox 28"/>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30" name="Rounded Rectangle 29"/>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31" name="Connector 30"/>
          <p:cNvCxnSpPr/>
          <p:nvPr/>
        </p:nvCxnSpPr>
        <p:spPr>
          <a:xfrm>
            <a:off x="3415284" y="4438142"/>
            <a:ext cx="1033272" cy="0"/>
          </a:xfrm>
          <a:prstGeom prst="line">
            <a:avLst/>
          </a:prstGeom>
          <a:ln w="28575">
            <a:solidFill>
              <a:srgbClr val="4472C4"/>
            </a:solidFill>
            <a:tailEnd type="triangle" w="med" len="med"/>
          </a:ln>
        </p:spPr>
      </p:cxnSp>
      <p:sp>
        <p:nvSpPr>
          <p:cNvPr id="32" name="Rounded Rectangle 31"/>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33" name="Connector 32"/>
          <p:cNvCxnSpPr/>
          <p:nvPr/>
        </p:nvCxnSpPr>
        <p:spPr>
          <a:xfrm>
            <a:off x="6890004" y="4438142"/>
            <a:ext cx="1033272" cy="0"/>
          </a:xfrm>
          <a:prstGeom prst="line">
            <a:avLst/>
          </a:prstGeom>
          <a:ln w="28575">
            <a:solidFill>
              <a:srgbClr val="4472C4"/>
            </a:solidFill>
            <a:tailEnd type="triangle" w="med" len="med"/>
          </a:ln>
        </p:spPr>
      </p:cxnSp>
      <p:sp>
        <p:nvSpPr>
          <p:cNvPr id="34" name="Rounded Rectangle 33"/>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5" name="Connector 34"/>
          <p:cNvCxnSpPr/>
          <p:nvPr/>
        </p:nvCxnSpPr>
        <p:spPr>
          <a:xfrm>
            <a:off x="10364724" y="4438142"/>
            <a:ext cx="1033272" cy="0"/>
          </a:xfrm>
          <a:prstGeom prst="line">
            <a:avLst/>
          </a:prstGeom>
          <a:ln w="28575">
            <a:solidFill>
              <a:srgbClr val="4472C4"/>
            </a:solidFill>
            <a:tailEnd type="triangle" w="med" len="med"/>
          </a:ln>
        </p:spPr>
      </p:cxnSp>
      <p:sp>
        <p:nvSpPr>
          <p:cNvPr id="36" name="Rounded Rectangle 35"/>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7" name="Connector 36"/>
          <p:cNvCxnSpPr/>
          <p:nvPr/>
        </p:nvCxnSpPr>
        <p:spPr>
          <a:xfrm>
            <a:off x="13839444" y="4438142"/>
            <a:ext cx="1033272" cy="0"/>
          </a:xfrm>
          <a:prstGeom prst="line">
            <a:avLst/>
          </a:prstGeom>
          <a:ln w="28575">
            <a:solidFill>
              <a:srgbClr val="4472C4"/>
            </a:solidFill>
            <a:tailEnd type="triangle" w="med" len="med"/>
          </a:ln>
        </p:spPr>
      </p:cxnSp>
      <p:sp>
        <p:nvSpPr>
          <p:cNvPr id="38" name="Rounded Rectangle 37"/>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9" name="Connector 38"/>
          <p:cNvCxnSpPr/>
          <p:nvPr/>
        </p:nvCxnSpPr>
        <p:spPr>
          <a:xfrm>
            <a:off x="1028700" y="5283962"/>
            <a:ext cx="16230600" cy="0"/>
          </a:xfrm>
          <a:prstGeom prst="line">
            <a:avLst/>
          </a:prstGeom>
          <a:ln w="50800">
            <a:solidFill>
              <a:srgbClr val="1F7A8C"/>
            </a:solidFill>
            <a:tailEnd type="triangle" w="med" len="med"/>
          </a:ln>
        </p:spPr>
      </p:cxnSp>
      <p:sp>
        <p:nvSpPr>
          <p:cNvPr id="41" name="Rounded Rectangle 40"/>
          <p:cNvSpPr/>
          <p:nvPr/>
        </p:nvSpPr>
        <p:spPr>
          <a:xfrm>
            <a:off x="1024128" y="5833872"/>
            <a:ext cx="16239744" cy="3072384"/>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42" name="Rounded Rectangle 41"/>
          <p:cNvSpPr/>
          <p:nvPr/>
        </p:nvSpPr>
        <p:spPr>
          <a:xfrm>
            <a:off x="1481328" y="559612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43" name="TextBox 42"/>
          <p:cNvSpPr txBox="1"/>
          <p:nvPr/>
        </p:nvSpPr>
        <p:spPr>
          <a:xfrm>
            <a:off x="1481328"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Users get outputs without reasons:</a:t>
            </a:r>
            <a:r>
              <a:rPr lang="en-US" sz="2200" b="true">
                <a:solidFill>
                  <a:srgbClr val="FFFFFF"/>
                </a:solidFill>
                <a:latin typeface="Nunito Semi-Bold"/>
                <a:ea typeface="Nunito Semi-Bold"/>
                <a:cs typeface="Nunito Semi-Bold"/>
                <a:sym typeface="Nunito Semi-Bold"/>
              </a:rPr>
              <a:t> trust drops.</a:t>
            </a:r>
          </a:p>
        </p:txBody>
      </p:sp>
      <p:sp>
        <p:nvSpPr>
          <p:cNvPr id="43" name="TextBox 42"/>
          <p:cNvSpPr txBox="1"/>
          <p:nvPr/>
        </p:nvSpPr>
        <p:spPr>
          <a:xfrm>
            <a:off x="6711696"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Designers cannot debug</a:t>
            </a:r>
            <a:r>
              <a:rPr lang="en-US" sz="2200" b="true">
                <a:solidFill>
                  <a:srgbClr val="FFFFFF"/>
                </a:solidFill>
                <a:latin typeface="Nunito Semi-Bold"/>
                <a:ea typeface="Nunito Semi-Bold"/>
                <a:cs typeface="Nunito Semi-Bold"/>
                <a:sym typeface="Nunito Semi-Bold"/>
              </a:rPr>
              <a:t> what they cannot inspect.</a:t>
            </a:r>
          </a:p>
        </p:txBody>
      </p:sp>
      <p:sp>
        <p:nvSpPr>
          <p:cNvPr id="43" name="TextBox 42"/>
          <p:cNvSpPr txBox="1"/>
          <p:nvPr/>
        </p:nvSpPr>
        <p:spPr>
          <a:xfrm>
            <a:off x="11942064" y="6144768"/>
            <a:ext cx="4864608" cy="2651760"/>
          </a:xfrm>
          <a:prstGeom prst="rect">
            <a:avLst/>
          </a:prstGeom>
          <a:noFill/>
        </p:spPr>
        <p:txBody>
          <a:bodyPr anchor="ctr" rtlCol="false" lIns="0" tIns="0" rIns="0" bIns="0" wrap="square"/>
          <a:lstStyle/>
          <a:p>
            <a:pPr algn="l" marL="274320" indent="-274320">
              <a:lnSpc>
                <a:spcPts val="2580"/>
              </a:lnSpc>
              <a:spcBef>
                <a:spcPts val="0"/>
              </a:spcBef>
              <a:buClr>
                <a:srgbClr val="ECC665"/>
              </a:buClr>
              <a:buSzPct val="100000"/>
              <a:buFont typeface="Arial"/>
              <a:buChar char="•"/>
            </a:pPr>
            <a:r>
              <a:rPr lang="en-US" sz="2200" b="true">
                <a:solidFill>
                  <a:srgbClr val="FFFFFF"/>
                </a:solidFill>
                <a:latin typeface="Nunito Bold"/>
                <a:ea typeface="Nunito Bold"/>
                <a:cs typeface="Nunito Bold"/>
                <a:sym typeface="Nunito Bold"/>
              </a:rPr>
              <a:t>Regulation now asks for transparency:</a:t>
            </a:r>
            <a:r>
              <a:rPr lang="en-US" sz="2200" b="true">
                <a:solidFill>
                  <a:srgbClr val="FFFFFF"/>
                </a:solidFill>
                <a:latin typeface="Nunito Semi-Bold"/>
                <a:ea typeface="Nunito Semi-Bold"/>
                <a:cs typeface="Nunito Semi-Bold"/>
                <a:sym typeface="Nunito Semi-Bold"/>
              </a:rPr>
              <a:t> EU AI Act, GDPR.</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10" name="Rounded Rectangle 9"/>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pic>
        <p:nvPicPr>
          <p:cNvPr id="25" name="Picture 24" descr="image.png"/>
          <p:cNvPicPr>
            <a:picLocks noChangeAspect="1"/>
          </p:cNvPicPr>
          <p:nvPr/>
        </p:nvPicPr>
        <p:blipFill>
          <a:blip r:embed="rId3"/>
          <a:stretch>
            <a:fillRect/>
          </a:stretch>
        </p:blipFill>
        <p:spPr>
          <a:xfrm>
            <a:off x="12921990" y="1673352"/>
            <a:ext cx="457200" cy="617115"/>
          </a:xfrm>
          <a:prstGeom prst="rect">
            <a:avLst/>
          </a:prstGeom>
        </p:spPr>
      </p:pic>
      <p:sp>
        <p:nvSpPr>
          <p:cNvPr id="26" name="Rounded Rectangle 25"/>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7" name="Rounded Rectangle 26"/>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8" name="Rounded Rectangle 27"/>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9" name="Rounded Rectangle 28"/>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netflix.png"/>
          <p:cNvPicPr>
            <a:picLocks noChangeAspect="1"/>
          </p:cNvPicPr>
          <p:nvPr/>
        </p:nvPicPr>
        <p:blipFill>
          <a:blip r:embed="rId5"/>
          <a:stretch>
            <a:fillRect/>
          </a:stretch>
        </p:blipFill>
        <p:spPr>
          <a:xfrm>
            <a:off x="1383030" y="3887423"/>
            <a:ext cx="3108960" cy="1695796"/>
          </a:xfrm>
          <a:prstGeom prst="rect">
            <a:avLst/>
          </a:prstGeom>
        </p:spPr>
      </p:pic>
      <p:sp>
        <p:nvSpPr>
          <p:cNvPr id="31" name="TextBox 30"/>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32" name="TextBox 31"/>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33" name="Rounded Rectangle 32"/>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4" name="Picture 33" descr="spotify.png"/>
          <p:cNvPicPr>
            <a:picLocks noChangeAspect="1"/>
          </p:cNvPicPr>
          <p:nvPr/>
        </p:nvPicPr>
        <p:blipFill>
          <a:blip r:embed="rId6"/>
          <a:stretch>
            <a:fillRect/>
          </a:stretch>
        </p:blipFill>
        <p:spPr>
          <a:xfrm>
            <a:off x="6069330" y="3729482"/>
            <a:ext cx="2011680" cy="2011680"/>
          </a:xfrm>
          <a:prstGeom prst="rect">
            <a:avLst/>
          </a:prstGeom>
        </p:spPr>
      </p:pic>
      <p:sp>
        <p:nvSpPr>
          <p:cNvPr id="35" name="TextBox 34"/>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6" name="TextBox 35"/>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7" name="Rounded Rectangle 36"/>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38" name="Picture 37" descr="yelp.png"/>
          <p:cNvPicPr>
            <a:picLocks noChangeAspect="1"/>
          </p:cNvPicPr>
          <p:nvPr/>
        </p:nvPicPr>
        <p:blipFill>
          <a:blip r:embed="rId7"/>
          <a:stretch>
            <a:fillRect/>
          </a:stretch>
        </p:blipFill>
        <p:spPr>
          <a:xfrm>
            <a:off x="9658350" y="3737032"/>
            <a:ext cx="3108960" cy="1996579"/>
          </a:xfrm>
          <a:prstGeom prst="rect">
            <a:avLst/>
          </a:prstGeom>
        </p:spPr>
      </p:pic>
      <p:sp>
        <p:nvSpPr>
          <p:cNvPr id="39" name="TextBox 38"/>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40" name="TextBox 39"/>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41" name="Rounded Rectangle 40"/>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pic>
        <p:nvPicPr>
          <p:cNvPr id="42" name="Picture 41" descr="amazon.png"/>
          <p:cNvPicPr>
            <a:picLocks noChangeAspect="1"/>
          </p:cNvPicPr>
          <p:nvPr/>
        </p:nvPicPr>
        <p:blipFill>
          <a:blip r:embed="rId8"/>
          <a:stretch>
            <a:fillRect/>
          </a:stretch>
        </p:blipFill>
        <p:spPr>
          <a:xfrm>
            <a:off x="14344650" y="3729482"/>
            <a:ext cx="2011680" cy="2011680"/>
          </a:xfrm>
          <a:prstGeom prst="rect">
            <a:avLst/>
          </a:prstGeom>
        </p:spPr>
      </p:pic>
      <p:sp>
        <p:nvSpPr>
          <p:cNvPr id="43" name="TextBox 42"/>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44" name="TextBox 43"/>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5" name="Rounded Rectangle 44"/>
          <p:cNvSpPr/>
          <p:nvPr/>
        </p:nvSpPr>
        <p:spPr>
          <a:xfrm>
            <a:off x="1028700" y="8253730"/>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8" name="Oval 7"/>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pic>
        <p:nvPicPr>
          <p:cNvPr id="25" name="Picture 24" descr="image.png"/>
          <p:cNvPicPr>
            <a:picLocks noChangeAspect="1"/>
          </p:cNvPicPr>
          <p:nvPr/>
        </p:nvPicPr>
        <p:blipFill>
          <a:blip r:embed="rId3"/>
          <a:stretch>
            <a:fillRect/>
          </a:stretch>
        </p:blipFill>
        <p:spPr>
          <a:xfrm>
            <a:off x="7401574" y="1673352"/>
            <a:ext cx="457200" cy="250983"/>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33" name="Picture 32" descr="ctx_content.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pic>
        <p:nvPicPr>
          <p:cNvPr id="25" name="Picture 24" descr="image.png"/>
          <p:cNvPicPr>
            <a:picLocks noChangeAspect="1"/>
          </p:cNvPicPr>
          <p:nvPr/>
        </p:nvPicPr>
        <p:blipFill>
          <a:blip r:embed="rId3"/>
          <a:stretch>
            <a:fillRect/>
          </a:stretch>
        </p:blipFill>
        <p:spPr>
          <a:xfrm>
            <a:off x="7040539" y="1673352"/>
            <a:ext cx="457200" cy="539881"/>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33" name="Picture 32" descr="ctx_c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pic>
        <p:nvPicPr>
          <p:cNvPr id="25" name="Picture 24" descr="image.png"/>
          <p:cNvPicPr>
            <a:picLocks noChangeAspect="1"/>
          </p:cNvPicPr>
          <p:nvPr/>
        </p:nvPicPr>
        <p:blipFill>
          <a:blip r:embed="rId3"/>
          <a:stretch>
            <a:fillRect/>
          </a:stretch>
        </p:blipFill>
        <p:spPr>
          <a:xfrm>
            <a:off x="12801265" y="1673352"/>
            <a:ext cx="457200" cy="373212"/>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30" name="Rounded Rectangle 29"/>
          <p:cNvSpPr/>
          <p:nvPr/>
        </p:nvSpPr>
        <p:spPr>
          <a:xfrm>
            <a:off x="1028700" y="8026399"/>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834376"/>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30072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33" name="Picture 32" descr="ctx_mf.png"/>
          <p:cNvPicPr>
            <a:picLocks noChangeAspect="1"/>
          </p:cNvPicPr>
          <p:nvPr/>
        </p:nvPicPr>
        <p:blipFill>
          <a:blip r:embed="rId4"/>
          <a:stretch>
            <a:fillRect/>
          </a:stretch>
        </p:blipFill>
        <p:spPr>
          <a:xfrm>
            <a:off x="9258300" y="4108346"/>
            <a:ext cx="8001000" cy="4364181"/>
          </a:xfrm>
          <a:prstGeom prst="rect">
            <a:avLst/>
          </a:prstGeom>
        </p:spPr>
      </p:pic>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pic>
        <p:nvPicPr>
          <p:cNvPr id="25" name="Picture 24" descr="image.png"/>
          <p:cNvPicPr>
            <a:picLocks noChangeAspect="1"/>
          </p:cNvPicPr>
          <p:nvPr/>
        </p:nvPicPr>
        <p:blipFill>
          <a:blip r:embed="rId3"/>
          <a:stretch>
            <a:fillRect/>
          </a:stretch>
        </p:blipFill>
        <p:spPr>
          <a:xfrm>
            <a:off x="13302882" y="1673352"/>
            <a:ext cx="457200" cy="427074"/>
          </a:xfrm>
          <a:prstGeom prst="rect">
            <a:avLst/>
          </a:prstGeom>
        </p:spPr>
      </p:pic>
      <p:sp>
        <p:nvSpPr>
          <p:cNvPr id="26" name="Rounded Rectangle 25"/>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TextBox 28"/>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30" name="Rounded Rectangle 29"/>
          <p:cNvSpPr/>
          <p:nvPr/>
        </p:nvSpPr>
        <p:spPr>
          <a:xfrm>
            <a:off x="1028700" y="7973567"/>
            <a:ext cx="7680960" cy="934212"/>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31" name="Rounded Rectangle 30"/>
          <p:cNvSpPr/>
          <p:nvPr/>
        </p:nvSpPr>
        <p:spPr>
          <a:xfrm>
            <a:off x="1348740" y="7781544"/>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32" name="TextBox 31"/>
          <p:cNvSpPr txBox="1"/>
          <p:nvPr/>
        </p:nvSpPr>
        <p:spPr>
          <a:xfrm>
            <a:off x="1394460" y="8221980"/>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33" name="Picture 32" descr="ctx_hyper.png"/>
          <p:cNvPicPr>
            <a:picLocks noChangeAspect="1"/>
          </p:cNvPicPr>
          <p:nvPr/>
        </p:nvPicPr>
        <p:blipFill>
          <a:blip r:embed="rId4"/>
          <a:stretch>
            <a:fillRect/>
          </a:stretch>
        </p:blipFill>
        <p:spPr>
          <a:xfrm>
            <a:off x="9258300" y="4057599"/>
            <a:ext cx="8001000" cy="4465674"/>
          </a:xfrm>
          <a:prstGeom prst="rect">
            <a:avLst/>
          </a:prstGeom>
        </p:spPr>
      </p:pic>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pic>
        <p:nvPicPr>
          <p:cNvPr id="25" name="Picture 24" descr="image.png"/>
          <p:cNvPicPr>
            <a:picLocks noChangeAspect="1"/>
          </p:cNvPicPr>
          <p:nvPr/>
        </p:nvPicPr>
        <p:blipFill>
          <a:blip r:embed="rId3"/>
          <a:stretch>
            <a:fillRect/>
          </a:stretch>
        </p:blipFill>
        <p:spPr>
          <a:xfrm>
            <a:off x="16315229" y="1673352"/>
            <a:ext cx="457200" cy="399005"/>
          </a:xfrm>
          <a:prstGeom prst="rect">
            <a:avLst/>
          </a:prstGeom>
        </p:spPr>
      </p:pic>
      <p:sp>
        <p:nvSpPr>
          <p:cNvPr id="26" name="Rounded Rectangle 25"/>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30" name="Rounded Rectangle 29"/>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31" name="Rounded Rectangle 30"/>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32" name="Rounded Rectangle 31"/>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33" name="Rounded Rectangle 32"/>
          <p:cNvSpPr/>
          <p:nvPr/>
        </p:nvSpPr>
        <p:spPr>
          <a:xfrm>
            <a:off x="1028700" y="6864350"/>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485900" y="6626606"/>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5" name="TextBox 34"/>
          <p:cNvSpPr txBox="1"/>
          <p:nvPr/>
        </p:nvSpPr>
        <p:spPr>
          <a:xfrm>
            <a:off x="1531620" y="7504429"/>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pic>
        <p:nvPicPr>
          <p:cNvPr id="25" name="Picture 24" descr="image.png"/>
          <p:cNvPicPr>
            <a:picLocks noChangeAspect="1"/>
          </p:cNvPicPr>
          <p:nvPr/>
        </p:nvPicPr>
        <p:blipFill>
          <a:blip r:embed="rId3"/>
          <a:stretch>
            <a:fillRect/>
          </a:stretch>
        </p:blipFill>
        <p:spPr>
          <a:xfrm>
            <a:off x="12569927" y="1673352"/>
            <a:ext cx="457200" cy="446713"/>
          </a:xfrm>
          <a:prstGeom prst="rect">
            <a:avLst/>
          </a:prstGeom>
        </p:spPr>
      </p:pic>
      <p:sp>
        <p:nvSpPr>
          <p:cNvPr id="26" name="Rounded Rectangle 25"/>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7" name="Rounded Rectangle 26"/>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8" name="Rounded Rectangle 27"/>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9" name="Rounded Rectangle 28"/>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31" name="TextBox 30"/>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32" name="Rounded Rectangle 31"/>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3" name="Oval 32"/>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34" name="TextBox 33"/>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5" name="Rounded Rectangle 34"/>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7" name="TextBox 36"/>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8" name="Rounded Rectangle 37"/>
          <p:cNvSpPr/>
          <p:nvPr/>
        </p:nvSpPr>
        <p:spPr>
          <a:xfrm>
            <a:off x="1028700" y="7156450"/>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9" name="TextBox 38"/>
          <p:cNvSpPr txBox="1"/>
          <p:nvPr/>
        </p:nvSpPr>
        <p:spPr>
          <a:xfrm>
            <a:off x="1485900" y="7613650"/>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pic>
        <p:nvPicPr>
          <p:cNvPr id="23" name="Picture 22" descr="image.png"/>
          <p:cNvPicPr>
            <a:picLocks noChangeAspect="1"/>
          </p:cNvPicPr>
          <p:nvPr/>
        </p:nvPicPr>
        <p:blipFill>
          <a:blip r:embed="rId3"/>
          <a:stretch>
            <a:fillRect/>
          </a:stretch>
        </p:blipFill>
        <p:spPr>
          <a:xfrm>
            <a:off x="13647239" y="1673352"/>
            <a:ext cx="457200" cy="452148"/>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7" name="Rounded Rectangle 26"/>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8" name="Rounded Rectangle 27"/>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30" name="TextBox 29"/>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32" name="Rounded Rectangle 31"/>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3" name="Rounded Rectangle 32"/>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4" name="TextBox 33"/>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5" name="Rounded Rectangle 34"/>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6" name="Rounded Rectangle 35"/>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8" name="TextBox 37"/>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9" name="Rounded Rectangle 38"/>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0" name="Rounded Rectangle 39"/>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41" name="Rounded Rectangle 40"/>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42" name="TextBox 41"/>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3" name="Rounded Rectangle 42"/>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4" name="Rounded Rectangle 43"/>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5" name="Rounded Rectangle 44"/>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6" name="TextBox 45"/>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7" name="Rounded Rectangle 46"/>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pic>
        <p:nvPicPr>
          <p:cNvPr id="23" name="Picture 22" descr="image.png"/>
          <p:cNvPicPr>
            <a:picLocks noChangeAspect="1"/>
          </p:cNvPicPr>
          <p:nvPr/>
        </p:nvPicPr>
        <p:blipFill>
          <a:blip r:embed="rId3"/>
          <a:stretch>
            <a:fillRect/>
          </a:stretch>
        </p:blipFill>
        <p:spPr>
          <a:xfrm>
            <a:off x="7638654" y="1673352"/>
            <a:ext cx="457200" cy="415247"/>
          </a:xfrm>
          <a:prstGeom prst="rect">
            <a:avLst/>
          </a:prstGeom>
        </p:spPr>
      </p:pic>
      <p:sp>
        <p:nvSpPr>
          <p:cNvPr id="24" name="Rounded Rectangle 23"/>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5" name="Rounded Rectangle 24"/>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6" name="Rounded Rectangle 25"/>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7" name="Rounded Rectangle 26"/>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8" name="TextBox 27"/>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9" name="Rounded Rectangle 28"/>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30" name="TextBox 29"/>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31" name="Rounded Rectangle 30"/>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32" name="TextBox 31"/>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3" name="Rounded Rectangle 32"/>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4" name="TextBox 33"/>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4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5" name="Rounded Rectangle 34"/>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6" name="TextBox 35"/>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7" name="Rounded Rectangle 36"/>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8" name="TextBox 37"/>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4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9" name="Rounded Rectangle 38"/>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7" name="TextBox 6"/>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8" name="Oval 7"/>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10" name="TextBox 9"/>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pic>
        <p:nvPicPr>
          <p:cNvPr id="25" name="Picture 24" descr="image.png"/>
          <p:cNvPicPr>
            <a:picLocks noChangeAspect="1"/>
          </p:cNvPicPr>
          <p:nvPr/>
        </p:nvPicPr>
        <p:blipFill>
          <a:blip r:embed="rId3"/>
          <a:stretch>
            <a:fillRect/>
          </a:stretch>
        </p:blipFill>
        <p:spPr>
          <a:xfrm>
            <a:off x="11227909"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4,898 white-wine samples</a:t>
            </a:r>
            <a:r>
              <a:rPr lang="en-US" sz="2100" b="true">
                <a:solidFill>
                  <a:srgbClr val="111111"/>
                </a:solidFill>
                <a:latin typeface="Nunito Semi-Bold"/>
                <a:ea typeface="Nunito Semi-Bold"/>
                <a:cs typeface="Nunito Semi-Bold"/>
                <a:sym typeface="Nunito Semi-Bold"/>
              </a:rPr>
              <a:t> described by </a:t>
            </a:r>
            <a:r>
              <a:rPr lang="en-US" sz="2100" b="true">
                <a:solidFill>
                  <a:srgbClr val="111111"/>
                </a:solidFill>
                <a:latin typeface="Nunito Bold"/>
                <a:ea typeface="Nunito Bold"/>
                <a:cs typeface="Nunito Bold"/>
                <a:sym typeface="Nunito Bold"/>
              </a:rPr>
              <a:t>11 physicochemical measurements</a:t>
            </a:r>
            <a:r>
              <a:rPr lang="en-US" sz="2100"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2100" b="true">
                <a:solidFill>
                  <a:srgbClr val="111111"/>
                </a:solidFill>
                <a:latin typeface="Nunito Bold"/>
                <a:ea typeface="Nunito Bold"/>
                <a:cs typeface="Nunito Bold"/>
                <a:sym typeface="Nunito Bold"/>
              </a:rPr>
              <a:t>variables a wine expert understands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Used for </a:t>
            </a:r>
            <a:r>
              <a:rPr lang="en-US" sz="2100" b="true">
                <a:solidFill>
                  <a:srgbClr val="111111"/>
                </a:solidFill>
                <a:latin typeface="Nunito Bold"/>
                <a:ea typeface="Nunito Bold"/>
                <a:cs typeface="Nunito Bold"/>
                <a:sym typeface="Nunito Bold"/>
              </a:rPr>
              <a:t>Contribution I</a:t>
            </a:r>
            <a:r>
              <a:rPr lang="en-US" sz="2100"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Every variable is a </a:t>
            </a:r>
            <a:r>
              <a:rPr lang="en-US" sz="1800" b="true">
                <a:solidFill>
                  <a:srgbClr val="111111"/>
                </a:solidFill>
                <a:latin typeface="Nunito Bold"/>
                <a:ea typeface="Nunito Bold"/>
                <a:cs typeface="Nunito Bold"/>
                <a:sym typeface="Nunito Bold"/>
              </a:rPr>
              <a:t>lab measurement with a physical meaning</a:t>
            </a:r>
            <a:r>
              <a:rPr lang="en-US" sz="1800" b="true">
                <a:solidFill>
                  <a:srgbClr val="111111"/>
                </a:solidFill>
                <a:latin typeface="Nunito Semi-Bold"/>
                <a:ea typeface="Nunito Semi-Bold"/>
                <a:cs typeface="Nunito Semi-Bold"/>
                <a:sym typeface="Nunito Semi-Bold"/>
              </a:rPr>
              <a:t>; that is exactly the vocabulary in which the Shapley explanation is returned.</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pic>
        <p:nvPicPr>
          <p:cNvPr id="25" name="Picture 24" descr="image.png"/>
          <p:cNvPicPr>
            <a:picLocks noChangeAspect="1"/>
          </p:cNvPicPr>
          <p:nvPr/>
        </p:nvPicPr>
        <p:blipFill>
          <a:blip r:embed="rId3"/>
          <a:stretch>
            <a:fillRect/>
          </a:stretch>
        </p:blipFill>
        <p:spPr>
          <a:xfrm>
            <a:off x="8588295" y="1673352"/>
            <a:ext cx="457200" cy="415247"/>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383,585 hourly records</a:t>
            </a:r>
            <a:r>
              <a:rPr lang="en-US" sz="21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11 modelling variables:</a:t>
            </a:r>
            <a:r>
              <a:rPr lang="en-US" sz="2100" b="true">
                <a:solidFill>
                  <a:srgbClr val="111111"/>
                </a:solidFill>
                <a:latin typeface="Nunito Semi-Bold"/>
                <a:ea typeface="Nunito Semi-Bold"/>
                <a:cs typeface="Nunito Semi-Bold"/>
                <a:sym typeface="Nunito Semi-Bold"/>
              </a:rPr>
              <a:t> six pollutants (PM2.5, PM10, SO₂, NO₂, CO, O₃) and weather (temperature, pressure, dew point, wind direction, wind speed).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 noisy, varies with season and weather: the stress test for </a:t>
            </a:r>
            <a:r>
              <a:rPr lang="en-US" sz="2100" b="true">
                <a:solidFill>
                  <a:srgbClr val="111111"/>
                </a:solidFill>
                <a:latin typeface="Nunito Bold"/>
                <a:ea typeface="Nunito Bold"/>
                <a:cs typeface="Nunito Bold"/>
                <a:sym typeface="Nunito Bold"/>
              </a:rPr>
              <a:t>Contribution II</a:t>
            </a:r>
            <a:r>
              <a:rPr lang="en-US" sz="2100" b="true">
                <a:solidFill>
                  <a:srgbClr val="111111"/>
                </a:solidFill>
                <a:latin typeface="Nunito Semi-Bold"/>
                <a:ea typeface="Nunito Semi-Bold"/>
                <a:cs typeface="Nunito Semi-Bold"/>
                <a:sym typeface="Nunito Semi-Bold"/>
              </a:rPr>
              <a:t> (scale + multi-level structure).</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 = 3 coarse regimes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Pollutant and weather variables are measured </a:t>
            </a:r>
            <a:r>
              <a:rPr lang="en-US" sz="1800" b="true">
                <a:solidFill>
                  <a:srgbClr val="111111"/>
                </a:solidFill>
                <a:latin typeface="Nunito Bold"/>
                <a:ea typeface="Nunito Bold"/>
                <a:cs typeface="Nunito Bold"/>
                <a:sym typeface="Nunito Bold"/>
              </a:rPr>
              <a:t>side by side</a:t>
            </a:r>
            <a:r>
              <a:rPr lang="en-US" sz="1800" b="true">
                <a:solidFill>
                  <a:srgbClr val="111111"/>
                </a:solidFill>
                <a:latin typeface="Nunito Semi-Bold"/>
                <a:ea typeface="Nunito Semi-Bold"/>
                <a:cs typeface="Nunito Semi-Bold"/>
                <a:sym typeface="Nunito Semi-Bold"/>
              </a:rPr>
              <a:t>, so the explanation can show that the weather is what sets the regime.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[19] Cortez, P. et al. Wine Quality. UCI Machine Learning Repository (2009).  ·  Zhang, S. et al. Beijing Multi-Site Air Quality Data Set. UCI Machine Learning Repository (2017).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pic>
        <p:nvPicPr>
          <p:cNvPr id="25" name="Picture 24" descr="image.png"/>
          <p:cNvPicPr>
            <a:picLocks noChangeAspect="1"/>
          </p:cNvPicPr>
          <p:nvPr/>
        </p:nvPicPr>
        <p:blipFill>
          <a:blip r:embed="rId3"/>
          <a:stretch>
            <a:fillRect/>
          </a:stretch>
        </p:blipFill>
        <p:spPr>
          <a:xfrm>
            <a:off x="4963971" y="1673352"/>
            <a:ext cx="457200" cy="452148"/>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About 1 million ratings</a:t>
            </a:r>
            <a:r>
              <a:rPr lang="en-US" sz="2100" b="true">
                <a:solidFill>
                  <a:srgbClr val="111111"/>
                </a:solidFill>
                <a:latin typeface="Nunito Semi-Bold"/>
                <a:ea typeface="Nunito Semi-Bold"/>
                <a:cs typeface="Nunito Semi-Bold"/>
                <a:sym typeface="Nunito Semi-Bold"/>
              </a:rPr>
              <a:t> from </a:t>
            </a:r>
            <a:r>
              <a:rPr lang="en-US" sz="2100" b="true">
                <a:solidFill>
                  <a:srgbClr val="111111"/>
                </a:solidFill>
                <a:latin typeface="Nunito Bold"/>
                <a:ea typeface="Nunito Bold"/>
                <a:cs typeface="Nunito Bold"/>
                <a:sym typeface="Nunito Bold"/>
              </a:rPr>
              <a:t>6,040 users</a:t>
            </a:r>
            <a:r>
              <a:rPr lang="en-US" sz="2100" b="true">
                <a:solidFill>
                  <a:srgbClr val="111111"/>
                </a:solidFill>
                <a:latin typeface="Nunito Semi-Bold"/>
                <a:ea typeface="Nunito Semi-Bold"/>
                <a:cs typeface="Nunito Semi-Bold"/>
                <a:sym typeface="Nunito Semi-Bold"/>
              </a:rPr>
              <a:t> on </a:t>
            </a:r>
            <a:r>
              <a:rPr lang="en-US" sz="2100" b="true">
                <a:solidFill>
                  <a:srgbClr val="111111"/>
                </a:solidFill>
                <a:latin typeface="Nunito Bold"/>
                <a:ea typeface="Nunito Bold"/>
                <a:cs typeface="Nunito Bold"/>
                <a:sym typeface="Nunito Bold"/>
              </a:rPr>
              <a:t>3,706 movies</a:t>
            </a:r>
            <a:r>
              <a:rPr lang="en-US" sz="2100" b="true">
                <a:solidFill>
                  <a:srgbClr val="111111"/>
                </a:solidFill>
                <a:latin typeface="Nunito Semi-Bold"/>
                <a:ea typeface="Nunito Semi-Bold"/>
                <a:cs typeface="Nunito Semi-Bold"/>
                <a:sym typeface="Nunito Semi-Bold"/>
              </a:rPr>
              <a:t> (GroupLens benchmark).</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Comparatively </a:t>
            </a:r>
            <a:r>
              <a:rPr lang="en-US" sz="2100" b="true">
                <a:solidFill>
                  <a:srgbClr val="111111"/>
                </a:solidFill>
                <a:latin typeface="Nunito Bold"/>
                <a:ea typeface="Nunito Bold"/>
                <a:cs typeface="Nunito Bold"/>
                <a:sym typeface="Nunito Bold"/>
              </a:rPr>
              <a:t>dense</a:t>
            </a:r>
            <a:r>
              <a:rPr lang="en-US" sz="21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Using this benchmark keeps the results </a:t>
            </a:r>
            <a:r>
              <a:rPr lang="en-US" sz="1800" b="true">
                <a:solidFill>
                  <a:srgbClr val="111111"/>
                </a:solidFill>
                <a:latin typeface="Nunito Bold"/>
                <a:ea typeface="Nunito Bold"/>
                <a:cs typeface="Nunito Bold"/>
                <a:sym typeface="Nunito Bold"/>
              </a:rPr>
              <a:t>directly comparable</a:t>
            </a:r>
            <a:r>
              <a:rPr lang="en-US" sz="1800" b="true">
                <a:solidFill>
                  <a:srgbClr val="111111"/>
                </a:solidFill>
                <a:latin typeface="Nunito Semi-Bold"/>
                <a:ea typeface="Nunito Semi-Bold"/>
                <a:cs typeface="Nunito Semi-Bold"/>
                <a:sym typeface="Nunito Semi-Bold"/>
              </a:rPr>
              <a:t> with prior work in graph-based recommendation.</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pic>
        <p:nvPicPr>
          <p:cNvPr id="25" name="Picture 24" descr="image.png"/>
          <p:cNvPicPr>
            <a:picLocks noChangeAspect="1"/>
          </p:cNvPicPr>
          <p:nvPr/>
        </p:nvPicPr>
        <p:blipFill>
          <a:blip r:embed="rId3"/>
          <a:stretch>
            <a:fillRect/>
          </a:stretch>
        </p:blipFill>
        <p:spPr>
          <a:xfrm>
            <a:off x="5002206" y="1673352"/>
            <a:ext cx="457200" cy="617115"/>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TextBox 28"/>
          <p:cNvSpPr txBox="1"/>
          <p:nvPr/>
        </p:nvSpPr>
        <p:spPr>
          <a:xfrm>
            <a:off x="1028700" y="3363722"/>
            <a:ext cx="7863840" cy="466471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52,643 users</a:t>
            </a:r>
            <a:r>
              <a:rPr lang="en-US" sz="2100" b="true">
                <a:solidFill>
                  <a:srgbClr val="111111"/>
                </a:solidFill>
                <a:latin typeface="Nunito Semi-Bold"/>
                <a:ea typeface="Nunito Semi-Bold"/>
                <a:cs typeface="Nunito Semi-Bold"/>
                <a:sym typeface="Nunito Semi-Bold"/>
              </a:rPr>
              <a:t>, </a:t>
            </a:r>
            <a:r>
              <a:rPr lang="en-US" sz="2100" b="true">
                <a:solidFill>
                  <a:srgbClr val="111111"/>
                </a:solidFill>
                <a:latin typeface="Nunito Bold"/>
                <a:ea typeface="Nunito Bold"/>
                <a:cs typeface="Nunito Bold"/>
                <a:sym typeface="Nunito Bold"/>
              </a:rPr>
              <a:t>91,599 books</a:t>
            </a:r>
            <a:r>
              <a:rPr lang="en-US" sz="2100" b="true">
                <a:solidFill>
                  <a:srgbClr val="111111"/>
                </a:solidFill>
                <a:latin typeface="Nunito Semi-Bold"/>
                <a:ea typeface="Nunito Semi-Bold"/>
                <a:cs typeface="Nunito Semi-Bold"/>
                <a:sym typeface="Nunito Semi-Bold"/>
              </a:rPr>
              <a:t> and </a:t>
            </a:r>
            <a:r>
              <a:rPr lang="en-US" sz="2100" b="true">
                <a:solidFill>
                  <a:srgbClr val="111111"/>
                </a:solidFill>
                <a:latin typeface="Nunito Bold"/>
                <a:ea typeface="Nunito Bold"/>
                <a:cs typeface="Nunito Bold"/>
                <a:sym typeface="Nunito Bold"/>
              </a:rPr>
              <a:t>2,984,108 interactions</a:t>
            </a:r>
            <a:r>
              <a:rPr lang="en-US" sz="21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Extremely </a:t>
            </a:r>
            <a:r>
              <a:rPr lang="en-US" sz="2100" b="true">
                <a:solidFill>
                  <a:srgbClr val="111111"/>
                </a:solidFill>
                <a:latin typeface="Nunito Bold"/>
                <a:ea typeface="Nunito Bold"/>
                <a:cs typeface="Nunito Bold"/>
                <a:sym typeface="Nunito Bold"/>
              </a:rPr>
              <a:t>sparse</a:t>
            </a:r>
            <a:r>
              <a:rPr lang="en-US" sz="21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Included to test whether Shapley-guided weighting </a:t>
            </a:r>
            <a:r>
              <a:rPr lang="en-US" sz="2100" b="true">
                <a:solidFill>
                  <a:srgbClr val="111111"/>
                </a:solidFill>
                <a:latin typeface="Nunito Bold"/>
                <a:ea typeface="Nunito Bold"/>
                <a:cs typeface="Nunito Bold"/>
                <a:sym typeface="Nunito Bold"/>
              </a:rPr>
              <a:t>helps most when the signal is weakest</a:t>
            </a:r>
            <a:r>
              <a:rPr lang="en-US" sz="21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30" name="Table 29"/>
          <p:cNvGraphicFramePr>
            <a:graphicFrameLocks noGrp="1"/>
          </p:cNvGraphicFramePr>
          <p:nvPr/>
        </p:nvGraphicFramePr>
        <p:xfrm>
          <a:off x="9349740" y="3363722"/>
          <a:ext cx="7909559" cy="3968496"/>
        </p:xfrm>
        <a:graphic>
          <a:graphicData uri="http://schemas.openxmlformats.org/drawingml/2006/table">
            <a:tbl>
              <a:tblPr firstRow="0" bandRow="0" firstCol="0" lastRow="0" lastCol="0" bandCol="0">
                <a:tableStyleId>{2D5ABB26-0587-4C30-8999-92F81FD0307C}</a:tableStyleId>
              </a:tblPr>
              <a:tblGrid>
                <a:gridCol w="4126726"/>
                <a:gridCol w="3782833"/>
              </a:tblGrid>
              <a:tr h="566928">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1" name="Rounded Rectangle 30"/>
          <p:cNvSpPr/>
          <p:nvPr/>
        </p:nvSpPr>
        <p:spPr>
          <a:xfrm>
            <a:off x="1028700" y="8196580"/>
            <a:ext cx="16230600" cy="1143000"/>
          </a:xfrm>
          <a:prstGeom prst="roundRect">
            <a:avLst>
              <a:gd name="adj" fmla="val 17600"/>
            </a:avLst>
          </a:prstGeom>
          <a:solidFill>
            <a:srgbClr val="E7EAF3"/>
          </a:solidFill>
          <a:ln>
            <a:noFill/>
          </a:ln>
        </p:spPr>
        <p:txBody>
          <a:bodyPr anchor="ctr" rtlCol="false" lIns="365760" tIns="45720" rIns="365760" bIns="45720" wrap="square"/>
          <a:lstStyle/>
          <a:p>
            <a:pPr algn="ctr">
              <a:lnSpc>
                <a:spcPts val="2300"/>
              </a:lnSpc>
              <a:spcBef>
                <a:spcPts val="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0.0447 vs 0.0006</a:t>
            </a:r>
            <a:r>
              <a:rPr lang="en-US" sz="1800" b="true">
                <a:solidFill>
                  <a:srgbClr val="111111"/>
                </a:solidFill>
                <a:latin typeface="Nunito Semi-Bold"/>
                <a:ea typeface="Nunito Semi-Bold"/>
                <a:cs typeface="Nunito Semi-Bold"/>
                <a:sym typeface="Nunito Semi-Bold"/>
              </a:rPr>
              <a:t> density gap between the two recommendation datasets is the core of the robustness argument.</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pic>
        <p:nvPicPr>
          <p:cNvPr id="25" name="Picture 24" descr="image.png"/>
          <p:cNvPicPr>
            <a:picLocks noChangeAspect="1"/>
          </p:cNvPicPr>
          <p:nvPr/>
        </p:nvPicPr>
        <p:blipFill>
          <a:blip r:embed="rId3"/>
          <a:stretch>
            <a:fillRect/>
          </a:stretch>
        </p:blipFill>
        <p:spPr>
          <a:xfrm>
            <a:off x="9239964" y="1673352"/>
            <a:ext cx="457200" cy="250983"/>
          </a:xfrm>
          <a:prstGeom prst="rect">
            <a:avLst/>
          </a:prstGeom>
        </p:spPr>
      </p:pic>
      <p:sp>
        <p:nvSpPr>
          <p:cNvPr id="26" name="Rounded Rectangle 25"/>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ounded Rectangle 28"/>
          <p:cNvSpPr/>
          <p:nvPr/>
        </p:nvSpPr>
        <p:spPr>
          <a:xfrm>
            <a:off x="1028700" y="3407410"/>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3169666"/>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31" name="TextBox 30"/>
          <p:cNvSpPr txBox="1"/>
          <p:nvPr/>
        </p:nvSpPr>
        <p:spPr>
          <a:xfrm>
            <a:off x="153162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9326880" y="3407410"/>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3169666"/>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34" name="TextBox 33"/>
          <p:cNvSpPr txBox="1"/>
          <p:nvPr/>
        </p:nvSpPr>
        <p:spPr>
          <a:xfrm>
            <a:off x="9829800" y="4047490"/>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pic>
        <p:nvPicPr>
          <p:cNvPr id="25" name="Picture 24" descr="image.png"/>
          <p:cNvPicPr>
            <a:picLocks noChangeAspect="1"/>
          </p:cNvPicPr>
          <p:nvPr/>
        </p:nvPicPr>
        <p:blipFill>
          <a:blip r:embed="rId3"/>
          <a:stretch>
            <a:fillRect/>
          </a:stretch>
        </p:blipFill>
        <p:spPr>
          <a:xfrm>
            <a:off x="3729007" y="1673352"/>
            <a:ext cx="457200" cy="539881"/>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9" name="Table 28"/>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0" name="Rounded Rectangle 29"/>
          <p:cNvSpPr/>
          <p:nvPr/>
        </p:nvSpPr>
        <p:spPr>
          <a:xfrm>
            <a:off x="1028700" y="7891526"/>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31" name="Rounded Rectangle 30"/>
          <p:cNvSpPr/>
          <p:nvPr/>
        </p:nvSpPr>
        <p:spPr>
          <a:xfrm>
            <a:off x="1348740" y="7699502"/>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32" name="TextBox 31"/>
          <p:cNvSpPr txBox="1"/>
          <p:nvPr/>
        </p:nvSpPr>
        <p:spPr>
          <a:xfrm>
            <a:off x="1394460" y="8303005"/>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[7] Ribeiro, M. T., Singh, S. &amp; Guestrin, C. KDD, 1135–1144 (2016).   [10] Koren, Y., Bell, R. &amp; Volinsky, C. Computer 42(8), 30–37 (2009).   [11] He, X. et al. WWW, 173–182 (2017).   [12] He, X. et al. SIGIR, 639–648 (2020).   [13] Xia, L. et al. SIGIR, 70–79 (2022).   [14] Xiangyi, Y. et al. Int. J. Data Science and Analytics 19(2), 269–281 (2025).   [15] Zhang, D. et al. The Web Conference, 3655–3666 (2024).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pic>
        <p:nvPicPr>
          <p:cNvPr id="25" name="Picture 24" descr="image.png"/>
          <p:cNvPicPr>
            <a:picLocks noChangeAspect="1"/>
          </p:cNvPicPr>
          <p:nvPr/>
        </p:nvPicPr>
        <p:blipFill>
          <a:blip r:embed="rId3"/>
          <a:stretch>
            <a:fillRect/>
          </a:stretch>
        </p:blipFill>
        <p:spPr>
          <a:xfrm>
            <a:off x="6134170" y="1673352"/>
            <a:ext cx="457200" cy="373212"/>
          </a:xfrm>
          <a:prstGeom prst="rect">
            <a:avLst/>
          </a:prstGeom>
        </p:spPr>
      </p:pic>
      <p:sp>
        <p:nvSpPr>
          <p:cNvPr id="26" name="Rounded Rectangle 25"/>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7" name="Rounded Rectangle 26"/>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8" name="Rounded Rectangle 27"/>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9" name="Rectangle 28"/>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30" name="TextBox 29"/>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31" name="TextBox 30"/>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32" name="TextBox 31"/>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33" name="Rectangle 32"/>
          <p:cNvSpPr/>
          <p:nvPr/>
        </p:nvSpPr>
        <p:spPr>
          <a:xfrm>
            <a:off x="1028700" y="3747770"/>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34" name="TextBox 33"/>
          <p:cNvSpPr txBox="1"/>
          <p:nvPr/>
        </p:nvSpPr>
        <p:spPr>
          <a:xfrm>
            <a:off x="1165860" y="3747770"/>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5" name="Equation"/>
              <p:cNvSpPr txBox="1"/>
              <p:nvPr/>
            </p:nvSpPr>
            <p:spPr>
              <a:xfrm>
                <a:off x="3771900" y="3775202"/>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NDCG@</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m:rPr>
                              <m:sty m:val="p"/>
                            </m:rPr>
                            <a:rPr lang="en-US" sz="1600">
                              <a:solidFill>
                                <a:srgbClr val="111111"/>
                              </a:solidFill>
                              <a:latin typeface="Cambria Math" panose="02040503050406030204" pitchFamily="18" charset="0"/>
                            </a:rPr>
                            <m:t xml:space="preserve">IDCG@</m:t>
                          </m:r>
                          <m:r>
                            <a:rPr lang="en-US" sz="1600" i="1">
                              <a:solidFill>
                                <a:srgbClr val="111111"/>
                              </a:solidFill>
                              <a:latin typeface="Cambria Math" panose="02040503050406030204" pitchFamily="18" charset="0"/>
                            </a:rPr>
                            <m:t xml:space="preserve">K</m:t>
                          </m:r>
                        </m:den>
                      </m:f>
                      <m:r>
                        <m:rPr>
                          <m:sty m:val="p"/>
                        </m:rPr>
                        <a:rPr lang="en-US" sz="1600">
                          <a:solidFill>
                            <a:srgbClr val="111111"/>
                          </a:solidFill>
                          <a:latin typeface="Cambria Math" panose="02040503050406030204" pitchFamily="18" charset="0"/>
                        </a:rPr>
                        <m:t xml:space="preserve"> </m:t>
                      </m:r>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rel</m:t>
                                  </m:r>
                                </m:e>
                                <m:sub>
                                  <m:r>
                                    <a:rPr lang="en-US" sz="1600" i="1">
                                      <a:solidFill>
                                        <a:srgbClr val="111111"/>
                                      </a:solidFill>
                                      <a:latin typeface="Cambria Math" panose="02040503050406030204" pitchFamily="18" charset="0"/>
                                    </a:rPr>
                                    <m:t xml:space="preserve">i</m:t>
                                  </m:r>
                                </m:sub>
                              </m:sSub>
                            </m:num>
                            <m:den>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log</m:t>
                                  </m:r>
                                </m:e>
                                <m:sub>
                                  <m:r>
                                    <m:rPr>
                                      <m:sty m:val="p"/>
                                    </m:rPr>
                                    <a:rPr lang="en-US" sz="1600">
                                      <a:solidFill>
                                        <a:srgbClr val="111111"/>
                                      </a:solidFill>
                                      <a:latin typeface="Cambria Math" panose="02040503050406030204" pitchFamily="18" charset="0"/>
                                    </a:rPr>
                                    <m:t xml:space="preserve">2</m:t>
                                  </m:r>
                                </m:sub>
                              </m:sSub>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+1)</m:t>
                              </m:r>
                            </m:den>
                          </m:f>
                        </m:e>
                      </m:nary>
                    </m:oMath>
                  </m:oMathPara>
                </a14:m>
                <a:endParaRPr lang="en-US" sz="1600"/>
              </a:p>
            </p:txBody>
          </p:sp>
        </mc:Choice>
        <mc:Fallback>
          <p:sp>
            <p:nvSpPr>
              <p:cNvPr id="35" name="Equation"/>
              <p:cNvSpPr txBox="1"/>
              <p:nvPr/>
            </p:nvSpPr>
            <p:spPr>
              <a:xfrm>
                <a:off x="3771900" y="3775202"/>
                <a:ext cx="6309360" cy="780499"/>
              </a:xfrm>
              <a:prstGeom prst="rect">
                <a:avLst/>
              </a:prstGeom>
              <a:blipFill>
                <a:blip r:embed="rId4"/>
                <a:stretch>
                  <a:fillRect/>
                </a:stretch>
              </a:blipFill>
            </p:spPr>
            <p:txBody>
              <a:bodyPr/>
              <a:lstStyle/>
              <a:p>
                <a:endParaRPr lang="en-US"/>
              </a:p>
            </p:txBody>
          </p:sp>
        </mc:Fallback>
      </mc:AlternateContent>
      <p:sp>
        <p:nvSpPr>
          <p:cNvPr id="36" name="TextBox 35"/>
          <p:cNvSpPr txBox="1"/>
          <p:nvPr/>
        </p:nvSpPr>
        <p:spPr>
          <a:xfrm>
            <a:off x="10309860" y="3747770"/>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7" name="Connector 36"/>
          <p:cNvCxnSpPr/>
          <p:nvPr/>
        </p:nvCxnSpPr>
        <p:spPr>
          <a:xfrm>
            <a:off x="1028700" y="4583133"/>
            <a:ext cx="16230600" cy="0"/>
          </a:xfrm>
          <a:prstGeom prst="line">
            <a:avLst/>
          </a:prstGeom>
          <a:ln w="12700">
            <a:solidFill>
              <a:srgbClr val="E3D6C4"/>
            </a:solidFill>
          </a:ln>
        </p:spPr>
      </p:cxnSp>
      <p:sp>
        <p:nvSpPr>
          <p:cNvPr id="38" name="Rectangle 37"/>
          <p:cNvSpPr/>
          <p:nvPr/>
        </p:nvSpPr>
        <p:spPr>
          <a:xfrm>
            <a:off x="1028700" y="4583133"/>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165860" y="4583133"/>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40" name="Equation"/>
              <p:cNvSpPr txBox="1"/>
              <p:nvPr/>
            </p:nvSpPr>
            <p:spPr>
              <a:xfrm>
                <a:off x="3771900" y="4610565"/>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Recall@</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 </m:t>
                          </m:r>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num>
                        <m:den>
                          <m:r>
                            <m:rPr>
                              <m:sty m:val="p"/>
                            </m:rPr>
                            <a:rPr lang="en-US" sz="1600">
                              <a:solidFill>
                                <a:srgbClr val="111111"/>
                              </a:solidFill>
                              <a:latin typeface="Cambria Math" panose="02040503050406030204" pitchFamily="18" charset="0"/>
                            </a:rPr>
                            <m:t xml:space="preserve">| </m:t>
                          </m:r>
                          <m:sSub>
                            <m:sSubPr>
                              <m:ctrlPr>
                                <a:rPr lang="en-US" sz="1600" i="1">
                                  <a:solidFill>
                                    <a:srgbClr val="111111"/>
                                  </a:solidFill>
                                  <a:latin typeface="Cambria Math" panose="02040503050406030204" pitchFamily="18" charset="0"/>
                                </a:rPr>
                              </m:ctrlPr>
                            </m:sSubPr>
                            <m:e>
                              <m:r>
                                <m:rPr>
                                  <m:scr m:val="script"/>
                                  <m:sty m:val="p"/>
                                </m:rPr>
                                <a:rPr lang="en-US" sz="1600">
                                  <a:solidFill>
                                    <a:srgbClr val="111111"/>
                                  </a:solidFill>
                                  <a:latin typeface="Cambria Math" panose="02040503050406030204" pitchFamily="18" charset="0"/>
                                </a:rPr>
                                <m:t xml:space="preserve">R</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 |</m:t>
                          </m:r>
                        </m:den>
                      </m:f>
                    </m:oMath>
                  </m:oMathPara>
                </a14:m>
                <a:endParaRPr lang="en-US" sz="1600"/>
              </a:p>
            </p:txBody>
          </p:sp>
        </mc:Choice>
        <mc:Fallback>
          <p:sp>
            <p:nvSpPr>
              <p:cNvPr id="40" name="Equation"/>
              <p:cNvSpPr txBox="1"/>
              <p:nvPr/>
            </p:nvSpPr>
            <p:spPr>
              <a:xfrm>
                <a:off x="3771900" y="4610565"/>
                <a:ext cx="6309360" cy="780499"/>
              </a:xfrm>
              <a:prstGeom prst="rect">
                <a:avLst/>
              </a:prstGeom>
              <a:blipFill>
                <a:blip r:embed="rId5"/>
                <a:stretch>
                  <a:fillRect/>
                </a:stretch>
              </a:blipFill>
            </p:spPr>
            <p:txBody>
              <a:bodyPr/>
              <a:lstStyle/>
              <a:p>
                <a:endParaRPr lang="en-US"/>
              </a:p>
            </p:txBody>
          </p:sp>
        </mc:Fallback>
      </mc:AlternateContent>
      <p:sp>
        <p:nvSpPr>
          <p:cNvPr id="41" name="TextBox 40"/>
          <p:cNvSpPr txBox="1"/>
          <p:nvPr/>
        </p:nvSpPr>
        <p:spPr>
          <a:xfrm>
            <a:off x="10309860" y="4583133"/>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42" name="Connector 41"/>
          <p:cNvCxnSpPr/>
          <p:nvPr/>
        </p:nvCxnSpPr>
        <p:spPr>
          <a:xfrm>
            <a:off x="1028700" y="5418497"/>
            <a:ext cx="16230600" cy="0"/>
          </a:xfrm>
          <a:prstGeom prst="line">
            <a:avLst/>
          </a:prstGeom>
          <a:ln w="12700">
            <a:solidFill>
              <a:srgbClr val="E3D6C4"/>
            </a:solidFill>
          </a:ln>
        </p:spPr>
      </p:cxnSp>
      <p:sp>
        <p:nvSpPr>
          <p:cNvPr id="43" name="Rectangle 42"/>
          <p:cNvSpPr/>
          <p:nvPr/>
        </p:nvSpPr>
        <p:spPr>
          <a:xfrm>
            <a:off x="1028700" y="5418497"/>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44" name="TextBox 43"/>
          <p:cNvSpPr txBox="1"/>
          <p:nvPr/>
        </p:nvSpPr>
        <p:spPr>
          <a:xfrm>
            <a:off x="1165860" y="5418497"/>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445929"/>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Cov=</m:t>
                      </m:r>
                      <m:f>
                        <m:fPr>
                          <m:ctrlPr>
                            <a:rPr lang="en-US" sz="1600" i="1">
                              <a:solidFill>
                                <a:srgbClr val="111111"/>
                              </a:solidFill>
                              <a:latin typeface="Cambria Math" panose="02040503050406030204" pitchFamily="18" charset="0"/>
                            </a:rPr>
                          </m:ctrlPr>
                        </m:fPr>
                        <m:num>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u</m:t>
                                  </m:r>
                                </m:sub>
                                <m:sup/>
                                <m:e>
                                  <m:sSubSup>
                                    <m:sSubSupPr>
                                      <m:ctrlPr>
                                        <a:rPr lang="en-US" sz="1600" i="1">
                                          <a:solidFill>
                                            <a:srgbClr val="111111"/>
                                          </a:solidFill>
                                          <a:latin typeface="Cambria Math" panose="02040503050406030204" pitchFamily="18" charset="0"/>
                                        </a:rPr>
                                      </m:ctrlPr>
                                    </m:sSubSup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up>
                                      <m:r>
                                        <a:rPr lang="en-US" sz="1600" i="1">
                                          <a:solidFill>
                                            <a:srgbClr val="111111"/>
                                          </a:solidFill>
                                          <a:latin typeface="Cambria Math" panose="02040503050406030204" pitchFamily="18" charset="0"/>
                                        </a:rPr>
                                        <m:t xml:space="preserve">K</m:t>
                                      </m:r>
                                    </m:sup>
                                  </m:sSubSup>
                                </m:e>
                              </m:nary>
                              <m:r>
                                <m:rPr>
                                  <m:sty m:val="p"/>
                                </m:rPr>
                                <a:rPr lang="en-US" sz="1600">
                                  <a:solidFill>
                                    <a:srgbClr val="111111"/>
                                  </a:solidFill>
                                  <a:latin typeface="Cambria Math" panose="02040503050406030204" pitchFamily="18" charset="0"/>
                                </a:rPr>
                                <m:t xml:space="preserve"> </m:t>
                              </m:r>
                            </m:e>
                          </m:d>
                        </m:num>
                        <m:den>
                          <m:d>
                            <m:dPr>
                              <m:begChr m:val="|"/>
                              <m:endChr m:val="|"/>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 </m:t>
                              </m:r>
                            </m:e>
                          </m:d>
                        </m:den>
                      </m:f>
                    </m:oMath>
                  </m:oMathPara>
                </a14:m>
                <a:endParaRPr lang="en-US" sz="1600"/>
              </a:p>
            </p:txBody>
          </p:sp>
        </mc:Choice>
        <mc:Fallback>
          <p:sp>
            <p:nvSpPr>
              <p:cNvPr id="45" name="Equation"/>
              <p:cNvSpPr txBox="1"/>
              <p:nvPr/>
            </p:nvSpPr>
            <p:spPr>
              <a:xfrm>
                <a:off x="3771900" y="5445929"/>
                <a:ext cx="6309360" cy="780499"/>
              </a:xfrm>
              <a:prstGeom prst="rect">
                <a:avLst/>
              </a:prstGeom>
              <a:blipFill>
                <a:blip r:embed="rId6"/>
                <a:stretch>
                  <a:fillRect/>
                </a:stretch>
              </a:blipFill>
            </p:spPr>
            <p:txBody>
              <a:bodyPr/>
              <a:lstStyle/>
              <a:p>
                <a:endParaRPr lang="en-US"/>
              </a:p>
            </p:txBody>
          </p:sp>
        </mc:Fallback>
      </mc:AlternateContent>
      <p:sp>
        <p:nvSpPr>
          <p:cNvPr id="46" name="TextBox 45"/>
          <p:cNvSpPr txBox="1"/>
          <p:nvPr/>
        </p:nvSpPr>
        <p:spPr>
          <a:xfrm>
            <a:off x="10309860" y="5418497"/>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253861"/>
            <a:ext cx="16230600" cy="0"/>
          </a:xfrm>
          <a:prstGeom prst="line">
            <a:avLst/>
          </a:prstGeom>
          <a:ln w="12700">
            <a:solidFill>
              <a:srgbClr val="E3D6C4"/>
            </a:solidFill>
          </a:ln>
        </p:spPr>
      </p:cxnSp>
      <p:sp>
        <p:nvSpPr>
          <p:cNvPr id="48" name="Rectangle 47"/>
          <p:cNvSpPr/>
          <p:nvPr/>
        </p:nvSpPr>
        <p:spPr>
          <a:xfrm>
            <a:off x="1028700" y="6253861"/>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49" name="TextBox 48"/>
          <p:cNvSpPr txBox="1"/>
          <p:nvPr/>
        </p:nvSpPr>
        <p:spPr>
          <a:xfrm>
            <a:off x="1165860" y="6253861"/>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281293"/>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ILD(</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L</m:t>
                          </m:r>
                        </m:e>
                        <m:sub>
                          <m:r>
                            <a:rPr lang="en-US" sz="1600" i="1">
                              <a:solidFill>
                                <a:srgbClr val="111111"/>
                              </a:solidFill>
                              <a:latin typeface="Cambria Math" panose="02040503050406030204" pitchFamily="18" charset="0"/>
                            </a:rPr>
                            <m:t xml:space="preserve">u</m:t>
                          </m:r>
                        </m:sub>
                      </m:sSub>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2</m:t>
                          </m:r>
                        </m:num>
                        <m:den>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K</m:t>
                          </m:r>
                          <m:r>
                            <m:rPr>
                              <m:sty m:val="p"/>
                            </m:rPr>
                            <a:rPr lang="en-US" sz="1600">
                              <a:solidFill>
                                <a:srgbClr val="111111"/>
                              </a:solidFill>
                              <a:latin typeface="Cambria Math" panose="02040503050406030204" pitchFamily="18" charset="0"/>
                            </a:rPr>
                            <m:t xml:space="preserve">−1)</m:t>
                          </m:r>
                        </m:den>
                      </m:f>
                      <m:nary>
                        <m:naryPr>
                          <m:chr m:val="∑"/>
                          <m:limLoc m:val="subSup"/>
                          <m:supHide m:val="1"/>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&lt;</m:t>
                          </m:r>
                          <m:r>
                            <a:rPr lang="en-US" sz="1600" i="1">
                              <a:solidFill>
                                <a:srgbClr val="111111"/>
                              </a:solidFill>
                              <a:latin typeface="Cambria Math" panose="02040503050406030204" pitchFamily="18" charset="0"/>
                            </a:rPr>
                            <m:t xml:space="preserve">j</m:t>
                          </m:r>
                        </m:sub>
                        <m:sup/>
                        <m:e>
                          <m:d>
                            <m:dPr>
                              <m:ctrlPr>
                                <a:rPr lang="en-US" sz="1600" i="1">
                                  <a:solidFill>
                                    <a:srgbClr val="111111"/>
                                  </a:solidFill>
                                  <a:latin typeface="Cambria Math" panose="02040503050406030204" pitchFamily="18" charset="0"/>
                                </a:rPr>
                              </m:ctrlPr>
                            </m:dPr>
                            <m:e>
                              <m:r>
                                <m:rPr>
                                  <m:sty m:val="p"/>
                                </m:rPr>
                                <a:rPr lang="en-US" sz="1600">
                                  <a:solidFill>
                                    <a:srgbClr val="111111"/>
                                  </a:solidFill>
                                  <a:latin typeface="Cambria Math" panose="02040503050406030204" pitchFamily="18" charset="0"/>
                                </a:rPr>
                                <m:t xml:space="preserve">1−sim(</m:t>
                              </m:r>
                              <m:r>
                                <a:rPr lang="en-US" sz="1600" i="1">
                                  <a:solidFill>
                                    <a:srgbClr val="111111"/>
                                  </a:solidFill>
                                  <a:latin typeface="Cambria Math" panose="02040503050406030204" pitchFamily="18" charset="0"/>
                                </a:rPr>
                                <m:t xml:space="preserve">i</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j</m:t>
                              </m:r>
                              <m:r>
                                <m:rPr>
                                  <m:sty m:val="p"/>
                                </m:rPr>
                                <a:rPr lang="en-US" sz="1600">
                                  <a:solidFill>
                                    <a:srgbClr val="111111"/>
                                  </a:solidFill>
                                  <a:latin typeface="Cambria Math" panose="02040503050406030204" pitchFamily="18" charset="0"/>
                                </a:rPr>
                                <m:t xml:space="preserve">)</m:t>
                              </m:r>
                            </m:e>
                          </m:d>
                        </m:e>
                      </m:nary>
                    </m:oMath>
                  </m:oMathPara>
                </a14:m>
                <a:endParaRPr lang="en-US" sz="1600"/>
              </a:p>
            </p:txBody>
          </p:sp>
        </mc:Choice>
        <mc:Fallback>
          <p:sp>
            <p:nvSpPr>
              <p:cNvPr id="50" name="Equation"/>
              <p:cNvSpPr txBox="1"/>
              <p:nvPr/>
            </p:nvSpPr>
            <p:spPr>
              <a:xfrm>
                <a:off x="3771900" y="6281293"/>
                <a:ext cx="6309360" cy="780499"/>
              </a:xfrm>
              <a:prstGeom prst="rect">
                <a:avLst/>
              </a:prstGeom>
              <a:blipFill>
                <a:blip r:embed="rId7"/>
                <a:stretch>
                  <a:fillRect/>
                </a:stretch>
              </a:blipFill>
            </p:spPr>
            <p:txBody>
              <a:bodyPr/>
              <a:lstStyle/>
              <a:p>
                <a:endParaRPr lang="en-US"/>
              </a:p>
            </p:txBody>
          </p:sp>
        </mc:Fallback>
      </mc:AlternateContent>
      <p:sp>
        <p:nvSpPr>
          <p:cNvPr id="51" name="TextBox 50"/>
          <p:cNvSpPr txBox="1"/>
          <p:nvPr/>
        </p:nvSpPr>
        <p:spPr>
          <a:xfrm>
            <a:off x="10309860" y="6253861"/>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089224"/>
            <a:ext cx="16230600" cy="0"/>
          </a:xfrm>
          <a:prstGeom prst="line">
            <a:avLst/>
          </a:prstGeom>
          <a:ln w="12700">
            <a:solidFill>
              <a:srgbClr val="E3D6C4"/>
            </a:solidFill>
          </a:ln>
        </p:spPr>
      </p:cxnSp>
      <p:sp>
        <p:nvSpPr>
          <p:cNvPr id="53" name="Rectangle 52"/>
          <p:cNvSpPr/>
          <p:nvPr/>
        </p:nvSpPr>
        <p:spPr>
          <a:xfrm>
            <a:off x="1028700" y="7089224"/>
            <a:ext cx="16230600" cy="835363"/>
          </a:xfrm>
          <a:prstGeom prst="rect">
            <a:avLst/>
          </a:prstGeom>
          <a:solidFill>
            <a:srgbClr val="FFFFFF"/>
          </a:solidFill>
          <a:ln>
            <a:noFill/>
          </a:ln>
        </p:spPr>
        <p:txBody>
          <a:bodyPr anchor="ctr" rtlCol="false" lIns="0" tIns="0" rIns="0" bIns="0" wrap="square"/>
          <a:lstStyle/>
          <a:p>
            <a:endParaRPr lang="en-US" sz="1800"/>
          </a:p>
        </p:txBody>
      </p:sp>
      <p:sp>
        <p:nvSpPr>
          <p:cNvPr id="54" name="TextBox 53"/>
          <p:cNvSpPr txBox="1"/>
          <p:nvPr/>
        </p:nvSpPr>
        <p:spPr>
          <a:xfrm>
            <a:off x="1165860" y="7089224"/>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116656"/>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f>
                        <m:fPr>
                          <m:ctrlPr>
                            <a:rPr lang="en-US" sz="1600" i="1">
                              <a:solidFill>
                                <a:srgbClr val="111111"/>
                              </a:solidFill>
                              <a:latin typeface="Cambria Math" panose="02040503050406030204" pitchFamily="18" charset="0"/>
                            </a:rPr>
                          </m:ctrlPr>
                        </m:fPr>
                        <m:num>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num>
                        <m:den>
                          <m:r>
                            <m:rPr>
                              <m:sty m:val="p"/>
                            </m:rPr>
                            <a:rPr lang="en-US" sz="1600">
                              <a:solidFill>
                                <a:srgbClr val="111111"/>
                              </a:solidFill>
                              <a:latin typeface="Cambria Math" panose="02040503050406030204" pitchFamily="18" charset="0"/>
                            </a:rPr>
                            <m:t xml:space="preserve">max{</m:t>
                          </m:r>
                          <m:r>
                            <a:rPr lang="en-US" sz="1600" i="1">
                              <a:solidFill>
                                <a:srgbClr val="111111"/>
                              </a:solidFill>
                              <a:latin typeface="Cambria Math" panose="02040503050406030204" pitchFamily="18" charset="0"/>
                            </a:rPr>
                            <m:t xml:space="preserve">a</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b</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x</m:t>
                          </m:r>
                          <m:r>
                            <m:rPr>
                              <m:sty m:val="p"/>
                            </m:rPr>
                            <a:rPr lang="en-US" sz="1600">
                              <a:solidFill>
                                <a:srgbClr val="111111"/>
                              </a:solidFill>
                              <a:latin typeface="Cambria Math" panose="02040503050406030204" pitchFamily="18" charset="0"/>
                            </a:rPr>
                            <m:t xml:space="preserve">)}</m:t>
                          </m:r>
                        </m:den>
                      </m:f>
                      <m:r>
                        <m:rPr>
                          <m:sty m:val="p"/>
                        </m:rPr>
                        <a:rPr lang="en-US" sz="1600">
                          <a:solidFill>
                            <a:srgbClr val="111111"/>
                          </a:solidFill>
                          <a:latin typeface="Cambria Math" panose="02040503050406030204" pitchFamily="18" charset="0"/>
                        </a:rPr>
                        <m:t xml:space="preserve">,  </m:t>
                      </m:r>
                      <m:r>
                        <a:rPr lang="en-US" sz="1600" i="1">
                          <a:solidFill>
                            <a:srgbClr val="111111"/>
                          </a:solidFill>
                          <a:latin typeface="Cambria Math" panose="02040503050406030204" pitchFamily="18" charset="0"/>
                        </a:rPr>
                        <m:t xml:space="preserve">s</m:t>
                      </m:r>
                      <m:r>
                        <m:rPr>
                          <m:sty m:val="p"/>
                        </m:rPr>
                        <a:rPr lang="en-US" sz="1600">
                          <a:solidFill>
                            <a:srgbClr val="111111"/>
                          </a:solidFill>
                          <a:latin typeface="Cambria Math" panose="02040503050406030204" pitchFamily="18" charset="0"/>
                        </a:rPr>
                        <m:t xml:space="preserve">∈[−1,1]</m:t>
                      </m:r>
                    </m:oMath>
                  </m:oMathPara>
                </a14:m>
                <a:endParaRPr lang="en-US" sz="1600"/>
              </a:p>
            </p:txBody>
          </p:sp>
        </mc:Choice>
        <mc:Fallback>
          <p:sp>
            <p:nvSpPr>
              <p:cNvPr id="55" name="Equation"/>
              <p:cNvSpPr txBox="1"/>
              <p:nvPr/>
            </p:nvSpPr>
            <p:spPr>
              <a:xfrm>
                <a:off x="3771900" y="7116656"/>
                <a:ext cx="6309360" cy="780499"/>
              </a:xfrm>
              <a:prstGeom prst="rect">
                <a:avLst/>
              </a:prstGeom>
              <a:blipFill>
                <a:blip r:embed="rId8"/>
                <a:stretch>
                  <a:fillRect/>
                </a:stretch>
              </a:blipFill>
            </p:spPr>
            <p:txBody>
              <a:bodyPr/>
              <a:lstStyle/>
              <a:p>
                <a:endParaRPr lang="en-US"/>
              </a:p>
            </p:txBody>
          </p:sp>
        </mc:Fallback>
      </mc:AlternateContent>
      <p:sp>
        <p:nvSpPr>
          <p:cNvPr id="56" name="TextBox 55"/>
          <p:cNvSpPr txBox="1"/>
          <p:nvPr/>
        </p:nvSpPr>
        <p:spPr>
          <a:xfrm>
            <a:off x="10309860" y="7089224"/>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7924588"/>
            <a:ext cx="16230600" cy="0"/>
          </a:xfrm>
          <a:prstGeom prst="line">
            <a:avLst/>
          </a:prstGeom>
          <a:ln w="12700">
            <a:solidFill>
              <a:srgbClr val="E3D6C4"/>
            </a:solidFill>
          </a:ln>
        </p:spPr>
      </p:cxnSp>
      <p:sp>
        <p:nvSpPr>
          <p:cNvPr id="58" name="Rectangle 57"/>
          <p:cNvSpPr/>
          <p:nvPr/>
        </p:nvSpPr>
        <p:spPr>
          <a:xfrm>
            <a:off x="1028700" y="7924588"/>
            <a:ext cx="16230600" cy="835363"/>
          </a:xfrm>
          <a:prstGeom prst="rect">
            <a:avLst/>
          </a:prstGeom>
          <a:solidFill>
            <a:srgbClr val="E7EAF3"/>
          </a:solidFill>
          <a:ln>
            <a:noFill/>
          </a:ln>
        </p:spPr>
        <p:txBody>
          <a:bodyPr anchor="ctr" rtlCol="false" lIns="0" tIns="0" rIns="0" bIns="0" wrap="square"/>
          <a:lstStyle/>
          <a:p>
            <a:endParaRPr lang="en-US" sz="1800"/>
          </a:p>
        </p:txBody>
      </p:sp>
      <p:sp>
        <p:nvSpPr>
          <p:cNvPr id="59" name="TextBox 58"/>
          <p:cNvSpPr txBox="1"/>
          <p:nvPr/>
        </p:nvSpPr>
        <p:spPr>
          <a:xfrm>
            <a:off x="1165860" y="7924588"/>
            <a:ext cx="2377440" cy="835363"/>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7952020"/>
                <a:ext cx="6309360" cy="780499"/>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600">
                          <a:solidFill>
                            <a:srgbClr val="111111"/>
                          </a:solidFill>
                          <a:latin typeface="Cambria Math" panose="02040503050406030204" pitchFamily="18" charset="0"/>
                        </a:rPr>
                        <m:t xml:space="preserve">DB=</m:t>
                      </m:r>
                      <m:f>
                        <m:fPr>
                          <m:ctrlPr>
                            <a:rPr lang="en-US" sz="1600" i="1">
                              <a:solidFill>
                                <a:srgbClr val="111111"/>
                              </a:solidFill>
                              <a:latin typeface="Cambria Math" panose="02040503050406030204" pitchFamily="18" charset="0"/>
                            </a:rPr>
                          </m:ctrlPr>
                        </m:fPr>
                        <m:num>
                          <m:r>
                            <m:rPr>
                              <m:sty m:val="p"/>
                            </m:rPr>
                            <a:rPr lang="en-US" sz="1600">
                              <a:solidFill>
                                <a:srgbClr val="111111"/>
                              </a:solidFill>
                              <a:latin typeface="Cambria Math" panose="02040503050406030204" pitchFamily="18" charset="0"/>
                            </a:rPr>
                            <m:t xml:space="preserve">1</m:t>
                          </m:r>
                        </m:num>
                        <m:den>
                          <m:r>
                            <a:rPr lang="en-US" sz="1600" i="1">
                              <a:solidFill>
                                <a:srgbClr val="111111"/>
                              </a:solidFill>
                              <a:latin typeface="Cambria Math" panose="02040503050406030204" pitchFamily="18" charset="0"/>
                            </a:rPr>
                            <m:t xml:space="preserve">k</m:t>
                          </m:r>
                        </m:den>
                      </m:f>
                      <m:nary>
                        <m:naryPr>
                          <m:chr m:val="∑"/>
                          <m:limLoc m:val="subSup"/>
                          <m:ctrlPr>
                            <a:rPr lang="en-US" sz="1600" i="1">
                              <a:solidFill>
                                <a:srgbClr val="111111"/>
                              </a:solidFill>
                              <a:latin typeface="Cambria Math" panose="02040503050406030204" pitchFamily="18" charset="0"/>
                            </a:rPr>
                          </m:ctrlPr>
                        </m:naryPr>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=1</m:t>
                          </m:r>
                        </m:sub>
                        <m:sup>
                          <m:r>
                            <a:rPr lang="en-US" sz="1600" i="1">
                              <a:solidFill>
                                <a:srgbClr val="111111"/>
                              </a:solidFill>
                              <a:latin typeface="Cambria Math" panose="02040503050406030204" pitchFamily="18" charset="0"/>
                            </a:rPr>
                            <m:t xml:space="preserve">k</m:t>
                          </m:r>
                        </m:sup>
                        <m:e>
                          <m:sSub>
                            <m:sSubPr>
                              <m:ctrlPr>
                                <a:rPr lang="en-US" sz="1600" i="1">
                                  <a:solidFill>
                                    <a:srgbClr val="111111"/>
                                  </a:solidFill>
                                  <a:latin typeface="Cambria Math" panose="02040503050406030204" pitchFamily="18" charset="0"/>
                                </a:rPr>
                              </m:ctrlPr>
                            </m:sSubPr>
                            <m:e>
                              <m:r>
                                <m:rPr>
                                  <m:sty m:val="p"/>
                                </m:rPr>
                                <a:rPr lang="en-US" sz="1600">
                                  <a:solidFill>
                                    <a:srgbClr val="111111"/>
                                  </a:solidFill>
                                  <a:latin typeface="Cambria Math" panose="02040503050406030204" pitchFamily="18" charset="0"/>
                                </a:rPr>
                                <m:t xml:space="preserve">max</m:t>
                              </m:r>
                            </m:e>
                            <m:sub>
                              <m:r>
                                <a:rPr lang="en-US" sz="1600" i="1">
                                  <a:solidFill>
                                    <a:srgbClr val="111111"/>
                                  </a:solidFill>
                                  <a:latin typeface="Cambria Math" panose="02040503050406030204" pitchFamily="18" charset="0"/>
                                </a:rPr>
                                <m:t xml:space="preserve">c′</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c</m:t>
                              </m:r>
                            </m:sub>
                          </m:sSub>
                        </m:e>
                      </m:nary>
                      <m:f>
                        <m:fPr>
                          <m:ctrlPr>
                            <a:rPr lang="en-US" sz="1600" i="1">
                              <a:solidFill>
                                <a:srgbClr val="111111"/>
                              </a:solidFill>
                              <a:latin typeface="Cambria Math" panose="02040503050406030204" pitchFamily="18" charset="0"/>
                            </a:rPr>
                          </m:ctrlPr>
                        </m:fPr>
                        <m:num>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σ</m:t>
                              </m:r>
                            </m:e>
                            <m:sub>
                              <m:r>
                                <a:rPr lang="en-US" sz="1600" i="1">
                                  <a:solidFill>
                                    <a:srgbClr val="111111"/>
                                  </a:solidFill>
                                  <a:latin typeface="Cambria Math" panose="02040503050406030204" pitchFamily="18" charset="0"/>
                                </a:rPr>
                                <m:t xml:space="preserve">c′</m:t>
                              </m:r>
                            </m:sub>
                          </m:sSub>
                        </m:num>
                        <m:den>
                          <m:r>
                            <a:rPr lang="en-US" sz="1600" i="1">
                              <a:solidFill>
                                <a:srgbClr val="111111"/>
                              </a:solidFill>
                              <a:latin typeface="Cambria Math" panose="02040503050406030204" pitchFamily="18" charset="0"/>
                            </a:rPr>
                            <m:t xml:space="preserve">d</m:t>
                          </m:r>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sSub>
                            <m:sSubPr>
                              <m:ctrlPr>
                                <a:rPr lang="en-US" sz="1600" i="1">
                                  <a:solidFill>
                                    <a:srgbClr val="111111"/>
                                  </a:solidFill>
                                  <a:latin typeface="Cambria Math" panose="02040503050406030204" pitchFamily="18" charset="0"/>
                                </a:rPr>
                              </m:ctrlPr>
                            </m:sSubPr>
                            <m:e>
                              <m:r>
                                <a:rPr lang="en-US" sz="1600" i="1">
                                  <a:solidFill>
                                    <a:srgbClr val="111111"/>
                                  </a:solidFill>
                                  <a:latin typeface="Cambria Math" panose="02040503050406030204" pitchFamily="18" charset="0"/>
                                </a:rPr>
                                <m:t xml:space="preserve">μ</m:t>
                              </m:r>
                            </m:e>
                            <m:sub>
                              <m:r>
                                <a:rPr lang="en-US" sz="1600" i="1">
                                  <a:solidFill>
                                    <a:srgbClr val="111111"/>
                                  </a:solidFill>
                                  <a:latin typeface="Cambria Math" panose="02040503050406030204" pitchFamily="18" charset="0"/>
                                </a:rPr>
                                <m:t xml:space="preserve">c′</m:t>
                              </m:r>
                            </m:sub>
                          </m:sSub>
                          <m:r>
                            <m:rPr>
                              <m:sty m:val="p"/>
                            </m:rPr>
                            <a:rPr lang="en-US" sz="1600">
                              <a:solidFill>
                                <a:srgbClr val="111111"/>
                              </a:solidFill>
                              <a:latin typeface="Cambria Math" panose="02040503050406030204" pitchFamily="18" charset="0"/>
                            </a:rPr>
                            <m:t xml:space="preserve">)</m:t>
                          </m:r>
                        </m:den>
                      </m:f>
                    </m:oMath>
                  </m:oMathPara>
                </a14:m>
                <a:endParaRPr lang="en-US" sz="1600"/>
              </a:p>
            </p:txBody>
          </p:sp>
        </mc:Choice>
        <mc:Fallback>
          <p:sp>
            <p:nvSpPr>
              <p:cNvPr id="60" name="Equation"/>
              <p:cNvSpPr txBox="1"/>
              <p:nvPr/>
            </p:nvSpPr>
            <p:spPr>
              <a:xfrm>
                <a:off x="3771900" y="7952020"/>
                <a:ext cx="6309360" cy="780499"/>
              </a:xfrm>
              <a:prstGeom prst="rect">
                <a:avLst/>
              </a:prstGeom>
              <a:blipFill>
                <a:blip r:embed="rId9"/>
                <a:stretch>
                  <a:fillRect/>
                </a:stretch>
              </a:blipFill>
            </p:spPr>
            <p:txBody>
              <a:bodyPr/>
              <a:lstStyle/>
              <a:p>
                <a:endParaRPr lang="en-US"/>
              </a:p>
            </p:txBody>
          </p:sp>
        </mc:Fallback>
      </mc:AlternateContent>
      <p:sp>
        <p:nvSpPr>
          <p:cNvPr id="61" name="TextBox 60"/>
          <p:cNvSpPr txBox="1"/>
          <p:nvPr/>
        </p:nvSpPr>
        <p:spPr>
          <a:xfrm>
            <a:off x="10309860" y="7924588"/>
            <a:ext cx="6812280" cy="8353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759952"/>
            <a:ext cx="16230600" cy="0"/>
          </a:xfrm>
          <a:prstGeom prst="line">
            <a:avLst/>
          </a:prstGeom>
          <a:ln w="12700">
            <a:solidFill>
              <a:srgbClr val="E3D6C4"/>
            </a:solidFill>
          </a:ln>
        </p:spPr>
      </p:cxnSp>
      <p:sp>
        <p:nvSpPr>
          <p:cNvPr id="63" name="TextBox 62"/>
          <p:cNvSpPr txBox="1"/>
          <p:nvPr/>
        </p:nvSpPr>
        <p:spPr>
          <a:xfrm>
            <a:off x="1028700" y="8794496"/>
            <a:ext cx="16230600" cy="329184"/>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Notation:</a:t>
            </a:r>
            <a:r>
              <a:rPr lang="en-US" sz="1400" b="true">
                <a:solidFill>
                  <a:srgbClr val="8A8378"/>
                </a:solidFill>
                <a:latin typeface="Nunito Semi-Bold"/>
                <a:ea typeface="Nunito Semi-Bold"/>
                <a:cs typeface="Nunito Semi-Bold"/>
                <a:sym typeface="Nunito Semi-Bold"/>
              </a:rPr>
              <a:t> K </a:t>
            </a:r>
            <a:r>
              <a:rPr lang="en-US" sz="1400" b="true">
                <a:solidFill>
                  <a:srgbClr val="8A8378"/>
                </a:solidFill>
                <a:latin typeface="Cambria Math"/>
                <a:ea typeface="Cambria Math"/>
                <a:cs typeface="Cambria Math"/>
                <a:sym typeface="Cambria Math"/>
              </a:rPr>
              <a:t>∈ </a:t>
            </a:r>
            <a:r>
              <a:rPr lang="en-US" sz="1400" b="true">
                <a:solidFill>
                  <a:srgbClr val="8A8378"/>
                </a:solidFill>
                <a:latin typeface="Nunito Semi-Bold"/>
                <a:ea typeface="Nunito Semi-Bold"/>
                <a:cs typeface="Nunito Semi-Bold"/>
                <a:sym typeface="Nunito Semi-Bold"/>
              </a:rPr>
              <a:t>{5, 10, 20}, NDCG@20 is the main measure, </a:t>
            </a:r>
            <a:r>
              <a:rPr lang="en-US" sz="1400" b="true">
                <a:solidFill>
                  <a:srgbClr val="8A8378"/>
                </a:solidFill>
                <a:latin typeface="Cambria Math"/>
                <a:ea typeface="Cambria Math"/>
                <a:cs typeface="Cambria Math"/>
                <a:sym typeface="Cambria Math"/>
              </a:rPr>
              <a:t>ℛ</a:t>
            </a:r>
            <a:r>
              <a:rPr lang="en-US" sz="1400" b="true" baseline="-25000">
                <a:solidFill>
                  <a:srgbClr val="8A8378"/>
                </a:solidFill>
                <a:latin typeface="Nunito Semi-Bold"/>
                <a:ea typeface="Nunito Semi-Bold"/>
                <a:cs typeface="Nunito Semi-Bold"/>
                <a:sym typeface="Nunito Semi-Bold"/>
              </a:rPr>
              <a:t>u</a:t>
            </a:r>
            <a:r>
              <a:rPr lang="en-US" sz="1400" b="true">
                <a:solidFill>
                  <a:srgbClr val="8A8378"/>
                </a:solidFill>
                <a:latin typeface="Nunito Semi-Bold"/>
                <a:ea typeface="Nunito Semi-Bold"/>
                <a:cs typeface="Nunito Semi-Bold"/>
                <a:sym typeface="Nunito Semi-Bold"/>
              </a:rPr>
              <a:t> = held-out relevant items of u.</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pic>
        <p:nvPicPr>
          <p:cNvPr id="23" name="Picture 22" descr="image.png"/>
          <p:cNvPicPr>
            <a:picLocks noChangeAspect="1"/>
          </p:cNvPicPr>
          <p:nvPr/>
        </p:nvPicPr>
        <p:blipFill>
          <a:blip r:embed="rId3"/>
          <a:stretch>
            <a:fillRect/>
          </a:stretch>
        </p:blipFill>
        <p:spPr>
          <a:xfrm>
            <a:off x="7035228" y="1673352"/>
            <a:ext cx="457200" cy="427074"/>
          </a:xfrm>
          <a:prstGeom prst="rect">
            <a:avLst/>
          </a:prstGeom>
        </p:spPr>
      </p:pic>
      <p:sp>
        <p:nvSpPr>
          <p:cNvPr id="24" name="Rounded Rectangle 23"/>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5" name="Rounded Rectangle 24"/>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6" name="Rounded Rectangle 25"/>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7" name="Table 26"/>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8" name="TextBox 27"/>
          <p:cNvSpPr txBox="1"/>
          <p:nvPr/>
        </p:nvSpPr>
        <p:spPr>
          <a:xfrm>
            <a:off x="1028700" y="6545834"/>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9" name="Rounded Rectangle 28"/>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30" name="Rounded Rectangle 29"/>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1" name="TextBox 30"/>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32" name="Rounded Rectangle 31"/>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4" name="TextBox 33"/>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8" name="Oval 7"/>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399005"/>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31" name="Rounded Rectangle 30"/>
          <p:cNvSpPr/>
          <p:nvPr/>
        </p:nvSpPr>
        <p:spPr>
          <a:xfrm>
            <a:off x="1028700" y="7424928"/>
            <a:ext cx="16230600" cy="1482851"/>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232904"/>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1906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pic>
        <p:nvPicPr>
          <p:cNvPr id="23" name="Picture 22" descr="image.png"/>
          <p:cNvPicPr>
            <a:picLocks noChangeAspect="1"/>
          </p:cNvPicPr>
          <p:nvPr/>
        </p:nvPicPr>
        <p:blipFill>
          <a:blip r:embed="rId3"/>
          <a:stretch>
            <a:fillRect/>
          </a:stretch>
        </p:blipFill>
        <p:spPr>
          <a:xfrm>
            <a:off x="6193139"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pic>
        <p:nvPicPr>
          <p:cNvPr id="25" name="Picture 24" descr="image.png"/>
          <p:cNvPicPr>
            <a:picLocks noChangeAspect="1"/>
          </p:cNvPicPr>
          <p:nvPr/>
        </p:nvPicPr>
        <p:blipFill>
          <a:blip r:embed="rId3"/>
          <a:stretch>
            <a:fillRect/>
          </a:stretch>
        </p:blipFill>
        <p:spPr>
          <a:xfrm>
            <a:off x="12978774"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31" name="Rounded Rectangle 30"/>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33"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33"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1028700" y="6792722"/>
            <a:ext cx="7680960" cy="2148840"/>
          </a:xfrm>
          <a:prstGeom prst="roundRect">
            <a:avLst>
              <a:gd name="adj" fmla="val 11914"/>
            </a:avLst>
          </a:prstGeom>
          <a:solidFill>
            <a:srgbClr val="111111"/>
          </a:solidFill>
          <a:ln>
            <a:noFill/>
          </a:ln>
        </p:spPr>
        <p:txBody>
          <a:bodyPr anchor="ctr" rtlCol="false" lIns="0" tIns="0" rIns="0" bIns="0" wrap="square"/>
          <a:lstStyle/>
          <a:p>
            <a:endParaRPr lang="en-US" sz="1800"/>
          </a:p>
        </p:txBody>
      </p:sp>
      <p:sp>
        <p:nvSpPr>
          <p:cNvPr id="35" name="TextBox 34"/>
          <p:cNvSpPr txBox="1"/>
          <p:nvPr/>
        </p:nvSpPr>
        <p:spPr>
          <a:xfrm>
            <a:off x="1028700" y="6939026"/>
            <a:ext cx="7680960" cy="256032"/>
          </a:xfrm>
          <a:prstGeom prst="rect">
            <a:avLst/>
          </a:prstGeom>
          <a:noFill/>
        </p:spPr>
        <p:txBody>
          <a:bodyPr anchor="t" rtlCol="false" lIns="0" tIns="0" rIns="0" bIns="0" wrap="square"/>
          <a:lstStyle/>
          <a:p>
            <a:pPr algn="ctr">
              <a:lnSpc>
                <a:spcPts val="1600"/>
              </a:lnSpc>
              <a:spcBef>
                <a:spcPts val="0"/>
              </a:spcBef>
              <a:buNone/>
            </a:pPr>
            <a:r>
              <a:rPr lang="en-US" sz="14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6" name="Equation"/>
              <p:cNvSpPr txBox="1"/>
              <p:nvPr/>
            </p:nvSpPr>
            <p:spPr>
              <a:xfrm>
                <a:off x="1211580" y="7249922"/>
                <a:ext cx="7315200" cy="11887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950" i="1">
                              <a:solidFill>
                                <a:srgbClr val="FFFFFF"/>
                              </a:solidFill>
                              <a:latin typeface="Cambria Math" panose="02040503050406030204" pitchFamily="18" charset="0"/>
                            </a:rPr>
                          </m:ctrlPr>
                        </m:sSubPr>
                        <m:e>
                          <m:r>
                            <a:rPr lang="en-US" sz="1950" i="1">
                              <a:solidFill>
                                <a:srgbClr val="FFFFFF"/>
                              </a:solidFill>
                              <a:latin typeface="Cambria Math" panose="02040503050406030204" pitchFamily="18" charset="0"/>
                            </a:rPr>
                            <m:t xml:space="preserve">φ</m:t>
                          </m:r>
                        </m:e>
                        <m:sub>
                          <m:r>
                            <a:rPr lang="en-US" sz="1950" i="1">
                              <a:solidFill>
                                <a:srgbClr val="FFFFFF"/>
                              </a:solidFill>
                              <a:latin typeface="Cambria Math" panose="02040503050406030204" pitchFamily="18" charset="0"/>
                            </a:rPr>
                            <m:t xml:space="preserve">j</m:t>
                          </m:r>
                        </m:sub>
                      </m:sSub>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nary>
                        <m:naryPr>
                          <m:chr m:val="∑"/>
                          <m:limLoc m:val="undOvr"/>
                          <m:supHide m:val="1"/>
                          <m:ctrlPr>
                            <a:rPr lang="en-US" sz="1950" i="1">
                              <a:solidFill>
                                <a:srgbClr val="FFFFFF"/>
                              </a:solidFill>
                              <a:latin typeface="Cambria Math" panose="02040503050406030204" pitchFamily="18" charset="0"/>
                            </a:rPr>
                          </m:ctrlPr>
                        </m:naryPr>
                        <m:sub>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sub>
                        <m:sup/>
                        <m:e>
                          <m:f>
                            <m:fPr>
                              <m:ctrlPr>
                                <a:rPr lang="en-US" sz="1950" i="1">
                                  <a:solidFill>
                                    <a:srgbClr val="FFFFFF"/>
                                  </a:solidFill>
                                  <a:latin typeface="Cambria Math" panose="02040503050406030204" pitchFamily="18" charset="0"/>
                                </a:rPr>
                              </m:ctrlPr>
                            </m:fPr>
                            <m:num>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|−1)!</m:t>
                              </m:r>
                            </m:num>
                            <m:den>
                              <m:r>
                                <a:rPr lang="en-US" sz="1950" i="1">
                                  <a:solidFill>
                                    <a:srgbClr val="FFFFFF"/>
                                  </a:solidFill>
                                  <a:latin typeface="Cambria Math" panose="02040503050406030204" pitchFamily="18" charset="0"/>
                                </a:rPr>
                                <m:t xml:space="preserve">n</m:t>
                              </m:r>
                              <m:r>
                                <m:rPr>
                                  <m:sty m:val="p"/>
                                </m:rPr>
                                <a:rPr lang="en-US" sz="1950">
                                  <a:solidFill>
                                    <a:srgbClr val="FFFFFF"/>
                                  </a:solidFill>
                                  <a:latin typeface="Cambria Math" panose="02040503050406030204" pitchFamily="18" charset="0"/>
                                </a:rPr>
                                <m:t xml:space="preserve">!</m:t>
                              </m:r>
                            </m:den>
                          </m:f>
                        </m:e>
                      </m:nary>
                      <m:r>
                        <m:rPr>
                          <m:sty m:val="p"/>
                        </m:rPr>
                        <a:rPr lang="en-US" sz="1950">
                          <a:solidFill>
                            <a:srgbClr val="FFFFFF"/>
                          </a:solidFill>
                          <a:latin typeface="Cambria Math" panose="02040503050406030204" pitchFamily="18" charset="0"/>
                        </a:rPr>
                        <m:t xml:space="preserve"> </m:t>
                      </m:r>
                      <m:d>
                        <m:dPr>
                          <m:begChr m:val="["/>
                          <m:endChr m:val="]"/>
                          <m:ctrlPr>
                            <a:rPr lang="en-US" sz="1950" i="1">
                              <a:solidFill>
                                <a:srgbClr val="FFFFFF"/>
                              </a:solidFill>
                              <a:latin typeface="Cambria Math" panose="02040503050406030204" pitchFamily="18" charset="0"/>
                            </a:rPr>
                          </m:ctrlPr>
                        </m:dPr>
                        <m:e>
                          <m:r>
                            <m:rPr>
                              <m:sty m:val="p"/>
                            </m:rPr>
                            <a:rPr lang="en-US" sz="1950">
                              <a:solidFill>
                                <a:srgbClr val="FFFFFF"/>
                              </a:solidFill>
                              <a:latin typeface="Cambria Math" panose="02040503050406030204" pitchFamily="18" charset="0"/>
                            </a:rPr>
                            <m:t xml:space="preserve"> </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j</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v</m:t>
                          </m:r>
                          <m:r>
                            <m:rPr>
                              <m:sty m:val="p"/>
                            </m:rPr>
                            <a:rPr lang="en-US" sz="1950">
                              <a:solidFill>
                                <a:srgbClr val="FFFFFF"/>
                              </a:solidFill>
                              <a:latin typeface="Cambria Math" panose="02040503050406030204" pitchFamily="18" charset="0"/>
                            </a:rPr>
                            <m:t xml:space="preserve">(</m:t>
                          </m:r>
                          <m:r>
                            <a:rPr lang="en-US" sz="1950" i="1">
                              <a:solidFill>
                                <a:srgbClr val="FFFFFF"/>
                              </a:solidFill>
                              <a:latin typeface="Cambria Math" panose="02040503050406030204" pitchFamily="18" charset="0"/>
                            </a:rPr>
                            <m:t xml:space="preserve">S</m:t>
                          </m:r>
                          <m:r>
                            <m:rPr>
                              <m:sty m:val="p"/>
                            </m:rPr>
                            <a:rPr lang="en-US" sz="1950">
                              <a:solidFill>
                                <a:srgbClr val="FFFFFF"/>
                              </a:solidFill>
                              <a:latin typeface="Cambria Math" panose="02040503050406030204" pitchFamily="18" charset="0"/>
                            </a:rPr>
                            <m:t xml:space="preserve">) </m:t>
                          </m:r>
                        </m:e>
                      </m:d>
                    </m:oMath>
                  </m:oMathPara>
                </a14:m>
                <a:endParaRPr lang="en-US" sz="1950"/>
              </a:p>
            </p:txBody>
          </p:sp>
        </mc:Choice>
        <mc:Fallback>
          <p:sp>
            <p:nvSpPr>
              <p:cNvPr id="36" name="Equation"/>
              <p:cNvSpPr txBox="1"/>
              <p:nvPr/>
            </p:nvSpPr>
            <p:spPr>
              <a:xfrm>
                <a:off x="1211580" y="7249922"/>
                <a:ext cx="7315200" cy="1188720"/>
              </a:xfrm>
              <a:prstGeom prst="rect">
                <a:avLst/>
              </a:prstGeom>
              <a:blipFill>
                <a:blip r:embed="rId5"/>
                <a:stretch>
                  <a:fillRect/>
                </a:stretch>
              </a:blipFill>
            </p:spPr>
            <p:txBody>
              <a:bodyPr/>
              <a:lstStyle/>
              <a:p>
                <a:endParaRPr lang="en-US"/>
              </a:p>
            </p:txBody>
          </p:sp>
        </mc:Fallback>
      </mc:AlternateContent>
      <p:sp>
        <p:nvSpPr>
          <p:cNvPr id="37" name="TextBox 36"/>
          <p:cNvSpPr txBox="1"/>
          <p:nvPr/>
        </p:nvSpPr>
        <p:spPr>
          <a:xfrm>
            <a:off x="1028700" y="8438642"/>
            <a:ext cx="7680960" cy="475488"/>
          </a:xfrm>
          <a:prstGeom prst="rect">
            <a:avLst/>
          </a:prstGeom>
          <a:noFill/>
        </p:spPr>
        <p:txBody>
          <a:bodyPr anchor="t" rtlCol="false" lIns="0" tIns="0" rIns="0" bIns="0" wrap="square"/>
          <a:lstStyle/>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average marginal contribution over every arrival order</a:t>
            </a:r>
          </a:p>
          <a:p>
            <a:pPr algn="ctr">
              <a:lnSpc>
                <a:spcPts val="1700"/>
              </a:lnSpc>
              <a:spcBef>
                <a:spcPts val="0"/>
              </a:spcBef>
              <a:buNone/>
            </a:pPr>
            <a:r>
              <a:rPr lang="en-US" sz="1400" b="true">
                <a:solidFill>
                  <a:srgbClr val="D6E4F7"/>
                </a:solidFill>
                <a:latin typeface="Nunito Semi-Bold"/>
                <a:ea typeface="Nunito Semi-Bold"/>
                <a:cs typeface="Nunito Semi-Bold"/>
                <a:sym typeface="Nunito Semi-Bold"/>
              </a:rPr>
              <a:t>in this thesis: players = input features, v(S) = Silhouette of the clustering</a:t>
            </a:r>
          </a:p>
        </p:txBody>
      </p:sp>
      <p:sp>
        <p:nvSpPr>
          <p:cNvPr id="38" name="TextBox 37"/>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9" name="Table 38"/>
          <p:cNvGraphicFramePr>
            <a:graphicFrameLocks noGrp="1"/>
          </p:cNvGraphicFramePr>
          <p:nvPr/>
        </p:nvGraphicFramePr>
        <p:xfrm>
          <a:off x="9166860" y="3656330"/>
          <a:ext cx="8092439" cy="3224784"/>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40" name="Rounded Rectangle 39"/>
          <p:cNvSpPr/>
          <p:nvPr/>
        </p:nvSpPr>
        <p:spPr>
          <a:xfrm>
            <a:off x="9166860" y="7045706"/>
            <a:ext cx="8092440" cy="1051560"/>
          </a:xfrm>
          <a:prstGeom prst="roundRect">
            <a:avLst>
              <a:gd name="adj" fmla="val 17391"/>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41" name="Rounded Rectangle 40"/>
          <p:cNvSpPr/>
          <p:nvPr/>
        </p:nvSpPr>
        <p:spPr>
          <a:xfrm>
            <a:off x="9166860" y="8124697"/>
            <a:ext cx="8092440" cy="998982"/>
          </a:xfrm>
          <a:prstGeom prst="roundRect">
            <a:avLst>
              <a:gd name="adj" fmla="val 17025"/>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the Shapley value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 </a:t>
            </a:r>
            <a:r>
              <a:rPr lang="en-US" sz="1600" b="true">
                <a:solidFill>
                  <a:srgbClr val="FFFFFF"/>
                </a:solidFill>
                <a:latin typeface="Nunito Bold"/>
                <a:ea typeface="Nunito Bold"/>
                <a:cs typeface="Nunito Bold"/>
                <a:sym typeface="Nunito Bold"/>
              </a:rPr>
              <a:t>efficiency</a:t>
            </a:r>
            <a:r>
              <a:rPr lang="en-US" sz="1600" b="true">
                <a:solidFill>
                  <a:srgbClr val="FFFFFF"/>
                </a:solidFill>
                <a:latin typeface="Nunito Semi-Bold"/>
                <a:ea typeface="Nunito Semi-Bold"/>
                <a:cs typeface="Nunito Semi-Bold"/>
                <a:sym typeface="Nunito Semi-Bold"/>
              </a:rPr>
              <a:t> (the shares add up to v(N)), </a:t>
            </a:r>
            <a:r>
              <a:rPr lang="en-US" sz="1600" b="true">
                <a:solidFill>
                  <a:srgbClr val="FFFFFF"/>
                </a:solidFill>
                <a:latin typeface="Nunito Bold"/>
                <a:ea typeface="Nunito Bold"/>
                <a:cs typeface="Nunito Bold"/>
                <a:sym typeface="Nunito Bold"/>
              </a:rPr>
              <a:t>symmetry</a:t>
            </a:r>
            <a:r>
              <a:rPr lang="en-US" sz="1600" b="true">
                <a:solidFill>
                  <a:srgbClr val="FFFFFF"/>
                </a:solidFill>
                <a:latin typeface="Nunito Semi-Bold"/>
                <a:ea typeface="Nunito Semi-Bold"/>
                <a:cs typeface="Nunito Semi-Bold"/>
                <a:sym typeface="Nunito Semi-Bold"/>
              </a:rPr>
              <a:t>, </a:t>
            </a:r>
            <a:r>
              <a:rPr lang="en-US" sz="1600" b="true">
                <a:solidFill>
                  <a:srgbClr val="FFFFFF"/>
                </a:solidFill>
                <a:latin typeface="Nunito Bold"/>
                <a:ea typeface="Nunito Bold"/>
                <a:cs typeface="Nunito Bold"/>
                <a:sym typeface="Nunito Bold"/>
              </a:rPr>
              <a:t>null player</a:t>
            </a:r>
            <a:r>
              <a:rPr lang="en-US" sz="1600" b="true">
                <a:solidFill>
                  <a:srgbClr val="FFFFFF"/>
                </a:solidFill>
                <a:latin typeface="Nunito Semi-Bold"/>
                <a:ea typeface="Nunito Semi-Bold"/>
                <a:cs typeface="Nunito Semi-Bold"/>
                <a:sym typeface="Nunito Semi-Bold"/>
              </a:rPr>
              <a:t> and </a:t>
            </a:r>
            <a:r>
              <a:rPr lang="en-US" sz="1600" b="true">
                <a:solidFill>
                  <a:srgbClr val="FFFFFF"/>
                </a:solidFill>
                <a:latin typeface="Nunito Bold"/>
                <a:ea typeface="Nunito Bold"/>
                <a:cs typeface="Nunito Bold"/>
                <a:sym typeface="Nunito Bold"/>
              </a:rPr>
              <a:t>additivity</a:t>
            </a:r>
            <a:r>
              <a:rPr lang="en-US" sz="1600" b="true">
                <a:solidFill>
                  <a:srgbClr val="FFFFFF"/>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pic>
        <p:nvPicPr>
          <p:cNvPr id="23" name="Picture 22" descr="image.png"/>
          <p:cNvPicPr>
            <a:picLocks noChangeAspect="1"/>
          </p:cNvPicPr>
          <p:nvPr/>
        </p:nvPicPr>
        <p:blipFill>
          <a:blip r:embed="rId3"/>
          <a:stretch>
            <a:fillRect/>
          </a:stretch>
        </p:blipFill>
        <p:spPr>
          <a:xfrm>
            <a:off x="12801592"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9" name="Connector 28"/>
          <p:cNvCxnSpPr/>
          <p:nvPr/>
        </p:nvCxnSpPr>
        <p:spPr>
          <a:xfrm>
            <a:off x="4027932" y="4049522"/>
            <a:ext cx="1362456" cy="0"/>
          </a:xfrm>
          <a:prstGeom prst="line">
            <a:avLst/>
          </a:prstGeom>
          <a:ln w="31750">
            <a:solidFill>
              <a:srgbClr val="4472C4"/>
            </a:solidFill>
            <a:tailEnd type="triangle" w="med" len="med"/>
          </a:ln>
        </p:spPr>
      </p:cxnSp>
      <p:sp>
        <p:nvSpPr>
          <p:cNvPr id="30" name="Rounded Rectangle 29"/>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31" name="Connector 30"/>
          <p:cNvCxnSpPr/>
          <p:nvPr/>
        </p:nvCxnSpPr>
        <p:spPr>
          <a:xfrm>
            <a:off x="8462772" y="4049522"/>
            <a:ext cx="1362456" cy="0"/>
          </a:xfrm>
          <a:prstGeom prst="line">
            <a:avLst/>
          </a:prstGeom>
          <a:ln w="31750">
            <a:solidFill>
              <a:srgbClr val="4472C4"/>
            </a:solidFill>
            <a:tailEnd type="triangle" w="med" len="med"/>
          </a:ln>
        </p:spPr>
      </p:cxnSp>
      <p:sp>
        <p:nvSpPr>
          <p:cNvPr id="32" name="Rounded Rectangle 31"/>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3" name="Connector 32"/>
          <p:cNvCxnSpPr/>
          <p:nvPr/>
        </p:nvCxnSpPr>
        <p:spPr>
          <a:xfrm>
            <a:off x="12897612" y="4049522"/>
            <a:ext cx="1362456" cy="0"/>
          </a:xfrm>
          <a:prstGeom prst="line">
            <a:avLst/>
          </a:prstGeom>
          <a:ln w="31750">
            <a:solidFill>
              <a:srgbClr val="4472C4"/>
            </a:solidFill>
            <a:tailEnd type="triangle" w="med" len="med"/>
          </a:ln>
        </p:spPr>
      </p:cxnSp>
      <p:sp>
        <p:nvSpPr>
          <p:cNvPr id="34" name="Rounded Rectangle 33"/>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5" name="Rounded Rectangle 34"/>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7" name="TextBox 36"/>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9" name="Rounded Rectangle 38"/>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40" name="TextBox 39"/>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as the theoretical comparator (Ch. 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2372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2999486"/>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151630"/>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pic>
        <p:nvPicPr>
          <p:cNvPr id="23" name="Picture 22" descr="image.png"/>
          <p:cNvPicPr>
            <a:picLocks noChangeAspect="1"/>
          </p:cNvPicPr>
          <p:nvPr/>
        </p:nvPicPr>
        <p:blipFill>
          <a:blip r:embed="rId3"/>
          <a:stretch>
            <a:fillRect/>
          </a:stretch>
        </p:blipFill>
        <p:spPr>
          <a:xfrm>
            <a:off x="12331918"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9" name="Table 28"/>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0" name="Rounded Rectangle 29"/>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31" name="Rounded Rectangle 30"/>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pic>
        <p:nvPicPr>
          <p:cNvPr id="25" name="Picture 24" descr="image.png"/>
          <p:cNvPicPr>
            <a:picLocks noChangeAspect="1"/>
          </p:cNvPicPr>
          <p:nvPr/>
        </p:nvPicPr>
        <p:blipFill>
          <a:blip r:embed="rId3"/>
          <a:stretch>
            <a:fillRect/>
          </a:stretch>
        </p:blipFill>
        <p:spPr>
          <a:xfrm>
            <a:off x="1054954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31" name="Rounded Rectangle 30"/>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5_1_wine_global.png"/>
          <p:cNvPicPr>
            <a:picLocks noChangeAspect="1"/>
          </p:cNvPicPr>
          <p:nvPr/>
        </p:nvPicPr>
        <p:blipFill>
          <a:blip r:embed="rId5"/>
          <a:stretch>
            <a:fillRect/>
          </a:stretch>
        </p:blipFill>
        <p:spPr>
          <a:xfrm>
            <a:off x="9961097" y="3546602"/>
            <a:ext cx="5406684" cy="3320160"/>
          </a:xfrm>
          <a:prstGeom prst="rect">
            <a:avLst/>
          </a:prstGeom>
        </p:spPr>
      </p:pic>
      <p:sp>
        <p:nvSpPr>
          <p:cNvPr id="33" name="TextBox 32"/>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34" name="Rounded Rectangle 33"/>
          <p:cNvSpPr/>
          <p:nvPr/>
        </p:nvSpPr>
        <p:spPr>
          <a:xfrm>
            <a:off x="8069580" y="7532243"/>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5" name="Picture 34" descr="fig5_2_wine_clusters.png"/>
          <p:cNvPicPr>
            <a:picLocks noChangeAspect="1"/>
          </p:cNvPicPr>
          <p:nvPr/>
        </p:nvPicPr>
        <p:blipFill>
          <a:blip r:embed="rId6"/>
          <a:stretch>
            <a:fillRect/>
          </a:stretch>
        </p:blipFill>
        <p:spPr>
          <a:xfrm>
            <a:off x="9385446" y="7715123"/>
            <a:ext cx="6557986" cy="814197"/>
          </a:xfrm>
          <a:prstGeom prst="rect">
            <a:avLst/>
          </a:prstGeom>
        </p:spPr>
      </p:pic>
      <p:sp>
        <p:nvSpPr>
          <p:cNvPr id="36" name="TextBox 35"/>
          <p:cNvSpPr txBox="1"/>
          <p:nvPr/>
        </p:nvSpPr>
        <p:spPr>
          <a:xfrm>
            <a:off x="8069580" y="8712200"/>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pic>
        <p:nvPicPr>
          <p:cNvPr id="23" name="Picture 22" descr="image.png"/>
          <p:cNvPicPr>
            <a:picLocks noChangeAspect="1"/>
          </p:cNvPicPr>
          <p:nvPr/>
        </p:nvPicPr>
        <p:blipFill>
          <a:blip r:embed="rId3"/>
          <a:stretch>
            <a:fillRect/>
          </a:stretch>
        </p:blipFill>
        <p:spPr>
          <a:xfrm>
            <a:off x="5060521"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31" name="Table 30"/>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LIME comparator theoretical (Ch. 5, §5.4)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pic>
        <p:nvPicPr>
          <p:cNvPr id="23" name="Picture 22" descr="image.png"/>
          <p:cNvPicPr>
            <a:picLocks noChangeAspect="1"/>
          </p:cNvPicPr>
          <p:nvPr/>
        </p:nvPicPr>
        <p:blipFill>
          <a:blip r:embed="rId3"/>
          <a:stretch>
            <a:fillRect/>
          </a:stretch>
        </p:blipFill>
        <p:spPr>
          <a:xfrm>
            <a:off x="7838100"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8" name="Oval 7"/>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pic>
        <p:nvPicPr>
          <p:cNvPr id="23" name="Picture 22" descr="image.png"/>
          <p:cNvPicPr>
            <a:picLocks noChangeAspect="1"/>
          </p:cNvPicPr>
          <p:nvPr/>
        </p:nvPicPr>
        <p:blipFill>
          <a:blip r:embed="rId3"/>
          <a:stretch>
            <a:fillRect/>
          </a:stretch>
        </p:blipFill>
        <p:spPr>
          <a:xfrm>
            <a:off x="6337553"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30" name="TextBox 29"/>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31" name="Table 30"/>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pic>
        <p:nvPicPr>
          <p:cNvPr id="23" name="Picture 22" descr="image.png"/>
          <p:cNvPicPr>
            <a:picLocks noChangeAspect="1"/>
          </p:cNvPicPr>
          <p:nvPr/>
        </p:nvPicPr>
        <p:blipFill>
          <a:blip r:embed="rId3"/>
          <a:stretch>
            <a:fillRect/>
          </a:stretch>
        </p:blipFill>
        <p:spPr>
          <a:xfrm>
            <a:off x="14669741"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9" name="Rounded Rectangle 28"/>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30" name="Rounded Rectangle 29"/>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31" name="Connector 30"/>
          <p:cNvCxnSpPr/>
          <p:nvPr/>
        </p:nvCxnSpPr>
        <p:spPr>
          <a:xfrm flipH="1">
            <a:off x="10515600" y="4278122"/>
            <a:ext cx="2743200" cy="502920"/>
          </a:xfrm>
          <a:prstGeom prst="line">
            <a:avLst/>
          </a:prstGeom>
          <a:ln w="25400">
            <a:solidFill>
              <a:srgbClr val="4472C4"/>
            </a:solidFill>
            <a:tailEnd type="triangle" w="med" len="med"/>
          </a:ln>
        </p:spPr>
      </p:cxnSp>
      <p:sp>
        <p:nvSpPr>
          <p:cNvPr id="32" name="Rounded Rectangle 31"/>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3" name="Connector 32"/>
          <p:cNvCxnSpPr/>
          <p:nvPr/>
        </p:nvCxnSpPr>
        <p:spPr>
          <a:xfrm flipH="1">
            <a:off x="9859518" y="6088634"/>
            <a:ext cx="656082" cy="393192"/>
          </a:xfrm>
          <a:prstGeom prst="line">
            <a:avLst/>
          </a:prstGeom>
          <a:ln w="19050">
            <a:solidFill>
              <a:srgbClr val="4472C4"/>
            </a:solidFill>
            <a:tailEnd type="triangle" w="med" len="med"/>
          </a:ln>
        </p:spPr>
      </p:cxnSp>
      <p:sp>
        <p:nvSpPr>
          <p:cNvPr id="34" name="Rounded Rectangle 33"/>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5" name="Connector 34"/>
          <p:cNvCxnSpPr/>
          <p:nvPr/>
        </p:nvCxnSpPr>
        <p:spPr>
          <a:xfrm>
            <a:off x="10515600" y="6088634"/>
            <a:ext cx="656082" cy="393192"/>
          </a:xfrm>
          <a:prstGeom prst="line">
            <a:avLst/>
          </a:prstGeom>
          <a:ln w="19050">
            <a:solidFill>
              <a:srgbClr val="4472C4"/>
            </a:solidFill>
            <a:tailEnd type="triangle" w="med" len="med"/>
          </a:ln>
        </p:spPr>
      </p:cxnSp>
      <p:sp>
        <p:nvSpPr>
          <p:cNvPr id="36" name="Rounded Rectangle 35"/>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7" name="Connector 36"/>
          <p:cNvCxnSpPr/>
          <p:nvPr/>
        </p:nvCxnSpPr>
        <p:spPr>
          <a:xfrm>
            <a:off x="13258800" y="4278122"/>
            <a:ext cx="0" cy="502920"/>
          </a:xfrm>
          <a:prstGeom prst="line">
            <a:avLst/>
          </a:prstGeom>
          <a:ln w="25400">
            <a:solidFill>
              <a:srgbClr val="4472C4"/>
            </a:solidFill>
            <a:tailEnd type="triangle" w="med" len="med"/>
          </a:ln>
        </p:spPr>
      </p:cxnSp>
      <p:sp>
        <p:nvSpPr>
          <p:cNvPr id="38" name="Rounded Rectangle 37"/>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9" name="Connector 38"/>
          <p:cNvCxnSpPr/>
          <p:nvPr/>
        </p:nvCxnSpPr>
        <p:spPr>
          <a:xfrm flipH="1">
            <a:off x="12602718" y="6088634"/>
            <a:ext cx="656082" cy="393192"/>
          </a:xfrm>
          <a:prstGeom prst="line">
            <a:avLst/>
          </a:prstGeom>
          <a:ln w="19050">
            <a:solidFill>
              <a:srgbClr val="4472C4"/>
            </a:solidFill>
            <a:tailEnd type="triangle" w="med" len="med"/>
          </a:ln>
        </p:spPr>
      </p:cxnSp>
      <p:sp>
        <p:nvSpPr>
          <p:cNvPr id="40" name="Rounded Rectangle 39"/>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1" name="Connector 40"/>
          <p:cNvCxnSpPr/>
          <p:nvPr/>
        </p:nvCxnSpPr>
        <p:spPr>
          <a:xfrm>
            <a:off x="13258800" y="6088634"/>
            <a:ext cx="656082" cy="393192"/>
          </a:xfrm>
          <a:prstGeom prst="line">
            <a:avLst/>
          </a:prstGeom>
          <a:ln w="19050">
            <a:solidFill>
              <a:srgbClr val="4472C4"/>
            </a:solidFill>
            <a:tailEnd type="triangle" w="med" len="med"/>
          </a:ln>
        </p:spPr>
      </p:cxnSp>
      <p:sp>
        <p:nvSpPr>
          <p:cNvPr id="42" name="Rounded Rectangle 41"/>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3" name="Connector 42"/>
          <p:cNvCxnSpPr/>
          <p:nvPr/>
        </p:nvCxnSpPr>
        <p:spPr>
          <a:xfrm>
            <a:off x="13258800" y="4278122"/>
            <a:ext cx="2743200" cy="502920"/>
          </a:xfrm>
          <a:prstGeom prst="line">
            <a:avLst/>
          </a:prstGeom>
          <a:ln w="25400">
            <a:solidFill>
              <a:srgbClr val="4472C4"/>
            </a:solidFill>
            <a:tailEnd type="triangle" w="med" len="med"/>
          </a:ln>
        </p:spPr>
      </p:cxnSp>
      <p:sp>
        <p:nvSpPr>
          <p:cNvPr id="44" name="Rounded Rectangle 43"/>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5" name="Connector 44"/>
          <p:cNvCxnSpPr/>
          <p:nvPr/>
        </p:nvCxnSpPr>
        <p:spPr>
          <a:xfrm flipH="1">
            <a:off x="15345918" y="6088634"/>
            <a:ext cx="656082" cy="393192"/>
          </a:xfrm>
          <a:prstGeom prst="line">
            <a:avLst/>
          </a:prstGeom>
          <a:ln w="19050">
            <a:solidFill>
              <a:srgbClr val="4472C4"/>
            </a:solidFill>
            <a:tailEnd type="triangle" w="med" len="med"/>
          </a:ln>
        </p:spPr>
      </p:cxnSp>
      <p:sp>
        <p:nvSpPr>
          <p:cNvPr id="46" name="Rounded Rectangle 45"/>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7" name="Connector 46"/>
          <p:cNvCxnSpPr/>
          <p:nvPr/>
        </p:nvCxnSpPr>
        <p:spPr>
          <a:xfrm>
            <a:off x="16002000" y="6088634"/>
            <a:ext cx="656082" cy="393192"/>
          </a:xfrm>
          <a:prstGeom prst="line">
            <a:avLst/>
          </a:prstGeom>
          <a:ln w="19050">
            <a:solidFill>
              <a:srgbClr val="4472C4"/>
            </a:solidFill>
            <a:tailEnd type="triangle" w="med" len="med"/>
          </a:ln>
        </p:spPr>
      </p:cxnSp>
      <p:sp>
        <p:nvSpPr>
          <p:cNvPr id="48" name="Rounded Rectangle 47"/>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9" name="TextBox 48"/>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4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50"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50" name="Equation"/>
              <p:cNvSpPr txBox="1"/>
              <p:nvPr/>
            </p:nvSpPr>
            <p:spPr>
              <a:xfrm>
                <a:off x="9441180" y="7761986"/>
                <a:ext cx="7635240" cy="96012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51"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w</m:t>
                          </m:r>
                        </m:e>
                        <m:sub>
                          <m:r>
                            <a:rPr lang="en-US" sz="1600" i="1">
                              <a:solidFill>
                                <a:srgbClr val="D6E4F7"/>
                              </a:solidFill>
                              <a:latin typeface="Cambria Math" panose="02040503050406030204" pitchFamily="18" charset="0"/>
                            </a:rPr>
                            <m:t xml:space="preserve">c′</m:t>
                          </m:r>
                        </m:sub>
                      </m:sSub>
                      <m:r>
                        <m:rPr>
                          <m:sty m:val="p"/>
                        </m:rPr>
                        <a:rPr lang="en-US" sz="1600">
                          <a:solidFill>
                            <a:srgbClr val="D6E4F7"/>
                          </a:solidFill>
                          <a:latin typeface="Cambria Math" panose="02040503050406030204" pitchFamily="18" charset="0"/>
                        </a:rPr>
                        <m:t xml:space="preserve">=|</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 |</m:t>
                      </m:r>
                      <m:r>
                        <a:rPr lang="en-US" sz="1600" i="1">
                          <a:solidFill>
                            <a:srgbClr val="D6E4F7"/>
                          </a:solidFill>
                          <a:latin typeface="Cambria Math" panose="02040503050406030204" pitchFamily="18" charset="0"/>
                        </a:rPr>
                        <m:t xml:space="preserve">c</m:t>
                      </m:r>
                      <m:r>
                        <m:rPr>
                          <m:sty m:val="p"/>
                        </m:rPr>
                        <a:rPr lang="en-US" sz="1600">
                          <a:solidFill>
                            <a:srgbClr val="D6E4F7"/>
                          </a:solidFill>
                          <a:latin typeface="Cambria Math" panose="02040503050406030204" pitchFamily="18" charset="0"/>
                        </a:rPr>
                        <m:t xml:space="preserve">|,  </m:t>
                      </m:r>
                      <m:sSub>
                        <m:sSubPr>
                          <m:ctrlPr>
                            <a:rPr lang="en-US" sz="1600" i="1">
                              <a:solidFill>
                                <a:srgbClr val="D6E4F7"/>
                              </a:solidFill>
                              <a:latin typeface="Cambria Math" panose="02040503050406030204" pitchFamily="18" charset="0"/>
                            </a:rPr>
                          </m:ctrlPr>
                        </m:sSubPr>
                        <m:e>
                          <m:r>
                            <a:rPr lang="en-US" sz="1600" i="1">
                              <a:solidFill>
                                <a:srgbClr val="D6E4F7"/>
                              </a:solidFill>
                              <a:latin typeface="Cambria Math" panose="02040503050406030204" pitchFamily="18" charset="0"/>
                            </a:rPr>
                            <m:t xml:space="preserve">ε</m:t>
                          </m:r>
                        </m:e>
                        <m:sub>
                          <m:r>
                            <a:rPr lang="en-US" sz="1600" i="1">
                              <a:solidFill>
                                <a:srgbClr val="D6E4F7"/>
                              </a:solidFill>
                              <a:latin typeface="Cambria Math" panose="02040503050406030204" pitchFamily="18" charset="0"/>
                            </a:rPr>
                            <m:t xml:space="preserve">j</m:t>
                          </m:r>
                        </m:sub>
                      </m:sSub>
                      <m:r>
                        <m:rPr>
                          <m:sty m:val="p"/>
                        </m:rPr>
                        <a:rPr lang="en-US" sz="1600">
                          <a:solidFill>
                            <a:srgbClr val="D6E4F7"/>
                          </a:solidFill>
                          <a:latin typeface="Cambria Math" panose="02040503050406030204" pitchFamily="18" charset="0"/>
                        </a:rPr>
                        <m:t xml:space="preserve">→0</m:t>
                      </m:r>
                      <m:r>
                        <m:rPr>
                          <m:nor/>
                        </m:rPr>
                        <a:rPr lang="en-US" sz="1600">
                          <a:solidFill>
                            <a:srgbClr val="D6E4F7"/>
                          </a:solidFill>
                          <a:latin typeface="Cambria Math" panose="02040503050406030204" pitchFamily="18" charset="0"/>
                        </a:rPr>
                        <m:t xml:space="preserve">  under perfect surrogate fidelity</m:t>
                      </m:r>
                    </m:oMath>
                  </m:oMathPara>
                </a14:m>
                <a:endParaRPr lang="en-US" sz="1600"/>
              </a:p>
            </p:txBody>
          </p:sp>
        </mc:Choice>
        <mc:Fallback>
          <p:sp>
            <p:nvSpPr>
              <p:cNvPr id="51" name="Equation"/>
              <p:cNvSpPr txBox="1"/>
              <p:nvPr/>
            </p:nvSpPr>
            <p:spPr>
              <a:xfrm>
                <a:off x="9441180" y="8712962"/>
                <a:ext cx="7635240" cy="457200"/>
              </a:xfrm>
              <a:prstGeom prst="rect">
                <a:avLst/>
              </a:prstGeom>
              <a:blipFill>
                <a:blip r:embed="rId6"/>
                <a:stretch>
                  <a:fillRect/>
                </a:stretch>
              </a:blipFill>
            </p:spPr>
            <p:txBody>
              <a:bodyPr/>
              <a:lstStyle/>
              <a:p>
                <a:endParaRPr lang="en-US"/>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pic>
        <p:nvPicPr>
          <p:cNvPr id="23" name="Picture 22" descr="image.png"/>
          <p:cNvPicPr>
            <a:picLocks noChangeAspect="1"/>
          </p:cNvPicPr>
          <p:nvPr/>
        </p:nvPicPr>
        <p:blipFill>
          <a:blip r:embed="rId3"/>
          <a:stretch>
            <a:fillRect/>
          </a:stretch>
        </p:blipFill>
        <p:spPr>
          <a:xfrm>
            <a:off x="11568381"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Oval 27"/>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9" name="Equation"/>
              <p:cNvSpPr txBox="1"/>
              <p:nvPr/>
            </p:nvSpPr>
            <p:spPr>
              <a:xfrm>
                <a:off x="1440180" y="336372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31" name="Oval 30"/>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32"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32" name="Equation"/>
              <p:cNvSpPr txBox="1"/>
              <p:nvPr/>
            </p:nvSpPr>
            <p:spPr>
              <a:xfrm>
                <a:off x="1440180" y="4095242"/>
                <a:ext cx="3840480" cy="658368"/>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4" name="TextBox 33"/>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5" name="Rounded Rectangle 34"/>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6"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6" name="Equation"/>
              <p:cNvSpPr txBox="1"/>
              <p:nvPr/>
            </p:nvSpPr>
            <p:spPr>
              <a:xfrm>
                <a:off x="1211580" y="5393690"/>
                <a:ext cx="7863840" cy="1508760"/>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8" name="Rounded Rectangle 37"/>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40" name="TextBox 39"/>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41" name="Rounded Rectangle 40"/>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42" name="Rounded Rectangle 41"/>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Zhang, S. et al. Beijing Multi-Site Air Quality Data Set. UCI Machine Learning Repository (2017).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pic>
        <p:nvPicPr>
          <p:cNvPr id="23" name="Picture 22" descr="image.png"/>
          <p:cNvPicPr>
            <a:picLocks noChangeAspect="1"/>
          </p:cNvPicPr>
          <p:nvPr/>
        </p:nvPicPr>
        <p:blipFill>
          <a:blip r:embed="rId3"/>
          <a:stretch>
            <a:fillRect/>
          </a:stretch>
        </p:blipFill>
        <p:spPr>
          <a:xfrm>
            <a:off x="12341493" y="1673352"/>
            <a:ext cx="457200" cy="25098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9" name="Rounded Rectangle 28"/>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30" name="Rounded Rectangle 29"/>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31" name="TextBox 30"/>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32" name="Rounded Rectangle 31"/>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3" name="Rounded Rectangle 32"/>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4" name="TextBox 33"/>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5" name="Rounded Rectangle 34"/>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7" name="TextBox 36"/>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pic>
        <p:nvPicPr>
          <p:cNvPr id="25" name="Picture 24" descr="image.png"/>
          <p:cNvPicPr>
            <a:picLocks noChangeAspect="1"/>
          </p:cNvPicPr>
          <p:nvPr/>
        </p:nvPicPr>
        <p:blipFill>
          <a:blip r:embed="rId3"/>
          <a:stretch>
            <a:fillRect/>
          </a:stretch>
        </p:blipFill>
        <p:spPr>
          <a:xfrm>
            <a:off x="15043687"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270250"/>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31" name="Rounded Rectangle 30"/>
          <p:cNvSpPr/>
          <p:nvPr/>
        </p:nvSpPr>
        <p:spPr>
          <a:xfrm>
            <a:off x="8252460" y="3270250"/>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32" name="Picture 31" descr="fig6_1_beijing_global.png"/>
          <p:cNvPicPr>
            <a:picLocks noChangeAspect="1"/>
          </p:cNvPicPr>
          <p:nvPr/>
        </p:nvPicPr>
        <p:blipFill>
          <a:blip r:embed="rId5"/>
          <a:stretch>
            <a:fillRect/>
          </a:stretch>
        </p:blipFill>
        <p:spPr>
          <a:xfrm>
            <a:off x="8997082" y="3453130"/>
            <a:ext cx="7517595" cy="5076190"/>
          </a:xfrm>
          <a:prstGeom prst="rect">
            <a:avLst/>
          </a:prstGeom>
        </p:spPr>
      </p:pic>
      <p:sp>
        <p:nvSpPr>
          <p:cNvPr id="33" name="TextBox 32"/>
          <p:cNvSpPr txBox="1"/>
          <p:nvPr/>
        </p:nvSpPr>
        <p:spPr>
          <a:xfrm>
            <a:off x="8252460" y="8712200"/>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pic>
        <p:nvPicPr>
          <p:cNvPr id="25" name="Picture 24" descr="image.png"/>
          <p:cNvPicPr>
            <a:picLocks noChangeAspect="1"/>
          </p:cNvPicPr>
          <p:nvPr/>
        </p:nvPicPr>
        <p:blipFill>
          <a:blip r:embed="rId3"/>
          <a:stretch>
            <a:fillRect/>
          </a:stretch>
        </p:blipFill>
        <p:spPr>
          <a:xfrm>
            <a:off x="11659347"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31" name="Picture 30" descr="fig6_3_beijing_multilevel.png"/>
          <p:cNvPicPr>
            <a:picLocks noChangeAspect="1"/>
          </p:cNvPicPr>
          <p:nvPr/>
        </p:nvPicPr>
        <p:blipFill>
          <a:blip r:embed="rId5"/>
          <a:stretch>
            <a:fillRect/>
          </a:stretch>
        </p:blipFill>
        <p:spPr>
          <a:xfrm>
            <a:off x="5604473" y="3500882"/>
            <a:ext cx="7079053" cy="1645920"/>
          </a:xfrm>
          <a:prstGeom prst="rect">
            <a:avLst/>
          </a:prstGeom>
        </p:spPr>
      </p:pic>
      <p:sp>
        <p:nvSpPr>
          <p:cNvPr id="32" name="TextBox 31"/>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cluster-specific SHAP importance, coarse level</a:t>
            </a:r>
          </a:p>
        </p:txBody>
      </p:sp>
      <p:sp>
        <p:nvSpPr>
          <p:cNvPr id="33" name="Rounded Rectangle 32"/>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5" name="TextBox 34"/>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6" name="Rounded Rectangle 35"/>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8" name="TextBox 37"/>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9" name="Rounded Rectangle 38"/>
          <p:cNvSpPr/>
          <p:nvPr/>
        </p:nvSpPr>
        <p:spPr>
          <a:xfrm>
            <a:off x="1028700" y="8528050"/>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40" name="TextBox 39"/>
          <p:cNvSpPr txBox="1"/>
          <p:nvPr/>
        </p:nvSpPr>
        <p:spPr>
          <a:xfrm>
            <a:off x="1485900" y="8637778"/>
            <a:ext cx="15316200" cy="376174"/>
          </a:xfrm>
          <a:prstGeom prst="rect">
            <a:avLst/>
          </a:prstGeom>
          <a:noFill/>
        </p:spPr>
        <p:txBody>
          <a:bodyPr anchor="ctr" rtlCol="false" lIns="0" tIns="0" rIns="0" bIns="0" wrap="square"/>
          <a:lstStyle/>
          <a:p>
            <a:pPr algn="l">
              <a:lnSpc>
                <a:spcPts val="2142"/>
              </a:lnSpc>
              <a:spcBef>
                <a:spcPts val="0"/>
              </a:spcBef>
              <a:buNone/>
            </a:pPr>
            <a:r>
              <a:rPr lang="en-US" sz="1530" b="true">
                <a:solidFill>
                  <a:srgbClr val="111111"/>
                </a:solidFill>
                <a:latin typeface="Nunito Bold"/>
                <a:ea typeface="Nunito Bold"/>
                <a:cs typeface="Nunito Bold"/>
                <a:sym typeface="Nunito Bold"/>
              </a:rPr>
              <a:t>This change is NOT a contradiction. It is exactly what a multi-level explanation should reveal.</a:t>
            </a:r>
            <a:r>
              <a:rPr lang="en-US" sz="1530" b="true">
                <a:solidFill>
                  <a:srgbClr val="111111"/>
                </a:solidFill>
                <a:latin typeface="Nunito Semi-Bold"/>
                <a:ea typeface="Nunito Semi-Bold"/>
                <a:cs typeface="Nunito Semi-Bold"/>
                <a:sym typeface="Nunito Semi-Bold"/>
              </a:rPr>
              <a:t> A variable can be </a:t>
            </a:r>
            <a:r>
              <a:rPr lang="en-US" sz="1530" b="true">
                <a:solidFill>
                  <a:srgbClr val="111111"/>
                </a:solidFill>
                <a:latin typeface="Nunito Bold"/>
                <a:ea typeface="Nunito Bold"/>
                <a:cs typeface="Nunito Bold"/>
                <a:sym typeface="Nunito Bold"/>
              </a:rPr>
              <a:t>globally important yet locally uninformative</a:t>
            </a:r>
            <a:r>
              <a:rPr lang="en-US" sz="1530" b="true">
                <a:solidFill>
                  <a:srgbClr val="111111"/>
                </a:solidFill>
                <a:latin typeface="Nunito Semi-Bold"/>
                <a:ea typeface="Nunito Semi-Bold"/>
                <a:cs typeface="Nunito Semi-Bold"/>
                <a:sym typeface="Nunito Semi-Bold"/>
              </a:rPr>
              <a:t> inside a sub-cluster, and Proposition 6.1 makes the two readings agree up to the surrogate residual.</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pic>
        <p:nvPicPr>
          <p:cNvPr id="23" name="Picture 22" descr="image.png"/>
          <p:cNvPicPr>
            <a:picLocks noChangeAspect="1"/>
          </p:cNvPicPr>
          <p:nvPr/>
        </p:nvPicPr>
        <p:blipFill>
          <a:blip r:embed="rId3"/>
          <a:stretch>
            <a:fillRect/>
          </a:stretch>
        </p:blipFill>
        <p:spPr>
          <a:xfrm>
            <a:off x="5204935" y="1673352"/>
            <a:ext cx="457200" cy="61711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30" name="TextBox 29"/>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31" name="Table 30"/>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9" name="Rounded Rectangle 38"/>
          <p:cNvSpPr/>
          <p:nvPr/>
        </p:nvSpPr>
        <p:spPr>
          <a:xfrm>
            <a:off x="1028700" y="7783766"/>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170259"/>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89349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539881"/>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pic>
        <p:nvPicPr>
          <p:cNvPr id="23" name="Picture 22" descr="image.png"/>
          <p:cNvPicPr>
            <a:picLocks noChangeAspect="1"/>
          </p:cNvPicPr>
          <p:nvPr/>
        </p:nvPicPr>
        <p:blipFill>
          <a:blip r:embed="rId3"/>
          <a:stretch>
            <a:fillRect/>
          </a:stretch>
        </p:blipFill>
        <p:spPr>
          <a:xfrm>
            <a:off x="8008663"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8" name="Oval 7"/>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pic>
        <p:nvPicPr>
          <p:cNvPr id="25" name="Picture 24" descr="image.png"/>
          <p:cNvPicPr>
            <a:picLocks noChangeAspect="1"/>
          </p:cNvPicPr>
          <p:nvPr/>
        </p:nvPicPr>
        <p:blipFill>
          <a:blip r:embed="rId3"/>
          <a:stretch>
            <a:fillRect/>
          </a:stretch>
        </p:blipFill>
        <p:spPr>
          <a:xfrm>
            <a:off x="4883941"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31" name="Rounded Rectangle 30"/>
          <p:cNvSpPr/>
          <p:nvPr/>
        </p:nvSpPr>
        <p:spPr>
          <a:xfrm>
            <a:off x="1028700" y="7523480"/>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7331455"/>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33" name="TextBox 32"/>
          <p:cNvSpPr txBox="1"/>
          <p:nvPr/>
        </p:nvSpPr>
        <p:spPr>
          <a:xfrm>
            <a:off x="1394460" y="7797800"/>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[12] He, X. et al. SIGIR, 639–648 (2020).   [13] Xia, L. et al. SIGIR, 70–79 (2022).   [14] Xiangyi, Y. et al. Int. J. Data Science and Analytics 19(2), 269–281 (2025).   [21] Zhang, Y. &amp; Chen, X. Foundations and Trends in IR 14(1), 1–101 (2020).   [23] Zhu, Z. et al. KDD, 2439–2449 (2021). · Hurley, N. &amp; Zhang, M. ACM TOIT 10(4) (2011).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pic>
        <p:nvPicPr>
          <p:cNvPr id="23" name="Picture 22" descr="image.png"/>
          <p:cNvPicPr>
            <a:picLocks noChangeAspect="1"/>
          </p:cNvPicPr>
          <p:nvPr/>
        </p:nvPicPr>
        <p:blipFill>
          <a:blip r:embed="rId3"/>
          <a:stretch>
            <a:fillRect/>
          </a:stretch>
        </p:blipFill>
        <p:spPr>
          <a:xfrm>
            <a:off x="771447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30" name="TextBox 29"/>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31" name="Rounded Rectangle 30"/>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3" name="TextBox 32"/>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4" name="Table 33"/>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pic>
        <p:nvPicPr>
          <p:cNvPr id="23" name="Picture 22" descr="image.png"/>
          <p:cNvPicPr>
            <a:picLocks noChangeAspect="1"/>
          </p:cNvPicPr>
          <p:nvPr/>
        </p:nvPicPr>
        <p:blipFill>
          <a:blip r:embed="rId3"/>
          <a:stretch>
            <a:fillRect/>
          </a:stretch>
        </p:blipFill>
        <p:spPr>
          <a:xfrm>
            <a:off x="11933734"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9" name="Rounded Rectangle 28"/>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30" name="Equation"/>
              <p:cNvSpPr txBox="1"/>
              <p:nvPr/>
            </p:nvSpPr>
            <p:spPr>
              <a:xfrm>
                <a:off x="1257300" y="5759450"/>
                <a:ext cx="7406640" cy="658368"/>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31" name="Equation"/>
              <p:cNvSpPr txBox="1"/>
              <p:nvPr/>
            </p:nvSpPr>
            <p:spPr>
              <a:xfrm>
                <a:off x="1257300" y="6426962"/>
                <a:ext cx="7406640" cy="54864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3" name="TextBox 32"/>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4" name="Rounded Rectangle 33"/>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6" name="Oval 35"/>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7" name="Oval 36"/>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8" name="Oval 37"/>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9" name="Rounded Rectangle 38"/>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40"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9715500" y="7112762"/>
                <a:ext cx="1828800" cy="1120775"/>
              </a:xfrm>
              <a:prstGeom prst="rect">
                <a:avLst/>
              </a:prstGeom>
              <a:blipFill>
                <a:blip r:embed="rId7"/>
                <a:stretch>
                  <a:fillRect/>
                </a:stretch>
              </a:blipFill>
            </p:spPr>
            <p:txBody>
              <a:bodyPr/>
              <a:lstStyle/>
              <a:p>
                <a:endParaRPr lang="en-US"/>
              </a:p>
            </p:txBody>
          </p:sp>
        </mc:Fallback>
      </mc:AlternateContent>
      <p:sp>
        <p:nvSpPr>
          <p:cNvPr id="41" name="TextBox 40"/>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42"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42" name="Equation"/>
              <p:cNvSpPr txBox="1"/>
              <p:nvPr/>
            </p:nvSpPr>
            <p:spPr>
              <a:xfrm>
                <a:off x="9715500" y="8142097"/>
                <a:ext cx="1828800" cy="1120775"/>
              </a:xfrm>
              <a:prstGeom prst="rect">
                <a:avLst/>
              </a:prstGeom>
              <a:blipFill>
                <a:blip r:embed="rId8"/>
                <a:stretch>
                  <a:fillRect/>
                </a:stretch>
              </a:blipFill>
            </p:spPr>
            <p:txBody>
              <a:bodyPr/>
              <a:lstStyle/>
              <a:p>
                <a:endParaRPr lang="en-US"/>
              </a:p>
            </p:txBody>
          </p:sp>
        </mc:Fallback>
      </mc:AlternateContent>
      <p:sp>
        <p:nvSpPr>
          <p:cNvPr id="43" name="TextBox 42"/>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pic>
        <p:nvPicPr>
          <p:cNvPr id="23" name="Picture 22" descr="image.png"/>
          <p:cNvPicPr>
            <a:picLocks noChangeAspect="1"/>
          </p:cNvPicPr>
          <p:nvPr/>
        </p:nvPicPr>
        <p:blipFill>
          <a:blip r:embed="rId3"/>
          <a:stretch>
            <a:fillRect/>
          </a:stretch>
        </p:blipFill>
        <p:spPr>
          <a:xfrm>
            <a:off x="11509517" y="1673352"/>
            <a:ext cx="457200" cy="452148"/>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TextBox 27"/>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9" name="Rounded Rectangle 28"/>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0"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30" name="Equation"/>
              <p:cNvSpPr txBox="1"/>
              <p:nvPr/>
            </p:nvSpPr>
            <p:spPr>
              <a:xfrm>
                <a:off x="1211580" y="395808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31"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31" name="Equation"/>
              <p:cNvSpPr txBox="1"/>
              <p:nvPr/>
            </p:nvSpPr>
            <p:spPr>
              <a:xfrm>
                <a:off x="1211580" y="5283962"/>
                <a:ext cx="8229600" cy="1325880"/>
              </a:xfrm>
              <a:prstGeom prst="rect">
                <a:avLst/>
              </a:prstGeom>
              <a:blipFill>
                <a:blip r:embed="rId6"/>
                <a:stretch>
                  <a:fillRect/>
                </a:stretch>
              </a:blipFill>
            </p:spPr>
            <p:txBody>
              <a:bodyPr/>
              <a:lstStyle/>
              <a:p>
                <a:endParaRPr lang="en-US"/>
              </a:p>
            </p:txBody>
          </p:sp>
        </mc:Fallback>
      </mc:AlternateContent>
      <p:sp>
        <p:nvSpPr>
          <p:cNvPr id="32" name="TextBox 31"/>
          <p:cNvSpPr txBox="1"/>
          <p:nvPr/>
        </p:nvSpPr>
        <p:spPr>
          <a:xfrm>
            <a:off x="1028700" y="6838442"/>
            <a:ext cx="8595360" cy="247015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Unbiased estimator:</a:t>
            </a:r>
            <a:r>
              <a:rPr lang="en-US" sz="1900" b="true">
                <a:solidFill>
                  <a:srgbClr val="111111"/>
                </a:solidFill>
                <a:latin typeface="Nunito Semi-Bold"/>
                <a:ea typeface="Nunito Semi-Bold"/>
                <a:cs typeface="Nunito Semi-Bold"/>
                <a:sym typeface="Nunito Semi-Bold"/>
              </a:rPr>
              <a:t> variance </a:t>
            </a:r>
            <a:r>
              <a:rPr lang="en-US" sz="1900" b="true">
                <a:solidFill>
                  <a:srgbClr val="111111"/>
                </a:solidFill>
                <a:latin typeface="Calibri"/>
                <a:ea typeface="Calibri"/>
                <a:cs typeface="Calibri"/>
                <a:sym typeface="Calibri"/>
              </a:rPr>
              <a:t>σ</a:t>
            </a:r>
            <a:r>
              <a:rPr lang="en-US" sz="1900" b="true">
                <a:solidFill>
                  <a:srgbClr val="111111"/>
                </a:solidFill>
                <a:latin typeface="Nunito Semi-Bold"/>
                <a:ea typeface="Nunito Semi-Bold"/>
                <a:cs typeface="Nunito Semi-Bold"/>
                <a:sym typeface="Nunito Semi-Bold"/>
              </a:rPr>
              <a:t>²/M, so the error shrinks as the number of permutations M grows.</a:t>
            </a:r>
          </a:p>
          <a:p>
            <a:pPr algn="l" marL="274320" indent="-274320">
              <a:lnSpc>
                <a:spcPts val="2812"/>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M = 50 selected:</a:t>
            </a:r>
            <a:r>
              <a:rPr lang="en-US" sz="1900" b="true">
                <a:solidFill>
                  <a:srgbClr val="111111"/>
                </a:solidFill>
                <a:latin typeface="Nunito Semi-Bold"/>
                <a:ea typeface="Nunito Semi-Bold"/>
                <a:cs typeface="Nunito Semi-Bold"/>
                <a:sym typeface="Nunito Semi-Bold"/>
              </a:rPr>
              <a:t> MSE ≈ 1.4×10</a:t>
            </a:r>
            <a:r>
              <a:rPr lang="en-US" sz="1900" b="true" baseline="30000">
                <a:solidFill>
                  <a:srgbClr val="111111"/>
                </a:solidFill>
                <a:latin typeface="Nunito Semi-Bold"/>
                <a:ea typeface="Nunito Semi-Bold"/>
                <a:cs typeface="Nunito Semi-Bold"/>
                <a:sym typeface="Nunito Semi-Bold"/>
              </a:rPr>
              <a:t>−5</a:t>
            </a:r>
            <a:r>
              <a:rPr lang="en-US" sz="1900" b="true">
                <a:solidFill>
                  <a:srgbClr val="111111"/>
                </a:solidFill>
                <a:latin typeface="Nunito Semi-Bold"/>
                <a:ea typeface="Nunito Semi-Bold"/>
                <a:cs typeface="Nunito Semi-Bold"/>
                <a:sym typeface="Nunito Semi-Bold"/>
              </a:rPr>
              <a:t>, ≈ 99 % accuracy on MovieLens-1M; M = 100 </a:t>
            </a:r>
            <a:r>
              <a:rPr lang="en-US" sz="1900" b="true">
                <a:solidFill>
                  <a:srgbClr val="111111"/>
                </a:solidFill>
                <a:latin typeface="Calibri"/>
                <a:ea typeface="Calibri"/>
                <a:cs typeface="Calibri"/>
                <a:sym typeface="Calibri"/>
              </a:rPr>
              <a:t>→ </a:t>
            </a:r>
            <a:r>
              <a:rPr lang="en-US" sz="1900" b="true">
                <a:solidFill>
                  <a:srgbClr val="111111"/>
                </a:solidFill>
                <a:latin typeface="Nunito Semi-Bold"/>
                <a:ea typeface="Nunito Semi-Bold"/>
                <a:cs typeface="Nunito Semi-Bold"/>
                <a:sym typeface="Nunito Semi-Bold"/>
              </a:rPr>
              <a:t>MSE 3.5×10</a:t>
            </a:r>
            <a:r>
              <a:rPr lang="en-US" sz="1900" b="true" baseline="30000">
                <a:solidFill>
                  <a:srgbClr val="111111"/>
                </a:solidFill>
                <a:latin typeface="Nunito Semi-Bold"/>
                <a:ea typeface="Nunito Semi-Bold"/>
                <a:cs typeface="Nunito Semi-Bold"/>
                <a:sym typeface="Nunito Semi-Bold"/>
              </a:rPr>
              <a:t>−6</a:t>
            </a:r>
            <a:r>
              <a:rPr lang="en-US" sz="1900" b="true">
                <a:solidFill>
                  <a:srgbClr val="111111"/>
                </a:solidFill>
                <a:latin typeface="Nunito Semi-Bold"/>
                <a:ea typeface="Nunito Semi-Bold"/>
                <a:cs typeface="Nunito Semi-Bold"/>
                <a:sym typeface="Nunito Semi-Bold"/>
              </a:rPr>
              <a:t> (diminishing returns).</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Refreshed </a:t>
            </a:r>
            <a:r>
              <a:rPr lang="en-US" sz="1900" b="true">
                <a:solidFill>
                  <a:srgbClr val="111111"/>
                </a:solidFill>
                <a:latin typeface="Nunito Bold"/>
                <a:ea typeface="Nunito Bold"/>
                <a:cs typeface="Nunito Bold"/>
                <a:sym typeface="Nunito Bold"/>
              </a:rPr>
              <a:t>every 10 batches</a:t>
            </a:r>
            <a:r>
              <a:rPr lang="en-US" sz="1900" b="true">
                <a:solidFill>
                  <a:srgbClr val="111111"/>
                </a:solidFill>
                <a:latin typeface="Nunito Semi-Bold"/>
                <a:ea typeface="Nunito Semi-Bold"/>
                <a:cs typeface="Nunito Semi-Bold"/>
                <a:sym typeface="Nunito Semi-Bold"/>
              </a:rPr>
              <a:t> (≈ 49 updates / epoch), smoothed by an </a:t>
            </a:r>
            <a:r>
              <a:rPr lang="en-US" sz="1900" b="true">
                <a:solidFill>
                  <a:srgbClr val="111111"/>
                </a:solidFill>
                <a:latin typeface="Nunito Bold"/>
                <a:ea typeface="Nunito Bold"/>
                <a:cs typeface="Nunito Bold"/>
                <a:sym typeface="Nunito Bold"/>
              </a:rPr>
              <a:t>exponential moving average</a:t>
            </a:r>
            <a:r>
              <a:rPr lang="en-US" sz="1900" b="true">
                <a:solidFill>
                  <a:srgbClr val="111111"/>
                </a:solidFill>
                <a:latin typeface="Nunito Semi-Bold"/>
                <a:ea typeface="Nunito Semi-Bold"/>
                <a:cs typeface="Nunito Semi-Bold"/>
                <a:sym typeface="Nunito Semi-Bold"/>
              </a:rPr>
              <a:t>.</a:t>
            </a:r>
          </a:p>
        </p:txBody>
      </p:sp>
      <p:graphicFrame>
        <p:nvGraphicFramePr>
          <p:cNvPr id="33" name="Table 32"/>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98 %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4" name="TextBox 33"/>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Accuracy vs a high-sample reference: M = 25 already reaches ≈ 98 %, rows 25/100 show the O(1/M) trend.</a:t>
            </a:r>
          </a:p>
        </p:txBody>
      </p:sp>
      <p:sp>
        <p:nvSpPr>
          <p:cNvPr id="35" name="Rounded Rectangle 34"/>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7" name="TextBox 36"/>
          <p:cNvSpPr txBox="1"/>
          <p:nvPr/>
        </p:nvSpPr>
        <p:spPr>
          <a:xfrm>
            <a:off x="10629900" y="6957314"/>
            <a:ext cx="6217920" cy="2076958"/>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Sample M permutations per refresh </a:t>
            </a:r>
            <a:r>
              <a:rPr lang="en-US" sz="1800" b="true">
                <a:solidFill>
                  <a:srgbClr val="FFFFFF"/>
                </a:solidFill>
                <a:latin typeface="Calibri"/>
                <a:ea typeface="Calibri"/>
                <a:cs typeface="Calibri"/>
                <a:sym typeface="Calibri"/>
              </a:rPr>
              <a:t>→ </a:t>
            </a:r>
            <a:r>
              <a:rPr lang="en-US" sz="1800" b="true">
                <a:solidFill>
                  <a:srgbClr val="FFFFFF"/>
                </a:solidFill>
                <a:latin typeface="Nunito Semi-Bold"/>
                <a:ea typeface="Nunito Semi-Bold"/>
                <a:cs typeface="Nunito Semi-Bold"/>
                <a:sym typeface="Nunito Semi-Bold"/>
              </a:rPr>
              <a:t>estimate </a:t>
            </a:r>
            <a:r>
              <a:rPr lang="en-US" sz="1800" b="true">
                <a:solidFill>
                  <a:srgbClr val="FFFFFF"/>
                </a:solidFill>
                <a:latin typeface="Cambria Math"/>
                <a:ea typeface="Cambria Math"/>
                <a:cs typeface="Cambria Math"/>
                <a:sym typeface="Cambria Math"/>
              </a:rPr>
              <a:t>φ̂ </a:t>
            </a:r>
            <a:r>
              <a:rPr lang="en-US" sz="1800" b="true">
                <a:solidFill>
                  <a:srgbClr val="FFFFFF"/>
                </a:solidFill>
                <a:latin typeface="Nunito Semi-Bold"/>
                <a:ea typeface="Nunito Semi-Bold"/>
                <a:cs typeface="Nunito Semi-Bold"/>
                <a:sym typeface="Nunito Semi-Bold"/>
              </a:rPr>
              <a:t>for the players in the episode.</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Clip, EMA-smooth, normalise </a:t>
            </a:r>
            <a:r>
              <a:rPr lang="en-US" sz="1800" b="true">
                <a:solidFill>
                  <a:srgbClr val="FFFFFF"/>
                </a:solidFill>
                <a:latin typeface="Calibri"/>
                <a:ea typeface="Calibri"/>
                <a:cs typeface="Calibri"/>
                <a:sym typeface="Calibri"/>
              </a:rPr>
              <a:t>→ </a:t>
            </a:r>
            <a:r>
              <a:rPr lang="en-US" sz="1800" b="true">
                <a:solidFill>
                  <a:srgbClr val="FFFFFF"/>
                </a:solidFill>
                <a:latin typeface="Nunito Bold"/>
                <a:ea typeface="Nunito Bold"/>
                <a:cs typeface="Nunito Bold"/>
                <a:sym typeface="Nunito Bold"/>
              </a:rPr>
              <a:t>hypergraph edge weights</a:t>
            </a:r>
            <a:r>
              <a:rPr lang="en-US" sz="1800" b="true">
                <a:solidFill>
                  <a:srgbClr val="FFFFFF"/>
                </a:solidFill>
                <a:latin typeface="Nunito Semi-Bold"/>
                <a:ea typeface="Nunito Semi-Bold"/>
                <a:cs typeface="Nunito Semi-Bold"/>
                <a:sym typeface="Nunito Semi-Bold"/>
              </a:rPr>
              <a:t>.</a:t>
            </a:r>
          </a:p>
          <a:p>
            <a:pPr algn="l" marL="274320" indent="-274320">
              <a:lnSpc>
                <a:spcPts val="2520"/>
              </a:lnSpc>
              <a:spcBef>
                <a:spcPts val="7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Cost per epoch: </a:t>
            </a:r>
            <a:r>
              <a:rPr lang="en-US" sz="1800" b="true">
                <a:solidFill>
                  <a:srgbClr val="FFFFFF"/>
                </a:solidFill>
                <a:latin typeface="Nunito Bold"/>
                <a:ea typeface="Nunito Bold"/>
                <a:cs typeface="Nunito Bold"/>
                <a:sym typeface="Nunito Bold"/>
              </a:rPr>
              <a:t>O((L+1)·m·d) + O((M/f)·m)</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pic>
        <p:nvPicPr>
          <p:cNvPr id="23" name="Picture 22" descr="image.png"/>
          <p:cNvPicPr>
            <a:picLocks noChangeAspect="1"/>
          </p:cNvPicPr>
          <p:nvPr/>
        </p:nvPicPr>
        <p:blipFill>
          <a:blip r:embed="rId3"/>
          <a:stretch>
            <a:fillRect/>
          </a:stretch>
        </p:blipFill>
        <p:spPr>
          <a:xfrm>
            <a:off x="13838915" y="1673352"/>
            <a:ext cx="457200" cy="415247"/>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8" name="Rounded Rectangle 27"/>
          <p:cNvSpPr/>
          <p:nvPr/>
        </p:nvSpPr>
        <p:spPr>
          <a:xfrm>
            <a:off x="1028700" y="3363722"/>
            <a:ext cx="16230600" cy="3291840"/>
          </a:xfrm>
          <a:prstGeom prst="roundRect">
            <a:avLst>
              <a:gd name="adj" fmla="val 6944"/>
            </a:avLst>
          </a:prstGeom>
          <a:solidFill>
            <a:srgbClr val="FFFFFF"/>
          </a:solidFill>
          <a:ln w="15875">
            <a:solidFill>
              <a:srgbClr val="E3D6C4"/>
            </a:solidFill>
          </a:ln>
        </p:spPr>
        <p:txBody>
          <a:bodyPr anchor="ctr" rtlCol="false" lIns="0" tIns="0" rIns="0" bIns="0" wrap="square"/>
          <a:lstStyle/>
          <a:p>
            <a:endParaRPr lang="en-US" sz="1800"/>
          </a:p>
        </p:txBody>
      </p:sp>
      <p:pic>
        <p:nvPicPr>
          <p:cNvPr id="29" name="Picture 28" descr="dyhucog_arch.png"/>
          <p:cNvPicPr>
            <a:picLocks noChangeAspect="1"/>
          </p:cNvPicPr>
          <p:nvPr/>
        </p:nvPicPr>
        <p:blipFill>
          <a:blip r:embed="rId5"/>
          <a:stretch>
            <a:fillRect/>
          </a:stretch>
        </p:blipFill>
        <p:spPr>
          <a:xfrm>
            <a:off x="2886858" y="3500882"/>
            <a:ext cx="12514283" cy="3017520"/>
          </a:xfrm>
          <a:prstGeom prst="rect">
            <a:avLst/>
          </a:prstGeom>
        </p:spPr>
      </p:pic>
      <p:sp>
        <p:nvSpPr>
          <p:cNvPr id="30" name="TextBox 29"/>
          <p:cNvSpPr txBox="1"/>
          <p:nvPr/>
        </p:nvSpPr>
        <p:spPr>
          <a:xfrm>
            <a:off x="1211580" y="6271514"/>
            <a:ext cx="15864840" cy="411480"/>
          </a:xfrm>
          <a:prstGeom prst="rect">
            <a:avLst/>
          </a:prstGeom>
          <a:noFill/>
        </p:spPr>
        <p:txBody>
          <a:bodyPr anchor="t" rtlCol="false" lIns="0" tIns="0" rIns="0" bIns="0" wrap="square"/>
          <a:lstStyle/>
          <a:p>
            <a:pPr algn="r">
              <a:lnSpc>
                <a:spcPts val="1800"/>
              </a:lnSpc>
              <a:spcBef>
                <a:spcPts val="0"/>
              </a:spcBef>
              <a:buNone/>
            </a:pPr>
            <a:r>
              <a:rPr lang="en-US" sz="1400" b="true">
                <a:solidFill>
                  <a:srgbClr val="8A8378"/>
                </a:solidFill>
                <a:latin typeface="Nunito Semi-Bold"/>
                <a:ea typeface="Nunito Semi-Bold"/>
                <a:cs typeface="Nunito Semi-Bold"/>
                <a:sym typeface="Nunito Semi-Bold"/>
              </a:rPr>
              <a:t>Fig. 7.1 (thesis): workflow of the DyHuCoG architecture</a:t>
            </a:r>
          </a:p>
        </p:txBody>
      </p:sp>
      <p:sp>
        <p:nvSpPr>
          <p:cNvPr id="31" name="Rounded Rectangle 30"/>
          <p:cNvSpPr/>
          <p:nvPr/>
        </p:nvSpPr>
        <p:spPr>
          <a:xfrm>
            <a:off x="1028700" y="6884162"/>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1348740" y="6884162"/>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6884162"/>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b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W</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j</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r>
                            <m:rPr>
                              <m:sty m:val="p"/>
                            </m:rPr>
                            <a:rPr lang="en-US" sz="2200">
                              <a:solidFill>
                                <a:srgbClr val="111111"/>
                              </a:solidFill>
                              <a:latin typeface="Cambria Math" panose="02040503050406030204" pitchFamily="18" charset="0"/>
                            </a:rPr>
                            <m:t xml:space="preserve">+</m:t>
                          </m:r>
                          <m:nary>
                            <m:naryPr>
                              <m:chr m:val="∑"/>
                              <m:limLoc m:val="subSup"/>
                              <m:supHide m:val="1"/>
                              <m:ctrlPr>
                                <a:rPr lang="en-US" sz="2200" i="1">
                                  <a:solidFill>
                                    <a:srgbClr val="111111"/>
                                  </a:solidFill>
                                  <a:latin typeface="Cambria Math" panose="02040503050406030204" pitchFamily="18" charset="0"/>
                                </a:rPr>
                              </m:ctrlPr>
                            </m:naryPr>
                            <m:sub>
                              <m:r>
                                <a:rPr lang="en-US" sz="2200" i="1">
                                  <a:solidFill>
                                    <a:srgbClr val="111111"/>
                                  </a:solidFill>
                                  <a:latin typeface="Cambria Math" panose="02040503050406030204" pitchFamily="18" charset="0"/>
                                </a:rPr>
                                <m:t xml:space="preserve">k</m:t>
                              </m:r>
                              <m:r>
                                <m:rPr>
                                  <m:sty m:val="p"/>
                                </m:rPr>
                                <a:rPr lang="en-US" sz="2200">
                                  <a:solidFill>
                                    <a:srgbClr val="111111"/>
                                  </a:solidFill>
                                  <a:latin typeface="Cambria Math" panose="02040503050406030204" pitchFamily="18" charset="0"/>
                                </a:rPr>
                                <m:t xml:space="preserve">∈</m:t>
                              </m:r>
                              <m:r>
                                <m:rPr>
                                  <m:scr m:val="script"/>
                                  <m:sty m:val="p"/>
                                </m:rPr>
                                <a:rPr lang="en-US" sz="2200">
                                  <a:solidFill>
                                    <a:srgbClr val="111111"/>
                                  </a:solidFill>
                                  <a:latin typeface="Cambria Math" panose="02040503050406030204" pitchFamily="18" charset="0"/>
                                </a:rPr>
                                <m:t xml:space="preserve">N</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j</m:t>
                              </m:r>
                              <m:r>
                                <m:rPr>
                                  <m:sty m:val="p"/>
                                </m:rPr>
                                <a:rPr lang="en-US" sz="2200">
                                  <a:solidFill>
                                    <a:srgbClr val="111111"/>
                                  </a:solidFill>
                                  <a:latin typeface="Cambria Math" panose="02040503050406030204" pitchFamily="18" charset="0"/>
                                </a:rPr>
                                <m:t xml:space="preserve">)</m:t>
                              </m:r>
                            </m:sub>
                            <m:sup/>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jk</m:t>
                                  </m:r>
                                </m:sub>
                              </m:sSub>
                            </m:e>
                          </m:nary>
                          <m:r>
                            <m:rPr>
                              <m:sty m:val="p"/>
                            </m:rPr>
                            <a:rPr lang="en-US" sz="2200">
                              <a:solidFill>
                                <a:srgbClr val="111111"/>
                              </a:solidFill>
                              <a:latin typeface="Cambria Math" panose="02040503050406030204" pitchFamily="18" charset="0"/>
                            </a:rPr>
                            <m:t xml:space="preserve"> </m:t>
                          </m:r>
                          <m:sSubSup>
                            <m:sSubSupPr>
                              <m:ctrlPr>
                                <a:rPr lang="en-US" sz="2200" i="1">
                                  <a:solidFill>
                                    <a:srgbClr val="111111"/>
                                  </a:solidFill>
                                  <a:latin typeface="Cambria Math" panose="02040503050406030204" pitchFamily="18" charset="0"/>
                                </a:rPr>
                              </m:ctrlPr>
                            </m:sSubSup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k</m:t>
                              </m:r>
                            </m:sub>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bSup>
                        </m:e>
                      </m:d>
                    </m:oMath>
                  </m:oMathPara>
                </a14:m>
                <a:endParaRPr lang="en-US" sz="2200"/>
              </a:p>
            </p:txBody>
          </p:sp>
        </mc:Choice>
        <mc:Fallback>
          <p:sp>
            <p:nvSpPr>
              <p:cNvPr id="33" name="Equation"/>
              <p:cNvSpPr txBox="1"/>
              <p:nvPr/>
            </p:nvSpPr>
            <p:spPr>
              <a:xfrm>
                <a:off x="4686300" y="6884162"/>
                <a:ext cx="9372600" cy="777663"/>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4241780" y="6884162"/>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w from normalised, clipped, EMA-smoothed MC Shapley</a:t>
            </a:r>
          </a:p>
        </p:txBody>
      </p:sp>
      <p:sp>
        <p:nvSpPr>
          <p:cNvPr id="35" name="Rounded Rectangle 34"/>
          <p:cNvSpPr/>
          <p:nvPr/>
        </p:nvSpPr>
        <p:spPr>
          <a:xfrm>
            <a:off x="1028700" y="7753265"/>
            <a:ext cx="16230600" cy="777663"/>
          </a:xfrm>
          <a:prstGeom prst="roundRect">
            <a:avLst>
              <a:gd name="adj" fmla="val 18813"/>
            </a:avLst>
          </a:prstGeom>
          <a:solidFill>
            <a:srgbClr val="FBF4EB"/>
          </a:solidFill>
          <a:ln>
            <a:noFill/>
          </a:ln>
        </p:spPr>
        <p:txBody>
          <a:bodyPr anchor="ctr" rtlCol="false" lIns="0" tIns="0" rIns="0" bIns="0" wrap="square"/>
          <a:lstStyle/>
          <a:p>
            <a:endParaRPr lang="en-US" sz="1800"/>
          </a:p>
        </p:txBody>
      </p:sp>
      <p:sp>
        <p:nvSpPr>
          <p:cNvPr id="36" name="TextBox 35"/>
          <p:cNvSpPr txBox="1"/>
          <p:nvPr/>
        </p:nvSpPr>
        <p:spPr>
          <a:xfrm>
            <a:off x="1348740" y="7753265"/>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37" name="Equation"/>
              <p:cNvSpPr txBox="1"/>
              <p:nvPr/>
            </p:nvSpPr>
            <p:spPr>
              <a:xfrm>
                <a:off x="4686300" y="7753265"/>
                <a:ext cx="12298680" cy="777663"/>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σ</m:t>
                      </m:r>
                      <m:d>
                        <m:dPr>
                          <m:ctrlPr>
                            <a:rPr lang="en-US" sz="2400" i="1">
                              <a:solidFill>
                                <a:srgbClr val="111111"/>
                              </a:solidFill>
                              <a:latin typeface="Cambria Math" panose="02040503050406030204" pitchFamily="18" charset="0"/>
                            </a:rPr>
                          </m:ctrlPr>
                        </m:dPr>
                        <m:e>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W</m:t>
                              </m:r>
                            </m:e>
                            <m:sub>
                              <m:r>
                                <a:rPr lang="en-US" sz="2400" i="1">
                                  <a:solidFill>
                                    <a:srgbClr val="111111"/>
                                  </a:solidFill>
                                  <a:latin typeface="Cambria Math" panose="02040503050406030204" pitchFamily="18" charset="0"/>
                                </a:rPr>
                                <m:t xml:space="preserve">a</m:t>
                              </m:r>
                            </m:sub>
                          </m:sSub>
                          <m:r>
                            <m:rPr>
                              <m:sty m:val="p"/>
                            </m:rPr>
                            <a:rPr lang="en-US" sz="2400">
                              <a:solidFill>
                                <a:srgbClr val="111111"/>
                              </a:solidFill>
                              <a:latin typeface="Cambria Math" panose="02040503050406030204" pitchFamily="18" charset="0"/>
                            </a:rPr>
                            <m:t xml:space="preserve"> [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l</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 ]</m:t>
                          </m:r>
                        </m:e>
                      </m:d>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=(1+</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a</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u</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r>
                            <a:rPr lang="en-US" sz="2400" i="1">
                              <a:solidFill>
                                <a:srgbClr val="111111"/>
                              </a:solidFill>
                              <a:latin typeface="Cambria Math" panose="02040503050406030204" pitchFamily="18" charset="0"/>
                            </a:rPr>
                            <m:t xml:space="preserve">i</m:t>
                          </m:r>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37" name="Equation"/>
              <p:cNvSpPr txBox="1"/>
              <p:nvPr/>
            </p:nvSpPr>
            <p:spPr>
              <a:xfrm>
                <a:off x="4686300" y="7753265"/>
                <a:ext cx="12298680" cy="777663"/>
              </a:xfrm>
              <a:prstGeom prst="rect">
                <a:avLst/>
              </a:prstGeom>
              <a:blipFill>
                <a:blip r:embed="rId7"/>
                <a:stretch>
                  <a:fillRect/>
                </a:stretch>
              </a:blipFill>
            </p:spPr>
            <p:txBody>
              <a:bodyPr/>
              <a:lstStyle/>
              <a:p>
                <a:endParaRPr lang="en-US"/>
              </a:p>
            </p:txBody>
          </p:sp>
        </mc:Fallback>
      </mc:AlternateContent>
      <p:sp>
        <p:nvSpPr>
          <p:cNvPr id="38" name="Rounded Rectangle 37"/>
          <p:cNvSpPr/>
          <p:nvPr/>
        </p:nvSpPr>
        <p:spPr>
          <a:xfrm>
            <a:off x="1028700" y="8622368"/>
            <a:ext cx="16230600" cy="777663"/>
          </a:xfrm>
          <a:prstGeom prst="roundRect">
            <a:avLst>
              <a:gd name="adj" fmla="val 18813"/>
            </a:avLst>
          </a:prstGeom>
          <a:solidFill>
            <a:srgbClr val="E7EAF3"/>
          </a:solidFill>
          <a:ln>
            <a:noFill/>
          </a:ln>
        </p:spPr>
        <p:txBody>
          <a:bodyPr anchor="ctr" rtlCol="false" lIns="0" tIns="0" rIns="0" bIns="0" wrap="square"/>
          <a:lstStyle/>
          <a:p>
            <a:endParaRPr lang="en-US" sz="1800"/>
          </a:p>
        </p:txBody>
      </p:sp>
      <p:sp>
        <p:nvSpPr>
          <p:cNvPr id="39" name="TextBox 38"/>
          <p:cNvSpPr txBox="1"/>
          <p:nvPr/>
        </p:nvSpPr>
        <p:spPr>
          <a:xfrm>
            <a:off x="1348740" y="8622368"/>
            <a:ext cx="3291840" cy="777663"/>
          </a:xfrm>
          <a:prstGeom prst="rect">
            <a:avLst/>
          </a:prstGeom>
          <a:noFill/>
        </p:spPr>
        <p:txBody>
          <a:bodyPr anchor="ctr" rtlCol="false" lIns="0" tIns="0" rIns="0" bIns="0" wrap="square"/>
          <a:lstStyle/>
          <a:p>
            <a:pPr algn="l">
              <a:lnSpc>
                <a:spcPts val="2300"/>
              </a:lnSpc>
              <a:spcBef>
                <a:spcPts val="0"/>
              </a:spcBef>
              <a:buNone/>
            </a:pPr>
            <a:r>
              <a:rPr lang="en-US" sz="19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0" name="Equation"/>
              <p:cNvSpPr txBox="1"/>
              <p:nvPr/>
            </p:nvSpPr>
            <p:spPr>
              <a:xfrm>
                <a:off x="4686300" y="8622368"/>
                <a:ext cx="9372600" cy="777663"/>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400" i="1">
                          <a:solidFill>
                            <a:srgbClr val="111111"/>
                          </a:solidFill>
                          <a:latin typeface="Cambria Math" panose="02040503050406030204" pitchFamily="18" charset="0"/>
                        </a:rPr>
                        <m:t xml:space="preserve">f</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u</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i</m:t>
                      </m:r>
                      <m:r>
                        <m:rPr>
                          <m:sty m:val="p"/>
                        </m:rPr>
                        <a:rPr lang="en-US" sz="2400">
                          <a:solidFill>
                            <a:srgbClr val="111111"/>
                          </a:solidFill>
                          <a:latin typeface="Cambria Math" panose="02040503050406030204" pitchFamily="18" charset="0"/>
                        </a:rPr>
                        <m:t xml:space="preserve">,</m:t>
                      </m:r>
                      <m:r>
                        <a:rPr lang="en-US" sz="2400" i="1">
                          <a:solidFill>
                            <a:srgbClr val="111111"/>
                          </a:solidFill>
                          <a:latin typeface="Cambria Math" panose="02040503050406030204" pitchFamily="18" charset="0"/>
                        </a:rPr>
                        <m:t xml:space="preserve">c</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y</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λ</m:t>
                          </m:r>
                        </m:e>
                        <m:sub>
                          <m:r>
                            <a:rPr lang="en-US" sz="2400" i="1">
                              <a:solidFill>
                                <a:srgbClr val="111111"/>
                              </a:solidFill>
                              <a:latin typeface="Cambria Math" panose="02040503050406030204" pitchFamily="18" charset="0"/>
                            </a:rPr>
                            <m:t xml:space="preserve">c</m:t>
                          </m:r>
                        </m:sub>
                      </m:sSub>
                      <m:r>
                        <m:rPr>
                          <m:sty m:val="p"/>
                        </m:rPr>
                        <a:rPr lang="en-US" sz="2400">
                          <a:solidFill>
                            <a:srgbClr val="111111"/>
                          </a:solidFill>
                          <a:latin typeface="Cambria Math" panose="02040503050406030204" pitchFamily="18" charset="0"/>
                        </a:rPr>
                        <m:t xml:space="preserve"> ⟨ </m:t>
                      </m:r>
                      <m:r>
                        <a:rPr lang="en-US" sz="2400" i="1">
                          <a:solidFill>
                            <a:srgbClr val="111111"/>
                          </a:solidFill>
                          <a:latin typeface="Cambria Math" panose="02040503050406030204" pitchFamily="18" charset="0"/>
                        </a:rPr>
                        <m:t xml:space="preserve">g</m:t>
                      </m:r>
                      <m:r>
                        <m:rPr>
                          <m:sty m:val="p"/>
                        </m:rPr>
                        <a:rPr lang="en-US" sz="2400">
                          <a:solidFill>
                            <a:srgbClr val="111111"/>
                          </a:solidFill>
                          <a:latin typeface="Cambria Math" panose="02040503050406030204" pitchFamily="18" charset="0"/>
                        </a:rPr>
                        <m:t xml:space="preserve">(</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r>
                        <m:rPr>
                          <m:sty m:val="p"/>
                        </m:rPr>
                        <a:rPr lang="en-US" sz="2400">
                          <a:solidFill>
                            <a:srgbClr val="111111"/>
                          </a:solidFill>
                          <a:latin typeface="Cambria Math" panose="02040503050406030204" pitchFamily="18" charset="0"/>
                        </a:rPr>
                        <m:t xml:space="preserve">), </m:t>
                      </m:r>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e</m:t>
                          </m:r>
                        </m:e>
                        <m:sub>
                          <m:sSub>
                            <m:sSubPr>
                              <m:ctrlPr>
                                <a:rPr lang="en-US" sz="2400" i="1">
                                  <a:solidFill>
                                    <a:srgbClr val="111111"/>
                                  </a:solidFill>
                                  <a:latin typeface="Cambria Math" panose="02040503050406030204" pitchFamily="18" charset="0"/>
                                </a:rPr>
                              </m:ctrlPr>
                            </m:sSubPr>
                            <m:e>
                              <m:r>
                                <a:rPr lang="en-US" sz="2400" i="1">
                                  <a:solidFill>
                                    <a:srgbClr val="111111"/>
                                  </a:solidFill>
                                  <a:latin typeface="Cambria Math" panose="02040503050406030204" pitchFamily="18" charset="0"/>
                                </a:rPr>
                                <m:t xml:space="preserve">c</m:t>
                              </m:r>
                            </m:e>
                            <m:sub>
                              <m:r>
                                <a:rPr lang="en-US" sz="2400" i="1">
                                  <a:solidFill>
                                    <a:srgbClr val="111111"/>
                                  </a:solidFill>
                                  <a:latin typeface="Cambria Math" panose="02040503050406030204" pitchFamily="18" charset="0"/>
                                </a:rPr>
                                <m:t xml:space="preserve">ui</m:t>
                              </m:r>
                            </m:sub>
                          </m:sSub>
                        </m:sub>
                      </m:sSub>
                      <m:r>
                        <m:rPr>
                          <m:sty m:val="p"/>
                        </m:rPr>
                        <a:rPr lang="en-US" sz="2400">
                          <a:solidFill>
                            <a:srgbClr val="111111"/>
                          </a:solidFill>
                          <a:latin typeface="Cambria Math" panose="02040503050406030204" pitchFamily="18" charset="0"/>
                        </a:rPr>
                        <m:t xml:space="preserve">⟩</m:t>
                      </m:r>
                    </m:oMath>
                  </m:oMathPara>
                </a14:m>
                <a:endParaRPr lang="en-US" sz="2400"/>
              </a:p>
            </p:txBody>
          </p:sp>
        </mc:Choice>
        <mc:Fallback>
          <p:sp>
            <p:nvSpPr>
              <p:cNvPr id="40" name="Equation"/>
              <p:cNvSpPr txBox="1"/>
              <p:nvPr/>
            </p:nvSpPr>
            <p:spPr>
              <a:xfrm>
                <a:off x="4686300" y="8622368"/>
                <a:ext cx="9372600" cy="777663"/>
              </a:xfrm>
              <a:prstGeom prst="rect">
                <a:avLst/>
              </a:prstGeom>
              <a:blipFill>
                <a:blip r:embed="rId8"/>
                <a:stretch>
                  <a:fillRect/>
                </a:stretch>
              </a:blipFill>
            </p:spPr>
            <p:txBody>
              <a:bodyPr/>
              <a:lstStyle/>
              <a:p>
                <a:endParaRPr lang="en-US"/>
              </a:p>
            </p:txBody>
          </p:sp>
        </mc:Fallback>
      </mc:AlternateContent>
      <p:sp>
        <p:nvSpPr>
          <p:cNvPr id="41" name="TextBox 40"/>
          <p:cNvSpPr txBox="1"/>
          <p:nvPr/>
        </p:nvSpPr>
        <p:spPr>
          <a:xfrm>
            <a:off x="14241780" y="8622368"/>
            <a:ext cx="2743200" cy="777663"/>
          </a:xfrm>
          <a:prstGeom prst="rect">
            <a:avLst/>
          </a:prstGeom>
          <a:noFill/>
        </p:spPr>
        <p:txBody>
          <a:bodyPr anchor="ctr" rtlCol="false" lIns="0" tIns="0" rIns="0" bIns="0" wrap="square"/>
          <a:lstStyle/>
          <a:p>
            <a:pPr algn="r">
              <a:lnSpc>
                <a:spcPts val="1900"/>
              </a:lnSpc>
              <a:spcBef>
                <a:spcPts val="0"/>
              </a:spcBef>
              <a:buNone/>
            </a:pPr>
            <a:r>
              <a:rPr lang="en-US" sz="1600" b="true">
                <a:solidFill>
                  <a:srgbClr val="8A8378"/>
                </a:solidFill>
                <a:latin typeface="Nunito Semi-Bold"/>
                <a:ea typeface="Nunito Semi-Bold"/>
                <a:cs typeface="Nunito Semi-Bold"/>
                <a:sym typeface="Nunito Semi-Bold"/>
              </a:rPr>
              <a:t>loss = BPR + diversity + context + L2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pic>
        <p:nvPicPr>
          <p:cNvPr id="25" name="Picture 24" descr="image.png"/>
          <p:cNvPicPr>
            <a:picLocks noChangeAspect="1"/>
          </p:cNvPicPr>
          <p:nvPr/>
        </p:nvPicPr>
        <p:blipFill>
          <a:blip r:embed="rId3"/>
          <a:stretch>
            <a:fillRect/>
          </a:stretch>
        </p:blipFill>
        <p:spPr>
          <a:xfrm>
            <a:off x="6376338"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30" name="Table 29"/>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1" name="Rounded Rectangle 30"/>
          <p:cNvSpPr/>
          <p:nvPr/>
        </p:nvSpPr>
        <p:spPr>
          <a:xfrm>
            <a:off x="11452860" y="3453129"/>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32" name="Rounded Rectangle 31"/>
          <p:cNvSpPr/>
          <p:nvPr/>
        </p:nvSpPr>
        <p:spPr>
          <a:xfrm>
            <a:off x="11910060" y="3215385"/>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33" name="TextBox 32"/>
          <p:cNvSpPr txBox="1"/>
          <p:nvPr/>
        </p:nvSpPr>
        <p:spPr>
          <a:xfrm>
            <a:off x="11910060" y="4093209"/>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significance tabulated on MovieLens-1M (Table 7.6).</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pic>
        <p:nvPicPr>
          <p:cNvPr id="25" name="Picture 24" descr="image.png"/>
          <p:cNvPicPr>
            <a:picLocks noChangeAspect="1"/>
          </p:cNvPicPr>
          <p:nvPr/>
        </p:nvPicPr>
        <p:blipFill>
          <a:blip r:embed="rId3"/>
          <a:stretch>
            <a:fillRect/>
          </a:stretch>
        </p:blipFill>
        <p:spPr>
          <a:xfrm>
            <a:off x="9149156" y="1673352"/>
            <a:ext cx="457200" cy="415247"/>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pic>
        <p:nvPicPr>
          <p:cNvPr id="25" name="Picture 24" descr="image.png"/>
          <p:cNvPicPr>
            <a:picLocks noChangeAspect="1"/>
          </p:cNvPicPr>
          <p:nvPr/>
        </p:nvPicPr>
        <p:blipFill>
          <a:blip r:embed="rId3"/>
          <a:stretch>
            <a:fillRect/>
          </a:stretch>
        </p:blipFill>
        <p:spPr>
          <a:xfrm>
            <a:off x="9187392" y="1673352"/>
            <a:ext cx="457200" cy="452148"/>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31" name="Rounded Rectangle 30"/>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32" name="Table 31"/>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3" name="TextBox 32"/>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pic>
        <p:nvPicPr>
          <p:cNvPr id="25" name="Picture 24" descr="image.png"/>
          <p:cNvPicPr>
            <a:picLocks noChangeAspect="1"/>
          </p:cNvPicPr>
          <p:nvPr/>
        </p:nvPicPr>
        <p:blipFill>
          <a:blip r:embed="rId3"/>
          <a:stretch>
            <a:fillRect/>
          </a:stretch>
        </p:blipFill>
        <p:spPr>
          <a:xfrm>
            <a:off x="11596440" y="1673352"/>
            <a:ext cx="457200" cy="617115"/>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TextBox 29"/>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7.2  ·  MOVIELENS-1M</a:t>
            </a:r>
          </a:p>
        </p:txBody>
      </p:sp>
      <p:graphicFrame>
        <p:nvGraphicFramePr>
          <p:cNvPr id="31" name="Table 30"/>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2" name="TextBox 31"/>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33" name="Table 32"/>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4" name="Rounded Rectangle 33"/>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5" name="Rounded Rectangle 34"/>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6" name="TextBox 35"/>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pic>
        <p:nvPicPr>
          <p:cNvPr id="25" name="Picture 24" descr="image.png"/>
          <p:cNvPicPr>
            <a:picLocks noChangeAspect="1"/>
          </p:cNvPicPr>
          <p:nvPr/>
        </p:nvPicPr>
        <p:blipFill>
          <a:blip r:embed="rId3"/>
          <a:stretch>
            <a:fillRect/>
          </a:stretch>
        </p:blipFill>
        <p:spPr>
          <a:xfrm>
            <a:off x="10646093" y="1673352"/>
            <a:ext cx="457200" cy="250983"/>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31" name="Rounded Rectangle 30"/>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32" name="Rounded Rectangle 31"/>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33" name="Rounded Rectangle 32"/>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34" name="TextBox 33"/>
          <p:cNvSpPr txBox="1"/>
          <p:nvPr/>
        </p:nvSpPr>
        <p:spPr>
          <a:xfrm>
            <a:off x="1028700" y="560400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5" name="Rounded Rectangle 34"/>
          <p:cNvSpPr/>
          <p:nvPr/>
        </p:nvSpPr>
        <p:spPr>
          <a:xfrm>
            <a:off x="1028700" y="6042914"/>
            <a:ext cx="7932420" cy="3080765"/>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7" name="TextBox 36"/>
          <p:cNvSpPr txBox="1"/>
          <p:nvPr/>
        </p:nvSpPr>
        <p:spPr>
          <a:xfrm>
            <a:off x="1531620" y="6682994"/>
            <a:ext cx="6972300" cy="219583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Per-epoch cost </a:t>
            </a:r>
            <a:r>
              <a:rPr lang="en-US" sz="2000" b="true">
                <a:solidFill>
                  <a:srgbClr val="111111"/>
                </a:solidFill>
                <a:latin typeface="Nunito Bold"/>
                <a:ea typeface="Nunito Bold"/>
                <a:cs typeface="Nunito Bold"/>
                <a:sym typeface="Nunito Bold"/>
              </a:rPr>
              <a:t>O((L+1)·m·d) + O((M/f)·m)</a:t>
            </a:r>
            <a:r>
              <a:rPr lang="en-US" sz="2000" b="true">
                <a:solidFill>
                  <a:srgbClr val="111111"/>
                </a:solidFill>
                <a:latin typeface="Nunito Semi-Bold"/>
                <a:ea typeface="Nunito Semi-Bold"/>
                <a:cs typeface="Nunito Semi-Bold"/>
                <a:sym typeface="Nunito Semi-Bold"/>
              </a:rPr>
              <a:t>: propagation plus periodic Shapley refresh.</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Inference latency is </a:t>
            </a:r>
            <a:r>
              <a:rPr lang="en-US" sz="2000" b="true">
                <a:solidFill>
                  <a:srgbClr val="111111"/>
                </a:solidFill>
                <a:latin typeface="Nunito Bold"/>
                <a:ea typeface="Nunito Bold"/>
                <a:cs typeface="Nunito Bold"/>
                <a:sym typeface="Nunito Bold"/>
              </a:rPr>
              <a:t>suitable for real-time use</a:t>
            </a:r>
            <a:r>
              <a:rPr lang="en-US" sz="2000" b="true">
                <a:solidFill>
                  <a:srgbClr val="111111"/>
                </a:solidFill>
                <a:latin typeface="Nunito Semi-Bold"/>
                <a:ea typeface="Nunito Semi-Bold"/>
                <a:cs typeface="Nunito Semi-Bold"/>
                <a:sym typeface="Nunito Semi-Bold"/>
              </a:rPr>
              <a:t>.</a:t>
            </a:r>
          </a:p>
        </p:txBody>
      </p:sp>
      <p:sp>
        <p:nvSpPr>
          <p:cNvPr id="38" name="Rounded Rectangle 37"/>
          <p:cNvSpPr/>
          <p:nvPr/>
        </p:nvSpPr>
        <p:spPr>
          <a:xfrm>
            <a:off x="9326880" y="6042914"/>
            <a:ext cx="7932420" cy="3080765"/>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9" name="Rounded Rectangle 38"/>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40" name="TextBox 39"/>
          <p:cNvSpPr txBox="1"/>
          <p:nvPr/>
        </p:nvSpPr>
        <p:spPr>
          <a:xfrm>
            <a:off x="9829800" y="6682994"/>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pic>
        <p:nvPicPr>
          <p:cNvPr id="25" name="Picture 24" descr="image.png"/>
          <p:cNvPicPr>
            <a:picLocks noChangeAspect="1"/>
          </p:cNvPicPr>
          <p:nvPr/>
        </p:nvPicPr>
        <p:blipFill>
          <a:blip r:embed="rId3"/>
          <a:stretch>
            <a:fillRect/>
          </a:stretch>
        </p:blipFill>
        <p:spPr>
          <a:xfrm>
            <a:off x="7141903" y="1673352"/>
            <a:ext cx="457200" cy="539881"/>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30" name="Rounded Rectangle 29"/>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1"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31" name="Equation"/>
              <p:cNvSpPr txBox="1"/>
              <p:nvPr/>
            </p:nvSpPr>
            <p:spPr>
              <a:xfrm>
                <a:off x="1211580" y="3729482"/>
                <a:ext cx="4831080" cy="1051560"/>
              </a:xfrm>
              <a:prstGeom prst="rect">
                <a:avLst/>
              </a:prstGeom>
              <a:blipFill>
                <a:blip r:embed="rId5"/>
                <a:stretch>
                  <a:fillRect/>
                </a:stretch>
              </a:blipFill>
            </p:spPr>
            <p:txBody>
              <a:bodyPr/>
              <a:lstStyle/>
              <a:p>
                <a:endParaRPr lang="en-US"/>
              </a:p>
            </p:txBody>
          </p:sp>
        </mc:Fallback>
      </mc:AlternateContent>
      <p:sp>
        <p:nvSpPr>
          <p:cNvPr id="32" name="TextBox 31"/>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33" name="Rounded Rectangle 32"/>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4"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34" name="Equation"/>
              <p:cNvSpPr txBox="1"/>
              <p:nvPr/>
            </p:nvSpPr>
            <p:spPr>
              <a:xfrm>
                <a:off x="6728460" y="3729482"/>
                <a:ext cx="4831080" cy="1051560"/>
              </a:xfrm>
              <a:prstGeom prst="rect">
                <a:avLst/>
              </a:prstGeom>
              <a:blipFill>
                <a:blip r:embed="rId6"/>
                <a:stretch>
                  <a:fillRect/>
                </a:stretch>
              </a:blipFill>
            </p:spPr>
            <p:txBody>
              <a:bodyPr/>
              <a:lstStyle/>
              <a:p>
                <a:endParaRPr lang="en-US"/>
              </a:p>
            </p:txBody>
          </p:sp>
        </mc:Fallback>
      </mc:AlternateContent>
      <p:sp>
        <p:nvSpPr>
          <p:cNvPr id="35" name="TextBox 34"/>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6" name="Rounded Rectangle 35"/>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7" name="Equation"/>
              <p:cNvSpPr txBox="1"/>
              <p:nvPr/>
            </p:nvSpPr>
            <p:spPr>
              <a:xfrm>
                <a:off x="12245340" y="3729482"/>
                <a:ext cx="4831080" cy="1051560"/>
              </a:xfrm>
              <a:prstGeom prst="rect">
                <a:avLst/>
              </a:prstGeom>
              <a:blipFill>
                <a:blip r:embed="rId7"/>
                <a:stretch>
                  <a:fillRect/>
                </a:stretch>
              </a:blipFill>
            </p:spPr>
            <p:txBody>
              <a:bodyPr/>
              <a:lstStyle/>
              <a:p>
                <a:endParaRPr lang="en-US"/>
              </a:p>
            </p:txBody>
          </p:sp>
        </mc:Fallback>
      </mc:AlternateContent>
      <p:sp>
        <p:nvSpPr>
          <p:cNvPr id="38" name="TextBox 37"/>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9" name="TextBox 38"/>
          <p:cNvSpPr txBox="1"/>
          <p:nvPr/>
        </p:nvSpPr>
        <p:spPr>
          <a:xfrm>
            <a:off x="1028700" y="5695442"/>
            <a:ext cx="16230600" cy="411480"/>
          </a:xfrm>
          <a:prstGeom prst="rect">
            <a:avLst/>
          </a:prstGeom>
          <a:noFill/>
        </p:spPr>
        <p:txBody>
          <a:bodyPr anchor="t" rtlCol="false" lIns="0" tIns="0" rIns="0" bIns="0" wrap="square"/>
          <a:lstStyle/>
          <a:p>
            <a:pPr algn="l">
              <a:lnSpc>
                <a:spcPts val="1800"/>
              </a:lnSpc>
              <a:spcBef>
                <a:spcPts val="0"/>
              </a:spcBef>
              <a:buNone/>
            </a:pPr>
            <a:r>
              <a:rPr lang="en-US" sz="14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40" name="Rounded Rectangle 39"/>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41" name="Rounded Rectangle 40"/>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42" name="TextBox 41"/>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pic>
        <p:nvPicPr>
          <p:cNvPr id="23" name="Picture 22" descr="image.png"/>
          <p:cNvPicPr>
            <a:picLocks noChangeAspect="1"/>
          </p:cNvPicPr>
          <p:nvPr/>
        </p:nvPicPr>
        <p:blipFill>
          <a:blip r:embed="rId3"/>
          <a:stretch>
            <a:fillRect/>
          </a:stretch>
        </p:blipFill>
        <p:spPr>
          <a:xfrm>
            <a:off x="7806261" y="1673352"/>
            <a:ext cx="457200" cy="373212"/>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30" name="TextBox 29"/>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31" name="Rounded Rectangle 30"/>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3" name="TextBox 32"/>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4" name="Table 33"/>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·context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pic>
        <p:nvPicPr>
          <p:cNvPr id="25" name="Picture 24" descr="image.png"/>
          <p:cNvPicPr>
            <a:picLocks noChangeAspect="1"/>
          </p:cNvPicPr>
          <p:nvPr/>
        </p:nvPicPr>
        <p:blipFill>
          <a:blip r:embed="rId3"/>
          <a:stretch>
            <a:fillRect/>
          </a:stretch>
        </p:blipFill>
        <p:spPr>
          <a:xfrm>
            <a:off x="4641445" y="1673352"/>
            <a:ext cx="457200" cy="427074"/>
          </a:xfrm>
          <a:prstGeom prst="rect">
            <a:avLst/>
          </a:prstGeom>
        </p:spPr>
      </p:pic>
      <p:sp>
        <p:nvSpPr>
          <p:cNvPr id="26" name="Rounded Rectangle 25"/>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7" name="Rounded Rectangle 26"/>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8" name="Rounded Rectangle 27"/>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9" name="Rounded Rectangle 28"/>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30" name="Rounded Rectangle 29"/>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33" name="Rounded Rectangle 32"/>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6" name="Rounded Rectangle 35"/>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9" name="Rounded Rectangle 38"/>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pic>
        <p:nvPicPr>
          <p:cNvPr id="23" name="Picture 22" descr="image.png"/>
          <p:cNvPicPr>
            <a:picLocks noChangeAspect="1"/>
          </p:cNvPicPr>
          <p:nvPr/>
        </p:nvPicPr>
        <p:blipFill>
          <a:blip r:embed="rId3"/>
          <a:stretch>
            <a:fillRect/>
          </a:stretch>
        </p:blipFill>
        <p:spPr>
          <a:xfrm>
            <a:off x="4251252" y="1673352"/>
            <a:ext cx="457200" cy="399005"/>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30" name="Rounded Rectangle 29"/>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32" name="Rounded Rectangle 31"/>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3" name="TextBox 32"/>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4" name="Rounded Rectangle 33"/>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5" name="TextBox 34"/>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6" name="Rounded Rectangle 35"/>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pic>
        <p:nvPicPr>
          <p:cNvPr id="23" name="Picture 22" descr="image.png"/>
          <p:cNvPicPr>
            <a:picLocks noChangeAspect="1"/>
          </p:cNvPicPr>
          <p:nvPr/>
        </p:nvPicPr>
        <p:blipFill>
          <a:blip r:embed="rId3"/>
          <a:stretch>
            <a:fillRect/>
          </a:stretch>
        </p:blipFill>
        <p:spPr>
          <a:xfrm>
            <a:off x="8179226" y="1673352"/>
            <a:ext cx="457200" cy="446713"/>
          </a:xfrm>
          <a:prstGeom prst="rect">
            <a:avLst/>
          </a:prstGeom>
        </p:spPr>
      </p:pic>
      <p:sp>
        <p:nvSpPr>
          <p:cNvPr id="24" name="Rounded Rectangle 23"/>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5" name="Rounded Rectangle 24"/>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6" name="Rounded Rectangle 25"/>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7" name="Rounded Rectangle 26"/>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8" name="Rounded Rectangle 27"/>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9" name="TextBox 28"/>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30" name="Rounded Rectangle 29"/>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31" name="TextBox 30"/>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32" name="Rounded Rectangle 31"/>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4" name="Rounded Rectangle 33"/>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5" name="Rounded Rectangle 34"/>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6" name="TextBox 35"/>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7" name="Rounded Rectangle 36"/>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7" name="TextBox 6"/>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8" name="Oval 7"/>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9" name="TextBox 8"/>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10" name="TextBox 9"/>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11" name="Rectangle 10"/>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2" name="TextBox 11"/>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3" name="Connector 12"/>
          <p:cNvCxnSpPr/>
          <p:nvPr/>
        </p:nvCxnSpPr>
        <p:spPr>
          <a:xfrm>
            <a:off x="1028700" y="6464808"/>
            <a:ext cx="640080" cy="0"/>
          </a:xfrm>
          <a:prstGeom prst="line">
            <a:avLst/>
          </a:prstGeom>
          <a:ln w="31750">
            <a:solidFill>
              <a:srgbClr val="ECC665"/>
            </a:solidFill>
          </a:ln>
        </p:spPr>
      </p:cxnSp>
      <p:sp>
        <p:nvSpPr>
          <p:cNvPr id="14" name="TextBox 13"/>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5" name="TextBox 14"/>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6" name="Connector 15"/>
          <p:cNvCxnSpPr/>
          <p:nvPr/>
        </p:nvCxnSpPr>
        <p:spPr>
          <a:xfrm>
            <a:off x="6576060" y="6464808"/>
            <a:ext cx="640080" cy="0"/>
          </a:xfrm>
          <a:prstGeom prst="line">
            <a:avLst/>
          </a:prstGeom>
          <a:ln w="31750">
            <a:solidFill>
              <a:srgbClr val="ECC665"/>
            </a:solidFill>
          </a:ln>
        </p:spPr>
      </p:cxnSp>
      <p:sp>
        <p:nvSpPr>
          <p:cNvPr id="17" name="TextBox 16"/>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8" name="TextBox 17"/>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9" name="Connector 18"/>
          <p:cNvCxnSpPr/>
          <p:nvPr/>
        </p:nvCxnSpPr>
        <p:spPr>
          <a:xfrm>
            <a:off x="12123420" y="6464808"/>
            <a:ext cx="640080" cy="0"/>
          </a:xfrm>
          <a:prstGeom prst="line">
            <a:avLst/>
          </a:prstGeom>
          <a:ln w="31750">
            <a:solidFill>
              <a:srgbClr val="ECC665"/>
            </a:solidFill>
          </a:ln>
        </p:spPr>
      </p:cxnSp>
      <p:sp>
        <p:nvSpPr>
          <p:cNvPr id="20" name="TextBox 19"/>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pic>
        <p:nvPicPr>
          <p:cNvPr id="25" name="Picture 24" descr="image.png"/>
          <p:cNvPicPr>
            <a:picLocks noChangeAspect="1"/>
          </p:cNvPicPr>
          <p:nvPr/>
        </p:nvPicPr>
        <p:blipFill>
          <a:blip r:embed="rId3"/>
          <a:stretch>
            <a:fillRect/>
          </a:stretch>
        </p:blipFill>
        <p:spPr>
          <a:xfrm>
            <a:off x="10723663"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31" name="Table 30"/>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Rounded Rectangle 31"/>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single level</a:t>
            </a:r>
          </a:p>
        </p:txBody>
      </p:sp>
      <p:cxnSp>
        <p:nvCxnSpPr>
          <p:cNvPr id="33" name="Connector 32"/>
          <p:cNvCxnSpPr/>
          <p:nvPr/>
        </p:nvCxnSpPr>
        <p:spPr>
          <a:xfrm>
            <a:off x="5143500" y="6725666"/>
            <a:ext cx="1897380" cy="0"/>
          </a:xfrm>
          <a:prstGeom prst="line">
            <a:avLst/>
          </a:prstGeom>
          <a:ln w="38100">
            <a:solidFill>
              <a:srgbClr val="4472C4"/>
            </a:solidFill>
            <a:tailEnd type="triangle" w="med" len="med"/>
          </a:ln>
        </p:spPr>
      </p:cxnSp>
      <p:sp>
        <p:nvSpPr>
          <p:cNvPr id="34" name="Rounded Rectangle 33"/>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post-hoc, hierarchical</a:t>
            </a:r>
          </a:p>
        </p:txBody>
      </p:sp>
      <p:cxnSp>
        <p:nvCxnSpPr>
          <p:cNvPr id="35" name="Connector 34"/>
          <p:cNvCxnSpPr/>
          <p:nvPr/>
        </p:nvCxnSpPr>
        <p:spPr>
          <a:xfrm>
            <a:off x="11247120" y="6725666"/>
            <a:ext cx="1897380" cy="0"/>
          </a:xfrm>
          <a:prstGeom prst="line">
            <a:avLst/>
          </a:prstGeom>
          <a:ln w="38100">
            <a:solidFill>
              <a:srgbClr val="4472C4"/>
            </a:solidFill>
            <a:tailEnd type="triangle" w="med" len="med"/>
          </a:ln>
        </p:spPr>
      </p:cxnSp>
      <p:sp>
        <p:nvSpPr>
          <p:cNvPr id="36" name="Rounded Rectangle 35"/>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in-training signal</a:t>
            </a:r>
          </a:p>
        </p:txBody>
      </p:sp>
      <p:sp>
        <p:nvSpPr>
          <p:cNvPr id="37" name="Rounded Rectangle 36"/>
          <p:cNvSpPr/>
          <p:nvPr/>
        </p:nvSpPr>
        <p:spPr>
          <a:xfrm>
            <a:off x="1028700" y="7356601"/>
            <a:ext cx="16230600" cy="1551178"/>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8" name="Rounded Rectangle 37"/>
          <p:cNvSpPr/>
          <p:nvPr/>
        </p:nvSpPr>
        <p:spPr>
          <a:xfrm>
            <a:off x="1348740" y="7164578"/>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9" name="TextBox 38"/>
          <p:cNvSpPr txBox="1"/>
          <p:nvPr/>
        </p:nvSpPr>
        <p:spPr>
          <a:xfrm>
            <a:off x="1394460" y="7742174"/>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
        <p:nvSpPr>
          <p:cNvPr id="5" name="Rounded Rectangle 4"/>
          <p:cNvSpPr/>
          <p:nvPr/>
        </p:nvSpPr>
        <p:spPr>
          <a:xfrm>
            <a:off x="1024128" y="8898636"/>
            <a:ext cx="16239744" cy="7757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8935212"/>
            <a:ext cx="16239744" cy="7025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pic>
        <p:nvPicPr>
          <p:cNvPr id="23" name="Picture 22" descr="image.png"/>
          <p:cNvPicPr>
            <a:picLocks noChangeAspect="1"/>
          </p:cNvPicPr>
          <p:nvPr/>
        </p:nvPicPr>
        <p:blipFill>
          <a:blip r:embed="rId3"/>
          <a:stretch>
            <a:fillRect/>
          </a:stretch>
        </p:blipFill>
        <p:spPr>
          <a:xfrm>
            <a:off x="10279040"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9" name="Table 28"/>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30" name="Rounded Rectangle 29"/>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32" name="TextBox 31"/>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3" name="Rounded Rectangle 32"/>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5" name="TextBox 34"/>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pic>
        <p:nvPicPr>
          <p:cNvPr id="23" name="Picture 22" descr="image.png"/>
          <p:cNvPicPr>
            <a:picLocks noChangeAspect="1"/>
          </p:cNvPicPr>
          <p:nvPr/>
        </p:nvPicPr>
        <p:blipFill>
          <a:blip r:embed="rId3"/>
          <a:stretch>
            <a:fillRect/>
          </a:stretch>
        </p:blipFill>
        <p:spPr>
          <a:xfrm>
            <a:off x="8586542" y="1673352"/>
            <a:ext cx="457200" cy="250983"/>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30" name="Rounded Rectangle 29"/>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31" name="Rounded Rectangle 30"/>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32" name="Rounded Rectangle 31"/>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pic>
        <p:nvPicPr>
          <p:cNvPr id="23" name="Picture 22" descr="image.png"/>
          <p:cNvPicPr>
            <a:picLocks noChangeAspect="1"/>
          </p:cNvPicPr>
          <p:nvPr/>
        </p:nvPicPr>
        <p:blipFill>
          <a:blip r:embed="rId3"/>
          <a:stretch>
            <a:fillRect/>
          </a:stretch>
        </p:blipFill>
        <p:spPr>
          <a:xfrm>
            <a:off x="13921521" y="1673352"/>
            <a:ext cx="457200" cy="415247"/>
          </a:xfrm>
          <a:prstGeom prst="rect">
            <a:avLst/>
          </a:prstGeom>
        </p:spPr>
      </p:pic>
      <p:sp>
        <p:nvSpPr>
          <p:cNvPr id="24" name="Rounded Rectangle 23"/>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5" name="Rounded Rectangle 24"/>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6" name="Rounded Rectangle 25"/>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7" name="Rounded Rectangle 26"/>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8" name="Rounded Rectangle 27"/>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9" name="Rounded Rectangle 28"/>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0" name="Oval 29"/>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31" name="TextBox 30"/>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32" name="Rounded Rectangle 31"/>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4" name="TextBox 33"/>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5" name="Rounded Rectangle 34"/>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7" name="TextBox 36"/>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8" name="Rounded Rectangle 37"/>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9" name="Oval 38"/>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40" name="TextBox 39"/>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10" name="Rounded Rectangle 9"/>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2" name="Rounded Rectangle 11"/>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4" name="Rounded Rectangle 13"/>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6" name="Rounded Rectangle 15"/>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8" name="Rounded Rectangle 17"/>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20" name="Rounded Rectangle 19"/>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21" name="TextBox 20"/>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2" name="Rounded Rectangle 21"/>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3" name="TextBox 22"/>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4" name="TextBox 23"/>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pic>
        <p:nvPicPr>
          <p:cNvPr id="25" name="Picture 24" descr="image.png"/>
          <p:cNvPicPr>
            <a:picLocks noChangeAspect="1"/>
          </p:cNvPicPr>
          <p:nvPr/>
        </p:nvPicPr>
        <p:blipFill>
          <a:blip r:embed="rId3"/>
          <a:stretch>
            <a:fillRect/>
          </a:stretch>
        </p:blipFill>
        <p:spPr>
          <a:xfrm>
            <a:off x="4224502" y="1673352"/>
            <a:ext cx="457200" cy="452148"/>
          </a:xfrm>
          <a:prstGeom prst="rect">
            <a:avLst/>
          </a:prstGeom>
        </p:spPr>
      </p:pic>
      <p:sp>
        <p:nvSpPr>
          <p:cNvPr id="26" name="Rounded Rectangle 25"/>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7" name="Rounded Rectangle 26"/>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8" name="Rounded Rectangle 27"/>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9" name="Rounded Rectangle 28"/>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30" name="Rounded Rectangle 29"/>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31" name="Rounded Rectangle 30"/>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32" name="Rounded Rectangle 31"/>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33" name="TextBox 32"/>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34" name="TextBox 33"/>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5" name="Rounded Rectangle 34"/>
          <p:cNvSpPr/>
          <p:nvPr/>
        </p:nvSpPr>
        <p:spPr>
          <a:xfrm>
            <a:off x="102870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6" name="Oval 35"/>
          <p:cNvSpPr/>
          <p:nvPr/>
        </p:nvSpPr>
        <p:spPr>
          <a:xfrm>
            <a:off x="134874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7" name="TextBox 36"/>
          <p:cNvSpPr txBox="1"/>
          <p:nvPr/>
        </p:nvSpPr>
        <p:spPr>
          <a:xfrm>
            <a:off x="134874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8" name="Rounded Rectangle 37"/>
          <p:cNvSpPr/>
          <p:nvPr/>
        </p:nvSpPr>
        <p:spPr>
          <a:xfrm>
            <a:off x="515493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9" name="Oval 38"/>
          <p:cNvSpPr/>
          <p:nvPr/>
        </p:nvSpPr>
        <p:spPr>
          <a:xfrm>
            <a:off x="547497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40" name="TextBox 39"/>
          <p:cNvSpPr txBox="1"/>
          <p:nvPr/>
        </p:nvSpPr>
        <p:spPr>
          <a:xfrm>
            <a:off x="547497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41" name="Rounded Rectangle 40"/>
          <p:cNvSpPr/>
          <p:nvPr/>
        </p:nvSpPr>
        <p:spPr>
          <a:xfrm>
            <a:off x="9281160" y="5768594"/>
            <a:ext cx="3851910" cy="3355085"/>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42" name="Oval 41"/>
          <p:cNvSpPr/>
          <p:nvPr/>
        </p:nvSpPr>
        <p:spPr>
          <a:xfrm>
            <a:off x="960120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43" name="TextBox 42"/>
          <p:cNvSpPr txBox="1"/>
          <p:nvPr/>
        </p:nvSpPr>
        <p:spPr>
          <a:xfrm>
            <a:off x="960120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44" name="Rounded Rectangle 43"/>
          <p:cNvSpPr/>
          <p:nvPr/>
        </p:nvSpPr>
        <p:spPr>
          <a:xfrm>
            <a:off x="13407390" y="5768594"/>
            <a:ext cx="3851910" cy="3355085"/>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5" name="Oval 44"/>
          <p:cNvSpPr/>
          <p:nvPr/>
        </p:nvSpPr>
        <p:spPr>
          <a:xfrm>
            <a:off x="13727430" y="6042914"/>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6" name="TextBox 45"/>
          <p:cNvSpPr txBox="1"/>
          <p:nvPr/>
        </p:nvSpPr>
        <p:spPr>
          <a:xfrm>
            <a:off x="13727430" y="6682994"/>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pic>
        <p:nvPicPr>
          <p:cNvPr id="23" name="Picture 22" descr="image.png"/>
          <p:cNvPicPr>
            <a:picLocks noChangeAspect="1"/>
          </p:cNvPicPr>
          <p:nvPr/>
        </p:nvPicPr>
        <p:blipFill>
          <a:blip r:embed="rId3"/>
          <a:stretch>
            <a:fillRect/>
          </a:stretch>
        </p:blipFill>
        <p:spPr>
          <a:xfrm>
            <a:off x="5569149" y="1673352"/>
            <a:ext cx="457200" cy="617115"/>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[3]</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[4]</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[5]</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[6]</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[7]</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[8]</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[9]</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[10]</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[11]</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Neural Collaborative Filtering. WWW, 173–182 (2017).</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[12]</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[13]</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[14]</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7" name="TextBox 6"/>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8" name="Rounded Rectangle 7"/>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1</a:t>
            </a:r>
          </a:p>
        </p:txBody>
      </p:sp>
      <p:sp>
        <p:nvSpPr>
          <p:cNvPr id="10" name="Rounded Rectangle 9"/>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2</a:t>
            </a:r>
          </a:p>
        </p:txBody>
      </p:sp>
      <p:sp>
        <p:nvSpPr>
          <p:cNvPr id="12" name="Rounded Rectangle 11"/>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3</a:t>
            </a:r>
          </a:p>
        </p:txBody>
      </p:sp>
      <p:sp>
        <p:nvSpPr>
          <p:cNvPr id="14" name="Rounded Rectangle 13"/>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4</a:t>
            </a:r>
          </a:p>
        </p:txBody>
      </p:sp>
      <p:sp>
        <p:nvSpPr>
          <p:cNvPr id="16" name="Rounded Rectangle 15"/>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5</a:t>
            </a:r>
          </a:p>
        </p:txBody>
      </p:sp>
      <p:sp>
        <p:nvSpPr>
          <p:cNvPr id="18" name="Rounded Rectangle 17"/>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8A8378"/>
                </a:solidFill>
                <a:latin typeface="Nunito Ultra-Bold"/>
                <a:ea typeface="Nunito Ultra-Bold"/>
                <a:cs typeface="Nunito Ultra-Bold"/>
                <a:sym typeface="Nunito Ultra-Bold"/>
              </a:rPr>
              <a:t>6</a:t>
            </a:r>
          </a:p>
        </p:txBody>
      </p:sp>
      <p:sp>
        <p:nvSpPr>
          <p:cNvPr id="20" name="Rounded Rectangle 19"/>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21" name="TextBox 20"/>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400" b="true">
                <a:solidFill>
                  <a:srgbClr val="FFFFFF"/>
                </a:solidFill>
                <a:latin typeface="Nunito Ultra-Bold"/>
                <a:ea typeface="Nunito Ultra-Bold"/>
                <a:cs typeface="Nunito Ultra-Bold"/>
                <a:sym typeface="Nunito Ultra-Bold"/>
              </a:rPr>
              <a:t>7</a:t>
            </a:r>
          </a:p>
        </p:txBody>
      </p:sp>
      <p:sp>
        <p:nvSpPr>
          <p:cNvPr id="22" name="TextBox 21"/>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pic>
        <p:nvPicPr>
          <p:cNvPr id="23" name="Picture 22" descr="image.png"/>
          <p:cNvPicPr>
            <a:picLocks noChangeAspect="1"/>
          </p:cNvPicPr>
          <p:nvPr/>
        </p:nvPicPr>
        <p:blipFill>
          <a:blip r:embed="rId3"/>
          <a:stretch>
            <a:fillRect/>
          </a:stretch>
        </p:blipFill>
        <p:spPr>
          <a:xfrm>
            <a:off x="5713563" y="1673352"/>
            <a:ext cx="457200" cy="250983"/>
          </a:xfrm>
          <a:prstGeom prst="rect">
            <a:avLst/>
          </a:prstGeom>
        </p:spPr>
      </p:pic>
      <p:sp>
        <p:nvSpPr>
          <p:cNvPr id="24" name="Rounded Rectangle 23"/>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5" name="Rounded Rectangle 24"/>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[15]</a:t>
            </a:r>
          </a:p>
        </p:txBody>
      </p:sp>
      <p:sp>
        <p:nvSpPr>
          <p:cNvPr id="26" name="TextBox 25"/>
          <p:cNvSpPr txBox="1"/>
          <p:nvPr/>
        </p:nvSpPr>
        <p:spPr>
          <a:xfrm>
            <a:off x="1943100" y="271449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7" name="Rounded Rectangle 26"/>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8" name="Rounded Rectangle 27"/>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[16]</a:t>
            </a:r>
          </a:p>
        </p:txBody>
      </p:sp>
      <p:sp>
        <p:nvSpPr>
          <p:cNvPr id="29" name="TextBox 28"/>
          <p:cNvSpPr txBox="1"/>
          <p:nvPr/>
        </p:nvSpPr>
        <p:spPr>
          <a:xfrm>
            <a:off x="1943100" y="3202486"/>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Feng, Y. et al. Hypergraph Neural Networks. AAAI 33, 3558–3565 (2019).</a:t>
            </a:r>
          </a:p>
        </p:txBody>
      </p:sp>
      <p:sp>
        <p:nvSpPr>
          <p:cNvPr id="30" name="Rounded Rectangle 29"/>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[17]</a:t>
            </a:r>
          </a:p>
        </p:txBody>
      </p:sp>
      <p:sp>
        <p:nvSpPr>
          <p:cNvPr id="32" name="TextBox 31"/>
          <p:cNvSpPr txBox="1"/>
          <p:nvPr/>
        </p:nvSpPr>
        <p:spPr>
          <a:xfrm>
            <a:off x="1943100" y="3690474"/>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3" name="Rounded Rectangle 32"/>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4" name="Rounded Rectangle 33"/>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[18]</a:t>
            </a:r>
          </a:p>
        </p:txBody>
      </p:sp>
      <p:sp>
        <p:nvSpPr>
          <p:cNvPr id="35" name="TextBox 34"/>
          <p:cNvSpPr txBox="1"/>
          <p:nvPr/>
        </p:nvSpPr>
        <p:spPr>
          <a:xfrm>
            <a:off x="1943100" y="417846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6" name="Rounded Rectangle 35"/>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7" name="Rounded Rectangle 36"/>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[19]</a:t>
            </a:r>
          </a:p>
        </p:txBody>
      </p:sp>
      <p:sp>
        <p:nvSpPr>
          <p:cNvPr id="38" name="TextBox 37"/>
          <p:cNvSpPr txBox="1"/>
          <p:nvPr/>
        </p:nvSpPr>
        <p:spPr>
          <a:xfrm>
            <a:off x="1943100" y="4666451"/>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Cortez, P. et al. Wine Quality. UCI Machine Learning Repository (2009).  ·  Zhang, S. et al. Beijing Multi-Site Air Quality Data Set. UCI Machine Learning Repository (2017).</a:t>
            </a:r>
          </a:p>
        </p:txBody>
      </p:sp>
      <p:sp>
        <p:nvSpPr>
          <p:cNvPr id="39" name="Rounded Rectangle 38"/>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0" name="Rounded Rectangle 39"/>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[20]</a:t>
            </a:r>
          </a:p>
        </p:txBody>
      </p:sp>
      <p:sp>
        <p:nvSpPr>
          <p:cNvPr id="41" name="TextBox 40"/>
          <p:cNvSpPr txBox="1"/>
          <p:nvPr/>
        </p:nvSpPr>
        <p:spPr>
          <a:xfrm>
            <a:off x="1943100" y="515444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42" name="Rounded Rectangle 41"/>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3" name="Rounded Rectangle 42"/>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[21]</a:t>
            </a:r>
          </a:p>
        </p:txBody>
      </p:sp>
      <p:sp>
        <p:nvSpPr>
          <p:cNvPr id="44" name="TextBox 43"/>
          <p:cNvSpPr txBox="1"/>
          <p:nvPr/>
        </p:nvSpPr>
        <p:spPr>
          <a:xfrm>
            <a:off x="1943100" y="5642428"/>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5" name="Rounded Rectangle 44"/>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6" name="Rounded Rectangle 45"/>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[22]</a:t>
            </a:r>
          </a:p>
        </p:txBody>
      </p:sp>
      <p:sp>
        <p:nvSpPr>
          <p:cNvPr id="47" name="TextBox 46"/>
          <p:cNvSpPr txBox="1"/>
          <p:nvPr/>
        </p:nvSpPr>
        <p:spPr>
          <a:xfrm>
            <a:off x="1943100" y="613041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8" name="Rounded Rectangle 47"/>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9" name="Rounded Rectangle 48"/>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[23]</a:t>
            </a:r>
          </a:p>
        </p:txBody>
      </p:sp>
      <p:sp>
        <p:nvSpPr>
          <p:cNvPr id="50" name="TextBox 49"/>
          <p:cNvSpPr txBox="1"/>
          <p:nvPr/>
        </p:nvSpPr>
        <p:spPr>
          <a:xfrm>
            <a:off x="1943100" y="6618405"/>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51" name="Rounded Rectangle 50"/>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2" name="Rounded Rectangle 51"/>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[24]</a:t>
            </a:r>
          </a:p>
        </p:txBody>
      </p:sp>
      <p:sp>
        <p:nvSpPr>
          <p:cNvPr id="53" name="TextBox 52"/>
          <p:cNvSpPr txBox="1"/>
          <p:nvPr/>
        </p:nvSpPr>
        <p:spPr>
          <a:xfrm>
            <a:off x="1943100" y="7106393"/>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4" name="Rounded Rectangle 53"/>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5" name="Rounded Rectangle 54"/>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[25]</a:t>
            </a:r>
          </a:p>
        </p:txBody>
      </p:sp>
      <p:sp>
        <p:nvSpPr>
          <p:cNvPr id="56" name="TextBox 55"/>
          <p:cNvSpPr txBox="1"/>
          <p:nvPr/>
        </p:nvSpPr>
        <p:spPr>
          <a:xfrm>
            <a:off x="1943100" y="7594382"/>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7" name="Rounded Rectangle 56"/>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8" name="Rounded Rectangle 57"/>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[26]</a:t>
            </a:r>
          </a:p>
        </p:txBody>
      </p:sp>
      <p:sp>
        <p:nvSpPr>
          <p:cNvPr id="59" name="TextBox 58"/>
          <p:cNvSpPr txBox="1"/>
          <p:nvPr/>
        </p:nvSpPr>
        <p:spPr>
          <a:xfrm>
            <a:off x="1943100" y="8082370"/>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60" name="Rounded Rectangle 59"/>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61" name="Rounded Rectangle 60"/>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[27]</a:t>
            </a:r>
          </a:p>
        </p:txBody>
      </p:sp>
      <p:sp>
        <p:nvSpPr>
          <p:cNvPr id="62" name="TextBox 61"/>
          <p:cNvSpPr txBox="1"/>
          <p:nvPr/>
        </p:nvSpPr>
        <p:spPr>
          <a:xfrm>
            <a:off x="1943100" y="8570359"/>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3" name="Rounded Rectangle 62"/>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4" name="Rounded Rectangle 63"/>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610"/>
              </a:lnSpc>
              <a:spcBef>
                <a:spcPts val="0"/>
              </a:spcBef>
              <a:buNone/>
            </a:pPr>
            <a:r>
              <a:rPr lang="en-US" sz="1400" b="true">
                <a:solidFill>
                  <a:srgbClr val="FFFFFF"/>
                </a:solidFill>
                <a:latin typeface="Nunito Bold"/>
                <a:ea typeface="Nunito Bold"/>
                <a:cs typeface="Nunito Bold"/>
                <a:sym typeface="Nunito Bold"/>
              </a:rPr>
              <a:t>[28]</a:t>
            </a:r>
          </a:p>
        </p:txBody>
      </p:sp>
      <p:sp>
        <p:nvSpPr>
          <p:cNvPr id="65" name="TextBox 64"/>
          <p:cNvSpPr txBox="1"/>
          <p:nvPr/>
        </p:nvSpPr>
        <p:spPr>
          <a:xfrm>
            <a:off x="1943100" y="9058347"/>
            <a:ext cx="15179040" cy="433124"/>
          </a:xfrm>
          <a:prstGeom prst="rect">
            <a:avLst/>
          </a:prstGeom>
          <a:noFill/>
        </p:spPr>
        <p:txBody>
          <a:bodyPr anchor="ctr" rtlCol="false" lIns="0" tIns="0" rIns="0" bIns="0" wrap="square"/>
          <a:lstStyle/>
          <a:p>
            <a:pPr algn="l">
              <a:lnSpc>
                <a:spcPts val="1960"/>
              </a:lnSpc>
              <a:spcBef>
                <a:spcPts val="0"/>
              </a:spcBef>
              <a:buNone/>
            </a:pPr>
            <a:r>
              <a:rPr lang="en-US" sz="14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18(9), 241–257 (2025).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sp>
        <p:nvSpPr>
          <p:cNvPr id="4" name="TextBox 3"/>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5" name="TextBox 4"/>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6" name="Picture 5" descr="ensias_logo.jpg"/>
          <p:cNvPicPr>
            <a:picLocks noChangeAspect="1"/>
          </p:cNvPicPr>
          <p:nvPr/>
        </p:nvPicPr>
        <p:blipFill>
          <a:blip r:embed="rId3"/>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9" name="TextBox 8"/>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10" name="Picture 9" descr="image.png"/>
          <p:cNvPicPr>
            <a:picLocks noChangeAspect="1"/>
          </p:cNvPicPr>
          <p:nvPr/>
        </p:nvPicPr>
        <p:blipFill>
          <a:blip r:embed="rId4"/>
          <a:stretch>
            <a:fillRect/>
          </a:stretch>
        </p:blipFill>
        <p:spPr>
          <a:xfrm>
            <a:off x="13350240" y="2468880"/>
            <a:ext cx="822960" cy="747445"/>
          </a:xfrm>
          <a:prstGeom prst="rect">
            <a:avLst/>
          </a:prstGeom>
        </p:spPr>
      </p:pic>
      <p:pic>
        <p:nvPicPr>
          <p:cNvPr id="11" name="Picture 10"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2" name="Oval 11"/>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3" name="TextBox 12"/>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4" name="Rounded Rectangle 13"/>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5" name="Rounded Rectangle 14"/>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6" name="Rounded Rectangle 15"/>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7" name="Rounded Rectangle 16"/>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4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737415" y="228600"/>
            <a:ext cx="1782969" cy="1298448"/>
          </a:xfrm>
          <a:prstGeom prst="rect">
            <a:avLst/>
          </a:prstGeom>
        </p:spPr>
      </p:pic>
      <p:pic>
        <p:nvPicPr>
          <p:cNvPr id="3" name="Picture 2" descr="ministry_logo.png"/>
          <p:cNvPicPr>
            <a:picLocks noChangeAspect="1"/>
          </p:cNvPicPr>
          <p:nvPr/>
        </p:nvPicPr>
        <p:blipFill>
          <a:blip r:embed="rId3"/>
          <a:stretch>
            <a:fillRect/>
          </a:stretch>
        </p:blipFill>
        <p:spPr>
          <a:xfrm>
            <a:off x="7913027" y="228600"/>
            <a:ext cx="2461944" cy="1298448"/>
          </a:xfrm>
          <a:prstGeom prst="rect">
            <a:avLst/>
          </a:prstGeom>
        </p:spPr>
      </p:pic>
      <p:pic>
        <p:nvPicPr>
          <p:cNvPr id="4" name="Picture 3" descr="ensias_logo.jpg"/>
          <p:cNvPicPr>
            <a:picLocks noChangeAspect="1"/>
          </p:cNvPicPr>
          <p:nvPr/>
        </p:nvPicPr>
        <p:blipFill>
          <a:blip r:embed="rId4"/>
          <a:stretch>
            <a:fillRect/>
          </a:stretch>
        </p:blipFill>
        <p:spPr>
          <a:xfrm>
            <a:off x="14741231" y="228600"/>
            <a:ext cx="1835736" cy="1298448"/>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 Explainable</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Artificial Intelligence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4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4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73380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73380">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7338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69568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pic>
        <p:nvPicPr>
          <p:cNvPr id="11" name="Picture 10" descr="image.png"/>
          <p:cNvPicPr>
            <a:picLocks noChangeAspect="1"/>
          </p:cNvPicPr>
          <p:nvPr/>
        </p:nvPicPr>
        <p:blipFill>
          <a:blip r:embed="rId3"/>
          <a:stretch>
            <a:fillRect/>
          </a:stretch>
        </p:blipFill>
        <p:spPr>
          <a:xfrm>
            <a:off x="14357876" y="1673352"/>
            <a:ext cx="457200" cy="539881"/>
          </a:xfrm>
          <a:prstGeom prst="rect">
            <a:avLst/>
          </a:prstGeom>
        </p:spPr>
      </p:pic>
      <p:sp>
        <p:nvSpPr>
          <p:cNvPr id="12" name="TextBox 11"/>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MOVIELENS-1M</a:t>
            </a:r>
          </a:p>
        </p:txBody>
      </p:sp>
      <p:graphicFrame>
        <p:nvGraphicFramePr>
          <p:cNvPr id="13" name="Table 12"/>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AMAZON-BOOK</a:t>
            </a:r>
          </a:p>
        </p:txBody>
      </p:sp>
      <p:graphicFrame>
        <p:nvGraphicFramePr>
          <p:cNvPr id="15" name="Table 14"/>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6" name="Rounded Rectangle 15"/>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The </a:t>
            </a:r>
            <a:r>
              <a:rPr lang="en-US" sz="1700" b="true">
                <a:solidFill>
                  <a:srgbClr val="111111"/>
                </a:solidFill>
                <a:latin typeface="Nunito Bold"/>
                <a:ea typeface="Nunito Bold"/>
                <a:cs typeface="Nunito Bold"/>
                <a:sym typeface="Nunito Bold"/>
              </a:rPr>
              <a:t>±1σ bands</a:t>
            </a:r>
            <a:r>
              <a:rPr lang="en-US" sz="1700" b="true">
                <a:solidFill>
                  <a:srgbClr val="111111"/>
                </a:solidFill>
                <a:latin typeface="Nunito Semi-Bold"/>
                <a:ea typeface="Nunito Semi-Bold"/>
                <a:cs typeface="Nunito Semi-Bold"/>
                <a:sym typeface="Nunito Semi-Bold"/>
              </a:rPr>
              <a:t> never overlap between DyHuCoG and HPCF on MovieLens-1M; on Amazon-Book the standard deviations are close to the gap for NDCG@20 and Recall@20, so those gains are reported as descriptive.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pic>
        <p:nvPicPr>
          <p:cNvPr id="11" name="Picture 10" descr="image.png"/>
          <p:cNvPicPr>
            <a:picLocks noChangeAspect="1"/>
          </p:cNvPicPr>
          <p:nvPr/>
        </p:nvPicPr>
        <p:blipFill>
          <a:blip r:embed="rId3"/>
          <a:stretch>
            <a:fillRect/>
          </a:stretch>
        </p:blipFill>
        <p:spPr>
          <a:xfrm>
            <a:off x="13676893" y="1673352"/>
            <a:ext cx="457200" cy="373212"/>
          </a:xfrm>
          <a:prstGeom prst="rect">
            <a:avLst/>
          </a:prstGeom>
        </p:spPr>
      </p:pic>
      <p:graphicFrame>
        <p:nvGraphicFramePr>
          <p:cNvPr id="12" name="Table 11"/>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3" name="Rounded Rectangle 12"/>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14" name="Rounded Rectangle 13"/>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5" name="TextBox 14"/>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6" name="Rounded Rectangle 15"/>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7" name="Rounded Rectangle 16"/>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8" name="TextBox 17"/>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
        <p:nvSpPr>
          <p:cNvPr id="5" name="Rounded Rectangle 4"/>
          <p:cNvSpPr/>
          <p:nvPr/>
        </p:nvSpPr>
        <p:spPr>
          <a:xfrm>
            <a:off x="1024128" y="9330436"/>
            <a:ext cx="16239744" cy="343916"/>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367012"/>
            <a:ext cx="16239744" cy="270764"/>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28700" y="990600"/>
            <a:ext cx="7315200" cy="365760"/>
          </a:xfrm>
          <a:prstGeom prst="rect">
            <a:avLst/>
          </a:prstGeom>
          <a:noFill/>
        </p:spPr>
        <p:txBody>
          <a:bodyPr anchor="t" rtlCol="false" lIns="0" tIns="0" rIns="0" bIns="0" wrap="square"/>
          <a:lstStyle/>
          <a:p>
            <a:pPr algn="l">
              <a:lnSpc>
                <a:spcPts val="2800"/>
              </a:lnSpc>
              <a:spcBef>
                <a:spcPts val="0"/>
              </a:spcBef>
              <a:buNone/>
            </a:pPr>
            <a:r>
              <a:rPr lang="en-US" sz="2000" b="true" spc="-110">
                <a:solidFill>
                  <a:srgbClr val="111111"/>
                </a:solidFill>
                <a:latin typeface="Nunito Bold"/>
                <a:ea typeface="Nunito Bold"/>
                <a:cs typeface="Nunito Bold"/>
                <a:sym typeface="Nunito Bold"/>
              </a:rPr>
              <a:t>Mohammed V University in Rabat  ·  ENSIAS</a:t>
            </a:r>
          </a:p>
        </p:txBody>
      </p:sp>
      <p:sp>
        <p:nvSpPr>
          <p:cNvPr id="3" name="TextBox 2"/>
          <p:cNvSpPr txBox="1"/>
          <p:nvPr/>
        </p:nvSpPr>
        <p:spPr>
          <a:xfrm>
            <a:off x="9944100" y="990600"/>
            <a:ext cx="7315200" cy="365760"/>
          </a:xfrm>
          <a:prstGeom prst="rect">
            <a:avLst/>
          </a:prstGeom>
          <a:noFill/>
        </p:spPr>
        <p:txBody>
          <a:bodyPr anchor="t" rtlCol="false" lIns="0" tIns="0" rIns="0" bIns="0" wrap="square"/>
          <a:lstStyle/>
          <a:p>
            <a:pPr algn="r">
              <a:lnSpc>
                <a:spcPts val="2800"/>
              </a:lnSpc>
              <a:spcBef>
                <a:spcPts val="0"/>
              </a:spcBef>
              <a:buNone/>
            </a:pPr>
            <a:r>
              <a:rPr lang="en-US" sz="2000" b="true" spc="-110">
                <a:solidFill>
                  <a:srgbClr val="111111"/>
                </a:solidFill>
                <a:latin typeface="Nunito Bold"/>
                <a:ea typeface="Nunito Bold"/>
                <a:cs typeface="Nunito Bold"/>
                <a:sym typeface="Nunito Bold"/>
              </a:rPr>
              <a:t>PhD Viva  ·  Mouad LOUHICHI</a:t>
            </a:r>
          </a:p>
        </p:txBody>
      </p:sp>
      <p:pic>
        <p:nvPicPr>
          <p:cNvPr id="4" name="Picture 3" descr="ensias_logo.jpg"/>
          <p:cNvPicPr>
            <a:picLocks noChangeAspect="1"/>
          </p:cNvPicPr>
          <p:nvPr/>
        </p:nvPicPr>
        <p:blipFill>
          <a:blip r:embed="rId2"/>
          <a:stretch>
            <a:fillRect/>
          </a:stretch>
        </p:blipFill>
        <p:spPr>
          <a:xfrm>
            <a:off x="1028700" y="9674352"/>
            <a:ext cx="542964" cy="384048"/>
          </a:xfrm>
          <a:prstGeom prst="rect">
            <a:avLst/>
          </a:prstGeom>
        </p:spPr>
      </p:pic>
      <p:sp>
        <p:nvSpPr>
          <p:cNvPr id="7" name="TextBox 6"/>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4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8" name="TextBox 7"/>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9" name="TextBox 8"/>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10" name="TextBox 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pic>
        <p:nvPicPr>
          <p:cNvPr id="11" name="Picture 10" descr="image.png"/>
          <p:cNvPicPr>
            <a:picLocks noChangeAspect="1"/>
          </p:cNvPicPr>
          <p:nvPr/>
        </p:nvPicPr>
        <p:blipFill>
          <a:blip r:embed="rId3"/>
          <a:stretch>
            <a:fillRect/>
          </a:stretch>
        </p:blipFill>
        <p:spPr>
          <a:xfrm>
            <a:off x="13929945" y="1673352"/>
            <a:ext cx="457200" cy="427074"/>
          </a:xfrm>
          <a:prstGeom prst="rect">
            <a:avLst/>
          </a:prstGeom>
        </p:spPr>
      </p:pic>
      <p:sp>
        <p:nvSpPr>
          <p:cNvPr id="12" name="TextBox 11"/>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7.3  ·  RUNTIME AND MEMORY</a:t>
            </a:r>
          </a:p>
        </p:txBody>
      </p:sp>
      <p:graphicFrame>
        <p:nvGraphicFramePr>
          <p:cNvPr id="13" name="Table 12"/>
          <p:cNvGraphicFramePr>
            <a:graphicFrameLocks noGrp="1"/>
          </p:cNvGraphicFramePr>
          <p:nvPr/>
        </p:nvGraphicFramePr>
        <p:xfrm>
          <a:off x="1028700" y="3263138"/>
          <a:ext cx="10241276" cy="382320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62280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4" name="TextBox 13"/>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400" b="true" spc="150">
                <a:solidFill>
                  <a:srgbClr val="1F7A8C"/>
                </a:solidFill>
                <a:latin typeface="Nunito Ultra-Bold"/>
                <a:ea typeface="Nunito Ultra-Bold"/>
                <a:cs typeface="Nunito Ultra-Bold"/>
                <a:sym typeface="Nunito Ultra-Bold"/>
              </a:rPr>
              <a:t>TABLE 7.4  ·  MONTE CARLO SHAPLEY</a:t>
            </a:r>
          </a:p>
        </p:txBody>
      </p:sp>
      <p:graphicFrame>
        <p:nvGraphicFramePr>
          <p:cNvPr id="15" name="Table 14"/>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6" name="Rounded Rectangle 15"/>
          <p:cNvSpPr/>
          <p:nvPr/>
        </p:nvSpPr>
        <p:spPr>
          <a:xfrm>
            <a:off x="1028700" y="745210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
        <p:nvSpPr>
          <p:cNvPr id="5" name="Rounded Rectangle 4"/>
          <p:cNvSpPr/>
          <p:nvPr/>
        </p:nvSpPr>
        <p:spPr>
          <a:xfrm>
            <a:off x="1024128" y="9114536"/>
            <a:ext cx="16239744" cy="559815"/>
          </a:xfrm>
          <a:prstGeom prst="roundRect">
            <a:avLst>
              <a:gd name="adj" fmla="val 0"/>
            </a:avLst>
          </a:prstGeom>
          <a:solidFill>
            <a:srgbClr val="FFFFFF"/>
          </a:solidFill>
          <a:ln>
            <a:noFill/>
          </a:ln>
        </p:spPr>
        <p:txBody>
          <a:bodyPr anchor="ctr" rtlCol="false" lIns="0" tIns="0" rIns="0" bIns="0" wrap="square"/>
          <a:lstStyle/>
          <a:p>
            <a:endParaRPr lang="en-US" sz="1800"/>
          </a:p>
        </p:txBody>
      </p:sp>
      <p:sp>
        <p:nvSpPr>
          <p:cNvPr id="6" name="TextBox 5"/>
          <p:cNvSpPr txBox="1"/>
          <p:nvPr/>
        </p:nvSpPr>
        <p:spPr>
          <a:xfrm>
            <a:off x="1024128" y="9151112"/>
            <a:ext cx="16239744" cy="486663"/>
          </a:xfrm>
          <a:prstGeom prst="rect">
            <a:avLst/>
          </a:prstGeom>
          <a:noFill/>
        </p:spPr>
        <p:txBody>
          <a:bodyPr anchor="ctr" rtlCol="false" lIns="0" tIns="0" rIns="0" bIns="0" wrap="square"/>
          <a:lstStyle/>
          <a:p>
            <a:pPr algn="l">
              <a:lnSpc>
                <a:spcPts val="1700"/>
              </a:lnSpc>
              <a:spcBef>
                <a:spcPts val="0"/>
              </a:spcBef>
              <a:buNone/>
            </a:pPr>
            <a:r>
              <a:rPr lang="en-US" sz="14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