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 id="350" r:id="rId105"/>
    <p:sldId id="351" r:id="rId106"/>
    <p:sldId id="352" r:id="rId107"/>
    <p:sldId id="353" r:id="rId108"/>
    <p:sldId id="354" r:id="rId109"/>
    <p:sldId id="355" r:id="rId110"/>
    <p:sldId id="356" r:id="rId111"/>
    <p:sldId id="357" r:id="rId112"/>
    <p:sldId id="358" r:id="rId113"/>
    <p:sldId id="359" r:id="rId114"/>
    <p:sldId id="360" r:id="rId115"/>
    <p:sldId id="361" r:id="rId116"/>
    <p:sldId id="362" r:id="rId117"/>
    <p:sldId id="363" r:id="rId118"/>
    <p:sldId id="364" r:id="rId119"/>
    <p:sldId id="365" r:id="rId120"/>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 Id="rId107" Type="http://schemas.openxmlformats.org/officeDocument/2006/relationships/slide" Target="slides/slide97.xml"/><Relationship Id="rId108" Type="http://schemas.openxmlformats.org/officeDocument/2006/relationships/slide" Target="slides/slide98.xml"/><Relationship Id="rId109" Type="http://schemas.openxmlformats.org/officeDocument/2006/relationships/slide" Target="slides/slide99.xml"/><Relationship Id="rId110" Type="http://schemas.openxmlformats.org/officeDocument/2006/relationships/slide" Target="slides/slide100.xml"/><Relationship Id="rId111" Type="http://schemas.openxmlformats.org/officeDocument/2006/relationships/slide" Target="slides/slide101.xml"/><Relationship Id="rId112" Type="http://schemas.openxmlformats.org/officeDocument/2006/relationships/slide" Target="slides/slide102.xml"/><Relationship Id="rId113" Type="http://schemas.openxmlformats.org/officeDocument/2006/relationships/slide" Target="slides/slide103.xml"/><Relationship Id="rId114" Type="http://schemas.openxmlformats.org/officeDocument/2006/relationships/slide" Target="slides/slide104.xml"/><Relationship Id="rId115" Type="http://schemas.openxmlformats.org/officeDocument/2006/relationships/slide" Target="slides/slide105.xml"/><Relationship Id="rId116" Type="http://schemas.openxmlformats.org/officeDocument/2006/relationships/slide" Target="slides/slide106.xml"/><Relationship Id="rId117" Type="http://schemas.openxmlformats.org/officeDocument/2006/relationships/slide" Target="slides/slide107.xml"/><Relationship Id="rId118" Type="http://schemas.openxmlformats.org/officeDocument/2006/relationships/slide" Target="slides/slide108.xml"/><Relationship Id="rId119" Type="http://schemas.openxmlformats.org/officeDocument/2006/relationships/slide" Target="slides/slide109.xml"/><Relationship Id="rId120"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Thank you, Mister President and members of the jury, for the time you give me today. My name is Mouad Louhichi. My thesis is titled Cooperative Game Theory for Explainable AI in Recommendation Systems: A Shapley Framework for Actionable Insight, supervised by Professor Mohamed Lazaar. It defends one idea: Shapley attribution is not only a post-hoc explanation. It can explain black-box clustering, stay consistent across levels, and finally guide what a recommender learns.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talk has seven parts: introduction, context and problem, the shared protocol, the three contributions, and the conclusion. Each contribution follows the same order: gap, objectives, method, protocol, results, findings. The small squares at the top right show where we are. Backup tables are placed after the end,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introduction: why explainability is a core requirement for recommender systems, and what I mean by an actionable insight. Time check: minute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frame the work. Everywhere: black-box models shape what billions of people see, buy and watch. The black box: even strong recommenders and clustering pipelines are hard to question; we see the output, not the reason. Trust: transparency should be built into the model, not added after the fact. As models gain power, they lose transparency. I treat accuracy and interpretability as two goals to meet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thesis is framed around actionable insight. An explanation is actionable when it points to a factor that can be changed, when that change leads to a clear change in the output, and when the factor is stated in the domain's own terms: a chemical variable, a pollution indicator, a preference signal. Never a hidden latent code. A good explanation supports a real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context is the move from simple to hypergraph recommenders. Matrix factorisation used latent factors with no readable meaning. Graph neural networks replaced the hidden code with a hidden message-passing mechanism. Hypergraph models added user-item-context relations, but assume that every message counts the same. Each step added power and removed transparency, while the EU AI Act, the OECD principles and the GDPR ask for meaningful explanation. So attribution should be part of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is infrastructure for everyday decisions. Streaming platforms decide what you watch, music services what you hear, e-commerce what you buy, social feeds what you read. Each system is accurate, and its reasoning is hidden. Everywhere, and hidden: that is what makes explainability a core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problem itself. I go quickly over the four main approaches, then the limitations, the five research questions, and the three contributions. Time check: about minute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families of recommender, one slide each, because their limits motivate the thesis. First, content-based filtering: the system builds a profile of what the user liked, in terms of item features such as genre or brand, and recommends items whose features match. It is explainable by construction: the reason is a named feature. The limit: it needs good metadata and recommends more of the same. That level of explanation, domain factors, is the level I want to preserve.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collaborative filtering. The system ignores item content and uses the behaviour of other users: users who agreed in the past will agree in the future. Here user one and user two share items one and two, so user two's interest in item three is passed to user one. It is the base of matrix factorisation and of graph recommenders. Its weakness: new users and items have no history, and sparse matrices give little signal.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hybrid approaches and matrix factorisation. A hybrid mixes content and collaborative signals, which reduces cold-start. Matrix factorisation splits the interaction matrix R into two low-rank matrices, P for users and Q for items, with k latent factors. It is accurate, scalable, and still the standard baseline. But the factors are hidden: nobody can say what factor seven means. The field gained accuracy and lost the named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graph and hypergraph recommenders, the state of the art. Users and items become nodes, interactions become edges, and message passing, as in LightGCN, HCCF or HPCF, moves information over several hops. A hyperedge can join a user, an item and a context at once, which gives the best accuracy on sparse benchmarks. The limit, in the orange box: these models are costly and treat all messages as equally important. Contribution III challenges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classical limitations. Sparsity and scalability: the matrix is almost empty. Cold-start: no history for a new user or item. Popularity bias and the filter-bubble loop. And the one this thesis targets: the lack of interpretability. For clustering it is even harder: methods give a local or a global explanation, not both; they struggle to scale; and they rarely stay consistent across levels of detail. That is the gap I work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problems. Lack of explainability: complex models are hard to explain in a faithful and actionable way. Difficulty of scaling: local explanations do not carry over to multi-level structures or large data. Weak link with learning: explanations are post-hoc and never shape how the model learns. So the literature lacks one cooperative-attribution framework that explains clustering faithfully, stays consistent across levels, and works as an in-training signal. My claim is that Shapley attribution can be that framework.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develop, justify and evaluate a cooperative-game view of explainable AI for clustering and recommendation. Five research questions. RQ1: how can Shapley values explain black-box clustering faithfully? RQ2: how does that extend to large-scale, multi-level clustering while staying feasible and consistent? RQ3: can cooperative attribution become part of how a recommender learns? RQ4: can it improve accuracy, context and diversity at the same time? RQ5, the thesis-level question: what do we gain when both tasks are read as one shared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C1: Shapley-based explanation of black-box clustering with a PCA, K-Means, LightGBM, TreeSHAP pipeline, on wine quality. C2: the same logic scaled to multi-level, large data with cross-level SHAP aggregation, on Beijing air quality. C3, the strongest claim: DyHuCoG turns the attribution into an in-training signal inside a hypergraph recommender, on MovieLens-1M and Amazon-Book. One argument that builds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view: the thesis is a single claim. Shapley attribution can work as one shared, explainable view across clustering and recommendation. Each contribution applies the same cooperative-game logic at a different stage, from explaining a partition to guiding what a recommender learns. Explanation becomes part of the model.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contributions, the shared experimental setup, so that the comparisons are clearly fair: datasets, splitting, baselines, metrics and hardware. Time check: about minute 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clustering datasets and two recommendation datasets. For clustering I chose data whose features have a clear meaning, because the method returns attribution to the original variables: Wine Quality, small and dense, and Beijing Air Quality, large and noisy. For recommendation, two standard benchmarks with a strong density contrast: MovieLens-1M at 0.0447 and Amazon-Book at 0.0006. That contrast tests whether Shapley guidance helps most when interaction data are weak.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Portuguese white wines from the UCI repository: four thousand eight hundred and ninety-eight samples and eleven laboratory measurements, acidity, sugar, sulfur dioxide, density, pH, alcohol. Every column has a physical meaning, so when the explanation says density and pH, a wine maker knows what to 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Beijing Multi-Site Air Quality: three hundred and eighty-three thousand hourly records from 2013 to 2017, six pollutants and five weather variables. Large, noisy and seasonal, it is the stress test for Contribution II. Pollutants and weather sit side by side, so the explanation can show that the weather sets the regime.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MovieLens-1M: about one million ratings from six thousand and forty users on three thousand seven hundred movies. Ratings above three become positive feedback and genre is the context proxy. It is the standard benchmark, so the numbers stay comparable with LightGCN, HCCF and HPCF.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Amazon-Book: fifty-two thousand users, ninety-one thousand books, three million interactions, and a density of six in ten thousand. A review is an interaction and the category is the context. It tests whether Shapley weighting helps most when the signal is weakest.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Splitting is designed against leakage. Clustering uses five-fold cross-validation for the surrogate and the attribution. Recommendation uses a user-level, time-ordered split, seventy, ten, twenty, with the latest test positive per user as the leave-one-out target and popularity-aware negatives. Five seeds, early stopping on validation NDCG at twenty.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For clustering, a LIME-based surrogate, the standard alternative to SHAP. For recommendation, six baselines from four families: matrix factorisation with BPR, NCF, LightGCN, RecDCL, and the hypergraph models HCCF and HPCF, with HPCF from 2025 as the strongest reference. I claim superiority only against the models tested here.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metrics with their formulas. NDCG at K, the headline, rewards relevant items placed near the top. Recall and Precision at K. Two beyond-accuracy measures: catalogue coverage, the fraction of the catalogue ever recommended, and intra-list diversity, the average dissimilarity inside one list; ILD is built into the DyHuCoG utility, not only reported. For clustering, the Silhouette and Davies-Bouldin; the Silhouette is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 because it explains the runtime figures later: an Intel Core i9 for clustering and one NVIDIA RTX 4090 for DyHuCoG, with scikit-learn, LightGBM, SHAP and PyTorch. Standard academic hardware.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 explaining black-box clustering with Shapley values. It answers RQ1. I present the gap and the objectives, then a short technical deep dive into cooperative games and the Shapley value, then method, protocol, results and findings. Time check: about minute 11.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start with clustering? The model creates its own structure, so the meaning of a cluster must be worked out after the fact: the hardest test bed for attribution. The gap: methods give a local or a global explanation, rarely both; they often fail to scale; and they rarely stay consistent across clusters. Local surrogates such as LIME describe one point, with no guarantee that the credit is fair or stable. There is no axiomatic way to explain a black-box partition in the original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breaks into three objectives. O1: a cluster-level explanation that keeps feature-level attribution. O2: attribution in the original feature space, because that is what makes it actionable. O3: justify why Shapley is the right allocation rule rather than an ad-hoc surrogate such as LIME.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slides for the one mathematical object the thesis rests on. A cooperative game has three ingredients: a set of players N; coalitions, any subset S, two to the power n of them; and a characteristic function v that gives each coalition the value it creates alone, with the empty coalition worth zero. The question is one of fairness: the grand coalition earns v of N; how should it be shared? Take a three-piece band. Guitar, Voice and Drums alone earn sixty, forty and twenty. Guitar and Voice together earn one hundred and forty, more than the sum; the whole band earns two hundred. Because of this synergy, a fair split must credit what a player adds to the others.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Shapley's answer, from 1953: let the players arrive one at a time in a random order, and pay each one what they add at the moment they arrive. With three players there are six orders. Take Voice, Drums, Guitar: Voice creates forty; Drums makes the pair worth eighty, so adds forty; Guitar completes the band, eighty becomes two hundred, so adds one hundred and twenty. Averaging over the six orders gives ninety, seventy and forty, and that sums exactly to two hundred. The formula on the right is the same computation in general: a weighted sum over all coalitions without j of the marginal contribution of j. The four axioms, efficiency, symmetry, null player and additivity, are why this is the right rule: Shapley proved it is the only rule that satisfies all four.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game appears three times in the thesis. In Contribution I the players are the eleven wine features and the value of a coalition is the Silhouette of K-Means run with only those features. In Contribution II the players are the same, but the game is played at each level of the hierarchy. In Contribution III the players are users, items and contexts, and the value is the utility of the recommendation they produce together: accuracy, diversity and novelty, estimated by Monte Carlo with fifty permutations. The crucial difference is the last row: in the first two chapters the Shapley value explains a model after training; in the third it is used during training. The axioms never change.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clustering as a cooperative game: the features are the players, and the value of coalition S is the Silhouette of K-Means run on the feature subset X sub S, with a fixed k. A feature gets a high Shapley value when adding it improves separation, on average over all coalitions. But there are two to the power of the number of features coalitions, so we need a bridge to a practical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bridge is the heart of the method. TreeSHAP explains tree models, not K-Means centroids, and explaining the PCA space would move attribution away from the variables we care about. So we turn the partition into a supervised task: K-Means gives cluster labels, a LightGBM classifier learns to predict them from the original features, and TreeSHAP explains that surrogate, exactly. Attribution stays in the original space. The validity condition is surrogate fidelity: macro-F1 of about 0.82 is the floor.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stages. Standardisation. PCA, used only as a computational and visual check, never as the explanatory space. K-Means plus-plus with a multi-criteria choice of k. The LightGBM surrogate on the original features. And TreeSHAP attribution, aggregated into global importance, cluster profiles and local force plots. TreeSHAP scales with tree count and depth, not exponentially in the number of features.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Wine Quality, eleven standardised features. K-Means plus-plus with k from two to ten, chosen by elbow, Silhouette, Davies-Bouldin and an interpretability check. A LightGBM surrogate with five-fold cross-validation; macro-F1 is the fidelity score. Exact TreeSHAP in the original space, and a LIME surrogate on the same partition as the comparison point. Success: fidelity floor met, chemically meaningful ranking, distinct cluster signatures.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honest point. I evaluate k from two to ten and select three on purpose, although it is not the best geometry: with two clusters the Silhouette is 0.214, with three it is 0.144. I choose three because three clusters support three distinct, chemically meaningful wine stories, which is far more actionable. And to avoid a confusion: the 0.63 Silhouette belongs to Beijing in Contribution II, not to wine.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SHAP ranking is led by density, then pH, fixed acidity, the sulfur dioxide variables and alcohol. These are exactly the variables a wine expert would point to for structure, preservation and balance. This is not a side effect of the classifier: the surrogate reproduces the partition from the original variables, and TreeSHAP attributes in that space, so the pipeline recovers domain knowledge without being told.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 profiles show that each cluster has its own signature. Cluster zero is driven by density and the sulfur dioxide variables; cluster one by acidity and pH; cluster two by a different balance of acidity, alcohol and related attributes. The same small set of variables returns in all three, with different weights. A cluster is not just a label; it is a distinct, domain-meaningful combination of drivers.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Shapley rather than LIME. SHAP satisfies four axioms: efficiency, symmetry, null player and additivity. LIME fits a local surrogate with no such guarantee and is sensitive to the perturbation design. SHAP gives local and global explanations and can compare clusters; LIME cannot. One caveat: here efficiency holds with respect to the LightGBM output, not directly to the Silhouette game, which is why surrogate fidelity matters.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to RQ1 is yes. Shapley values explain a black-box partition faithfully, provided the surrogate has high fidelity, and consistently at cluster level. O1 is met: a global and a per-cluster reading. O2 is met: attribution returns to the original chemical variables. O3 is met: Shapley satisfies the four axioms and LIME does not. The caveat stands: efficiency holds with respect to the surrogate output.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findings in short: the partition is explained at cluster and instance level, in the original variables, with a chemically meaningful ranking and an axiomatic basis that LIME lacks.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limits. The explanation depends on surrogate fidelity; it is not a direct mechanism of the K-Means geometry. It is limited to tabular data. It is single-level: it cannot yet say how feature importance changes between a partition and its sub-partitions. And representative-instance reporting smooths out some variation. These limits start Contribution II.</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Shapley attribution is one well-founded lens for explaining an unsupervised partition, and keeping it in the original feature space is what makes it actionable. But real data are rarely single-level. Can the same logic scale to multi-level, large-scale clustering without losing consistency? That is Contribution II.</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scaling the explanation to multi-level, large-scale clustering. It answers RQ2, and the concern is not only scale but several levels of detail. Time check: about minute 20.</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Once clustering is multi-level, feature importance must stay readable within a cluster, across sub-clusters and across levels. Three hundred and eighty-three thousand records cannot be explained coalition by coalition. A flat explanation may be true yet incomplete. And hierarchical clustering work gives no formal link between a parent's explanation and its children's.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RQ2 asks how the Shapley explanation extends to large-scale, multi-level clustering while staying feasible and consistent. Three objectives. O1: a truly multi-level workflow with level-specific surrogates. O2: a formal cross-level consistency argument, Proposition 6.1. O3: validation at scale on data far from wine, the Beijing air-quality records.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is recursive: a coarse clustering on the full dataset, then each cluster split again where it makes sense. Each level gets its own surrogate and SHAP values in the same original space. The aggregation is not a naive average: a parent-level attribution is a size-weighted expectation over its children. One point of method: the hierarchy is an analysis tool, not a claim that the data have a true natural hierarchy.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mathematical heart. Let Phi at level l, cluster c, feature j, be the expected absolute SHAP importance in that cluster, and w sub c prime the relative size of a child. For a strict nested hierarchy on a consistent feature space, the parent's importance equals the size-weighted sum of its children's importance, plus a residual epsilon from surrogate mismatch that vanishes under perfect fidelity. The proof uses the law of total expectation. It does not say explanations are identical across levels; it says their differences can be interpreted, not ruled out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template. Beijing, three hundred and eighty-three thousand records, eleven variables. Level one: K-Means plus-plus on the full data. Level two: each coarse cluster split again, three regimes into nine sub-clusters. One LightGBM surrogate and exact TreeSHAP per level, aggregation by Proposition 6.1, and a sensitivity analysis over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Beijing the k-selection criteria agree strongly. The full dataset clusters cleanly into three, with a Silhouette of about 0.63 and a Davies-Bouldin of about 0.55, so the clusters rarely overlap. This is where the 0.63 comes from: Beijing, not wine. The two-component PCA view is for inspection only. The conclusions are robust to small changes in k, in projection dimension and in surrogate depth; only low-ranked variables shift.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ranking is led by temperature, dew point and pressure, then carbon monoxide, nitrogen dioxide, PM10 and PM2.5. It is striking that the weather variables, not only the pollutants, dominate. Temperature, dew point and pressure control dispersion, trapping and sunlight-driven chemistry: they set the conditions under which pollution builds up. A naive ranking of concentrations would miss that the weather sets the regime.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force plots reveal three regimes. Regime A is warm and sunlight-driven: ozone, temperature and dew point stand out, typical of summer photochemical smog. Regime B is winter smog: carbon monoxide, sulfur dioxide and particulate matter, with low wind limiting dispersion. Regime C is comparatively clean air with favourable weather. The value is in showing which combination of variables defines each regime, so an analyst can see the drivers of a given episode.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payoff. At the coarse level, temperature and dew point dominate, because they separate the broad regimes. Inside single clusters, the informative variables shift to carbon monoxide, sulfur dioxide, PM10, wind speed or ozone. This is not a contradiction; it is what a multi-level explanation should reveal. The parent-level story is regime selection; the cluster-level story is variation within a regime. Proposition 6.1 lets us read these shifts as structure, not noise.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logic works on a small, dense, chemically correlated dataset and on a large, noisy environmental one, which supports generality. Against the SHAP-based clustering literature, our Beijing partition reaches a Silhouette of about 0.63, where Gramegna and Giudici report about 0.37 on credit data. Against LIME, we see weaker cross-level consistency. These are comparative observations, not a full benchmark.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to RQ2 is yes, within bounds. Shapley-based explanation scales to multi-level, large-scale settings without losing consistency, provided the hierarchy is modelled explicitly and the approximation is transparent. O1: a multi-level explanation that does not collapse into a flat summary. O2: Proposition 6.1 gives the formal consistency argument. O3: validation on Beijing. The bound is that this is still an explanation of a pre-computed partition.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short: the explanation scales because the hierarchy is explicit, Proposition 6.1 makes cross-level differences interpretable, and the method generalises to a very different, large and noisy dataset.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The clustering stays static although the Beijing data are temporal. Surrogate-based SHAP with representative instances smooths out variation between observations. The approach is limited to tabular data. And, most important, the attribution is still post-hoc: it never influences learning. That is the bridge to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Shapley attribution stays consistent across levels of detail once the hierarchy is explicit, so explanations become interpretable at scale. But it still explains a partition that was already computed. Can cooperative attribution move beyond explanation and become part of how a recommender learns? That is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and main contribution: DyHuCoG, a Dynamic Hypergraph Cooperative Game, where Shapley attribution becomes an in-training signal inside a hypergraph recommender. It answers RQ3 and RQ4. Time check: about minute 27.</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Graph and hypergraph recommenders treat message importance as uniform or attention-weighted, with no principled account of how much each user, item or context adds. Diversity is handled by re-ranking after training. Interpretability is added after prediction. And my first two contributions were still post-hoc. So the gap is a recommender that uses a cooperative-game utility, during training, to decide how much each player counts.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RQ3: can cooperative attribution become part of how a recommender learns? RQ4: can it improve accuracy, context and diversity together? Three objectives. O1: formulate recommendation as a cooperative game over users, items and contexts, with a utility that mixes accuracy, diversity and novelty. O2: embed preference-aware Monte Carlo Shapley estimates into hypergraph message passing as dynamic hyperedge weights. O3: improve ranking, coverage and diversity together against the strongest baseline,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game. Players are users, items and contexts. Hyperedges encode user-item-context interactions, with dynamic weights derived from Shapley estimates. A coalition is the set of entities taking part in a recommendation episode, and its value is the quality of the recommendation they achieve together. The task is top-N recommendation that balances relevance, diversity and contextual fit. This mirrors the clustering game on purpose: same logic, different value function.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coalition utility is a weighted sum of NDCG at twenty, a diversity term and a context score. This is the same trade-off the recommender must satisfy, so the explanatory game and the predictive objective are aligned by design. A preference bonus adds the user-item similarities inside the coalition. Alpha, beta and gamma were grid-searched to 0.60, 0.25 and 0.15, with lambda at 0.20, and NDCG is stable within one and a half percent around that point.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Shapley is not feasible here, so we use a Monte Carlo estimator: over M sampled coalitions, average the value with the player minus the value without. It is unbiased and its error falls as one over root M. We chose M equal to fifty: about ninety-nine percent accuracy. Because preferences change, the estimates are refreshed every ten batches and smoothed with an exponential moving average.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the decisive move. Base propagation is standard hypergraph message passing. The Shapley-weighted version multiplies each message by a normalised Shapley coefficient, after clipping and smoothing. Layer fusion combines the layers, an attention gate blends the Shapley-weighted score with the standard score as a stabiliser, and a context term is added. The model is told not only who is connected to whom, but how much each coalition is worth, and that worth controls how information flows.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loss has four terms: BPR for ranking, an intra-list diversity regulariser, a context loss that aligns the context embedding with the context node, and weight decay. Negatives come from a popularity-aware distribution with periodic hard-negative refresh; the optimiser is Adam. The point is alignment: the model optimises the same accuracy-diversity-context balance that the attribution is computed from, so the explanation is a read-out of the objective, faithful by design.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MovieLens-1M, dense, and Amazon-Book, sparse, with Yelp2018 as an extra check. Time-ordered split, six baselines with HPCF as the strongest, four metrics over five seeds. Paired t-tests and Wilcoxon on per-user NDCG with Holm-Bonferroni correction and Cohen's d. An ablation removes one component at a time. Success: beat HPCF on both datasets with corrected p below 0.05, coverage and diversity rising together, overhead within about two times HPCF.</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result on MovieLens-1M, DyHuCoG in bold, best on all four metrics. HPCF reaches an NDCG at twenty of 0.2528; DyHuCoG gives 0.2775, plus 9.8 percent, and recall goes from 0.2098 to 0.2362, plus 12.6 percent. At the same time coverage rises from 0.342 to 0.397 and diversity from 0.461 to 0.516. The gap widens from classical to graph to hypergraph, and DyHuCoG adds one more step. Standard deviations, in the backup, are about a tenth of the gap.</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table for Amazon-Book, density six in ten thousand. Same picture, larger relative gains: plus 13.3 percent NDCG and plus 16.2 percent recall over HPCF, coverage up nearly thirty percent, diversity up 12.5 percent. Absolute values are low for every model because the matrix is almost empty; what matters is the consistent ordering and the wider gap where data are weakest.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thesis figure puts all seven models side by side, NDCG on the left, Recall on the right. Look at the shape: a monotone ladder. Matrix factorisation lowest, then NCF, then LightGCN, then the hypergraph models, and DyHuCoG the tallest bar in every panel, with a visibly larger gap on Amazon-Book. All models were tuned with the same budget and the same early-stopping rule.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and intra-list diversity for HPCF and DyHuCoG. Coverage is up sixteen percent on MovieLens-1M and thirty percent on Amazon-Book; diversity is up twelve percent on both. Coverage is the share of the catalogue ever recommended, so higher means a smaller filter bubble. These gains come together with the accuracy gains, because diversity is part of the coalition utility the Shapley weights are computed from, not a re-ranking step.</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per dataset: each row removes one component and reports NDCG at twenty and the drop. Context matters most: minus 8.2 percent on MovieLens-1M and minus 11 percent on Amazon-Book. The hypergraph structure is second, 6.8 and 8.9 percent. Removing the Shapley weighting costs 4.6 and 6.1 percent, more on the sparser data. Diversity and attention follow. Every component contributes, and no single one explains the whole gain.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reported openly. On MovieLens-1M, DyHuCoG trains in about two thousand seconds against eleven hundred for HPCF, roughly 1.78 times. Inference is 1.84 milliseconds per query on MovieLens and 8.52 on Amazon, well within real time. Memory is 4.4 gigabytes against 4.1. On convergence, M equal to fifty gives ninety-nine percent accuracy and one hundred gives 99.5, so fifty is the right operating point.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Significance. Paired t-tests on per-user NDCG at twenty over six thousand and forty users, with Holm-Bonferroni correction. Against HPCF the t-statistic is 46.38, Cohen's d is 1.33, and the p-value is of the order of ten to the minus two hundred and seventy; Wilcoxon agrees. The effect size matters: with six thousand users a tiny difference can look significant, so a d above 0.8 shows the gain is real. These tests cover MovieLens-1M; Amazon-Book stays descriptive.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DyHuCoG also helps where recommenders are weakest. For users with five or fewer interactions, NDCG at twenty is about ten percent over HPCF; for cold-start items, plus 9.6 percent, and the gain holds on Yelp2018. On interpretability, the SHAP waterfall breaks a recommendation into the same ranking, diversity, context and preference components used in training. And because Shapley measures marginal utility, weak but informative interactions keep their influence, which reduces popularity bias.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answers. RQ3: yes, the Shapley estimates set the hyperedge weights while the model learns. RQ4: yes, ranking, coverage and diversity improve together on both datasets, with the largest gains where data are sparsest. All three objectives are met, with gains over HPCF of 9.8 and 13.3 percent in NDCG, 16 and 30 percent in coverage, and 12 percent in diversity.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short: attribution becomes part of how the recommender learns, the accuracy-diversity trade-off moves, the largest gains are on the sparsest data, and the improvement is statistically large.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stated honestly. A compute overhead of about 1.78 times HPCF. A dependence on meaningful context. A Monte Carlo estimator that could use variance reduction. An ablation that removes one component at a time, so it does not test combinations. And baselines fixed in early 2026, so I claim superiority only against the tested models.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the conceptual shift of the thesis. Attribution is a first-class part of the learning objective, not a post-hoc check, and the explanation is a direct read-out of the objective the model optimises. That makes it faithful by design, and it fits the transparency requirements of new AI regulation. Explanation should be part of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bring everything together: the synthesis, the publications, the limitations, the perspectives, and the thesis answer. Time check: about minute 36.</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explain, scale, guide. C1 explains black-box clustering via Shapley. C2 keeps that explanation consistent at scale and across levels, with Proposition 6.1. C3 carries the same logic inside the learning of a recommender. One cooperative-game definition, three value functions, and the same Shapley logic explains a partition, stays consistent across levels, and guides what a recommender learns.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journal articles, all as first author. Contribution I with Redwane Nesmaoui, Mohamed Mbarek and Professor Lazaar, in Procedia Computer Science, 2023. Contribution II with Redwane Nesmaoui and Professor Lazaar, in IJACSA, 2025. Contribution III, DyHuCoG, in IJIES, 2026. A related article led by Redwane Nesmaoui applies the same cooperative-game view to real-time contribution adjustment. IJACSA and IJIES are Scopus-indexed.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On computation, exact Shapley is not feasible, so every contribution relies on approximation or surrogates. On method, the clustering chapters depend on surrogate fidelity and the recommendation results on meaningful context. On experiments, the clustering work is tabular and the recommendation work is offline, with no user study of actionability yet. And on the claim: not one unified framework that removes all tension, but a shared, well-founded view that works across both tasks.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turns these limits into an agenda. Scalable attribution: lower-variance estimators and adaptive refresh rules. Online and streaming recommendation, with graphs that keep changing. User-centred evaluation: do these explanations improve analyst judgement, trust and quality of action? And a broader trustworthy-AI evaluation, including fairness, in line with the regulatory requirements I mentioned at the start.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Cooperative game theory can serve as a shared methodological view for actionable explanation across clustering and recommendation: the same Shapley logic explains a partition, stays consistent across levels, and guides what a recommender learns. Four outcomes: Shapley attribution as a common formal language; three concrete achievements; explanation treated as method rather than as a comment added later; and a position aligned with the EU AI Act and the OECD principles.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in the order the footnotes use. I will not read them; they are here so that every footnote number can be found.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half of the reference list, including the datasets, the statistical procedures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am happy to take your questions, and to go deeper into any part of the method, the mathematics or the experiments. Time check: minute 40.</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leave this slide up during the discussion. It repeats the title and the jury. Thank you again; I am ready for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slides, not presented: the full tables from Chapter 7 in case a question calls for exact numbers. Table 7.1 with standard deviations, Table 7.6 with the paired tests, and Tables 7.3 and 7.4 with runtime, memory and Monte Carlo convergence.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Table 7.1: every baseline, both datasets, mean and standard deviation over five seeds. Two points if asked. The standard deviations are about one tenth of the gap between DyHuCoG and HPCF on every metric, so the ordering does not depend on the seed. And the improvement is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Table 7.6: paired t-tests of DyHuCoG against every baseline on per-user NDCG at twenty, MovieLens-1M, six thousand and forty users. Holm-Bonferroni gives each of the six p-values its own threshold, from 0.0083 to 0.05, and every p-value is many orders of magnitude below it. Cohen's d is 1.33 against HPCF and larger against the weaker baselines; above 0.8 is conventionally large. Wilcoxon agrees with p below 0.001.</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figures. Table 7.3: training time, inference latency and memory for every model on both datasets. DyHuCoG trains in about two thousand seconds on MovieLens-1M against eleven hundred for HPCF, roughly 1.78 times; inference stays under two milliseconds per query on MovieLens and around eight and a half on Amazon. Table 7.4 is the Monte Carlo convergence study: ten permutations give about ninety-five percent accuracy, fifty give ninety-nine, one hundred adds half a point at a much higher cost. Fifty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11.xml"/><Relationship Id="rId5"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6.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1.xml"/><Relationship Id="rId5" Type="http://schemas.openxmlformats.org/officeDocument/2006/relationships/image" Target="../media/image6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2.xml"/><Relationship Id="rId5" Type="http://schemas.openxmlformats.org/officeDocument/2006/relationships/image" Target="../media/image6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4.xml"/><Relationship Id="rId5" Type="http://schemas.openxmlformats.org/officeDocument/2006/relationships/image" Target="../media/image6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6.xml"/><Relationship Id="rId5" Type="http://schemas.openxmlformats.org/officeDocument/2006/relationships/image" Target="../media/image6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39.xml"/><Relationship Id="rId5" Type="http://schemas.openxmlformats.org/officeDocument/2006/relationships/image" Target="../media/image6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0.xml"/><Relationship Id="rId5"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70.png"/><Relationship Id="rId6" Type="http://schemas.openxmlformats.org/officeDocument/2006/relationships/image" Target="../media/image7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 Id="rId5" Type="http://schemas.openxmlformats.org/officeDocument/2006/relationships/image" Target="../media/image7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4.xml"/><Relationship Id="rId5" Type="http://schemas.openxmlformats.org/officeDocument/2006/relationships/image" Target="../media/image7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5.xml"/><Relationship Id="rId5" Type="http://schemas.openxmlformats.org/officeDocument/2006/relationships/image" Target="../media/image7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6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64.xml"/><Relationship Id="rId5" Type="http://schemas.openxmlformats.org/officeDocument/2006/relationships/image" Target="../media/image78.png"/><Relationship Id="rId6" Type="http://schemas.openxmlformats.org/officeDocument/2006/relationships/image" Target="../media/image7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65.xml"/><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 Id="rId8" Type="http://schemas.openxmlformats.org/officeDocument/2006/relationships/image" Target="../media/image83.png"/><Relationship Id="rId9" Type="http://schemas.openxmlformats.org/officeDocument/2006/relationships/image" Target="../media/image84.png"/><Relationship Id="rId10" Type="http://schemas.openxmlformats.org/officeDocument/2006/relationships/image" Target="../media/image8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66.xml"/><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67.xml"/><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68.xml"/><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image" Target="../media/image99.png"/><Relationship Id="rId9" Type="http://schemas.openxmlformats.org/officeDocument/2006/relationships/image" Target="../media/image10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2.xml"/><Relationship Id="rId5" Type="http://schemas.openxmlformats.org/officeDocument/2006/relationships/image" Target="../media/image10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3.xml"/><Relationship Id="rId5" Type="http://schemas.openxmlformats.org/officeDocument/2006/relationships/image" Target="../media/image10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5.xml"/><Relationship Id="rId5" Type="http://schemas.openxmlformats.org/officeDocument/2006/relationships/image" Target="../media/image10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6.xml"/><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77.xml"/><Relationship Id="rId5" Type="http://schemas.openxmlformats.org/officeDocument/2006/relationships/image" Target="../media/image10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7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8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8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8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8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8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8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8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8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8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9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9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9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9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95.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124944"/>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12494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3" name="Picture 22" descr="image.png"/>
          <p:cNvPicPr>
            <a:picLocks noChangeAspect="1"/>
          </p:cNvPicPr>
          <p:nvPr/>
        </p:nvPicPr>
        <p:blipFill>
          <a:blip r:embed="rId3"/>
          <a:stretch>
            <a:fillRect/>
          </a:stretch>
        </p:blipFill>
        <p:spPr>
          <a:xfrm>
            <a:off x="8592285" y="1673352"/>
            <a:ext cx="457200" cy="250983"/>
          </a:xfrm>
          <a:prstGeom prst="rect">
            <a:avLst/>
          </a:prstGeom>
        </p:spPr>
      </p:pic>
      <p:sp>
        <p:nvSpPr>
          <p:cNvPr id="24" name="Rounded Rectangle 23"/>
          <p:cNvSpPr/>
          <p:nvPr/>
        </p:nvSpPr>
        <p:spPr>
          <a:xfrm>
            <a:off x="1028700" y="2559050"/>
            <a:ext cx="171580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27" name="Rounded Rectangle 26"/>
          <p:cNvSpPr/>
          <p:nvPr/>
        </p:nvSpPr>
        <p:spPr>
          <a:xfrm>
            <a:off x="102870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28" name="Rounded Rectangle 27"/>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Everywhere</a:t>
            </a:r>
          </a:p>
        </p:txBody>
      </p:sp>
      <p:sp>
        <p:nvSpPr>
          <p:cNvPr id="29" name="TextBox 28"/>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Recommenders shape news, study, health and credit decisions; market &gt; $15B by 2029.</a:t>
            </a:r>
          </a:p>
        </p:txBody>
      </p:sp>
      <p:sp>
        <p:nvSpPr>
          <p:cNvPr id="30" name="Rounded Rectangle 29"/>
          <p:cNvSpPr/>
          <p:nvPr/>
        </p:nvSpPr>
        <p:spPr>
          <a:xfrm>
            <a:off x="654558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31" name="Rounded Rectangle 30"/>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The Black Box</a:t>
            </a:r>
          </a:p>
        </p:txBody>
      </p:sp>
      <p:sp>
        <p:nvSpPr>
          <p:cNvPr id="32" name="TextBox 31"/>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Deep &amp; graph models: hidden logic, hard to audit. EU AI Act: high-risk </a:t>
            </a:r>
            <a:r>
              <a:rPr lang="en-US" sz="1800" b="true">
                <a:solidFill>
                  <a:srgbClr val="CFDAD6"/>
                </a:solidFill>
                <a:latin typeface="Calibri"/>
                <a:ea typeface="Calibri"/>
                <a:cs typeface="Calibri"/>
                <a:sym typeface="Calibri"/>
              </a:rPr>
              <a:t>→ </a:t>
            </a:r>
            <a:r>
              <a:rPr lang="en-US" sz="1800" b="true">
                <a:solidFill>
                  <a:srgbClr val="CFDAD6"/>
                </a:solidFill>
                <a:latin typeface="Nunito Semi-Bold"/>
                <a:ea typeface="Nunito Semi-Bold"/>
                <a:cs typeface="Nunito Semi-Bold"/>
                <a:sym typeface="Nunito Semi-Bold"/>
              </a:rPr>
              <a:t>must explain.</a:t>
            </a:r>
          </a:p>
        </p:txBody>
      </p:sp>
      <p:sp>
        <p:nvSpPr>
          <p:cNvPr id="33" name="Rounded Rectangle 32"/>
          <p:cNvSpPr/>
          <p:nvPr/>
        </p:nvSpPr>
        <p:spPr>
          <a:xfrm>
            <a:off x="1206246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34" name="Rounded Rectangle 33"/>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Toward Trust</a:t>
            </a:r>
          </a:p>
        </p:txBody>
      </p:sp>
      <p:sp>
        <p:nvSpPr>
          <p:cNvPr id="35" name="TextBox 34"/>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Insight that is accountable, auditable and actionable, not just accurate.</a:t>
            </a:r>
          </a:p>
        </p:txBody>
      </p:sp>
      <p:sp>
        <p:nvSpPr>
          <p:cNvPr id="36" name="Rounded Rectangle 35"/>
          <p:cNvSpPr/>
          <p:nvPr/>
        </p:nvSpPr>
        <p:spPr>
          <a:xfrm>
            <a:off x="1028700" y="8118602"/>
            <a:ext cx="16230600" cy="868680"/>
          </a:xfrm>
          <a:prstGeom prst="roundRect">
            <a:avLst>
              <a:gd name="adj" fmla="val 26315"/>
            </a:avLst>
          </a:prstGeom>
          <a:solidFill>
            <a:srgbClr val="F6ECDF"/>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3" name="Picture 22" descr="image.png"/>
          <p:cNvPicPr>
            <a:picLocks noChangeAspect="1"/>
          </p:cNvPicPr>
          <p:nvPr/>
        </p:nvPicPr>
        <p:blipFill>
          <a:blip r:embed="rId3"/>
          <a:stretch>
            <a:fillRect/>
          </a:stretch>
        </p:blipFill>
        <p:spPr>
          <a:xfrm>
            <a:off x="9706798" y="1673352"/>
            <a:ext cx="457200" cy="415247"/>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27" name="TextBox 26"/>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12494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sp>
        <p:nvSpPr>
          <p:cNvPr id="28" name="TextBox 27"/>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FROM EXPLANATION TO ACTION</a:t>
            </a:r>
          </a:p>
        </p:txBody>
      </p:sp>
      <p:sp>
        <p:nvSpPr>
          <p:cNvPr id="29" name="Rounded Rectangle 28"/>
          <p:cNvSpPr/>
          <p:nvPr/>
        </p:nvSpPr>
        <p:spPr>
          <a:xfrm>
            <a:off x="944118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Modifiable factor</a:t>
            </a:r>
          </a:p>
        </p:txBody>
      </p:sp>
      <p:cxnSp>
        <p:nvCxnSpPr>
          <p:cNvPr id="30" name="Connector 29"/>
          <p:cNvCxnSpPr/>
          <p:nvPr/>
        </p:nvCxnSpPr>
        <p:spPr>
          <a:xfrm>
            <a:off x="11087100" y="5352542"/>
            <a:ext cx="381000" cy="0"/>
          </a:xfrm>
          <a:prstGeom prst="line">
            <a:avLst/>
          </a:prstGeom>
          <a:ln w="28575">
            <a:solidFill>
              <a:srgbClr val="124944"/>
            </a:solidFill>
            <a:tailEnd type="triangle" w="med" len="med"/>
          </a:ln>
        </p:spPr>
      </p:cxnSp>
      <p:sp>
        <p:nvSpPr>
          <p:cNvPr id="31" name="Rounded Rectangle 30"/>
          <p:cNvSpPr/>
          <p:nvPr/>
        </p:nvSpPr>
        <p:spPr>
          <a:xfrm>
            <a:off x="1151382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Change in model output</a:t>
            </a:r>
          </a:p>
        </p:txBody>
      </p:sp>
      <p:cxnSp>
        <p:nvCxnSpPr>
          <p:cNvPr id="32" name="Connector 31"/>
          <p:cNvCxnSpPr/>
          <p:nvPr/>
        </p:nvCxnSpPr>
        <p:spPr>
          <a:xfrm>
            <a:off x="13159740" y="5352542"/>
            <a:ext cx="381000" cy="0"/>
          </a:xfrm>
          <a:prstGeom prst="line">
            <a:avLst/>
          </a:prstGeom>
          <a:ln w="28575">
            <a:solidFill>
              <a:srgbClr val="124944"/>
            </a:solidFill>
            <a:tailEnd type="triangle" w="med" len="med"/>
          </a:ln>
        </p:spPr>
      </p:cxnSp>
      <p:sp>
        <p:nvSpPr>
          <p:cNvPr id="33" name="Rounded Rectangle 32"/>
          <p:cNvSpPr/>
          <p:nvPr/>
        </p:nvSpPr>
        <p:spPr>
          <a:xfrm>
            <a:off x="13586460" y="4643882"/>
            <a:ext cx="1600200" cy="1417320"/>
          </a:xfrm>
          <a:prstGeom prst="roundRect">
            <a:avLst>
              <a:gd name="adj" fmla="val 12903"/>
            </a:avLst>
          </a:prstGeom>
          <a:solidFill>
            <a:srgbClr val="111111"/>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Is it actionable?</a:t>
            </a:r>
          </a:p>
        </p:txBody>
      </p:sp>
      <p:cxnSp>
        <p:nvCxnSpPr>
          <p:cNvPr id="34" name="Connector 33"/>
          <p:cNvCxnSpPr/>
          <p:nvPr/>
        </p:nvCxnSpPr>
        <p:spPr>
          <a:xfrm>
            <a:off x="15232380" y="5352542"/>
            <a:ext cx="381000" cy="0"/>
          </a:xfrm>
          <a:prstGeom prst="line">
            <a:avLst/>
          </a:prstGeom>
          <a:ln w="28575">
            <a:solidFill>
              <a:srgbClr val="124944"/>
            </a:solidFill>
            <a:tailEnd type="triangle" w="med" len="med"/>
          </a:ln>
        </p:spPr>
      </p:cxnSp>
      <p:sp>
        <p:nvSpPr>
          <p:cNvPr id="35" name="Rounded Rectangle 34"/>
          <p:cNvSpPr/>
          <p:nvPr/>
        </p:nvSpPr>
        <p:spPr>
          <a:xfrm>
            <a:off x="15659100" y="4643882"/>
            <a:ext cx="1600200" cy="1417320"/>
          </a:xfrm>
          <a:prstGeom prst="roundRect">
            <a:avLst>
              <a:gd name="adj" fmla="val 12903"/>
            </a:avLst>
          </a:prstGeom>
          <a:solidFill>
            <a:srgbClr val="DF8330"/>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Action lever</a:t>
            </a:r>
          </a:p>
        </p:txBody>
      </p:sp>
      <p:cxnSp>
        <p:nvCxnSpPr>
          <p:cNvPr id="36" name="Connector 35"/>
          <p:cNvCxnSpPr/>
          <p:nvPr/>
        </p:nvCxnSpPr>
        <p:spPr>
          <a:xfrm>
            <a:off x="10241280" y="6106922"/>
            <a:ext cx="0" cy="365760"/>
          </a:xfrm>
          <a:prstGeom prst="line">
            <a:avLst/>
          </a:prstGeom>
          <a:ln w="28575">
            <a:solidFill>
              <a:srgbClr val="DF8330"/>
            </a:solidFill>
          </a:ln>
        </p:spPr>
      </p:cxnSp>
      <p:cxnSp>
        <p:nvCxnSpPr>
          <p:cNvPr id="37" name="Connector 36"/>
          <p:cNvCxnSpPr/>
          <p:nvPr/>
        </p:nvCxnSpPr>
        <p:spPr>
          <a:xfrm>
            <a:off x="10241280" y="6472682"/>
            <a:ext cx="6217920" cy="0"/>
          </a:xfrm>
          <a:prstGeom prst="line">
            <a:avLst/>
          </a:prstGeom>
          <a:ln w="28575">
            <a:solidFill>
              <a:srgbClr val="DF8330"/>
            </a:solidFill>
            <a:prstDash val="dash"/>
          </a:ln>
        </p:spPr>
      </p:cxnSp>
      <p:cxnSp>
        <p:nvCxnSpPr>
          <p:cNvPr id="38" name="Connector 37"/>
          <p:cNvCxnSpPr/>
          <p:nvPr/>
        </p:nvCxnSpPr>
        <p:spPr>
          <a:xfrm>
            <a:off x="16459200" y="6106922"/>
            <a:ext cx="0" cy="365760"/>
          </a:xfrm>
          <a:prstGeom prst="line">
            <a:avLst/>
          </a:prstGeom>
          <a:ln w="28575">
            <a:solidFill>
              <a:srgbClr val="DF8330"/>
            </a:solidFill>
          </a:ln>
        </p:spPr>
      </p:cxnSp>
      <p:sp>
        <p:nvSpPr>
          <p:cNvPr id="39" name="TextBox 38"/>
          <p:cNvSpPr txBox="1"/>
          <p:nvPr/>
        </p:nvSpPr>
        <p:spPr>
          <a:xfrm>
            <a:off x="9441180" y="6655562"/>
            <a:ext cx="7818120" cy="73152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Actionable</a:t>
            </a:r>
            <a:r>
              <a:rPr lang="en-US" sz="1800" b="true">
                <a:solidFill>
                  <a:srgbClr val="DF8330"/>
                </a:solidFill>
                <a:latin typeface="Nunito Semi-Bold"/>
                <a:ea typeface="Nunito Semi-Bold"/>
                <a:cs typeface="Nunito Semi-Bold"/>
                <a:sym typeface="Nunito Semi-Bold"/>
              </a:rPr>
              <a:t> = a real-world lever you can pull to change the outcome</a:t>
            </a:r>
          </a:p>
        </p:txBody>
      </p:sp>
      <p:sp>
        <p:nvSpPr>
          <p:cNvPr id="40" name="Rounded Rectangle 39"/>
          <p:cNvSpPr/>
          <p:nvPr/>
        </p:nvSpPr>
        <p:spPr>
          <a:xfrm>
            <a:off x="9441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Wine</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density · pH · acidity</a:t>
            </a:r>
          </a:p>
        </p:txBody>
      </p:sp>
      <p:sp>
        <p:nvSpPr>
          <p:cNvPr id="41" name="Rounded Rectangle 40"/>
          <p:cNvSpPr/>
          <p:nvPr/>
        </p:nvSpPr>
        <p:spPr>
          <a:xfrm>
            <a:off x="12108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Air quality</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PM2.5 · CO · temperature</a:t>
            </a:r>
          </a:p>
        </p:txBody>
      </p:sp>
      <p:sp>
        <p:nvSpPr>
          <p:cNvPr id="42" name="Rounded Rectangle 41"/>
          <p:cNvSpPr/>
          <p:nvPr/>
        </p:nvSpPr>
        <p:spPr>
          <a:xfrm>
            <a:off x="14775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Recommendation</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preference · context · diversity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3" name="Picture 22" descr="image.png"/>
          <p:cNvPicPr>
            <a:picLocks noChangeAspect="1"/>
          </p:cNvPicPr>
          <p:nvPr/>
        </p:nvPicPr>
        <p:blipFill>
          <a:blip r:embed="rId3"/>
          <a:stretch>
            <a:fillRect/>
          </a:stretch>
        </p:blipFill>
        <p:spPr>
          <a:xfrm>
            <a:off x="5880294" y="1673352"/>
            <a:ext cx="457200" cy="452148"/>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TextBox 26"/>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EVOLUTION OF RECOMMENDER SYSTEMS</a:t>
            </a:r>
          </a:p>
        </p:txBody>
      </p:sp>
      <p:sp>
        <p:nvSpPr>
          <p:cNvPr id="28" name="Rounded Rectangle 27"/>
          <p:cNvSpPr/>
          <p:nvPr/>
        </p:nvSpPr>
        <p:spPr>
          <a:xfrm>
            <a:off x="102870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9" name="Connector 28"/>
          <p:cNvCxnSpPr/>
          <p:nvPr/>
        </p:nvCxnSpPr>
        <p:spPr>
          <a:xfrm>
            <a:off x="3415284" y="4438142"/>
            <a:ext cx="1033272" cy="0"/>
          </a:xfrm>
          <a:prstGeom prst="line">
            <a:avLst/>
          </a:prstGeom>
          <a:ln w="28575">
            <a:solidFill>
              <a:srgbClr val="124944"/>
            </a:solidFill>
            <a:tailEnd type="triangle" w="med" len="med"/>
          </a:ln>
        </p:spPr>
      </p:cxnSp>
      <p:sp>
        <p:nvSpPr>
          <p:cNvPr id="30" name="Rounded Rectangle 29"/>
          <p:cNvSpPr/>
          <p:nvPr/>
        </p:nvSpPr>
        <p:spPr>
          <a:xfrm>
            <a:off x="450342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1" name="Connector 30"/>
          <p:cNvCxnSpPr/>
          <p:nvPr/>
        </p:nvCxnSpPr>
        <p:spPr>
          <a:xfrm>
            <a:off x="6890004" y="4438142"/>
            <a:ext cx="1033272" cy="0"/>
          </a:xfrm>
          <a:prstGeom prst="line">
            <a:avLst/>
          </a:prstGeom>
          <a:ln w="28575">
            <a:solidFill>
              <a:srgbClr val="124944"/>
            </a:solidFill>
            <a:tailEnd type="triangle" w="med" len="med"/>
          </a:ln>
        </p:spPr>
      </p:cxnSp>
      <p:sp>
        <p:nvSpPr>
          <p:cNvPr id="32" name="Rounded Rectangle 31"/>
          <p:cNvSpPr/>
          <p:nvPr/>
        </p:nvSpPr>
        <p:spPr>
          <a:xfrm>
            <a:off x="797814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3" name="Connector 32"/>
          <p:cNvCxnSpPr/>
          <p:nvPr/>
        </p:nvCxnSpPr>
        <p:spPr>
          <a:xfrm>
            <a:off x="10364724" y="4438142"/>
            <a:ext cx="1033272" cy="0"/>
          </a:xfrm>
          <a:prstGeom prst="line">
            <a:avLst/>
          </a:prstGeom>
          <a:ln w="28575">
            <a:solidFill>
              <a:srgbClr val="124944"/>
            </a:solidFill>
            <a:tailEnd type="triangle" w="med" len="med"/>
          </a:ln>
        </p:spPr>
      </p:cxnSp>
      <p:sp>
        <p:nvSpPr>
          <p:cNvPr id="34" name="Rounded Rectangle 33"/>
          <p:cNvSpPr/>
          <p:nvPr/>
        </p:nvSpPr>
        <p:spPr>
          <a:xfrm>
            <a:off x="1145286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5" name="Connector 34"/>
          <p:cNvCxnSpPr/>
          <p:nvPr/>
        </p:nvCxnSpPr>
        <p:spPr>
          <a:xfrm>
            <a:off x="13839444" y="4438142"/>
            <a:ext cx="1033272" cy="0"/>
          </a:xfrm>
          <a:prstGeom prst="line">
            <a:avLst/>
          </a:prstGeom>
          <a:ln w="28575">
            <a:solidFill>
              <a:srgbClr val="124944"/>
            </a:solidFill>
            <a:tailEnd type="triangle" w="med" len="med"/>
          </a:ln>
        </p:spPr>
      </p:cxnSp>
      <p:sp>
        <p:nvSpPr>
          <p:cNvPr id="36" name="Rounded Rectangle 35"/>
          <p:cNvSpPr/>
          <p:nvPr/>
        </p:nvSpPr>
        <p:spPr>
          <a:xfrm>
            <a:off x="14927580" y="3866642"/>
            <a:ext cx="2331720" cy="1143000"/>
          </a:xfrm>
          <a:prstGeom prst="roundRect">
            <a:avLst>
              <a:gd name="adj" fmla="val 16000"/>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7" name="Connector 36"/>
          <p:cNvCxnSpPr/>
          <p:nvPr/>
        </p:nvCxnSpPr>
        <p:spPr>
          <a:xfrm>
            <a:off x="1028700" y="5283962"/>
            <a:ext cx="16230600" cy="0"/>
          </a:xfrm>
          <a:prstGeom prst="line">
            <a:avLst/>
          </a:prstGeom>
          <a:ln w="50800">
            <a:solidFill>
              <a:srgbClr val="DF8330"/>
            </a:solidFill>
            <a:tailEnd type="triangle" w="med" len="med"/>
          </a:ln>
        </p:spPr>
      </p:cxnSp>
      <p:sp>
        <p:nvSpPr>
          <p:cNvPr id="38" name="TextBox 37"/>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The interpretability gap grows:</a:t>
            </a:r>
            <a:r>
              <a:rPr lang="en-US" sz="1800" b="true">
                <a:solidFill>
                  <a:srgbClr val="DF8330"/>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9" name="Rounded Rectangle 38"/>
          <p:cNvSpPr/>
          <p:nvPr/>
        </p:nvSpPr>
        <p:spPr>
          <a:xfrm>
            <a:off x="1028700" y="628980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40" name="Rounded Rectangle 39"/>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the gap matters</a:t>
            </a:r>
          </a:p>
        </p:txBody>
      </p:sp>
      <p:sp>
        <p:nvSpPr>
          <p:cNvPr id="41" name="TextBox 40"/>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2" name="Rounded Rectangle 41"/>
          <p:cNvSpPr/>
          <p:nvPr/>
        </p:nvSpPr>
        <p:spPr>
          <a:xfrm>
            <a:off x="9326880" y="628980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9784080" y="6052058"/>
            <a:ext cx="383778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4" name="TextBox 43"/>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3" name="Picture 22" descr="image.png"/>
          <p:cNvPicPr>
            <a:picLocks noChangeAspect="1"/>
          </p:cNvPicPr>
          <p:nvPr/>
        </p:nvPicPr>
        <p:blipFill>
          <a:blip r:embed="rId3"/>
          <a:stretch>
            <a:fillRect/>
          </a:stretch>
        </p:blipFill>
        <p:spPr>
          <a:xfrm>
            <a:off x="12921990" y="1673352"/>
            <a:ext cx="457200" cy="617115"/>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Rounded Rectangle 26"/>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8" name="Rounded Rectangle 27"/>
          <p:cNvSpPr/>
          <p:nvPr/>
        </p:nvSpPr>
        <p:spPr>
          <a:xfrm>
            <a:off x="148590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Netflix</a:t>
            </a:r>
          </a:p>
        </p:txBody>
      </p:sp>
      <p:sp>
        <p:nvSpPr>
          <p:cNvPr id="29" name="TextBox 28"/>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0" name="TextBox 29"/>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1" name="Rounded Rectangle 30"/>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2" name="Rounded Rectangle 31"/>
          <p:cNvSpPr/>
          <p:nvPr/>
        </p:nvSpPr>
        <p:spPr>
          <a:xfrm>
            <a:off x="562356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Spotify</a:t>
            </a:r>
          </a:p>
        </p:txBody>
      </p:sp>
      <p:sp>
        <p:nvSpPr>
          <p:cNvPr id="33" name="TextBox 32"/>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4" name="TextBox 33"/>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5" name="Rounded Rectangle 34"/>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6" name="Rounded Rectangle 35"/>
          <p:cNvSpPr/>
          <p:nvPr/>
        </p:nvSpPr>
        <p:spPr>
          <a:xfrm>
            <a:off x="976122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Yelp</a:t>
            </a:r>
          </a:p>
        </p:txBody>
      </p:sp>
      <p:sp>
        <p:nvSpPr>
          <p:cNvPr id="37" name="TextBox 36"/>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8" name="TextBox 37"/>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9" name="Rounded Rectangle 38"/>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40" name="Rounded Rectangle 39"/>
          <p:cNvSpPr/>
          <p:nvPr/>
        </p:nvSpPr>
        <p:spPr>
          <a:xfrm>
            <a:off x="1389888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Amazon</a:t>
            </a:r>
          </a:p>
        </p:txBody>
      </p:sp>
      <p:sp>
        <p:nvSpPr>
          <p:cNvPr id="41" name="TextBox 40"/>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2" name="TextBox 41"/>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3" name="Rounded Rectangle 42"/>
          <p:cNvSpPr/>
          <p:nvPr/>
        </p:nvSpPr>
        <p:spPr>
          <a:xfrm>
            <a:off x="1028700" y="8301482"/>
            <a:ext cx="16230600" cy="869950"/>
          </a:xfrm>
          <a:prstGeom prst="roundRect">
            <a:avLst>
              <a:gd name="adj" fmla="val 31532"/>
            </a:avLst>
          </a:prstGeom>
          <a:solidFill>
            <a:srgbClr val="F6ECDF"/>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3" name="Picture 22" descr="image.png"/>
          <p:cNvPicPr>
            <a:picLocks noChangeAspect="1"/>
          </p:cNvPicPr>
          <p:nvPr/>
        </p:nvPicPr>
        <p:blipFill>
          <a:blip r:embed="rId3"/>
          <a:stretch>
            <a:fillRect/>
          </a:stretch>
        </p:blipFill>
        <p:spPr>
          <a:xfrm>
            <a:off x="7401574"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CONTENT-BASED FILTERING</a:t>
            </a:r>
          </a:p>
        </p:txBody>
      </p:sp>
      <p:sp>
        <p:nvSpPr>
          <p:cNvPr id="32" name="Rounded Rectangle 31"/>
          <p:cNvSpPr/>
          <p:nvPr/>
        </p:nvSpPr>
        <p:spPr>
          <a:xfrm>
            <a:off x="9258300"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User taste profile</a:t>
            </a:r>
          </a:p>
        </p:txBody>
      </p:sp>
      <p:cxnSp>
        <p:nvCxnSpPr>
          <p:cNvPr id="33" name="Connector 32"/>
          <p:cNvCxnSpPr/>
          <p:nvPr/>
        </p:nvCxnSpPr>
        <p:spPr>
          <a:xfrm>
            <a:off x="10876788" y="4552442"/>
            <a:ext cx="478536" cy="0"/>
          </a:xfrm>
          <a:prstGeom prst="line">
            <a:avLst/>
          </a:prstGeom>
          <a:ln w="28575">
            <a:solidFill>
              <a:srgbClr val="124944"/>
            </a:solidFill>
            <a:tailEnd type="triangle" w="med" len="med"/>
          </a:ln>
        </p:spPr>
      </p:cxnSp>
      <p:sp>
        <p:nvSpPr>
          <p:cNvPr id="34" name="Rounded Rectangle 33"/>
          <p:cNvSpPr/>
          <p:nvPr/>
        </p:nvSpPr>
        <p:spPr>
          <a:xfrm>
            <a:off x="11401044"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Item feature vectors</a:t>
            </a:r>
          </a:p>
        </p:txBody>
      </p:sp>
      <p:cxnSp>
        <p:nvCxnSpPr>
          <p:cNvPr id="35" name="Connector 34"/>
          <p:cNvCxnSpPr/>
          <p:nvPr/>
        </p:nvCxnSpPr>
        <p:spPr>
          <a:xfrm>
            <a:off x="13019532" y="4552442"/>
            <a:ext cx="478536" cy="0"/>
          </a:xfrm>
          <a:prstGeom prst="line">
            <a:avLst/>
          </a:prstGeom>
          <a:ln w="28575">
            <a:solidFill>
              <a:srgbClr val="124944"/>
            </a:solidFill>
            <a:tailEnd type="triangle" w="med" len="med"/>
          </a:ln>
        </p:spPr>
      </p:cxnSp>
      <p:sp>
        <p:nvSpPr>
          <p:cNvPr id="36" name="Rounded Rectangle 35"/>
          <p:cNvSpPr/>
          <p:nvPr/>
        </p:nvSpPr>
        <p:spPr>
          <a:xfrm>
            <a:off x="13543788" y="3958082"/>
            <a:ext cx="1572768" cy="1188720"/>
          </a:xfrm>
          <a:prstGeom prst="roundRect">
            <a:avLst>
              <a:gd name="adj" fmla="val 15384"/>
            </a:avLst>
          </a:prstGeom>
          <a:solidFill>
            <a:srgbClr val="111111"/>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Similarity score</a:t>
            </a:r>
          </a:p>
        </p:txBody>
      </p:sp>
      <p:cxnSp>
        <p:nvCxnSpPr>
          <p:cNvPr id="37" name="Connector 36"/>
          <p:cNvCxnSpPr/>
          <p:nvPr/>
        </p:nvCxnSpPr>
        <p:spPr>
          <a:xfrm>
            <a:off x="15162276" y="4552442"/>
            <a:ext cx="478536" cy="0"/>
          </a:xfrm>
          <a:prstGeom prst="line">
            <a:avLst/>
          </a:prstGeom>
          <a:ln w="28575">
            <a:solidFill>
              <a:srgbClr val="124944"/>
            </a:solidFill>
            <a:tailEnd type="triangle" w="med" len="med"/>
          </a:ln>
        </p:spPr>
      </p:cxnSp>
      <p:sp>
        <p:nvSpPr>
          <p:cNvPr id="38" name="Rounded Rectangle 37"/>
          <p:cNvSpPr/>
          <p:nvPr/>
        </p:nvSpPr>
        <p:spPr>
          <a:xfrm>
            <a:off x="15686532" y="3958082"/>
            <a:ext cx="1572768" cy="1188720"/>
          </a:xfrm>
          <a:prstGeom prst="roundRect">
            <a:avLst>
              <a:gd name="adj" fmla="val 15384"/>
            </a:avLst>
          </a:prstGeom>
          <a:solidFill>
            <a:srgbClr val="DF8330"/>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Top-N recommend</a:t>
            </a:r>
          </a:p>
        </p:txBody>
      </p:sp>
      <p:sp>
        <p:nvSpPr>
          <p:cNvPr id="39" name="TextBox 38"/>
          <p:cNvSpPr txBox="1"/>
          <p:nvPr/>
        </p:nvSpPr>
        <p:spPr>
          <a:xfrm>
            <a:off x="9258300" y="5512562"/>
            <a:ext cx="8001000" cy="45720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111111"/>
                </a:solidFill>
                <a:latin typeface="Nunito Bold"/>
                <a:ea typeface="Nunito Bold"/>
                <a:cs typeface="Nunito Bold"/>
                <a:sym typeface="Nunito Bold"/>
              </a:rPr>
              <a:t>Example:</a:t>
            </a:r>
            <a:r>
              <a:rPr lang="en-US" sz="1700" b="true">
                <a:solidFill>
                  <a:srgbClr val="111111"/>
                </a:solidFill>
                <a:latin typeface="Nunito Semi-Bold"/>
                <a:ea typeface="Nunito Semi-Bold"/>
                <a:cs typeface="Nunito Semi-Bold"/>
                <a:sym typeface="Nunito Semi-Bold"/>
              </a:rPr>
              <a:t> liked sci-fi + Nolan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suggest films with a similar genre, cast or keywords</a:t>
            </a:r>
          </a:p>
        </p:txBody>
      </p:sp>
      <p:sp>
        <p:nvSpPr>
          <p:cNvPr id="40" name="Rounded Rectangle 39"/>
          <p:cNvSpPr/>
          <p:nvPr/>
        </p:nvSpPr>
        <p:spPr>
          <a:xfrm>
            <a:off x="925830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9715500" y="5960618"/>
            <a:ext cx="285165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Candidate item features</a:t>
            </a:r>
          </a:p>
        </p:txBody>
      </p:sp>
      <p:sp>
        <p:nvSpPr>
          <p:cNvPr id="42" name="TextBox 41"/>
          <p:cNvSpPr txBox="1"/>
          <p:nvPr/>
        </p:nvSpPr>
        <p:spPr>
          <a:xfrm>
            <a:off x="953262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genre = Sci-Fi · director = Nolan
cast = … · year = 2010 · rating = 8.6</a:t>
            </a:r>
          </a:p>
        </p:txBody>
      </p:sp>
      <p:sp>
        <p:nvSpPr>
          <p:cNvPr id="43" name="Rounded Rectangle 42"/>
          <p:cNvSpPr/>
          <p:nvPr/>
        </p:nvSpPr>
        <p:spPr>
          <a:xfrm>
            <a:off x="1339596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3853160" y="5960618"/>
            <a:ext cx="244392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Why recommended</a:t>
            </a:r>
          </a:p>
        </p:txBody>
      </p:sp>
      <p:sp>
        <p:nvSpPr>
          <p:cNvPr id="45" name="TextBox 44"/>
          <p:cNvSpPr txBox="1"/>
          <p:nvPr/>
        </p:nvSpPr>
        <p:spPr>
          <a:xfrm>
            <a:off x="1367028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high cosine similarity to your profile
</a:t>
            </a:r>
            <a:r>
              <a:rPr lang="en-US" sz="1500" b="true">
                <a:solidFill>
                  <a:srgbClr val="111111"/>
                </a:solidFill>
                <a:latin typeface="Nunito Bold"/>
                <a:ea typeface="Nunito Bold"/>
                <a:cs typeface="Nunito Bold"/>
                <a:sym typeface="Nunito Bold"/>
              </a:rPr>
              <a:t>sim = cos(f</a:t>
            </a:r>
            <a:r>
              <a:rPr lang="en-US" sz="1500" b="true" baseline="-25000">
                <a:solidFill>
                  <a:srgbClr val="111111"/>
                </a:solidFill>
                <a:latin typeface="Nunito Bold"/>
                <a:ea typeface="Nunito Bold"/>
                <a:cs typeface="Nunito Bold"/>
                <a:sym typeface="Nunito Bold"/>
              </a:rPr>
              <a:t>user</a:t>
            </a:r>
            <a:r>
              <a:rPr lang="en-US" sz="1500" b="true">
                <a:solidFill>
                  <a:srgbClr val="111111"/>
                </a:solidFill>
                <a:latin typeface="Nunito Bold"/>
                <a:ea typeface="Nunito Bold"/>
                <a:cs typeface="Nunito Bold"/>
                <a:sym typeface="Nunito Bold"/>
              </a:rPr>
              <a:t>, f</a:t>
            </a:r>
            <a:r>
              <a:rPr lang="en-US" sz="1500" b="true" baseline="-25000">
                <a:solidFill>
                  <a:srgbClr val="111111"/>
                </a:solidFill>
                <a:latin typeface="Nunito Bold"/>
                <a:ea typeface="Nunito Bold"/>
                <a:cs typeface="Nunito Bold"/>
                <a:sym typeface="Nunito Bold"/>
              </a:rPr>
              <a:t>item</a:t>
            </a:r>
            <a:r>
              <a:rPr lang="en-US" sz="1500" b="true">
                <a:solidFill>
                  <a:srgbClr val="111111"/>
                </a:solidFill>
                <a:latin typeface="Nunito Bold"/>
                <a:ea typeface="Nunito Bold"/>
                <a:cs typeface="Nunito Bold"/>
                <a:sym typeface="Nunito Bold"/>
              </a:rPr>
              <a:t>)</a:t>
            </a:r>
          </a:p>
        </p:txBody>
      </p:sp>
      <p:sp>
        <p:nvSpPr>
          <p:cNvPr id="46" name="Rounded Rectangle 45"/>
          <p:cNvSpPr/>
          <p:nvPr/>
        </p:nvSpPr>
        <p:spPr>
          <a:xfrm>
            <a:off x="9258300" y="8210042"/>
            <a:ext cx="8001000" cy="1007110"/>
          </a:xfrm>
          <a:prstGeom prst="roundRect">
            <a:avLst>
              <a:gd name="adj" fmla="val 22698"/>
            </a:avLst>
          </a:prstGeom>
          <a:solidFill>
            <a:srgbClr val="12494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Explainable because the factors are </a:t>
            </a:r>
            <a:r>
              <a:rPr lang="en-US" sz="1600" b="true">
                <a:solidFill>
                  <a:srgbClr val="FFFFFF"/>
                </a:solidFill>
                <a:latin typeface="Nunito Bold"/>
                <a:ea typeface="Nunito Bold"/>
                <a:cs typeface="Nunito Bold"/>
                <a:sym typeface="Nunito Bold"/>
              </a:rPr>
              <a:t>domain-level and can be changed</a:t>
            </a:r>
            <a:r>
              <a:rPr lang="en-US" sz="1600" b="true">
                <a:solidFill>
                  <a:srgbClr val="FFFFFF"/>
                </a:solidFill>
                <a:latin typeface="Nunito Semi-Bold"/>
                <a:ea typeface="Nunito Semi-Bold"/>
                <a:cs typeface="Nunito Semi-Bold"/>
                <a:sym typeface="Nunito Semi-Bold"/>
              </a:rPr>
              <a:t>: exactly what is lost when latent factors and message passing take over.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3" name="Picture 22" descr="image.png"/>
          <p:cNvPicPr>
            <a:picLocks noChangeAspect="1"/>
          </p:cNvPicPr>
          <p:nvPr/>
        </p:nvPicPr>
        <p:blipFill>
          <a:blip r:embed="rId3"/>
          <a:stretch>
            <a:fillRect/>
          </a:stretch>
        </p:blipFill>
        <p:spPr>
          <a:xfrm>
            <a:off x="7040539" y="1673352"/>
            <a:ext cx="457200" cy="539881"/>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USER-BASED  ·  ITEM-BASED</a:t>
            </a:r>
          </a:p>
        </p:txBody>
      </p:sp>
      <p:sp>
        <p:nvSpPr>
          <p:cNvPr id="32" name="Oval 31"/>
          <p:cNvSpPr/>
          <p:nvPr/>
        </p:nvSpPr>
        <p:spPr>
          <a:xfrm>
            <a:off x="10081260" y="427812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u1</a:t>
            </a:r>
          </a:p>
        </p:txBody>
      </p:sp>
      <p:sp>
        <p:nvSpPr>
          <p:cNvPr id="33" name="Oval 32"/>
          <p:cNvSpPr/>
          <p:nvPr/>
        </p:nvSpPr>
        <p:spPr>
          <a:xfrm>
            <a:off x="10081260" y="532968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u2</a:t>
            </a:r>
          </a:p>
        </p:txBody>
      </p:sp>
      <p:sp>
        <p:nvSpPr>
          <p:cNvPr id="34" name="Oval 33"/>
          <p:cNvSpPr/>
          <p:nvPr/>
        </p:nvSpPr>
        <p:spPr>
          <a:xfrm>
            <a:off x="10081260" y="638124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u3</a:t>
            </a:r>
          </a:p>
        </p:txBody>
      </p:sp>
      <p:sp>
        <p:nvSpPr>
          <p:cNvPr id="35" name="Rounded Rectangle 34"/>
          <p:cNvSpPr/>
          <p:nvPr/>
        </p:nvSpPr>
        <p:spPr>
          <a:xfrm>
            <a:off x="16162020" y="400380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6162020" y="400380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i1</a:t>
            </a:r>
          </a:p>
        </p:txBody>
      </p:sp>
      <p:sp>
        <p:nvSpPr>
          <p:cNvPr id="37" name="Rounded Rectangle 36"/>
          <p:cNvSpPr/>
          <p:nvPr/>
        </p:nvSpPr>
        <p:spPr>
          <a:xfrm>
            <a:off x="16162020" y="482676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8" name="TextBox 37"/>
          <p:cNvSpPr txBox="1"/>
          <p:nvPr/>
        </p:nvSpPr>
        <p:spPr>
          <a:xfrm>
            <a:off x="16162020" y="482676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i2</a:t>
            </a:r>
          </a:p>
        </p:txBody>
      </p:sp>
      <p:sp>
        <p:nvSpPr>
          <p:cNvPr id="39" name="Rounded Rectangle 38"/>
          <p:cNvSpPr/>
          <p:nvPr/>
        </p:nvSpPr>
        <p:spPr>
          <a:xfrm>
            <a:off x="16162020" y="564972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40" name="TextBox 39"/>
          <p:cNvSpPr txBox="1"/>
          <p:nvPr/>
        </p:nvSpPr>
        <p:spPr>
          <a:xfrm>
            <a:off x="16162020" y="564972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i3</a:t>
            </a:r>
          </a:p>
        </p:txBody>
      </p:sp>
      <p:sp>
        <p:nvSpPr>
          <p:cNvPr id="41" name="Rounded Rectangle 40"/>
          <p:cNvSpPr/>
          <p:nvPr/>
        </p:nvSpPr>
        <p:spPr>
          <a:xfrm>
            <a:off x="16162020" y="647268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42" name="TextBox 41"/>
          <p:cNvSpPr txBox="1"/>
          <p:nvPr/>
        </p:nvSpPr>
        <p:spPr>
          <a:xfrm>
            <a:off x="16162020" y="647268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i4</a:t>
            </a:r>
          </a:p>
        </p:txBody>
      </p:sp>
      <p:cxnSp>
        <p:nvCxnSpPr>
          <p:cNvPr id="43" name="Connector 42"/>
          <p:cNvCxnSpPr/>
          <p:nvPr/>
        </p:nvCxnSpPr>
        <p:spPr>
          <a:xfrm flipV="1">
            <a:off x="10767060" y="4323842"/>
            <a:ext cx="5394960" cy="297180"/>
          </a:xfrm>
          <a:prstGeom prst="line">
            <a:avLst/>
          </a:prstGeom>
          <a:ln w="22225">
            <a:solidFill>
              <a:srgbClr val="124944"/>
            </a:solidFill>
          </a:ln>
        </p:spPr>
      </p:cxnSp>
      <p:cxnSp>
        <p:nvCxnSpPr>
          <p:cNvPr id="44" name="Connector 43"/>
          <p:cNvCxnSpPr/>
          <p:nvPr/>
        </p:nvCxnSpPr>
        <p:spPr>
          <a:xfrm>
            <a:off x="10767060" y="4621022"/>
            <a:ext cx="5394960" cy="525780"/>
          </a:xfrm>
          <a:prstGeom prst="line">
            <a:avLst/>
          </a:prstGeom>
          <a:ln w="22225">
            <a:solidFill>
              <a:srgbClr val="124944"/>
            </a:solidFill>
          </a:ln>
        </p:spPr>
      </p:cxnSp>
      <p:cxnSp>
        <p:nvCxnSpPr>
          <p:cNvPr id="45" name="Connector 44"/>
          <p:cNvCxnSpPr/>
          <p:nvPr/>
        </p:nvCxnSpPr>
        <p:spPr>
          <a:xfrm flipV="1">
            <a:off x="10767060" y="4323842"/>
            <a:ext cx="5394960" cy="1348740"/>
          </a:xfrm>
          <a:prstGeom prst="line">
            <a:avLst/>
          </a:prstGeom>
          <a:ln w="22225">
            <a:solidFill>
              <a:srgbClr val="124944"/>
            </a:solidFill>
          </a:ln>
        </p:spPr>
      </p:cxnSp>
      <p:cxnSp>
        <p:nvCxnSpPr>
          <p:cNvPr id="46" name="Connector 45"/>
          <p:cNvCxnSpPr/>
          <p:nvPr/>
        </p:nvCxnSpPr>
        <p:spPr>
          <a:xfrm flipV="1">
            <a:off x="10767060" y="5146802"/>
            <a:ext cx="5394960" cy="525780"/>
          </a:xfrm>
          <a:prstGeom prst="line">
            <a:avLst/>
          </a:prstGeom>
          <a:ln w="22225">
            <a:solidFill>
              <a:srgbClr val="124944"/>
            </a:solidFill>
          </a:ln>
        </p:spPr>
      </p:cxnSp>
      <p:cxnSp>
        <p:nvCxnSpPr>
          <p:cNvPr id="47" name="Connector 46"/>
          <p:cNvCxnSpPr/>
          <p:nvPr/>
        </p:nvCxnSpPr>
        <p:spPr>
          <a:xfrm>
            <a:off x="10767060" y="5672582"/>
            <a:ext cx="5394960" cy="297180"/>
          </a:xfrm>
          <a:prstGeom prst="line">
            <a:avLst/>
          </a:prstGeom>
          <a:ln w="22225">
            <a:solidFill>
              <a:srgbClr val="124944"/>
            </a:solidFill>
          </a:ln>
        </p:spPr>
      </p:cxnSp>
      <p:cxnSp>
        <p:nvCxnSpPr>
          <p:cNvPr id="48" name="Connector 47"/>
          <p:cNvCxnSpPr/>
          <p:nvPr/>
        </p:nvCxnSpPr>
        <p:spPr>
          <a:xfrm flipV="1">
            <a:off x="10767060" y="5969762"/>
            <a:ext cx="5394960" cy="754380"/>
          </a:xfrm>
          <a:prstGeom prst="line">
            <a:avLst/>
          </a:prstGeom>
          <a:ln w="22225">
            <a:solidFill>
              <a:srgbClr val="124944"/>
            </a:solidFill>
          </a:ln>
        </p:spPr>
      </p:cxnSp>
      <p:cxnSp>
        <p:nvCxnSpPr>
          <p:cNvPr id="49" name="Connector 48"/>
          <p:cNvCxnSpPr/>
          <p:nvPr/>
        </p:nvCxnSpPr>
        <p:spPr>
          <a:xfrm>
            <a:off x="10767060" y="6724142"/>
            <a:ext cx="5394960" cy="68580"/>
          </a:xfrm>
          <a:prstGeom prst="line">
            <a:avLst/>
          </a:prstGeom>
          <a:ln w="22225">
            <a:solidFill>
              <a:srgbClr val="124944"/>
            </a:solidFill>
          </a:ln>
        </p:spPr>
      </p:cxnSp>
      <p:cxnSp>
        <p:nvCxnSpPr>
          <p:cNvPr id="50" name="Connector 49"/>
          <p:cNvCxnSpPr/>
          <p:nvPr/>
        </p:nvCxnSpPr>
        <p:spPr>
          <a:xfrm>
            <a:off x="10767060" y="4621022"/>
            <a:ext cx="5394960" cy="1348740"/>
          </a:xfrm>
          <a:prstGeom prst="line">
            <a:avLst/>
          </a:prstGeom>
          <a:ln w="31750">
            <a:solidFill>
              <a:srgbClr val="DF8330"/>
            </a:solidFill>
            <a:prstDash val="dash"/>
          </a:ln>
        </p:spPr>
      </p:cxnSp>
      <p:sp>
        <p:nvSpPr>
          <p:cNvPr id="51" name="TextBox 50"/>
          <p:cNvSpPr txBox="1"/>
          <p:nvPr/>
        </p:nvSpPr>
        <p:spPr>
          <a:xfrm>
            <a:off x="9258300" y="7432802"/>
            <a:ext cx="8001000" cy="41148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Semi-Bold"/>
                <a:ea typeface="Nunito Semi-Bold"/>
                <a:cs typeface="Nunito Semi-Bold"/>
                <a:sym typeface="Nunito Semi-Bold"/>
              </a:rPr>
              <a:t>u1 behaves like u2  </a:t>
            </a:r>
            <a:r>
              <a:rPr lang="en-US" sz="1600" b="true">
                <a:solidFill>
                  <a:srgbClr val="111111"/>
                </a:solidFill>
                <a:latin typeface="Calibri"/>
                <a:ea typeface="Calibri"/>
                <a:cs typeface="Calibri"/>
                <a:sym typeface="Calibri"/>
              </a:rPr>
              <a:t>→  </a:t>
            </a:r>
            <a:r>
              <a:rPr lang="en-US" sz="1600" b="true">
                <a:solidFill>
                  <a:srgbClr val="111111"/>
                </a:solidFill>
                <a:latin typeface="Nunito Bold"/>
                <a:ea typeface="Nunito Bold"/>
                <a:cs typeface="Nunito Bold"/>
                <a:sym typeface="Nunito Bold"/>
              </a:rPr>
              <a:t>recommend i3 to u1</a:t>
            </a:r>
            <a:r>
              <a:rPr lang="en-US" sz="1600" b="true">
                <a:solidFill>
                  <a:srgbClr val="111111"/>
                </a:solidFill>
                <a:latin typeface="Nunito Semi-Bold"/>
                <a:ea typeface="Nunito Semi-Bold"/>
                <a:cs typeface="Nunito Semi-Bold"/>
                <a:sym typeface="Nunito Semi-Bold"/>
              </a:rPr>
              <a:t> (dashed)</a:t>
            </a:r>
          </a:p>
        </p:txBody>
      </p:sp>
      <p:sp>
        <p:nvSpPr>
          <p:cNvPr id="52" name="Rounded Rectangle 51"/>
          <p:cNvSpPr/>
          <p:nvPr/>
        </p:nvSpPr>
        <p:spPr>
          <a:xfrm>
            <a:off x="925830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3" name="Rounded Rectangle 52"/>
          <p:cNvSpPr/>
          <p:nvPr/>
        </p:nvSpPr>
        <p:spPr>
          <a:xfrm>
            <a:off x="9715500" y="7926578"/>
            <a:ext cx="1641980"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User-based</a:t>
            </a:r>
          </a:p>
        </p:txBody>
      </p:sp>
      <p:sp>
        <p:nvSpPr>
          <p:cNvPr id="54" name="TextBox 53"/>
          <p:cNvSpPr txBox="1"/>
          <p:nvPr/>
        </p:nvSpPr>
        <p:spPr>
          <a:xfrm>
            <a:off x="948690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similar users </a:t>
            </a:r>
            <a:r>
              <a:rPr lang="en-US" sz="1400" b="true">
                <a:solidFill>
                  <a:srgbClr val="111111"/>
                </a:solidFill>
                <a:latin typeface="Calibri"/>
                <a:ea typeface="Calibri"/>
                <a:cs typeface="Calibri"/>
                <a:sym typeface="Calibri"/>
              </a:rPr>
              <a:t>→ </a:t>
            </a:r>
            <a:r>
              <a:rPr lang="en-US" sz="1400" b="true">
                <a:solidFill>
                  <a:srgbClr val="111111"/>
                </a:solidFill>
                <a:latin typeface="Nunito Semi-Bold"/>
                <a:ea typeface="Nunito Semi-Bold"/>
                <a:cs typeface="Nunito Semi-Bold"/>
                <a:sym typeface="Nunito Semi-Bold"/>
              </a:rPr>
              <a:t>their liked items</a:t>
            </a:r>
          </a:p>
        </p:txBody>
      </p:sp>
      <p:sp>
        <p:nvSpPr>
          <p:cNvPr id="55" name="Rounded Rectangle 54"/>
          <p:cNvSpPr/>
          <p:nvPr/>
        </p:nvSpPr>
        <p:spPr>
          <a:xfrm>
            <a:off x="1339596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6" name="Rounded Rectangle 55"/>
          <p:cNvSpPr/>
          <p:nvPr/>
        </p:nvSpPr>
        <p:spPr>
          <a:xfrm>
            <a:off x="13853160" y="7926578"/>
            <a:ext cx="162824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Item-based</a:t>
            </a:r>
          </a:p>
        </p:txBody>
      </p:sp>
      <p:sp>
        <p:nvSpPr>
          <p:cNvPr id="57" name="TextBox 56"/>
          <p:cNvSpPr txBox="1"/>
          <p:nvPr/>
        </p:nvSpPr>
        <p:spPr>
          <a:xfrm>
            <a:off x="1362456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items co-liked with the user's items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3" name="Picture 22" descr="image.png"/>
          <p:cNvPicPr>
            <a:picLocks noChangeAspect="1"/>
          </p:cNvPicPr>
          <p:nvPr/>
        </p:nvPicPr>
        <p:blipFill>
          <a:blip r:embed="rId3"/>
          <a:stretch>
            <a:fillRect/>
          </a:stretch>
        </p:blipFill>
        <p:spPr>
          <a:xfrm>
            <a:off x="12801265" y="1673352"/>
            <a:ext cx="457200" cy="373212"/>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HYBRID  ·  MATRIX FACTORISATION</a:t>
            </a:r>
          </a:p>
        </p:txBody>
      </p:sp>
      <p:sp>
        <p:nvSpPr>
          <p:cNvPr id="32" name="Rounded Rectangle 31"/>
          <p:cNvSpPr/>
          <p:nvPr/>
        </p:nvSpPr>
        <p:spPr>
          <a:xfrm>
            <a:off x="9258300" y="3958082"/>
            <a:ext cx="3863340" cy="914400"/>
          </a:xfrm>
          <a:prstGeom prst="roundRect">
            <a:avLst>
              <a:gd name="adj" fmla="val 22000"/>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Content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features · metadata</a:t>
            </a:r>
          </a:p>
        </p:txBody>
      </p:sp>
      <p:sp>
        <p:nvSpPr>
          <p:cNvPr id="33" name="Rounded Rectangle 32"/>
          <p:cNvSpPr/>
          <p:nvPr/>
        </p:nvSpPr>
        <p:spPr>
          <a:xfrm>
            <a:off x="13395960" y="3958082"/>
            <a:ext cx="3863340" cy="914400"/>
          </a:xfrm>
          <a:prstGeom prst="roundRect">
            <a:avLst>
              <a:gd name="adj" fmla="val 22000"/>
            </a:avLst>
          </a:prstGeom>
          <a:solidFill>
            <a:srgbClr val="1E5F58"/>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Collaborative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ratings · clicks</a:t>
            </a:r>
          </a:p>
        </p:txBody>
      </p:sp>
      <p:cxnSp>
        <p:nvCxnSpPr>
          <p:cNvPr id="34" name="Connector 33"/>
          <p:cNvCxnSpPr/>
          <p:nvPr/>
        </p:nvCxnSpPr>
        <p:spPr>
          <a:xfrm>
            <a:off x="11189970" y="4872482"/>
            <a:ext cx="1794510" cy="411480"/>
          </a:xfrm>
          <a:prstGeom prst="line">
            <a:avLst/>
          </a:prstGeom>
          <a:ln w="31750">
            <a:solidFill>
              <a:srgbClr val="124944"/>
            </a:solidFill>
            <a:tailEnd type="triangle" w="med" len="med"/>
          </a:ln>
        </p:spPr>
      </p:cxnSp>
      <p:cxnSp>
        <p:nvCxnSpPr>
          <p:cNvPr id="35" name="Connector 34"/>
          <p:cNvCxnSpPr/>
          <p:nvPr/>
        </p:nvCxnSpPr>
        <p:spPr>
          <a:xfrm flipH="1">
            <a:off x="13533120" y="4872482"/>
            <a:ext cx="1794510" cy="411480"/>
          </a:xfrm>
          <a:prstGeom prst="line">
            <a:avLst/>
          </a:prstGeom>
          <a:ln w="31750">
            <a:solidFill>
              <a:srgbClr val="124944"/>
            </a:solidFill>
            <a:tailEnd type="triangle" w="med" len="med"/>
          </a:ln>
        </p:spPr>
      </p:cxnSp>
      <p:sp>
        <p:nvSpPr>
          <p:cNvPr id="36" name="Rounded Rectangle 35"/>
          <p:cNvSpPr/>
          <p:nvPr/>
        </p:nvSpPr>
        <p:spPr>
          <a:xfrm>
            <a:off x="11430000" y="5283962"/>
            <a:ext cx="3657600" cy="868680"/>
          </a:xfrm>
          <a:prstGeom prst="roundRect">
            <a:avLst>
              <a:gd name="adj" fmla="val 23157"/>
            </a:avLst>
          </a:prstGeom>
          <a:solidFill>
            <a:srgbClr val="DF8330"/>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Hybrid recommender</a:t>
            </a:r>
          </a:p>
        </p:txBody>
      </p:sp>
      <p:sp>
        <p:nvSpPr>
          <p:cNvPr id="37" name="TextBox 36"/>
          <p:cNvSpPr txBox="1"/>
          <p:nvPr/>
        </p:nvSpPr>
        <p:spPr>
          <a:xfrm>
            <a:off x="9258300" y="6609842"/>
            <a:ext cx="8001000" cy="365760"/>
          </a:xfrm>
          <a:prstGeom prst="rect">
            <a:avLst/>
          </a:prstGeom>
          <a:noFill/>
        </p:spPr>
        <p:txBody>
          <a:bodyPr anchor="t" rtlCol="false" lIns="0" tIns="0" rIns="0" bIns="0" wrap="square"/>
          <a:lstStyle/>
          <a:p>
            <a:pPr algn="ctr">
              <a:lnSpc>
                <a:spcPts val="1600"/>
              </a:lnSpc>
              <a:spcBef>
                <a:spcPts val="0"/>
              </a:spcBef>
              <a:buNone/>
            </a:pPr>
            <a:r>
              <a:rPr lang="en-US" sz="1300" b="true" spc="140">
                <a:solidFill>
                  <a:srgbClr val="124944"/>
                </a:solidFill>
                <a:latin typeface="Nunito Ultra-Bold"/>
                <a:ea typeface="Nunito Ultra-Bold"/>
                <a:cs typeface="Nunito Ultra-Bold"/>
                <a:sym typeface="Nunito Ultra-Bold"/>
              </a:rPr>
              <a:t>MATRIX FACTORISATION</a:t>
            </a:r>
          </a:p>
        </p:txBody>
      </p:sp>
      <mc:AlternateContent xmlns:mc="http://schemas.openxmlformats.org/markup-compatibility/2006">
        <mc:Choice xmlns:a14="http://schemas.microsoft.com/office/drawing/2010/main" Requires="a14">
          <p:sp>
            <p:nvSpPr>
              <p:cNvPr id="38" name="Equation"/>
              <p:cNvSpPr txBox="1"/>
              <p:nvPr/>
            </p:nvSpPr>
            <p:spPr>
              <a:xfrm>
                <a:off x="9258300" y="6975602"/>
                <a:ext cx="8001000" cy="8229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R</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n</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Sub>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r</m:t>
                              </m:r>
                            </m:e>
                          </m:acc>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u</m:t>
                          </m:r>
                        </m:sub>
                        <m:sup>
                          <m:r>
                            <m:rPr>
                              <m:sty m:val="p"/>
                            </m:rPr>
                            <a:rPr lang="en-US" sz="2200">
                              <a:solidFill>
                                <a:srgbClr val="111111"/>
                              </a:solidFill>
                              <a:latin typeface="Cambria Math" panose="02040503050406030204" pitchFamily="18" charset="0"/>
                            </a:rPr>
                            <m:t xml:space="preserve">⊤</m:t>
                          </m:r>
                        </m:sup>
                      </m:sSubSup>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i</m:t>
                          </m:r>
                        </m:sub>
                      </m:sSub>
                    </m:oMath>
                  </m:oMathPara>
                </a14:m>
                <a:endParaRPr lang="en-US" sz="2200"/>
              </a:p>
            </p:txBody>
          </p:sp>
        </mc:Choice>
        <mc:Fallback>
          <p:sp>
            <p:nvSpPr>
              <p:cNvPr id="38" name="Equation"/>
              <p:cNvSpPr txBox="1"/>
              <p:nvPr/>
            </p:nvSpPr>
            <p:spPr>
              <a:xfrm>
                <a:off x="9258300" y="6975602"/>
                <a:ext cx="8001000" cy="822960"/>
              </a:xfrm>
              <a:prstGeom prst="rect">
                <a:avLst/>
              </a:prstGeom>
              <a:blipFill>
                <a:blip r:embed="rId5"/>
                <a:stretch>
                  <a:fillRect/>
                </a:stretch>
              </a:blipFill>
            </p:spPr>
            <p:txBody>
              <a:bodyPr/>
              <a:lstStyle/>
              <a:p>
                <a:endParaRPr lang="en-US"/>
              </a:p>
            </p:txBody>
          </p:sp>
        </mc:Fallback>
      </mc:AlternateContent>
      <p:sp>
        <p:nvSpPr>
          <p:cNvPr id="39" name="Rounded Rectangle 38"/>
          <p:cNvSpPr/>
          <p:nvPr/>
        </p:nvSpPr>
        <p:spPr>
          <a:xfrm>
            <a:off x="9258300" y="7935722"/>
            <a:ext cx="8001000" cy="1281430"/>
          </a:xfrm>
          <a:prstGeom prst="roundRect">
            <a:avLst>
              <a:gd name="adj" fmla="val 17839"/>
            </a:avLst>
          </a:prstGeom>
          <a:solidFill>
            <a:srgbClr val="F6ECDF"/>
          </a:solidFill>
          <a:ln>
            <a:noFill/>
          </a:ln>
        </p:spPr>
        <p:txBody>
          <a:bodyPr anchor="ctr" rtlCol="false" lIns="320040" tIns="91440" rIns="320040" bIns="91440" wrap="square"/>
          <a:lstStyle/>
          <a:p>
            <a:pPr algn="ctr">
              <a:lnSpc>
                <a:spcPts val="2100"/>
              </a:lnSpc>
              <a:spcBef>
                <a:spcPts val="0"/>
              </a:spcBef>
              <a:buNone/>
            </a:pPr>
            <a:r>
              <a:rPr lang="en-US" sz="1600" b="true">
                <a:solidFill>
                  <a:srgbClr val="111111"/>
                </a:solidFill>
                <a:latin typeface="Nunito Semi-Bold"/>
                <a:ea typeface="Nunito Semi-Bold"/>
                <a:cs typeface="Nunito Semi-Bold"/>
                <a:sym typeface="Nunito Semi-Bold"/>
              </a:rPr>
              <a:t>Compact and effective, but the </a:t>
            </a:r>
            <a:r>
              <a:rPr lang="en-US" sz="1600" b="true">
                <a:solidFill>
                  <a:srgbClr val="111111"/>
                </a:solidFill>
                <a:latin typeface="Nunito Bold"/>
                <a:ea typeface="Nunito Bold"/>
                <a:cs typeface="Nunito Bold"/>
                <a:sym typeface="Nunito Bold"/>
              </a:rPr>
              <a:t>k latent factors have no readable meaning</a:t>
            </a:r>
            <a:r>
              <a:rPr lang="en-US" sz="1600" b="true">
                <a:solidFill>
                  <a:srgbClr val="111111"/>
                </a:solidFill>
                <a:latin typeface="Nunito Semi-Bold"/>
                <a:ea typeface="Nunito Semi-Bold"/>
                <a:cs typeface="Nunito Semi-Bold"/>
                <a:sym typeface="Nunito Semi-Bold"/>
              </a:rPr>
              <a:t>: this is where the interpretability gap starts.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3" name="Picture 22" descr="image.png"/>
          <p:cNvPicPr>
            <a:picLocks noChangeAspect="1"/>
          </p:cNvPicPr>
          <p:nvPr/>
        </p:nvPicPr>
        <p:blipFill>
          <a:blip r:embed="rId3"/>
          <a:stretch>
            <a:fillRect/>
          </a:stretch>
        </p:blipFill>
        <p:spPr>
          <a:xfrm>
            <a:off x="13302882" y="1673352"/>
            <a:ext cx="457200" cy="427074"/>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GRAPH  ·  HYPERGRAPH</a:t>
            </a:r>
          </a:p>
        </p:txBody>
      </p:sp>
      <p:sp>
        <p:nvSpPr>
          <p:cNvPr id="32" name="Rounded Rectangle 31"/>
          <p:cNvSpPr/>
          <p:nvPr/>
        </p:nvSpPr>
        <p:spPr>
          <a:xfrm>
            <a:off x="925830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15500" y="3903218"/>
            <a:ext cx="2690762"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Graph: pairwise edges</a:t>
            </a:r>
          </a:p>
        </p:txBody>
      </p:sp>
      <p:cxnSp>
        <p:nvCxnSpPr>
          <p:cNvPr id="34" name="Connector 33"/>
          <p:cNvCxnSpPr/>
          <p:nvPr/>
        </p:nvCxnSpPr>
        <p:spPr>
          <a:xfrm flipV="1">
            <a:off x="10367010" y="4735322"/>
            <a:ext cx="1645920" cy="274320"/>
          </a:xfrm>
          <a:prstGeom prst="line">
            <a:avLst/>
          </a:prstGeom>
          <a:ln w="22225">
            <a:solidFill>
              <a:srgbClr val="124944"/>
            </a:solidFill>
          </a:ln>
        </p:spPr>
      </p:cxnSp>
      <p:cxnSp>
        <p:nvCxnSpPr>
          <p:cNvPr id="35" name="Connector 34"/>
          <p:cNvCxnSpPr/>
          <p:nvPr/>
        </p:nvCxnSpPr>
        <p:spPr>
          <a:xfrm>
            <a:off x="10367010" y="5009642"/>
            <a:ext cx="1645920" cy="822960"/>
          </a:xfrm>
          <a:prstGeom prst="line">
            <a:avLst/>
          </a:prstGeom>
          <a:ln w="22225">
            <a:solidFill>
              <a:srgbClr val="124944"/>
            </a:solidFill>
          </a:ln>
        </p:spPr>
      </p:cxnSp>
      <p:cxnSp>
        <p:nvCxnSpPr>
          <p:cNvPr id="36" name="Connector 35"/>
          <p:cNvCxnSpPr/>
          <p:nvPr/>
        </p:nvCxnSpPr>
        <p:spPr>
          <a:xfrm flipV="1">
            <a:off x="10367010" y="5832602"/>
            <a:ext cx="1645920" cy="548640"/>
          </a:xfrm>
          <a:prstGeom prst="line">
            <a:avLst/>
          </a:prstGeom>
          <a:ln w="22225">
            <a:solidFill>
              <a:srgbClr val="124944"/>
            </a:solidFill>
          </a:ln>
        </p:spPr>
      </p:cxnSp>
      <p:cxnSp>
        <p:nvCxnSpPr>
          <p:cNvPr id="37" name="Connector 36"/>
          <p:cNvCxnSpPr/>
          <p:nvPr/>
        </p:nvCxnSpPr>
        <p:spPr>
          <a:xfrm>
            <a:off x="10367010" y="6381242"/>
            <a:ext cx="1645920" cy="548640"/>
          </a:xfrm>
          <a:prstGeom prst="line">
            <a:avLst/>
          </a:prstGeom>
          <a:ln w="22225">
            <a:solidFill>
              <a:srgbClr val="124944"/>
            </a:solidFill>
          </a:ln>
        </p:spPr>
      </p:cxnSp>
      <p:sp>
        <p:nvSpPr>
          <p:cNvPr id="38" name="Oval 37"/>
          <p:cNvSpPr/>
          <p:nvPr/>
        </p:nvSpPr>
        <p:spPr>
          <a:xfrm>
            <a:off x="10110978" y="475361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39" name="Oval 38"/>
          <p:cNvSpPr/>
          <p:nvPr/>
        </p:nvSpPr>
        <p:spPr>
          <a:xfrm>
            <a:off x="11756898" y="447929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i1</a:t>
            </a:r>
          </a:p>
        </p:txBody>
      </p:sp>
      <p:sp>
        <p:nvSpPr>
          <p:cNvPr id="40" name="Oval 39"/>
          <p:cNvSpPr/>
          <p:nvPr/>
        </p:nvSpPr>
        <p:spPr>
          <a:xfrm>
            <a:off x="11756898" y="557657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i2</a:t>
            </a:r>
          </a:p>
        </p:txBody>
      </p:sp>
      <p:sp>
        <p:nvSpPr>
          <p:cNvPr id="41" name="Oval 40"/>
          <p:cNvSpPr/>
          <p:nvPr/>
        </p:nvSpPr>
        <p:spPr>
          <a:xfrm>
            <a:off x="10110978" y="612521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u2</a:t>
            </a:r>
          </a:p>
        </p:txBody>
      </p:sp>
      <p:sp>
        <p:nvSpPr>
          <p:cNvPr id="42" name="Oval 41"/>
          <p:cNvSpPr/>
          <p:nvPr/>
        </p:nvSpPr>
        <p:spPr>
          <a:xfrm>
            <a:off x="11756898" y="667385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i3</a:t>
            </a:r>
          </a:p>
        </p:txBody>
      </p:sp>
      <p:sp>
        <p:nvSpPr>
          <p:cNvPr id="43" name="Rounded Rectangle 42"/>
          <p:cNvSpPr/>
          <p:nvPr/>
        </p:nvSpPr>
        <p:spPr>
          <a:xfrm>
            <a:off x="1339596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3853160" y="3903218"/>
            <a:ext cx="388767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Hypergraph: one edge, many nodes</a:t>
            </a:r>
          </a:p>
        </p:txBody>
      </p:sp>
      <p:sp>
        <p:nvSpPr>
          <p:cNvPr id="45" name="Oval 44"/>
          <p:cNvSpPr/>
          <p:nvPr/>
        </p:nvSpPr>
        <p:spPr>
          <a:xfrm>
            <a:off x="13910310" y="4689602"/>
            <a:ext cx="2834640" cy="1737360"/>
          </a:xfrm>
          <a:prstGeom prst="ellipse">
            <a:avLst/>
          </a:prstGeom>
          <a:solidFill>
            <a:srgbClr val="E6EEEA"/>
          </a:solidFill>
          <a:ln w="28575">
            <a:solidFill>
              <a:srgbClr val="124944"/>
            </a:solidFill>
          </a:ln>
        </p:spPr>
        <p:txBody>
          <a:bodyPr anchor="ctr" rtlCol="false" lIns="0" tIns="0" rIns="0" bIns="0" wrap="square"/>
          <a:lstStyle/>
          <a:p>
            <a:endParaRPr lang="en-US" sz="1800"/>
          </a:p>
        </p:txBody>
      </p:sp>
      <p:sp>
        <p:nvSpPr>
          <p:cNvPr id="46" name="Oval 45"/>
          <p:cNvSpPr/>
          <p:nvPr/>
        </p:nvSpPr>
        <p:spPr>
          <a:xfrm>
            <a:off x="14248638" y="502793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47" name="Oval 46"/>
          <p:cNvSpPr/>
          <p:nvPr/>
        </p:nvSpPr>
        <p:spPr>
          <a:xfrm>
            <a:off x="15163038" y="479933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a:t>
            </a:r>
          </a:p>
        </p:txBody>
      </p:sp>
      <p:sp>
        <p:nvSpPr>
          <p:cNvPr id="48" name="Oval 47"/>
          <p:cNvSpPr/>
          <p:nvPr/>
        </p:nvSpPr>
        <p:spPr>
          <a:xfrm>
            <a:off x="15894558" y="5485130"/>
            <a:ext cx="512064" cy="512064"/>
          </a:xfrm>
          <a:prstGeom prst="ellipse">
            <a:avLst/>
          </a:prstGeom>
          <a:solidFill>
            <a:srgbClr val="111111"/>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c</a:t>
            </a:r>
          </a:p>
        </p:txBody>
      </p:sp>
      <p:sp>
        <p:nvSpPr>
          <p:cNvPr id="49" name="TextBox 48"/>
          <p:cNvSpPr txBox="1"/>
          <p:nvPr/>
        </p:nvSpPr>
        <p:spPr>
          <a:xfrm>
            <a:off x="13578840" y="6609842"/>
            <a:ext cx="3497580" cy="9144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111111"/>
                </a:solidFill>
                <a:latin typeface="Nunito Semi-Bold"/>
                <a:ea typeface="Nunito Semi-Bold"/>
                <a:cs typeface="Nunito Semi-Bold"/>
                <a:sym typeface="Nunito Semi-Bold"/>
              </a:rPr>
              <a:t>e = {user, item, context}
</a:t>
            </a:r>
            <a:r>
              <a:rPr lang="en-US" sz="1400" b="true">
                <a:solidFill>
                  <a:srgbClr val="111111"/>
                </a:solidFill>
                <a:latin typeface="Nunito Bold"/>
                <a:ea typeface="Nunito Bold"/>
                <a:cs typeface="Nunito Bold"/>
                <a:sym typeface="Nunito Bold"/>
              </a:rPr>
              <a:t>uniform weight</a:t>
            </a:r>
            <a:r>
              <a:rPr lang="en-US" sz="1400" b="true">
                <a:solidFill>
                  <a:srgbClr val="111111"/>
                </a:solidFill>
                <a:latin typeface="Nunito Semi-Bold"/>
                <a:ea typeface="Nunito Semi-Bold"/>
                <a:cs typeface="Nunito Semi-Bold"/>
                <a:sym typeface="Nunito Semi-Bold"/>
              </a:rPr>
              <a:t> in standard models</a:t>
            </a:r>
          </a:p>
        </p:txBody>
      </p:sp>
      <p:sp>
        <p:nvSpPr>
          <p:cNvPr id="50" name="Rounded Rectangle 49"/>
          <p:cNvSpPr/>
          <p:nvPr/>
        </p:nvSpPr>
        <p:spPr>
          <a:xfrm>
            <a:off x="9258300" y="7981442"/>
            <a:ext cx="8001000" cy="1235710"/>
          </a:xfrm>
          <a:prstGeom prst="roundRect">
            <a:avLst>
              <a:gd name="adj" fmla="val 18499"/>
            </a:avLst>
          </a:prstGeom>
          <a:solidFill>
            <a:srgbClr val="12494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Multi-hop and higher-order relations improve ranking, but </a:t>
            </a:r>
            <a:r>
              <a:rPr lang="en-US" sz="1600" b="true">
                <a:solidFill>
                  <a:srgbClr val="FFFFFF"/>
                </a:solidFill>
                <a:latin typeface="Nunito Bold"/>
                <a:ea typeface="Nunito Bold"/>
                <a:cs typeface="Nunito Bold"/>
                <a:sym typeface="Nunito Bold"/>
              </a:rPr>
              <a:t>message importance stays implicit or uniform</a:t>
            </a:r>
            <a:r>
              <a:rPr lang="en-US" sz="1600" b="true">
                <a:solidFill>
                  <a:srgbClr val="FFFFFF"/>
                </a:solidFill>
                <a:latin typeface="Nunito Semi-Bold"/>
                <a:ea typeface="Nunito Semi-Bold"/>
                <a:cs typeface="Nunito Semi-Bold"/>
                <a:sym typeface="Nunito Semi-Bold"/>
              </a:rPr>
              <a:t>: the assumption DyHuCoG challenges.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3" name="Picture 22" descr="image.png"/>
          <p:cNvPicPr>
            <a:picLocks noChangeAspect="1"/>
          </p:cNvPicPr>
          <p:nvPr/>
        </p:nvPicPr>
        <p:blipFill>
          <a:blip r:embed="rId3"/>
          <a:stretch>
            <a:fillRect/>
          </a:stretch>
        </p:blipFill>
        <p:spPr>
          <a:xfrm>
            <a:off x="16315229" y="1673352"/>
            <a:ext cx="457200" cy="399005"/>
          </a:xfrm>
          <a:prstGeom prst="rect">
            <a:avLst/>
          </a:prstGeom>
        </p:spPr>
      </p:pic>
      <p:sp>
        <p:nvSpPr>
          <p:cNvPr id="24" name="Rounded Rectangle 23"/>
          <p:cNvSpPr/>
          <p:nvPr/>
        </p:nvSpPr>
        <p:spPr>
          <a:xfrm>
            <a:off x="1028700" y="24955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4955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4955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8" name="Rounded Rectangle 27"/>
          <p:cNvSpPr/>
          <p:nvPr/>
        </p:nvSpPr>
        <p:spPr>
          <a:xfrm>
            <a:off x="515493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9" name="Rounded Rectangle 28"/>
          <p:cNvSpPr/>
          <p:nvPr/>
        </p:nvSpPr>
        <p:spPr>
          <a:xfrm>
            <a:off x="928116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0" name="Rounded Rectangle 29"/>
          <p:cNvSpPr/>
          <p:nvPr/>
        </p:nvSpPr>
        <p:spPr>
          <a:xfrm>
            <a:off x="13407390" y="3391662"/>
            <a:ext cx="3851910" cy="3017520"/>
          </a:xfrm>
          <a:prstGeom prst="roundRect">
            <a:avLst>
              <a:gd name="adj" fmla="val 9090"/>
            </a:avLst>
          </a:prstGeom>
          <a:solidFill>
            <a:srgbClr val="DF8330"/>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1" name="Rounded Rectangle 30"/>
          <p:cNvSpPr/>
          <p:nvPr/>
        </p:nvSpPr>
        <p:spPr>
          <a:xfrm>
            <a:off x="1028700" y="7049262"/>
            <a:ext cx="16230600" cy="2259330"/>
          </a:xfrm>
          <a:prstGeom prst="roundRect">
            <a:avLst>
              <a:gd name="adj" fmla="val 13760"/>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1485900" y="6811518"/>
            <a:ext cx="785723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3" name="TextBox 32"/>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3" name="Picture 22" descr="image.png"/>
          <p:cNvPicPr>
            <a:picLocks noChangeAspect="1"/>
          </p:cNvPicPr>
          <p:nvPr/>
        </p:nvPicPr>
        <p:blipFill>
          <a:blip r:embed="rId3"/>
          <a:stretch>
            <a:fillRect/>
          </a:stretch>
        </p:blipFill>
        <p:spPr>
          <a:xfrm>
            <a:off x="12569927" y="1673352"/>
            <a:ext cx="457200" cy="44671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28" name="Oval 27"/>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9" name="TextBox 28"/>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0" name="Rounded Rectangle 29"/>
          <p:cNvSpPr/>
          <p:nvPr/>
        </p:nvSpPr>
        <p:spPr>
          <a:xfrm>
            <a:off x="654558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31" name="Oval 30"/>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2" name="TextBox 31"/>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3" name="Rounded Rectangle 32"/>
          <p:cNvSpPr/>
          <p:nvPr/>
        </p:nvSpPr>
        <p:spPr>
          <a:xfrm>
            <a:off x="1206246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34" name="Oval 33"/>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5" name="TextBox 34"/>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6" name="Rounded Rectangle 35"/>
          <p:cNvSpPr/>
          <p:nvPr/>
        </p:nvSpPr>
        <p:spPr>
          <a:xfrm>
            <a:off x="1028700" y="7387082"/>
            <a:ext cx="16230600" cy="1967230"/>
          </a:xfrm>
          <a:prstGeom prst="roundRect">
            <a:avLst>
              <a:gd name="adj" fmla="val 13944"/>
            </a:avLst>
          </a:prstGeom>
          <a:noFill/>
          <a:ln w="31750">
            <a:solidFill>
              <a:srgbClr val="DF8330"/>
            </a:solidFill>
          </a:ln>
        </p:spPr>
        <p:txBody>
          <a:bodyPr anchor="ctr" rtlCol="false" lIns="0" tIns="0" rIns="0" bIns="0" wrap="square"/>
          <a:lstStyle/>
          <a:p>
            <a:endParaRPr lang="en-US" sz="1800"/>
          </a:p>
        </p:txBody>
      </p:sp>
      <p:sp>
        <p:nvSpPr>
          <p:cNvPr id="37" name="TextBox 36"/>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DF8330"/>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12494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12494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2494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1E5F58"/>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E5F58"/>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DF8330"/>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F6ECDF"/>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Our Thesis in One View</a:t>
            </a:r>
          </a:p>
        </p:txBody>
      </p:sp>
      <p:pic>
        <p:nvPicPr>
          <p:cNvPr id="23" name="Picture 22" descr="image.png"/>
          <p:cNvPicPr>
            <a:picLocks noChangeAspect="1"/>
          </p:cNvPicPr>
          <p:nvPr/>
        </p:nvPicPr>
        <p:blipFill>
          <a:blip r:embed="rId3"/>
          <a:stretch>
            <a:fillRect/>
          </a:stretch>
        </p:blipFill>
        <p:spPr>
          <a:xfrm>
            <a:off x="7298405"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TextBox 26"/>
          <p:cNvSpPr txBox="1"/>
          <p:nvPr/>
        </p:nvSpPr>
        <p:spPr>
          <a:xfrm>
            <a:off x="1028700" y="3363722"/>
            <a:ext cx="69494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124944"/>
                </a:solidFill>
                <a:latin typeface="Nunito Ultra-Bold"/>
                <a:ea typeface="Nunito Ultra-Bold"/>
                <a:cs typeface="Nunito Ultra-Bold"/>
                <a:sym typeface="Nunito Ultra-Bold"/>
              </a:rPr>
              <a:t>Thesis</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Cooperative game theory (Shapley) is </a:t>
            </a:r>
            <a:r>
              <a:rPr lang="en-US" sz="2100" b="true">
                <a:solidFill>
                  <a:srgbClr val="111111"/>
                </a:solidFill>
                <a:latin typeface="Nunito Bold"/>
                <a:ea typeface="Nunito Bold"/>
                <a:cs typeface="Nunito Bold"/>
                <a:sym typeface="Nunito Bold"/>
              </a:rPr>
              <a:t>one shared, explainable way to attribute importance</a:t>
            </a:r>
            <a:r>
              <a:rPr lang="en-US" sz="2100" b="true">
                <a:solidFill>
                  <a:srgbClr val="111111"/>
                </a:solidFill>
                <a:latin typeface="Nunito Semi-Bold"/>
                <a:ea typeface="Nunito Semi-Bold"/>
                <a:cs typeface="Nunito Semi-Bold"/>
                <a:sym typeface="Nunito Semi-Bold"/>
              </a:rPr>
              <a:t>.</a:t>
            </a:r>
          </a:p>
          <a:p>
            <a:pPr algn="l">
              <a:lnSpc>
                <a:spcPts val="2750"/>
              </a:lnSpc>
              <a:spcBef>
                <a:spcPts val="1800"/>
              </a:spcBef>
              <a:buNone/>
            </a:pPr>
            <a:r>
              <a:rPr lang="en-US" sz="2200" b="true">
                <a:solidFill>
                  <a:srgbClr val="124944"/>
                </a:solidFill>
                <a:latin typeface="Nunito Ultra-Bold"/>
                <a:ea typeface="Nunito Ultra-Bold"/>
                <a:cs typeface="Nunito Ultra-Bold"/>
                <a:sym typeface="Nunito Ultra-Bold"/>
              </a:rPr>
              <a:t>The same logic spans clustering and recommendation</a:t>
            </a:r>
          </a:p>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C1:</a:t>
            </a:r>
            <a:r>
              <a:rPr lang="en-US" sz="2000" b="true">
                <a:solidFill>
                  <a:srgbClr val="111111"/>
                </a:solidFill>
                <a:latin typeface="Nunito Semi-Bold"/>
                <a:ea typeface="Nunito Semi-Bold"/>
                <a:cs typeface="Nunito Semi-Bold"/>
                <a:sym typeface="Nunito Semi-Bold"/>
              </a:rPr>
              <a:t> explains black-box clustering faithfully (wine).</a:t>
            </a:r>
          </a:p>
          <a:p>
            <a:pPr algn="l" marL="274320" indent="-274320">
              <a:lnSpc>
                <a:spcPts val="2800"/>
              </a:lnSpc>
              <a:spcBef>
                <a:spcPts val="6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C2:</a:t>
            </a:r>
            <a:r>
              <a:rPr lang="en-US" sz="2000" b="true">
                <a:solidFill>
                  <a:srgbClr val="111111"/>
                </a:solidFill>
                <a:latin typeface="Nunito Semi-Bold"/>
                <a:ea typeface="Nunito Semi-Bold"/>
                <a:cs typeface="Nunito Semi-Bold"/>
                <a:sym typeface="Nunito Semi-Bold"/>
              </a:rPr>
              <a:t> keeps the explanation consistent at scale and across levels (Beijing).</a:t>
            </a:r>
          </a:p>
          <a:p>
            <a:pPr algn="l" marL="274320" indent="-274320">
              <a:lnSpc>
                <a:spcPts val="2800"/>
              </a:lnSpc>
              <a:spcBef>
                <a:spcPts val="6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C3:</a:t>
            </a:r>
            <a:r>
              <a:rPr lang="en-US" sz="2000" b="true">
                <a:solidFill>
                  <a:srgbClr val="111111"/>
                </a:solidFill>
                <a:latin typeface="Nunito Semi-Bold"/>
                <a:ea typeface="Nunito Semi-Bold"/>
                <a:cs typeface="Nunito Semi-Bold"/>
                <a:sym typeface="Nunito Semi-Bold"/>
              </a:rPr>
              <a:t> DyHuCoG turns attribution into an </a:t>
            </a:r>
            <a:r>
              <a:rPr lang="en-US" sz="2000" b="true">
                <a:solidFill>
                  <a:srgbClr val="111111"/>
                </a:solidFill>
                <a:latin typeface="Nunito Bold"/>
                <a:ea typeface="Nunito Bold"/>
                <a:cs typeface="Nunito Bold"/>
                <a:sym typeface="Nunito Bold"/>
              </a:rPr>
              <a:t>in-training signal</a:t>
            </a:r>
            <a:r>
              <a:rPr lang="en-US" sz="2000" b="true">
                <a:solidFill>
                  <a:srgbClr val="111111"/>
                </a:solidFill>
                <a:latin typeface="Nunito Semi-Bold"/>
                <a:ea typeface="Nunito Semi-Bold"/>
                <a:cs typeface="Nunito Semi-Bold"/>
                <a:sym typeface="Nunito Semi-Bold"/>
              </a:rPr>
              <a:t>.</a:t>
            </a:r>
          </a:p>
          <a:p>
            <a:pPr algn="l">
              <a:lnSpc>
                <a:spcPts val="3080"/>
              </a:lnSpc>
              <a:spcBef>
                <a:spcPts val="1800"/>
              </a:spcBef>
              <a:buNone/>
            </a:pPr>
            <a:r>
              <a:rPr lang="en-US" sz="2200" b="true">
                <a:solidFill>
                  <a:srgbClr val="DF8330"/>
                </a:solidFill>
                <a:latin typeface="Nunito Bold"/>
                <a:ea typeface="Nunito Bold"/>
                <a:cs typeface="Nunito Bold"/>
                <a:sym typeface="Nunito Bold"/>
              </a:rPr>
              <a:t>From post-hoc description to in-training guidance.</a:t>
            </a:r>
          </a:p>
        </p:txBody>
      </p:sp>
      <p:sp>
        <p:nvSpPr>
          <p:cNvPr id="28" name="Rounded Rectangle 27"/>
          <p:cNvSpPr/>
          <p:nvPr/>
        </p:nvSpPr>
        <p:spPr>
          <a:xfrm>
            <a:off x="9914382" y="3409442"/>
            <a:ext cx="6048756" cy="914400"/>
          </a:xfrm>
          <a:prstGeom prst="roundRect">
            <a:avLst>
              <a:gd name="adj" fmla="val 20000"/>
            </a:avLst>
          </a:prstGeom>
          <a:solidFill>
            <a:srgbClr val="124944"/>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Everyday AI recommenders are powerful but not transparent</a:t>
            </a:r>
          </a:p>
        </p:txBody>
      </p:sp>
      <p:sp>
        <p:nvSpPr>
          <p:cNvPr id="29" name="Rounded Rectangle 28"/>
          <p:cNvSpPr/>
          <p:nvPr/>
        </p:nvSpPr>
        <p:spPr>
          <a:xfrm>
            <a:off x="9309506" y="4872482"/>
            <a:ext cx="7258507" cy="1097280"/>
          </a:xfrm>
          <a:prstGeom prst="roundRect">
            <a:avLst>
              <a:gd name="adj" fmla="val 16666"/>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Our thesis: cooperative game theory (Shapley) as one shared, explainable attribution method</a:t>
            </a:r>
          </a:p>
        </p:txBody>
      </p:sp>
      <p:cxnSp>
        <p:nvCxnSpPr>
          <p:cNvPr id="30" name="Connector 29"/>
          <p:cNvCxnSpPr/>
          <p:nvPr/>
        </p:nvCxnSpPr>
        <p:spPr>
          <a:xfrm>
            <a:off x="12938760" y="4351274"/>
            <a:ext cx="0" cy="475488"/>
          </a:xfrm>
          <a:prstGeom prst="line">
            <a:avLst/>
          </a:prstGeom>
          <a:ln w="31750">
            <a:solidFill>
              <a:srgbClr val="124944"/>
            </a:solidFill>
            <a:tailEnd type="triangle" w="med" len="med"/>
          </a:ln>
        </p:spPr>
      </p:cxnSp>
      <p:sp>
        <p:nvSpPr>
          <p:cNvPr id="31" name="Rounded Rectangle 30"/>
          <p:cNvSpPr/>
          <p:nvPr/>
        </p:nvSpPr>
        <p:spPr>
          <a:xfrm>
            <a:off x="8618220" y="6792722"/>
            <a:ext cx="2697480" cy="1554480"/>
          </a:xfrm>
          <a:prstGeom prst="roundRect">
            <a:avLst>
              <a:gd name="adj" fmla="val 11764"/>
            </a:avLst>
          </a:prstGeom>
          <a:solidFill>
            <a:srgbClr val="124944"/>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C1</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Explainable clustering</a:t>
            </a:r>
          </a:p>
        </p:txBody>
      </p:sp>
      <p:cxnSp>
        <p:nvCxnSpPr>
          <p:cNvPr id="32" name="Connector 31"/>
          <p:cNvCxnSpPr/>
          <p:nvPr/>
        </p:nvCxnSpPr>
        <p:spPr>
          <a:xfrm flipH="1">
            <a:off x="9966960" y="6015482"/>
            <a:ext cx="2971800" cy="731520"/>
          </a:xfrm>
          <a:prstGeom prst="line">
            <a:avLst/>
          </a:prstGeom>
          <a:ln w="25400">
            <a:solidFill>
              <a:srgbClr val="124944"/>
            </a:solidFill>
            <a:tailEnd type="triangle" w="med" len="med"/>
          </a:ln>
        </p:spPr>
      </p:cxnSp>
      <p:sp>
        <p:nvSpPr>
          <p:cNvPr id="33" name="Rounded Rectangle 32"/>
          <p:cNvSpPr/>
          <p:nvPr/>
        </p:nvSpPr>
        <p:spPr>
          <a:xfrm>
            <a:off x="11590020" y="6792722"/>
            <a:ext cx="2697480" cy="1554480"/>
          </a:xfrm>
          <a:prstGeom prst="roundRect">
            <a:avLst>
              <a:gd name="adj" fmla="val 11764"/>
            </a:avLst>
          </a:prstGeom>
          <a:solidFill>
            <a:srgbClr val="1E5F58"/>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C2</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Multi-level XAI</a:t>
            </a:r>
          </a:p>
        </p:txBody>
      </p:sp>
      <p:cxnSp>
        <p:nvCxnSpPr>
          <p:cNvPr id="34" name="Connector 33"/>
          <p:cNvCxnSpPr/>
          <p:nvPr/>
        </p:nvCxnSpPr>
        <p:spPr>
          <a:xfrm>
            <a:off x="12938760" y="6015482"/>
            <a:ext cx="0" cy="731520"/>
          </a:xfrm>
          <a:prstGeom prst="line">
            <a:avLst/>
          </a:prstGeom>
          <a:ln w="25400">
            <a:solidFill>
              <a:srgbClr val="124944"/>
            </a:solidFill>
            <a:tailEnd type="triangle" w="med" len="med"/>
          </a:ln>
        </p:spPr>
      </p:cxnSp>
      <p:sp>
        <p:nvSpPr>
          <p:cNvPr id="35" name="Rounded Rectangle 34"/>
          <p:cNvSpPr/>
          <p:nvPr/>
        </p:nvSpPr>
        <p:spPr>
          <a:xfrm>
            <a:off x="14561820" y="6792722"/>
            <a:ext cx="2697480" cy="1554480"/>
          </a:xfrm>
          <a:prstGeom prst="roundRect">
            <a:avLst>
              <a:gd name="adj" fmla="val 11764"/>
            </a:avLst>
          </a:prstGeom>
          <a:solidFill>
            <a:srgbClr val="DF8330"/>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C3</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DyHuCoG recommender</a:t>
            </a:r>
          </a:p>
        </p:txBody>
      </p:sp>
      <p:cxnSp>
        <p:nvCxnSpPr>
          <p:cNvPr id="36" name="Connector 35"/>
          <p:cNvCxnSpPr/>
          <p:nvPr/>
        </p:nvCxnSpPr>
        <p:spPr>
          <a:xfrm>
            <a:off x="12938760" y="6015482"/>
            <a:ext cx="2971800" cy="731520"/>
          </a:xfrm>
          <a:prstGeom prst="line">
            <a:avLst/>
          </a:prstGeom>
          <a:ln w="25400">
            <a:solidFill>
              <a:srgbClr val="124944"/>
            </a:solidFill>
            <a:tailEnd type="triangle" w="med" len="med"/>
          </a:ln>
        </p:spPr>
      </p:cxnSp>
      <p:sp>
        <p:nvSpPr>
          <p:cNvPr id="37" name="Rounded Rectangle 36"/>
          <p:cNvSpPr/>
          <p:nvPr/>
        </p:nvSpPr>
        <p:spPr>
          <a:xfrm>
            <a:off x="8618220" y="8667242"/>
            <a:ext cx="8641080" cy="641350"/>
          </a:xfrm>
          <a:prstGeom prst="roundRect">
            <a:avLst>
              <a:gd name="adj" fmla="val 35643"/>
            </a:avLst>
          </a:prstGeom>
          <a:solidFill>
            <a:srgbClr val="F6ECDF"/>
          </a:solidFill>
          <a:ln>
            <a:noFill/>
          </a:ln>
        </p:spPr>
        <p:txBody>
          <a:bodyPr anchor="ctr" rtlCol="false" lIns="274320" tIns="91440" rIns="274320" bIns="9144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Same axioms · same terms · same value-function logic: </a:t>
            </a:r>
            <a:r>
              <a:rPr lang="en-US" sz="1700" b="true">
                <a:solidFill>
                  <a:srgbClr val="111111"/>
                </a:solidFill>
                <a:latin typeface="Nunito Bold"/>
                <a:ea typeface="Nunito Bold"/>
                <a:cs typeface="Nunito Bold"/>
                <a:sym typeface="Nunito Bold"/>
              </a:rPr>
              <a:t>explanation as part of the method, not a comment added later.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   [20]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Datasets Used Throughout the Thesis</a:t>
            </a:r>
          </a:p>
        </p:txBody>
      </p:sp>
      <p:pic>
        <p:nvPicPr>
          <p:cNvPr id="23" name="Picture 22" descr="image.png"/>
          <p:cNvPicPr>
            <a:picLocks noChangeAspect="1"/>
          </p:cNvPicPr>
          <p:nvPr/>
        </p:nvPicPr>
        <p:blipFill>
          <a:blip r:embed="rId3"/>
          <a:stretch>
            <a:fillRect/>
          </a:stretch>
        </p:blipFill>
        <p:spPr>
          <a:xfrm>
            <a:off x="10935196" y="1673352"/>
            <a:ext cx="457200" cy="415247"/>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7" cy="4532122"/>
        </p:xfrm>
        <a:graphic>
          <a:graphicData uri="http://schemas.openxmlformats.org/drawingml/2006/table">
            <a:tbl>
              <a:tblPr firstRow="0" bandRow="0" firstCol="0" lastRow="0" lastCol="0" bandCol="0">
                <a:tableStyleId>{2D5ABB26-0587-4C30-8999-92F81FD0307C}</a:tableStyleId>
              </a:tblPr>
              <a:tblGrid>
                <a:gridCol w="2870718"/>
                <a:gridCol w="2649893"/>
                <a:gridCol w="2539481"/>
                <a:gridCol w="2429069"/>
                <a:gridCol w="5741436"/>
              </a:tblGrid>
              <a:tr h="86868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Dataset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Scale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Type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Role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Why it was chosen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105740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Wine Quality (vinho verde)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Tabular, numeric</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C1: single-level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interpretable chemical features; small, dense, strongly correlated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attribution in a feature space experts trust.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Beijing Multi-Site Air Quality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Tabular, pollutants + weather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C2: multi-level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Hourly records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tests scale, noise, and time / weather structure.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MovieLens-1M</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 u / 3,706 i / 1.0 M int.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feedback (density 0.0447)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C3: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 benchmark with well-known 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Amazon-Book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 u / 91,599 i / 3.0 M int.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feedback (density 0.0006)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C3: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Very sparse, on purpose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stress-tests Shapley weighting when the signal is weak.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8" name="Rounded Rectangle 27"/>
          <p:cNvSpPr/>
          <p:nvPr/>
        </p:nvSpPr>
        <p:spPr>
          <a:xfrm>
            <a:off x="1028700" y="8261604"/>
            <a:ext cx="16230600" cy="914400"/>
          </a:xfrm>
          <a:prstGeom prst="roundRect">
            <a:avLst>
              <a:gd name="adj" fmla="val 25000"/>
            </a:avLst>
          </a:prstGeom>
          <a:solidFill>
            <a:srgbClr val="124944"/>
          </a:solidFill>
          <a:ln>
            <a:noFill/>
          </a:ln>
        </p:spPr>
        <p:txBody>
          <a:bodyPr anchor="ctr" rtlCol="false" lIns="457200" tIns="91440" rIns="457200" bIns="91440" wrap="square"/>
          <a:lstStyle/>
          <a:p>
            <a:pPr algn="ctr">
              <a:lnSpc>
                <a:spcPts val="2700"/>
              </a:lnSpc>
              <a:spcBef>
                <a:spcPts val="0"/>
              </a:spcBef>
              <a:buNone/>
            </a:pPr>
            <a:r>
              <a:rPr lang="en-US" sz="2100" b="true">
                <a:solidFill>
                  <a:srgbClr val="FFFFFF"/>
                </a:solidFill>
                <a:latin typeface="Nunito Semi-Bold"/>
                <a:ea typeface="Nunito Semi-Bold"/>
                <a:cs typeface="Nunito Semi-Bold"/>
                <a:sym typeface="Nunito Semi-Bold"/>
              </a:rPr>
              <a:t>The </a:t>
            </a:r>
            <a:r>
              <a:rPr lang="en-US" sz="2100" b="true">
                <a:solidFill>
                  <a:srgbClr val="FFFFFF"/>
                </a:solidFill>
                <a:latin typeface="Nunito Bold"/>
                <a:ea typeface="Nunito Bold"/>
                <a:cs typeface="Nunito Bold"/>
                <a:sym typeface="Nunito Bold"/>
              </a:rPr>
              <a:t>0.0447 vs 0.0006</a:t>
            </a:r>
            <a:r>
              <a:rPr lang="en-US" sz="2100" b="true">
                <a:solidFill>
                  <a:srgbClr val="FFFFFF"/>
                </a:solidFill>
                <a:latin typeface="Nunito Semi-Bold"/>
                <a:ea typeface="Nunito Semi-Bold"/>
                <a:cs typeface="Nunito Semi-Bold"/>
                <a:sym typeface="Nunito Semi-Bold"/>
              </a:rPr>
              <a:t> density contrast is on purpose: the claim is that </a:t>
            </a:r>
            <a:r>
              <a:rPr lang="en-US" sz="2100" b="true">
                <a:solidFill>
                  <a:srgbClr val="FFFFFF"/>
                </a:solidFill>
                <a:latin typeface="Nunito Bold"/>
                <a:ea typeface="Nunito Bold"/>
                <a:cs typeface="Nunito Bold"/>
                <a:sym typeface="Nunito Bold"/>
              </a:rPr>
              <a:t>gains are largest where data are weakest</a:t>
            </a:r>
            <a:r>
              <a:rPr lang="en-US" sz="21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3" name="Picture 22" descr="image.png"/>
          <p:cNvPicPr>
            <a:picLocks noChangeAspect="1"/>
          </p:cNvPicPr>
          <p:nvPr/>
        </p:nvPicPr>
        <p:blipFill>
          <a:blip r:embed="rId3"/>
          <a:stretch>
            <a:fillRect/>
          </a:stretch>
        </p:blipFill>
        <p:spPr>
          <a:xfrm>
            <a:off x="11227909" y="1673352"/>
            <a:ext cx="457200" cy="452148"/>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public file</a:t>
            </a:r>
          </a:p>
        </p:txBody>
      </p:sp>
      <p:graphicFrame>
        <p:nvGraphicFramePr>
          <p:cNvPr id="30" name="Table 29"/>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3" name="Picture 22" descr="image.png"/>
          <p:cNvPicPr>
            <a:picLocks noChangeAspect="1"/>
          </p:cNvPicPr>
          <p:nvPr/>
        </p:nvPicPr>
        <p:blipFill>
          <a:blip r:embed="rId3"/>
          <a:stretch>
            <a:fillRect/>
          </a:stretch>
        </p:blipFill>
        <p:spPr>
          <a:xfrm>
            <a:off x="8588295" y="1673352"/>
            <a:ext cx="457200" cy="617115"/>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Aotizhongxin station file</a:t>
            </a:r>
          </a:p>
        </p:txBody>
      </p:sp>
      <p:graphicFrame>
        <p:nvGraphicFramePr>
          <p:cNvPr id="30" name="Table 29"/>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3" name="Picture 22" descr="image.png"/>
          <p:cNvPicPr>
            <a:picLocks noChangeAspect="1"/>
          </p:cNvPicPr>
          <p:nvPr/>
        </p:nvPicPr>
        <p:blipFill>
          <a:blip r:embed="rId3"/>
          <a:stretch>
            <a:fillRect/>
          </a:stretch>
        </p:blipFill>
        <p:spPr>
          <a:xfrm>
            <a:off x="4963971"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ratings.dat joined with movies.dat</a:t>
            </a:r>
          </a:p>
        </p:txBody>
      </p:sp>
      <p:graphicFrame>
        <p:nvGraphicFramePr>
          <p:cNvPr id="30" name="Table 29"/>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3" name="Picture 22" descr="image.png"/>
          <p:cNvPicPr>
            <a:picLocks noChangeAspect="1"/>
          </p:cNvPicPr>
          <p:nvPr/>
        </p:nvPicPr>
        <p:blipFill>
          <a:blip r:embed="rId3"/>
          <a:stretch>
            <a:fillRect/>
          </a:stretch>
        </p:blipFill>
        <p:spPr>
          <a:xfrm>
            <a:off x="5002206" y="1673352"/>
            <a:ext cx="457200" cy="539881"/>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illustrative rows in the format of the public file</a:t>
            </a:r>
          </a:p>
        </p:txBody>
      </p:sp>
      <p:graphicFrame>
        <p:nvGraphicFramePr>
          <p:cNvPr id="30" name="Table 29"/>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3" name="Picture 22" descr="image.png"/>
          <p:cNvPicPr>
            <a:picLocks noChangeAspect="1"/>
          </p:cNvPicPr>
          <p:nvPr/>
        </p:nvPicPr>
        <p:blipFill>
          <a:blip r:embed="rId3"/>
          <a:stretch>
            <a:fillRect/>
          </a:stretch>
        </p:blipFill>
        <p:spPr>
          <a:xfrm>
            <a:off x="9239964" y="1673352"/>
            <a:ext cx="457200" cy="373212"/>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Rounded Rectangle 26"/>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28" name="Rounded Rectangle 27"/>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Clustering (C1, C2)</a:t>
            </a:r>
          </a:p>
        </p:txBody>
      </p:sp>
      <p:sp>
        <p:nvSpPr>
          <p:cNvPr id="29" name="TextBox 28"/>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0" name="Rounded Rectangle 29"/>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9784080" y="3354578"/>
            <a:ext cx="364295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2" name="TextBox 31"/>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3" name="Picture 22" descr="image.png"/>
          <p:cNvPicPr>
            <a:picLocks noChangeAspect="1"/>
          </p:cNvPicPr>
          <p:nvPr/>
        </p:nvPicPr>
        <p:blipFill>
          <a:blip r:embed="rId3"/>
          <a:stretch>
            <a:fillRect/>
          </a:stretch>
        </p:blipFill>
        <p:spPr>
          <a:xfrm>
            <a:off x="3729007"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155178"/>
            <a:ext cx="16230600" cy="1016254"/>
          </a:xfrm>
          <a:prstGeom prst="roundRect">
            <a:avLst>
              <a:gd name="adj" fmla="val 19795"/>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7963154"/>
            <a:ext cx="1867571"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0" name="TextBox 29"/>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3" name="Picture 22" descr="image.png"/>
          <p:cNvPicPr>
            <a:picLocks noChangeAspect="1"/>
          </p:cNvPicPr>
          <p:nvPr/>
        </p:nvPicPr>
        <p:blipFill>
          <a:blip r:embed="rId3"/>
          <a:stretch>
            <a:fillRect/>
          </a:stretch>
        </p:blipFill>
        <p:spPr>
          <a:xfrm>
            <a:off x="6134170" y="1673352"/>
            <a:ext cx="457200" cy="399005"/>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Rectangle 26"/>
          <p:cNvSpPr/>
          <p:nvPr/>
        </p:nvSpPr>
        <p:spPr>
          <a:xfrm>
            <a:off x="1028700" y="3363722"/>
            <a:ext cx="16230600" cy="384048"/>
          </a:xfrm>
          <a:prstGeom prst="rect">
            <a:avLst/>
          </a:prstGeom>
          <a:solidFill>
            <a:srgbClr val="124944"/>
          </a:solidFill>
          <a:ln>
            <a:noFill/>
          </a:ln>
        </p:spPr>
        <p:txBody>
          <a:bodyPr anchor="ctr" rtlCol="false" lIns="0" tIns="0" rIns="0" bIns="0" wrap="square"/>
          <a:lstStyle/>
          <a:p>
            <a:endParaRPr lang="en-US" sz="1800"/>
          </a:p>
        </p:txBody>
      </p:sp>
      <p:sp>
        <p:nvSpPr>
          <p:cNvPr id="28" name="TextBox 27"/>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9" name="TextBox 28"/>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0" name="TextBox 29"/>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1" name="Rectangle 30"/>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2" name="TextBox 31"/>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3"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3" name="Equation"/>
              <p:cNvSpPr txBox="1"/>
              <p:nvPr/>
            </p:nvSpPr>
            <p:spPr>
              <a:xfrm>
                <a:off x="3771900" y="3775202"/>
                <a:ext cx="6309360" cy="684675"/>
              </a:xfrm>
              <a:prstGeom prst="rect">
                <a:avLst/>
              </a:prstGeom>
              <a:blipFill>
                <a:blip r:embed="rId5"/>
                <a:stretch>
                  <a:fillRect/>
                </a:stretch>
              </a:blipFill>
            </p:spPr>
            <p:txBody>
              <a:bodyPr/>
              <a:lstStyle/>
              <a:p>
                <a:endParaRPr lang="en-US"/>
              </a:p>
            </p:txBody>
          </p:sp>
        </mc:Fallback>
      </mc:AlternateContent>
      <p:sp>
        <p:nvSpPr>
          <p:cNvPr id="34" name="TextBox 33"/>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5" name="Connector 34"/>
          <p:cNvCxnSpPr/>
          <p:nvPr/>
        </p:nvCxnSpPr>
        <p:spPr>
          <a:xfrm>
            <a:off x="1028700" y="4487309"/>
            <a:ext cx="16230600" cy="0"/>
          </a:xfrm>
          <a:prstGeom prst="line">
            <a:avLst/>
          </a:prstGeom>
          <a:ln w="12700">
            <a:solidFill>
              <a:srgbClr val="E3D6C4"/>
            </a:solidFill>
          </a:ln>
        </p:spPr>
      </p:cxnSp>
      <p:sp>
        <p:nvSpPr>
          <p:cNvPr id="36" name="Rectangle 35"/>
          <p:cNvSpPr/>
          <p:nvPr/>
        </p:nvSpPr>
        <p:spPr>
          <a:xfrm>
            <a:off x="1028700" y="4487309"/>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37" name="TextBox 36"/>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8"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8" name="Equation"/>
              <p:cNvSpPr txBox="1"/>
              <p:nvPr/>
            </p:nvSpPr>
            <p:spPr>
              <a:xfrm>
                <a:off x="3771900" y="4514741"/>
                <a:ext cx="6309360" cy="684675"/>
              </a:xfrm>
              <a:prstGeom prst="rect">
                <a:avLst/>
              </a:prstGeom>
              <a:blipFill>
                <a:blip r:embed="rId6"/>
                <a:stretch>
                  <a:fillRect/>
                </a:stretch>
              </a:blipFill>
            </p:spPr>
            <p:txBody>
              <a:bodyPr/>
              <a:lstStyle/>
              <a:p>
                <a:endParaRPr lang="en-US"/>
              </a:p>
            </p:txBody>
          </p:sp>
        </mc:Fallback>
      </mc:AlternateContent>
      <p:sp>
        <p:nvSpPr>
          <p:cNvPr id="39" name="TextBox 38"/>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0" name="Connector 39"/>
          <p:cNvCxnSpPr/>
          <p:nvPr/>
        </p:nvCxnSpPr>
        <p:spPr>
          <a:xfrm>
            <a:off x="1028700" y="5226848"/>
            <a:ext cx="16230600" cy="0"/>
          </a:xfrm>
          <a:prstGeom prst="line">
            <a:avLst/>
          </a:prstGeom>
          <a:ln w="12700">
            <a:solidFill>
              <a:srgbClr val="E3D6C4"/>
            </a:solidFill>
          </a:ln>
        </p:spPr>
      </p:cxnSp>
      <p:sp>
        <p:nvSpPr>
          <p:cNvPr id="41" name="Rectangle 40"/>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2" name="TextBox 41"/>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3"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3" name="Equation"/>
              <p:cNvSpPr txBox="1"/>
              <p:nvPr/>
            </p:nvSpPr>
            <p:spPr>
              <a:xfrm>
                <a:off x="3771900" y="5254280"/>
                <a:ext cx="6309360" cy="684675"/>
              </a:xfrm>
              <a:prstGeom prst="rect">
                <a:avLst/>
              </a:prstGeom>
              <a:blipFill>
                <a:blip r:embed="rId7"/>
                <a:stretch>
                  <a:fillRect/>
                </a:stretch>
              </a:blipFill>
            </p:spPr>
            <p:txBody>
              <a:bodyPr/>
              <a:lstStyle/>
              <a:p>
                <a:endParaRPr lang="en-US"/>
              </a:p>
            </p:txBody>
          </p:sp>
        </mc:Fallback>
      </mc:AlternateContent>
      <p:sp>
        <p:nvSpPr>
          <p:cNvPr id="44" name="TextBox 43"/>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5" name="Connector 44"/>
          <p:cNvCxnSpPr/>
          <p:nvPr/>
        </p:nvCxnSpPr>
        <p:spPr>
          <a:xfrm>
            <a:off x="1028700" y="5966387"/>
            <a:ext cx="16230600" cy="0"/>
          </a:xfrm>
          <a:prstGeom prst="line">
            <a:avLst/>
          </a:prstGeom>
          <a:ln w="12700">
            <a:solidFill>
              <a:srgbClr val="E3D6C4"/>
            </a:solidFill>
          </a:ln>
        </p:spPr>
      </p:cxnSp>
      <p:sp>
        <p:nvSpPr>
          <p:cNvPr id="46" name="Rectangle 45"/>
          <p:cNvSpPr/>
          <p:nvPr/>
        </p:nvSpPr>
        <p:spPr>
          <a:xfrm>
            <a:off x="1028700" y="5966387"/>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47" name="TextBox 46"/>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8"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8" name="Equation"/>
              <p:cNvSpPr txBox="1"/>
              <p:nvPr/>
            </p:nvSpPr>
            <p:spPr>
              <a:xfrm>
                <a:off x="3771900" y="5993819"/>
                <a:ext cx="6309360" cy="684675"/>
              </a:xfrm>
              <a:prstGeom prst="rect">
                <a:avLst/>
              </a:prstGeom>
              <a:blipFill>
                <a:blip r:embed="rId8"/>
                <a:stretch>
                  <a:fillRect/>
                </a:stretch>
              </a:blipFill>
            </p:spPr>
            <p:txBody>
              <a:bodyPr/>
              <a:lstStyle/>
              <a:p>
                <a:endParaRPr lang="en-US"/>
              </a:p>
            </p:txBody>
          </p:sp>
        </mc:Fallback>
      </mc:AlternateContent>
      <p:sp>
        <p:nvSpPr>
          <p:cNvPr id="49" name="TextBox 48"/>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50" name="Connector 49"/>
          <p:cNvCxnSpPr/>
          <p:nvPr/>
        </p:nvCxnSpPr>
        <p:spPr>
          <a:xfrm>
            <a:off x="1028700" y="6705926"/>
            <a:ext cx="16230600" cy="0"/>
          </a:xfrm>
          <a:prstGeom prst="line">
            <a:avLst/>
          </a:prstGeom>
          <a:ln w="12700">
            <a:solidFill>
              <a:srgbClr val="E3D6C4"/>
            </a:solidFill>
          </a:ln>
        </p:spPr>
      </p:cxnSp>
      <p:sp>
        <p:nvSpPr>
          <p:cNvPr id="51" name="Rectangle 50"/>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2" name="TextBox 51"/>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3"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3" name="Equation"/>
              <p:cNvSpPr txBox="1"/>
              <p:nvPr/>
            </p:nvSpPr>
            <p:spPr>
              <a:xfrm>
                <a:off x="3771900" y="6733358"/>
                <a:ext cx="6309360" cy="684675"/>
              </a:xfrm>
              <a:prstGeom prst="rect">
                <a:avLst/>
              </a:prstGeom>
              <a:blipFill>
                <a:blip r:embed="rId9"/>
                <a:stretch>
                  <a:fillRect/>
                </a:stretch>
              </a:blipFill>
            </p:spPr>
            <p:txBody>
              <a:bodyPr/>
              <a:lstStyle/>
              <a:p>
                <a:endParaRPr lang="en-US"/>
              </a:p>
            </p:txBody>
          </p:sp>
        </mc:Fallback>
      </mc:AlternateContent>
      <p:sp>
        <p:nvSpPr>
          <p:cNvPr id="54" name="TextBox 53"/>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5" name="Connector 54"/>
          <p:cNvCxnSpPr/>
          <p:nvPr/>
        </p:nvCxnSpPr>
        <p:spPr>
          <a:xfrm>
            <a:off x="1028700" y="7445465"/>
            <a:ext cx="16230600" cy="0"/>
          </a:xfrm>
          <a:prstGeom prst="line">
            <a:avLst/>
          </a:prstGeom>
          <a:ln w="12700">
            <a:solidFill>
              <a:srgbClr val="E3D6C4"/>
            </a:solidFill>
          </a:ln>
        </p:spPr>
      </p:cxnSp>
      <p:sp>
        <p:nvSpPr>
          <p:cNvPr id="56" name="Rectangle 55"/>
          <p:cNvSpPr/>
          <p:nvPr/>
        </p:nvSpPr>
        <p:spPr>
          <a:xfrm>
            <a:off x="1028700" y="7445465"/>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57" name="TextBox 56"/>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8"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8" name="Equation"/>
              <p:cNvSpPr txBox="1"/>
              <p:nvPr/>
            </p:nvSpPr>
            <p:spPr>
              <a:xfrm>
                <a:off x="3771900" y="7472897"/>
                <a:ext cx="6309360" cy="684675"/>
              </a:xfrm>
              <a:prstGeom prst="rect">
                <a:avLst/>
              </a:prstGeom>
              <a:blipFill>
                <a:blip r:embed="rId10"/>
                <a:stretch>
                  <a:fillRect/>
                </a:stretch>
              </a:blipFill>
            </p:spPr>
            <p:txBody>
              <a:bodyPr/>
              <a:lstStyle/>
              <a:p>
                <a:endParaRPr lang="en-US"/>
              </a:p>
            </p:txBody>
          </p:sp>
        </mc:Fallback>
      </mc:AlternateContent>
      <p:sp>
        <p:nvSpPr>
          <p:cNvPr id="59" name="TextBox 58"/>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60" name="Connector 59"/>
          <p:cNvCxnSpPr/>
          <p:nvPr/>
        </p:nvCxnSpPr>
        <p:spPr>
          <a:xfrm>
            <a:off x="1028700" y="8185004"/>
            <a:ext cx="16230600" cy="0"/>
          </a:xfrm>
          <a:prstGeom prst="line">
            <a:avLst/>
          </a:prstGeom>
          <a:ln w="12700">
            <a:solidFill>
              <a:srgbClr val="E3D6C4"/>
            </a:solidFill>
          </a:ln>
        </p:spPr>
      </p:cxnSp>
      <p:sp>
        <p:nvSpPr>
          <p:cNvPr id="61" name="Rectangle 60"/>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62" name="TextBox 61"/>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3"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3" name="Equation"/>
              <p:cNvSpPr txBox="1"/>
              <p:nvPr/>
            </p:nvSpPr>
            <p:spPr>
              <a:xfrm>
                <a:off x="3771900" y="8212436"/>
                <a:ext cx="6309360" cy="684675"/>
              </a:xfrm>
              <a:prstGeom prst="rect">
                <a:avLst/>
              </a:prstGeom>
              <a:blipFill>
                <a:blip r:embed="rId11"/>
                <a:stretch>
                  <a:fillRect/>
                </a:stretch>
              </a:blipFill>
            </p:spPr>
            <p:txBody>
              <a:bodyPr/>
              <a:lstStyle/>
              <a:p>
                <a:endParaRPr lang="en-US"/>
              </a:p>
            </p:txBody>
          </p:sp>
        </mc:Fallback>
      </mc:AlternateContent>
      <p:sp>
        <p:nvSpPr>
          <p:cNvPr id="64" name="TextBox 63"/>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5" name="Connector 64"/>
          <p:cNvCxnSpPr/>
          <p:nvPr/>
        </p:nvCxnSpPr>
        <p:spPr>
          <a:xfrm>
            <a:off x="1028700" y="8924544"/>
            <a:ext cx="16230600" cy="0"/>
          </a:xfrm>
          <a:prstGeom prst="line">
            <a:avLst/>
          </a:prstGeom>
          <a:ln w="12700">
            <a:solidFill>
              <a:srgbClr val="E3D6C4"/>
            </a:solidFill>
          </a:ln>
        </p:spPr>
      </p:cxnSp>
      <p:sp>
        <p:nvSpPr>
          <p:cNvPr id="66" name="TextBox 65"/>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46713"/>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7112762"/>
            <a:ext cx="7932420" cy="2104390"/>
          </a:xfrm>
          <a:prstGeom prst="roundRect">
            <a:avLst>
              <a:gd name="adj" fmla="val 14773"/>
            </a:avLst>
          </a:prstGeom>
          <a:solidFill>
            <a:srgbClr val="124944"/>
          </a:solidFill>
          <a:ln>
            <a:noFill/>
          </a:ln>
        </p:spPr>
        <p:txBody>
          <a:bodyPr anchor="ctr" rtlCol="false" lIns="0" tIns="0" rIns="0" bIns="0" wrap="square"/>
          <a:lstStyle/>
          <a:p>
            <a:endParaRPr lang="en-US" sz="1800"/>
          </a:p>
        </p:txBody>
      </p:sp>
      <p:sp>
        <p:nvSpPr>
          <p:cNvPr id="29" name="Rounded Rectangle 28"/>
          <p:cNvSpPr/>
          <p:nvPr/>
        </p:nvSpPr>
        <p:spPr>
          <a:xfrm>
            <a:off x="1485900" y="687501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it matters</a:t>
            </a:r>
          </a:p>
        </p:txBody>
      </p:sp>
      <p:sp>
        <p:nvSpPr>
          <p:cNvPr id="30" name="TextBox 29"/>
          <p:cNvSpPr txBox="1"/>
          <p:nvPr/>
        </p:nvSpPr>
        <p:spPr>
          <a:xfrm>
            <a:off x="1485900" y="7661402"/>
            <a:ext cx="7063740" cy="1372870"/>
          </a:xfrm>
          <a:prstGeom prst="rect">
            <a:avLst/>
          </a:prstGeom>
          <a:noFill/>
        </p:spPr>
        <p:txBody>
          <a:bodyPr anchor="t" rtlCol="false" lIns="0" tIns="0" rIns="0" bIns="0" wrap="square"/>
          <a:lstStyle/>
          <a:p>
            <a:pPr algn="l" marL="274320" indent="-274320">
              <a:lnSpc>
                <a:spcPts val="2380"/>
              </a:lnSpc>
              <a:spcBef>
                <a:spcPts val="0"/>
              </a:spcBef>
              <a:buClr>
                <a:srgbClr val="ECC665"/>
              </a:buClr>
              <a:buSzPct val="100000"/>
              <a:buFont typeface="Arial"/>
              <a:buChar char="•"/>
            </a:pPr>
            <a:r>
              <a:rPr lang="en-US" sz="1700" b="true">
                <a:solidFill>
                  <a:srgbClr val="FFFFFF"/>
                </a:solidFill>
                <a:latin typeface="Nunito Semi-Bold"/>
                <a:ea typeface="Nunito Semi-Bold"/>
                <a:cs typeface="Nunito Semi-Bold"/>
                <a:sym typeface="Nunito Semi-Bold"/>
              </a:rPr>
              <a:t>The hardware explains the </a:t>
            </a:r>
            <a:r>
              <a:rPr lang="en-US" sz="1700" b="true">
                <a:solidFill>
                  <a:srgbClr val="FFFFFF"/>
                </a:solidFill>
                <a:latin typeface="Nunito Bold"/>
                <a:ea typeface="Nunito Bold"/>
                <a:cs typeface="Nunito Bold"/>
                <a:sym typeface="Nunito Bold"/>
              </a:rPr>
              <a:t>runtime figures</a:t>
            </a:r>
            <a:r>
              <a:rPr lang="en-US" sz="1700"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380"/>
              </a:lnSpc>
              <a:spcBef>
                <a:spcPts val="600"/>
              </a:spcBef>
              <a:buClr>
                <a:srgbClr val="ECC665"/>
              </a:buClr>
              <a:buSzPct val="100000"/>
              <a:buFont typeface="Arial"/>
              <a:buChar char="•"/>
            </a:pPr>
            <a:r>
              <a:rPr lang="en-US" sz="1700" b="true">
                <a:solidFill>
                  <a:srgbClr val="FFFFFF"/>
                </a:solidFill>
                <a:latin typeface="Nunito Semi-Bold"/>
                <a:ea typeface="Nunito Semi-Bold"/>
                <a:cs typeface="Nunito Semi-Bold"/>
                <a:sym typeface="Nunito Semi-Bold"/>
              </a:rPr>
              <a:t>Metrics at K </a:t>
            </a:r>
            <a:r>
              <a:rPr lang="en-US" sz="1700" b="true">
                <a:solidFill>
                  <a:srgbClr val="FFFFFF"/>
                </a:solidFill>
                <a:latin typeface="Cambria Math"/>
                <a:ea typeface="Cambria Math"/>
                <a:cs typeface="Cambria Math"/>
                <a:sym typeface="Cambria Math"/>
              </a:rPr>
              <a:t>∈ </a:t>
            </a:r>
            <a:r>
              <a:rPr lang="en-US" sz="1700" b="true">
                <a:solidFill>
                  <a:srgbClr val="FFFFFF"/>
                </a:solidFill>
                <a:latin typeface="Nunito Semi-Bold"/>
                <a:ea typeface="Nunito Semi-Bold"/>
                <a:cs typeface="Nunito Semi-Bold"/>
                <a:sym typeface="Nunito Semi-Bold"/>
              </a:rPr>
              <a:t>{5, 10, 20}; five seeds; early stopping on validation NDCG@20.</a:t>
            </a:r>
          </a:p>
        </p:txBody>
      </p:sp>
      <p:sp>
        <p:nvSpPr>
          <p:cNvPr id="31" name="Rounded Rectangle 30"/>
          <p:cNvSpPr/>
          <p:nvPr/>
        </p:nvSpPr>
        <p:spPr>
          <a:xfrm>
            <a:off x="9326880" y="7112762"/>
            <a:ext cx="7932420" cy="2104390"/>
          </a:xfrm>
          <a:prstGeom prst="roundRect">
            <a:avLst>
              <a:gd name="adj" fmla="val 14773"/>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9784080" y="6875018"/>
            <a:ext cx="1470201"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3" name="TextBox 32"/>
          <p:cNvSpPr txBox="1"/>
          <p:nvPr/>
        </p:nvSpPr>
        <p:spPr>
          <a:xfrm>
            <a:off x="9784080" y="7661402"/>
            <a:ext cx="7063740" cy="1372870"/>
          </a:xfrm>
          <a:prstGeom prst="rect">
            <a:avLst/>
          </a:prstGeom>
          <a:noFill/>
        </p:spPr>
        <p:txBody>
          <a:bodyPr anchor="t" rtlCol="false" lIns="0" tIns="0" rIns="0" bIns="0" wrap="square"/>
          <a:lstStyle/>
          <a:p>
            <a:pPr algn="l" marL="274320" indent="-274320">
              <a:lnSpc>
                <a:spcPts val="2380"/>
              </a:lnSpc>
              <a:spcBef>
                <a:spcPts val="0"/>
              </a:spcBef>
              <a:buClr>
                <a:srgbClr val="DF8330"/>
              </a:buClr>
              <a:buSzPct val="100000"/>
              <a:buFont typeface="Arial"/>
              <a:buChar char="•"/>
            </a:pPr>
            <a:r>
              <a:rPr lang="en-US" sz="1700" b="true">
                <a:solidFill>
                  <a:srgbClr val="111111"/>
                </a:solidFill>
                <a:latin typeface="Nunito Bold"/>
                <a:ea typeface="Nunito Bold"/>
                <a:cs typeface="Nunito Bold"/>
                <a:sym typeface="Nunito Bold"/>
              </a:rPr>
              <a:t>Everything runs on standard academic hardware</a:t>
            </a:r>
            <a:r>
              <a:rPr lang="en-US" sz="1700" b="true">
                <a:solidFill>
                  <a:srgbClr val="111111"/>
                </a:solidFill>
                <a:latin typeface="Nunito Semi-Bold"/>
                <a:ea typeface="Nunito Semi-Bold"/>
                <a:cs typeface="Nunito Semi-Bold"/>
                <a:sym typeface="Nunito Semi-Bold"/>
              </a:rPr>
              <a:t>; nothing needs industrial-scale compute.</a:t>
            </a:r>
          </a:p>
          <a:p>
            <a:pPr algn="l" marL="274320" indent="-274320">
              <a:lnSpc>
                <a:spcPts val="2380"/>
              </a:lnSpc>
              <a:spcBef>
                <a:spcPts val="600"/>
              </a:spcBef>
              <a:buClr>
                <a:srgbClr val="DF8330"/>
              </a:buClr>
              <a:buSzPct val="100000"/>
              <a:buFont typeface="Arial"/>
              <a:buChar char="•"/>
            </a:pPr>
            <a:r>
              <a:rPr lang="en-US" sz="1700"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TECHNICAL DEEP DIVE: COOPERATIVE GAMES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 Cooperative Game in One Picture</a:t>
            </a:r>
          </a:p>
        </p:txBody>
      </p:sp>
      <p:pic>
        <p:nvPicPr>
          <p:cNvPr id="23" name="Picture 22" descr="image.png"/>
          <p:cNvPicPr>
            <a:picLocks noChangeAspect="1"/>
          </p:cNvPicPr>
          <p:nvPr/>
        </p:nvPicPr>
        <p:blipFill>
          <a:blip r:embed="rId3"/>
          <a:stretch>
            <a:fillRect/>
          </a:stretch>
        </p:blipFill>
        <p:spPr>
          <a:xfrm>
            <a:off x="10353379" y="1673352"/>
            <a:ext cx="457200" cy="250983"/>
          </a:xfrm>
          <a:prstGeom prst="rect">
            <a:avLst/>
          </a:prstGeom>
        </p:spPr>
      </p:pic>
      <p:sp>
        <p:nvSpPr>
          <p:cNvPr id="24" name="Rounded Rectangle 23"/>
          <p:cNvSpPr/>
          <p:nvPr/>
        </p:nvSpPr>
        <p:spPr>
          <a:xfrm>
            <a:off x="1028700" y="2559050"/>
            <a:ext cx="162915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The game</a:t>
            </a:r>
          </a:p>
        </p:txBody>
      </p:sp>
      <p:sp>
        <p:nvSpPr>
          <p:cNvPr id="25" name="Rounded Rectangle 24"/>
          <p:cNvSpPr/>
          <p:nvPr/>
        </p:nvSpPr>
        <p:spPr>
          <a:xfrm>
            <a:off x="2785872" y="2559050"/>
            <a:ext cx="208735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Shapley value</a:t>
            </a:r>
          </a:p>
        </p:txBody>
      </p:sp>
      <p:sp>
        <p:nvSpPr>
          <p:cNvPr id="26" name="Rounded Rectangle 25"/>
          <p:cNvSpPr/>
          <p:nvPr/>
        </p:nvSpPr>
        <p:spPr>
          <a:xfrm>
            <a:off x="5001246" y="2559050"/>
            <a:ext cx="192913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In this thesis</a:t>
            </a:r>
          </a:p>
        </p:txBody>
      </p:sp>
      <p:sp>
        <p:nvSpPr>
          <p:cNvPr id="27" name="TextBox 26"/>
          <p:cNvSpPr txBox="1"/>
          <p:nvPr/>
        </p:nvSpPr>
        <p:spPr>
          <a:xfrm>
            <a:off x="1028700" y="3363722"/>
            <a:ext cx="8229600" cy="2743200"/>
          </a:xfrm>
          <a:prstGeom prst="rect">
            <a:avLst/>
          </a:prstGeom>
          <a:noFill/>
        </p:spPr>
        <p:txBody>
          <a:bodyPr anchor="t" rtlCol="false" lIns="0" tIns="0" rIns="0" bIns="0" wrap="square"/>
          <a:lstStyle/>
          <a:p>
            <a:pPr algn="l">
              <a:lnSpc>
                <a:spcPts val="2420"/>
              </a:lnSpc>
              <a:spcBef>
                <a:spcPts val="0"/>
              </a:spcBef>
              <a:buNone/>
            </a:pPr>
            <a:r>
              <a:rPr lang="en-US" sz="1936" b="true">
                <a:solidFill>
                  <a:srgbClr val="124944"/>
                </a:solidFill>
                <a:latin typeface="Nunito Ultra-Bold"/>
                <a:ea typeface="Nunito Ultra-Bold"/>
                <a:cs typeface="Nunito Ultra-Bold"/>
                <a:sym typeface="Nunito Ultra-Bold"/>
              </a:rPr>
              <a:t>Three ingredients</a:t>
            </a:r>
          </a:p>
          <a:p>
            <a:pPr algn="l" marL="274320" indent="-274320">
              <a:lnSpc>
                <a:spcPts val="2464"/>
              </a:lnSpc>
              <a:spcBef>
                <a:spcPts val="0"/>
              </a:spcBef>
              <a:buClr>
                <a:srgbClr val="DF8330"/>
              </a:buClr>
              <a:buSzPct val="100000"/>
              <a:buFont typeface="Arial"/>
              <a:buChar char="•"/>
            </a:pPr>
            <a:r>
              <a:rPr lang="en-US" sz="1760" b="true">
                <a:solidFill>
                  <a:srgbClr val="111111"/>
                </a:solidFill>
                <a:latin typeface="Nunito Bold"/>
                <a:ea typeface="Nunito Bold"/>
                <a:cs typeface="Nunito Bold"/>
                <a:sym typeface="Nunito Bold"/>
              </a:rPr>
              <a:t>Players</a:t>
            </a:r>
            <a:r>
              <a:rPr lang="en-US" sz="1760" b="true">
                <a:solidFill>
                  <a:srgbClr val="111111"/>
                </a:solidFill>
                <a:latin typeface="Nunito Semi-Bold"/>
                <a:ea typeface="Nunito Semi-Bold"/>
                <a:cs typeface="Nunito Semi-Bold"/>
                <a:sym typeface="Nunito Semi-Bold"/>
              </a:rPr>
              <a:t> N = {1, …, n}: the agents who can work together.</a:t>
            </a:r>
          </a:p>
          <a:p>
            <a:pPr algn="l" marL="274320" indent="-274320">
              <a:lnSpc>
                <a:spcPts val="2605"/>
              </a:lnSpc>
              <a:spcBef>
                <a:spcPts val="792"/>
              </a:spcBef>
              <a:buClr>
                <a:srgbClr val="DF8330"/>
              </a:buClr>
              <a:buSzPct val="100000"/>
              <a:buFont typeface="Arial"/>
              <a:buChar char="•"/>
            </a:pPr>
            <a:r>
              <a:rPr lang="en-US" sz="1760" b="true">
                <a:solidFill>
                  <a:srgbClr val="111111"/>
                </a:solidFill>
                <a:latin typeface="Nunito Bold"/>
                <a:ea typeface="Nunito Bold"/>
                <a:cs typeface="Nunito Bold"/>
                <a:sym typeface="Nunito Bold"/>
              </a:rPr>
              <a:t>Coalition</a:t>
            </a:r>
            <a:r>
              <a:rPr lang="en-US" sz="1760" b="true">
                <a:solidFill>
                  <a:srgbClr val="111111"/>
                </a:solidFill>
                <a:latin typeface="Nunito Semi-Bold"/>
                <a:ea typeface="Nunito Semi-Bold"/>
                <a:cs typeface="Nunito Semi-Bold"/>
                <a:sym typeface="Nunito Semi-Bold"/>
              </a:rPr>
              <a:t> S </a:t>
            </a:r>
            <a:r>
              <a:rPr lang="en-US" sz="1760" b="true">
                <a:solidFill>
                  <a:srgbClr val="111111"/>
                </a:solidFill>
                <a:latin typeface="Cambria Math"/>
                <a:ea typeface="Cambria Math"/>
                <a:cs typeface="Cambria Math"/>
                <a:sym typeface="Cambria Math"/>
              </a:rPr>
              <a:t>⊆ </a:t>
            </a:r>
            <a:r>
              <a:rPr lang="en-US" sz="1760" b="true">
                <a:solidFill>
                  <a:srgbClr val="111111"/>
                </a:solidFill>
                <a:latin typeface="Nunito Semi-Bold"/>
                <a:ea typeface="Nunito Semi-Bold"/>
                <a:cs typeface="Nunito Semi-Bold"/>
                <a:sym typeface="Nunito Semi-Bold"/>
              </a:rPr>
              <a:t>N: any group of players; there are 2</a:t>
            </a:r>
            <a:r>
              <a:rPr lang="en-US" sz="1760" b="true" baseline="30000">
                <a:solidFill>
                  <a:srgbClr val="111111"/>
                </a:solidFill>
                <a:latin typeface="Nunito Semi-Bold"/>
                <a:ea typeface="Nunito Semi-Bold"/>
                <a:cs typeface="Nunito Semi-Bold"/>
                <a:sym typeface="Nunito Semi-Bold"/>
              </a:rPr>
              <a:t>n</a:t>
            </a:r>
            <a:r>
              <a:rPr lang="en-US" sz="1760" b="true">
                <a:solidFill>
                  <a:srgbClr val="111111"/>
                </a:solidFill>
                <a:latin typeface="Nunito Semi-Bold"/>
                <a:ea typeface="Nunito Semi-Bold"/>
                <a:cs typeface="Nunito Semi-Bold"/>
                <a:sym typeface="Nunito Semi-Bold"/>
              </a:rPr>
              <a:t> of them.</a:t>
            </a:r>
          </a:p>
          <a:p>
            <a:pPr algn="l" marL="274320" indent="-274320">
              <a:lnSpc>
                <a:spcPts val="2605"/>
              </a:lnSpc>
              <a:spcBef>
                <a:spcPts val="792"/>
              </a:spcBef>
              <a:buClr>
                <a:srgbClr val="DF8330"/>
              </a:buClr>
              <a:buSzPct val="100000"/>
              <a:buFont typeface="Arial"/>
              <a:buChar char="•"/>
            </a:pPr>
            <a:r>
              <a:rPr lang="en-US" sz="1760" b="true">
                <a:solidFill>
                  <a:srgbClr val="111111"/>
                </a:solidFill>
                <a:latin typeface="Nunito Bold"/>
                <a:ea typeface="Nunito Bold"/>
                <a:cs typeface="Nunito Bold"/>
                <a:sym typeface="Nunito Bold"/>
              </a:rPr>
              <a:t>Characteristic function</a:t>
            </a:r>
            <a:r>
              <a:rPr lang="en-US" sz="1760" b="true">
                <a:solidFill>
                  <a:srgbClr val="111111"/>
                </a:solidFill>
                <a:latin typeface="Nunito Semi-Bold"/>
                <a:ea typeface="Nunito Semi-Bold"/>
                <a:cs typeface="Nunito Semi-Bold"/>
                <a:sym typeface="Nunito Semi-Bold"/>
              </a:rPr>
              <a:t> v: 2</a:t>
            </a:r>
            <a:r>
              <a:rPr lang="en-US" sz="1760" b="true" baseline="30000">
                <a:solidFill>
                  <a:srgbClr val="111111"/>
                </a:solidFill>
                <a:latin typeface="Nunito Semi-Bold"/>
                <a:ea typeface="Nunito Semi-Bold"/>
                <a:cs typeface="Nunito Semi-Bold"/>
                <a:sym typeface="Nunito Semi-Bold"/>
              </a:rPr>
              <a:t>N</a:t>
            </a:r>
            <a:r>
              <a:rPr lang="en-US" sz="1760" b="true">
                <a:solidFill>
                  <a:srgbClr val="111111"/>
                </a:solidFill>
                <a:latin typeface="Calibri"/>
                <a:ea typeface="Calibri"/>
                <a:cs typeface="Calibri"/>
                <a:sym typeface="Calibri"/>
              </a:rPr>
              <a:t> → </a:t>
            </a:r>
            <a:r>
              <a:rPr lang="en-US" sz="1760" b="true">
                <a:solidFill>
                  <a:srgbClr val="111111"/>
                </a:solidFill>
                <a:latin typeface="Cambria Math"/>
                <a:ea typeface="Cambria Math"/>
                <a:cs typeface="Cambria Math"/>
                <a:sym typeface="Cambria Math"/>
              </a:rPr>
              <a:t>ℝ </a:t>
            </a:r>
            <a:r>
              <a:rPr lang="en-US" sz="1760" b="true">
                <a:solidFill>
                  <a:srgbClr val="111111"/>
                </a:solidFill>
                <a:latin typeface="Nunito Semi-Bold"/>
                <a:ea typeface="Nunito Semi-Bold"/>
                <a:cs typeface="Nunito Semi-Bold"/>
                <a:sym typeface="Nunito Semi-Bold"/>
              </a:rPr>
              <a:t>with v(∅) = 0: the value a coalition creates </a:t>
            </a:r>
            <a:r>
              <a:rPr lang="en-US" sz="1760" b="true">
                <a:solidFill>
                  <a:srgbClr val="111111"/>
                </a:solidFill>
                <a:latin typeface="Nunito Bold"/>
                <a:ea typeface="Nunito Bold"/>
                <a:cs typeface="Nunito Bold"/>
                <a:sym typeface="Nunito Bold"/>
              </a:rPr>
              <a:t>on its own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792"/>
              </a:spcBef>
              <a:buClr>
                <a:srgbClr val="DF8330"/>
              </a:buClr>
              <a:buSzPct val="100000"/>
              <a:buFont typeface="Arial"/>
              <a:buChar char="•"/>
            </a:pPr>
            <a:r>
              <a:rPr lang="en-US" sz="1760" b="true">
                <a:solidFill>
                  <a:srgbClr val="111111"/>
                </a:solidFill>
                <a:latin typeface="Nunito Bold"/>
                <a:ea typeface="Nunito Bold"/>
                <a:cs typeface="Nunito Bold"/>
                <a:sym typeface="Nunito Bold"/>
              </a:rPr>
              <a:t>The question:</a:t>
            </a:r>
            <a:r>
              <a:rPr lang="en-US" sz="1760" b="true">
                <a:solidFill>
                  <a:srgbClr val="111111"/>
                </a:solidFill>
                <a:latin typeface="Nunito Semi-Bold"/>
                <a:ea typeface="Nunito Semi-Bold"/>
                <a:cs typeface="Nunito Semi-Bold"/>
                <a:sym typeface="Nunito Semi-Bold"/>
              </a:rPr>
              <a:t> the grand coalition N earns v(N); </a:t>
            </a:r>
            <a:r>
              <a:rPr lang="en-US" sz="1760" b="true">
                <a:solidFill>
                  <a:srgbClr val="111111"/>
                </a:solidFill>
                <a:latin typeface="Nunito Bold"/>
                <a:ea typeface="Nunito Bold"/>
                <a:cs typeface="Nunito Bold"/>
                <a:sym typeface="Nunito Bold"/>
              </a:rPr>
              <a:t>how should it be shared fairly</a:t>
            </a:r>
            <a:r>
              <a:rPr lang="en-US" sz="1760" b="true">
                <a:solidFill>
                  <a:srgbClr val="111111"/>
                </a:solidFill>
                <a:latin typeface="Nunito Semi-Bold"/>
                <a:ea typeface="Nunito Semi-Bold"/>
                <a:cs typeface="Nunito Semi-Bold"/>
                <a:sym typeface="Nunito Semi-Bold"/>
              </a:rPr>
              <a:t> among the players?</a:t>
            </a:r>
          </a:p>
        </p:txBody>
      </p:sp>
      <p:sp>
        <p:nvSpPr>
          <p:cNvPr id="28" name="Rounded Rectangle 27"/>
          <p:cNvSpPr/>
          <p:nvPr/>
        </p:nvSpPr>
        <p:spPr>
          <a:xfrm>
            <a:off x="1028700" y="6198362"/>
            <a:ext cx="8229600" cy="914400"/>
          </a:xfrm>
          <a:prstGeom prst="roundRect">
            <a:avLst>
              <a:gd name="adj" fmla="val 22000"/>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028700" y="6271514"/>
            <a:ext cx="8229600" cy="256032"/>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0" name="Equation"/>
              <p:cNvSpPr txBox="1"/>
              <p:nvPr/>
            </p:nvSpPr>
            <p:spPr>
              <a:xfrm>
                <a:off x="1211580" y="6490970"/>
                <a:ext cx="7863840" cy="56692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2000">
                          <a:solidFill>
                            <a:srgbClr val="FFFFFF"/>
                          </a:solidFill>
                          <a:latin typeface="Cambria Math" panose="02040503050406030204" pitchFamily="18" charset="0"/>
                        </a:rPr>
                        <m:t xml:space="preserve">(</m:t>
                      </m:r>
                      <m:r>
                        <a:rPr lang="en-US" sz="2000" i="1">
                          <a:solidFill>
                            <a:srgbClr val="FFFFFF"/>
                          </a:solidFill>
                          <a:latin typeface="Cambria Math" panose="02040503050406030204" pitchFamily="18" charset="0"/>
                        </a:rPr>
                        <m:t xml:space="preserve">N</m:t>
                      </m:r>
                      <m:r>
                        <m:rPr>
                          <m:sty m:val="p"/>
                        </m:rPr>
                        <a:rPr lang="en-US" sz="2000">
                          <a:solidFill>
                            <a:srgbClr val="FFFFFF"/>
                          </a:solidFill>
                          <a:latin typeface="Cambria Math" panose="02040503050406030204" pitchFamily="18" charset="0"/>
                        </a:rPr>
                        <m:t xml:space="preserve">,</m:t>
                      </m:r>
                      <m:r>
                        <a:rPr lang="en-US" sz="2000" i="1">
                          <a:solidFill>
                            <a:srgbClr val="FFFFFF"/>
                          </a:solidFill>
                          <a:latin typeface="Cambria Math" panose="02040503050406030204" pitchFamily="18" charset="0"/>
                        </a:rPr>
                        <m:t xml:space="preserve">v</m:t>
                      </m:r>
                      <m:r>
                        <m:rPr>
                          <m:sty m:val="p"/>
                        </m:rPr>
                        <a:rPr lang="en-US" sz="2000">
                          <a:solidFill>
                            <a:srgbClr val="FFFFFF"/>
                          </a:solidFill>
                          <a:latin typeface="Cambria Math" panose="02040503050406030204" pitchFamily="18" charset="0"/>
                        </a:rPr>
                        <m:t xml:space="preserve">),  </m:t>
                      </m:r>
                      <m:r>
                        <a:rPr lang="en-US" sz="2000" i="1">
                          <a:solidFill>
                            <a:srgbClr val="FFFFFF"/>
                          </a:solidFill>
                          <a:latin typeface="Cambria Math" panose="02040503050406030204" pitchFamily="18" charset="0"/>
                        </a:rPr>
                        <m:t xml:space="preserve">v</m:t>
                      </m:r>
                      <m:r>
                        <m:rPr>
                          <m:sty m:val="p"/>
                        </m:rPr>
                        <a:rPr lang="en-US" sz="2000">
                          <a:solidFill>
                            <a:srgbClr val="FFFFFF"/>
                          </a:solidFill>
                          <a:latin typeface="Cambria Math" panose="02040503050406030204" pitchFamily="18" charset="0"/>
                        </a:rPr>
                        <m:t xml:space="preserve">:</m:t>
                      </m:r>
                      <m:sSup>
                        <m:sSupPr>
                          <m:ctrlPr>
                            <a:rPr lang="en-US" sz="2000" i="1">
                              <a:solidFill>
                                <a:srgbClr val="FFFFFF"/>
                              </a:solidFill>
                              <a:latin typeface="Cambria Math" panose="02040503050406030204" pitchFamily="18" charset="0"/>
                            </a:rPr>
                          </m:ctrlPr>
                        </m:sSupPr>
                        <m:e>
                          <m:r>
                            <m:rPr>
                              <m:sty m:val="p"/>
                            </m:rPr>
                            <a:rPr lang="en-US" sz="2000">
                              <a:solidFill>
                                <a:srgbClr val="FFFFFF"/>
                              </a:solidFill>
                              <a:latin typeface="Cambria Math" panose="02040503050406030204" pitchFamily="18" charset="0"/>
                            </a:rPr>
                            <m:t xml:space="preserve">2</m:t>
                          </m:r>
                        </m:e>
                        <m:sup>
                          <m:r>
                            <a:rPr lang="en-US" sz="2000" i="1">
                              <a:solidFill>
                                <a:srgbClr val="FFFFFF"/>
                              </a:solidFill>
                              <a:latin typeface="Cambria Math" panose="02040503050406030204" pitchFamily="18" charset="0"/>
                            </a:rPr>
                            <m:t xml:space="preserve">N</m:t>
                          </m:r>
                        </m:sup>
                      </m:sSup>
                      <m:r>
                        <m:rPr>
                          <m:sty m:val="p"/>
                        </m:rPr>
                        <a:rPr lang="en-US" sz="2000">
                          <a:solidFill>
                            <a:srgbClr val="FFFFFF"/>
                          </a:solidFill>
                          <a:latin typeface="Cambria Math" panose="02040503050406030204" pitchFamily="18" charset="0"/>
                        </a:rPr>
                        <m:t xml:space="preserve">→</m:t>
                      </m:r>
                      <m:r>
                        <m:rPr>
                          <m:scr m:val="double-struck"/>
                          <m:sty m:val="p"/>
                        </m:rPr>
                        <a:rPr lang="en-US" sz="2000">
                          <a:solidFill>
                            <a:srgbClr val="FFFFFF"/>
                          </a:solidFill>
                          <a:latin typeface="Cambria Math" panose="02040503050406030204" pitchFamily="18" charset="0"/>
                        </a:rPr>
                        <m:t xml:space="preserve">R</m:t>
                      </m:r>
                      <m:r>
                        <m:rPr>
                          <m:sty m:val="p"/>
                        </m:rPr>
                        <a:rPr lang="en-US" sz="2000">
                          <a:solidFill>
                            <a:srgbClr val="FFFFFF"/>
                          </a:solidFill>
                          <a:latin typeface="Cambria Math" panose="02040503050406030204" pitchFamily="18" charset="0"/>
                        </a:rPr>
                        <m:t xml:space="preserve">,  </m:t>
                      </m:r>
                      <m:r>
                        <a:rPr lang="en-US" sz="2000" i="1">
                          <a:solidFill>
                            <a:srgbClr val="FFFFFF"/>
                          </a:solidFill>
                          <a:latin typeface="Cambria Math" panose="02040503050406030204" pitchFamily="18" charset="0"/>
                        </a:rPr>
                        <m:t xml:space="preserve">v</m:t>
                      </m:r>
                      <m:r>
                        <m:rPr>
                          <m:sty m:val="p"/>
                        </m:rPr>
                        <a:rPr lang="en-US" sz="2000">
                          <a:solidFill>
                            <a:srgbClr val="FFFFFF"/>
                          </a:solidFill>
                          <a:latin typeface="Cambria Math" panose="02040503050406030204" pitchFamily="18" charset="0"/>
                        </a:rPr>
                        <m:t xml:space="preserve">(∅)=0</m:t>
                      </m:r>
                    </m:oMath>
                  </m:oMathPara>
                </a14:m>
                <a:endParaRPr lang="en-US" sz="2000"/>
              </a:p>
            </p:txBody>
          </p:sp>
        </mc:Choice>
        <mc:Fallback>
          <p:sp>
            <p:nvSpPr>
              <p:cNvPr id="30" name="Equation"/>
              <p:cNvSpPr txBox="1"/>
              <p:nvPr/>
            </p:nvSpPr>
            <p:spPr>
              <a:xfrm>
                <a:off x="1211580" y="6490970"/>
                <a:ext cx="7863840" cy="566928"/>
              </a:xfrm>
              <a:prstGeom prst="rect">
                <a:avLst/>
              </a:prstGeom>
              <a:blipFill>
                <a:blip r:embed="rId5"/>
                <a:stretch>
                  <a:fillRect/>
                </a:stretch>
              </a:blipFill>
            </p:spPr>
            <p:txBody>
              <a:bodyPr/>
              <a:lstStyle/>
              <a:p>
                <a:endParaRPr lang="en-US"/>
              </a:p>
            </p:txBody>
          </p:sp>
        </mc:Fallback>
      </mc:AlternateContent>
      <p:sp>
        <p:nvSpPr>
          <p:cNvPr id="31" name="Rounded Rectangle 30"/>
          <p:cNvSpPr/>
          <p:nvPr/>
        </p:nvSpPr>
        <p:spPr>
          <a:xfrm>
            <a:off x="1028700" y="7524242"/>
            <a:ext cx="8229600" cy="1738630"/>
          </a:xfrm>
          <a:prstGeom prst="roundRect">
            <a:avLst>
              <a:gd name="adj" fmla="val 11570"/>
            </a:avLst>
          </a:prstGeom>
          <a:solidFill>
            <a:srgbClr val="F6ECDF"/>
          </a:solidFill>
          <a:ln w="25400">
            <a:solidFill>
              <a:srgbClr val="DF8330"/>
            </a:solidFill>
          </a:ln>
        </p:spPr>
        <p:txBody>
          <a:bodyPr anchor="ctr" rtlCol="false" lIns="0" tIns="0" rIns="0" bIns="0" wrap="square"/>
          <a:lstStyle/>
          <a:p>
            <a:endParaRPr lang="en-US" sz="1800"/>
          </a:p>
        </p:txBody>
      </p:sp>
      <p:sp>
        <p:nvSpPr>
          <p:cNvPr id="32" name="Rounded Rectangle 31"/>
          <p:cNvSpPr/>
          <p:nvPr/>
        </p:nvSpPr>
        <p:spPr>
          <a:xfrm>
            <a:off x="1348740" y="7332218"/>
            <a:ext cx="38908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3" name="TextBox 32"/>
          <p:cNvSpPr txBox="1"/>
          <p:nvPr/>
        </p:nvSpPr>
        <p:spPr>
          <a:xfrm>
            <a:off x="1394460" y="7798562"/>
            <a:ext cx="7498080" cy="1327150"/>
          </a:xfrm>
          <a:prstGeom prst="rect">
            <a:avLst/>
          </a:prstGeom>
          <a:noFill/>
        </p:spPr>
        <p:txBody>
          <a:bodyPr anchor="ctr" rtlCol="false" lIns="0" tIns="0" rIns="0" bIns="0" wrap="square"/>
          <a:lstStyle/>
          <a:p>
            <a:pPr algn="l">
              <a:lnSpc>
                <a:spcPts val="2444"/>
              </a:lnSpc>
              <a:spcBef>
                <a:spcPts val="0"/>
              </a:spcBef>
              <a:buNone/>
            </a:pPr>
            <a:r>
              <a:rPr lang="en-US" sz="1746" b="true">
                <a:solidFill>
                  <a:srgbClr val="111111"/>
                </a:solidFill>
                <a:latin typeface="Nunito Semi-Bold"/>
                <a:ea typeface="Nunito Semi-Bold"/>
                <a:cs typeface="Nunito Semi-Bold"/>
                <a:sym typeface="Nunito Semi-Bold"/>
              </a:rPr>
              <a:t>Guitar, Voice and Drums are paid for a gig. Alone they earn </a:t>
            </a:r>
            <a:r>
              <a:rPr lang="en-US" sz="1746" b="true">
                <a:solidFill>
                  <a:srgbClr val="111111"/>
                </a:solidFill>
                <a:latin typeface="Nunito Bold"/>
                <a:ea typeface="Nunito Bold"/>
                <a:cs typeface="Nunito Bold"/>
                <a:sym typeface="Nunito Bold"/>
              </a:rPr>
              <a:t>60, 40 and 20</a:t>
            </a:r>
            <a:r>
              <a:rPr lang="en-US" sz="1746" b="true">
                <a:solidFill>
                  <a:srgbClr val="111111"/>
                </a:solidFill>
                <a:latin typeface="Nunito Semi-Bold"/>
                <a:ea typeface="Nunito Semi-Bold"/>
                <a:cs typeface="Nunito Semi-Bold"/>
                <a:sym typeface="Nunito Semi-Bold"/>
              </a:rPr>
              <a:t>. Guitar + Voice together earn </a:t>
            </a:r>
            <a:r>
              <a:rPr lang="en-US" sz="1746" b="true">
                <a:solidFill>
                  <a:srgbClr val="111111"/>
                </a:solidFill>
                <a:latin typeface="Nunito Bold"/>
                <a:ea typeface="Nunito Bold"/>
                <a:cs typeface="Nunito Bold"/>
                <a:sym typeface="Nunito Bold"/>
              </a:rPr>
              <a:t>140</a:t>
            </a:r>
            <a:r>
              <a:rPr lang="en-US" sz="1746" b="true">
                <a:solidFill>
                  <a:srgbClr val="111111"/>
                </a:solidFill>
                <a:latin typeface="Nunito Semi-Bold"/>
                <a:ea typeface="Nunito Semi-Bold"/>
                <a:cs typeface="Nunito Semi-Bold"/>
                <a:sym typeface="Nunito Semi-Bold"/>
              </a:rPr>
              <a:t>, more than 60 + 40: the value of a group is </a:t>
            </a:r>
            <a:r>
              <a:rPr lang="en-US" sz="1746" b="true">
                <a:solidFill>
                  <a:srgbClr val="111111"/>
                </a:solidFill>
                <a:latin typeface="Nunito Bold"/>
                <a:ea typeface="Nunito Bold"/>
                <a:cs typeface="Nunito Bold"/>
                <a:sym typeface="Nunito Bold"/>
              </a:rPr>
              <a:t>not the sum of its parts</a:t>
            </a:r>
            <a:r>
              <a:rPr lang="en-US" sz="1746" b="true">
                <a:solidFill>
                  <a:srgbClr val="111111"/>
                </a:solidFill>
                <a:latin typeface="Nunito Semi-Bold"/>
                <a:ea typeface="Nunito Semi-Bold"/>
                <a:cs typeface="Nunito Semi-Bold"/>
                <a:sym typeface="Nunito Semi-Bold"/>
              </a:rPr>
              <a:t>. All three together earn </a:t>
            </a:r>
            <a:r>
              <a:rPr lang="en-US" sz="1746" b="true">
                <a:solidFill>
                  <a:srgbClr val="111111"/>
                </a:solidFill>
                <a:latin typeface="Nunito Bold"/>
                <a:ea typeface="Nunito Bold"/>
                <a:cs typeface="Nunito Bold"/>
                <a:sym typeface="Nunito Bold"/>
              </a:rPr>
              <a:t>200</a:t>
            </a:r>
            <a:r>
              <a:rPr lang="en-US" sz="1746" b="true">
                <a:solidFill>
                  <a:srgbClr val="111111"/>
                </a:solidFill>
                <a:latin typeface="Nunito Semi-Bold"/>
                <a:ea typeface="Nunito Semi-Bold"/>
                <a:cs typeface="Nunito Semi-Bold"/>
                <a:sym typeface="Nunito Semi-Bold"/>
              </a:rPr>
              <a:t>. How should the 200 be split?</a:t>
            </a:r>
          </a:p>
        </p:txBody>
      </p:sp>
      <p:sp>
        <p:nvSpPr>
          <p:cNvPr id="34" name="TextBox 33"/>
          <p:cNvSpPr txBox="1"/>
          <p:nvPr/>
        </p:nvSpPr>
        <p:spPr>
          <a:xfrm>
            <a:off x="9761220" y="3318002"/>
            <a:ext cx="74980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CHARACTERISTIC FUNCTION v(S) OF THE BAND</a:t>
            </a:r>
          </a:p>
        </p:txBody>
      </p:sp>
      <p:graphicFrame>
        <p:nvGraphicFramePr>
          <p:cNvPr id="35" name="Table 34"/>
          <p:cNvGraphicFramePr>
            <a:graphicFrameLocks noGrp="1"/>
          </p:cNvGraphicFramePr>
          <p:nvPr/>
        </p:nvGraphicFramePr>
        <p:xfrm>
          <a:off x="9761220" y="3683762"/>
          <a:ext cx="7498079" cy="4448048"/>
        </p:xfrm>
        <a:graphic>
          <a:graphicData uri="http://schemas.openxmlformats.org/drawingml/2006/table">
            <a:tbl>
              <a:tblPr firstRow="0" bandRow="0" firstCol="0" lastRow="0" lastCol="0" bandCol="0">
                <a:tableStyleId>{2D5ABB26-0587-4C30-8999-92F81FD0307C}</a:tableStyleId>
              </a:tblPr>
              <a:tblGrid>
                <a:gridCol w="2221653"/>
                <a:gridCol w="3610186"/>
                <a:gridCol w="1666240"/>
              </a:tblGrid>
              <a:tr h="479552">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6" name="Rounded Rectangle 35"/>
          <p:cNvSpPr/>
          <p:nvPr/>
        </p:nvSpPr>
        <p:spPr>
          <a:xfrm>
            <a:off x="9761220" y="8406130"/>
            <a:ext cx="7498080" cy="811022"/>
          </a:xfrm>
          <a:prstGeom prst="roundRect">
            <a:avLst>
              <a:gd name="adj" fmla="val 24804"/>
            </a:avLst>
          </a:prstGeom>
          <a:solidFill>
            <a:srgbClr val="F6ECDF"/>
          </a:solidFill>
          <a:ln>
            <a:noFill/>
          </a:ln>
        </p:spPr>
        <p:txBody>
          <a:bodyPr anchor="ctr" rtlCol="false" lIns="274320" tIns="91440" rIns="274320" bIns="91440" wrap="square"/>
          <a:lstStyle/>
          <a:p>
            <a:pPr algn="ctr">
              <a:lnSpc>
                <a:spcPts val="2100"/>
              </a:lnSpc>
              <a:spcBef>
                <a:spcPts val="0"/>
              </a:spcBef>
              <a:buNone/>
            </a:pPr>
            <a:r>
              <a:rPr lang="en-US" sz="1600" b="true">
                <a:solidFill>
                  <a:srgbClr val="111111"/>
                </a:solidFill>
                <a:latin typeface="Nunito Semi-Bold"/>
                <a:ea typeface="Nunito Semi-Bold"/>
                <a:cs typeface="Nunito Semi-Bold"/>
                <a:sym typeface="Nunito Semi-Bold"/>
              </a:rPr>
              <a:t>Synergy: v({G, V}) = 140 &gt; v({G}) + v({V}) = 100. A fair split has to give credit for what a player </a:t>
            </a:r>
            <a:r>
              <a:rPr lang="en-US" sz="1600" b="true">
                <a:solidFill>
                  <a:srgbClr val="111111"/>
                </a:solidFill>
                <a:latin typeface="Nunito Bold"/>
                <a:ea typeface="Nunito Bold"/>
                <a:cs typeface="Nunito Bold"/>
                <a:sym typeface="Nunito Bold"/>
              </a:rPr>
              <a:t>adds to the others</a:t>
            </a:r>
            <a:r>
              <a:rPr lang="en-US" sz="1600" b="true">
                <a:solidFill>
                  <a:srgbClr val="111111"/>
                </a:solidFill>
                <a:latin typeface="Nunito Semi-Bold"/>
                <a:ea typeface="Nunito Semi-Bold"/>
                <a:cs typeface="Nunito Semi-Bold"/>
                <a:sym typeface="Nunito Semi-Bold"/>
              </a:rPr>
              <a:t>, not only for what they earn alone.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TECHNICAL DEEP DIVE: COOPERATIVE GAMES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Shapley Value: Average Marginal Contribution</a:t>
            </a:r>
          </a:p>
        </p:txBody>
      </p:sp>
      <p:pic>
        <p:nvPicPr>
          <p:cNvPr id="23" name="Picture 22" descr="image.png"/>
          <p:cNvPicPr>
            <a:picLocks noChangeAspect="1"/>
          </p:cNvPicPr>
          <p:nvPr/>
        </p:nvPicPr>
        <p:blipFill>
          <a:blip r:embed="rId3"/>
          <a:stretch>
            <a:fillRect/>
          </a:stretch>
        </p:blipFill>
        <p:spPr>
          <a:xfrm>
            <a:off x="14307829" y="1673352"/>
            <a:ext cx="457200" cy="415247"/>
          </a:xfrm>
          <a:prstGeom prst="rect">
            <a:avLst/>
          </a:prstGeom>
        </p:spPr>
      </p:pic>
      <p:sp>
        <p:nvSpPr>
          <p:cNvPr id="24" name="Rounded Rectangle 23"/>
          <p:cNvSpPr/>
          <p:nvPr/>
        </p:nvSpPr>
        <p:spPr>
          <a:xfrm>
            <a:off x="1028700" y="2559050"/>
            <a:ext cx="162915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The game</a:t>
            </a:r>
          </a:p>
        </p:txBody>
      </p:sp>
      <p:sp>
        <p:nvSpPr>
          <p:cNvPr id="25" name="Rounded Rectangle 24"/>
          <p:cNvSpPr/>
          <p:nvPr/>
        </p:nvSpPr>
        <p:spPr>
          <a:xfrm>
            <a:off x="2785872" y="2559050"/>
            <a:ext cx="208735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Shapley value</a:t>
            </a:r>
          </a:p>
        </p:txBody>
      </p:sp>
      <p:sp>
        <p:nvSpPr>
          <p:cNvPr id="26" name="Rounded Rectangle 25"/>
          <p:cNvSpPr/>
          <p:nvPr/>
        </p:nvSpPr>
        <p:spPr>
          <a:xfrm>
            <a:off x="5001246" y="2559050"/>
            <a:ext cx="192913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In this thesis</a:t>
            </a:r>
          </a:p>
        </p:txBody>
      </p:sp>
      <p:sp>
        <p:nvSpPr>
          <p:cNvPr id="27" name="TextBox 26"/>
          <p:cNvSpPr txBox="1"/>
          <p:nvPr/>
        </p:nvSpPr>
        <p:spPr>
          <a:xfrm>
            <a:off x="1028700" y="3318002"/>
            <a:ext cx="786384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ALL 6 ARRIVAL ORDERS  ·  MARGINAL CONTRIBUTION OF EACH PLAYER</a:t>
            </a:r>
          </a:p>
        </p:txBody>
      </p:sp>
      <p:graphicFrame>
        <p:nvGraphicFramePr>
          <p:cNvPr id="28" name="Table 27"/>
          <p:cNvGraphicFramePr>
            <a:graphicFrameLocks noGrp="1"/>
          </p:cNvGraphicFramePr>
          <p:nvPr/>
        </p:nvGraphicFramePr>
        <p:xfrm>
          <a:off x="1028700" y="3683762"/>
          <a:ext cx="7863840" cy="4232656"/>
        </p:xfrm>
        <a:graphic>
          <a:graphicData uri="http://schemas.openxmlformats.org/drawingml/2006/table">
            <a:tbl>
              <a:tblPr firstRow="0" bandRow="0" firstCol="0" lastRow="0" lastCol="0" bandCol="0">
                <a:tableStyleId>{2D5ABB26-0587-4C30-8999-92F81FD0307C}</a:tableStyleId>
              </a:tblPr>
              <a:tblGrid>
                <a:gridCol w="2926080"/>
                <a:gridCol w="1645920"/>
                <a:gridCol w="1645920"/>
                <a:gridCol w="1645920"/>
              </a:tblGrid>
              <a:tr h="479552">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Arrival order</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Guitar</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Voice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Drums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00"/>
                        </a:lnSpc>
                        <a:spcBef>
                          <a:spcPts val="0"/>
                        </a:spcBef>
                        <a:buNone/>
                      </a:pPr>
                      <a:r>
                        <a:rPr lang="en-US" sz="1700" b="true">
                          <a:solidFill>
                            <a:srgbClr val="124944"/>
                          </a:solidFill>
                          <a:latin typeface="Nunito Ultra-Bold"/>
                          <a:ea typeface="Nunito Ultra-Bold"/>
                          <a:cs typeface="Nunito Ultra-Bold"/>
                          <a:sym typeface="Nunito Ultra-Bold"/>
                        </a:rPr>
                        <a:t>Average = Shapley value </a:t>
                      </a:r>
                      <a:r>
                        <a:rPr lang="en-US" sz="1700" b="true">
                          <a:solidFill>
                            <a:srgbClr val="124944"/>
                          </a:solidFill>
                          <a:latin typeface="Calibri"/>
                          <a:ea typeface="Calibri"/>
                          <a:cs typeface="Calibri"/>
                          <a:sym typeface="Calibri"/>
                        </a:rPr>
                        <a:t>φ</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00"/>
                        </a:lnSpc>
                        <a:spcBef>
                          <a:spcPts val="0"/>
                        </a:spcBef>
                        <a:buNone/>
                      </a:pPr>
                      <a:r>
                        <a:rPr lang="en-US" sz="1900" b="true">
                          <a:solidFill>
                            <a:srgbClr val="124944"/>
                          </a:solidFill>
                          <a:latin typeface="Nunito Ultra-Bold"/>
                          <a:ea typeface="Nunito Ultra-Bold"/>
                          <a:cs typeface="Nunito Ultra-Bold"/>
                          <a:sym typeface="Nunito Ultra-Bold"/>
                        </a:rPr>
                        <a:t>90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00"/>
                        </a:lnSpc>
                        <a:spcBef>
                          <a:spcPts val="0"/>
                        </a:spcBef>
                        <a:buNone/>
                      </a:pPr>
                      <a:r>
                        <a:rPr lang="en-US" sz="1900" b="true">
                          <a:solidFill>
                            <a:srgbClr val="124944"/>
                          </a:solidFill>
                          <a:latin typeface="Nunito Ultra-Bold"/>
                          <a:ea typeface="Nunito Ultra-Bold"/>
                          <a:cs typeface="Nunito Ultra-Bold"/>
                          <a:sym typeface="Nunito Ultra-Bold"/>
                        </a:rPr>
                        <a:t>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00"/>
                        </a:lnSpc>
                        <a:spcBef>
                          <a:spcPts val="0"/>
                        </a:spcBef>
                        <a:buNone/>
                      </a:pPr>
                      <a:r>
                        <a:rPr lang="en-US" sz="1900" b="true">
                          <a:solidFill>
                            <a:srgbClr val="124944"/>
                          </a:solidFill>
                          <a:latin typeface="Nunito Ultra-Bold"/>
                          <a:ea typeface="Nunito Ultra-Bold"/>
                          <a:cs typeface="Nunito Ultra-Bold"/>
                          <a:sym typeface="Nunito Ultra-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028700" y="8190738"/>
            <a:ext cx="7863840" cy="1026414"/>
          </a:xfrm>
          <a:prstGeom prst="roundRect">
            <a:avLst>
              <a:gd name="adj" fmla="val 19599"/>
            </a:avLst>
          </a:prstGeom>
          <a:solidFill>
            <a:srgbClr val="F6ECDF"/>
          </a:solidFill>
          <a:ln>
            <a:noFill/>
          </a:ln>
        </p:spPr>
        <p:txBody>
          <a:bodyPr anchor="ctr" rtlCol="false" lIns="320040" tIns="91440" rIns="320040" bIns="91440" wrap="square"/>
          <a:lstStyle/>
          <a:p>
            <a:pPr algn="l">
              <a:lnSpc>
                <a:spcPts val="2100"/>
              </a:lnSpc>
              <a:spcBef>
                <a:spcPts val="0"/>
              </a:spcBef>
              <a:buNone/>
            </a:pPr>
            <a:r>
              <a:rPr lang="en-US" sz="1600" b="true">
                <a:solidFill>
                  <a:srgbClr val="111111"/>
                </a:solidFill>
                <a:latin typeface="Nunito Semi-Bold"/>
                <a:ea typeface="Nunito Semi-Bold"/>
                <a:cs typeface="Nunito Semi-Bold"/>
                <a:sym typeface="Nunito Semi-Bold"/>
              </a:rPr>
              <a:t>Reading one row: in the order V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D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G, Voice arrives first and adds 40; Drums then raises the value from 40 to 80 (+40); Guitar completes the band, 80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200 (</a:t>
            </a:r>
            <a:r>
              <a:rPr lang="en-US" sz="1600" b="true">
                <a:solidFill>
                  <a:srgbClr val="111111"/>
                </a:solidFill>
                <a:latin typeface="Nunito Bold"/>
                <a:ea typeface="Nunito Bold"/>
                <a:cs typeface="Nunito Bold"/>
                <a:sym typeface="Nunito Bold"/>
              </a:rPr>
              <a:t>+120</a:t>
            </a:r>
            <a:r>
              <a:rPr lang="en-US" sz="1600" b="true">
                <a:solidFill>
                  <a:srgbClr val="111111"/>
                </a:solidFill>
                <a:latin typeface="Nunito Semi-Bold"/>
                <a:ea typeface="Nunito Semi-Bold"/>
                <a:cs typeface="Nunito Semi-Bold"/>
                <a:sym typeface="Nunito Semi-Bold"/>
              </a:rPr>
              <a:t>). The split </a:t>
            </a:r>
            <a:r>
              <a:rPr lang="en-US" sz="1600" b="true">
                <a:solidFill>
                  <a:srgbClr val="111111"/>
                </a:solidFill>
                <a:latin typeface="Nunito Bold"/>
                <a:ea typeface="Nunito Bold"/>
                <a:cs typeface="Nunito Bold"/>
                <a:sym typeface="Nunito Bold"/>
              </a:rPr>
              <a:t>90 + 70 + 40 = 200</a:t>
            </a:r>
            <a:r>
              <a:rPr lang="en-US" sz="1600" b="true">
                <a:solidFill>
                  <a:srgbClr val="111111"/>
                </a:solidFill>
                <a:latin typeface="Nunito Semi-Bold"/>
                <a:ea typeface="Nunito Semi-Bold"/>
                <a:cs typeface="Nunito Semi-Bold"/>
                <a:sym typeface="Nunito Semi-Bold"/>
              </a:rPr>
              <a:t>: nothing is lost, nothing is invented.</a:t>
            </a:r>
          </a:p>
        </p:txBody>
      </p:sp>
      <p:sp>
        <p:nvSpPr>
          <p:cNvPr id="30" name="Rounded Rectangle 29"/>
          <p:cNvSpPr/>
          <p:nvPr/>
        </p:nvSpPr>
        <p:spPr>
          <a:xfrm>
            <a:off x="9395460" y="3363722"/>
            <a:ext cx="7863840" cy="2514600"/>
          </a:xfrm>
          <a:prstGeom prst="roundRect">
            <a:avLst>
              <a:gd name="adj" fmla="val 10909"/>
            </a:avLst>
          </a:prstGeom>
          <a:solidFill>
            <a:srgbClr val="124944"/>
          </a:solidFill>
          <a:ln>
            <a:noFill/>
          </a:ln>
        </p:spPr>
        <p:txBody>
          <a:bodyPr anchor="ctr" rtlCol="false" lIns="0" tIns="0" rIns="0" bIns="0" wrap="square"/>
          <a:lstStyle/>
          <a:p>
            <a:endParaRPr lang="en-US" sz="1800"/>
          </a:p>
        </p:txBody>
      </p:sp>
      <p:sp>
        <p:nvSpPr>
          <p:cNvPr id="31" name="TextBox 30"/>
          <p:cNvSpPr txBox="1"/>
          <p:nvPr/>
        </p:nvSpPr>
        <p:spPr>
          <a:xfrm>
            <a:off x="9395460" y="3546602"/>
            <a:ext cx="7863840" cy="274320"/>
          </a:xfrm>
          <a:prstGeom prst="rect">
            <a:avLst/>
          </a:prstGeom>
          <a:noFill/>
        </p:spPr>
        <p:txBody>
          <a:bodyPr anchor="t" rtlCol="false" lIns="0" tIns="0" rIns="0" bIns="0" wrap="square"/>
          <a:lstStyle/>
          <a:p>
            <a:pPr algn="ctr">
              <a:lnSpc>
                <a:spcPts val="1700"/>
              </a:lnSpc>
              <a:spcBef>
                <a:spcPts val="0"/>
              </a:spcBef>
              <a:buNone/>
            </a:pPr>
            <a:r>
              <a:rPr lang="en-US" sz="1300" b="true" spc="160">
                <a:solidFill>
                  <a:srgbClr val="ECC665"/>
                </a:solidFill>
                <a:latin typeface="Nunito Ultra-Bold"/>
                <a:ea typeface="Nunito Ultra-Bold"/>
                <a:cs typeface="Nunito Ultra-Bold"/>
                <a:sym typeface="Nunito Ultra-Bold"/>
              </a:rPr>
              <a:t>SHAPLEY VALUE OF PLAYER j  (SHAPLEY, 1953)</a:t>
            </a:r>
          </a:p>
        </p:txBody>
      </p:sp>
      <mc:AlternateContent xmlns:mc="http://schemas.openxmlformats.org/markup-compatibility/2006">
        <mc:Choice xmlns:a14="http://schemas.microsoft.com/office/drawing/2010/main" Requires="a14">
          <p:sp>
            <p:nvSpPr>
              <p:cNvPr id="32" name="Equation"/>
              <p:cNvSpPr txBox="1"/>
              <p:nvPr/>
            </p:nvSpPr>
            <p:spPr>
              <a:xfrm>
                <a:off x="9578340" y="3820922"/>
                <a:ext cx="7498080" cy="15544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100" i="1">
                              <a:solidFill>
                                <a:srgbClr val="FFFFFF"/>
                              </a:solidFill>
                              <a:latin typeface="Cambria Math" panose="02040503050406030204" pitchFamily="18" charset="0"/>
                            </a:rPr>
                          </m:ctrlPr>
                        </m:sSubPr>
                        <m:e>
                          <m:r>
                            <a:rPr lang="en-US" sz="2100" i="1">
                              <a:solidFill>
                                <a:srgbClr val="FFFFFF"/>
                              </a:solidFill>
                              <a:latin typeface="Cambria Math" panose="02040503050406030204" pitchFamily="18" charset="0"/>
                            </a:rPr>
                            <m:t xml:space="preserve">φ</m:t>
                          </m:r>
                        </m:e>
                        <m:sub>
                          <m:r>
                            <a:rPr lang="en-US" sz="2100" i="1">
                              <a:solidFill>
                                <a:srgbClr val="FFFFFF"/>
                              </a:solidFill>
                              <a:latin typeface="Cambria Math" panose="02040503050406030204" pitchFamily="18" charset="0"/>
                            </a:rPr>
                            <m:t xml:space="preserve">j</m:t>
                          </m:r>
                        </m:sub>
                      </m:sSub>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nary>
                        <m:naryPr>
                          <m:chr m:val="∑"/>
                          <m:limLoc m:val="undOvr"/>
                          <m:supHide m:val="1"/>
                          <m:ctrlPr>
                            <a:rPr lang="en-US" sz="2100" i="1">
                              <a:solidFill>
                                <a:srgbClr val="FFFFFF"/>
                              </a:solidFill>
                              <a:latin typeface="Cambria Math" panose="02040503050406030204" pitchFamily="18" charset="0"/>
                            </a:rPr>
                          </m:ctrlPr>
                        </m:naryPr>
                        <m:sub>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N</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sub>
                        <m:sup/>
                        <m:e>
                          <m:f>
                            <m:fPr>
                              <m:ctrlPr>
                                <a:rPr lang="en-US" sz="2100" i="1">
                                  <a:solidFill>
                                    <a:srgbClr val="FFFFFF"/>
                                  </a:solidFill>
                                  <a:latin typeface="Cambria Math" panose="02040503050406030204" pitchFamily="18" charset="0"/>
                                </a:rPr>
                              </m:ctrlPr>
                            </m:fPr>
                            <m:num>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n</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|−1)!</m:t>
                              </m:r>
                            </m:num>
                            <m:den>
                              <m:r>
                                <a:rPr lang="en-US" sz="2100" i="1">
                                  <a:solidFill>
                                    <a:srgbClr val="FFFFFF"/>
                                  </a:solidFill>
                                  <a:latin typeface="Cambria Math" panose="02040503050406030204" pitchFamily="18" charset="0"/>
                                </a:rPr>
                                <m:t xml:space="preserve">n</m:t>
                              </m:r>
                              <m:r>
                                <m:rPr>
                                  <m:sty m:val="p"/>
                                </m:rPr>
                                <a:rPr lang="en-US" sz="2100">
                                  <a:solidFill>
                                    <a:srgbClr val="FFFFFF"/>
                                  </a:solidFill>
                                  <a:latin typeface="Cambria Math" panose="02040503050406030204" pitchFamily="18" charset="0"/>
                                </a:rPr>
                                <m:t xml:space="preserve">!</m:t>
                              </m:r>
                            </m:den>
                          </m:f>
                        </m:e>
                      </m:nary>
                      <m:r>
                        <m:rPr>
                          <m:sty m:val="p"/>
                        </m:rPr>
                        <a:rPr lang="en-US" sz="2100">
                          <a:solidFill>
                            <a:srgbClr val="FFFFFF"/>
                          </a:solidFill>
                          <a:latin typeface="Cambria Math" panose="02040503050406030204" pitchFamily="18" charset="0"/>
                        </a:rPr>
                        <m:t xml:space="preserve"> </m:t>
                      </m:r>
                      <m:d>
                        <m:dPr>
                          <m:begChr m:val="["/>
                          <m:endChr m:val="]"/>
                          <m:ctrlPr>
                            <a:rPr lang="en-US" sz="2100" i="1">
                              <a:solidFill>
                                <a:srgbClr val="FFFFFF"/>
                              </a:solidFill>
                              <a:latin typeface="Cambria Math" panose="02040503050406030204" pitchFamily="18" charset="0"/>
                            </a:rPr>
                          </m:ctrlPr>
                        </m:dPr>
                        <m:e>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e>
                      </m:d>
                    </m:oMath>
                  </m:oMathPara>
                </a14:m>
                <a:endParaRPr lang="en-US" sz="2100"/>
              </a:p>
            </p:txBody>
          </p:sp>
        </mc:Choice>
        <mc:Fallback>
          <p:sp>
            <p:nvSpPr>
              <p:cNvPr id="32" name="Equation"/>
              <p:cNvSpPr txBox="1"/>
              <p:nvPr/>
            </p:nvSpPr>
            <p:spPr>
              <a:xfrm>
                <a:off x="9578340" y="3820922"/>
                <a:ext cx="7498080" cy="1554480"/>
              </a:xfrm>
              <a:prstGeom prst="rect">
                <a:avLst/>
              </a:prstGeom>
              <a:blipFill>
                <a:blip r:embed="rId5"/>
                <a:stretch>
                  <a:fillRect/>
                </a:stretch>
              </a:blipFill>
            </p:spPr>
            <p:txBody>
              <a:bodyPr/>
              <a:lstStyle/>
              <a:p>
                <a:endParaRPr lang="en-US"/>
              </a:p>
            </p:txBody>
          </p:sp>
        </mc:Fallback>
      </mc:AlternateContent>
      <p:sp>
        <p:nvSpPr>
          <p:cNvPr id="33" name="TextBox 32"/>
          <p:cNvSpPr txBox="1"/>
          <p:nvPr/>
        </p:nvSpPr>
        <p:spPr>
          <a:xfrm>
            <a:off x="9395460" y="5421122"/>
            <a:ext cx="7863840" cy="32004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CE7E3"/>
                </a:solidFill>
                <a:latin typeface="Nunito Semi-Bold"/>
                <a:ea typeface="Nunito Semi-Bold"/>
                <a:cs typeface="Nunito Semi-Bold"/>
                <a:sym typeface="Nunito Semi-Bold"/>
              </a:rPr>
              <a:t>weight = probability that exactly the players in S arrive before j</a:t>
            </a:r>
          </a:p>
        </p:txBody>
      </p:sp>
      <p:sp>
        <p:nvSpPr>
          <p:cNvPr id="34" name="Rounded Rectangle 33"/>
          <p:cNvSpPr/>
          <p:nvPr/>
        </p:nvSpPr>
        <p:spPr>
          <a:xfrm>
            <a:off x="9395460" y="6152642"/>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Efficiency</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the shares add up to v(N)</a:t>
            </a:r>
          </a:p>
        </p:txBody>
      </p:sp>
      <p:sp>
        <p:nvSpPr>
          <p:cNvPr id="35" name="Rounded Rectangle 34"/>
          <p:cNvSpPr/>
          <p:nvPr/>
        </p:nvSpPr>
        <p:spPr>
          <a:xfrm>
            <a:off x="13441680" y="6152642"/>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Symmetry</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equal contributors, equal credit</a:t>
            </a:r>
          </a:p>
        </p:txBody>
      </p:sp>
      <p:sp>
        <p:nvSpPr>
          <p:cNvPr id="36" name="Rounded Rectangle 35"/>
          <p:cNvSpPr/>
          <p:nvPr/>
        </p:nvSpPr>
        <p:spPr>
          <a:xfrm>
            <a:off x="9395460" y="7030466"/>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Null player</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adds nothing </a:t>
            </a:r>
            <a:r>
              <a:rPr lang="en-US" sz="1300" b="true">
                <a:solidFill>
                  <a:srgbClr val="8A8378"/>
                </a:solidFill>
                <a:latin typeface="Calibri"/>
                <a:ea typeface="Calibri"/>
                <a:cs typeface="Calibri"/>
                <a:sym typeface="Calibri"/>
              </a:rPr>
              <a:t>→ </a:t>
            </a:r>
            <a:r>
              <a:rPr lang="en-US" sz="1300" b="true">
                <a:solidFill>
                  <a:srgbClr val="8A8378"/>
                </a:solidFill>
                <a:latin typeface="Nunito Semi-Bold"/>
                <a:ea typeface="Nunito Semi-Bold"/>
                <a:cs typeface="Nunito Semi-Bold"/>
                <a:sym typeface="Nunito Semi-Bold"/>
              </a:rPr>
              <a:t>gets nothing</a:t>
            </a:r>
          </a:p>
        </p:txBody>
      </p:sp>
      <p:sp>
        <p:nvSpPr>
          <p:cNvPr id="37" name="Rounded Rectangle 36"/>
          <p:cNvSpPr/>
          <p:nvPr/>
        </p:nvSpPr>
        <p:spPr>
          <a:xfrm>
            <a:off x="13441680" y="7030466"/>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Additivity</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linear across games</a:t>
            </a:r>
          </a:p>
        </p:txBody>
      </p:sp>
      <p:sp>
        <p:nvSpPr>
          <p:cNvPr id="38" name="Rounded Rectangle 37"/>
          <p:cNvSpPr/>
          <p:nvPr/>
        </p:nvSpPr>
        <p:spPr>
          <a:xfrm>
            <a:off x="9395460" y="8118602"/>
            <a:ext cx="7863840" cy="1098550"/>
          </a:xfrm>
          <a:prstGeom prst="roundRect">
            <a:avLst>
              <a:gd name="adj" fmla="val 18312"/>
            </a:avLst>
          </a:prstGeom>
          <a:solidFill>
            <a:srgbClr val="F6ECDF"/>
          </a:solidFill>
          <a:ln w="25400">
            <a:solidFill>
              <a:srgbClr val="DF8330"/>
            </a:solidFill>
          </a:ln>
        </p:spPr>
        <p:txBody>
          <a:bodyPr anchor="ctr" rtlCol="false" lIns="0" tIns="0" rIns="0" bIns="0" wrap="square"/>
          <a:lstStyle/>
          <a:p>
            <a:endParaRPr lang="en-US" sz="1800"/>
          </a:p>
        </p:txBody>
      </p:sp>
      <p:sp>
        <p:nvSpPr>
          <p:cNvPr id="39" name="Rounded Rectangle 38"/>
          <p:cNvSpPr/>
          <p:nvPr/>
        </p:nvSpPr>
        <p:spPr>
          <a:xfrm>
            <a:off x="9715500" y="7926578"/>
            <a:ext cx="2992929"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IT IS THE RIGHT RULE</a:t>
            </a:r>
          </a:p>
        </p:txBody>
      </p:sp>
      <p:sp>
        <p:nvSpPr>
          <p:cNvPr id="40" name="TextBox 39"/>
          <p:cNvSpPr txBox="1"/>
          <p:nvPr/>
        </p:nvSpPr>
        <p:spPr>
          <a:xfrm>
            <a:off x="9761220" y="8392922"/>
            <a:ext cx="7132320" cy="687070"/>
          </a:xfrm>
          <a:prstGeom prst="rect">
            <a:avLst/>
          </a:prstGeom>
          <a:noFill/>
        </p:spPr>
        <p:txBody>
          <a:bodyPr anchor="ctr" rtlCol="false" lIns="0" tIns="0" rIns="0" bIns="0" wrap="square"/>
          <a:lstStyle/>
          <a:p>
            <a:pPr algn="l">
              <a:lnSpc>
                <a:spcPts val="1702"/>
              </a:lnSpc>
              <a:spcBef>
                <a:spcPts val="0"/>
              </a:spcBef>
              <a:buNone/>
            </a:pPr>
            <a:r>
              <a:rPr lang="en-US" sz="1216" b="true">
                <a:solidFill>
                  <a:srgbClr val="111111"/>
                </a:solidFill>
                <a:latin typeface="Nunito Semi-Bold"/>
                <a:ea typeface="Nunito Semi-Bold"/>
                <a:cs typeface="Nunito Semi-Bold"/>
                <a:sym typeface="Nunito Semi-Bold"/>
              </a:rPr>
              <a:t>The Shapley value is the </a:t>
            </a:r>
            <a:r>
              <a:rPr lang="en-US" sz="1216" b="true">
                <a:solidFill>
                  <a:srgbClr val="111111"/>
                </a:solidFill>
                <a:latin typeface="Nunito Bold"/>
                <a:ea typeface="Nunito Bold"/>
                <a:cs typeface="Nunito Bold"/>
                <a:sym typeface="Nunito Bold"/>
              </a:rPr>
              <a:t>only</a:t>
            </a:r>
            <a:r>
              <a:rPr lang="en-US" sz="1216" b="true">
                <a:solidFill>
                  <a:srgbClr val="111111"/>
                </a:solidFill>
                <a:latin typeface="Nunito Semi-Bold"/>
                <a:ea typeface="Nunito Semi-Bold"/>
                <a:cs typeface="Nunito Semi-Bold"/>
                <a:sym typeface="Nunito Semi-Bold"/>
              </a:rPr>
              <a:t> allocation rule that satisfies all four axioms at once. Any other rule (equal shares 66.7 each, or proportional to solo pay 100 / 67 / 33) breaks at least one of them.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TECHNICAL DEEP DIVE: COOPERATIVE GAMES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Same Game, Three Times in This Thesis</a:t>
            </a:r>
          </a:p>
        </p:txBody>
      </p:sp>
      <p:pic>
        <p:nvPicPr>
          <p:cNvPr id="23" name="Picture 22" descr="image.png"/>
          <p:cNvPicPr>
            <a:picLocks noChangeAspect="1"/>
          </p:cNvPicPr>
          <p:nvPr/>
        </p:nvPicPr>
        <p:blipFill>
          <a:blip r:embed="rId3"/>
          <a:stretch>
            <a:fillRect/>
          </a:stretch>
        </p:blipFill>
        <p:spPr>
          <a:xfrm>
            <a:off x="12586174" y="1673352"/>
            <a:ext cx="457200" cy="452148"/>
          </a:xfrm>
          <a:prstGeom prst="rect">
            <a:avLst/>
          </a:prstGeom>
        </p:spPr>
      </p:pic>
      <p:sp>
        <p:nvSpPr>
          <p:cNvPr id="24" name="Rounded Rectangle 23"/>
          <p:cNvSpPr/>
          <p:nvPr/>
        </p:nvSpPr>
        <p:spPr>
          <a:xfrm>
            <a:off x="1028700" y="2559050"/>
            <a:ext cx="162915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The game</a:t>
            </a:r>
          </a:p>
        </p:txBody>
      </p:sp>
      <p:sp>
        <p:nvSpPr>
          <p:cNvPr id="25" name="Rounded Rectangle 24"/>
          <p:cNvSpPr/>
          <p:nvPr/>
        </p:nvSpPr>
        <p:spPr>
          <a:xfrm>
            <a:off x="2785872" y="2559050"/>
            <a:ext cx="208735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Shapley value</a:t>
            </a:r>
          </a:p>
        </p:txBody>
      </p:sp>
      <p:sp>
        <p:nvSpPr>
          <p:cNvPr id="26" name="Rounded Rectangle 25"/>
          <p:cNvSpPr/>
          <p:nvPr/>
        </p:nvSpPr>
        <p:spPr>
          <a:xfrm>
            <a:off x="5001246" y="2559050"/>
            <a:ext cx="192913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In this thesis</a:t>
            </a:r>
          </a:p>
        </p:txBody>
      </p:sp>
      <p:graphicFrame>
        <p:nvGraphicFramePr>
          <p:cNvPr id="27" name="Table 26"/>
          <p:cNvGraphicFramePr>
            <a:graphicFrameLocks noGrp="1"/>
          </p:cNvGraphicFramePr>
          <p:nvPr/>
        </p:nvGraphicFramePr>
        <p:xfrm>
          <a:off x="1028700" y="3363722"/>
          <a:ext cx="16230598" cy="4261104"/>
        </p:xfrm>
        <a:graphic>
          <a:graphicData uri="http://schemas.openxmlformats.org/drawingml/2006/table">
            <a:tbl>
              <a:tblPr firstRow="0" bandRow="0" firstCol="0" lastRow="0" lastCol="0" bandCol="0">
                <a:tableStyleId>{2D5ABB26-0587-4C30-8999-92F81FD0307C}</a:tableStyleId>
              </a:tblPr>
              <a:tblGrid>
                <a:gridCol w="2397702"/>
                <a:gridCol w="4334307"/>
                <a:gridCol w="4518746"/>
                <a:gridCol w="4979843"/>
              </a:tblGrid>
              <a:tr h="676656">
                <a:tc>
                  <a:txBody>
                    <a:bodyPr anchor="ctr" rtlCol="false" lIns="0" tIns="0" rIns="0" bIns="0" wrap="square"/>
                    <a:lstStyle/>
                    <a:p>
                      <a:pPr algn="l">
                        <a:lnSpc>
                          <a:spcPts val="2210"/>
                        </a:lnSpc>
                        <a:spcBef>
                          <a:spcPts val="0"/>
                        </a:spcBef>
                        <a:buNone/>
                      </a:pPr>
                      <a:endParaRPr lang="en-US" sz="2200"/>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 I</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 II</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 III  ·  DyHuCoG</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76656">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Players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the 11 features of a wine sample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the 11 features, at each level of the hierarchy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users, items and contexts (hyperedge members)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3712">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Value function v(S)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Silhouette of K-Means using only the features in 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same, computed per level (coarse regimes, then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coalition utility U(S) = </a:t>
                      </a:r>
                      <a:r>
                        <a:rPr lang="en-US" sz="1600" b="true">
                          <a:solidFill>
                            <a:srgbClr val="111111"/>
                          </a:solidFill>
                          <a:latin typeface="Calibri"/>
                          <a:ea typeface="Calibri"/>
                          <a:cs typeface="Calibri"/>
                          <a:sym typeface="Calibri"/>
                        </a:rPr>
                        <a:t>α</a:t>
                      </a:r>
                      <a:r>
                        <a:rPr lang="en-US" sz="1600" b="true">
                          <a:solidFill>
                            <a:srgbClr val="111111"/>
                          </a:solidFill>
                          <a:latin typeface="Nunito Semi-Bold"/>
                          <a:ea typeface="Nunito Semi-Bold"/>
                          <a:cs typeface="Nunito Semi-Bold"/>
                          <a:sym typeface="Nunito Semi-Bold"/>
                        </a:rPr>
                        <a:t>·accuracy + </a:t>
                      </a:r>
                      <a:r>
                        <a:rPr lang="en-US" sz="1600" b="true">
                          <a:solidFill>
                            <a:srgbClr val="111111"/>
                          </a:solidFill>
                          <a:latin typeface="Calibri"/>
                          <a:ea typeface="Calibri"/>
                          <a:cs typeface="Calibri"/>
                          <a:sym typeface="Calibri"/>
                        </a:rPr>
                        <a:t>β</a:t>
                      </a:r>
                      <a:r>
                        <a:rPr lang="en-US" sz="1600" b="true">
                          <a:solidFill>
                            <a:srgbClr val="111111"/>
                          </a:solidFill>
                          <a:latin typeface="Nunito Semi-Bold"/>
                          <a:ea typeface="Nunito Semi-Bold"/>
                          <a:cs typeface="Nunito Semi-Bold"/>
                          <a:sym typeface="Nunito Semi-Bold"/>
                        </a:rPr>
                        <a:t>·diversity + </a:t>
                      </a:r>
                      <a:r>
                        <a:rPr lang="en-US" sz="1600" b="true">
                          <a:solidFill>
                            <a:srgbClr val="111111"/>
                          </a:solidFill>
                          <a:latin typeface="Calibri"/>
                          <a:ea typeface="Calibri"/>
                          <a:cs typeface="Calibri"/>
                          <a:sym typeface="Calibri"/>
                        </a:rPr>
                        <a:t>γ</a:t>
                      </a:r>
                      <a:r>
                        <a:rPr lang="en-US" sz="16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43712">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What </a:t>
                      </a:r>
                      <a:r>
                        <a:rPr lang="en-US" sz="1600" b="true">
                          <a:solidFill>
                            <a:srgbClr val="111111"/>
                          </a:solidFill>
                          <a:latin typeface="Calibri"/>
                          <a:ea typeface="Calibri"/>
                          <a:cs typeface="Calibri"/>
                          <a:sym typeface="Calibri"/>
                        </a:rPr>
                        <a:t>φ</a:t>
                      </a:r>
                      <a:r>
                        <a:rPr lang="en-US" sz="1600" b="true" baseline="-25000">
                          <a:solidFill>
                            <a:srgbClr val="111111"/>
                          </a:solidFill>
                          <a:latin typeface="Nunito Bold"/>
                          <a:ea typeface="Nunito Bold"/>
                          <a:cs typeface="Nunito Bold"/>
                          <a:sym typeface="Nunito Bold"/>
                        </a:rPr>
                        <a:t>j</a:t>
                      </a:r>
                      <a:r>
                        <a:rPr lang="en-US" sz="1600" b="true">
                          <a:solidFill>
                            <a:srgbClr val="111111"/>
                          </a:solidFill>
                          <a:latin typeface="Nunito Bold"/>
                          <a:ea typeface="Nunito Bold"/>
                          <a:cs typeface="Nunito Bold"/>
                          <a:sym typeface="Nunito Bold"/>
                        </a:rPr>
                        <a:t> means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how much feature j adds to clustering quality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how importance changes between a partition and its sub-partition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how much a user, item or context adds to a good recommendation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3712">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How it is computed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exact TreeSHAP on a LightGBM 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exact TreeSHAP, one surrogate per 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Monte Carlo sampling, M = 50 permutations, refreshed every 10 batches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76656">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Where it is used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after training: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after training: explanation across levels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during training: Shapley-weighted hyperedges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219186"/>
            <a:ext cx="16230600" cy="997966"/>
          </a:xfrm>
          <a:prstGeom prst="roundRect">
            <a:avLst>
              <a:gd name="adj" fmla="val 20157"/>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8027162"/>
            <a:ext cx="4495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ONE DEFINITION, THREE VALUE FUNCTIONS</a:t>
            </a:r>
          </a:p>
        </p:txBody>
      </p:sp>
      <p:sp>
        <p:nvSpPr>
          <p:cNvPr id="30" name="TextBox 29"/>
          <p:cNvSpPr txBox="1"/>
          <p:nvPr/>
        </p:nvSpPr>
        <p:spPr>
          <a:xfrm>
            <a:off x="1394460" y="8493506"/>
            <a:ext cx="15499080" cy="586486"/>
          </a:xfrm>
          <a:prstGeom prst="rect">
            <a:avLst/>
          </a:prstGeom>
          <a:noFill/>
        </p:spPr>
        <p:txBody>
          <a:bodyPr anchor="ctr" rtlCol="false" lIns="0" tIns="0" rIns="0" bIns="0" wrap="square"/>
          <a:lstStyle/>
          <a:p>
            <a:pPr algn="l">
              <a:lnSpc>
                <a:spcPts val="2128"/>
              </a:lnSpc>
              <a:spcBef>
                <a:spcPts val="0"/>
              </a:spcBef>
              <a:buNone/>
            </a:pPr>
            <a:r>
              <a:rPr lang="en-US" sz="1520" b="true">
                <a:solidFill>
                  <a:srgbClr val="111111"/>
                </a:solidFill>
                <a:latin typeface="Nunito Semi-Bold"/>
                <a:ea typeface="Nunito Semi-Bold"/>
                <a:cs typeface="Nunito Semi-Bold"/>
                <a:sym typeface="Nunito Semi-Bold"/>
              </a:rPr>
              <a:t>The axioms never change. What changes from one contribution to the next is </a:t>
            </a:r>
            <a:r>
              <a:rPr lang="en-US" sz="1520" b="true">
                <a:solidFill>
                  <a:srgbClr val="111111"/>
                </a:solidFill>
                <a:latin typeface="Nunito Bold"/>
                <a:ea typeface="Nunito Bold"/>
                <a:cs typeface="Nunito Bold"/>
                <a:sym typeface="Nunito Bold"/>
              </a:rPr>
              <a:t>who the players are</a:t>
            </a:r>
            <a:r>
              <a:rPr lang="en-US" sz="1520" b="true">
                <a:solidFill>
                  <a:srgbClr val="111111"/>
                </a:solidFill>
                <a:latin typeface="Nunito Semi-Bold"/>
                <a:ea typeface="Nunito Semi-Bold"/>
                <a:cs typeface="Nunito Semi-Bold"/>
                <a:sym typeface="Nunito Semi-Bold"/>
              </a:rPr>
              <a:t> and </a:t>
            </a:r>
            <a:r>
              <a:rPr lang="en-US" sz="1520" b="true">
                <a:solidFill>
                  <a:srgbClr val="111111"/>
                </a:solidFill>
                <a:latin typeface="Nunito Bold"/>
                <a:ea typeface="Nunito Bold"/>
                <a:cs typeface="Nunito Bold"/>
                <a:sym typeface="Nunito Bold"/>
              </a:rPr>
              <a:t>what the coalition value measures</a:t>
            </a:r>
            <a:r>
              <a:rPr lang="en-US" sz="1520" b="true">
                <a:solidFill>
                  <a:srgbClr val="111111"/>
                </a:solidFill>
                <a:latin typeface="Nunito Semi-Bold"/>
                <a:ea typeface="Nunito Semi-Bold"/>
                <a:cs typeface="Nunito Semi-Bold"/>
                <a:sym typeface="Nunito Semi-Bold"/>
              </a:rPr>
              <a:t>. That is why the same explanation can be read the same way across all three chapters.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Clustering as a Cooperative Game</a:t>
            </a:r>
          </a:p>
        </p:txBody>
      </p:sp>
      <p:pic>
        <p:nvPicPr>
          <p:cNvPr id="23" name="Picture 22" descr="image.png"/>
          <p:cNvPicPr>
            <a:picLocks noChangeAspect="1"/>
          </p:cNvPicPr>
          <p:nvPr/>
        </p:nvPicPr>
        <p:blipFill>
          <a:blip r:embed="rId3"/>
          <a:stretch>
            <a:fillRect/>
          </a:stretch>
        </p:blipFill>
        <p:spPr>
          <a:xfrm>
            <a:off x="999086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Player set N = F:</a:t>
            </a:r>
            <a:r>
              <a:rPr lang="en-US" sz="2100" b="true">
                <a:solidFill>
                  <a:srgbClr val="111111"/>
                </a:solidFill>
                <a:latin typeface="Nunito Semi-Bold"/>
                <a:ea typeface="Nunito Semi-Bold"/>
                <a:cs typeface="Nunito Semi-Bold"/>
                <a:sym typeface="Nunito Semi-Bold"/>
              </a:rPr>
              <a:t> each feature is a player.</a:t>
            </a:r>
          </a:p>
          <a:p>
            <a:pPr algn="l" marL="274320" indent="-274320">
              <a:lnSpc>
                <a:spcPts val="3108"/>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Value function v(S) = Silhouette( KMeans(X</a:t>
            </a:r>
            <a:r>
              <a:rPr lang="en-US" sz="2100" b="true" baseline="-25000">
                <a:solidFill>
                  <a:srgbClr val="111111"/>
                </a:solidFill>
                <a:latin typeface="Nunito Bold"/>
                <a:ea typeface="Nunito Bold"/>
                <a:cs typeface="Nunito Bold"/>
                <a:sym typeface="Nunito Bold"/>
              </a:rPr>
              <a:t>S</a:t>
            </a:r>
            <a:r>
              <a:rPr lang="en-US" sz="2100" b="true">
                <a:solidFill>
                  <a:srgbClr val="111111"/>
                </a:solidFill>
                <a:latin typeface="Nunito Bold"/>
                <a:ea typeface="Nunito Bold"/>
                <a:cs typeface="Nunito Bold"/>
                <a:sym typeface="Nunito Bold"/>
              </a:rPr>
              <a:t>, 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a:t>
            </a:r>
            <a:r>
              <a:rPr lang="en-US" sz="2100" b="true">
                <a:solidFill>
                  <a:srgbClr val="111111"/>
                </a:solidFill>
                <a:latin typeface="Nunito Semi-Bold"/>
                <a:ea typeface="Nunito Semi-Bold"/>
                <a:cs typeface="Nunito Semi-Bold"/>
                <a:sym typeface="Nunito Semi-Bold"/>
              </a:rPr>
              <a:t> how well the data cluster using only the features in 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feature's Shapley value = its </a:t>
            </a:r>
            <a:r>
              <a:rPr lang="en-US" sz="2100" b="true">
                <a:solidFill>
                  <a:srgbClr val="111111"/>
                </a:solidFill>
                <a:latin typeface="Nunito Bold"/>
                <a:ea typeface="Nunito Bold"/>
                <a:cs typeface="Nunito Bold"/>
                <a:sym typeface="Nunito Bold"/>
              </a:rPr>
              <a:t>expected marginal contribution to clustering quality</a:t>
            </a:r>
            <a:r>
              <a:rPr lang="en-US" sz="2100" b="true">
                <a:solidFill>
                  <a:srgbClr val="111111"/>
                </a:solidFill>
                <a:latin typeface="Nunito Semi-Bold"/>
                <a:ea typeface="Nunito Semi-Bold"/>
                <a:cs typeface="Nunito Semi-Bold"/>
                <a:sym typeface="Nunito Semi-Bold"/>
              </a:rPr>
              <a:t> over all coalition orders.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 Silhouette:</a:t>
            </a:r>
            <a:r>
              <a:rPr lang="en-US" sz="2100" b="true">
                <a:solidFill>
                  <a:srgbClr val="111111"/>
                </a:solidFill>
                <a:latin typeface="Nunito Semi-Bold"/>
                <a:ea typeface="Nunito Semi-Bold"/>
                <a:cs typeface="Nunito Semi-Bold"/>
                <a:sym typeface="Nunito Semi-Bold"/>
              </a:rPr>
              <a:t> bounded, normalised, easy to interpret (Davies–Bouldin or Calinski–Harabasz would also be defensible).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Direct evaluation of every coalition is </a:t>
            </a:r>
            <a:r>
              <a:rPr lang="en-US" sz="2100" b="true">
                <a:solidFill>
                  <a:srgbClr val="111111"/>
                </a:solidFill>
                <a:latin typeface="Nunito Bold"/>
                <a:ea typeface="Nunito Bold"/>
                <a:cs typeface="Nunito Bold"/>
                <a:sym typeface="Nunito Bold"/>
              </a:rPr>
              <a:t>not feasible</a:t>
            </a:r>
            <a:r>
              <a:rPr lang="en-US" sz="2100" b="true">
                <a:solidFill>
                  <a:srgbClr val="111111"/>
                </a:solidFill>
                <a:latin typeface="Calibri"/>
                <a:ea typeface="Calibri"/>
                <a:cs typeface="Calibri"/>
                <a:sym typeface="Calibri"/>
              </a:rPr>
              <a:t> → </a:t>
            </a:r>
            <a:r>
              <a:rPr lang="en-US" sz="2100" b="true">
                <a:solidFill>
                  <a:srgbClr val="111111"/>
                </a:solidFill>
                <a:latin typeface="Nunito Semi-Bold"/>
                <a:ea typeface="Nunito Semi-Bold"/>
                <a:cs typeface="Nunito Semi-Bold"/>
                <a:sym typeface="Nunito Semi-Bold"/>
              </a:rPr>
              <a:t>we need a bridge.</a:t>
            </a:r>
          </a:p>
        </p:txBody>
      </p:sp>
      <p:sp>
        <p:nvSpPr>
          <p:cNvPr id="29" name="Rounded Rectangle 28"/>
          <p:cNvSpPr/>
          <p:nvPr/>
        </p:nvSpPr>
        <p:spPr>
          <a:xfrm>
            <a:off x="9258300" y="3363722"/>
            <a:ext cx="8001000" cy="2377440"/>
          </a:xfrm>
          <a:prstGeom prst="roundRect">
            <a:avLst>
              <a:gd name="adj" fmla="val 11538"/>
            </a:avLst>
          </a:prstGeom>
          <a:solidFill>
            <a:srgbClr val="124944"/>
          </a:solidFill>
          <a:ln>
            <a:noFill/>
          </a:ln>
        </p:spPr>
        <p:txBody>
          <a:bodyPr anchor="ctr" rtlCol="false" lIns="0" tIns="0" rIns="0" bIns="0" wrap="square"/>
          <a:lstStyle/>
          <a:p>
            <a:endParaRPr lang="en-US" sz="1800"/>
          </a:p>
        </p:txBody>
      </p:sp>
      <p:sp>
        <p:nvSpPr>
          <p:cNvPr id="30" name="TextBox 29"/>
          <p:cNvSpPr txBox="1"/>
          <p:nvPr/>
        </p:nvSpPr>
        <p:spPr>
          <a:xfrm>
            <a:off x="9258300" y="3528314"/>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60">
                <a:solidFill>
                  <a:srgbClr val="ECC665"/>
                </a:solidFill>
                <a:latin typeface="Nunito Ultra-Bold"/>
                <a:ea typeface="Nunito Ultra-Bold"/>
                <a:cs typeface="Nunito Ultra-Bold"/>
                <a:sym typeface="Nunito Ultra-Bold"/>
              </a:rPr>
              <a:t>SHAPLEY VALUE OF FEATURE j  ·  v(S) = SILHOUETTE</a:t>
            </a:r>
          </a:p>
        </p:txBody>
      </p:sp>
      <mc:AlternateContent xmlns:mc="http://schemas.openxmlformats.org/markup-compatibility/2006">
        <mc:Choice xmlns:a14="http://schemas.microsoft.com/office/drawing/2010/main" Requires="a14">
          <p:sp>
            <p:nvSpPr>
              <p:cNvPr id="31" name="Equation"/>
              <p:cNvSpPr txBox="1"/>
              <p:nvPr/>
            </p:nvSpPr>
            <p:spPr>
              <a:xfrm>
                <a:off x="9441180" y="3820922"/>
                <a:ext cx="7635240" cy="14173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100" i="1">
                              <a:solidFill>
                                <a:srgbClr val="FFFFFF"/>
                              </a:solidFill>
                              <a:latin typeface="Cambria Math" panose="02040503050406030204" pitchFamily="18" charset="0"/>
                            </a:rPr>
                          </m:ctrlPr>
                        </m:sSubPr>
                        <m:e>
                          <m:r>
                            <a:rPr lang="en-US" sz="2100" i="1">
                              <a:solidFill>
                                <a:srgbClr val="FFFFFF"/>
                              </a:solidFill>
                              <a:latin typeface="Cambria Math" panose="02040503050406030204" pitchFamily="18" charset="0"/>
                            </a:rPr>
                            <m:t xml:space="preserve">φ</m:t>
                          </m:r>
                        </m:e>
                        <m:sub>
                          <m:r>
                            <a:rPr lang="en-US" sz="2100" i="1">
                              <a:solidFill>
                                <a:srgbClr val="FFFFFF"/>
                              </a:solidFill>
                              <a:latin typeface="Cambria Math" panose="02040503050406030204" pitchFamily="18" charset="0"/>
                            </a:rPr>
                            <m:t xml:space="preserve">j</m:t>
                          </m:r>
                        </m:sub>
                      </m:sSub>
                      <m:r>
                        <m:rPr>
                          <m:sty m:val="p"/>
                        </m:rPr>
                        <a:rPr lang="en-US" sz="2100">
                          <a:solidFill>
                            <a:srgbClr val="FFFFFF"/>
                          </a:solidFill>
                          <a:latin typeface="Cambria Math" panose="02040503050406030204" pitchFamily="18" charset="0"/>
                        </a:rPr>
                        <m:t xml:space="preserve">=</m:t>
                      </m:r>
                      <m:nary>
                        <m:naryPr>
                          <m:chr m:val="∑"/>
                          <m:limLoc m:val="undOvr"/>
                          <m:supHide m:val="1"/>
                          <m:ctrlPr>
                            <a:rPr lang="en-US" sz="2100" i="1">
                              <a:solidFill>
                                <a:srgbClr val="FFFFFF"/>
                              </a:solidFill>
                              <a:latin typeface="Cambria Math" panose="02040503050406030204" pitchFamily="18" charset="0"/>
                            </a:rPr>
                          </m:ctrlPr>
                        </m:naryPr>
                        <m:sub>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F</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sub>
                        <m:sup/>
                        <m:e>
                          <m:f>
                            <m:fPr>
                              <m:ctrlPr>
                                <a:rPr lang="en-US" sz="2100" i="1">
                                  <a:solidFill>
                                    <a:srgbClr val="FFFFFF"/>
                                  </a:solidFill>
                                  <a:latin typeface="Cambria Math" panose="02040503050406030204" pitchFamily="18" charset="0"/>
                                </a:rPr>
                              </m:ctrlPr>
                            </m:fPr>
                            <m:num>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F</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|−1)!</m:t>
                              </m:r>
                            </m:num>
                            <m:den>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F</m:t>
                              </m:r>
                              <m:r>
                                <m:rPr>
                                  <m:sty m:val="p"/>
                                </m:rPr>
                                <a:rPr lang="en-US" sz="2100">
                                  <a:solidFill>
                                    <a:srgbClr val="FFFFFF"/>
                                  </a:solidFill>
                                  <a:latin typeface="Cambria Math" panose="02040503050406030204" pitchFamily="18" charset="0"/>
                                </a:rPr>
                                <m:t xml:space="preserve">|!</m:t>
                              </m:r>
                            </m:den>
                          </m:f>
                        </m:e>
                      </m:nary>
                      <m:r>
                        <m:rPr>
                          <m:sty m:val="p"/>
                        </m:rPr>
                        <a:rPr lang="en-US" sz="2100">
                          <a:solidFill>
                            <a:srgbClr val="FFFFFF"/>
                          </a:solidFill>
                          <a:latin typeface="Cambria Math" panose="02040503050406030204" pitchFamily="18" charset="0"/>
                        </a:rPr>
                        <m:t xml:space="preserve"> </m:t>
                      </m:r>
                      <m:d>
                        <m:dPr>
                          <m:begChr m:val="["/>
                          <m:endChr m:val="]"/>
                          <m:ctrlPr>
                            <a:rPr lang="en-US" sz="2100" i="1">
                              <a:solidFill>
                                <a:srgbClr val="FFFFFF"/>
                              </a:solidFill>
                              <a:latin typeface="Cambria Math" panose="02040503050406030204" pitchFamily="18" charset="0"/>
                            </a:rPr>
                          </m:ctrlPr>
                        </m:dPr>
                        <m:e>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e>
                      </m:d>
                    </m:oMath>
                  </m:oMathPara>
                </a14:m>
                <a:endParaRPr lang="en-US" sz="2100"/>
              </a:p>
            </p:txBody>
          </p:sp>
        </mc:Choice>
        <mc:Fallback>
          <p:sp>
            <p:nvSpPr>
              <p:cNvPr id="31" name="Equation"/>
              <p:cNvSpPr txBox="1"/>
              <p:nvPr/>
            </p:nvSpPr>
            <p:spPr>
              <a:xfrm>
                <a:off x="9441180" y="3820922"/>
                <a:ext cx="7635240" cy="141732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9258300" y="5283962"/>
            <a:ext cx="8001000" cy="32004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CE7E3"/>
                </a:solidFill>
                <a:latin typeface="Nunito Semi-Bold"/>
                <a:ea typeface="Nunito Semi-Bold"/>
                <a:cs typeface="Nunito Semi-Bold"/>
                <a:sym typeface="Nunito Semi-Bold"/>
              </a:rPr>
              <a:t>same formula as the deep dive: players are now the features</a:t>
            </a:r>
          </a:p>
        </p:txBody>
      </p:sp>
      <p:sp>
        <p:nvSpPr>
          <p:cNvPr id="33" name="TextBox 32"/>
          <p:cNvSpPr txBox="1"/>
          <p:nvPr/>
        </p:nvSpPr>
        <p:spPr>
          <a:xfrm>
            <a:off x="9258300" y="6015482"/>
            <a:ext cx="80010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FROM THE BAND TO THE CLUSTERING GAME</a:t>
            </a:r>
          </a:p>
        </p:txBody>
      </p:sp>
      <p:graphicFrame>
        <p:nvGraphicFramePr>
          <p:cNvPr id="34" name="Table 33"/>
          <p:cNvGraphicFramePr>
            <a:graphicFrameLocks noGrp="1"/>
          </p:cNvGraphicFramePr>
          <p:nvPr/>
        </p:nvGraphicFramePr>
        <p:xfrm>
          <a:off x="9258300" y="6335522"/>
          <a:ext cx="8000999" cy="2132330"/>
        </p:xfrm>
        <a:graphic>
          <a:graphicData uri="http://schemas.openxmlformats.org/drawingml/2006/table">
            <a:tbl>
              <a:tblPr firstRow="0" bandRow="0" firstCol="0" lastRow="0" lastCol="0" bandCol="0">
                <a:tableStyleId>{2D5ABB26-0587-4C30-8999-92F81FD0307C}</a:tableStyleId>
              </a:tblPr>
              <a:tblGrid>
                <a:gridCol w="1690352"/>
                <a:gridCol w="2704563"/>
                <a:gridCol w="3606084"/>
              </a:tblGrid>
              <a:tr h="426466">
                <a:tc>
                  <a:txBody>
                    <a:bodyPr anchor="ctr" rtlCol="false" lIns="0" tIns="0" rIns="0" bIns="0" wrap="square"/>
                    <a:lstStyle/>
                    <a:p>
                      <a:pPr algn="l">
                        <a:lnSpc>
                          <a:spcPts val="1950"/>
                        </a:lnSpc>
                        <a:spcBef>
                          <a:spcPts val="0"/>
                        </a:spcBef>
                        <a:buNone/>
                      </a:pPr>
                      <a:endParaRPr lang="en-US" sz="2200"/>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950"/>
                        </a:lnSpc>
                        <a:spcBef>
                          <a:spcPts val="0"/>
                        </a:spcBef>
                        <a:buNone/>
                      </a:pPr>
                      <a:r>
                        <a:rPr lang="en-US" sz="1500" b="true">
                          <a:solidFill>
                            <a:srgbClr val="FFFFFF"/>
                          </a:solidFill>
                          <a:latin typeface="Nunito Bold"/>
                          <a:ea typeface="Nunito Bold"/>
                          <a:cs typeface="Nunito Bold"/>
                          <a:sym typeface="Nunito Bold"/>
                        </a:rPr>
                        <a:t>Band example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950"/>
                        </a:lnSpc>
                        <a:spcBef>
                          <a:spcPts val="0"/>
                        </a:spcBef>
                        <a:buNone/>
                      </a:pPr>
                      <a:r>
                        <a:rPr lang="en-US" sz="1500" b="true">
                          <a:solidFill>
                            <a:srgbClr val="FFFFFF"/>
                          </a:solidFill>
                          <a:latin typeface="Nunito Bold"/>
                          <a:ea typeface="Nunito Bold"/>
                          <a:cs typeface="Nunito Bold"/>
                          <a:sym typeface="Nunito Bold"/>
                        </a:rPr>
                        <a:t>Clustering game (C1)</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Nunito Bold"/>
                          <a:ea typeface="Nunito Bold"/>
                          <a:cs typeface="Nunito Bold"/>
                          <a:sym typeface="Nunito Bold"/>
                        </a:rPr>
                        <a:t>Players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Voice, Drums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11 chemical features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Nunito Bold"/>
                          <a:ea typeface="Nunito Bold"/>
                          <a:cs typeface="Nunito Bold"/>
                          <a:sym typeface="Nunito Bold"/>
                        </a:rPr>
                        <a:t>Coalition 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who plays the gig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which features K-Means may use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Nunito Bold"/>
                          <a:ea typeface="Nunito Bold"/>
                          <a:cs typeface="Nunito Bold"/>
                          <a:sym typeface="Nunito Bold"/>
                        </a:rPr>
                        <a:t>v(S)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money earned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Silhouette of K-Means on X</a:t>
                      </a:r>
                      <a:r>
                        <a:rPr lang="en-US" sz="1500" b="true" baseline="-25000">
                          <a:solidFill>
                            <a:srgbClr val="111111"/>
                          </a:solidFill>
                          <a:latin typeface="Nunito Semi-Bold"/>
                          <a:ea typeface="Nunito Semi-Bold"/>
                          <a:cs typeface="Nunito Semi-Bold"/>
                          <a:sym typeface="Nunito Semi-Bold"/>
                        </a:rPr>
                        <a:t>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Calibri"/>
                          <a:ea typeface="Calibri"/>
                          <a:cs typeface="Calibri"/>
                          <a:sym typeface="Calibri"/>
                        </a:rPr>
                        <a:t>φ</a:t>
                      </a:r>
                      <a:r>
                        <a:rPr lang="en-US" sz="1500" b="true" baseline="-25000">
                          <a:solidFill>
                            <a:srgbClr val="111111"/>
                          </a:solidFill>
                          <a:latin typeface="Nunito Bold"/>
                          <a:ea typeface="Nunito Bold"/>
                          <a:cs typeface="Nunito Bold"/>
                          <a:sym typeface="Nunito Bold"/>
                        </a:rPr>
                        <a:t>j</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fair share of the pay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feature j's share of clustering quality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5" name="Rounded Rectangle 34"/>
          <p:cNvSpPr/>
          <p:nvPr/>
        </p:nvSpPr>
        <p:spPr>
          <a:xfrm>
            <a:off x="9258300" y="8742172"/>
            <a:ext cx="8001000" cy="474980"/>
          </a:xfrm>
          <a:prstGeom prst="roundRect">
            <a:avLst>
              <a:gd name="adj" fmla="val 48128"/>
            </a:avLst>
          </a:prstGeom>
          <a:noFill/>
          <a:ln w="31750">
            <a:solidFill>
              <a:srgbClr val="DF8330"/>
            </a:solidFill>
          </a:ln>
        </p:spPr>
        <p:txBody>
          <a:bodyPr anchor="ctr" rtlCol="false" lIns="274320" tIns="45720" rIns="274320" bIns="45720" wrap="square"/>
          <a:lstStyle/>
          <a:p>
            <a:pPr algn="ctr">
              <a:lnSpc>
                <a:spcPts val="2100"/>
              </a:lnSpc>
              <a:spcBef>
                <a:spcPts val="0"/>
              </a:spcBef>
              <a:buNone/>
            </a:pPr>
            <a:r>
              <a:rPr lang="en-US" sz="1600" b="true">
                <a:solidFill>
                  <a:srgbClr val="111111"/>
                </a:solidFill>
                <a:latin typeface="Nunito Bold"/>
                <a:ea typeface="Nunito Bold"/>
                <a:cs typeface="Nunito Bold"/>
                <a:sym typeface="Nunito Bold"/>
              </a:rPr>
              <a:t>2</a:t>
            </a:r>
            <a:r>
              <a:rPr lang="en-US" sz="1600" b="true" baseline="30000">
                <a:solidFill>
                  <a:srgbClr val="111111"/>
                </a:solidFill>
                <a:latin typeface="Nunito Bold"/>
                <a:ea typeface="Nunito Bold"/>
                <a:cs typeface="Nunito Bold"/>
                <a:sym typeface="Nunito Bold"/>
              </a:rPr>
              <a:t>|F|</a:t>
            </a:r>
            <a:r>
              <a:rPr lang="en-US" sz="1600" b="true">
                <a:solidFill>
                  <a:srgbClr val="111111"/>
                </a:solidFill>
                <a:latin typeface="Nunito Bold"/>
                <a:ea typeface="Nunito Bold"/>
                <a:cs typeface="Nunito Bold"/>
                <a:sym typeface="Nunito Bold"/>
              </a:rPr>
              <a:t> coalitions:</a:t>
            </a:r>
            <a:r>
              <a:rPr lang="en-US" sz="1600" b="true">
                <a:solidFill>
                  <a:srgbClr val="111111"/>
                </a:solidFill>
                <a:latin typeface="Nunito Semi-Bold"/>
                <a:ea typeface="Nunito Semi-Bold"/>
                <a:cs typeface="Nunito Semi-Bold"/>
                <a:sym typeface="Nunito Semi-Bold"/>
              </a:rPr>
              <a:t> for 11 wine features that is 2,048 K-Means runs per evaluation; for large data, not feasible.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12494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12494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12494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DF8330"/>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12494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F6ECDF"/>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Pipeline in Five Stages</a:t>
            </a:r>
          </a:p>
        </p:txBody>
      </p:sp>
      <p:pic>
        <p:nvPicPr>
          <p:cNvPr id="23" name="Picture 22" descr="image.png"/>
          <p:cNvPicPr>
            <a:picLocks noChangeAspect="1"/>
          </p:cNvPicPr>
          <p:nvPr/>
        </p:nvPicPr>
        <p:blipFill>
          <a:blip r:embed="rId3"/>
          <a:stretch>
            <a:fillRect/>
          </a:stretch>
        </p:blipFill>
        <p:spPr>
          <a:xfrm>
            <a:off x="6938245"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211580" y="3500882"/>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1988820" y="3363722"/>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PCA</a:t>
            </a:r>
            <a:r>
              <a:rPr lang="en-US" sz="1900" b="true">
                <a:solidFill>
                  <a:srgbClr val="111111"/>
                </a:solidFill>
                <a:latin typeface="Nunito Semi-Bold"/>
                <a:ea typeface="Nunito Semi-Bold"/>
                <a:cs typeface="Nunito Semi-Bold"/>
                <a:sym typeface="Nunito Semi-Bold"/>
              </a:rPr>
              <a:t>: Stabilise geometry + visual check; </a:t>
            </a:r>
            <a:r>
              <a:rPr lang="en-US" sz="1900" b="true">
                <a:solidFill>
                  <a:srgbClr val="111111"/>
                </a:solidFill>
                <a:latin typeface="Nunito Bold"/>
                <a:ea typeface="Nunito Bold"/>
                <a:cs typeface="Nunito Bold"/>
                <a:sym typeface="Nunito Bold"/>
              </a:rPr>
              <a:t>NOT</a:t>
            </a:r>
            <a:r>
              <a:rPr lang="en-US" sz="1900" b="true">
                <a:solidFill>
                  <a:srgbClr val="111111"/>
                </a:solidFill>
                <a:latin typeface="Nunito Semi-Bold"/>
                <a:ea typeface="Nunito Semi-Bold"/>
                <a:cs typeface="Nunito Semi-Bold"/>
                <a:sym typeface="Nunito Semi-Bold"/>
              </a:rPr>
              <a:t> the explanatory space.</a:t>
            </a:r>
          </a:p>
        </p:txBody>
      </p:sp>
      <p:sp>
        <p:nvSpPr>
          <p:cNvPr id="31" name="Rounded Rectangle 30"/>
          <p:cNvSpPr/>
          <p:nvPr/>
        </p:nvSpPr>
        <p:spPr>
          <a:xfrm>
            <a:off x="1028700" y="4332986"/>
            <a:ext cx="8961120" cy="841248"/>
          </a:xfrm>
          <a:prstGeom prst="roundRect">
            <a:avLst>
              <a:gd name="adj" fmla="val 21739"/>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211580" y="4470146"/>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1988820" y="4332986"/>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K-Means++</a:t>
            </a:r>
            <a:r>
              <a:rPr lang="en-US" sz="1900" b="true">
                <a:solidFill>
                  <a:srgbClr val="111111"/>
                </a:solidFill>
                <a:latin typeface="Nunito Semi-Bold"/>
                <a:ea typeface="Nunito Semi-Bold"/>
                <a:cs typeface="Nunito Semi-Bold"/>
                <a:sym typeface="Nunito Semi-Bold"/>
              </a:rPr>
              <a:t>: Multi-criteria k selection: elbow, Silhouette, Davies–Bouldin.</a:t>
            </a:r>
          </a:p>
        </p:txBody>
      </p:sp>
      <p:sp>
        <p:nvSpPr>
          <p:cNvPr id="34" name="Rounded Rectangle 33"/>
          <p:cNvSpPr/>
          <p:nvPr/>
        </p:nvSpPr>
        <p:spPr>
          <a:xfrm>
            <a:off x="1028700" y="5302250"/>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211580" y="543941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1988820" y="5302250"/>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LightGBM surrogate</a:t>
            </a:r>
            <a:r>
              <a:rPr lang="en-US" sz="1900" b="true">
                <a:solidFill>
                  <a:srgbClr val="111111"/>
                </a:solidFill>
                <a:latin typeface="Nunito Semi-Bold"/>
                <a:ea typeface="Nunito Semi-Bold"/>
                <a:cs typeface="Nunito Semi-Bold"/>
                <a:sym typeface="Nunito Semi-Bold"/>
              </a:rPr>
              <a:t>: Trained on original features to predict cluster labels.</a:t>
            </a:r>
          </a:p>
        </p:txBody>
      </p:sp>
      <p:sp>
        <p:nvSpPr>
          <p:cNvPr id="37" name="Rounded Rectangle 36"/>
          <p:cNvSpPr/>
          <p:nvPr/>
        </p:nvSpPr>
        <p:spPr>
          <a:xfrm>
            <a:off x="1028700" y="6271514"/>
            <a:ext cx="8961120" cy="841248"/>
          </a:xfrm>
          <a:prstGeom prst="roundRect">
            <a:avLst>
              <a:gd name="adj" fmla="val 21739"/>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211580" y="640867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1988820" y="6271514"/>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TreeSHAP</a:t>
            </a:r>
            <a:r>
              <a:rPr lang="en-US" sz="1900" b="true">
                <a:solidFill>
                  <a:srgbClr val="111111"/>
                </a:solidFill>
                <a:latin typeface="Nunito Semi-Bold"/>
                <a:ea typeface="Nunito Semi-Bold"/>
                <a:cs typeface="Nunito Semi-Bold"/>
                <a:sym typeface="Nunito Semi-Bold"/>
              </a:rPr>
              <a:t>: Attribution in the original feature space.</a:t>
            </a:r>
          </a:p>
        </p:txBody>
      </p:sp>
      <p:sp>
        <p:nvSpPr>
          <p:cNvPr id="40" name="Rounded Rectangle 39"/>
          <p:cNvSpPr/>
          <p:nvPr/>
        </p:nvSpPr>
        <p:spPr>
          <a:xfrm>
            <a:off x="1028700" y="7240778"/>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41" name="Oval 40"/>
          <p:cNvSpPr/>
          <p:nvPr/>
        </p:nvSpPr>
        <p:spPr>
          <a:xfrm>
            <a:off x="1211580" y="7377938"/>
            <a:ext cx="566928" cy="566928"/>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5</a:t>
            </a:r>
          </a:p>
        </p:txBody>
      </p:sp>
      <p:sp>
        <p:nvSpPr>
          <p:cNvPr id="42" name="TextBox 41"/>
          <p:cNvSpPr txBox="1"/>
          <p:nvPr/>
        </p:nvSpPr>
        <p:spPr>
          <a:xfrm>
            <a:off x="1988820" y="7240778"/>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Aggregate</a:t>
            </a:r>
            <a:r>
              <a:rPr lang="en-US" sz="1900" b="true">
                <a:solidFill>
                  <a:srgbClr val="111111"/>
                </a:solidFill>
                <a:latin typeface="Nunito Semi-Bold"/>
                <a:ea typeface="Nunito Semi-Bold"/>
                <a:cs typeface="Nunito Semi-Bold"/>
                <a:sym typeface="Nunito Semi-Bold"/>
              </a:rPr>
              <a:t>: Global importance, cluster-specific profiles, local force plots.</a:t>
            </a:r>
          </a:p>
        </p:txBody>
      </p:sp>
      <p:sp>
        <p:nvSpPr>
          <p:cNvPr id="43" name="Rounded Rectangle 42"/>
          <p:cNvSpPr/>
          <p:nvPr/>
        </p:nvSpPr>
        <p:spPr>
          <a:xfrm>
            <a:off x="1028700" y="8301482"/>
            <a:ext cx="8961120" cy="1052830"/>
          </a:xfrm>
          <a:prstGeom prst="roundRect">
            <a:avLst>
              <a:gd name="adj" fmla="val 19107"/>
            </a:avLst>
          </a:prstGeom>
          <a:solidFill>
            <a:srgbClr val="124944"/>
          </a:solidFill>
          <a:ln>
            <a:noFill/>
          </a:ln>
        </p:spPr>
        <p:txBody>
          <a:bodyPr anchor="ctr" rtlCol="false" lIns="365760" tIns="91440" rIns="365760" bIns="9144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Complexity:</a:t>
            </a:r>
            <a:r>
              <a:rPr lang="en-US" sz="1700" b="true">
                <a:solidFill>
                  <a:srgbClr val="FFFFFF"/>
                </a:solidFill>
                <a:latin typeface="Nunito Semi-Bold"/>
                <a:ea typeface="Nunito Semi-Bold"/>
                <a:cs typeface="Nunito Semi-Bold"/>
                <a:sym typeface="Nunito Semi-Bold"/>
              </a:rPr>
              <a:t> dominated by PCA and repeated K-Means; TreeSHAP scales with tree count and depth, </a:t>
            </a:r>
            <a:r>
              <a:rPr lang="en-US" sz="1700" b="true">
                <a:solidFill>
                  <a:srgbClr val="FFFFFF"/>
                </a:solidFill>
                <a:latin typeface="Nunito Bold"/>
                <a:ea typeface="Nunito Bold"/>
                <a:cs typeface="Nunito Bold"/>
                <a:sym typeface="Nunito Bold"/>
              </a:rPr>
              <a:t>not exponentially in the number of features</a:t>
            </a:r>
            <a:r>
              <a:rPr lang="en-US" sz="1700" b="true">
                <a:solidFill>
                  <a:srgbClr val="FFFFFF"/>
                </a:solidFill>
                <a:latin typeface="Nunito Semi-Bold"/>
                <a:ea typeface="Nunito Semi-Bold"/>
                <a:cs typeface="Nunito Semi-Bold"/>
                <a:sym typeface="Nunito Semi-Bold"/>
              </a:rPr>
              <a:t>.</a:t>
            </a:r>
          </a:p>
        </p:txBody>
      </p:sp>
      <p:sp>
        <p:nvSpPr>
          <p:cNvPr id="44" name="Rounded Rectangle 43"/>
          <p:cNvSpPr/>
          <p:nvPr/>
        </p:nvSpPr>
        <p:spPr>
          <a:xfrm>
            <a:off x="10447020" y="3363722"/>
            <a:ext cx="6812280" cy="5944870"/>
          </a:xfrm>
          <a:prstGeom prst="roundRect">
            <a:avLst>
              <a:gd name="adj" fmla="val 3845"/>
            </a:avLst>
          </a:prstGeom>
          <a:solidFill>
            <a:srgbClr val="FFFFFF"/>
          </a:solidFill>
          <a:ln w="15875">
            <a:solidFill>
              <a:srgbClr val="E3D6C4"/>
            </a:solidFill>
          </a:ln>
        </p:spPr>
        <p:txBody>
          <a:bodyPr anchor="ctr" rtlCol="false" lIns="0" tIns="0" rIns="0" bIns="0" wrap="square"/>
          <a:lstStyle/>
          <a:p>
            <a:endParaRPr lang="en-US" sz="1800"/>
          </a:p>
        </p:txBody>
      </p:sp>
      <p:pic>
        <p:nvPicPr>
          <p:cNvPr id="45" name="Picture 44" descr="c1_pipeline.png"/>
          <p:cNvPicPr>
            <a:picLocks noChangeAspect="1"/>
          </p:cNvPicPr>
          <p:nvPr/>
        </p:nvPicPr>
        <p:blipFill>
          <a:blip r:embed="rId5"/>
          <a:stretch>
            <a:fillRect/>
          </a:stretch>
        </p:blipFill>
        <p:spPr>
          <a:xfrm>
            <a:off x="11292205" y="3546602"/>
            <a:ext cx="5121910" cy="5121910"/>
          </a:xfrm>
          <a:prstGeom prst="rect">
            <a:avLst/>
          </a:prstGeom>
        </p:spPr>
      </p:pic>
      <p:sp>
        <p:nvSpPr>
          <p:cNvPr id="46" name="TextBox 45"/>
          <p:cNvSpPr txBox="1"/>
          <p:nvPr/>
        </p:nvSpPr>
        <p:spPr>
          <a:xfrm>
            <a:off x="10447020" y="8759952"/>
            <a:ext cx="6812280" cy="4572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8A8378"/>
                </a:solidFill>
                <a:latin typeface="Nunito Semi-Bold"/>
                <a:ea typeface="Nunito Semi-Bold"/>
                <a:cs typeface="Nunito Semi-Bold"/>
                <a:sym typeface="Nunito Semi-Bold"/>
              </a:rPr>
              <a:t>Flowchart of the explainable clustering pipeline (Chapter 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3" name="Picture 22" descr="image.png"/>
          <p:cNvPicPr>
            <a:picLocks noChangeAspect="1"/>
          </p:cNvPicPr>
          <p:nvPr/>
        </p:nvPicPr>
        <p:blipFill>
          <a:blip r:embed="rId3"/>
          <a:stretch>
            <a:fillRect/>
          </a:stretch>
        </p:blipFill>
        <p:spPr>
          <a:xfrm>
            <a:off x="1054954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9" name="Rounded Rectangle 28"/>
          <p:cNvSpPr/>
          <p:nvPr/>
        </p:nvSpPr>
        <p:spPr>
          <a:xfrm>
            <a:off x="8069580" y="3363722"/>
            <a:ext cx="918972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1_wine_global.png"/>
          <p:cNvPicPr>
            <a:picLocks noChangeAspect="1"/>
          </p:cNvPicPr>
          <p:nvPr/>
        </p:nvPicPr>
        <p:blipFill>
          <a:blip r:embed="rId5"/>
          <a:stretch>
            <a:fillRect/>
          </a:stretch>
        </p:blipFill>
        <p:spPr>
          <a:xfrm>
            <a:off x="8531303" y="3546602"/>
            <a:ext cx="8266272" cy="5076190"/>
          </a:xfrm>
          <a:prstGeom prst="rect">
            <a:avLst/>
          </a:prstGeom>
        </p:spPr>
      </p:pic>
      <p:sp>
        <p:nvSpPr>
          <p:cNvPr id="31" name="TextBox 30"/>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Cluster-Specific Explanatory Signatures</a:t>
            </a:r>
          </a:p>
        </p:txBody>
      </p:sp>
      <p:pic>
        <p:nvPicPr>
          <p:cNvPr id="23" name="Picture 22" descr="image.png"/>
          <p:cNvPicPr>
            <a:picLocks noChangeAspect="1"/>
          </p:cNvPicPr>
          <p:nvPr/>
        </p:nvPicPr>
        <p:blipFill>
          <a:blip r:embed="rId3"/>
          <a:stretch>
            <a:fillRect/>
          </a:stretch>
        </p:blipFill>
        <p:spPr>
          <a:xfrm>
            <a:off x="1163249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2240280"/>
          </a:xfrm>
          <a:prstGeom prst="roundRect">
            <a:avLst>
              <a:gd name="adj" fmla="val 1020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5_2_wine_clusters.png"/>
          <p:cNvPicPr>
            <a:picLocks noChangeAspect="1"/>
          </p:cNvPicPr>
          <p:nvPr/>
        </p:nvPicPr>
        <p:blipFill>
          <a:blip r:embed="rId5"/>
          <a:stretch>
            <a:fillRect/>
          </a:stretch>
        </p:blipFill>
        <p:spPr>
          <a:xfrm>
            <a:off x="2662732" y="3473450"/>
            <a:ext cx="12962534" cy="1609344"/>
          </a:xfrm>
          <a:prstGeom prst="rect">
            <a:avLst/>
          </a:prstGeom>
        </p:spPr>
      </p:pic>
      <p:sp>
        <p:nvSpPr>
          <p:cNvPr id="30" name="TextBox 29"/>
          <p:cNvSpPr txBox="1"/>
          <p:nvPr/>
        </p:nvSpPr>
        <p:spPr>
          <a:xfrm>
            <a:off x="1028700" y="514680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SHAP profiles of the three wine clusters, same feature space, different weights</a:t>
            </a:r>
          </a:p>
        </p:txBody>
      </p:sp>
      <p:sp>
        <p:nvSpPr>
          <p:cNvPr id="31" name="Rounded Rectangle 30"/>
          <p:cNvSpPr/>
          <p:nvPr/>
        </p:nvSpPr>
        <p:spPr>
          <a:xfrm>
            <a:off x="1028700" y="5878322"/>
            <a:ext cx="5196840" cy="1234440"/>
          </a:xfrm>
          <a:prstGeom prst="roundRect">
            <a:avLst>
              <a:gd name="adj" fmla="val 20740"/>
            </a:avLst>
          </a:prstGeom>
          <a:solidFill>
            <a:srgbClr val="124944"/>
          </a:solidFill>
          <a:ln>
            <a:noFill/>
          </a:ln>
        </p:spPr>
        <p:txBody>
          <a:bodyPr anchor="ctr" rtlCol="false" lIns="0" tIns="0" rIns="0" bIns="0" wrap="square"/>
          <a:lstStyle/>
          <a:p>
            <a:endParaRPr lang="en-US" sz="1800"/>
          </a:p>
        </p:txBody>
      </p:sp>
      <p:sp>
        <p:nvSpPr>
          <p:cNvPr id="32" name="TextBox 31"/>
          <p:cNvSpPr txBox="1"/>
          <p:nvPr/>
        </p:nvSpPr>
        <p:spPr>
          <a:xfrm>
            <a:off x="1394460" y="6079490"/>
            <a:ext cx="4465320" cy="914400"/>
          </a:xfrm>
          <a:prstGeom prst="rect">
            <a:avLst/>
          </a:prstGeom>
          <a:noFill/>
        </p:spPr>
        <p:txBody>
          <a:bodyPr anchor="t" rtlCol="false" lIns="0" tIns="0" rIns="0" bIns="0" wrap="square"/>
          <a:lstStyle/>
          <a:p>
            <a:pPr algn="l">
              <a:lnSpc>
                <a:spcPts val="1598"/>
              </a:lnSpc>
              <a:spcBef>
                <a:spcPts val="0"/>
              </a:spcBef>
              <a:buNone/>
            </a:pPr>
            <a:r>
              <a:rPr lang="en-US" sz="1222" b="true" spc="160">
                <a:solidFill>
                  <a:srgbClr val="ECC665"/>
                </a:solidFill>
                <a:latin typeface="Nunito Ultra-Bold"/>
                <a:ea typeface="Nunito Ultra-Bold"/>
                <a:cs typeface="Nunito Ultra-Bold"/>
                <a:sym typeface="Nunito Ultra-Bold"/>
              </a:rPr>
              <a:t>CLUSTER 0</a:t>
            </a:r>
          </a:p>
          <a:p>
            <a:pPr algn="l">
              <a:lnSpc>
                <a:spcPts val="2256"/>
              </a:lnSpc>
              <a:spcBef>
                <a:spcPts val="564"/>
              </a:spcBef>
              <a:buNone/>
            </a:pPr>
            <a:r>
              <a:rPr lang="en-US" sz="1786" b="true">
                <a:solidFill>
                  <a:srgbClr val="FFFFFF"/>
                </a:solidFill>
                <a:latin typeface="Nunito Ultra-Bold"/>
                <a:ea typeface="Nunito Ultra-Bold"/>
                <a:cs typeface="Nunito Ultra-Bold"/>
                <a:sym typeface="Nunito Ultra-Bold"/>
              </a:rPr>
              <a:t>density + sulfur-dioxide-related variables</a:t>
            </a:r>
          </a:p>
        </p:txBody>
      </p:sp>
      <p:sp>
        <p:nvSpPr>
          <p:cNvPr id="33" name="Rounded Rectangle 32"/>
          <p:cNvSpPr/>
          <p:nvPr/>
        </p:nvSpPr>
        <p:spPr>
          <a:xfrm>
            <a:off x="6545580" y="5878322"/>
            <a:ext cx="5196840" cy="1234440"/>
          </a:xfrm>
          <a:prstGeom prst="roundRect">
            <a:avLst>
              <a:gd name="adj" fmla="val 20740"/>
            </a:avLst>
          </a:prstGeom>
          <a:solidFill>
            <a:srgbClr val="1E5F58"/>
          </a:solidFill>
          <a:ln>
            <a:noFill/>
          </a:ln>
        </p:spPr>
        <p:txBody>
          <a:bodyPr anchor="ctr" rtlCol="false" lIns="0" tIns="0" rIns="0" bIns="0" wrap="square"/>
          <a:lstStyle/>
          <a:p>
            <a:endParaRPr lang="en-US" sz="1800"/>
          </a:p>
        </p:txBody>
      </p:sp>
      <p:sp>
        <p:nvSpPr>
          <p:cNvPr id="34" name="TextBox 33"/>
          <p:cNvSpPr txBox="1"/>
          <p:nvPr/>
        </p:nvSpPr>
        <p:spPr>
          <a:xfrm>
            <a:off x="6911340" y="6079490"/>
            <a:ext cx="4465320" cy="914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ECC665"/>
                </a:solidFill>
                <a:latin typeface="Nunito Ultra-Bold"/>
                <a:ea typeface="Nunito Ultra-Bold"/>
                <a:cs typeface="Nunito Ultra-Bold"/>
                <a:sym typeface="Nunito Ultra-Bold"/>
              </a:rPr>
              <a:t>CLUSTER 1</a:t>
            </a:r>
          </a:p>
          <a:p>
            <a:pPr algn="l">
              <a:lnSpc>
                <a:spcPts val="2400"/>
              </a:lnSpc>
              <a:spcBef>
                <a:spcPts val="600"/>
              </a:spcBef>
              <a:buNone/>
            </a:pPr>
            <a:r>
              <a:rPr lang="en-US" sz="1900" b="true">
                <a:solidFill>
                  <a:srgbClr val="FFFFFF"/>
                </a:solidFill>
                <a:latin typeface="Nunito Ultra-Bold"/>
                <a:ea typeface="Nunito Ultra-Bold"/>
                <a:cs typeface="Nunito Ultra-Bold"/>
                <a:sym typeface="Nunito Ultra-Bold"/>
              </a:rPr>
              <a:t>acidity and pH-related effects</a:t>
            </a:r>
          </a:p>
        </p:txBody>
      </p:sp>
      <p:sp>
        <p:nvSpPr>
          <p:cNvPr id="35" name="Rounded Rectangle 34"/>
          <p:cNvSpPr/>
          <p:nvPr/>
        </p:nvSpPr>
        <p:spPr>
          <a:xfrm>
            <a:off x="12062460" y="5878322"/>
            <a:ext cx="5196840" cy="1234440"/>
          </a:xfrm>
          <a:prstGeom prst="roundRect">
            <a:avLst>
              <a:gd name="adj" fmla="val 20740"/>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2428220" y="6079490"/>
            <a:ext cx="4465320" cy="914400"/>
          </a:xfrm>
          <a:prstGeom prst="rect">
            <a:avLst/>
          </a:prstGeom>
          <a:noFill/>
        </p:spPr>
        <p:txBody>
          <a:bodyPr anchor="t" rtlCol="false" lIns="0" tIns="0" rIns="0" bIns="0" wrap="square"/>
          <a:lstStyle/>
          <a:p>
            <a:pPr algn="l">
              <a:lnSpc>
                <a:spcPts val="1598"/>
              </a:lnSpc>
              <a:spcBef>
                <a:spcPts val="0"/>
              </a:spcBef>
              <a:buNone/>
            </a:pPr>
            <a:r>
              <a:rPr lang="en-US" sz="1222" b="true" spc="160">
                <a:solidFill>
                  <a:srgbClr val="FFFFFF"/>
                </a:solidFill>
                <a:latin typeface="Nunito Ultra-Bold"/>
                <a:ea typeface="Nunito Ultra-Bold"/>
                <a:cs typeface="Nunito Ultra-Bold"/>
                <a:sym typeface="Nunito Ultra-Bold"/>
              </a:rPr>
              <a:t>CLUSTER 2</a:t>
            </a:r>
          </a:p>
          <a:p>
            <a:pPr algn="l">
              <a:lnSpc>
                <a:spcPts val="2256"/>
              </a:lnSpc>
              <a:spcBef>
                <a:spcPts val="564"/>
              </a:spcBef>
              <a:buNone/>
            </a:pPr>
            <a:r>
              <a:rPr lang="en-US" sz="1786" b="true">
                <a:solidFill>
                  <a:srgbClr val="FFFFFF"/>
                </a:solidFill>
                <a:latin typeface="Nunito Ultra-Bold"/>
                <a:ea typeface="Nunito Ultra-Bold"/>
                <a:cs typeface="Nunito Ultra-Bold"/>
                <a:sym typeface="Nunito Ultra-Bold"/>
              </a:rPr>
              <a:t>a different balance of acidity, alcohol and related chemical attributes</a:t>
            </a:r>
          </a:p>
        </p:txBody>
      </p:sp>
      <p:sp>
        <p:nvSpPr>
          <p:cNvPr id="37" name="Rounded Rectangle 36"/>
          <p:cNvSpPr/>
          <p:nvPr/>
        </p:nvSpPr>
        <p:spPr>
          <a:xfrm>
            <a:off x="1028700" y="7798562"/>
            <a:ext cx="16230600" cy="1555750"/>
          </a:xfrm>
          <a:prstGeom prst="roundRect">
            <a:avLst>
              <a:gd name="adj" fmla="val 19983"/>
            </a:avLst>
          </a:prstGeom>
          <a:solidFill>
            <a:srgbClr val="F6ECDF"/>
          </a:solidFill>
          <a:ln>
            <a:noFill/>
          </a:ln>
        </p:spPr>
        <p:txBody>
          <a:bodyPr anchor="ctr" rtlCol="false" lIns="0" tIns="0" rIns="0" bIns="0" wrap="square"/>
          <a:lstStyle/>
          <a:p>
            <a:endParaRPr lang="en-US" sz="1800"/>
          </a:p>
        </p:txBody>
      </p:sp>
      <p:sp>
        <p:nvSpPr>
          <p:cNvPr id="38" name="Rounded Rectangle 37"/>
          <p:cNvSpPr/>
          <p:nvPr/>
        </p:nvSpPr>
        <p:spPr>
          <a:xfrm>
            <a:off x="1485900" y="7560818"/>
            <a:ext cx="420355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the signatures show</a:t>
            </a:r>
          </a:p>
        </p:txBody>
      </p:sp>
      <p:sp>
        <p:nvSpPr>
          <p:cNvPr id="39" name="TextBox 38"/>
          <p:cNvSpPr txBox="1"/>
          <p:nvPr/>
        </p:nvSpPr>
        <p:spPr>
          <a:xfrm>
            <a:off x="1531620" y="8347202"/>
            <a:ext cx="15270480" cy="824230"/>
          </a:xfrm>
          <a:prstGeom prst="rect">
            <a:avLst/>
          </a:prstGeom>
          <a:noFill/>
        </p:spPr>
        <p:txBody>
          <a:bodyPr anchor="t" rtlCol="false" lIns="0" tIns="0" rIns="0" bIns="0" wrap="square"/>
          <a:lstStyle/>
          <a:p>
            <a:pPr algn="l" marL="274320" indent="-274320">
              <a:lnSpc>
                <a:spcPts val="1991"/>
              </a:lnSpc>
              <a:spcBef>
                <a:spcPts val="0"/>
              </a:spcBef>
              <a:buClr>
                <a:srgbClr val="DF8330"/>
              </a:buClr>
              <a:buSzPct val="100000"/>
              <a:buFont typeface="Arial"/>
              <a:buChar char="•"/>
            </a:pPr>
            <a:r>
              <a:rPr lang="en-US" sz="1422" b="true">
                <a:solidFill>
                  <a:srgbClr val="111111"/>
                </a:solidFill>
                <a:latin typeface="Nunito Semi-Bold"/>
                <a:ea typeface="Nunito Semi-Bold"/>
                <a:cs typeface="Nunito Semi-Bold"/>
                <a:sym typeface="Nunito Semi-Bold"/>
              </a:rPr>
              <a:t>The three clusters show </a:t>
            </a:r>
            <a:r>
              <a:rPr lang="en-US" sz="1422" b="true">
                <a:solidFill>
                  <a:srgbClr val="111111"/>
                </a:solidFill>
                <a:latin typeface="Nunito Bold"/>
                <a:ea typeface="Nunito Bold"/>
                <a:cs typeface="Nunito Bold"/>
                <a:sym typeface="Nunito Bold"/>
              </a:rPr>
              <a:t>distinct explanatory signatures</a:t>
            </a:r>
            <a:r>
              <a:rPr lang="en-US" sz="1422" b="true">
                <a:solidFill>
                  <a:srgbClr val="111111"/>
                </a:solidFill>
                <a:latin typeface="Nunito Semi-Bold"/>
                <a:ea typeface="Nunito Semi-Bold"/>
                <a:cs typeface="Nunito Semi-Bold"/>
                <a:sym typeface="Nunito Semi-Bold"/>
              </a:rPr>
              <a:t>: the explanation is consistent, not a single summary number.</a:t>
            </a:r>
          </a:p>
          <a:p>
            <a:pPr algn="l" marL="274320" indent="-274320">
              <a:lnSpc>
                <a:spcPts val="1991"/>
              </a:lnSpc>
              <a:spcBef>
                <a:spcPts val="316"/>
              </a:spcBef>
              <a:buClr>
                <a:srgbClr val="DF8330"/>
              </a:buClr>
              <a:buSzPct val="100000"/>
              <a:buFont typeface="Arial"/>
              <a:buChar char="•"/>
            </a:pPr>
            <a:r>
              <a:rPr lang="en-US" sz="1422" b="true">
                <a:solidFill>
                  <a:srgbClr val="111111"/>
                </a:solidFill>
                <a:latin typeface="Nunito Semi-Bold"/>
                <a:ea typeface="Nunito Semi-Bold"/>
                <a:cs typeface="Nunito Semi-Bold"/>
                <a:sym typeface="Nunito Semi-Bold"/>
              </a:rPr>
              <a:t>The </a:t>
            </a:r>
            <a:r>
              <a:rPr lang="en-US" sz="1422" b="true">
                <a:solidFill>
                  <a:srgbClr val="111111"/>
                </a:solidFill>
                <a:latin typeface="Nunito Bold"/>
                <a:ea typeface="Nunito Bold"/>
                <a:cs typeface="Nunito Bold"/>
                <a:sym typeface="Nunito Bold"/>
              </a:rPr>
              <a:t>same small set of variables recurs</a:t>
            </a:r>
            <a:r>
              <a:rPr lang="en-US" sz="1422" b="true">
                <a:solidFill>
                  <a:srgbClr val="111111"/>
                </a:solidFill>
                <a:latin typeface="Nunito Semi-Bold"/>
                <a:ea typeface="Nunito Semi-Bold"/>
                <a:cs typeface="Nunito Semi-Bold"/>
                <a:sym typeface="Nunito Semi-Bold"/>
              </a:rPr>
              <a:t> across clusters, with </a:t>
            </a:r>
            <a:r>
              <a:rPr lang="en-US" sz="1422" b="true">
                <a:solidFill>
                  <a:srgbClr val="111111"/>
                </a:solidFill>
                <a:latin typeface="Nunito Bold"/>
                <a:ea typeface="Nunito Bold"/>
                <a:cs typeface="Nunito Bold"/>
                <a:sym typeface="Nunito Bold"/>
              </a:rPr>
              <a:t>different relative weights</a:t>
            </a:r>
            <a:r>
              <a:rPr lang="en-US" sz="1422" b="true">
                <a:solidFill>
                  <a:srgbClr val="111111"/>
                </a:solidFill>
                <a:latin typeface="Nunito Semi-Bold"/>
                <a:ea typeface="Nunito Semi-Bold"/>
                <a:cs typeface="Nunito Semi-Bold"/>
                <a:sym typeface="Nunito Semi-Bold"/>
              </a:rPr>
              <a:t> within each; local force plots break any single wine down into per-feature contributions.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 vs LIME: Why the Cooperative Concept Wins</a:t>
            </a:r>
          </a:p>
        </p:txBody>
      </p:sp>
      <p:pic>
        <p:nvPicPr>
          <p:cNvPr id="23" name="Picture 22" descr="image.png"/>
          <p:cNvPicPr>
            <a:picLocks noChangeAspect="1"/>
          </p:cNvPicPr>
          <p:nvPr/>
        </p:nvPicPr>
        <p:blipFill>
          <a:blip r:embed="rId3"/>
          <a:stretch>
            <a:fillRect/>
          </a:stretch>
        </p:blipFill>
        <p:spPr>
          <a:xfrm>
            <a:off x="1434759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16230599" cy="4498848"/>
        </p:xfrm>
        <a:graphic>
          <a:graphicData uri="http://schemas.openxmlformats.org/drawingml/2006/table">
            <a:tbl>
              <a:tblPr firstRow="0" bandRow="0" firstCol="0" lastRow="0" lastCol="0" bandCol="0">
                <a:tableStyleId>{2D5ABB26-0587-4C30-8999-92F81FD0307C}</a:tableStyleId>
              </a:tblPr>
              <a:tblGrid>
                <a:gridCol w="3701715"/>
                <a:gridCol w="6264442"/>
                <a:gridCol w="6264442"/>
              </a:tblGrid>
              <a:tr h="749808">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Criterion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SHAP (cooperative)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LIME (local surrogate)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Basis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Cooperative-game marginal contribution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Local surrogate approximation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Local / global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Both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Primarily local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Theoretical guarantee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Efficiency, symmetry, null player, additivity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None equivalent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Stability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Higher when surrogate faithful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Sensitive to perturbation design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Cluster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Strong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Limited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028700" y="8228330"/>
            <a:ext cx="16230600" cy="1125982"/>
          </a:xfrm>
          <a:prstGeom prst="roundRect">
            <a:avLst>
              <a:gd name="adj" fmla="val 20302"/>
            </a:avLst>
          </a:prstGeom>
          <a:solidFill>
            <a:srgbClr val="124944"/>
          </a:solidFill>
          <a:ln>
            <a:noFill/>
          </a:ln>
        </p:spPr>
        <p:txBody>
          <a:bodyPr anchor="ctr" rtlCol="false" lIns="457200" tIns="91440" rIns="457200" bIns="91440" wrap="square"/>
          <a:lstStyle/>
          <a:p>
            <a:pPr algn="ctr">
              <a:lnSpc>
                <a:spcPts val="2700"/>
              </a:lnSpc>
              <a:spcBef>
                <a:spcPts val="0"/>
              </a:spcBef>
              <a:buNone/>
            </a:pPr>
            <a:r>
              <a:rPr lang="en-US" sz="2100" b="true">
                <a:solidFill>
                  <a:srgbClr val="FFFFFF"/>
                </a:solidFill>
                <a:latin typeface="Nunito Semi-Bold"/>
                <a:ea typeface="Nunito Semi-Bold"/>
                <a:cs typeface="Nunito Semi-Bold"/>
                <a:sym typeface="Nunito Semi-Bold"/>
              </a:rPr>
              <a:t>Shapley rests on </a:t>
            </a:r>
            <a:r>
              <a:rPr lang="en-US" sz="2100" b="true">
                <a:solidFill>
                  <a:srgbClr val="FFFFFF"/>
                </a:solidFill>
                <a:latin typeface="Nunito Bold"/>
                <a:ea typeface="Nunito Bold"/>
                <a:cs typeface="Nunito Bold"/>
                <a:sym typeface="Nunito Bold"/>
              </a:rPr>
              <a:t>four axioms</a:t>
            </a:r>
            <a:r>
              <a:rPr lang="en-US" sz="2100" b="true">
                <a:solidFill>
                  <a:srgbClr val="FFFFFF"/>
                </a:solidFill>
                <a:latin typeface="Nunito Semi-Bold"/>
                <a:ea typeface="Nunito Semi-Bold"/>
                <a:cs typeface="Nunito Semi-Bold"/>
                <a:sym typeface="Nunito Semi-Bold"/>
              </a:rPr>
              <a:t>; LIME has no equivalent guarantee. With a faithful surrogate, cooperative attribution is </a:t>
            </a:r>
            <a:r>
              <a:rPr lang="en-US" sz="2100" b="true">
                <a:solidFill>
                  <a:srgbClr val="FFFFFF"/>
                </a:solidFill>
                <a:latin typeface="Nunito Bold"/>
                <a:ea typeface="Nunito Bold"/>
                <a:cs typeface="Nunito Bold"/>
                <a:sym typeface="Nunito Bold"/>
              </a:rPr>
              <a:t>more stable and comparable across clusters</a:t>
            </a:r>
            <a:r>
              <a:rPr lang="en-US" sz="21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6.1, 6.2,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12494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12494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12494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1E5F58"/>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12494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12494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12494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12494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12494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12494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12494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w</m:t>
                          </m:r>
                        </m:e>
                        <m:sub>
                          <m:r>
                            <a:rPr lang="en-US" sz="1400" i="1">
                              <a:solidFill>
                                <a:srgbClr val="DCE7E3"/>
                              </a:solidFill>
                              <a:latin typeface="Cambria Math" panose="02040503050406030204" pitchFamily="18" charset="0"/>
                            </a:rPr>
                            <m:t xml:space="preserve">c′</m:t>
                          </m:r>
                        </m:sub>
                      </m:sSub>
                      <m:r>
                        <m:rPr>
                          <m:sty m:val="p"/>
                        </m:rPr>
                        <a:rPr lang="en-US" sz="1400">
                          <a:solidFill>
                            <a:srgbClr val="DCE7E3"/>
                          </a:solidFill>
                          <a:latin typeface="Cambria Math" panose="02040503050406030204" pitchFamily="18" charset="0"/>
                        </a:rPr>
                        <m:t xml:space="preserve">=|</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 |</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m:t>
                      </m:r>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ε</m:t>
                          </m:r>
                        </m:e>
                        <m:sub>
                          <m:r>
                            <a:rPr lang="en-US" sz="1400" i="1">
                              <a:solidFill>
                                <a:srgbClr val="DCE7E3"/>
                              </a:solidFill>
                              <a:latin typeface="Cambria Math" panose="02040503050406030204" pitchFamily="18" charset="0"/>
                            </a:rPr>
                            <m:t xml:space="preserve">j</m:t>
                          </m:r>
                        </m:sub>
                      </m:sSub>
                      <m:r>
                        <m:rPr>
                          <m:sty m:val="p"/>
                        </m:rPr>
                        <a:rPr lang="en-US" sz="1400">
                          <a:solidFill>
                            <a:srgbClr val="DCE7E3"/>
                          </a:solidFill>
                          <a:latin typeface="Cambria Math" panose="02040503050406030204" pitchFamily="18" charset="0"/>
                        </a:rPr>
                        <m:t xml:space="preserve">→0</m:t>
                      </m:r>
                      <m:r>
                        <m:rPr>
                          <m:nor/>
                        </m:rPr>
                        <a:rPr lang="en-US" sz="1400">
                          <a:solidFill>
                            <a:srgbClr val="DCE7E3"/>
                          </a:solidFill>
                          <a:latin typeface="Cambria Math" panose="02040503050406030204" pitchFamily="18" charset="0"/>
                        </a:rPr>
                        <m:t xml:space="preserve">  under perfect surrogate fidelity</m:t>
                      </m:r>
                    </m:oMath>
                  </m:oMathPara>
                </a14:m>
                <a:endParaRPr lang="en-US" sz="14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sSub>
                        <m:sSubPr>
                          <m:ctrlPr>
                            <a:rPr lang="en-US" sz="1800" i="1">
                              <a:solidFill>
                                <a:srgbClr val="124944"/>
                              </a:solidFill>
                              <a:latin typeface="Cambria Math" panose="02040503050406030204" pitchFamily="18" charset="0"/>
                            </a:rPr>
                          </m:ctrlPr>
                        </m:sSubPr>
                        <m:e>
                          <m:r>
                            <m:rPr>
                              <m:scr m:val="double-struck"/>
                              <m:sty m:val="p"/>
                            </m:rPr>
                            <a:rPr lang="en-US" sz="1800">
                              <a:solidFill>
                                <a:srgbClr val="124944"/>
                              </a:solidFill>
                              <a:latin typeface="Cambria Math" panose="02040503050406030204" pitchFamily="18" charset="0"/>
                            </a:rPr>
                            <m:t xml:space="preserve">E</m:t>
                          </m:r>
                        </m:e>
                        <m:sub>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sub>
                      </m:sSub>
                      <m:d>
                        <m:dPr>
                          <m:begChr m:val="["/>
                          <m:endChr m:val="]"/>
                          <m:ctrlPr>
                            <a:rPr lang="en-US" sz="1800" i="1">
                              <a:solidFill>
                                <a:srgbClr val="124944"/>
                              </a:solidFill>
                              <a:latin typeface="Cambria Math" panose="02040503050406030204" pitchFamily="18" charset="0"/>
                            </a:rPr>
                          </m:ctrlPr>
                        </m:dPr>
                        <m:e>
                          <m:r>
                            <m:rPr>
                              <m:sty m:val="p"/>
                            </m:rPr>
                            <a:rPr lang="en-US" sz="1800">
                              <a:solidFill>
                                <a:srgbClr val="124944"/>
                              </a:solidFill>
                              <a:latin typeface="Cambria Math" panose="02040503050406030204" pitchFamily="18" charset="0"/>
                            </a:rPr>
                            <m:t xml:space="preserve"> </m:t>
                          </m:r>
                          <m:d>
                            <m:dPr>
                              <m:begChr m:val="|"/>
                              <m:endChr m:val="|"/>
                              <m:ctrlPr>
                                <a:rPr lang="en-US" sz="1800" i="1">
                                  <a:solidFill>
                                    <a:srgbClr val="124944"/>
                                  </a:solidFill>
                                  <a:latin typeface="Cambria Math" panose="02040503050406030204" pitchFamily="18" charset="0"/>
                                </a:rPr>
                              </m:ctrlPr>
                            </m:dPr>
                            <m:e>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e>
                          </m:d>
                          <m:r>
                            <m:rPr>
                              <m:sty m:val="p"/>
                            </m:rPr>
                            <a:rPr lang="en-US" sz="1800">
                              <a:solidFill>
                                <a:srgbClr val="12494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124944"/>
                              </a:solidFill>
                              <a:latin typeface="Cambria Math" panose="02040503050406030204" pitchFamily="18" charset="0"/>
                            </a:rPr>
                          </m:ctrlPr>
                        </m:sSubPr>
                        <m:e>
                          <m:r>
                            <a:rPr lang="en-US" sz="2100" i="1">
                              <a:solidFill>
                                <a:srgbClr val="124944"/>
                              </a:solidFill>
                              <a:latin typeface="Cambria Math" panose="02040503050406030204" pitchFamily="18" charset="0"/>
                            </a:rPr>
                            <m:t xml:space="preserve">w</m:t>
                          </m:r>
                        </m:e>
                        <m:sub>
                          <m:r>
                            <a:rPr lang="en-US" sz="2100" i="1">
                              <a:solidFill>
                                <a:srgbClr val="124944"/>
                              </a:solidFill>
                              <a:latin typeface="Cambria Math" panose="02040503050406030204" pitchFamily="18" charset="0"/>
                            </a:rPr>
                            <m:t xml:space="preserve">c′</m:t>
                          </m:r>
                        </m:sub>
                      </m:sSub>
                      <m:r>
                        <m:rPr>
                          <m:sty m:val="p"/>
                        </m:rPr>
                        <a:rPr lang="en-US" sz="2100">
                          <a:solidFill>
                            <a:srgbClr val="124944"/>
                          </a:solidFill>
                          <a:latin typeface="Cambria Math" panose="02040503050406030204" pitchFamily="18" charset="0"/>
                        </a:rPr>
                        <m:t xml:space="preserve">=|</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 / |</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nary>
                        <m:naryPr>
                          <m:chr m:val="∑"/>
                          <m:limLoc m:val="undOvr"/>
                          <m:supHide m:val="1"/>
                          <m:ctrlPr>
                            <a:rPr lang="en-US" sz="2550" i="1">
                              <a:solidFill>
                                <a:srgbClr val="124944"/>
                              </a:solidFill>
                              <a:latin typeface="Cambria Math" panose="02040503050406030204" pitchFamily="18" charset="0"/>
                            </a:rPr>
                          </m:ctrlPr>
                        </m:naryPr>
                        <m:sub>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∈child(</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b>
                        <m:sup/>
                        <m:e>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w</m:t>
                              </m:r>
                            </m:e>
                            <m:sub>
                              <m:r>
                                <a:rPr lang="en-US" sz="2550" i="1">
                                  <a:solidFill>
                                    <a:srgbClr val="124944"/>
                                  </a:solidFill>
                                  <a:latin typeface="Cambria Math" panose="02040503050406030204" pitchFamily="18" charset="0"/>
                                </a:rPr>
                                <m:t xml:space="preserve">c′</m:t>
                              </m:r>
                            </m:sub>
                          </m:sSub>
                        </m:e>
                      </m:nary>
                      <m:r>
                        <m:rPr>
                          <m:sty m:val="p"/>
                        </m:rPr>
                        <a:rPr lang="en-US" sz="2550">
                          <a:solidFill>
                            <a:srgbClr val="124944"/>
                          </a:solidFill>
                          <a:latin typeface="Cambria Math" panose="02040503050406030204" pitchFamily="18" charset="0"/>
                        </a:rPr>
                        <m:t xml:space="preserve"> </m:t>
                      </m:r>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+1, </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ε</m:t>
                          </m:r>
                        </m:e>
                        <m:sub>
                          <m:r>
                            <a:rPr lang="en-US" sz="2550" i="1">
                              <a:solidFill>
                                <a:srgbClr val="12494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DF8330"/>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12494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12494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DF8330"/>
                </a:solidFill>
                <a:latin typeface="Nunito Ultra-Bold"/>
                <a:ea typeface="Nunito Ultra-Bold"/>
                <a:cs typeface="Nunito Ultra-Bold"/>
                <a:sym typeface="Nunito Ultra-Bold"/>
              </a:rPr>
              <a:t>3 </a:t>
            </a:r>
            <a:r>
              <a:rPr lang="en-US" sz="3400" b="true">
                <a:solidFill>
                  <a:srgbClr val="DF8330"/>
                </a:solidFill>
                <a:latin typeface="Calibri"/>
                <a:ea typeface="Calibri"/>
                <a:cs typeface="Calibri"/>
                <a:sym typeface="Calibri"/>
              </a:rPr>
              <a:t>→ </a:t>
            </a:r>
            <a:r>
              <a:rPr lang="en-US" sz="3400" b="true">
                <a:solidFill>
                  <a:srgbClr val="DF8330"/>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Rounded Rectangle 30"/>
          <p:cNvSpPr/>
          <p:nvPr/>
        </p:nvSpPr>
        <p:spPr>
          <a:xfrm>
            <a:off x="1028700" y="6198362"/>
            <a:ext cx="7932420" cy="3155950"/>
          </a:xfrm>
          <a:prstGeom prst="roundRect">
            <a:avLst>
              <a:gd name="adj" fmla="val 9851"/>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1485900" y="5960618"/>
            <a:ext cx="144573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3" name="TextBox 32"/>
          <p:cNvSpPr txBox="1"/>
          <p:nvPr/>
        </p:nvSpPr>
        <p:spPr>
          <a:xfrm>
            <a:off x="1531620" y="6838442"/>
            <a:ext cx="6972300" cy="2241550"/>
          </a:xfrm>
          <a:prstGeom prst="rect">
            <a:avLst/>
          </a:prstGeom>
          <a:noFill/>
        </p:spPr>
        <p:txBody>
          <a:bodyPr anchor="t" rtlCol="false" lIns="0" tIns="0" rIns="0" bIns="0" wrap="square"/>
          <a:lstStyle/>
          <a:p>
            <a:pPr algn="l" marL="274320" indent="-274320">
              <a:lnSpc>
                <a:spcPts val="2464"/>
              </a:lnSpc>
              <a:spcBef>
                <a:spcPts val="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4" name="Rounded Rectangle 33"/>
          <p:cNvSpPr/>
          <p:nvPr/>
        </p:nvSpPr>
        <p:spPr>
          <a:xfrm>
            <a:off x="9326880" y="6198362"/>
            <a:ext cx="7932420" cy="3155950"/>
          </a:xfrm>
          <a:prstGeom prst="roundRect">
            <a:avLst>
              <a:gd name="adj" fmla="val 9851"/>
            </a:avLst>
          </a:prstGeom>
          <a:solidFill>
            <a:srgbClr val="124944"/>
          </a:solidFill>
          <a:ln>
            <a:noFill/>
          </a:ln>
        </p:spPr>
        <p:txBody>
          <a:bodyPr anchor="ctr" rtlCol="false" lIns="0" tIns="0" rIns="0" bIns="0" wrap="square"/>
          <a:lstStyle/>
          <a:p>
            <a:endParaRPr lang="en-US" sz="1800"/>
          </a:p>
        </p:txBody>
      </p:sp>
      <p:sp>
        <p:nvSpPr>
          <p:cNvPr id="35" name="Rounded Rectangle 34"/>
          <p:cNvSpPr/>
          <p:nvPr/>
        </p:nvSpPr>
        <p:spPr>
          <a:xfrm>
            <a:off x="9784080" y="596061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Sensitivity</a:t>
            </a:r>
          </a:p>
        </p:txBody>
      </p:sp>
      <p:sp>
        <p:nvSpPr>
          <p:cNvPr id="36" name="TextBox 35"/>
          <p:cNvSpPr txBox="1"/>
          <p:nvPr/>
        </p:nvSpPr>
        <p:spPr>
          <a:xfrm>
            <a:off x="9829800" y="6838442"/>
            <a:ext cx="6972300" cy="224155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3" name="Picture 22" descr="image.png"/>
          <p:cNvPicPr>
            <a:picLocks noChangeAspect="1"/>
          </p:cNvPicPr>
          <p:nvPr/>
        </p:nvPicPr>
        <p:blipFill>
          <a:blip r:embed="rId3"/>
          <a:stretch>
            <a:fillRect/>
          </a:stretch>
        </p:blipFill>
        <p:spPr>
          <a:xfrm>
            <a:off x="15043687"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9" name="Rounded Rectangle 28"/>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6_1_beijing_global.png"/>
          <p:cNvPicPr>
            <a:picLocks noChangeAspect="1"/>
          </p:cNvPicPr>
          <p:nvPr/>
        </p:nvPicPr>
        <p:blipFill>
          <a:blip r:embed="rId5"/>
          <a:stretch>
            <a:fillRect/>
          </a:stretch>
        </p:blipFill>
        <p:spPr>
          <a:xfrm>
            <a:off x="8997082" y="3546602"/>
            <a:ext cx="7517595" cy="5076190"/>
          </a:xfrm>
          <a:prstGeom prst="rect">
            <a:avLst/>
          </a:prstGeom>
        </p:spPr>
      </p:pic>
      <p:sp>
        <p:nvSpPr>
          <p:cNvPr id="31" name="TextBox 30"/>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Atmospheric Regimes</a:t>
            </a:r>
          </a:p>
        </p:txBody>
      </p:sp>
      <p:pic>
        <p:nvPicPr>
          <p:cNvPr id="23" name="Picture 22" descr="image.png"/>
          <p:cNvPicPr>
            <a:picLocks noChangeAspect="1"/>
          </p:cNvPicPr>
          <p:nvPr/>
        </p:nvPicPr>
        <p:blipFill>
          <a:blip r:embed="rId3"/>
          <a:stretch>
            <a:fillRect/>
          </a:stretch>
        </p:blipFill>
        <p:spPr>
          <a:xfrm>
            <a:off x="8656120"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5196840" cy="2514600"/>
          </a:xfrm>
          <a:prstGeom prst="roundRect">
            <a:avLst>
              <a:gd name="adj" fmla="val 10909"/>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4465320" cy="2057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ECC665"/>
                </a:solidFill>
                <a:latin typeface="Nunito Ultra-Bold"/>
                <a:ea typeface="Nunito Ultra-Bold"/>
                <a:cs typeface="Nunito Ultra-Bold"/>
                <a:sym typeface="Nunito Ultra-Bold"/>
              </a:rPr>
              <a:t>REGIME A</a:t>
            </a:r>
          </a:p>
          <a:p>
            <a:pPr algn="l">
              <a:lnSpc>
                <a:spcPts val="3000"/>
              </a:lnSpc>
              <a:spcBef>
                <a:spcPts val="600"/>
              </a:spcBef>
              <a:buNone/>
            </a:pPr>
            <a:r>
              <a:rPr lang="en-US" sz="2600" b="true" spc="-120">
                <a:solidFill>
                  <a:srgbClr val="FFFFFF"/>
                </a:solidFill>
                <a:latin typeface="Roca Two Bold"/>
                <a:ea typeface="Roca Two Bold"/>
                <a:cs typeface="Roca Two Bold"/>
                <a:sym typeface="Roca Two Bold"/>
              </a:rPr>
              <a:t>Warm, sunlight-driven</a:t>
            </a:r>
          </a:p>
          <a:p>
            <a:pPr algn="l">
              <a:lnSpc>
                <a:spcPts val="2200"/>
              </a:lnSpc>
              <a:spcBef>
                <a:spcPts val="800"/>
              </a:spcBef>
              <a:buNone/>
            </a:pPr>
            <a:r>
              <a:rPr lang="en-US" sz="1700" b="true">
                <a:solidFill>
                  <a:srgbClr val="F7F2EA"/>
                </a:solidFill>
                <a:latin typeface="Nunito Semi-Bold"/>
                <a:ea typeface="Nunito Semi-Bold"/>
                <a:cs typeface="Nunito Semi-Bold"/>
                <a:sym typeface="Nunito Semi-Bold"/>
              </a:rPr>
              <a:t>Ozone, temperature and dew point stand out: summer photochemical smog.</a:t>
            </a:r>
          </a:p>
        </p:txBody>
      </p:sp>
      <p:sp>
        <p:nvSpPr>
          <p:cNvPr id="30" name="Rounded Rectangle 29"/>
          <p:cNvSpPr/>
          <p:nvPr/>
        </p:nvSpPr>
        <p:spPr>
          <a:xfrm>
            <a:off x="6545580" y="3363722"/>
            <a:ext cx="5196840" cy="2514600"/>
          </a:xfrm>
          <a:prstGeom prst="roundRect">
            <a:avLst>
              <a:gd name="adj" fmla="val 10909"/>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38042"/>
            <a:ext cx="4465320" cy="2057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ECC665"/>
                </a:solidFill>
                <a:latin typeface="Nunito Ultra-Bold"/>
                <a:ea typeface="Nunito Ultra-Bold"/>
                <a:cs typeface="Nunito Ultra-Bold"/>
                <a:sym typeface="Nunito Ultra-Bold"/>
              </a:rPr>
              <a:t>REGIME B</a:t>
            </a:r>
          </a:p>
          <a:p>
            <a:pPr algn="l">
              <a:lnSpc>
                <a:spcPts val="3000"/>
              </a:lnSpc>
              <a:spcBef>
                <a:spcPts val="600"/>
              </a:spcBef>
              <a:buNone/>
            </a:pPr>
            <a:r>
              <a:rPr lang="en-US" sz="2600" b="true" spc="-120">
                <a:solidFill>
                  <a:srgbClr val="FFFFFF"/>
                </a:solidFill>
                <a:latin typeface="Roca Two Bold"/>
                <a:ea typeface="Roca Two Bold"/>
                <a:cs typeface="Roca Two Bold"/>
                <a:sym typeface="Roca Two Bold"/>
              </a:rPr>
              <a:t>Wintertime smog</a:t>
            </a:r>
          </a:p>
          <a:p>
            <a:pPr algn="l">
              <a:lnSpc>
                <a:spcPts val="2200"/>
              </a:lnSpc>
              <a:spcBef>
                <a:spcPts val="800"/>
              </a:spcBef>
              <a:buNone/>
            </a:pPr>
            <a:r>
              <a:rPr lang="en-US" sz="1700" b="true">
                <a:solidFill>
                  <a:srgbClr val="F7F2EA"/>
                </a:solidFill>
                <a:latin typeface="Nunito Semi-Bold"/>
                <a:ea typeface="Nunito Semi-Bold"/>
                <a:cs typeface="Nunito Semi-Bold"/>
                <a:sym typeface="Nunito Semi-Bold"/>
              </a:rPr>
              <a:t>CO, SO₂ and particulate matter dominate; low wind speed limits dispersion.</a:t>
            </a:r>
          </a:p>
        </p:txBody>
      </p:sp>
      <p:sp>
        <p:nvSpPr>
          <p:cNvPr id="32" name="Rounded Rectangle 31"/>
          <p:cNvSpPr/>
          <p:nvPr/>
        </p:nvSpPr>
        <p:spPr>
          <a:xfrm>
            <a:off x="12062460" y="3363722"/>
            <a:ext cx="5196840" cy="2514600"/>
          </a:xfrm>
          <a:prstGeom prst="roundRect">
            <a:avLst>
              <a:gd name="adj" fmla="val 10909"/>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38042"/>
            <a:ext cx="4465320" cy="2057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FFFFFF"/>
                </a:solidFill>
                <a:latin typeface="Nunito Ultra-Bold"/>
                <a:ea typeface="Nunito Ultra-Bold"/>
                <a:cs typeface="Nunito Ultra-Bold"/>
                <a:sym typeface="Nunito Ultra-Bold"/>
              </a:rPr>
              <a:t>REGIME C</a:t>
            </a:r>
          </a:p>
          <a:p>
            <a:pPr algn="l">
              <a:lnSpc>
                <a:spcPts val="3000"/>
              </a:lnSpc>
              <a:spcBef>
                <a:spcPts val="600"/>
              </a:spcBef>
              <a:buNone/>
            </a:pPr>
            <a:r>
              <a:rPr lang="en-US" sz="2600" b="true" spc="-120">
                <a:solidFill>
                  <a:srgbClr val="FFFFFF"/>
                </a:solidFill>
                <a:latin typeface="Roca Two Bold"/>
                <a:ea typeface="Roca Two Bold"/>
                <a:cs typeface="Roca Two Bold"/>
                <a:sym typeface="Roca Two Bold"/>
              </a:rPr>
              <a:t>Comparatively clean air</a:t>
            </a:r>
          </a:p>
          <a:p>
            <a:pPr algn="l">
              <a:lnSpc>
                <a:spcPts val="2200"/>
              </a:lnSpc>
              <a:spcBef>
                <a:spcPts val="800"/>
              </a:spcBef>
              <a:buNone/>
            </a:pPr>
            <a:r>
              <a:rPr lang="en-US" sz="1700" b="true">
                <a:solidFill>
                  <a:srgbClr val="F7F2EA"/>
                </a:solidFill>
                <a:latin typeface="Nunito Semi-Bold"/>
                <a:ea typeface="Nunito Semi-Bold"/>
                <a:cs typeface="Nunito Semi-Bold"/>
                <a:sym typeface="Nunito Semi-Bold"/>
              </a:rPr>
              <a:t>Favourable weather, weak pollutant signals.</a:t>
            </a:r>
          </a:p>
        </p:txBody>
      </p:sp>
      <p:sp>
        <p:nvSpPr>
          <p:cNvPr id="34" name="Rounded Rectangle 33"/>
          <p:cNvSpPr/>
          <p:nvPr/>
        </p:nvSpPr>
        <p:spPr>
          <a:xfrm>
            <a:off x="1028700" y="6152642"/>
            <a:ext cx="16230600" cy="2651760"/>
          </a:xfrm>
          <a:prstGeom prst="roundRect">
            <a:avLst>
              <a:gd name="adj" fmla="val 8620"/>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6_2_beijing_force.png"/>
          <p:cNvPicPr>
            <a:picLocks noChangeAspect="1"/>
          </p:cNvPicPr>
          <p:nvPr/>
        </p:nvPicPr>
        <p:blipFill>
          <a:blip r:embed="rId5"/>
          <a:stretch>
            <a:fillRect/>
          </a:stretch>
        </p:blipFill>
        <p:spPr>
          <a:xfrm>
            <a:off x="6827722" y="6289802"/>
            <a:ext cx="4632554" cy="1965960"/>
          </a:xfrm>
          <a:prstGeom prst="rect">
            <a:avLst/>
          </a:prstGeom>
        </p:spPr>
      </p:pic>
      <p:sp>
        <p:nvSpPr>
          <p:cNvPr id="36" name="TextBox 35"/>
          <p:cNvSpPr txBox="1"/>
          <p:nvPr/>
        </p:nvSpPr>
        <p:spPr>
          <a:xfrm>
            <a:off x="1028700" y="834720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6.2 (thesis): local SHAP force plots for representative observations of each regime</a:t>
            </a:r>
          </a:p>
        </p:txBody>
      </p:sp>
      <p:sp>
        <p:nvSpPr>
          <p:cNvPr id="37" name="Rounded Rectangle 36"/>
          <p:cNvSpPr/>
          <p:nvPr/>
        </p:nvSpPr>
        <p:spPr>
          <a:xfrm>
            <a:off x="1028700" y="9033002"/>
            <a:ext cx="16230600" cy="184150"/>
          </a:xfrm>
          <a:prstGeom prst="roundRect">
            <a:avLst>
              <a:gd name="adj" fmla="val 50000"/>
            </a:avLst>
          </a:prstGeom>
          <a:solidFill>
            <a:srgbClr val="F6ECDF"/>
          </a:solidFill>
          <a:ln>
            <a:noFill/>
          </a:ln>
        </p:spPr>
        <p:txBody>
          <a:bodyPr anchor="ctr" rtlCol="false" lIns="457200" tIns="45720" rIns="457200" bIns="4572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framework shows not only </a:t>
            </a:r>
            <a:r>
              <a:rPr lang="en-US" sz="2000" b="true">
                <a:solidFill>
                  <a:srgbClr val="111111"/>
                </a:solidFill>
                <a:latin typeface="Nunito Bold"/>
                <a:ea typeface="Nunito Bold"/>
                <a:cs typeface="Nunito Bold"/>
                <a:sym typeface="Nunito Bold"/>
              </a:rPr>
              <a:t>that these regimes exist</a:t>
            </a:r>
            <a:r>
              <a:rPr lang="en-US" sz="2000" b="true">
                <a:solidFill>
                  <a:srgbClr val="111111"/>
                </a:solidFill>
                <a:latin typeface="Nunito Semi-Bold"/>
                <a:ea typeface="Nunito Semi-Bold"/>
                <a:cs typeface="Nunito Semi-Bold"/>
                <a:sym typeface="Nunito Semi-Bold"/>
              </a:rPr>
              <a:t>, but </a:t>
            </a:r>
            <a:r>
              <a:rPr lang="en-US" sz="2000" b="true">
                <a:solidFill>
                  <a:srgbClr val="111111"/>
                </a:solidFill>
                <a:latin typeface="Nunito Bold"/>
                <a:ea typeface="Nunito Bold"/>
                <a:cs typeface="Nunito Bold"/>
                <a:sym typeface="Nunito Bold"/>
              </a:rPr>
              <a:t>which variable combinations define them</a:t>
            </a:r>
            <a:r>
              <a:rPr lang="en-US" sz="20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3" name="Picture 22" descr="image.png"/>
          <p:cNvPicPr>
            <a:picLocks noChangeAspect="1"/>
          </p:cNvPicPr>
          <p:nvPr/>
        </p:nvPicPr>
        <p:blipFill>
          <a:blip r:embed="rId3"/>
          <a:stretch>
            <a:fillRect/>
          </a:stretch>
        </p:blipFill>
        <p:spPr>
          <a:xfrm>
            <a:off x="11659347"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0" name="TextBox 29"/>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31" name="Rounded Rectangle 30"/>
          <p:cNvSpPr/>
          <p:nvPr/>
        </p:nvSpPr>
        <p:spPr>
          <a:xfrm>
            <a:off x="1028700" y="6198362"/>
            <a:ext cx="7932420" cy="2148840"/>
          </a:xfrm>
          <a:prstGeom prst="roundRect">
            <a:avLst>
              <a:gd name="adj" fmla="val 14468"/>
            </a:avLst>
          </a:prstGeom>
          <a:solidFill>
            <a:srgbClr val="124944"/>
          </a:solidFill>
          <a:ln>
            <a:noFill/>
          </a:ln>
        </p:spPr>
        <p:txBody>
          <a:bodyPr anchor="ctr" rtlCol="false" lIns="0" tIns="0" rIns="0" bIns="0" wrap="square"/>
          <a:lstStyle/>
          <a:p>
            <a:endParaRPr lang="en-US" sz="1800"/>
          </a:p>
        </p:txBody>
      </p:sp>
      <p:sp>
        <p:nvSpPr>
          <p:cNvPr id="32" name="Rounded Rectangle 31"/>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Coarse level · regime selection</a:t>
            </a:r>
          </a:p>
        </p:txBody>
      </p:sp>
      <p:sp>
        <p:nvSpPr>
          <p:cNvPr id="33" name="TextBox 32"/>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4" name="Rounded Rectangle 33"/>
          <p:cNvSpPr/>
          <p:nvPr/>
        </p:nvSpPr>
        <p:spPr>
          <a:xfrm>
            <a:off x="9326880" y="6198362"/>
            <a:ext cx="7932420" cy="2148840"/>
          </a:xfrm>
          <a:prstGeom prst="roundRect">
            <a:avLst>
              <a:gd name="adj" fmla="val 14468"/>
            </a:avLst>
          </a:prstGeom>
          <a:solidFill>
            <a:srgbClr val="F6ECDF"/>
          </a:solidFill>
          <a:ln>
            <a:noFill/>
          </a:ln>
        </p:spPr>
        <p:txBody>
          <a:bodyPr anchor="ctr" rtlCol="false" lIns="0" tIns="0" rIns="0" bIns="0" wrap="square"/>
          <a:lstStyle/>
          <a:p>
            <a:endParaRPr lang="en-US" sz="1800"/>
          </a:p>
        </p:txBody>
      </p:sp>
      <p:sp>
        <p:nvSpPr>
          <p:cNvPr id="35" name="Rounded Rectangle 34"/>
          <p:cNvSpPr/>
          <p:nvPr/>
        </p:nvSpPr>
        <p:spPr>
          <a:xfrm>
            <a:off x="9784080" y="5960618"/>
            <a:ext cx="620306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6" name="TextBox 35"/>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DF8330"/>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DF8330"/>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7" name="Rounded Rectangle 36"/>
          <p:cNvSpPr/>
          <p:nvPr/>
        </p:nvSpPr>
        <p:spPr>
          <a:xfrm>
            <a:off x="1028700" y="8621522"/>
            <a:ext cx="16230600" cy="595630"/>
          </a:xfrm>
          <a:prstGeom prst="roundRect">
            <a:avLst>
              <a:gd name="adj" fmla="val 46055"/>
            </a:avLst>
          </a:prstGeom>
          <a:noFill/>
          <a:ln w="31750">
            <a:solidFill>
              <a:srgbClr val="DF8330"/>
            </a:solidFill>
          </a:ln>
        </p:spPr>
        <p:txBody>
          <a:bodyPr anchor="ctr" rtlCol="false" lIns="0" tIns="0" rIns="0" bIns="0" wrap="square"/>
          <a:lstStyle/>
          <a:p>
            <a:endParaRPr lang="en-US" sz="1800"/>
          </a:p>
        </p:txBody>
      </p:sp>
      <p:sp>
        <p:nvSpPr>
          <p:cNvPr id="38" name="TextBox 37"/>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Generalisation and Comparison</a:t>
            </a:r>
          </a:p>
        </p:txBody>
      </p:sp>
      <p:pic>
        <p:nvPicPr>
          <p:cNvPr id="23" name="Picture 22" descr="image.png"/>
          <p:cNvPicPr>
            <a:picLocks noChangeAspect="1"/>
          </p:cNvPicPr>
          <p:nvPr/>
        </p:nvPicPr>
        <p:blipFill>
          <a:blip r:embed="rId3"/>
          <a:stretch>
            <a:fillRect/>
          </a:stretch>
        </p:blipFill>
        <p:spPr>
          <a:xfrm>
            <a:off x="9506856"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16230599" cy="3182112"/>
        </p:xfrm>
        <a:graphic>
          <a:graphicData uri="http://schemas.openxmlformats.org/drawingml/2006/table">
            <a:tbl>
              <a:tblPr firstRow="0" bandRow="0" firstCol="0" lastRow="0" lastCol="0" bandCol="0">
                <a:tableStyleId>{2D5ABB26-0587-4C30-8999-92F81FD0307C}</a:tableStyleId>
              </a:tblPr>
              <a:tblGrid>
                <a:gridCol w="3416968"/>
                <a:gridCol w="6264442"/>
                <a:gridCol w="6549189"/>
              </a:tblGrid>
              <a:tr h="530352">
                <a:tc>
                  <a:txBody>
                    <a:bodyPr anchor="ctr" rtlCol="false" lIns="0" tIns="0" rIns="0" bIns="0" wrap="square"/>
                    <a:lstStyle/>
                    <a:p>
                      <a:pPr algn="l">
                        <a:lnSpc>
                          <a:spcPts val="2340"/>
                        </a:lnSpc>
                        <a:spcBef>
                          <a:spcPts val="0"/>
                        </a:spcBef>
                        <a:buNone/>
                      </a:pPr>
                      <a:endParaRPr lang="en-US" sz="2200"/>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Wine Quality (C1)</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Beijing Air Quality (C2)</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Scale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4,898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383,585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Nature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small, dense, chemically correlated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large, noisy, varies with time &amp; weather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Structure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single-level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multi-level (nested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Silhouette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0.144 (k* = 3, chosen for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 0.63 (k = 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Explanatory logic</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Shapley in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same logic · still works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028700" y="7140194"/>
            <a:ext cx="7932420" cy="2168398"/>
          </a:xfrm>
          <a:prstGeom prst="roundRect">
            <a:avLst>
              <a:gd name="adj" fmla="val 14337"/>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485900" y="6902450"/>
            <a:ext cx="278910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vs the literature</a:t>
            </a:r>
          </a:p>
        </p:txBody>
      </p:sp>
      <p:sp>
        <p:nvSpPr>
          <p:cNvPr id="31" name="TextBox 30"/>
          <p:cNvSpPr txBox="1"/>
          <p:nvPr/>
        </p:nvSpPr>
        <p:spPr>
          <a:xfrm>
            <a:off x="1531620" y="7780274"/>
            <a:ext cx="6972300" cy="1253998"/>
          </a:xfrm>
          <a:prstGeom prst="rect">
            <a:avLst/>
          </a:prstGeom>
          <a:noFill/>
        </p:spPr>
        <p:txBody>
          <a:bodyPr anchor="t" rtlCol="false" lIns="0" tIns="0" rIns="0" bIns="0" wrap="square"/>
          <a:lstStyle/>
          <a:p>
            <a:pPr algn="l" marL="274320" indent="-274320">
              <a:lnSpc>
                <a:spcPts val="2181"/>
              </a:lnSpc>
              <a:spcBef>
                <a:spcPts val="0"/>
              </a:spcBef>
              <a:buClr>
                <a:srgbClr val="ECC665"/>
              </a:buClr>
              <a:buSzPct val="100000"/>
              <a:buFont typeface="Arial"/>
              <a:buChar char="•"/>
            </a:pPr>
            <a:r>
              <a:rPr lang="en-US" sz="1558" b="true">
                <a:solidFill>
                  <a:srgbClr val="FFFFFF"/>
                </a:solidFill>
                <a:latin typeface="Nunito Semi-Bold"/>
                <a:ea typeface="Nunito Semi-Bold"/>
                <a:cs typeface="Nunito Semi-Bold"/>
                <a:sym typeface="Nunito Semi-Bold"/>
              </a:rPr>
              <a:t>The same explanatory logic works on </a:t>
            </a:r>
            <a:r>
              <a:rPr lang="en-US" sz="1558" b="true">
                <a:solidFill>
                  <a:srgbClr val="FFFFFF"/>
                </a:solidFill>
                <a:latin typeface="Nunito Bold"/>
                <a:ea typeface="Nunito Bold"/>
                <a:cs typeface="Nunito Bold"/>
                <a:sym typeface="Nunito Bold"/>
              </a:rPr>
              <a:t>both datasets</a:t>
            </a:r>
            <a:r>
              <a:rPr lang="en-US" sz="1558" b="true">
                <a:solidFill>
                  <a:srgbClr val="FFFFFF"/>
                </a:solidFill>
                <a:latin typeface="Calibri"/>
                <a:ea typeface="Calibri"/>
                <a:cs typeface="Calibri"/>
                <a:sym typeface="Calibri"/>
              </a:rPr>
              <a:t> → </a:t>
            </a:r>
            <a:r>
              <a:rPr lang="en-US" sz="1558" b="true">
                <a:solidFill>
                  <a:srgbClr val="FFFFFF"/>
                </a:solidFill>
                <a:latin typeface="Nunito Semi-Bold"/>
                <a:ea typeface="Nunito Semi-Bold"/>
                <a:cs typeface="Nunito Semi-Bold"/>
                <a:sym typeface="Nunito Semi-Bold"/>
              </a:rPr>
              <a:t>not tied to one domain.</a:t>
            </a:r>
          </a:p>
          <a:p>
            <a:pPr algn="l" marL="274320" indent="-274320">
              <a:lnSpc>
                <a:spcPts val="2181"/>
              </a:lnSpc>
              <a:spcBef>
                <a:spcPts val="656"/>
              </a:spcBef>
              <a:buClr>
                <a:srgbClr val="ECC665"/>
              </a:buClr>
              <a:buSzPct val="100000"/>
              <a:buFont typeface="Arial"/>
              <a:buChar char="•"/>
            </a:pPr>
            <a:r>
              <a:rPr lang="en-US" sz="1558" b="true">
                <a:solidFill>
                  <a:srgbClr val="FFFFFF"/>
                </a:solidFill>
                <a:latin typeface="Nunito Semi-Bold"/>
                <a:ea typeface="Nunito Semi-Bold"/>
                <a:cs typeface="Nunito Semi-Bold"/>
                <a:sym typeface="Nunito Semi-Bold"/>
              </a:rPr>
              <a:t>Beijing Silhouette ≈ 0.63 vs </a:t>
            </a:r>
            <a:r>
              <a:rPr lang="en-US" sz="1558" b="true">
                <a:solidFill>
                  <a:srgbClr val="FFFFFF"/>
                </a:solidFill>
                <a:latin typeface="Nunito Bold"/>
                <a:ea typeface="Nunito Bold"/>
                <a:cs typeface="Nunito Bold"/>
                <a:sym typeface="Nunito Bold"/>
              </a:rPr>
              <a:t>0.37</a:t>
            </a:r>
            <a:r>
              <a:rPr lang="en-US" sz="1558" b="true">
                <a:solidFill>
                  <a:srgbClr val="FFFFFF"/>
                </a:solidFill>
                <a:latin typeface="Nunito Semi-Bold"/>
                <a:ea typeface="Nunito Semi-Bold"/>
                <a:cs typeface="Nunito Semi-Bold"/>
                <a:sym typeface="Nunito Semi-Bold"/>
              </a:rPr>
              <a:t> in Gramegna &amp; Giudici's SHAP-based credit-risk clustering.</a:t>
            </a:r>
          </a:p>
        </p:txBody>
      </p:sp>
      <p:sp>
        <p:nvSpPr>
          <p:cNvPr id="32" name="Rounded Rectangle 31"/>
          <p:cNvSpPr/>
          <p:nvPr/>
        </p:nvSpPr>
        <p:spPr>
          <a:xfrm>
            <a:off x="9326880" y="7140194"/>
            <a:ext cx="7932420" cy="2168398"/>
          </a:xfrm>
          <a:prstGeom prst="roundRect">
            <a:avLst>
              <a:gd name="adj" fmla="val 14337"/>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84080" y="6902450"/>
            <a:ext cx="169294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vs LIME</a:t>
            </a:r>
          </a:p>
        </p:txBody>
      </p:sp>
      <p:sp>
        <p:nvSpPr>
          <p:cNvPr id="34" name="TextBox 33"/>
          <p:cNvSpPr txBox="1"/>
          <p:nvPr/>
        </p:nvSpPr>
        <p:spPr>
          <a:xfrm>
            <a:off x="9829800" y="7780274"/>
            <a:ext cx="6972300" cy="1253998"/>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Weaker </a:t>
            </a:r>
            <a:r>
              <a:rPr lang="en-US" sz="1900" b="true">
                <a:solidFill>
                  <a:srgbClr val="111111"/>
                </a:solidFill>
                <a:latin typeface="Nunito Bold"/>
                <a:ea typeface="Nunito Bold"/>
                <a:cs typeface="Nunito Bold"/>
                <a:sym typeface="Nunito Bold"/>
              </a:rPr>
              <a:t>consistency</a:t>
            </a:r>
            <a:r>
              <a:rPr lang="en-US" sz="1900" b="true">
                <a:solidFill>
                  <a:srgbClr val="111111"/>
                </a:solidFill>
                <a:latin typeface="Nunito Semi-Bold"/>
                <a:ea typeface="Nunito Semi-Bold"/>
                <a:cs typeface="Nunito Semi-Bold"/>
                <a:sym typeface="Nunito Semi-Bold"/>
              </a:rPr>
              <a:t> across levels.</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Less stable local stories for </a:t>
            </a:r>
            <a:r>
              <a:rPr lang="en-US" sz="1900" b="true">
                <a:solidFill>
                  <a:srgbClr val="111111"/>
                </a:solidFill>
                <a:latin typeface="Nunito Bold"/>
                <a:ea typeface="Nunito Bold"/>
                <a:cs typeface="Nunito Bold"/>
                <a:sym typeface="Nunito Bold"/>
              </a:rPr>
              <a:t>multi-level reasoning</a:t>
            </a:r>
            <a:r>
              <a:rPr lang="en-US" sz="19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F6ECDF"/>
          </a:solidFill>
          <a:ln w="25400">
            <a:solidFill>
              <a:srgbClr val="12494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Tables 7.1 to 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Player set N = U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I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C</a:t>
            </a:r>
            <a:r>
              <a:rPr lang="en-US" sz="2100" b="true">
                <a:solidFill>
                  <a:srgbClr val="111111"/>
                </a:solidFill>
                <a:latin typeface="Nunito Semi-Bold"/>
                <a:ea typeface="Nunito Semi-Bold"/>
                <a:cs typeface="Nunito Semi-Bold"/>
                <a:sym typeface="Nunito Semi-Bold"/>
              </a:rPr>
              <a:t> (users, items, contexts).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Hypergraph H = (V, E, W)</a:t>
            </a:r>
            <a:r>
              <a:rPr lang="en-US" sz="2100" b="true">
                <a:solidFill>
                  <a:srgbClr val="111111"/>
                </a:solidFill>
                <a:latin typeface="Nunito Semi-Bold"/>
                <a:ea typeface="Nunito Semi-Bold"/>
                <a:cs typeface="Nunito Semi-Bold"/>
                <a:sym typeface="Nunito Semi-Bold"/>
              </a:rPr>
              <a:t>; V = U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Semi-Bold"/>
                <a:ea typeface="Nunito Semi-Bold"/>
                <a:cs typeface="Nunito Semi-Bold"/>
                <a:sym typeface="Nunito Semi-Bold"/>
              </a:rPr>
              <a:t>I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Semi-Bold"/>
                <a:ea typeface="Nunito Semi-Bold"/>
                <a:cs typeface="Nunito Semi-Bold"/>
                <a:sym typeface="Nunito Semi-Bold"/>
              </a:rPr>
              <a:t>C; </a:t>
            </a:r>
            <a:r>
              <a:rPr lang="en-US" sz="2100" b="true">
                <a:solidFill>
                  <a:srgbClr val="111111"/>
                </a:solidFill>
                <a:latin typeface="Nunito Bold"/>
                <a:ea typeface="Nunito Bold"/>
                <a:cs typeface="Nunito Bold"/>
                <a:sym typeface="Nunito Bold"/>
              </a:rPr>
              <a:t>W = dynamic edge weights</a:t>
            </a:r>
            <a:r>
              <a:rPr lang="en-US" sz="2100" b="true">
                <a:solidFill>
                  <a:srgbClr val="111111"/>
                </a:solidFill>
                <a:latin typeface="Nunito Semi-Bold"/>
                <a:ea typeface="Nunito Semi-Bold"/>
                <a:cs typeface="Nunito Semi-Bold"/>
                <a:sym typeface="Nunito Semi-Bold"/>
              </a:rPr>
              <a:t> from Shapley estimates.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a:t>
            </a:r>
            <a:r>
              <a:rPr lang="en-US" sz="2100" b="true">
                <a:solidFill>
                  <a:srgbClr val="111111"/>
                </a:solidFill>
                <a:latin typeface="Nunito Bold"/>
                <a:ea typeface="Nunito Bold"/>
                <a:cs typeface="Nunito Bold"/>
                <a:sym typeface="Nunito Bold"/>
              </a:rPr>
              <a:t>coalition S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N</a:t>
            </a:r>
            <a:r>
              <a:rPr lang="en-US" sz="2100" b="true">
                <a:solidFill>
                  <a:srgbClr val="111111"/>
                </a:solidFill>
                <a:latin typeface="Nunito Semi-Bold"/>
                <a:ea typeface="Nunito Semi-Bold"/>
                <a:cs typeface="Nunito Semi-Bold"/>
                <a:sym typeface="Nunito Semi-Bold"/>
              </a:rPr>
              <a:t> is the set of entities taking part in a recommendation episode.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Coalition value v(S)</a:t>
            </a:r>
            <a:r>
              <a:rPr lang="en-US" sz="2100" b="true">
                <a:solidFill>
                  <a:srgbClr val="111111"/>
                </a:solidFill>
                <a:latin typeface="Nunito Semi-Bold"/>
                <a:ea typeface="Nunito Semi-Bold"/>
                <a:cs typeface="Nunito Semi-Bold"/>
                <a:sym typeface="Nunito Semi-Bold"/>
              </a:rPr>
              <a:t> measures the quality of the recommendation that S can achieve.</a:t>
            </a:r>
          </a:p>
          <a:p>
            <a:pPr algn="l" marL="274320" indent="-274320">
              <a:lnSpc>
                <a:spcPts val="3108"/>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Top-N task:</a:t>
            </a:r>
            <a:r>
              <a:rPr lang="en-US" sz="2100" b="true">
                <a:solidFill>
                  <a:srgbClr val="111111"/>
                </a:solidFill>
                <a:latin typeface="Nunito Semi-Bold"/>
                <a:ea typeface="Nunito Semi-Bold"/>
                <a:cs typeface="Nunito Semi-Bold"/>
                <a:sym typeface="Nunito Semi-Bold"/>
              </a:rPr>
              <a:t> produce a ranked list L</a:t>
            </a:r>
            <a:r>
              <a:rPr lang="en-US" sz="2100" b="true" baseline="-25000">
                <a:solidFill>
                  <a:srgbClr val="111111"/>
                </a:solidFill>
                <a:latin typeface="Nunito Semi-Bold"/>
                <a:ea typeface="Nunito Semi-Bold"/>
                <a:cs typeface="Nunito Semi-Bold"/>
                <a:sym typeface="Nunito Semi-Bold"/>
              </a:rPr>
              <a:t>u</a:t>
            </a:r>
            <a:r>
              <a:rPr lang="en-US" sz="2100" b="true">
                <a:solidFill>
                  <a:srgbClr val="111111"/>
                </a:solidFill>
                <a:latin typeface="Nunito Semi-Bold"/>
                <a:ea typeface="Nunito Semi-Bold"/>
                <a:cs typeface="Nunito Semi-Bold"/>
                <a:sym typeface="Nunito Semi-Bold"/>
              </a:rPr>
              <a:t> balancing relevance, diversity and contextual fit.</a:t>
            </a:r>
          </a:p>
        </p:txBody>
      </p:sp>
      <p:sp>
        <p:nvSpPr>
          <p:cNvPr id="29" name="TextBox 28"/>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PLAYERS AND COALITIONS</a:t>
            </a:r>
          </a:p>
        </p:txBody>
      </p:sp>
      <p:sp>
        <p:nvSpPr>
          <p:cNvPr id="30" name="Rounded Rectangle 29"/>
          <p:cNvSpPr/>
          <p:nvPr/>
        </p:nvSpPr>
        <p:spPr>
          <a:xfrm>
            <a:off x="9715500" y="3912362"/>
            <a:ext cx="7269480" cy="2834640"/>
          </a:xfrm>
          <a:prstGeom prst="roundRect">
            <a:avLst>
              <a:gd name="adj" fmla="val 19354"/>
            </a:avLst>
          </a:prstGeom>
          <a:solidFill>
            <a:srgbClr val="F6ECDF"/>
          </a:solidFill>
          <a:ln>
            <a:noFill/>
          </a:ln>
        </p:spPr>
        <p:txBody>
          <a:bodyPr anchor="ctr" rtlCol="false" lIns="0" tIns="0" rIns="0" bIns="0" wrap="square"/>
          <a:lstStyle/>
          <a:p>
            <a:endParaRPr lang="en-US" sz="1800"/>
          </a:p>
        </p:txBody>
      </p:sp>
      <p:sp>
        <p:nvSpPr>
          <p:cNvPr id="31" name="TextBox 30"/>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2" name="Oval 31"/>
          <p:cNvSpPr/>
          <p:nvPr/>
        </p:nvSpPr>
        <p:spPr>
          <a:xfrm>
            <a:off x="10165080" y="4598162"/>
            <a:ext cx="1737360" cy="1737360"/>
          </a:xfrm>
          <a:prstGeom prst="ellipse">
            <a:avLst/>
          </a:prstGeom>
          <a:solidFill>
            <a:srgbClr val="12494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3" name="Oval 32"/>
          <p:cNvSpPr/>
          <p:nvPr/>
        </p:nvSpPr>
        <p:spPr>
          <a:xfrm>
            <a:off x="12481560" y="4598162"/>
            <a:ext cx="1737360" cy="1737360"/>
          </a:xfrm>
          <a:prstGeom prst="ellipse">
            <a:avLst/>
          </a:prstGeom>
          <a:solidFill>
            <a:srgbClr val="1E5F58"/>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4" name="Oval 33"/>
          <p:cNvSpPr/>
          <p:nvPr/>
        </p:nvSpPr>
        <p:spPr>
          <a:xfrm>
            <a:off x="14798040" y="4598162"/>
            <a:ext cx="1737360" cy="1737360"/>
          </a:xfrm>
          <a:prstGeom prst="ellipse">
            <a:avLst/>
          </a:prstGeom>
          <a:solidFill>
            <a:srgbClr val="DF8330"/>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5" name="Rounded Rectangle 34"/>
          <p:cNvSpPr/>
          <p:nvPr/>
        </p:nvSpPr>
        <p:spPr>
          <a:xfrm>
            <a:off x="9441180" y="7067042"/>
            <a:ext cx="7818120" cy="2241550"/>
          </a:xfrm>
          <a:prstGeom prst="roundRect">
            <a:avLst>
              <a:gd name="adj" fmla="val 10198"/>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6" name="Equation"/>
              <p:cNvSpPr txBox="1"/>
              <p:nvPr/>
            </p:nvSpPr>
            <p:spPr>
              <a:xfrm>
                <a:off x="9715500" y="7112762"/>
                <a:ext cx="1828800" cy="1120775"/>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38"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38" name="Equation"/>
              <p:cNvSpPr txBox="1"/>
              <p:nvPr/>
            </p:nvSpPr>
            <p:spPr>
              <a:xfrm>
                <a:off x="9715500" y="8142097"/>
                <a:ext cx="1828800" cy="1120775"/>
              </a:xfrm>
              <a:prstGeom prst="rect">
                <a:avLst/>
              </a:prstGeom>
              <a:blipFill>
                <a:blip r:embed="rId6"/>
                <a:stretch>
                  <a:fillRect/>
                </a:stretch>
              </a:blipFill>
            </p:spPr>
            <p:txBody>
              <a:bodyPr/>
              <a:lstStyle/>
              <a:p>
                <a:endParaRPr lang="en-US"/>
              </a:p>
            </p:txBody>
          </p:sp>
        </mc:Fallback>
      </mc:AlternateContent>
      <p:sp>
        <p:nvSpPr>
          <p:cNvPr id="39" name="TextBox 38"/>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Coalition Value Aligned with the Objective</a:t>
            </a:r>
          </a:p>
        </p:txBody>
      </p:sp>
      <p:pic>
        <p:nvPicPr>
          <p:cNvPr id="23" name="Picture 22" descr="image.png"/>
          <p:cNvPicPr>
            <a:picLocks noChangeAspect="1"/>
          </p:cNvPicPr>
          <p:nvPr/>
        </p:nvPicPr>
        <p:blipFill>
          <a:blip r:embed="rId3"/>
          <a:stretch>
            <a:fillRect/>
          </a:stretch>
        </p:blipFill>
        <p:spPr>
          <a:xfrm>
            <a:off x="12053319"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1600200"/>
          </a:xfrm>
          <a:prstGeom prst="roundRect">
            <a:avLst>
              <a:gd name="adj" fmla="val 17142"/>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394460" y="3500882"/>
                <a:ext cx="154990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400" i="1">
                          <a:solidFill>
                            <a:srgbClr val="FFFFFF"/>
                          </a:solidFill>
                          <a:latin typeface="Cambria Math" panose="02040503050406030204" pitchFamily="18" charset="0"/>
                        </a:rPr>
                        <m:t xml:space="preserve">v</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α</m:t>
                      </m:r>
                      <m:r>
                        <m:rPr>
                          <m:sty m:val="p"/>
                        </m:rPr>
                        <a:rPr lang="en-US" sz="2400">
                          <a:solidFill>
                            <a:srgbClr val="FFFFFF"/>
                          </a:solidFill>
                          <a:latin typeface="Cambria Math" panose="02040503050406030204" pitchFamily="18" charset="0"/>
                        </a:rPr>
                        <m:t xml:space="preserve">·NDCG@20(</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β</m:t>
                      </m:r>
                      <m:r>
                        <m:rPr>
                          <m:sty m:val="p"/>
                        </m:rPr>
                        <a:rPr lang="en-US" sz="2400">
                          <a:solidFill>
                            <a:srgbClr val="FFFFFF"/>
                          </a:solidFill>
                          <a:latin typeface="Cambria Math" panose="02040503050406030204" pitchFamily="18" charset="0"/>
                        </a:rPr>
                        <m:t xml:space="preserve">·Diversity(</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γ</m:t>
                      </m:r>
                      <m:r>
                        <m:rPr>
                          <m:sty m:val="p"/>
                        </m:rPr>
                        <a:rPr lang="en-US" sz="2400">
                          <a:solidFill>
                            <a:srgbClr val="FFFFFF"/>
                          </a:solidFill>
                          <a:latin typeface="Cambria Math" panose="02040503050406030204" pitchFamily="18" charset="0"/>
                        </a:rPr>
                        <m:t xml:space="preserve">·ContextScore(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),  </m:t>
                      </m:r>
                      <m:r>
                        <a:rPr lang="en-US" sz="2400" i="1">
                          <a:solidFill>
                            <a:srgbClr val="FFFFFF"/>
                          </a:solidFill>
                          <a:latin typeface="Cambria Math" panose="02040503050406030204" pitchFamily="18" charset="0"/>
                        </a:rPr>
                        <m:t xml:space="preserve">α</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β</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γ</m:t>
                      </m:r>
                      <m:r>
                        <m:rPr>
                          <m:sty m:val="p"/>
                        </m:rPr>
                        <a:rPr lang="en-US" sz="2400">
                          <a:solidFill>
                            <a:srgbClr val="FFFFFF"/>
                          </a:solidFill>
                          <a:latin typeface="Cambria Math" panose="02040503050406030204" pitchFamily="18" charset="0"/>
                        </a:rPr>
                        <m:t xml:space="preserve">=1</m:t>
                      </m:r>
                    </m:oMath>
                  </m:oMathPara>
                </a14:m>
                <a:endParaRPr lang="en-US" sz="2400"/>
              </a:p>
            </p:txBody>
          </p:sp>
        </mc:Choice>
        <mc:Fallback>
          <p:sp>
            <p:nvSpPr>
              <p:cNvPr id="29" name="Equation"/>
              <p:cNvSpPr txBox="1"/>
              <p:nvPr/>
            </p:nvSpPr>
            <p:spPr>
              <a:xfrm>
                <a:off x="1394460" y="3500882"/>
                <a:ext cx="15499080" cy="6400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0" name="Equation"/>
              <p:cNvSpPr txBox="1"/>
              <p:nvPr/>
            </p:nvSpPr>
            <p:spPr>
              <a:xfrm>
                <a:off x="1394460" y="4186682"/>
                <a:ext cx="154990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v</m:t>
                          </m:r>
                        </m:e>
                        <m:sub>
                          <m:r>
                            <m:rPr>
                              <m:sty m:val="p"/>
                            </m:rPr>
                            <a:rPr lang="en-US" sz="2200">
                              <a:solidFill>
                                <a:srgbClr val="ECC665"/>
                              </a:solidFill>
                              <a:latin typeface="Cambria Math" panose="02040503050406030204" pitchFamily="18" charset="0"/>
                            </a:rPr>
                            <m:t xml:space="preserve">pref</m:t>
                          </m:r>
                        </m:sub>
                      </m:sSub>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v</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r>
                        <m:rPr>
                          <m:sty m:val="p"/>
                        </m:rPr>
                        <a:rPr lang="en-US" sz="2200">
                          <a:solidFill>
                            <a:srgbClr val="ECC665"/>
                          </a:solidFill>
                          <a:latin typeface="Cambria Math" panose="02040503050406030204" pitchFamily="18" charset="0"/>
                        </a:rPr>
                        <m:t xml:space="preserve">)+</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λ</m:t>
                          </m:r>
                        </m:e>
                        <m:sub>
                          <m:r>
                            <m:rPr>
                              <m:sty m:val="p"/>
                            </m:rPr>
                            <a:rPr lang="en-US" sz="2200">
                              <a:solidFill>
                                <a:srgbClr val="ECC665"/>
                              </a:solidFill>
                              <a:latin typeface="Cambria Math" panose="02040503050406030204" pitchFamily="18" charset="0"/>
                            </a:rPr>
                            <m:t xml:space="preserve">pref</m:t>
                          </m:r>
                        </m:sub>
                      </m:sSub>
                      <m:r>
                        <m:rPr>
                          <m:sty m:val="p"/>
                        </m:rPr>
                        <a:rPr lang="en-US" sz="2200">
                          <a:solidFill>
                            <a:srgbClr val="ECC665"/>
                          </a:solidFill>
                          <a:latin typeface="Cambria Math" panose="02040503050406030204" pitchFamily="18" charset="0"/>
                        </a:rPr>
                        <m:t xml:space="preserve"> </m:t>
                      </m:r>
                      <m:nary>
                        <m:naryPr>
                          <m:chr m:val="∑"/>
                          <m:limLoc m:val="subSup"/>
                          <m:supHide m:val="1"/>
                          <m:ctrlPr>
                            <a:rPr lang="en-US" sz="2200" i="1">
                              <a:solidFill>
                                <a:srgbClr val="ECC665"/>
                              </a:solidFill>
                              <a:latin typeface="Cambria Math" panose="02040503050406030204" pitchFamily="18" charset="0"/>
                            </a:rPr>
                          </m:ctrlPr>
                        </m:naryPr>
                        <m:sub>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u</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i</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sub>
                        <m:sup/>
                        <m:e>
                          <m:r>
                            <m:rPr>
                              <m:sty m:val="p"/>
                            </m:rPr>
                            <a:rPr lang="en-US" sz="2200">
                              <a:solidFill>
                                <a:srgbClr val="ECC665"/>
                              </a:solidFill>
                              <a:latin typeface="Cambria Math" panose="02040503050406030204" pitchFamily="18" charset="0"/>
                            </a:rPr>
                            <m:t xml:space="preserve">sim</m:t>
                          </m:r>
                        </m:e>
                      </m:nary>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u</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i</m:t>
                      </m:r>
                      <m:r>
                        <m:rPr>
                          <m:sty m:val="p"/>
                        </m:rPr>
                        <a:rPr lang="en-US" sz="2200">
                          <a:solidFill>
                            <a:srgbClr val="ECC665"/>
                          </a:solidFill>
                          <a:latin typeface="Cambria Math" panose="02040503050406030204" pitchFamily="18" charset="0"/>
                        </a:rPr>
                        <m:t xml:space="preserve">)</m:t>
                      </m:r>
                    </m:oMath>
                  </m:oMathPara>
                </a14:m>
                <a:endParaRPr lang="en-US" sz="2200"/>
              </a:p>
            </p:txBody>
          </p:sp>
        </mc:Choice>
        <mc:Fallback>
          <p:sp>
            <p:nvSpPr>
              <p:cNvPr id="30" name="Equation"/>
              <p:cNvSpPr txBox="1"/>
              <p:nvPr/>
            </p:nvSpPr>
            <p:spPr>
              <a:xfrm>
                <a:off x="1394460" y="4186682"/>
                <a:ext cx="15499080" cy="640080"/>
              </a:xfrm>
              <a:prstGeom prst="rect">
                <a:avLst/>
              </a:prstGeom>
              <a:blipFill>
                <a:blip r:embed="rId6"/>
                <a:stretch>
                  <a:fillRect/>
                </a:stretch>
              </a:blipFill>
            </p:spPr>
            <p:txBody>
              <a:bodyPr/>
              <a:lstStyle/>
              <a:p>
                <a:endParaRPr lang="en-US"/>
              </a:p>
            </p:txBody>
          </p:sp>
        </mc:Fallback>
      </mc:AlternateContent>
      <p:sp>
        <p:nvSpPr>
          <p:cNvPr id="31" name="Rounded Rectangle 30"/>
          <p:cNvSpPr/>
          <p:nvPr/>
        </p:nvSpPr>
        <p:spPr>
          <a:xfrm>
            <a:off x="102870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116586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α</m:t>
                      </m:r>
                      <m:r>
                        <m:rPr>
                          <m:sty m:val="p"/>
                        </m:rPr>
                        <a:rPr lang="en-US" sz="2600">
                          <a:solidFill>
                            <a:srgbClr val="124944"/>
                          </a:solidFill>
                          <a:latin typeface="Cambria Math" panose="02040503050406030204" pitchFamily="18" charset="0"/>
                        </a:rPr>
                        <m:t xml:space="preserve">=0.60</m:t>
                      </m:r>
                    </m:oMath>
                  </m:oMathPara>
                </a14:m>
                <a:endParaRPr lang="en-US" sz="2600"/>
              </a:p>
            </p:txBody>
          </p:sp>
        </mc:Choice>
        <mc:Fallback>
          <p:sp>
            <p:nvSpPr>
              <p:cNvPr id="32" name="Equation"/>
              <p:cNvSpPr txBox="1"/>
              <p:nvPr/>
            </p:nvSpPr>
            <p:spPr>
              <a:xfrm>
                <a:off x="1165860" y="5311394"/>
                <a:ext cx="3577590" cy="621792"/>
              </a:xfrm>
              <a:prstGeom prst="rect">
                <a:avLst/>
              </a:prstGeom>
              <a:blipFill>
                <a:blip r:embed="rId7"/>
                <a:stretch>
                  <a:fillRect/>
                </a:stretch>
              </a:blipFill>
            </p:spPr>
            <p:txBody>
              <a:bodyPr/>
              <a:lstStyle/>
              <a:p>
                <a:endParaRPr lang="en-US"/>
              </a:p>
            </p:txBody>
          </p:sp>
        </mc:Fallback>
      </mc:AlternateContent>
      <p:sp>
        <p:nvSpPr>
          <p:cNvPr id="33" name="TextBox 32"/>
          <p:cNvSpPr txBox="1"/>
          <p:nvPr/>
        </p:nvSpPr>
        <p:spPr>
          <a:xfrm>
            <a:off x="102870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ranking accuracy</a:t>
            </a:r>
          </a:p>
        </p:txBody>
      </p:sp>
      <p:sp>
        <p:nvSpPr>
          <p:cNvPr id="34" name="Rounded Rectangle 33"/>
          <p:cNvSpPr/>
          <p:nvPr/>
        </p:nvSpPr>
        <p:spPr>
          <a:xfrm>
            <a:off x="515493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529209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β</m:t>
                      </m:r>
                      <m:r>
                        <m:rPr>
                          <m:sty m:val="p"/>
                        </m:rPr>
                        <a:rPr lang="en-US" sz="2600">
                          <a:solidFill>
                            <a:srgbClr val="124944"/>
                          </a:solidFill>
                          <a:latin typeface="Cambria Math" panose="02040503050406030204" pitchFamily="18" charset="0"/>
                        </a:rPr>
                        <m:t xml:space="preserve">=0.25</m:t>
                      </m:r>
                    </m:oMath>
                  </m:oMathPara>
                </a14:m>
                <a:endParaRPr lang="en-US" sz="2600"/>
              </a:p>
            </p:txBody>
          </p:sp>
        </mc:Choice>
        <mc:Fallback>
          <p:sp>
            <p:nvSpPr>
              <p:cNvPr id="35" name="Equation"/>
              <p:cNvSpPr txBox="1"/>
              <p:nvPr/>
            </p:nvSpPr>
            <p:spPr>
              <a:xfrm>
                <a:off x="5292090" y="5311394"/>
                <a:ext cx="3577590" cy="621792"/>
              </a:xfrm>
              <a:prstGeom prst="rect">
                <a:avLst/>
              </a:prstGeom>
              <a:blipFill>
                <a:blip r:embed="rId8"/>
                <a:stretch>
                  <a:fillRect/>
                </a:stretch>
              </a:blipFill>
            </p:spPr>
            <p:txBody>
              <a:bodyPr/>
              <a:lstStyle/>
              <a:p>
                <a:endParaRPr lang="en-US"/>
              </a:p>
            </p:txBody>
          </p:sp>
        </mc:Fallback>
      </mc:AlternateContent>
      <p:sp>
        <p:nvSpPr>
          <p:cNvPr id="36" name="TextBox 35"/>
          <p:cNvSpPr txBox="1"/>
          <p:nvPr/>
        </p:nvSpPr>
        <p:spPr>
          <a:xfrm>
            <a:off x="515493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diversity</a:t>
            </a:r>
          </a:p>
        </p:txBody>
      </p:sp>
      <p:sp>
        <p:nvSpPr>
          <p:cNvPr id="37" name="Rounded Rectangle 36"/>
          <p:cNvSpPr/>
          <p:nvPr/>
        </p:nvSpPr>
        <p:spPr>
          <a:xfrm>
            <a:off x="928116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8" name="Equation"/>
              <p:cNvSpPr txBox="1"/>
              <p:nvPr/>
            </p:nvSpPr>
            <p:spPr>
              <a:xfrm>
                <a:off x="941832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γ</m:t>
                      </m:r>
                      <m:r>
                        <m:rPr>
                          <m:sty m:val="p"/>
                        </m:rPr>
                        <a:rPr lang="en-US" sz="2600">
                          <a:solidFill>
                            <a:srgbClr val="124944"/>
                          </a:solidFill>
                          <a:latin typeface="Cambria Math" panose="02040503050406030204" pitchFamily="18" charset="0"/>
                        </a:rPr>
                        <m:t xml:space="preserve">=0.15</m:t>
                      </m:r>
                    </m:oMath>
                  </m:oMathPara>
                </a14:m>
                <a:endParaRPr lang="en-US" sz="2600"/>
              </a:p>
            </p:txBody>
          </p:sp>
        </mc:Choice>
        <mc:Fallback>
          <p:sp>
            <p:nvSpPr>
              <p:cNvPr id="38" name="Equation"/>
              <p:cNvSpPr txBox="1"/>
              <p:nvPr/>
            </p:nvSpPr>
            <p:spPr>
              <a:xfrm>
                <a:off x="9418320" y="5311394"/>
                <a:ext cx="3577590" cy="621792"/>
              </a:xfrm>
              <a:prstGeom prst="rect">
                <a:avLst/>
              </a:prstGeom>
              <a:blipFill>
                <a:blip r:embed="rId9"/>
                <a:stretch>
                  <a:fillRect/>
                </a:stretch>
              </a:blipFill>
            </p:spPr>
            <p:txBody>
              <a:bodyPr/>
              <a:lstStyle/>
              <a:p>
                <a:endParaRPr lang="en-US"/>
              </a:p>
            </p:txBody>
          </p:sp>
        </mc:Fallback>
      </mc:AlternateContent>
      <p:sp>
        <p:nvSpPr>
          <p:cNvPr id="39" name="TextBox 38"/>
          <p:cNvSpPr txBox="1"/>
          <p:nvPr/>
        </p:nvSpPr>
        <p:spPr>
          <a:xfrm>
            <a:off x="928116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context</a:t>
            </a:r>
          </a:p>
        </p:txBody>
      </p:sp>
      <p:sp>
        <p:nvSpPr>
          <p:cNvPr id="40" name="Rounded Rectangle 39"/>
          <p:cNvSpPr/>
          <p:nvPr/>
        </p:nvSpPr>
        <p:spPr>
          <a:xfrm>
            <a:off x="1340739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1" name="Equation"/>
              <p:cNvSpPr txBox="1"/>
              <p:nvPr/>
            </p:nvSpPr>
            <p:spPr>
              <a:xfrm>
                <a:off x="1354455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500" i="1">
                              <a:solidFill>
                                <a:srgbClr val="DF8330"/>
                              </a:solidFill>
                              <a:latin typeface="Cambria Math" panose="02040503050406030204" pitchFamily="18" charset="0"/>
                            </a:rPr>
                          </m:ctrlPr>
                        </m:sSubPr>
                        <m:e>
                          <m:r>
                            <a:rPr lang="en-US" sz="2500" i="1">
                              <a:solidFill>
                                <a:srgbClr val="DF8330"/>
                              </a:solidFill>
                              <a:latin typeface="Cambria Math" panose="02040503050406030204" pitchFamily="18" charset="0"/>
                            </a:rPr>
                            <m:t xml:space="preserve">λ</m:t>
                          </m:r>
                        </m:e>
                        <m:sub>
                          <m:r>
                            <m:rPr>
                              <m:sty m:val="p"/>
                            </m:rPr>
                            <a:rPr lang="en-US" sz="2500">
                              <a:solidFill>
                                <a:srgbClr val="DF8330"/>
                              </a:solidFill>
                              <a:latin typeface="Cambria Math" panose="02040503050406030204" pitchFamily="18" charset="0"/>
                            </a:rPr>
                            <m:t xml:space="preserve">pref</m:t>
                          </m:r>
                        </m:sub>
                      </m:sSub>
                      <m:r>
                        <m:rPr>
                          <m:sty m:val="p"/>
                        </m:rPr>
                        <a:rPr lang="en-US" sz="2500">
                          <a:solidFill>
                            <a:srgbClr val="DF8330"/>
                          </a:solidFill>
                          <a:latin typeface="Cambria Math" panose="02040503050406030204" pitchFamily="18" charset="0"/>
                        </a:rPr>
                        <m:t xml:space="preserve">=0.20</m:t>
                      </m:r>
                    </m:oMath>
                  </m:oMathPara>
                </a14:m>
                <a:endParaRPr lang="en-US" sz="2500"/>
              </a:p>
            </p:txBody>
          </p:sp>
        </mc:Choice>
        <mc:Fallback>
          <p:sp>
            <p:nvSpPr>
              <p:cNvPr id="41" name="Equation"/>
              <p:cNvSpPr txBox="1"/>
              <p:nvPr/>
            </p:nvSpPr>
            <p:spPr>
              <a:xfrm>
                <a:off x="13544550" y="5311394"/>
                <a:ext cx="3577590" cy="621792"/>
              </a:xfrm>
              <a:prstGeom prst="rect">
                <a:avLst/>
              </a:prstGeom>
              <a:blipFill>
                <a:blip r:embed="rId10"/>
                <a:stretch>
                  <a:fillRect/>
                </a:stretch>
              </a:blipFill>
            </p:spPr>
            <p:txBody>
              <a:bodyPr/>
              <a:lstStyle/>
              <a:p>
                <a:endParaRPr lang="en-US"/>
              </a:p>
            </p:txBody>
          </p:sp>
        </mc:Fallback>
      </mc:AlternateContent>
      <p:sp>
        <p:nvSpPr>
          <p:cNvPr id="42" name="TextBox 41"/>
          <p:cNvSpPr txBox="1"/>
          <p:nvPr/>
        </p:nvSpPr>
        <p:spPr>
          <a:xfrm>
            <a:off x="1340739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preference weighting</a:t>
            </a:r>
          </a:p>
        </p:txBody>
      </p:sp>
      <p:sp>
        <p:nvSpPr>
          <p:cNvPr id="43" name="Rounded Rectangle 42"/>
          <p:cNvSpPr/>
          <p:nvPr/>
        </p:nvSpPr>
        <p:spPr>
          <a:xfrm>
            <a:off x="1028700" y="6884162"/>
            <a:ext cx="7932420" cy="2470150"/>
          </a:xfrm>
          <a:prstGeom prst="roundRect">
            <a:avLst>
              <a:gd name="adj" fmla="val 12586"/>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485900" y="6646418"/>
            <a:ext cx="343172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Alignment by design</a:t>
            </a:r>
          </a:p>
        </p:txBody>
      </p:sp>
      <p:sp>
        <p:nvSpPr>
          <p:cNvPr id="45" name="TextBox 44"/>
          <p:cNvSpPr txBox="1"/>
          <p:nvPr/>
        </p:nvSpPr>
        <p:spPr>
          <a:xfrm>
            <a:off x="1531620" y="7524242"/>
            <a:ext cx="6972300" cy="1555750"/>
          </a:xfrm>
          <a:prstGeom prst="rect">
            <a:avLst/>
          </a:prstGeom>
          <a:noFill/>
        </p:spPr>
        <p:txBody>
          <a:bodyPr anchor="t" rtlCol="false" lIns="0" tIns="0" rIns="0" bIns="0" wrap="square"/>
          <a:lstStyle/>
          <a:p>
            <a:pPr algn="l" marL="274320" indent="-274320">
              <a:lnSpc>
                <a:spcPts val="2632"/>
              </a:lnSpc>
              <a:spcBef>
                <a:spcPts val="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The </a:t>
            </a:r>
            <a:r>
              <a:rPr lang="en-US" sz="1880" b="true">
                <a:solidFill>
                  <a:srgbClr val="111111"/>
                </a:solidFill>
                <a:latin typeface="Nunito Bold"/>
                <a:ea typeface="Nunito Bold"/>
                <a:cs typeface="Nunito Bold"/>
                <a:sym typeface="Nunito Bold"/>
              </a:rPr>
              <a:t>same trade-off</a:t>
            </a:r>
            <a:r>
              <a:rPr lang="en-US" sz="1880" b="true">
                <a:solidFill>
                  <a:srgbClr val="111111"/>
                </a:solidFill>
                <a:latin typeface="Nunito Semi-Bold"/>
                <a:ea typeface="Nunito Semi-Bold"/>
                <a:cs typeface="Nunito Semi-Bold"/>
                <a:sym typeface="Nunito Semi-Bold"/>
              </a:rPr>
              <a:t> the recommender must satisfy is the one from which attribution is computed.</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Explanatory game and predictive objective are </a:t>
            </a:r>
            <a:r>
              <a:rPr lang="en-US" sz="1880" b="true">
                <a:solidFill>
                  <a:srgbClr val="111111"/>
                </a:solidFill>
                <a:latin typeface="Nunito Bold"/>
                <a:ea typeface="Nunito Bold"/>
                <a:cs typeface="Nunito Bold"/>
                <a:sym typeface="Nunito Bold"/>
              </a:rPr>
              <a:t>aligned by design</a:t>
            </a:r>
            <a:r>
              <a:rPr lang="en-US" sz="1880" b="true">
                <a:solidFill>
                  <a:srgbClr val="111111"/>
                </a:solidFill>
                <a:latin typeface="Nunito Semi-Bold"/>
                <a:ea typeface="Nunito Semi-Bold"/>
                <a:cs typeface="Nunito Semi-Bold"/>
                <a:sym typeface="Nunito Semi-Bold"/>
              </a:rPr>
              <a:t>.</a:t>
            </a:r>
          </a:p>
        </p:txBody>
      </p:sp>
      <p:sp>
        <p:nvSpPr>
          <p:cNvPr id="46" name="Rounded Rectangle 45"/>
          <p:cNvSpPr/>
          <p:nvPr/>
        </p:nvSpPr>
        <p:spPr>
          <a:xfrm>
            <a:off x="9326880" y="6884162"/>
            <a:ext cx="7932420" cy="2470150"/>
          </a:xfrm>
          <a:prstGeom prst="roundRect">
            <a:avLst>
              <a:gd name="adj" fmla="val 12586"/>
            </a:avLst>
          </a:prstGeom>
          <a:solidFill>
            <a:srgbClr val="124944"/>
          </a:solidFill>
          <a:ln>
            <a:noFill/>
          </a:ln>
        </p:spPr>
        <p:txBody>
          <a:bodyPr anchor="ctr" rtlCol="false" lIns="0" tIns="0" rIns="0" bIns="0" wrap="square"/>
          <a:lstStyle/>
          <a:p>
            <a:endParaRPr lang="en-US" sz="1800"/>
          </a:p>
        </p:txBody>
      </p:sp>
      <p:sp>
        <p:nvSpPr>
          <p:cNvPr id="47" name="Rounded Rectangle 46"/>
          <p:cNvSpPr/>
          <p:nvPr/>
        </p:nvSpPr>
        <p:spPr>
          <a:xfrm>
            <a:off x="9784080" y="6646418"/>
            <a:ext cx="272320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Tuning &amp; scope</a:t>
            </a:r>
          </a:p>
        </p:txBody>
      </p:sp>
      <p:sp>
        <p:nvSpPr>
          <p:cNvPr id="48" name="TextBox 47"/>
          <p:cNvSpPr txBox="1"/>
          <p:nvPr/>
        </p:nvSpPr>
        <p:spPr>
          <a:xfrm>
            <a:off x="9829800" y="7524242"/>
            <a:ext cx="6972300" cy="1555750"/>
          </a:xfrm>
          <a:prstGeom prst="rect">
            <a:avLst/>
          </a:prstGeom>
          <a:noFill/>
        </p:spPr>
        <p:txBody>
          <a:bodyPr anchor="t" rtlCol="false" lIns="0" tIns="0" rIns="0" bIns="0" wrap="square"/>
          <a:lstStyle/>
          <a:p>
            <a:pPr algn="l" marL="274320" indent="-274320">
              <a:lnSpc>
                <a:spcPts val="2632"/>
              </a:lnSpc>
              <a:spcBef>
                <a:spcPts val="0"/>
              </a:spcBef>
              <a:buClr>
                <a:srgbClr val="ECC665"/>
              </a:buClr>
              <a:buSzPct val="100000"/>
              <a:buFont typeface="Arial"/>
              <a:buChar char="•"/>
            </a:pPr>
            <a:r>
              <a:rPr lang="en-US" sz="1880" b="true">
                <a:solidFill>
                  <a:srgbClr val="FFFFFF"/>
                </a:solidFill>
                <a:latin typeface="Nunito Semi-Bold"/>
                <a:ea typeface="Nunito Semi-Bold"/>
                <a:cs typeface="Nunito Semi-Bold"/>
                <a:sym typeface="Nunito Semi-Bold"/>
              </a:rPr>
              <a:t>Weights </a:t>
            </a:r>
            <a:r>
              <a:rPr lang="en-US" sz="1880" b="true">
                <a:solidFill>
                  <a:srgbClr val="FFFFFF"/>
                </a:solidFill>
                <a:latin typeface="Nunito Bold"/>
                <a:ea typeface="Nunito Bold"/>
                <a:cs typeface="Nunito Bold"/>
                <a:sym typeface="Nunito Bold"/>
              </a:rPr>
              <a:t>grid-searched</a:t>
            </a:r>
            <a:r>
              <a:rPr lang="en-US" sz="1880" b="true">
                <a:solidFill>
                  <a:srgbClr val="FFFFFF"/>
                </a:solidFill>
                <a:latin typeface="Nunito Semi-Bold"/>
                <a:ea typeface="Nunito Semi-Bold"/>
                <a:cs typeface="Nunito Semi-Bold"/>
                <a:sym typeface="Nunito Semi-Bold"/>
              </a:rPr>
              <a:t>; stable, with </a:t>
            </a:r>
            <a:r>
              <a:rPr lang="en-US" sz="1880" b="true">
                <a:solidFill>
                  <a:srgbClr val="FFFFFF"/>
                </a:solidFill>
                <a:latin typeface="Nunito Bold"/>
                <a:ea typeface="Nunito Bold"/>
                <a:cs typeface="Nunito Bold"/>
                <a:sym typeface="Nunito Bold"/>
              </a:rPr>
              <a:t>&lt; 1.5 % variance</a:t>
            </a:r>
            <a:r>
              <a:rPr lang="en-US" sz="1880" b="true">
                <a:solidFill>
                  <a:srgbClr val="FFFFFF"/>
                </a:solidFill>
                <a:latin typeface="Nunito Semi-Bold"/>
                <a:ea typeface="Nunito Semi-Bold"/>
                <a:cs typeface="Nunito Semi-Bold"/>
                <a:sym typeface="Nunito Semi-Bold"/>
              </a:rPr>
              <a:t> in NDCG@20 around the optimum.</a:t>
            </a:r>
          </a:p>
          <a:p>
            <a:pPr algn="l" marL="274320" indent="-274320">
              <a:lnSpc>
                <a:spcPts val="2632"/>
              </a:lnSpc>
              <a:spcBef>
                <a:spcPts val="940"/>
              </a:spcBef>
              <a:buClr>
                <a:srgbClr val="ECC665"/>
              </a:buClr>
              <a:buSzPct val="100000"/>
              <a:buFont typeface="Arial"/>
              <a:buChar char="•"/>
            </a:pPr>
            <a:r>
              <a:rPr lang="en-US" sz="1880" b="true">
                <a:solidFill>
                  <a:srgbClr val="FFFFFF"/>
                </a:solidFill>
                <a:latin typeface="Nunito Semi-Bold"/>
                <a:ea typeface="Nunito Semi-Bold"/>
                <a:cs typeface="Nunito Semi-Bold"/>
                <a:sym typeface="Nunito Semi-Bold"/>
              </a:rPr>
              <a:t>Coalition evaluation is limited to the </a:t>
            </a:r>
            <a:r>
              <a:rPr lang="en-US" sz="1880" b="true">
                <a:solidFill>
                  <a:srgbClr val="FFFFFF"/>
                </a:solidFill>
                <a:latin typeface="Nunito Bold"/>
                <a:ea typeface="Nunito Bold"/>
                <a:cs typeface="Nunito Bold"/>
                <a:sym typeface="Nunito Bold"/>
              </a:rPr>
              <a:t>interaction episode</a:t>
            </a:r>
            <a:r>
              <a:rPr lang="en-US" sz="1880" b="true">
                <a:solidFill>
                  <a:srgbClr val="FFFFFF"/>
                </a:solidFill>
                <a:latin typeface="Nunito Semi-Bold"/>
                <a:ea typeface="Nunito Semi-Bold"/>
                <a:cs typeface="Nunito Semi-Bold"/>
                <a:sym typeface="Nunito Semi-Bold"/>
              </a:rPr>
              <a:t> (a few dozen players), not the full catalogue.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124944"/>
                              </a:solidFill>
                              <a:latin typeface="Cambria Math" panose="02040503050406030204" pitchFamily="18" charset="0"/>
                            </a:rPr>
                          </m:ctrlPr>
                        </m:sSubPr>
                        <m:e>
                          <m:acc>
                            <m:accPr>
                              <m:chr m:val="̂"/>
                              <m:ctrlPr>
                                <a:rPr lang="en-US" sz="2350" i="1">
                                  <a:solidFill>
                                    <a:srgbClr val="124944"/>
                                  </a:solidFill>
                                  <a:latin typeface="Cambria Math" panose="02040503050406030204" pitchFamily="18" charset="0"/>
                                </a:rPr>
                              </m:ctrlPr>
                            </m:accPr>
                            <m:e>
                              <m:r>
                                <a:rPr lang="en-US" sz="2350" i="1">
                                  <a:solidFill>
                                    <a:srgbClr val="124944"/>
                                  </a:solidFill>
                                  <a:latin typeface="Cambria Math" panose="02040503050406030204" pitchFamily="18" charset="0"/>
                                </a:rPr>
                                <m:t xml:space="preserve">φ</m:t>
                              </m:r>
                            </m:e>
                          </m:acc>
                        </m:e>
                        <m:sub>
                          <m:r>
                            <a:rPr lang="en-US" sz="2350" i="1">
                              <a:solidFill>
                                <a:srgbClr val="124944"/>
                              </a:solidFill>
                              <a:latin typeface="Cambria Math" panose="02040503050406030204" pitchFamily="18" charset="0"/>
                            </a:rPr>
                            <m:t xml:space="preserve">j</m:t>
                          </m:r>
                        </m:sub>
                      </m:sSub>
                      <m:r>
                        <m:rPr>
                          <m:sty m:val="p"/>
                        </m:rPr>
                        <a:rPr lang="en-US" sz="2350">
                          <a:solidFill>
                            <a:srgbClr val="124944"/>
                          </a:solidFill>
                          <a:latin typeface="Cambria Math" panose="02040503050406030204" pitchFamily="18" charset="0"/>
                        </a:rPr>
                        <m:t xml:space="preserve">=</m:t>
                      </m:r>
                      <m:f>
                        <m:fPr>
                          <m:ctrlPr>
                            <a:rPr lang="en-US" sz="2350" i="1">
                              <a:solidFill>
                                <a:srgbClr val="124944"/>
                              </a:solidFill>
                              <a:latin typeface="Cambria Math" panose="02040503050406030204" pitchFamily="18" charset="0"/>
                            </a:rPr>
                          </m:ctrlPr>
                        </m:fPr>
                        <m:num>
                          <m:r>
                            <m:rPr>
                              <m:sty m:val="p"/>
                            </m:rPr>
                            <a:rPr lang="en-US" sz="2350">
                              <a:solidFill>
                                <a:srgbClr val="124944"/>
                              </a:solidFill>
                              <a:latin typeface="Cambria Math" panose="02040503050406030204" pitchFamily="18" charset="0"/>
                            </a:rPr>
                            <m:t xml:space="preserve">1</m:t>
                          </m:r>
                        </m:num>
                        <m:den>
                          <m:r>
                            <a:rPr lang="en-US" sz="2350" i="1">
                              <a:solidFill>
                                <a:srgbClr val="124944"/>
                              </a:solidFill>
                              <a:latin typeface="Cambria Math" panose="02040503050406030204" pitchFamily="18" charset="0"/>
                            </a:rPr>
                            <m:t xml:space="preserve">M</m:t>
                          </m:r>
                        </m:den>
                      </m:f>
                      <m:nary>
                        <m:naryPr>
                          <m:chr m:val="∑"/>
                          <m:limLoc m:val="undOvr"/>
                          <m:ctrlPr>
                            <a:rPr lang="en-US" sz="2350" i="1">
                              <a:solidFill>
                                <a:srgbClr val="124944"/>
                              </a:solidFill>
                              <a:latin typeface="Cambria Math" panose="02040503050406030204" pitchFamily="18" charset="0"/>
                            </a:rPr>
                          </m:ctrlPr>
                        </m:naryPr>
                        <m:sub>
                          <m:r>
                            <a:rPr lang="en-US" sz="2350" i="1">
                              <a:solidFill>
                                <a:srgbClr val="124944"/>
                              </a:solidFill>
                              <a:latin typeface="Cambria Math" panose="02040503050406030204" pitchFamily="18" charset="0"/>
                            </a:rPr>
                            <m:t xml:space="preserve">m</m:t>
                          </m:r>
                          <m:r>
                            <m:rPr>
                              <m:sty m:val="p"/>
                            </m:rPr>
                            <a:rPr lang="en-US" sz="2350">
                              <a:solidFill>
                                <a:srgbClr val="124944"/>
                              </a:solidFill>
                              <a:latin typeface="Cambria Math" panose="02040503050406030204" pitchFamily="18" charset="0"/>
                            </a:rPr>
                            <m:t xml:space="preserve">=1</m:t>
                          </m:r>
                        </m:sub>
                        <m:sup>
                          <m:r>
                            <a:rPr lang="en-US" sz="2350" i="1">
                              <a:solidFill>
                                <a:srgbClr val="124944"/>
                              </a:solidFill>
                              <a:latin typeface="Cambria Math" panose="02040503050406030204" pitchFamily="18" charset="0"/>
                            </a:rPr>
                            <m:t xml:space="preserve">M</m:t>
                          </m:r>
                        </m:sup>
                        <m:e>
                          <m:d>
                            <m:dPr>
                              <m:begChr m:val="["/>
                              <m:endChr m:val="]"/>
                              <m:ctrlPr>
                                <a:rPr lang="en-US" sz="2350" i="1">
                                  <a:solidFill>
                                    <a:srgbClr val="124944"/>
                                  </a:solidFill>
                                  <a:latin typeface="Cambria Math" panose="02040503050406030204" pitchFamily="18" charset="0"/>
                                </a:rPr>
                              </m:ctrlPr>
                            </m:dPr>
                            <m:e>
                              <m:r>
                                <m:rPr>
                                  <m:sty m:val="p"/>
                                </m:rPr>
                                <a:rPr lang="en-US" sz="2350">
                                  <a:solidFill>
                                    <a:srgbClr val="124944"/>
                                  </a:solidFill>
                                  <a:latin typeface="Cambria Math" panose="02040503050406030204" pitchFamily="18" charset="0"/>
                                </a:rPr>
                                <m:t xml:space="preserve"> </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j</m:t>
                              </m:r>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DF8330"/>
                              </a:solidFill>
                              <a:latin typeface="Cambria Math" panose="02040503050406030204" pitchFamily="18" charset="0"/>
                            </a:rPr>
                          </m:ctrlPr>
                        </m:sSubSupPr>
                        <m:e>
                          <m:acc>
                            <m:accPr>
                              <m:chr m:val="̂"/>
                              <m:ctrlPr>
                                <a:rPr lang="en-US" sz="2350" i="1">
                                  <a:solidFill>
                                    <a:srgbClr val="DF8330"/>
                                  </a:solidFill>
                                  <a:latin typeface="Cambria Math" panose="02040503050406030204" pitchFamily="18" charset="0"/>
                                </a:rPr>
                              </m:ctrlPr>
                            </m:accPr>
                            <m:e>
                              <m:r>
                                <a:rPr lang="en-US" sz="2350" i="1">
                                  <a:solidFill>
                                    <a:srgbClr val="DF8330"/>
                                  </a:solidFill>
                                  <a:latin typeface="Cambria Math" panose="02040503050406030204" pitchFamily="18" charset="0"/>
                                </a:rPr>
                                <m:t xml:space="preserve">φ</m:t>
                              </m:r>
                            </m:e>
                          </m:acc>
                        </m:e>
                        <m:sub>
                          <m:r>
                            <a:rPr lang="en-US" sz="2350" i="1">
                              <a:solidFill>
                                <a:srgbClr val="DF8330"/>
                              </a:solidFill>
                              <a:latin typeface="Cambria Math" panose="02040503050406030204" pitchFamily="18" charset="0"/>
                            </a:rPr>
                            <m:t xml:space="preserve">j</m:t>
                          </m:r>
                        </m:sub>
                        <m:sup>
                          <m:r>
                            <m:rPr>
                              <m:sty m:val="p"/>
                            </m:rPr>
                            <a:rPr lang="en-US" sz="2350">
                              <a:solidFill>
                                <a:srgbClr val="DF8330"/>
                              </a:solidFill>
                              <a:latin typeface="Cambria Math" panose="02040503050406030204" pitchFamily="18" charset="0"/>
                            </a:rPr>
                            <m:t xml:space="preserve"> pref</m:t>
                          </m:r>
                        </m:sup>
                      </m:sSubSup>
                      <m:r>
                        <m:rPr>
                          <m:sty m:val="p"/>
                        </m:rPr>
                        <a:rPr lang="en-US" sz="2350">
                          <a:solidFill>
                            <a:srgbClr val="DF8330"/>
                          </a:solidFill>
                          <a:latin typeface="Cambria Math" panose="02040503050406030204" pitchFamily="18" charset="0"/>
                        </a:rPr>
                        <m:t xml:space="preserve">=</m:t>
                      </m:r>
                      <m:f>
                        <m:fPr>
                          <m:ctrlPr>
                            <a:rPr lang="en-US" sz="2350" i="1">
                              <a:solidFill>
                                <a:srgbClr val="DF8330"/>
                              </a:solidFill>
                              <a:latin typeface="Cambria Math" panose="02040503050406030204" pitchFamily="18" charset="0"/>
                            </a:rPr>
                          </m:ctrlPr>
                        </m:fPr>
                        <m:num>
                          <m:r>
                            <m:rPr>
                              <m:sty m:val="p"/>
                            </m:rPr>
                            <a:rPr lang="en-US" sz="2350">
                              <a:solidFill>
                                <a:srgbClr val="DF8330"/>
                              </a:solidFill>
                              <a:latin typeface="Cambria Math" panose="02040503050406030204" pitchFamily="18" charset="0"/>
                            </a:rPr>
                            <m:t xml:space="preserve">1</m:t>
                          </m:r>
                        </m:num>
                        <m:den>
                          <m:r>
                            <a:rPr lang="en-US" sz="2350" i="1">
                              <a:solidFill>
                                <a:srgbClr val="DF8330"/>
                              </a:solidFill>
                              <a:latin typeface="Cambria Math" panose="02040503050406030204" pitchFamily="18" charset="0"/>
                            </a:rPr>
                            <m:t xml:space="preserve">M</m:t>
                          </m:r>
                        </m:den>
                      </m:f>
                      <m:nary>
                        <m:naryPr>
                          <m:chr m:val="∑"/>
                          <m:limLoc m:val="undOvr"/>
                          <m:ctrlPr>
                            <a:rPr lang="en-US" sz="2350" i="1">
                              <a:solidFill>
                                <a:srgbClr val="DF8330"/>
                              </a:solidFill>
                              <a:latin typeface="Cambria Math" panose="02040503050406030204" pitchFamily="18" charset="0"/>
                            </a:rPr>
                          </m:ctrlPr>
                        </m:naryPr>
                        <m:sub>
                          <m:r>
                            <a:rPr lang="en-US" sz="2350" i="1">
                              <a:solidFill>
                                <a:srgbClr val="DF8330"/>
                              </a:solidFill>
                              <a:latin typeface="Cambria Math" panose="02040503050406030204" pitchFamily="18" charset="0"/>
                            </a:rPr>
                            <m:t xml:space="preserve">m</m:t>
                          </m:r>
                          <m:r>
                            <m:rPr>
                              <m:sty m:val="p"/>
                            </m:rPr>
                            <a:rPr lang="en-US" sz="2350">
                              <a:solidFill>
                                <a:srgbClr val="DF8330"/>
                              </a:solidFill>
                              <a:latin typeface="Cambria Math" panose="02040503050406030204" pitchFamily="18" charset="0"/>
                            </a:rPr>
                            <m:t xml:space="preserve">=1</m:t>
                          </m:r>
                        </m:sub>
                        <m:sup>
                          <m:r>
                            <a:rPr lang="en-US" sz="2350" i="1">
                              <a:solidFill>
                                <a:srgbClr val="DF8330"/>
                              </a:solidFill>
                              <a:latin typeface="Cambria Math" panose="02040503050406030204" pitchFamily="18" charset="0"/>
                            </a:rPr>
                            <m:t xml:space="preserve">M</m:t>
                          </m:r>
                        </m:sup>
                        <m:e>
                          <m:d>
                            <m:dPr>
                              <m:begChr m:val="["/>
                              <m:endChr m:val="]"/>
                              <m:ctrlPr>
                                <a:rPr lang="en-US" sz="2350" i="1">
                                  <a:solidFill>
                                    <a:srgbClr val="DF8330"/>
                                  </a:solidFill>
                                  <a:latin typeface="Cambria Math" panose="02040503050406030204" pitchFamily="18" charset="0"/>
                                </a:rPr>
                              </m:ctrlPr>
                            </m:dPr>
                            <m:e>
                              <m:r>
                                <m:rPr>
                                  <m:sty m:val="p"/>
                                </m:rPr>
                                <a:rPr lang="en-US" sz="2350">
                                  <a:solidFill>
                                    <a:srgbClr val="DF8330"/>
                                  </a:solidFill>
                                  <a:latin typeface="Cambria Math" panose="02040503050406030204" pitchFamily="18" charset="0"/>
                                </a:rPr>
                                <m:t xml:space="preserve"> </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m:t>
                              </m:r>
                              <m:r>
                                <a:rPr lang="en-US" sz="2350" i="1">
                                  <a:solidFill>
                                    <a:srgbClr val="DF8330"/>
                                  </a:solidFill>
                                  <a:latin typeface="Cambria Math" panose="02040503050406030204" pitchFamily="18" charset="0"/>
                                </a:rPr>
                                <m:t xml:space="preserve">j</m:t>
                              </m:r>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2"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32" name="Equation"/>
              <p:cNvSpPr txBox="1"/>
              <p:nvPr/>
            </p:nvSpPr>
            <p:spPr>
              <a:xfrm>
                <a:off x="1211580" y="6838442"/>
                <a:ext cx="8229600" cy="548640"/>
              </a:xfrm>
              <a:prstGeom prst="rect">
                <a:avLst/>
              </a:prstGeom>
              <a:blipFill>
                <a:blip r:embed="rId7"/>
                <a:stretch>
                  <a:fillRect/>
                </a:stretch>
              </a:blipFill>
            </p:spPr>
            <p:txBody>
              <a:bodyPr/>
              <a:lstStyle/>
              <a:p>
                <a:endParaRPr lang="en-US"/>
              </a:p>
            </p:txBody>
          </p:sp>
        </mc:Fallback>
      </mc:AlternateContent>
      <p:sp>
        <p:nvSpPr>
          <p:cNvPr id="33" name="TextBox 32"/>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DF8330"/>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DF8330"/>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DF8330"/>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4" name="Table 33"/>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5" name="TextBox 34"/>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6" name="Rounded Rectangle 35"/>
          <p:cNvSpPr/>
          <p:nvPr/>
        </p:nvSpPr>
        <p:spPr>
          <a:xfrm>
            <a:off x="10172700" y="6362954"/>
            <a:ext cx="7086600" cy="2945638"/>
          </a:xfrm>
          <a:prstGeom prst="roundRect">
            <a:avLst>
              <a:gd name="adj" fmla="val 10554"/>
            </a:avLst>
          </a:prstGeom>
          <a:solidFill>
            <a:srgbClr val="124944"/>
          </a:solidFill>
          <a:ln>
            <a:noFill/>
          </a:ln>
        </p:spPr>
        <p:txBody>
          <a:bodyPr anchor="ctr" rtlCol="false" lIns="0" tIns="0" rIns="0" bIns="0" wrap="square"/>
          <a:lstStyle/>
          <a:p>
            <a:endParaRPr lang="en-US" sz="1800"/>
          </a:p>
        </p:txBody>
      </p:sp>
      <p:sp>
        <p:nvSpPr>
          <p:cNvPr id="37" name="Rounded Rectangle 36"/>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In the training loop</a:t>
            </a:r>
          </a:p>
        </p:txBody>
      </p:sp>
      <p:sp>
        <p:nvSpPr>
          <p:cNvPr id="38" name="TextBox 37"/>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9"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9" name="Equation"/>
              <p:cNvSpPr txBox="1"/>
              <p:nvPr/>
            </p:nvSpPr>
            <p:spPr>
              <a:xfrm>
                <a:off x="10629900" y="8531352"/>
                <a:ext cx="6172200" cy="594360"/>
              </a:xfrm>
              <a:prstGeom prst="rect">
                <a:avLst/>
              </a:prstGeom>
              <a:blipFill>
                <a:blip r:embed="rId8"/>
                <a:stretch>
                  <a:fillRect/>
                </a:stretch>
              </a:blipFill>
            </p:spPr>
            <p:txBody>
              <a:bodyPr/>
              <a:lstStyle/>
              <a:p>
                <a:endParaRPr lang="en-US"/>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2011680"/>
          </a:xfrm>
          <a:prstGeom prst="roundRect">
            <a:avLst>
              <a:gd name="adj" fmla="val 1136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5541403" y="3500882"/>
            <a:ext cx="7205193" cy="1737360"/>
          </a:xfrm>
          <a:prstGeom prst="rect">
            <a:avLst/>
          </a:prstGeom>
        </p:spPr>
      </p:pic>
      <p:sp>
        <p:nvSpPr>
          <p:cNvPr id="30" name="Rounded Rectangle 29"/>
          <p:cNvSpPr/>
          <p:nvPr/>
        </p:nvSpPr>
        <p:spPr>
          <a:xfrm>
            <a:off x="1028700" y="5604002"/>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31" name="TextBox 30"/>
          <p:cNvSpPr txBox="1"/>
          <p:nvPr/>
        </p:nvSpPr>
        <p:spPr>
          <a:xfrm>
            <a:off x="1348740" y="5604002"/>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2" name="Equation"/>
              <p:cNvSpPr txBox="1"/>
              <p:nvPr/>
            </p:nvSpPr>
            <p:spPr>
              <a:xfrm>
                <a:off x="4686300" y="5604002"/>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2" name="Equation"/>
              <p:cNvSpPr txBox="1"/>
              <p:nvPr/>
            </p:nvSpPr>
            <p:spPr>
              <a:xfrm>
                <a:off x="4686300" y="5604002"/>
                <a:ext cx="12298680" cy="686054"/>
              </a:xfrm>
              <a:prstGeom prst="rect">
                <a:avLst/>
              </a:prstGeom>
              <a:blipFill>
                <a:blip r:embed="rId6"/>
                <a:stretch>
                  <a:fillRect/>
                </a:stretch>
              </a:blipFill>
            </p:spPr>
            <p:txBody>
              <a:bodyPr/>
              <a:lstStyle/>
              <a:p>
                <a:endParaRPr lang="en-US"/>
              </a:p>
            </p:txBody>
          </p:sp>
        </mc:Fallback>
      </mc:AlternateContent>
      <p:sp>
        <p:nvSpPr>
          <p:cNvPr id="33" name="Rounded Rectangle 32"/>
          <p:cNvSpPr/>
          <p:nvPr/>
        </p:nvSpPr>
        <p:spPr>
          <a:xfrm>
            <a:off x="1028700" y="6381496"/>
            <a:ext cx="16230600" cy="686054"/>
          </a:xfrm>
          <a:prstGeom prst="roundRect">
            <a:avLst>
              <a:gd name="adj" fmla="val 21325"/>
            </a:avLst>
          </a:prstGeom>
          <a:solidFill>
            <a:srgbClr val="FBF4EB"/>
          </a:solidFill>
          <a:ln>
            <a:noFill/>
          </a:ln>
        </p:spPr>
        <p:txBody>
          <a:bodyPr anchor="ctr" rtlCol="false" lIns="0" tIns="0" rIns="0" bIns="0" wrap="square"/>
          <a:lstStyle/>
          <a:p>
            <a:endParaRPr lang="en-US" sz="1800"/>
          </a:p>
        </p:txBody>
      </p:sp>
      <p:sp>
        <p:nvSpPr>
          <p:cNvPr id="34" name="TextBox 33"/>
          <p:cNvSpPr txBox="1"/>
          <p:nvPr/>
        </p:nvSpPr>
        <p:spPr>
          <a:xfrm>
            <a:off x="1348740" y="6381496"/>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5" name="Equation"/>
              <p:cNvSpPr txBox="1"/>
              <p:nvPr/>
            </p:nvSpPr>
            <p:spPr>
              <a:xfrm>
                <a:off x="4686300" y="6381496"/>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j</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+1)</m:t>
                          </m:r>
                        </m:sup>
                      </m:sSub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σ</m:t>
                      </m:r>
                      <m:d>
                        <m:dPr>
                          <m:ctrlPr>
                            <a:rPr lang="en-US" sz="1950" i="1">
                              <a:solidFill>
                                <a:srgbClr val="111111"/>
                              </a:solidFill>
                              <a:latin typeface="Cambria Math" panose="02040503050406030204" pitchFamily="18" charset="0"/>
                            </a:rPr>
                          </m:ctrlPr>
                        </m:dPr>
                        <m:e>
                          <m:sSup>
                            <m:sSupPr>
                              <m:ctrlPr>
                                <a:rPr lang="en-US" sz="1950" i="1">
                                  <a:solidFill>
                                    <a:srgbClr val="111111"/>
                                  </a:solidFill>
                                  <a:latin typeface="Cambria Math" panose="02040503050406030204" pitchFamily="18" charset="0"/>
                                </a:rPr>
                              </m:ctrlPr>
                            </m:sSupPr>
                            <m:e>
                              <m:r>
                                <a:rPr lang="en-US" sz="1950" i="1">
                                  <a:solidFill>
                                    <a:srgbClr val="111111"/>
                                  </a:solidFill>
                                  <a:latin typeface="Cambria Math" panose="02040503050406030204" pitchFamily="18" charset="0"/>
                                </a:rPr>
                                <m:t xml:space="preserve">W</m:t>
                              </m:r>
                            </m:e>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p>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j</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bSup>
                          <m:r>
                            <m:rPr>
                              <m:sty m:val="p"/>
                            </m:rPr>
                            <a:rPr lang="en-US" sz="1950">
                              <a:solidFill>
                                <a:srgbClr val="111111"/>
                              </a:solidFill>
                              <a:latin typeface="Cambria Math" panose="02040503050406030204" pitchFamily="18" charset="0"/>
                            </a:rPr>
                            <m:t xml:space="preserve">+</m:t>
                          </m:r>
                          <m:nary>
                            <m:naryPr>
                              <m:chr m:val="∑"/>
                              <m:limLoc m:val="subSup"/>
                              <m:supHide m:val="1"/>
                              <m:ctrlPr>
                                <a:rPr lang="en-US" sz="1950" i="1">
                                  <a:solidFill>
                                    <a:srgbClr val="111111"/>
                                  </a:solidFill>
                                  <a:latin typeface="Cambria Math" panose="02040503050406030204" pitchFamily="18" charset="0"/>
                                </a:rPr>
                              </m:ctrlPr>
                            </m:naryPr>
                            <m:sub>
                              <m:r>
                                <a:rPr lang="en-US" sz="1950" i="1">
                                  <a:solidFill>
                                    <a:srgbClr val="111111"/>
                                  </a:solidFill>
                                  <a:latin typeface="Cambria Math" panose="02040503050406030204" pitchFamily="18" charset="0"/>
                                </a:rPr>
                                <m:t xml:space="preserve">k</m:t>
                              </m:r>
                              <m:r>
                                <m:rPr>
                                  <m:sty m:val="p"/>
                                </m:rPr>
                                <a:rPr lang="en-US" sz="1950">
                                  <a:solidFill>
                                    <a:srgbClr val="111111"/>
                                  </a:solidFill>
                                  <a:latin typeface="Cambria Math" panose="02040503050406030204" pitchFamily="18" charset="0"/>
                                </a:rPr>
                                <m:t xml:space="preserve">∈</m:t>
                              </m:r>
                              <m:r>
                                <m:rPr>
                                  <m:scr m:val="script"/>
                                  <m:sty m:val="p"/>
                                </m:rPr>
                                <a:rPr lang="en-US" sz="1950">
                                  <a:solidFill>
                                    <a:srgbClr val="111111"/>
                                  </a:solidFill>
                                  <a:latin typeface="Cambria Math" panose="02040503050406030204" pitchFamily="18" charset="0"/>
                                </a:rPr>
                                <m:t xml:space="preserve">N</m:t>
                              </m:r>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j</m:t>
                              </m:r>
                              <m:r>
                                <m:rPr>
                                  <m:sty m:val="p"/>
                                </m:rPr>
                                <a:rPr lang="en-US" sz="1950">
                                  <a:solidFill>
                                    <a:srgbClr val="111111"/>
                                  </a:solidFill>
                                  <a:latin typeface="Cambria Math" panose="02040503050406030204" pitchFamily="18" charset="0"/>
                                </a:rPr>
                                <m:t xml:space="preserve">)</m:t>
                              </m:r>
                            </m:sub>
                            <m:sup/>
                            <m:e>
                              <m:sSub>
                                <m:sSubPr>
                                  <m:ctrlPr>
                                    <a:rPr lang="en-US" sz="1950" i="1">
                                      <a:solidFill>
                                        <a:srgbClr val="111111"/>
                                      </a:solidFill>
                                      <a:latin typeface="Cambria Math" panose="02040503050406030204" pitchFamily="18" charset="0"/>
                                    </a:rPr>
                                  </m:ctrlPr>
                                </m:sSubPr>
                                <m:e>
                                  <m:r>
                                    <a:rPr lang="en-US" sz="1950" i="1">
                                      <a:solidFill>
                                        <a:srgbClr val="111111"/>
                                      </a:solidFill>
                                      <a:latin typeface="Cambria Math" panose="02040503050406030204" pitchFamily="18" charset="0"/>
                                    </a:rPr>
                                    <m:t xml:space="preserve">w</m:t>
                                  </m:r>
                                </m:e>
                                <m:sub>
                                  <m:r>
                                    <a:rPr lang="en-US" sz="1950" i="1">
                                      <a:solidFill>
                                        <a:srgbClr val="111111"/>
                                      </a:solidFill>
                                      <a:latin typeface="Cambria Math" panose="02040503050406030204" pitchFamily="18" charset="0"/>
                                    </a:rPr>
                                    <m:t xml:space="preserve">jk</m:t>
                                  </m:r>
                                </m:sub>
                              </m:sSub>
                            </m:e>
                          </m:nary>
                          <m:r>
                            <m:rPr>
                              <m:sty m:val="p"/>
                            </m:rPr>
                            <a:rPr lang="en-US" sz="1950">
                              <a:solidFill>
                                <a:srgbClr val="111111"/>
                              </a:solidFill>
                              <a:latin typeface="Cambria Math" panose="02040503050406030204" pitchFamily="18" charset="0"/>
                            </a:rPr>
                            <m:t xml:space="preserve"> </m:t>
                          </m:r>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k</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bSup>
                        </m:e>
                      </m:d>
                    </m:oMath>
                  </m:oMathPara>
                </a14:m>
                <a:endParaRPr lang="en-US" sz="1950"/>
              </a:p>
            </p:txBody>
          </p:sp>
        </mc:Choice>
        <mc:Fallback>
          <p:sp>
            <p:nvSpPr>
              <p:cNvPr id="35" name="Equation"/>
              <p:cNvSpPr txBox="1"/>
              <p:nvPr/>
            </p:nvSpPr>
            <p:spPr>
              <a:xfrm>
                <a:off x="4686300" y="6381496"/>
                <a:ext cx="12298680" cy="686054"/>
              </a:xfrm>
              <a:prstGeom prst="rect">
                <a:avLst/>
              </a:prstGeom>
              <a:blipFill>
                <a:blip r:embed="rId7"/>
                <a:stretch>
                  <a:fillRect/>
                </a:stretch>
              </a:blipFill>
            </p:spPr>
            <p:txBody>
              <a:bodyPr/>
              <a:lstStyle/>
              <a:p>
                <a:endParaRPr lang="en-US"/>
              </a:p>
            </p:txBody>
          </p:sp>
        </mc:Fallback>
      </mc:AlternateContent>
      <p:sp>
        <p:nvSpPr>
          <p:cNvPr id="36" name="Rounded Rectangle 35"/>
          <p:cNvSpPr/>
          <p:nvPr/>
        </p:nvSpPr>
        <p:spPr>
          <a:xfrm>
            <a:off x="1028700" y="7158990"/>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37" name="TextBox 36"/>
          <p:cNvSpPr txBox="1"/>
          <p:nvPr/>
        </p:nvSpPr>
        <p:spPr>
          <a:xfrm>
            <a:off x="1348740" y="7158990"/>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8" name="Equation"/>
              <p:cNvSpPr txBox="1"/>
              <p:nvPr/>
            </p:nvSpPr>
            <p:spPr>
              <a:xfrm>
                <a:off x="4686300" y="7158990"/>
                <a:ext cx="937260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φ</m:t>
                              </m:r>
                            </m:e>
                          </m:acc>
                        </m:e>
                        <m:sub>
                          <m:r>
                            <a:rPr lang="en-US" sz="2200" i="1">
                              <a:solidFill>
                                <a:srgbClr val="111111"/>
                              </a:solidFill>
                              <a:latin typeface="Cambria Math" panose="02040503050406030204" pitchFamily="18" charset="0"/>
                            </a:rPr>
                            <m:t xml:space="preserve">jk</m:t>
                          </m:r>
                        </m:sub>
                      </m:sSub>
                      <m:r>
                        <m:rPr>
                          <m:sty m:val="p"/>
                        </m:rPr>
                        <a:rPr lang="en-US" sz="2200">
                          <a:solidFill>
                            <a:srgbClr val="111111"/>
                          </a:solidFill>
                          <a:latin typeface="Cambria Math" panose="02040503050406030204" pitchFamily="18" charset="0"/>
                        </a:rPr>
                        <m:t xml:space="preserve"> / </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φ</m:t>
                                  </m:r>
                                </m:e>
                              </m:acc>
                            </m:e>
                            <m:sub>
                              <m:r>
                                <a:rPr lang="en-US" sz="2200" i="1">
                                  <a:solidFill>
                                    <a:srgbClr val="111111"/>
                                  </a:solidFill>
                                  <a:latin typeface="Cambria Math" panose="02040503050406030204" pitchFamily="18" charset="0"/>
                                </a:rPr>
                                <m:t xml:space="preserve">jk′</m:t>
                              </m:r>
                            </m:sub>
                          </m:sSub>
                        </m:e>
                      </m:nary>
                    </m:oMath>
                  </m:oMathPara>
                </a14:m>
                <a:endParaRPr lang="en-US" sz="2200"/>
              </a:p>
            </p:txBody>
          </p:sp>
        </mc:Choice>
        <mc:Fallback>
          <p:sp>
            <p:nvSpPr>
              <p:cNvPr id="38" name="Equation"/>
              <p:cNvSpPr txBox="1"/>
              <p:nvPr/>
            </p:nvSpPr>
            <p:spPr>
              <a:xfrm>
                <a:off x="4686300" y="7158990"/>
                <a:ext cx="9372600" cy="686054"/>
              </a:xfrm>
              <a:prstGeom prst="rect">
                <a:avLst/>
              </a:prstGeom>
              <a:blipFill>
                <a:blip r:embed="rId8"/>
                <a:stretch>
                  <a:fillRect/>
                </a:stretch>
              </a:blipFill>
            </p:spPr>
            <p:txBody>
              <a:bodyPr/>
              <a:lstStyle/>
              <a:p>
                <a:endParaRPr lang="en-US"/>
              </a:p>
            </p:txBody>
          </p:sp>
        </mc:Fallback>
      </mc:AlternateContent>
      <p:sp>
        <p:nvSpPr>
          <p:cNvPr id="39" name="TextBox 38"/>
          <p:cNvSpPr txBox="1"/>
          <p:nvPr/>
        </p:nvSpPr>
        <p:spPr>
          <a:xfrm>
            <a:off x="14241780" y="7158990"/>
            <a:ext cx="2743200" cy="686054"/>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40" name="Rounded Rectangle 39"/>
          <p:cNvSpPr/>
          <p:nvPr/>
        </p:nvSpPr>
        <p:spPr>
          <a:xfrm>
            <a:off x="1028700" y="7936484"/>
            <a:ext cx="16230600" cy="686054"/>
          </a:xfrm>
          <a:prstGeom prst="roundRect">
            <a:avLst>
              <a:gd name="adj" fmla="val 21325"/>
            </a:avLst>
          </a:prstGeom>
          <a:solidFill>
            <a:srgbClr val="FBF4EB"/>
          </a:solidFill>
          <a:ln>
            <a:noFill/>
          </a:ln>
        </p:spPr>
        <p:txBody>
          <a:bodyPr anchor="ctr" rtlCol="false" lIns="0" tIns="0" rIns="0" bIns="0" wrap="square"/>
          <a:lstStyle/>
          <a:p>
            <a:endParaRPr lang="en-US" sz="1800"/>
          </a:p>
        </p:txBody>
      </p:sp>
      <p:sp>
        <p:nvSpPr>
          <p:cNvPr id="41" name="TextBox 40"/>
          <p:cNvSpPr txBox="1"/>
          <p:nvPr/>
        </p:nvSpPr>
        <p:spPr>
          <a:xfrm>
            <a:off x="1348740" y="7936484"/>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2" name="Equation"/>
              <p:cNvSpPr txBox="1"/>
              <p:nvPr/>
            </p:nvSpPr>
            <p:spPr>
              <a:xfrm>
                <a:off x="4686300" y="7936484"/>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2" name="Equation"/>
              <p:cNvSpPr txBox="1"/>
              <p:nvPr/>
            </p:nvSpPr>
            <p:spPr>
              <a:xfrm>
                <a:off x="4686300" y="7936484"/>
                <a:ext cx="12298680" cy="686054"/>
              </a:xfrm>
              <a:prstGeom prst="rect">
                <a:avLst/>
              </a:prstGeom>
              <a:blipFill>
                <a:blip r:embed="rId9"/>
                <a:stretch>
                  <a:fillRect/>
                </a:stretch>
              </a:blipFill>
            </p:spPr>
            <p:txBody>
              <a:bodyPr/>
              <a:lstStyle/>
              <a:p>
                <a:endParaRPr lang="en-US"/>
              </a:p>
            </p:txBody>
          </p:sp>
        </mc:Fallback>
      </mc:AlternateContent>
      <p:sp>
        <p:nvSpPr>
          <p:cNvPr id="43" name="Rounded Rectangle 42"/>
          <p:cNvSpPr/>
          <p:nvPr/>
        </p:nvSpPr>
        <p:spPr>
          <a:xfrm>
            <a:off x="1028700" y="8713978"/>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44" name="TextBox 43"/>
          <p:cNvSpPr txBox="1"/>
          <p:nvPr/>
        </p:nvSpPr>
        <p:spPr>
          <a:xfrm>
            <a:off x="1348740" y="8713978"/>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5" name="Equation"/>
              <p:cNvSpPr txBox="1"/>
              <p:nvPr/>
            </p:nvSpPr>
            <p:spPr>
              <a:xfrm>
                <a:off x="4686300" y="8713978"/>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5" name="Equation"/>
              <p:cNvSpPr txBox="1"/>
              <p:nvPr/>
            </p:nvSpPr>
            <p:spPr>
              <a:xfrm>
                <a:off x="4686300" y="8713978"/>
                <a:ext cx="12298680" cy="686054"/>
              </a:xfrm>
              <a:prstGeom prst="rect">
                <a:avLst/>
              </a:prstGeom>
              <a:blipFill>
                <a:blip r:embed="rId10"/>
                <a:stretch>
                  <a:fillRect/>
                </a:stretch>
              </a:blipFill>
            </p:spPr>
            <p:txBody>
              <a:bodyPr/>
              <a:lstStyle/>
              <a:p>
                <a:endParaRPr lang="en-US"/>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Multi-Objective Learning</a:t>
            </a:r>
          </a:p>
        </p:txBody>
      </p:sp>
      <p:pic>
        <p:nvPicPr>
          <p:cNvPr id="23" name="Picture 22" descr="image.png"/>
          <p:cNvPicPr>
            <a:picLocks noChangeAspect="1"/>
          </p:cNvPicPr>
          <p:nvPr/>
        </p:nvPicPr>
        <p:blipFill>
          <a:blip r:embed="rId3"/>
          <a:stretch>
            <a:fillRect/>
          </a:stretch>
        </p:blipFill>
        <p:spPr>
          <a:xfrm>
            <a:off x="769368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1188720"/>
          </a:xfrm>
          <a:prstGeom prst="roundRect">
            <a:avLst>
              <a:gd name="adj" fmla="val 23076"/>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394460" y="3363722"/>
                <a:ext cx="1549908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cr m:val="script"/>
                          <m:sty m:val="p"/>
                        </m:rPr>
                        <a:rPr lang="en-US" sz="3000">
                          <a:solidFill>
                            <a:srgbClr val="FFFFFF"/>
                          </a:solidFill>
                          <a:latin typeface="Cambria Math" panose="02040503050406030204" pitchFamily="18" charset="0"/>
                        </a:rPr>
                        <m:t xml:space="preserve">L</m:t>
                      </m:r>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rec</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div</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div</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ctx</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ctx</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reg</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reg</m:t>
                          </m:r>
                        </m:sub>
                      </m:sSub>
                    </m:oMath>
                  </m:oMathPara>
                </a14:m>
                <a:endParaRPr lang="en-US" sz="3000"/>
              </a:p>
            </p:txBody>
          </p:sp>
        </mc:Choice>
        <mc:Fallback>
          <p:sp>
            <p:nvSpPr>
              <p:cNvPr id="29" name="Equation"/>
              <p:cNvSpPr txBox="1"/>
              <p:nvPr/>
            </p:nvSpPr>
            <p:spPr>
              <a:xfrm>
                <a:off x="1394460" y="3363722"/>
                <a:ext cx="15499080" cy="1188720"/>
              </a:xfrm>
              <a:prstGeom prst="rect">
                <a:avLst/>
              </a:prstGeom>
              <a:blipFill>
                <a:blip r:embed="rId5"/>
                <a:stretch>
                  <a:fillRect/>
                </a:stretch>
              </a:blipFill>
            </p:spPr>
            <p:txBody>
              <a:bodyPr/>
              <a:lstStyle/>
              <a:p>
                <a:endParaRPr lang="en-US"/>
              </a:p>
            </p:txBody>
          </p:sp>
        </mc:Fallback>
      </mc:AlternateContent>
      <p:sp>
        <p:nvSpPr>
          <p:cNvPr id="30" name="Rounded Rectangle 29"/>
          <p:cNvSpPr/>
          <p:nvPr/>
        </p:nvSpPr>
        <p:spPr>
          <a:xfrm>
            <a:off x="1028700" y="4918202"/>
            <a:ext cx="3851910" cy="3200400"/>
          </a:xfrm>
          <a:prstGeom prst="roundRect">
            <a:avLst>
              <a:gd name="adj" fmla="val 8571"/>
            </a:avLst>
          </a:prstGeom>
          <a:solidFill>
            <a:srgbClr val="124944"/>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Bayesian Personalised Ranking</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pairwise loss for implicit feedback</a:t>
            </a:r>
          </a:p>
        </p:txBody>
      </p:sp>
      <mc:AlternateContent xmlns:mc="http://schemas.openxmlformats.org/markup-compatibility/2006">
        <mc:Choice xmlns:a14="http://schemas.microsoft.com/office/drawing/2010/main" Requires="a14">
          <p:sp>
            <p:nvSpPr>
              <p:cNvPr id="31" name="Equation"/>
              <p:cNvSpPr txBox="1"/>
              <p:nvPr/>
            </p:nvSpPr>
            <p:spPr>
              <a:xfrm>
                <a:off x="139446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rec</m:t>
                          </m:r>
                        </m:sub>
                      </m:sSub>
                    </m:oMath>
                  </m:oMathPara>
                </a14:m>
                <a:endParaRPr lang="en-US" sz="3200"/>
              </a:p>
            </p:txBody>
          </p:sp>
        </mc:Choice>
        <mc:Fallback>
          <p:sp>
            <p:nvSpPr>
              <p:cNvPr id="31" name="Equation"/>
              <p:cNvSpPr txBox="1"/>
              <p:nvPr/>
            </p:nvSpPr>
            <p:spPr>
              <a:xfrm>
                <a:off x="1394460" y="5192522"/>
                <a:ext cx="1828800" cy="777240"/>
              </a:xfrm>
              <a:prstGeom prst="rect">
                <a:avLst/>
              </a:prstGeom>
              <a:blipFill>
                <a:blip r:embed="rId6"/>
                <a:stretch>
                  <a:fillRect/>
                </a:stretch>
              </a:blipFill>
            </p:spPr>
            <p:txBody>
              <a:bodyPr/>
              <a:lstStyle/>
              <a:p>
                <a:endParaRPr lang="en-US"/>
              </a:p>
            </p:txBody>
          </p:sp>
        </mc:Fallback>
      </mc:AlternateContent>
      <p:sp>
        <p:nvSpPr>
          <p:cNvPr id="32" name="Rounded Rectangle 31"/>
          <p:cNvSpPr/>
          <p:nvPr/>
        </p:nvSpPr>
        <p:spPr>
          <a:xfrm>
            <a:off x="5154930" y="4918202"/>
            <a:ext cx="3851910" cy="3200400"/>
          </a:xfrm>
          <a:prstGeom prst="roundRect">
            <a:avLst>
              <a:gd name="adj" fmla="val 8571"/>
            </a:avLst>
          </a:prstGeom>
          <a:solidFill>
            <a:srgbClr val="1E5F58"/>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Intra-List Diversity regulariser</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penalises redundant ranked lists</a:t>
            </a:r>
          </a:p>
        </p:txBody>
      </p:sp>
      <mc:AlternateContent xmlns:mc="http://schemas.openxmlformats.org/markup-compatibility/2006">
        <mc:Choice xmlns:a14="http://schemas.microsoft.com/office/drawing/2010/main" Requires="a14">
          <p:sp>
            <p:nvSpPr>
              <p:cNvPr id="33" name="Equation"/>
              <p:cNvSpPr txBox="1"/>
              <p:nvPr/>
            </p:nvSpPr>
            <p:spPr>
              <a:xfrm>
                <a:off x="552069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div</m:t>
                          </m:r>
                        </m:sub>
                      </m:sSub>
                    </m:oMath>
                  </m:oMathPara>
                </a14:m>
                <a:endParaRPr lang="en-US" sz="3200"/>
              </a:p>
            </p:txBody>
          </p:sp>
        </mc:Choice>
        <mc:Fallback>
          <p:sp>
            <p:nvSpPr>
              <p:cNvPr id="33" name="Equation"/>
              <p:cNvSpPr txBox="1"/>
              <p:nvPr/>
            </p:nvSpPr>
            <p:spPr>
              <a:xfrm>
                <a:off x="5520690" y="5192522"/>
                <a:ext cx="1828800" cy="777240"/>
              </a:xfrm>
              <a:prstGeom prst="rect">
                <a:avLst/>
              </a:prstGeom>
              <a:blipFill>
                <a:blip r:embed="rId7"/>
                <a:stretch>
                  <a:fillRect/>
                </a:stretch>
              </a:blipFill>
            </p:spPr>
            <p:txBody>
              <a:bodyPr/>
              <a:lstStyle/>
              <a:p>
                <a:endParaRPr lang="en-US"/>
              </a:p>
            </p:txBody>
          </p:sp>
        </mc:Fallback>
      </mc:AlternateContent>
      <p:sp>
        <p:nvSpPr>
          <p:cNvPr id="34" name="Rounded Rectangle 33"/>
          <p:cNvSpPr/>
          <p:nvPr/>
        </p:nvSpPr>
        <p:spPr>
          <a:xfrm>
            <a:off x="9281160" y="4918202"/>
            <a:ext cx="3851910" cy="3200400"/>
          </a:xfrm>
          <a:prstGeom prst="roundRect">
            <a:avLst>
              <a:gd name="adj" fmla="val 8571"/>
            </a:avLst>
          </a:prstGeom>
          <a:solidFill>
            <a:srgbClr val="DF8330"/>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Context alignment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match context embedding to context-node representation</a:t>
            </a:r>
          </a:p>
        </p:txBody>
      </p:sp>
      <mc:AlternateContent xmlns:mc="http://schemas.openxmlformats.org/markup-compatibility/2006">
        <mc:Choice xmlns:a14="http://schemas.microsoft.com/office/drawing/2010/main" Requires="a14">
          <p:sp>
            <p:nvSpPr>
              <p:cNvPr id="35" name="Equation"/>
              <p:cNvSpPr txBox="1"/>
              <p:nvPr/>
            </p:nvSpPr>
            <p:spPr>
              <a:xfrm>
                <a:off x="964692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FFFFFF"/>
                              </a:solidFill>
                              <a:latin typeface="Cambria Math" panose="02040503050406030204" pitchFamily="18" charset="0"/>
                            </a:rPr>
                          </m:ctrlPr>
                        </m:sSubPr>
                        <m:e>
                          <m:r>
                            <m:rPr>
                              <m:scr m:val="script"/>
                              <m:sty m:val="p"/>
                            </m:rPr>
                            <a:rPr lang="en-US" sz="3200">
                              <a:solidFill>
                                <a:srgbClr val="FFFFFF"/>
                              </a:solidFill>
                              <a:latin typeface="Cambria Math" panose="02040503050406030204" pitchFamily="18" charset="0"/>
                            </a:rPr>
                            <m:t xml:space="preserve">L</m:t>
                          </m:r>
                        </m:e>
                        <m:sub>
                          <m:r>
                            <m:rPr>
                              <m:sty m:val="p"/>
                            </m:rPr>
                            <a:rPr lang="en-US" sz="3200">
                              <a:solidFill>
                                <a:srgbClr val="FFFFFF"/>
                              </a:solidFill>
                              <a:latin typeface="Cambria Math" panose="02040503050406030204" pitchFamily="18" charset="0"/>
                            </a:rPr>
                            <m:t xml:space="preserve">ctx</m:t>
                          </m:r>
                        </m:sub>
                      </m:sSub>
                    </m:oMath>
                  </m:oMathPara>
                </a14:m>
                <a:endParaRPr lang="en-US" sz="3200"/>
              </a:p>
            </p:txBody>
          </p:sp>
        </mc:Choice>
        <mc:Fallback>
          <p:sp>
            <p:nvSpPr>
              <p:cNvPr id="35" name="Equation"/>
              <p:cNvSpPr txBox="1"/>
              <p:nvPr/>
            </p:nvSpPr>
            <p:spPr>
              <a:xfrm>
                <a:off x="9646920" y="5192522"/>
                <a:ext cx="1828800" cy="777240"/>
              </a:xfrm>
              <a:prstGeom prst="rect">
                <a:avLst/>
              </a:prstGeom>
              <a:blipFill>
                <a:blip r:embed="rId8"/>
                <a:stretch>
                  <a:fillRect/>
                </a:stretch>
              </a:blipFill>
            </p:spPr>
            <p:txBody>
              <a:bodyPr/>
              <a:lstStyle/>
              <a:p>
                <a:endParaRPr lang="en-US"/>
              </a:p>
            </p:txBody>
          </p:sp>
        </mc:Fallback>
      </mc:AlternateContent>
      <p:sp>
        <p:nvSpPr>
          <p:cNvPr id="36" name="Rounded Rectangle 35"/>
          <p:cNvSpPr/>
          <p:nvPr/>
        </p:nvSpPr>
        <p:spPr>
          <a:xfrm>
            <a:off x="13407390" y="4918202"/>
            <a:ext cx="3851910" cy="3200400"/>
          </a:xfrm>
          <a:prstGeom prst="roundRect">
            <a:avLst>
              <a:gd name="adj" fmla="val 8571"/>
            </a:avLst>
          </a:prstGeom>
          <a:solidFill>
            <a:srgbClr val="111111"/>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L2 weight decay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regularisation</a:t>
            </a:r>
          </a:p>
        </p:txBody>
      </p:sp>
      <mc:AlternateContent xmlns:mc="http://schemas.openxmlformats.org/markup-compatibility/2006">
        <mc:Choice xmlns:a14="http://schemas.microsoft.com/office/drawing/2010/main" Requires="a14">
          <p:sp>
            <p:nvSpPr>
              <p:cNvPr id="37" name="Equation"/>
              <p:cNvSpPr txBox="1"/>
              <p:nvPr/>
            </p:nvSpPr>
            <p:spPr>
              <a:xfrm>
                <a:off x="1377315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reg</m:t>
                          </m:r>
                        </m:sub>
                      </m:sSub>
                    </m:oMath>
                  </m:oMathPara>
                </a14:m>
                <a:endParaRPr lang="en-US" sz="3200"/>
              </a:p>
            </p:txBody>
          </p:sp>
        </mc:Choice>
        <mc:Fallback>
          <p:sp>
            <p:nvSpPr>
              <p:cNvPr id="37" name="Equation"/>
              <p:cNvSpPr txBox="1"/>
              <p:nvPr/>
            </p:nvSpPr>
            <p:spPr>
              <a:xfrm>
                <a:off x="13773150" y="5192522"/>
                <a:ext cx="1828800" cy="777240"/>
              </a:xfrm>
              <a:prstGeom prst="rect">
                <a:avLst/>
              </a:prstGeom>
              <a:blipFill>
                <a:blip r:embed="rId9"/>
                <a:stretch>
                  <a:fillRect/>
                </a:stretch>
              </a:blipFill>
            </p:spPr>
            <p:txBody>
              <a:bodyPr/>
              <a:lstStyle/>
              <a:p>
                <a:endParaRPr lang="en-US"/>
              </a:p>
            </p:txBody>
          </p:sp>
        </mc:Fallback>
      </mc:AlternateContent>
      <p:sp>
        <p:nvSpPr>
          <p:cNvPr id="38" name="Rounded Rectangle 37"/>
          <p:cNvSpPr/>
          <p:nvPr/>
        </p:nvSpPr>
        <p:spPr>
          <a:xfrm>
            <a:off x="1028700" y="8530082"/>
            <a:ext cx="16230600" cy="824230"/>
          </a:xfrm>
          <a:prstGeom prst="roundRect">
            <a:avLst>
              <a:gd name="adj" fmla="val 27734"/>
            </a:avLst>
          </a:prstGeom>
          <a:solidFill>
            <a:srgbClr val="F6ECDF"/>
          </a:solidFill>
          <a:ln>
            <a:noFill/>
          </a:ln>
        </p:spPr>
        <p:txBody>
          <a:bodyPr anchor="ctr" rtlCol="false" lIns="457200" tIns="91440" rIns="457200" bIns="91440" wrap="square"/>
          <a:lstStyle/>
          <a:p>
            <a:pPr algn="ctr">
              <a:lnSpc>
                <a:spcPts val="2800"/>
              </a:lnSpc>
              <a:spcBef>
                <a:spcPts val="0"/>
              </a:spcBef>
              <a:buNone/>
            </a:pPr>
            <a:r>
              <a:rPr lang="en-US" sz="2200" b="true">
                <a:solidFill>
                  <a:srgbClr val="111111"/>
                </a:solidFill>
                <a:latin typeface="Nunito Semi-Bold"/>
                <a:ea typeface="Nunito Semi-Bold"/>
                <a:cs typeface="Nunito Semi-Bold"/>
                <a:sym typeface="Nunito Semi-Bold"/>
              </a:rPr>
              <a:t>The learning objective and the coalition value are </a:t>
            </a:r>
            <a:r>
              <a:rPr lang="en-US" sz="2200" b="true">
                <a:solidFill>
                  <a:srgbClr val="111111"/>
                </a:solidFill>
                <a:latin typeface="Nunito Bold"/>
                <a:ea typeface="Nunito Bold"/>
                <a:cs typeface="Nunito Bold"/>
                <a:sym typeface="Nunito Bold"/>
              </a:rPr>
              <a:t>aligned</a:t>
            </a:r>
            <a:r>
              <a:rPr lang="en-US" sz="2200" b="true">
                <a:solidFill>
                  <a:srgbClr val="111111"/>
                </a:solidFill>
                <a:latin typeface="Nunito Semi-Bold"/>
                <a:ea typeface="Nunito Semi-Bold"/>
                <a:cs typeface="Nunito Semi-Bold"/>
                <a:sym typeface="Nunito Semi-Bold"/>
              </a:rPr>
              <a:t>: DyHuCoG trains to optimise the </a:t>
            </a:r>
            <a:r>
              <a:rPr lang="en-US" sz="2200" b="true">
                <a:solidFill>
                  <a:srgbClr val="111111"/>
                </a:solidFill>
                <a:latin typeface="Nunito Bold"/>
                <a:ea typeface="Nunito Bold"/>
                <a:cs typeface="Nunito Bold"/>
                <a:sym typeface="Nunito Bold"/>
              </a:rPr>
              <a:t>same balance</a:t>
            </a:r>
            <a:r>
              <a:rPr lang="en-US" sz="2200" b="true">
                <a:solidFill>
                  <a:srgbClr val="111111"/>
                </a:solidFill>
                <a:latin typeface="Nunito Semi-Bold"/>
                <a:ea typeface="Nunito Semi-Bold"/>
                <a:cs typeface="Nunito Semi-Bold"/>
                <a:sym typeface="Nunito Semi-Bold"/>
              </a:rPr>
              <a:t> that later determines attribution.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3" name="Picture 22" descr="image.png"/>
          <p:cNvPicPr>
            <a:picLocks noChangeAspect="1"/>
          </p:cNvPicPr>
          <p:nvPr/>
        </p:nvPicPr>
        <p:blipFill>
          <a:blip r:embed="rId3"/>
          <a:stretch>
            <a:fillRect/>
          </a:stretch>
        </p:blipFill>
        <p:spPr>
          <a:xfrm>
            <a:off x="914915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9" name="Rounded Rectangle 28"/>
          <p:cNvSpPr/>
          <p:nvPr/>
        </p:nvSpPr>
        <p:spPr>
          <a:xfrm>
            <a:off x="1028700" y="8119872"/>
            <a:ext cx="6035040" cy="1097280"/>
          </a:xfrm>
          <a:prstGeom prst="roundRect">
            <a:avLst>
              <a:gd name="adj" fmla="val 25000"/>
            </a:avLst>
          </a:prstGeom>
          <a:solidFill>
            <a:srgbClr val="12494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3" name="Picture 22" descr="image.png"/>
          <p:cNvPicPr>
            <a:picLocks noChangeAspect="1"/>
          </p:cNvPicPr>
          <p:nvPr/>
        </p:nvPicPr>
        <p:blipFill>
          <a:blip r:embed="rId3"/>
          <a:stretch>
            <a:fillRect/>
          </a:stretch>
        </p:blipFill>
        <p:spPr>
          <a:xfrm>
            <a:off x="918739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9" name="Rounded Rectangle 28"/>
          <p:cNvSpPr/>
          <p:nvPr/>
        </p:nvSpPr>
        <p:spPr>
          <a:xfrm>
            <a:off x="1028700" y="8119872"/>
            <a:ext cx="6035040" cy="1097280"/>
          </a:xfrm>
          <a:prstGeom prst="roundRect">
            <a:avLst>
              <a:gd name="adj" fmla="val 25000"/>
            </a:avLst>
          </a:prstGeom>
          <a:solidFill>
            <a:srgbClr val="12494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Ranking Quality Across All Baselines</a:t>
            </a:r>
          </a:p>
        </p:txBody>
      </p:sp>
      <p:pic>
        <p:nvPicPr>
          <p:cNvPr id="23" name="Picture 22" descr="image.png"/>
          <p:cNvPicPr>
            <a:picLocks noChangeAspect="1"/>
          </p:cNvPicPr>
          <p:nvPr/>
        </p:nvPicPr>
        <p:blipFill>
          <a:blip r:embed="rId3"/>
          <a:stretch>
            <a:fillRect/>
          </a:stretch>
        </p:blipFill>
        <p:spPr>
          <a:xfrm>
            <a:off x="10732087"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4572000"/>
          </a:xfrm>
          <a:prstGeom prst="roundRect">
            <a:avLst>
              <a:gd name="adj" fmla="val 5000"/>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7_2_ranking.png"/>
          <p:cNvPicPr>
            <a:picLocks noChangeAspect="1"/>
          </p:cNvPicPr>
          <p:nvPr/>
        </p:nvPicPr>
        <p:blipFill>
          <a:blip r:embed="rId5"/>
          <a:stretch>
            <a:fillRect/>
          </a:stretch>
        </p:blipFill>
        <p:spPr>
          <a:xfrm>
            <a:off x="2626199" y="3500882"/>
            <a:ext cx="13035600" cy="3886200"/>
          </a:xfrm>
          <a:prstGeom prst="rect">
            <a:avLst/>
          </a:prstGeom>
        </p:spPr>
      </p:pic>
      <p:sp>
        <p:nvSpPr>
          <p:cNvPr id="30" name="TextBox 29"/>
          <p:cNvSpPr txBox="1"/>
          <p:nvPr/>
        </p:nvSpPr>
        <p:spPr>
          <a:xfrm>
            <a:off x="1028700" y="747852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7.2 (thesis): NDCG@20 and Recall@20 of all models on MovieLens-1M and Amazon-Book</a:t>
            </a:r>
          </a:p>
        </p:txBody>
      </p:sp>
      <p:sp>
        <p:nvSpPr>
          <p:cNvPr id="31" name="Rounded Rectangle 30"/>
          <p:cNvSpPr/>
          <p:nvPr/>
        </p:nvSpPr>
        <p:spPr>
          <a:xfrm>
            <a:off x="1028700" y="8210042"/>
            <a:ext cx="7932420" cy="1007110"/>
          </a:xfrm>
          <a:prstGeom prst="roundRect">
            <a:avLst>
              <a:gd name="adj" fmla="val 22698"/>
            </a:avLst>
          </a:prstGeom>
          <a:solidFill>
            <a:srgbClr val="124944"/>
          </a:solidFill>
          <a:ln>
            <a:noFill/>
          </a:ln>
        </p:spPr>
        <p:txBody>
          <a:bodyPr anchor="ctr" rtlCol="false" lIns="365760" tIns="137160" rIns="365760" bIns="137160" wrap="square"/>
          <a:lstStyle/>
          <a:p>
            <a:pPr algn="l">
              <a:lnSpc>
                <a:spcPts val="1500"/>
              </a:lnSpc>
              <a:spcBef>
                <a:spcPts val="0"/>
              </a:spcBef>
              <a:buNone/>
            </a:pPr>
            <a:r>
              <a:rPr lang="en-US" sz="1200" b="true" spc="150">
                <a:solidFill>
                  <a:srgbClr val="ECC665"/>
                </a:solidFill>
                <a:latin typeface="Nunito Ultra-Bold"/>
                <a:ea typeface="Nunito Ultra-Bold"/>
                <a:cs typeface="Nunito Ultra-Bold"/>
                <a:sym typeface="Nunito Ultra-Bold"/>
              </a:rPr>
              <a:t>WHAT THE FIGURE SHOWS</a:t>
            </a:r>
          </a:p>
          <a:p>
            <a:pPr algn="l">
              <a:lnSpc>
                <a:spcPts val="2200"/>
              </a:lnSpc>
              <a:spcBef>
                <a:spcPts val="600"/>
              </a:spcBef>
              <a:buNone/>
            </a:pPr>
            <a:r>
              <a:rPr lang="en-US" sz="1700" b="true">
                <a:solidFill>
                  <a:srgbClr val="FFFFFF"/>
                </a:solidFill>
                <a:latin typeface="Nunito Semi-Bold"/>
                <a:ea typeface="Nunito Semi-Bold"/>
                <a:cs typeface="Nunito Semi-Bold"/>
                <a:sym typeface="Nunito Semi-Bold"/>
              </a:rPr>
              <a:t>A </a:t>
            </a:r>
            <a:r>
              <a:rPr lang="en-US" sz="1700" b="true">
                <a:solidFill>
                  <a:srgbClr val="FFFFFF"/>
                </a:solidFill>
                <a:latin typeface="Nunito Bold"/>
                <a:ea typeface="Nunito Bold"/>
                <a:cs typeface="Nunito Bold"/>
                <a:sym typeface="Nunito Bold"/>
              </a:rPr>
              <a:t>monotone ladder</a:t>
            </a:r>
            <a:r>
              <a:rPr lang="en-US" sz="1700" b="true">
                <a:solidFill>
                  <a:srgbClr val="FFFFFF"/>
                </a:solidFill>
                <a:latin typeface="Nunito Semi-Bold"/>
                <a:ea typeface="Nunito Semi-Bold"/>
                <a:cs typeface="Nunito Semi-Bold"/>
                <a:sym typeface="Nunito Semi-Bold"/>
              </a:rPr>
              <a:t>: classical &lt; neural &lt; graph &lt; hypergraph &lt; DyHuCoG, on both datasets; the gap to HPCF is largest on Amazon-Book.</a:t>
            </a:r>
          </a:p>
        </p:txBody>
      </p:sp>
      <p:sp>
        <p:nvSpPr>
          <p:cNvPr id="32" name="Rounded Rectangle 31"/>
          <p:cNvSpPr/>
          <p:nvPr/>
        </p:nvSpPr>
        <p:spPr>
          <a:xfrm>
            <a:off x="9326880" y="8210042"/>
            <a:ext cx="7932420" cy="1007110"/>
          </a:xfrm>
          <a:prstGeom prst="roundRect">
            <a:avLst>
              <a:gd name="adj" fmla="val 22698"/>
            </a:avLst>
          </a:prstGeom>
          <a:solidFill>
            <a:srgbClr val="F6ECDF"/>
          </a:solidFill>
          <a:ln>
            <a:noFill/>
          </a:ln>
        </p:spPr>
        <p:txBody>
          <a:bodyPr anchor="ctr" rtlCol="false" lIns="365760" tIns="137160" rIns="365760" bIns="137160" wrap="square"/>
          <a:lstStyle/>
          <a:p>
            <a:pPr algn="l">
              <a:lnSpc>
                <a:spcPts val="1500"/>
              </a:lnSpc>
              <a:spcBef>
                <a:spcPts val="0"/>
              </a:spcBef>
              <a:buNone/>
            </a:pPr>
            <a:r>
              <a:rPr lang="en-US" sz="1200" b="true" spc="150">
                <a:solidFill>
                  <a:srgbClr val="DF8330"/>
                </a:solidFill>
                <a:latin typeface="Nunito Ultra-Bold"/>
                <a:ea typeface="Nunito Ultra-Bold"/>
                <a:cs typeface="Nunito Ultra-Bold"/>
                <a:sym typeface="Nunito Ultra-Bold"/>
              </a:rPr>
              <a:t>WHY THE ORDER MAKES SENSE</a:t>
            </a:r>
          </a:p>
          <a:p>
            <a:pPr algn="l">
              <a:lnSpc>
                <a:spcPts val="2200"/>
              </a:lnSpc>
              <a:spcBef>
                <a:spcPts val="600"/>
              </a:spcBef>
              <a:buNone/>
            </a:pPr>
            <a:r>
              <a:rPr lang="en-US" sz="1700" b="true">
                <a:solidFill>
                  <a:srgbClr val="111111"/>
                </a:solidFill>
                <a:latin typeface="Nunito Semi-Bold"/>
                <a:ea typeface="Nunito Semi-Bold"/>
                <a:cs typeface="Nunito Semi-Bold"/>
                <a:sym typeface="Nunito Semi-Bold"/>
              </a:rPr>
              <a:t>Each family adds structure: pairwise graph, then hyperedges, then </a:t>
            </a:r>
            <a:r>
              <a:rPr lang="en-US" sz="1700" b="true">
                <a:solidFill>
                  <a:srgbClr val="111111"/>
                </a:solidFill>
                <a:latin typeface="Nunito Bold"/>
                <a:ea typeface="Nunito Bold"/>
                <a:cs typeface="Nunito Bold"/>
                <a:sym typeface="Nunito Bold"/>
              </a:rPr>
              <a:t>Shapley-weighted hyperedges with context</a:t>
            </a:r>
            <a:r>
              <a:rPr lang="en-US" sz="1700" b="true">
                <a:solidFill>
                  <a:srgbClr val="111111"/>
                </a:solidFill>
                <a:latin typeface="Nunito Semi-Bold"/>
                <a:ea typeface="Nunito Semi-Bold"/>
                <a:cs typeface="Nunito Semi-Bold"/>
                <a:sym typeface="Nunito Semi-Bold"/>
              </a:rPr>
              <a:t>. The improvement is </a:t>
            </a:r>
            <a:r>
              <a:rPr lang="en-US" sz="1700" b="true">
                <a:solidFill>
                  <a:srgbClr val="111111"/>
                </a:solidFill>
                <a:latin typeface="Nunito Bold"/>
                <a:ea typeface="Nunito Bold"/>
                <a:cs typeface="Nunito Bold"/>
                <a:sym typeface="Nunito Bold"/>
              </a:rPr>
              <a:t>cumulative and explainable</a:t>
            </a:r>
            <a:r>
              <a:rPr lang="en-US" sz="1700" b="true">
                <a:solidFill>
                  <a:srgbClr val="111111"/>
                </a:solidFill>
                <a:latin typeface="Nunito Semi-Bold"/>
                <a:ea typeface="Nunito Semi-Bold"/>
                <a:cs typeface="Nunito Semi-Bold"/>
                <a:sym typeface="Nunito Semi-Bold"/>
              </a:rPr>
              <a:t>, not a tuning artefact.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Coverage &amp; Diversity: No Accuracy Trade-Off</a:t>
            </a:r>
          </a:p>
        </p:txBody>
      </p:sp>
      <p:pic>
        <p:nvPicPr>
          <p:cNvPr id="23" name="Picture 22" descr="image.png"/>
          <p:cNvPicPr>
            <a:picLocks noChangeAspect="1"/>
          </p:cNvPicPr>
          <p:nvPr/>
        </p:nvPicPr>
        <p:blipFill>
          <a:blip r:embed="rId3"/>
          <a:stretch>
            <a:fillRect/>
          </a:stretch>
        </p:blipFill>
        <p:spPr>
          <a:xfrm>
            <a:off x="12985667"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8595360" cy="4664710"/>
          </a:xfrm>
          <a:prstGeom prst="roundRect">
            <a:avLst>
              <a:gd name="adj" fmla="val 4900"/>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7_3_coverage_ild.png"/>
          <p:cNvPicPr>
            <a:picLocks noChangeAspect="1"/>
          </p:cNvPicPr>
          <p:nvPr/>
        </p:nvPicPr>
        <p:blipFill>
          <a:blip r:embed="rId5"/>
          <a:stretch>
            <a:fillRect/>
          </a:stretch>
        </p:blipFill>
        <p:spPr>
          <a:xfrm>
            <a:off x="1165860" y="3712142"/>
            <a:ext cx="8321040" cy="3556389"/>
          </a:xfrm>
          <a:prstGeom prst="rect">
            <a:avLst/>
          </a:prstGeom>
        </p:spPr>
      </p:pic>
      <p:sp>
        <p:nvSpPr>
          <p:cNvPr id="30" name="TextBox 29"/>
          <p:cNvSpPr txBox="1"/>
          <p:nvPr/>
        </p:nvSpPr>
        <p:spPr>
          <a:xfrm>
            <a:off x="1028700" y="7571232"/>
            <a:ext cx="859536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7.3 (thesis): catalogue coverage and intra-list diversity, HPCF vs DyHuCoG</a:t>
            </a:r>
          </a:p>
        </p:txBody>
      </p:sp>
      <p:sp>
        <p:nvSpPr>
          <p:cNvPr id="31" name="Rounded Rectangle 30"/>
          <p:cNvSpPr/>
          <p:nvPr/>
        </p:nvSpPr>
        <p:spPr>
          <a:xfrm>
            <a:off x="10081260" y="3363722"/>
            <a:ext cx="3474720" cy="2218055"/>
          </a:xfrm>
          <a:prstGeom prst="roundRect">
            <a:avLst>
              <a:gd name="adj" fmla="val 10306"/>
            </a:avLst>
          </a:prstGeom>
          <a:solidFill>
            <a:srgbClr val="124944"/>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COVERAGE · MOVIELENS-1M</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+16.1 %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0.342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0.397</a:t>
            </a:r>
          </a:p>
        </p:txBody>
      </p:sp>
      <p:sp>
        <p:nvSpPr>
          <p:cNvPr id="32" name="Rounded Rectangle 31"/>
          <p:cNvSpPr/>
          <p:nvPr/>
        </p:nvSpPr>
        <p:spPr>
          <a:xfrm>
            <a:off x="13784580" y="3363722"/>
            <a:ext cx="3474720" cy="2218055"/>
          </a:xfrm>
          <a:prstGeom prst="roundRect">
            <a:avLst>
              <a:gd name="adj" fmla="val 10306"/>
            </a:avLst>
          </a:prstGeom>
          <a:solidFill>
            <a:srgbClr val="1E5F58"/>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ILD · MOVIELENS-1M</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+11.9 %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0.461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0.516</a:t>
            </a:r>
          </a:p>
        </p:txBody>
      </p:sp>
      <p:sp>
        <p:nvSpPr>
          <p:cNvPr id="33" name="Rounded Rectangle 32"/>
          <p:cNvSpPr/>
          <p:nvPr/>
        </p:nvSpPr>
        <p:spPr>
          <a:xfrm>
            <a:off x="10081260" y="5810377"/>
            <a:ext cx="3474720" cy="2218055"/>
          </a:xfrm>
          <a:prstGeom prst="roundRect">
            <a:avLst>
              <a:gd name="adj" fmla="val 10306"/>
            </a:avLst>
          </a:prstGeom>
          <a:solidFill>
            <a:srgbClr val="1E5F58"/>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COVERAGE · AMAZON-BOOK</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+29.7 %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0.259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0.336</a:t>
            </a:r>
          </a:p>
        </p:txBody>
      </p:sp>
      <p:sp>
        <p:nvSpPr>
          <p:cNvPr id="34" name="Rounded Rectangle 33"/>
          <p:cNvSpPr/>
          <p:nvPr/>
        </p:nvSpPr>
        <p:spPr>
          <a:xfrm>
            <a:off x="13784580" y="5810377"/>
            <a:ext cx="3474720" cy="2218055"/>
          </a:xfrm>
          <a:prstGeom prst="roundRect">
            <a:avLst>
              <a:gd name="adj" fmla="val 10306"/>
            </a:avLst>
          </a:prstGeom>
          <a:solidFill>
            <a:srgbClr val="124944"/>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ILD · AMAZON-BOOK</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+12.5 %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0.535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0.602</a:t>
            </a:r>
          </a:p>
        </p:txBody>
      </p:sp>
      <p:sp>
        <p:nvSpPr>
          <p:cNvPr id="35" name="Rounded Rectangle 34"/>
          <p:cNvSpPr/>
          <p:nvPr/>
        </p:nvSpPr>
        <p:spPr>
          <a:xfrm>
            <a:off x="1028700" y="8302752"/>
            <a:ext cx="16230600" cy="914400"/>
          </a:xfrm>
          <a:prstGeom prst="roundRect">
            <a:avLst>
              <a:gd name="adj" fmla="val 25000"/>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Smaller filter-bubble effect and more discovery for the user</a:t>
            </a:r>
            <a:r>
              <a:rPr lang="en-US" sz="2000" b="true">
                <a:solidFill>
                  <a:srgbClr val="FFFFFF"/>
                </a:solidFill>
                <a:latin typeface="Nunito Semi-Bold"/>
                <a:ea typeface="Nunito Semi-Bold"/>
                <a:cs typeface="Nunito Semi-Bold"/>
                <a:sym typeface="Nunito Semi-Bold"/>
              </a:rPr>
              <a:t>, while NDCG and Recall also improve: </a:t>
            </a:r>
            <a:r>
              <a:rPr lang="en-US" sz="2000" b="true">
                <a:solidFill>
                  <a:srgbClr val="FFFFFF"/>
                </a:solidFill>
                <a:latin typeface="Nunito Bold"/>
                <a:ea typeface="Nunito Bold"/>
                <a:cs typeface="Nunito Bold"/>
                <a:sym typeface="Nunito Bold"/>
              </a:rPr>
              <a:t>accuracy is not traded for diversity</a:t>
            </a:r>
            <a:r>
              <a:rPr lang="en-US" sz="20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3" name="Picture 22" descr="image.png"/>
          <p:cNvPicPr>
            <a:picLocks noChangeAspect="1"/>
          </p:cNvPicPr>
          <p:nvPr/>
        </p:nvPicPr>
        <p:blipFill>
          <a:blip r:embed="rId3"/>
          <a:stretch>
            <a:fillRect/>
          </a:stretch>
        </p:blipFill>
        <p:spPr>
          <a:xfrm>
            <a:off x="11596440"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7.2  ·  MOVIELENS-1M</a:t>
            </a:r>
          </a:p>
        </p:txBody>
      </p:sp>
      <p:graphicFrame>
        <p:nvGraphicFramePr>
          <p:cNvPr id="29" name="Table 28"/>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TextBox 29"/>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31" name="Table 30"/>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2" name="Rounded Rectangle 31"/>
          <p:cNvSpPr/>
          <p:nvPr/>
        </p:nvSpPr>
        <p:spPr>
          <a:xfrm>
            <a:off x="1028700" y="7537958"/>
            <a:ext cx="16230600" cy="1724914"/>
          </a:xfrm>
          <a:prstGeom prst="roundRect">
            <a:avLst>
              <a:gd name="adj" fmla="val 18023"/>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1485900" y="7300214"/>
            <a:ext cx="1757407"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4" name="TextBox 33"/>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DF8330"/>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3" name="Picture 22" descr="image.png"/>
          <p:cNvPicPr>
            <a:picLocks noChangeAspect="1"/>
          </p:cNvPicPr>
          <p:nvPr/>
        </p:nvPicPr>
        <p:blipFill>
          <a:blip r:embed="rId3"/>
          <a:stretch>
            <a:fillRect/>
          </a:stretch>
        </p:blipFill>
        <p:spPr>
          <a:xfrm>
            <a:off x="1064609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385191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9" name="Rounded Rectangle 28"/>
          <p:cNvSpPr/>
          <p:nvPr/>
        </p:nvSpPr>
        <p:spPr>
          <a:xfrm>
            <a:off x="5154930" y="3455162"/>
            <a:ext cx="385191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0" name="Rounded Rectangle 29"/>
          <p:cNvSpPr/>
          <p:nvPr/>
        </p:nvSpPr>
        <p:spPr>
          <a:xfrm>
            <a:off x="9281160" y="3455162"/>
            <a:ext cx="385191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1" name="Rounded Rectangle 30"/>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2" name="Rounded Rectangle 31"/>
          <p:cNvSpPr/>
          <p:nvPr/>
        </p:nvSpPr>
        <p:spPr>
          <a:xfrm>
            <a:off x="1028700" y="6198362"/>
            <a:ext cx="7932420" cy="3155950"/>
          </a:xfrm>
          <a:prstGeom prst="roundRect">
            <a:avLst>
              <a:gd name="adj" fmla="val 9851"/>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1485900" y="5960618"/>
            <a:ext cx="2185051"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4" name="TextBox 33"/>
          <p:cNvSpPr txBox="1"/>
          <p:nvPr/>
        </p:nvSpPr>
        <p:spPr>
          <a:xfrm>
            <a:off x="1531620" y="6838442"/>
            <a:ext cx="6972300" cy="160147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5"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L</m:t>
                          </m:r>
                          <m:r>
                            <m:rPr>
                              <m:sty m:val="p"/>
                            </m:rPr>
                            <a:rPr lang="en-US" sz="2000">
                              <a:solidFill>
                                <a:srgbClr val="124944"/>
                              </a:solidFill>
                              <a:latin typeface="Cambria Math" panose="02040503050406030204" pitchFamily="18" charset="0"/>
                            </a:rPr>
                            <m:t xml:space="preserve">+1) </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d</m:t>
                          </m:r>
                        </m:e>
                      </m:d>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f</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m</m:t>
                          </m:r>
                        </m:e>
                      </m:d>
                    </m:oMath>
                  </m:oMathPara>
                </a14:m>
                <a:endParaRPr lang="en-US" sz="2000"/>
              </a:p>
            </p:txBody>
          </p:sp>
        </mc:Choice>
        <mc:Fallback>
          <p:sp>
            <p:nvSpPr>
              <p:cNvPr id="35" name="Equation"/>
              <p:cNvSpPr txBox="1"/>
              <p:nvPr/>
            </p:nvSpPr>
            <p:spPr>
              <a:xfrm>
                <a:off x="1531620" y="8485632"/>
                <a:ext cx="6926580" cy="640080"/>
              </a:xfrm>
              <a:prstGeom prst="rect">
                <a:avLst/>
              </a:prstGeom>
              <a:blipFill>
                <a:blip r:embed="rId5"/>
                <a:stretch>
                  <a:fillRect/>
                </a:stretch>
              </a:blipFill>
            </p:spPr>
            <p:txBody>
              <a:bodyPr/>
              <a:lstStyle/>
              <a:p>
                <a:endParaRPr lang="en-US"/>
              </a:p>
            </p:txBody>
          </p:sp>
        </mc:Fallback>
      </mc:AlternateContent>
      <p:sp>
        <p:nvSpPr>
          <p:cNvPr id="36" name="Rounded Rectangle 35"/>
          <p:cNvSpPr/>
          <p:nvPr/>
        </p:nvSpPr>
        <p:spPr>
          <a:xfrm>
            <a:off x="9326880" y="6198362"/>
            <a:ext cx="7932420" cy="3155950"/>
          </a:xfrm>
          <a:prstGeom prst="roundRect">
            <a:avLst>
              <a:gd name="adj" fmla="val 9851"/>
            </a:avLst>
          </a:prstGeom>
          <a:solidFill>
            <a:srgbClr val="124944"/>
          </a:solidFill>
          <a:ln>
            <a:noFill/>
          </a:ln>
        </p:spPr>
        <p:txBody>
          <a:bodyPr anchor="ctr" rtlCol="false" lIns="0" tIns="0" rIns="0" bIns="0" wrap="square"/>
          <a:lstStyle/>
          <a:p>
            <a:endParaRPr lang="en-US" sz="1800"/>
          </a:p>
        </p:txBody>
      </p:sp>
      <p:sp>
        <p:nvSpPr>
          <p:cNvPr id="37" name="Rounded Rectangle 36"/>
          <p:cNvSpPr/>
          <p:nvPr/>
        </p:nvSpPr>
        <p:spPr>
          <a:xfrm>
            <a:off x="9784080" y="596061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Convergence</a:t>
            </a:r>
          </a:p>
        </p:txBody>
      </p:sp>
      <p:sp>
        <p:nvSpPr>
          <p:cNvPr id="38" name="TextBox 37"/>
          <p:cNvSpPr txBox="1"/>
          <p:nvPr/>
        </p:nvSpPr>
        <p:spPr>
          <a:xfrm>
            <a:off x="9829800" y="6838442"/>
            <a:ext cx="6972300" cy="224155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3" name="Picture 22" descr="image.png"/>
          <p:cNvPicPr>
            <a:picLocks noChangeAspect="1"/>
          </p:cNvPicPr>
          <p:nvPr/>
        </p:nvPicPr>
        <p:blipFill>
          <a:blip r:embed="rId3"/>
          <a:stretch>
            <a:fillRect/>
          </a:stretch>
        </p:blipFill>
        <p:spPr>
          <a:xfrm>
            <a:off x="7141903"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5196840" cy="2194560"/>
          </a:xfrm>
          <a:prstGeom prst="roundRect">
            <a:avLst>
              <a:gd name="adj" fmla="val 12500"/>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9"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1" name="Rounded Rectangle 30"/>
          <p:cNvSpPr/>
          <p:nvPr/>
        </p:nvSpPr>
        <p:spPr>
          <a:xfrm>
            <a:off x="6545580" y="3455162"/>
            <a:ext cx="5196840" cy="2194560"/>
          </a:xfrm>
          <a:prstGeom prst="roundRect">
            <a:avLst>
              <a:gd name="adj" fmla="val 12500"/>
            </a:avLst>
          </a:prstGeom>
          <a:solidFill>
            <a:srgbClr val="1E5F58"/>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2"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4" name="Rounded Rectangle 33"/>
          <p:cNvSpPr/>
          <p:nvPr/>
        </p:nvSpPr>
        <p:spPr>
          <a:xfrm>
            <a:off x="12062460" y="3455162"/>
            <a:ext cx="5196840" cy="2194560"/>
          </a:xfrm>
          <a:prstGeom prst="roundRect">
            <a:avLst>
              <a:gd name="adj" fmla="val 12500"/>
            </a:avLst>
          </a:prstGeom>
          <a:solidFill>
            <a:srgbClr val="DF8330"/>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5"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6" name="TextBox 35"/>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7" name="Rounded Rectangle 36"/>
          <p:cNvSpPr/>
          <p:nvPr/>
        </p:nvSpPr>
        <p:spPr>
          <a:xfrm>
            <a:off x="1028700" y="6289802"/>
            <a:ext cx="16230600" cy="3018790"/>
          </a:xfrm>
          <a:prstGeom prst="roundRect">
            <a:avLst>
              <a:gd name="adj" fmla="val 10298"/>
            </a:avLst>
          </a:prstGeom>
          <a:solidFill>
            <a:srgbClr val="F6ECDF"/>
          </a:solidFill>
          <a:ln>
            <a:noFill/>
          </a:ln>
        </p:spPr>
        <p:txBody>
          <a:bodyPr anchor="ctr" rtlCol="false" lIns="0" tIns="0" rIns="0" bIns="0" wrap="square"/>
          <a:lstStyle/>
          <a:p>
            <a:endParaRPr lang="en-US" sz="1800"/>
          </a:p>
        </p:txBody>
      </p:sp>
      <p:sp>
        <p:nvSpPr>
          <p:cNvPr id="38" name="Rounded Rectangle 37"/>
          <p:cNvSpPr/>
          <p:nvPr/>
        </p:nvSpPr>
        <p:spPr>
          <a:xfrm>
            <a:off x="1485900" y="6052058"/>
            <a:ext cx="179424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39" name="TextBox 38"/>
          <p:cNvSpPr txBox="1"/>
          <p:nvPr/>
        </p:nvSpPr>
        <p:spPr>
          <a:xfrm>
            <a:off x="1531620" y="6929882"/>
            <a:ext cx="15270480" cy="2104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Cold-Start, Cross-Dataset Robustness and Interpretability</a:t>
            </a:r>
          </a:p>
        </p:txBody>
      </p:sp>
      <p:pic>
        <p:nvPicPr>
          <p:cNvPr id="23" name="Picture 22" descr="image.png"/>
          <p:cNvPicPr>
            <a:picLocks noChangeAspect="1"/>
          </p:cNvPicPr>
          <p:nvPr/>
        </p:nvPicPr>
        <p:blipFill>
          <a:blip r:embed="rId3"/>
          <a:stretch>
            <a:fillRect/>
          </a:stretch>
        </p:blipFill>
        <p:spPr>
          <a:xfrm>
            <a:off x="16119690"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92322"/>
            <a:ext cx="7932420" cy="2926080"/>
          </a:xfrm>
          <a:prstGeom prst="roundRect">
            <a:avLst>
              <a:gd name="adj" fmla="val 10625"/>
            </a:avLst>
          </a:prstGeom>
          <a:solidFill>
            <a:srgbClr val="124944"/>
          </a:solidFill>
          <a:ln>
            <a:noFill/>
          </a:ln>
        </p:spPr>
        <p:txBody>
          <a:bodyPr anchor="ctr" rtlCol="false" lIns="0" tIns="0" rIns="0" bIns="0" wrap="square"/>
          <a:lstStyle/>
          <a:p>
            <a:endParaRPr lang="en-US" sz="1800"/>
          </a:p>
        </p:txBody>
      </p:sp>
      <p:sp>
        <p:nvSpPr>
          <p:cNvPr id="29" name="Rounded Rectangle 28"/>
          <p:cNvSpPr/>
          <p:nvPr/>
        </p:nvSpPr>
        <p:spPr>
          <a:xfrm>
            <a:off x="1485900" y="3354578"/>
            <a:ext cx="4398958"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Cold-start (≤ 5 interactions)</a:t>
            </a:r>
          </a:p>
        </p:txBody>
      </p:sp>
      <p:sp>
        <p:nvSpPr>
          <p:cNvPr id="30" name="TextBox 29"/>
          <p:cNvSpPr txBox="1"/>
          <p:nvPr/>
        </p:nvSpPr>
        <p:spPr>
          <a:xfrm>
            <a:off x="1531620" y="4232402"/>
            <a:ext cx="6972300" cy="201168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NDCG@20 ≈ </a:t>
            </a:r>
            <a:r>
              <a:rPr lang="en-US" sz="2000" b="true">
                <a:solidFill>
                  <a:srgbClr val="FFFFFF"/>
                </a:solidFill>
                <a:latin typeface="Nunito Bold"/>
                <a:ea typeface="Nunito Bold"/>
                <a:cs typeface="Nunito Bold"/>
                <a:sym typeface="Nunito Bold"/>
              </a:rPr>
              <a:t>0.061</a:t>
            </a:r>
            <a:r>
              <a:rPr lang="en-US" sz="2000" b="true">
                <a:solidFill>
                  <a:srgbClr val="FFFFFF"/>
                </a:solidFill>
                <a:latin typeface="Nunito Semi-Bold"/>
                <a:ea typeface="Nunito Semi-Bold"/>
                <a:cs typeface="Nunito Semi-Bold"/>
                <a:sym typeface="Nunito Semi-Bold"/>
              </a:rPr>
              <a:t> (user) and </a:t>
            </a:r>
            <a:r>
              <a:rPr lang="en-US" sz="2000" b="true">
                <a:solidFill>
                  <a:srgbClr val="FFFFFF"/>
                </a:solidFill>
                <a:latin typeface="Nunito Bold"/>
                <a:ea typeface="Nunito Bold"/>
                <a:cs typeface="Nunito Bold"/>
                <a:sym typeface="Nunito Bold"/>
              </a:rPr>
              <a:t>0.057</a:t>
            </a:r>
            <a:r>
              <a:rPr lang="en-US" sz="2000" b="true">
                <a:solidFill>
                  <a:srgbClr val="FFFFFF"/>
                </a:solidFill>
                <a:latin typeface="Nunito Semi-Bold"/>
                <a:ea typeface="Nunito Semi-Bold"/>
                <a:cs typeface="Nunito Semi-Bold"/>
                <a:sym typeface="Nunito Semi-Bold"/>
              </a:rPr>
              <a:t> (item).</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About </a:t>
            </a:r>
            <a:r>
              <a:rPr lang="en-US" sz="2000" b="true">
                <a:solidFill>
                  <a:srgbClr val="FFFFFF"/>
                </a:solidFill>
                <a:latin typeface="Nunito Bold"/>
                <a:ea typeface="Nunito Bold"/>
                <a:cs typeface="Nunito Bold"/>
                <a:sym typeface="Nunito Bold"/>
              </a:rPr>
              <a:t>10 % over HPCF</a:t>
            </a:r>
            <a:r>
              <a:rPr lang="en-US" sz="2000" b="true">
                <a:solidFill>
                  <a:srgbClr val="FFFFFF"/>
                </a:solidFill>
                <a:latin typeface="Nunito Semi-Bold"/>
                <a:ea typeface="Nunito Semi-Bold"/>
                <a:cs typeface="Nunito Semi-Bold"/>
                <a:sym typeface="Nunito Semi-Bold"/>
              </a:rPr>
              <a:t>: Shapley weighting helps exactly where the signal is weakest.</a:t>
            </a:r>
          </a:p>
        </p:txBody>
      </p:sp>
      <p:sp>
        <p:nvSpPr>
          <p:cNvPr id="31" name="Rounded Rectangle 30"/>
          <p:cNvSpPr/>
          <p:nvPr/>
        </p:nvSpPr>
        <p:spPr>
          <a:xfrm>
            <a:off x="9326880" y="3592322"/>
            <a:ext cx="7932420" cy="2926080"/>
          </a:xfrm>
          <a:prstGeom prst="roundRect">
            <a:avLst>
              <a:gd name="adj" fmla="val 10625"/>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9784080" y="3354578"/>
            <a:ext cx="4733073" cy="438912"/>
          </a:xfrm>
          <a:prstGeom prst="roundRect">
            <a:avLst>
              <a:gd name="adj" fmla="val 50000"/>
            </a:avLst>
          </a:prstGeom>
          <a:solidFill>
            <a:srgbClr val="124944"/>
          </a:solidFill>
          <a:ln>
            <a:no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Cross-dataset NDCG@20 gain</a:t>
            </a:r>
          </a:p>
        </p:txBody>
      </p:sp>
      <p:sp>
        <p:nvSpPr>
          <p:cNvPr id="33" name="Rounded Rectangle 32"/>
          <p:cNvSpPr/>
          <p:nvPr/>
        </p:nvSpPr>
        <p:spPr>
          <a:xfrm>
            <a:off x="978408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+9.9 %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MovieLens-1M</a:t>
            </a:r>
          </a:p>
        </p:txBody>
      </p:sp>
      <p:sp>
        <p:nvSpPr>
          <p:cNvPr id="34" name="Rounded Rectangle 33"/>
          <p:cNvSpPr/>
          <p:nvPr/>
        </p:nvSpPr>
        <p:spPr>
          <a:xfrm>
            <a:off x="1219962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+14.8 %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Amazon-Book</a:t>
            </a:r>
          </a:p>
        </p:txBody>
      </p:sp>
      <p:sp>
        <p:nvSpPr>
          <p:cNvPr id="35" name="Rounded Rectangle 34"/>
          <p:cNvSpPr/>
          <p:nvPr/>
        </p:nvSpPr>
        <p:spPr>
          <a:xfrm>
            <a:off x="1461516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+11.8 %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Yelp2018</a:t>
            </a:r>
          </a:p>
        </p:txBody>
      </p:sp>
      <p:sp>
        <p:nvSpPr>
          <p:cNvPr id="36" name="Rounded Rectangle 35"/>
          <p:cNvSpPr/>
          <p:nvPr/>
        </p:nvSpPr>
        <p:spPr>
          <a:xfrm>
            <a:off x="1028700" y="6884162"/>
            <a:ext cx="6766560" cy="2332990"/>
          </a:xfrm>
          <a:prstGeom prst="roundRect">
            <a:avLst>
              <a:gd name="adj" fmla="val 9798"/>
            </a:avLst>
          </a:prstGeom>
          <a:solidFill>
            <a:srgbClr val="FFFFFF"/>
          </a:solidFill>
          <a:ln w="15875">
            <a:solidFill>
              <a:srgbClr val="E3D6C4"/>
            </a:solidFill>
          </a:ln>
        </p:spPr>
        <p:txBody>
          <a:bodyPr anchor="ctr" rtlCol="false" lIns="0" tIns="0" rIns="0" bIns="0" wrap="square"/>
          <a:lstStyle/>
          <a:p>
            <a:endParaRPr lang="en-US" sz="1800"/>
          </a:p>
        </p:txBody>
      </p:sp>
      <p:pic>
        <p:nvPicPr>
          <p:cNvPr id="37" name="Picture 36" descr="fig7_4_waterfall.png"/>
          <p:cNvPicPr>
            <a:picLocks noChangeAspect="1"/>
          </p:cNvPicPr>
          <p:nvPr/>
        </p:nvPicPr>
        <p:blipFill>
          <a:blip r:embed="rId5"/>
          <a:stretch>
            <a:fillRect/>
          </a:stretch>
        </p:blipFill>
        <p:spPr>
          <a:xfrm>
            <a:off x="2469892" y="6993890"/>
            <a:ext cx="3884174" cy="1702054"/>
          </a:xfrm>
          <a:prstGeom prst="rect">
            <a:avLst/>
          </a:prstGeom>
        </p:spPr>
      </p:pic>
      <p:sp>
        <p:nvSpPr>
          <p:cNvPr id="38" name="TextBox 37"/>
          <p:cNvSpPr txBox="1"/>
          <p:nvPr/>
        </p:nvSpPr>
        <p:spPr>
          <a:xfrm>
            <a:off x="1028700" y="8759952"/>
            <a:ext cx="676656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7.4 (thesis): SHAP waterfall for one recommendation</a:t>
            </a:r>
          </a:p>
        </p:txBody>
      </p:sp>
      <p:sp>
        <p:nvSpPr>
          <p:cNvPr id="39" name="Rounded Rectangle 38"/>
          <p:cNvSpPr/>
          <p:nvPr/>
        </p:nvSpPr>
        <p:spPr>
          <a:xfrm>
            <a:off x="8161020" y="7112762"/>
            <a:ext cx="9098280" cy="2104390"/>
          </a:xfrm>
          <a:prstGeom prst="roundRect">
            <a:avLst>
              <a:gd name="adj" fmla="val 14773"/>
            </a:avLst>
          </a:prstGeom>
          <a:solidFill>
            <a:srgbClr val="F6ECDF"/>
          </a:solidFill>
          <a:ln>
            <a:noFill/>
          </a:ln>
        </p:spPr>
        <p:txBody>
          <a:bodyPr anchor="ctr" rtlCol="false" lIns="0" tIns="0" rIns="0" bIns="0" wrap="square"/>
          <a:lstStyle/>
          <a:p>
            <a:endParaRPr lang="en-US" sz="1800"/>
          </a:p>
        </p:txBody>
      </p:sp>
      <p:sp>
        <p:nvSpPr>
          <p:cNvPr id="40" name="Rounded Rectangle 39"/>
          <p:cNvSpPr/>
          <p:nvPr/>
        </p:nvSpPr>
        <p:spPr>
          <a:xfrm>
            <a:off x="8618220" y="6875018"/>
            <a:ext cx="503150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Interpretability &amp; popularity bias</a:t>
            </a:r>
          </a:p>
        </p:txBody>
      </p:sp>
      <p:sp>
        <p:nvSpPr>
          <p:cNvPr id="41" name="TextBox 40"/>
          <p:cNvSpPr txBox="1"/>
          <p:nvPr/>
        </p:nvSpPr>
        <p:spPr>
          <a:xfrm>
            <a:off x="8618220" y="7707122"/>
            <a:ext cx="8229600" cy="1281430"/>
          </a:xfrm>
          <a:prstGeom prst="rect">
            <a:avLst/>
          </a:prstGeom>
          <a:noFill/>
        </p:spPr>
        <p:txBody>
          <a:bodyPr anchor="t" rtlCol="false" lIns="0" tIns="0" rIns="0" bIns="0" wrap="square"/>
          <a:lstStyle/>
          <a:p>
            <a:pPr algn="l" marL="274320" indent="-274320">
              <a:lnSpc>
                <a:spcPts val="2218"/>
              </a:lnSpc>
              <a:spcBef>
                <a:spcPts val="0"/>
              </a:spcBef>
              <a:buClr>
                <a:srgbClr val="DF8330"/>
              </a:buClr>
              <a:buSzPct val="100000"/>
              <a:buFont typeface="Arial"/>
              <a:buChar char="•"/>
            </a:pPr>
            <a:r>
              <a:rPr lang="en-US" sz="1584" b="true">
                <a:solidFill>
                  <a:srgbClr val="111111"/>
                </a:solidFill>
                <a:latin typeface="Nunito Semi-Bold"/>
                <a:ea typeface="Nunito Semi-Bold"/>
                <a:cs typeface="Nunito Semi-Bold"/>
                <a:sym typeface="Nunito Semi-Bold"/>
              </a:rPr>
              <a:t>A </a:t>
            </a:r>
            <a:r>
              <a:rPr lang="en-US" sz="1584" b="true">
                <a:solidFill>
                  <a:srgbClr val="111111"/>
                </a:solidFill>
                <a:latin typeface="Nunito Bold"/>
                <a:ea typeface="Nunito Bold"/>
                <a:cs typeface="Nunito Bold"/>
                <a:sym typeface="Nunito Bold"/>
              </a:rPr>
              <a:t>SHAP waterfall</a:t>
            </a:r>
            <a:r>
              <a:rPr lang="en-US" sz="1584" b="true">
                <a:solidFill>
                  <a:srgbClr val="111111"/>
                </a:solidFill>
                <a:latin typeface="Nunito Semi-Bold"/>
                <a:ea typeface="Nunito Semi-Bold"/>
                <a:cs typeface="Nunito Semi-Bold"/>
                <a:sym typeface="Nunito Semi-Bold"/>
              </a:rPr>
              <a:t> breaks a recommendation down into ranking, diversity, context and preference contributions.</a:t>
            </a:r>
          </a:p>
          <a:p>
            <a:pPr algn="l" marL="274320" indent="-274320">
              <a:lnSpc>
                <a:spcPts val="2218"/>
              </a:lnSpc>
              <a:spcBef>
                <a:spcPts val="528"/>
              </a:spcBef>
              <a:buClr>
                <a:srgbClr val="DF8330"/>
              </a:buClr>
              <a:buSzPct val="100000"/>
              <a:buFont typeface="Arial"/>
              <a:buChar char="•"/>
            </a:pPr>
            <a:r>
              <a:rPr lang="en-US" sz="1584" b="true">
                <a:solidFill>
                  <a:srgbClr val="111111"/>
                </a:solidFill>
                <a:latin typeface="Nunito Semi-Bold"/>
                <a:ea typeface="Nunito Semi-Bold"/>
                <a:cs typeface="Nunito Semi-Bold"/>
                <a:sym typeface="Nunito Semi-Bold"/>
              </a:rPr>
              <a:t>Shapley measures </a:t>
            </a:r>
            <a:r>
              <a:rPr lang="en-US" sz="1584" b="true">
                <a:solidFill>
                  <a:srgbClr val="111111"/>
                </a:solidFill>
                <a:latin typeface="Nunito Bold"/>
                <a:ea typeface="Nunito Bold"/>
                <a:cs typeface="Nunito Bold"/>
                <a:sym typeface="Nunito Bold"/>
              </a:rPr>
              <a:t>marginal utility, not raw frequency</a:t>
            </a:r>
            <a:r>
              <a:rPr lang="en-US" sz="1584" b="true">
                <a:solidFill>
                  <a:srgbClr val="111111"/>
                </a:solidFill>
                <a:latin typeface="Nunito Semi-Bold"/>
                <a:ea typeface="Nunito Semi-Bold"/>
                <a:cs typeface="Nunito Semi-Bold"/>
                <a:sym typeface="Nunito Semi-Bold"/>
              </a:rPr>
              <a:t>: weak but informative interactions keep their influence, which counters popularity bias.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F6ECDF"/>
          </a:solidFill>
          <a:ln w="25400">
            <a:solidFill>
              <a:srgbClr val="12494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82</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3" name="Picture 22" descr="image.png"/>
          <p:cNvPicPr>
            <a:picLocks noChangeAspect="1"/>
          </p:cNvPicPr>
          <p:nvPr/>
        </p:nvPicPr>
        <p:blipFill>
          <a:blip r:embed="rId3"/>
          <a:stretch>
            <a:fillRect/>
          </a:stretch>
        </p:blipFill>
        <p:spPr>
          <a:xfrm>
            <a:off x="10723663"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E5F58"/>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6314186"/>
            <a:ext cx="4023360" cy="822960"/>
          </a:xfrm>
          <a:prstGeom prst="roundRect">
            <a:avLst>
              <a:gd name="adj" fmla="val 27777"/>
            </a:avLst>
          </a:prstGeom>
          <a:solidFill>
            <a:srgbClr val="12494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31" name="Connector 30"/>
          <p:cNvCxnSpPr/>
          <p:nvPr/>
        </p:nvCxnSpPr>
        <p:spPr>
          <a:xfrm>
            <a:off x="5143500" y="6725666"/>
            <a:ext cx="1897380" cy="0"/>
          </a:xfrm>
          <a:prstGeom prst="line">
            <a:avLst/>
          </a:prstGeom>
          <a:ln w="38100">
            <a:solidFill>
              <a:srgbClr val="124944"/>
            </a:solidFill>
            <a:tailEnd type="triangle" w="med" len="med"/>
          </a:ln>
        </p:spPr>
      </p:cxnSp>
      <p:sp>
        <p:nvSpPr>
          <p:cNvPr id="32" name="Rounded Rectangle 31"/>
          <p:cNvSpPr/>
          <p:nvPr/>
        </p:nvSpPr>
        <p:spPr>
          <a:xfrm>
            <a:off x="7132320" y="6314186"/>
            <a:ext cx="4023360" cy="822960"/>
          </a:xfrm>
          <a:prstGeom prst="roundRect">
            <a:avLst>
              <a:gd name="adj" fmla="val 27777"/>
            </a:avLst>
          </a:prstGeom>
          <a:solidFill>
            <a:srgbClr val="1E5F58"/>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3" name="Connector 32"/>
          <p:cNvCxnSpPr/>
          <p:nvPr/>
        </p:nvCxnSpPr>
        <p:spPr>
          <a:xfrm>
            <a:off x="11247120" y="6725666"/>
            <a:ext cx="1897380" cy="0"/>
          </a:xfrm>
          <a:prstGeom prst="line">
            <a:avLst/>
          </a:prstGeom>
          <a:ln w="38100">
            <a:solidFill>
              <a:srgbClr val="124944"/>
            </a:solidFill>
            <a:tailEnd type="triangle" w="med" len="med"/>
          </a:ln>
        </p:spPr>
      </p:cxnSp>
      <p:sp>
        <p:nvSpPr>
          <p:cNvPr id="34" name="Rounded Rectangle 33"/>
          <p:cNvSpPr/>
          <p:nvPr/>
        </p:nvSpPr>
        <p:spPr>
          <a:xfrm>
            <a:off x="13235940" y="6314186"/>
            <a:ext cx="4023360" cy="822960"/>
          </a:xfrm>
          <a:prstGeom prst="roundRect">
            <a:avLst>
              <a:gd name="adj" fmla="val 27777"/>
            </a:avLst>
          </a:prstGeom>
          <a:solidFill>
            <a:srgbClr val="DF8330"/>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5" name="Rounded Rectangle 34"/>
          <p:cNvSpPr/>
          <p:nvPr/>
        </p:nvSpPr>
        <p:spPr>
          <a:xfrm>
            <a:off x="1028700" y="7640066"/>
            <a:ext cx="16230600" cy="1577086"/>
          </a:xfrm>
          <a:prstGeom prst="roundRect">
            <a:avLst>
              <a:gd name="adj" fmla="val 12755"/>
            </a:avLst>
          </a:prstGeom>
          <a:solidFill>
            <a:srgbClr val="F6ECDF"/>
          </a:solidFill>
          <a:ln w="25400">
            <a:solidFill>
              <a:srgbClr val="DF8330"/>
            </a:solidFill>
          </a:ln>
        </p:spPr>
        <p:txBody>
          <a:bodyPr anchor="ctr" rtlCol="false" lIns="0" tIns="0" rIns="0" bIns="0" wrap="square"/>
          <a:lstStyle/>
          <a:p>
            <a:endParaRPr lang="en-US" sz="1800"/>
          </a:p>
        </p:txBody>
      </p:sp>
      <p:sp>
        <p:nvSpPr>
          <p:cNvPr id="36" name="Rounded Rectangle 35"/>
          <p:cNvSpPr/>
          <p:nvPr/>
        </p:nvSpPr>
        <p:spPr>
          <a:xfrm>
            <a:off x="1348740" y="7448042"/>
            <a:ext cx="2510554"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7" name="TextBox 36"/>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E5F58"/>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DF8330"/>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DF8330"/>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12494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617115"/>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12494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1E5F58"/>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DF8330"/>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3" name="Picture 22" descr="image.png"/>
          <p:cNvPicPr>
            <a:picLocks noChangeAspect="1"/>
          </p:cNvPicPr>
          <p:nvPr/>
        </p:nvPicPr>
        <p:blipFill>
          <a:blip r:embed="rId3"/>
          <a:stretch>
            <a:fillRect/>
          </a:stretch>
        </p:blipFill>
        <p:spPr>
          <a:xfrm>
            <a:off x="4224502" y="1673352"/>
            <a:ext cx="457200" cy="539881"/>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9" name="Rounded Rectangle 28"/>
          <p:cNvSpPr/>
          <p:nvPr/>
        </p:nvSpPr>
        <p:spPr>
          <a:xfrm>
            <a:off x="1028700" y="3546602"/>
            <a:ext cx="16230600" cy="1554480"/>
          </a:xfrm>
          <a:prstGeom prst="roundRect">
            <a:avLst>
              <a:gd name="adj" fmla="val 12941"/>
            </a:avLst>
          </a:prstGeom>
          <a:solidFill>
            <a:srgbClr val="F6ECDF"/>
          </a:solidFill>
          <a:ln w="25400">
            <a:solidFill>
              <a:srgbClr val="124944"/>
            </a:solidFill>
          </a:ln>
        </p:spPr>
        <p:txBody>
          <a:bodyPr anchor="ctr" rtlCol="false" lIns="0" tIns="0" rIns="0" bIns="0" wrap="square"/>
          <a:lstStyle/>
          <a:p>
            <a:endParaRPr lang="en-US" sz="1800"/>
          </a:p>
        </p:txBody>
      </p:sp>
      <p:sp>
        <p:nvSpPr>
          <p:cNvPr id="30" name="Rounded Rectangle 29"/>
          <p:cNvSpPr/>
          <p:nvPr/>
        </p:nvSpPr>
        <p:spPr>
          <a:xfrm>
            <a:off x="1348740" y="3354578"/>
            <a:ext cx="207323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1" name="TextBox 30"/>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2" name="TextBox 31"/>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KEY OUTCOMES</a:t>
            </a:r>
          </a:p>
        </p:txBody>
      </p:sp>
      <p:sp>
        <p:nvSpPr>
          <p:cNvPr id="33" name="Rounded Rectangle 32"/>
          <p:cNvSpPr/>
          <p:nvPr/>
        </p:nvSpPr>
        <p:spPr>
          <a:xfrm>
            <a:off x="102870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4" name="Oval 33"/>
          <p:cNvSpPr/>
          <p:nvPr/>
        </p:nvSpPr>
        <p:spPr>
          <a:xfrm>
            <a:off x="134874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5" name="TextBox 34"/>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6" name="Rounded Rectangle 35"/>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7" name="Oval 36"/>
          <p:cNvSpPr/>
          <p:nvPr/>
        </p:nvSpPr>
        <p:spPr>
          <a:xfrm>
            <a:off x="547497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8" name="TextBox 37"/>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9" name="Rounded Rectangle 38"/>
          <p:cNvSpPr/>
          <p:nvPr/>
        </p:nvSpPr>
        <p:spPr>
          <a:xfrm>
            <a:off x="928116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40" name="Oval 39"/>
          <p:cNvSpPr/>
          <p:nvPr/>
        </p:nvSpPr>
        <p:spPr>
          <a:xfrm>
            <a:off x="960120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1" name="TextBox 40"/>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2" name="Rounded Rectangle 41"/>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3" name="Oval 42"/>
          <p:cNvSpPr/>
          <p:nvPr/>
        </p:nvSpPr>
        <p:spPr>
          <a:xfrm>
            <a:off x="1372743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4" name="TextBox 43"/>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373212"/>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427074"/>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90</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12494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12494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124944"/>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12494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92</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Backup Slides</a:t>
            </a:r>
          </a:p>
        </p:txBody>
      </p:sp>
      <p:sp>
        <p:nvSpPr>
          <p:cNvPr id="8" name="Oval 7"/>
          <p:cNvSpPr/>
          <p:nvPr/>
        </p:nvSpPr>
        <p:spPr>
          <a:xfrm>
            <a:off x="1304818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818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B</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Full tables from Chapter 7, for questions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Table 7.1</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All baselines with mean ± standard deviation over five seeds.</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Table 7.6</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Paired t-tests against every baseline, Holm–Bonferroni thresholds, effect sizes.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Tables 7.3 &amp; 7.4</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Training time, inference latency, memory; Monte Carlo convergence.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9" name="Picture 8" descr="image.png"/>
          <p:cNvPicPr>
            <a:picLocks noChangeAspect="1"/>
          </p:cNvPicPr>
          <p:nvPr/>
        </p:nvPicPr>
        <p:blipFill>
          <a:blip r:embed="rId3"/>
          <a:stretch>
            <a:fillRect/>
          </a:stretch>
        </p:blipFill>
        <p:spPr>
          <a:xfrm>
            <a:off x="14357876" y="1673352"/>
            <a:ext cx="457200" cy="399005"/>
          </a:xfrm>
          <a:prstGeom prst="rect">
            <a:avLst/>
          </a:prstGeom>
        </p:spPr>
      </p:pic>
      <p:sp>
        <p:nvSpPr>
          <p:cNvPr id="10" name="TextBox 9"/>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MOVIELENS-1M</a:t>
            </a:r>
          </a:p>
        </p:txBody>
      </p:sp>
      <p:graphicFrame>
        <p:nvGraphicFramePr>
          <p:cNvPr id="11" name="Table 10"/>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2" name="TextBox 11"/>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13" name="Table 12"/>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4" name="Rounded Rectangle 13"/>
          <p:cNvSpPr/>
          <p:nvPr/>
        </p:nvSpPr>
        <p:spPr>
          <a:xfrm>
            <a:off x="1028700" y="7387082"/>
            <a:ext cx="16230600" cy="822960"/>
          </a:xfrm>
          <a:prstGeom prst="roundRect">
            <a:avLst>
              <a:gd name="adj" fmla="val 24444"/>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9" name="Picture 8" descr="image.png"/>
          <p:cNvPicPr>
            <a:picLocks noChangeAspect="1"/>
          </p:cNvPicPr>
          <p:nvPr/>
        </p:nvPicPr>
        <p:blipFill>
          <a:blip r:embed="rId3"/>
          <a:stretch>
            <a:fillRect/>
          </a:stretch>
        </p:blipFill>
        <p:spPr>
          <a:xfrm>
            <a:off x="13676893" y="1673352"/>
            <a:ext cx="457200" cy="446713"/>
          </a:xfrm>
          <a:prstGeom prst="rect">
            <a:avLst/>
          </a:prstGeom>
        </p:spPr>
      </p:pic>
      <p:graphicFrame>
        <p:nvGraphicFramePr>
          <p:cNvPr id="10" name="Table 9"/>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1" name="Rounded Rectangle 10"/>
          <p:cNvSpPr/>
          <p:nvPr/>
        </p:nvSpPr>
        <p:spPr>
          <a:xfrm>
            <a:off x="1028700" y="7551674"/>
            <a:ext cx="7932420" cy="1665478"/>
          </a:xfrm>
          <a:prstGeom prst="roundRect">
            <a:avLst>
              <a:gd name="adj" fmla="val 18667"/>
            </a:avLst>
          </a:prstGeom>
          <a:solidFill>
            <a:srgbClr val="F6ECDF"/>
          </a:solidFill>
          <a:ln>
            <a:noFill/>
          </a:ln>
        </p:spPr>
        <p:txBody>
          <a:bodyPr anchor="ctr" rtlCol="false" lIns="0" tIns="0" rIns="0" bIns="0" wrap="square"/>
          <a:lstStyle/>
          <a:p>
            <a:endParaRPr lang="en-US" sz="1800"/>
          </a:p>
        </p:txBody>
      </p:sp>
      <p:sp>
        <p:nvSpPr>
          <p:cNvPr id="12" name="Rounded Rectangle 11"/>
          <p:cNvSpPr/>
          <p:nvPr/>
        </p:nvSpPr>
        <p:spPr>
          <a:xfrm>
            <a:off x="1485900" y="7313930"/>
            <a:ext cx="2585068"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3" name="TextBox 12"/>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4" name="Rounded Rectangle 13"/>
          <p:cNvSpPr/>
          <p:nvPr/>
        </p:nvSpPr>
        <p:spPr>
          <a:xfrm>
            <a:off x="9326880" y="7551674"/>
            <a:ext cx="7932420" cy="1665478"/>
          </a:xfrm>
          <a:prstGeom prst="roundRect">
            <a:avLst>
              <a:gd name="adj" fmla="val 18667"/>
            </a:avLst>
          </a:prstGeom>
          <a:solidFill>
            <a:srgbClr val="124944"/>
          </a:solidFill>
          <a:ln>
            <a:noFill/>
          </a:ln>
        </p:spPr>
        <p:txBody>
          <a:bodyPr anchor="ctr" rtlCol="false" lIns="0" tIns="0" rIns="0" bIns="0" wrap="square"/>
          <a:lstStyle/>
          <a:p>
            <a:endParaRPr lang="en-US" sz="1800"/>
          </a:p>
        </p:txBody>
      </p:sp>
      <p:sp>
        <p:nvSpPr>
          <p:cNvPr id="15" name="Rounded Rectangle 14"/>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Effect size</a:t>
            </a:r>
          </a:p>
        </p:txBody>
      </p:sp>
      <p:sp>
        <p:nvSpPr>
          <p:cNvPr id="16" name="TextBox 15"/>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9" name="Picture 8" descr="image.png"/>
          <p:cNvPicPr>
            <a:picLocks noChangeAspect="1"/>
          </p:cNvPicPr>
          <p:nvPr/>
        </p:nvPicPr>
        <p:blipFill>
          <a:blip r:embed="rId3"/>
          <a:stretch>
            <a:fillRect/>
          </a:stretch>
        </p:blipFill>
        <p:spPr>
          <a:xfrm>
            <a:off x="13929945" y="1673352"/>
            <a:ext cx="457200" cy="452148"/>
          </a:xfrm>
          <a:prstGeom prst="rect">
            <a:avLst/>
          </a:prstGeom>
        </p:spPr>
      </p:pic>
      <p:sp>
        <p:nvSpPr>
          <p:cNvPr id="10" name="TextBox 9"/>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7.3  ·  RUNTIME AND MEMORY</a:t>
            </a:r>
          </a:p>
        </p:txBody>
      </p:sp>
      <p:graphicFrame>
        <p:nvGraphicFramePr>
          <p:cNvPr id="11" name="Table 10"/>
          <p:cNvGraphicFramePr>
            <a:graphicFrameLocks noGrp="1"/>
          </p:cNvGraphicFramePr>
          <p:nvPr/>
        </p:nvGraphicFramePr>
        <p:xfrm>
          <a:off x="1028700" y="3263138"/>
          <a:ext cx="10241276" cy="3657600"/>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457200">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2" name="TextBox 11"/>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7.4  ·  MONTE CARLO SHAPLEY</a:t>
            </a:r>
          </a:p>
        </p:txBody>
      </p:sp>
      <p:graphicFrame>
        <p:nvGraphicFramePr>
          <p:cNvPr id="13" name="Table 12"/>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4" name="Rounded Rectangle 13"/>
          <p:cNvSpPr/>
          <p:nvPr/>
        </p:nvSpPr>
        <p:spPr>
          <a:xfrm>
            <a:off x="1028700" y="7286498"/>
            <a:ext cx="16230600" cy="1005840"/>
          </a:xfrm>
          <a:prstGeom prst="roundRect">
            <a:avLst>
              <a:gd name="adj" fmla="val 20000"/>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