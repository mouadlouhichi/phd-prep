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 My name is Mouad Louhichi, and the thesis I am defending, supervised by Professor Mohamed Lazaar, is entitled: "Cooperative Game Theory for Explainable AI in Recommendation Systems: A Shapley Framework for Actionable Insight." 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forty minutes. I will start with the motivation behind this research and the concept of actionable insight, the central idea of this thesis. Then the research context, the limitations of existing approaches, and the research questions. After that, I will describe the common experimental protocol before presenting the three contributions. Each contribution follows the same structure: the research gap, the objectives, the methodology, the evaluation protocol, the results, and the main findings. 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 The first question I want to address is: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extremely accurate, but their reasoning is hard to understand. Three questions are behind this thesis. The first concerns scale: these models now shape the experience of billions of users. The second concerns transparency. Even state-of-the-art recommenders and clustering pipelines are often black boxes. We can observe their outputs, but understanding the reasons behind these outputs remains difficult. The third concerns trust. Instead of adding explanations after building complex models, can we integrate transparency directly into the model itself? This thesis starts from one idea: accuracy and interpretability are not competing objectives, but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 An explanation is actionable when it points to something we can actually change, and when changing it clearly affects the model output. This factor should also be expressed in the language of the real-world domain, such as acidity in wine, pollution indicators in air quality, or user preferences in recommenders. In other words, a good explanation should not only describe what happened, but also help us decide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The history of this field is also the history of the interpretability problem. Early similarity-based approaches were easier to explain because they relied on visible features. Then matrix factorization improved recommendation accuracy and scalability, but introduced latent factors whose meanings were hidden. Later, neural and graph approaches added modelling power through hidden representations and message passing. Finally, hypergraph models introduced richer relationships between users, items, and contexts. But 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recommenders are not only theoretical models. They are already part of everyday applications. Platforms such as Netflix, Spotify, Amazon, and Yelp use recommendation algorithms to personalize the experience of millions of users. Their performance is impressive, but the reasoning behind their decisions remains hidden. The user receives a recommendation, but often does not know why this specific item was selected. This situation, where AI is everywhere but its reasoning remains hidden, is the main motivation of this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These approaches represent users, items, and interactions as connected structures. Through message passing, information can propagate across multiple hops and capture more complex relationships. Hypergraph models go even further by representing higher-order relationships between several entities, such as a user, an item, and a context at the same time. But this additional modelling power introduces a new challenge: the importance of each message remains hidden. The model learns complex relationships, but it cannot explain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The first limitation is data sparsity. In practice, the user-item interaction matrix is almost empty, which makes learning difficult. The second is cold-start: new users and new items have no history. The third is popularity bias: popular items get more exposure, and relevant but less popular ones are ignored. And the one this thesis targets is the absence of interpretability. For clustering problems, the challenge is even harder because existing approaches usually provide either local explanations or global explanations, but rarely both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main problems that shape this research. First, complex AI models are difficult to explain in a way that is both faithful and actionable. Second, explanations often do not scale to large datasets or multi-level structures. Third, explanations are usually generated after training, meaning that they only describe the model behaviour without influencing the learning process itself. The central idea of this thesis is that Shapley attribution can provide a common cooperative-game framework to address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 The first question asks how Shapley values can explain black-box clustering faithfully at both instance and cluster levels. The second question investigates how this explanation can be extended to large-scale and multi-level clustering while remaining consistent. The third question moves beyond explanation and asks whether cooperative attribution can become part of how recommendation models learn. The fourth question investigates whether this approach can improve ranking quality while maintaining context and diversity. Finally, the fifth asks what we gain from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 The first contribution introduces a Shapley-based framework for explaining black-box clustering. It is evaluated on the Wine Quality dataset and focuses on faithful feature attribution. The second contribution extends this idea to large-scale multi-level clustering using Beijing Air Quality data, with a formal approach to maintain consistency across levels. The third contribution, called DyHuCoG, moves beyond explanation and integrates cooperative attribution directly into hypergraph recommendation learning. 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covering both tasks: Wine Quality and Beijing Air Quality for clustering, MovieLens-1M and Amazon-Book for recommendation. The first dataset is the Portuguese White Wine Quality dataset. It contains 4,898 samples described by 11 physicochemical measurements, including acidity, density, sulphates, and alcohol. This dataset is particularly suitable for the first contribution because every variable has a clear meaning in the real domain. So when the explanation identifies an important factor, it can directly correspond to something a wine expert can understand and potentially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 Unlike supervised learning, clustering does not have a predefined target variable. The model discovers groups directly from the data, which makes understanding the reason behind each cluster more challenging. Existing explanation approaches usually focus either on individual instances or on global cluster descriptions, but they rarely provide a unified explanation at both levels. So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 In a cooperative game, we have a set of players, possible coalitions between these players, and a value function that measures the contribution of each coalition. The main question is how to fairly distribute the total contribution among the different players. The Shapley value provides this solution by calculating the average marginal contribution of each player across all possible orders of participation. In this thesis, the players are the input features, and the Shapley value measures how much each feature contributes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 At the global level, variables such as temperature and dew point explain the main environmental regimes. But inside each regime, different variables become important. For example, one cluster may be characterized by warmer conditions and ozone-related behaviour, while another may correspond to winter pollution involving particulate matter and other pollutants. 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 The first question is whether cooperative attribution can move beyond post-hoc explanation and become part of the recommendation learning process. The second question is whether this integration can improve recommendation quality while maintaining contextual relevance and diversity. To answer these questions, DyHuCoG combines hypergraph learning with Shapley-based attribution. The first objective is to model recommendation as a cooperative game involving users, items, and contextual information. The second objective is to introduce a preference-aware Monte Carlo Shapley estimation mechanism inside hypergraph message passing. The third objective is to optimize several objectives together: ranking accuracy, diversity, and contextual relevance. 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gives one common framework for explainable AI across clustering and recommendation. The main contributions demonstrate four important points. First, Shapley attribution provides a principled way to measure contribution. Second, it can explain black-box clustering using meaningful variables. Third, it can remain interpretable when moving to large-scale and multi-level structures. Finally, it can become part of the learning process itself through DyHuCoG. The main message is that explanation need not stay a description of what happened. It can become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 Id="rId9" Type="http://schemas.openxmlformats.org/officeDocument/2006/relationships/image" Target="../media/image61.png"/><Relationship Id="rId10" Type="http://schemas.openxmlformats.org/officeDocument/2006/relationships/image" Target="../media/image62.png"/><Relationship Id="rId11"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 Id="rId5" Type="http://schemas.openxmlformats.org/officeDocument/2006/relationships/image" Target="../media/image64.png"/><Relationship Id="rId6"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 Id="rId5" Type="http://schemas.openxmlformats.org/officeDocument/2006/relationships/image" Target="../media/image66.png"/><Relationship Id="rId6"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1.xml"/><Relationship Id="rId5" Type="http://schemas.openxmlformats.org/officeDocument/2006/relationships/image" Target="../media/image68.png"/><Relationship Id="rId6"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2.xml"/><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 Id="rId5"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 Id="rId5"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4.xml"/><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image" Target="../media/image88.png"/><Relationship Id="rId11" Type="http://schemas.openxmlformats.org/officeDocument/2006/relationships/image" Target="../media/image8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1.xml"/><Relationship Id="rId5" Type="http://schemas.openxmlformats.org/officeDocument/2006/relationships/image" Target="../media/image9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image" Target="../media/image9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0E3B5E"/>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0E3B5E"/>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0E3B5E"/>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2EF"/>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0E3B5E"/>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0E3B5E"/>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2EF"/>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0E3B5E"/>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0E3B5E"/>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2EF"/>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0E3B5E"/>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0E3B5E"/>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2EF"/>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1" name="Picture 20" descr="image.png"/>
          <p:cNvPicPr>
            <a:picLocks noChangeAspect="1"/>
          </p:cNvPicPr>
          <p:nvPr/>
        </p:nvPicPr>
        <p:blipFill>
          <a:blip r:embed="rId3"/>
          <a:stretch>
            <a:fillRect/>
          </a:stretch>
        </p:blipFill>
        <p:spPr>
          <a:xfrm>
            <a:off x="8592285" y="1673352"/>
            <a:ext cx="457200" cy="250983"/>
          </a:xfrm>
          <a:prstGeom prst="rect">
            <a:avLst/>
          </a:prstGeom>
        </p:spPr>
      </p:pic>
      <p:sp>
        <p:nvSpPr>
          <p:cNvPr id="22" name="Rounded Rectangle 21"/>
          <p:cNvSpPr/>
          <p:nvPr/>
        </p:nvSpPr>
        <p:spPr>
          <a:xfrm>
            <a:off x="1028700" y="2559050"/>
            <a:ext cx="1715805"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Research Context</a:t>
            </a:r>
          </a:p>
        </p:txBody>
      </p:sp>
      <p:sp>
        <p:nvSpPr>
          <p:cNvPr id="25" name="Rounded Rectangle 24"/>
          <p:cNvSpPr/>
          <p:nvPr/>
        </p:nvSpPr>
        <p:spPr>
          <a:xfrm>
            <a:off x="1028700" y="3592322"/>
            <a:ext cx="5196840" cy="4206240"/>
          </a:xfrm>
          <a:prstGeom prst="roundRect">
            <a:avLst>
              <a:gd name="adj" fmla="val 7391"/>
            </a:avLst>
          </a:prstGeom>
          <a:solidFill>
            <a:srgbClr val="0E3B5E"/>
          </a:solidFill>
          <a:ln>
            <a:noFill/>
          </a:ln>
        </p:spPr>
        <p:txBody>
          <a:bodyPr anchor="ctr" rtlCol="false" lIns="0" tIns="0" rIns="0" bIns="0" wrap="square"/>
          <a:lstStyle/>
          <a:p>
            <a:endParaRPr lang="en-US" sz="1800"/>
          </a:p>
        </p:txBody>
      </p:sp>
      <p:sp>
        <p:nvSpPr>
          <p:cNvPr id="26" name="Rounded Rectangle 25"/>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0E3B5E"/>
                </a:solidFill>
                <a:latin typeface="Nunito Bold"/>
                <a:ea typeface="Nunito Bold"/>
                <a:cs typeface="Nunito Bold"/>
                <a:sym typeface="Nunito Bold"/>
              </a:rPr>
              <a:t>Everywhere</a:t>
            </a:r>
          </a:p>
        </p:txBody>
      </p:sp>
      <p:sp>
        <p:nvSpPr>
          <p:cNvPr id="27" name="TextBox 26"/>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C9D8E6"/>
                </a:solidFill>
                <a:latin typeface="Nunito Semi-Bold"/>
                <a:ea typeface="Nunito Semi-Bold"/>
                <a:cs typeface="Nunito Semi-Bold"/>
                <a:sym typeface="Nunito Semi-Bold"/>
              </a:rPr>
              <a:t>Recommenders shape news, study, health and credit decisions; market &gt; $15B by 2029.</a:t>
            </a:r>
          </a:p>
        </p:txBody>
      </p:sp>
      <p:sp>
        <p:nvSpPr>
          <p:cNvPr id="28" name="Rounded Rectangle 27"/>
          <p:cNvSpPr/>
          <p:nvPr/>
        </p:nvSpPr>
        <p:spPr>
          <a:xfrm>
            <a:off x="6545580" y="3592322"/>
            <a:ext cx="5196840" cy="4206240"/>
          </a:xfrm>
          <a:prstGeom prst="roundRect">
            <a:avLst>
              <a:gd name="adj" fmla="val 7391"/>
            </a:avLst>
          </a:prstGeom>
          <a:solidFill>
            <a:srgbClr val="0E3B5E"/>
          </a:solidFill>
          <a:ln>
            <a:noFill/>
          </a:ln>
        </p:spPr>
        <p:txBody>
          <a:bodyPr anchor="ctr" rtlCol="false" lIns="0" tIns="0" rIns="0" bIns="0" wrap="square"/>
          <a:lstStyle/>
          <a:p>
            <a:endParaRPr lang="en-US" sz="1800"/>
          </a:p>
        </p:txBody>
      </p:sp>
      <p:sp>
        <p:nvSpPr>
          <p:cNvPr id="29" name="Rounded Rectangle 28"/>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0E3B5E"/>
                </a:solidFill>
                <a:latin typeface="Nunito Bold"/>
                <a:ea typeface="Nunito Bold"/>
                <a:cs typeface="Nunito Bold"/>
                <a:sym typeface="Nunito Bold"/>
              </a:rPr>
              <a:t>The Black Box</a:t>
            </a:r>
          </a:p>
        </p:txBody>
      </p:sp>
      <p:sp>
        <p:nvSpPr>
          <p:cNvPr id="30" name="TextBox 29"/>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C9D8E6"/>
                </a:solidFill>
                <a:latin typeface="Nunito Semi-Bold"/>
                <a:ea typeface="Nunito Semi-Bold"/>
                <a:cs typeface="Nunito Semi-Bold"/>
                <a:sym typeface="Nunito Semi-Bold"/>
              </a:rPr>
              <a:t>Deep &amp; graph models: hidden logic, hard to audit. EU AI Act: high-risk </a:t>
            </a:r>
            <a:r>
              <a:rPr lang="en-US" sz="1800" b="true">
                <a:solidFill>
                  <a:srgbClr val="C9D8E6"/>
                </a:solidFill>
                <a:latin typeface="Calibri"/>
                <a:ea typeface="Calibri"/>
                <a:cs typeface="Calibri"/>
                <a:sym typeface="Calibri"/>
              </a:rPr>
              <a:t>→ </a:t>
            </a:r>
            <a:r>
              <a:rPr lang="en-US" sz="1800" b="true">
                <a:solidFill>
                  <a:srgbClr val="C9D8E6"/>
                </a:solidFill>
                <a:latin typeface="Nunito Semi-Bold"/>
                <a:ea typeface="Nunito Semi-Bold"/>
                <a:cs typeface="Nunito Semi-Bold"/>
                <a:sym typeface="Nunito Semi-Bold"/>
              </a:rPr>
              <a:t>must explain.</a:t>
            </a:r>
          </a:p>
        </p:txBody>
      </p:sp>
      <p:sp>
        <p:nvSpPr>
          <p:cNvPr id="31" name="Rounded Rectangle 30"/>
          <p:cNvSpPr/>
          <p:nvPr/>
        </p:nvSpPr>
        <p:spPr>
          <a:xfrm>
            <a:off x="12062460" y="3592322"/>
            <a:ext cx="5196840" cy="4206240"/>
          </a:xfrm>
          <a:prstGeom prst="roundRect">
            <a:avLst>
              <a:gd name="adj" fmla="val 7391"/>
            </a:avLst>
          </a:prstGeom>
          <a:solidFill>
            <a:srgbClr val="0E3B5E"/>
          </a:solidFill>
          <a:ln>
            <a:noFill/>
          </a:ln>
        </p:spPr>
        <p:txBody>
          <a:bodyPr anchor="ctr" rtlCol="false" lIns="0" tIns="0" rIns="0" bIns="0" wrap="square"/>
          <a:lstStyle/>
          <a:p>
            <a:endParaRPr lang="en-US" sz="1800"/>
          </a:p>
        </p:txBody>
      </p:sp>
      <p:sp>
        <p:nvSpPr>
          <p:cNvPr id="32" name="Rounded Rectangle 31"/>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0E3B5E"/>
                </a:solidFill>
                <a:latin typeface="Nunito Bold"/>
                <a:ea typeface="Nunito Bold"/>
                <a:cs typeface="Nunito Bold"/>
                <a:sym typeface="Nunito Bold"/>
              </a:rPr>
              <a:t>Toward Trust</a:t>
            </a:r>
          </a:p>
        </p:txBody>
      </p:sp>
      <p:sp>
        <p:nvSpPr>
          <p:cNvPr id="33" name="TextBox 32"/>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C9D8E6"/>
                </a:solidFill>
                <a:latin typeface="Nunito Semi-Bold"/>
                <a:ea typeface="Nunito Semi-Bold"/>
                <a:cs typeface="Nunito Semi-Bold"/>
                <a:sym typeface="Nunito Semi-Bold"/>
              </a:rPr>
              <a:t>Insight that is accountable, auditable and actionable, not just accurate.</a:t>
            </a:r>
          </a:p>
        </p:txBody>
      </p:sp>
      <p:sp>
        <p:nvSpPr>
          <p:cNvPr id="34" name="Rounded Rectangle 33"/>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1" name="Picture 20" descr="image.png"/>
          <p:cNvPicPr>
            <a:picLocks noChangeAspect="1"/>
          </p:cNvPicPr>
          <p:nvPr/>
        </p:nvPicPr>
        <p:blipFill>
          <a:blip r:embed="rId3"/>
          <a:stretch>
            <a:fillRect/>
          </a:stretch>
        </p:blipFill>
        <p:spPr>
          <a:xfrm>
            <a:off x="9706798" y="1673352"/>
            <a:ext cx="457200" cy="415247"/>
          </a:xfrm>
          <a:prstGeom prst="rect">
            <a:avLst/>
          </a:prstGeom>
        </p:spPr>
      </p:pic>
      <p:sp>
        <p:nvSpPr>
          <p:cNvPr id="22" name="Rounded Rectangle 21"/>
          <p:cNvSpPr/>
          <p:nvPr/>
        </p:nvSpPr>
        <p:spPr>
          <a:xfrm>
            <a:off x="1028700" y="2559050"/>
            <a:ext cx="1715805"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Research Context</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0E3B5E"/>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6" name="TextBox 25"/>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27" name="Rounded Rectangle 26"/>
          <p:cNvSpPr/>
          <p:nvPr/>
        </p:nvSpPr>
        <p:spPr>
          <a:xfrm>
            <a:off x="9441180" y="4643882"/>
            <a:ext cx="1600200" cy="1417320"/>
          </a:xfrm>
          <a:prstGeom prst="roundRect">
            <a:avLst>
              <a:gd name="adj" fmla="val 12903"/>
            </a:avLst>
          </a:prstGeom>
          <a:solidFill>
            <a:srgbClr val="0E3B5E"/>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28" name="Connector 27"/>
          <p:cNvCxnSpPr/>
          <p:nvPr/>
        </p:nvCxnSpPr>
        <p:spPr>
          <a:xfrm>
            <a:off x="11087100" y="5352542"/>
            <a:ext cx="381000" cy="0"/>
          </a:xfrm>
          <a:prstGeom prst="line">
            <a:avLst/>
          </a:prstGeom>
          <a:ln w="28575">
            <a:solidFill>
              <a:srgbClr val="0E3B5E"/>
            </a:solidFill>
            <a:tailEnd type="triangle" w="med" len="med"/>
          </a:ln>
        </p:spPr>
      </p:cxnSp>
      <p:sp>
        <p:nvSpPr>
          <p:cNvPr id="29" name="Rounded Rectangle 28"/>
          <p:cNvSpPr/>
          <p:nvPr/>
        </p:nvSpPr>
        <p:spPr>
          <a:xfrm>
            <a:off x="11513820" y="4643882"/>
            <a:ext cx="1600200" cy="1417320"/>
          </a:xfrm>
          <a:prstGeom prst="roundRect">
            <a:avLst>
              <a:gd name="adj" fmla="val 12903"/>
            </a:avLst>
          </a:prstGeom>
          <a:solidFill>
            <a:srgbClr val="0E3B5E"/>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0" name="Connector 29"/>
          <p:cNvCxnSpPr/>
          <p:nvPr/>
        </p:nvCxnSpPr>
        <p:spPr>
          <a:xfrm>
            <a:off x="13159740" y="5352542"/>
            <a:ext cx="381000" cy="0"/>
          </a:xfrm>
          <a:prstGeom prst="line">
            <a:avLst/>
          </a:prstGeom>
          <a:ln w="28575">
            <a:solidFill>
              <a:srgbClr val="0E3B5E"/>
            </a:solidFill>
            <a:tailEnd type="triangle" w="med" len="med"/>
          </a:ln>
        </p:spPr>
      </p:cxnSp>
      <p:sp>
        <p:nvSpPr>
          <p:cNvPr id="31" name="Rounded Rectangle 30"/>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2" name="Connector 31"/>
          <p:cNvCxnSpPr/>
          <p:nvPr/>
        </p:nvCxnSpPr>
        <p:spPr>
          <a:xfrm>
            <a:off x="15232380" y="5352542"/>
            <a:ext cx="381000" cy="0"/>
          </a:xfrm>
          <a:prstGeom prst="line">
            <a:avLst/>
          </a:prstGeom>
          <a:ln w="28575">
            <a:solidFill>
              <a:srgbClr val="0E3B5E"/>
            </a:solidFill>
            <a:tailEnd type="triangle" w="med" len="med"/>
          </a:ln>
        </p:spPr>
      </p:cxnSp>
      <p:sp>
        <p:nvSpPr>
          <p:cNvPr id="33" name="Rounded Rectangle 32"/>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4" name="Connector 33"/>
          <p:cNvCxnSpPr/>
          <p:nvPr/>
        </p:nvCxnSpPr>
        <p:spPr>
          <a:xfrm>
            <a:off x="10241280" y="6106922"/>
            <a:ext cx="0" cy="365760"/>
          </a:xfrm>
          <a:prstGeom prst="line">
            <a:avLst/>
          </a:prstGeom>
          <a:ln w="28575">
            <a:solidFill>
              <a:srgbClr val="DF8330"/>
            </a:solidFill>
          </a:ln>
        </p:spPr>
      </p:cxnSp>
      <p:cxnSp>
        <p:nvCxnSpPr>
          <p:cNvPr id="35" name="Connector 34"/>
          <p:cNvCxnSpPr/>
          <p:nvPr/>
        </p:nvCxnSpPr>
        <p:spPr>
          <a:xfrm>
            <a:off x="10241280" y="6472682"/>
            <a:ext cx="6217920" cy="0"/>
          </a:xfrm>
          <a:prstGeom prst="line">
            <a:avLst/>
          </a:prstGeom>
          <a:ln w="28575">
            <a:solidFill>
              <a:srgbClr val="DF8330"/>
            </a:solidFill>
            <a:prstDash val="dash"/>
          </a:ln>
        </p:spPr>
      </p:cxnSp>
      <p:cxnSp>
        <p:nvCxnSpPr>
          <p:cNvPr id="36" name="Connector 35"/>
          <p:cNvCxnSpPr/>
          <p:nvPr/>
        </p:nvCxnSpPr>
        <p:spPr>
          <a:xfrm>
            <a:off x="16459200" y="6106922"/>
            <a:ext cx="0" cy="365760"/>
          </a:xfrm>
          <a:prstGeom prst="line">
            <a:avLst/>
          </a:prstGeom>
          <a:ln w="28575">
            <a:solidFill>
              <a:srgbClr val="DF8330"/>
            </a:solidFill>
          </a:ln>
        </p:spPr>
      </p:cxnSp>
      <p:sp>
        <p:nvSpPr>
          <p:cNvPr id="37" name="TextBox 36"/>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38" name="Rounded Rectangle 37"/>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39" name="Rounded Rectangle 38"/>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0" name="Rounded Rectangle 39"/>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1" name="Picture 20" descr="image.png"/>
          <p:cNvPicPr>
            <a:picLocks noChangeAspect="1"/>
          </p:cNvPicPr>
          <p:nvPr/>
        </p:nvPicPr>
        <p:blipFill>
          <a:blip r:embed="rId3"/>
          <a:stretch>
            <a:fillRect/>
          </a:stretch>
        </p:blipFill>
        <p:spPr>
          <a:xfrm>
            <a:off x="5880294" y="1673352"/>
            <a:ext cx="457200" cy="452148"/>
          </a:xfrm>
          <a:prstGeom prst="rect">
            <a:avLst/>
          </a:prstGeom>
        </p:spPr>
      </p:pic>
      <p:sp>
        <p:nvSpPr>
          <p:cNvPr id="22" name="Rounded Rectangle 21"/>
          <p:cNvSpPr/>
          <p:nvPr/>
        </p:nvSpPr>
        <p:spPr>
          <a:xfrm>
            <a:off x="1028700" y="2559050"/>
            <a:ext cx="1715805"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5" name="TextBox 24"/>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26" name="Rounded Rectangle 25"/>
          <p:cNvSpPr/>
          <p:nvPr/>
        </p:nvSpPr>
        <p:spPr>
          <a:xfrm>
            <a:off x="1028700" y="3866642"/>
            <a:ext cx="2331720" cy="1143000"/>
          </a:xfrm>
          <a:prstGeom prst="roundRect">
            <a:avLst>
              <a:gd name="adj" fmla="val 16000"/>
            </a:avLst>
          </a:prstGeom>
          <a:solidFill>
            <a:srgbClr val="0E3B5E"/>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7" name="Connector 26"/>
          <p:cNvCxnSpPr/>
          <p:nvPr/>
        </p:nvCxnSpPr>
        <p:spPr>
          <a:xfrm>
            <a:off x="3415284" y="4438142"/>
            <a:ext cx="1033272" cy="0"/>
          </a:xfrm>
          <a:prstGeom prst="line">
            <a:avLst/>
          </a:prstGeom>
          <a:ln w="28575">
            <a:solidFill>
              <a:srgbClr val="0E3B5E"/>
            </a:solidFill>
            <a:tailEnd type="triangle" w="med" len="med"/>
          </a:ln>
        </p:spPr>
      </p:cxnSp>
      <p:sp>
        <p:nvSpPr>
          <p:cNvPr id="28" name="Rounded Rectangle 27"/>
          <p:cNvSpPr/>
          <p:nvPr/>
        </p:nvSpPr>
        <p:spPr>
          <a:xfrm>
            <a:off x="4503420" y="3866642"/>
            <a:ext cx="2331720" cy="1143000"/>
          </a:xfrm>
          <a:prstGeom prst="roundRect">
            <a:avLst>
              <a:gd name="adj" fmla="val 16000"/>
            </a:avLst>
          </a:prstGeom>
          <a:solidFill>
            <a:srgbClr val="0E3B5E"/>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9" name="Connector 28"/>
          <p:cNvCxnSpPr/>
          <p:nvPr/>
        </p:nvCxnSpPr>
        <p:spPr>
          <a:xfrm>
            <a:off x="6890004" y="4438142"/>
            <a:ext cx="1033272" cy="0"/>
          </a:xfrm>
          <a:prstGeom prst="line">
            <a:avLst/>
          </a:prstGeom>
          <a:ln w="28575">
            <a:solidFill>
              <a:srgbClr val="0E3B5E"/>
            </a:solidFill>
            <a:tailEnd type="triangle" w="med" len="med"/>
          </a:ln>
        </p:spPr>
      </p:cxnSp>
      <p:sp>
        <p:nvSpPr>
          <p:cNvPr id="30" name="Rounded Rectangle 29"/>
          <p:cNvSpPr/>
          <p:nvPr/>
        </p:nvSpPr>
        <p:spPr>
          <a:xfrm>
            <a:off x="7978140" y="3866642"/>
            <a:ext cx="2331720" cy="1143000"/>
          </a:xfrm>
          <a:prstGeom prst="roundRect">
            <a:avLst>
              <a:gd name="adj" fmla="val 16000"/>
            </a:avLst>
          </a:prstGeom>
          <a:solidFill>
            <a:srgbClr val="0E3B5E"/>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1" name="Connector 30"/>
          <p:cNvCxnSpPr/>
          <p:nvPr/>
        </p:nvCxnSpPr>
        <p:spPr>
          <a:xfrm>
            <a:off x="10364724" y="4438142"/>
            <a:ext cx="1033272" cy="0"/>
          </a:xfrm>
          <a:prstGeom prst="line">
            <a:avLst/>
          </a:prstGeom>
          <a:ln w="28575">
            <a:solidFill>
              <a:srgbClr val="0E3B5E"/>
            </a:solidFill>
            <a:tailEnd type="triangle" w="med" len="med"/>
          </a:ln>
        </p:spPr>
      </p:cxnSp>
      <p:sp>
        <p:nvSpPr>
          <p:cNvPr id="32" name="Rounded Rectangle 31"/>
          <p:cNvSpPr/>
          <p:nvPr/>
        </p:nvSpPr>
        <p:spPr>
          <a:xfrm>
            <a:off x="11452860" y="3866642"/>
            <a:ext cx="2331720" cy="1143000"/>
          </a:xfrm>
          <a:prstGeom prst="roundRect">
            <a:avLst>
              <a:gd name="adj" fmla="val 16000"/>
            </a:avLst>
          </a:prstGeom>
          <a:solidFill>
            <a:srgbClr val="0E3B5E"/>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3" name="Connector 32"/>
          <p:cNvCxnSpPr/>
          <p:nvPr/>
        </p:nvCxnSpPr>
        <p:spPr>
          <a:xfrm>
            <a:off x="13839444" y="4438142"/>
            <a:ext cx="1033272" cy="0"/>
          </a:xfrm>
          <a:prstGeom prst="line">
            <a:avLst/>
          </a:prstGeom>
          <a:ln w="28575">
            <a:solidFill>
              <a:srgbClr val="0E3B5E"/>
            </a:solidFill>
            <a:tailEnd type="triangle" w="med" len="med"/>
          </a:ln>
        </p:spPr>
      </p:cxnSp>
      <p:sp>
        <p:nvSpPr>
          <p:cNvPr id="34" name="Rounded Rectangle 33"/>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5" name="Connector 34"/>
          <p:cNvCxnSpPr/>
          <p:nvPr/>
        </p:nvCxnSpPr>
        <p:spPr>
          <a:xfrm>
            <a:off x="1028700" y="5283962"/>
            <a:ext cx="16230600" cy="0"/>
          </a:xfrm>
          <a:prstGeom prst="line">
            <a:avLst/>
          </a:prstGeom>
          <a:ln w="50800">
            <a:solidFill>
              <a:srgbClr val="DF8330"/>
            </a:solidFill>
            <a:tailEnd type="triangle" w="med" len="med"/>
          </a:ln>
        </p:spPr>
      </p:cxnSp>
      <p:sp>
        <p:nvSpPr>
          <p:cNvPr id="36" name="TextBox 35"/>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The interpretability gap grows:</a:t>
            </a:r>
            <a:r>
              <a:rPr lang="en-US" sz="1800" b="true">
                <a:solidFill>
                  <a:srgbClr val="DF8330"/>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7" name="Rounded Rectangle 36"/>
          <p:cNvSpPr/>
          <p:nvPr/>
        </p:nvSpPr>
        <p:spPr>
          <a:xfrm>
            <a:off x="1028700" y="6289802"/>
            <a:ext cx="7932420" cy="3110230"/>
          </a:xfrm>
          <a:prstGeom prst="roundRect">
            <a:avLst>
              <a:gd name="adj" fmla="val 9995"/>
            </a:avLst>
          </a:prstGeom>
          <a:solidFill>
            <a:srgbClr val="0E3B5E"/>
          </a:solidFill>
          <a:ln>
            <a:noFill/>
          </a:ln>
        </p:spPr>
        <p:txBody>
          <a:bodyPr anchor="ctr" rtlCol="false" lIns="0" tIns="0" rIns="0" bIns="0" wrap="square"/>
          <a:lstStyle/>
          <a:p>
            <a:endParaRPr lang="en-US" sz="1800"/>
          </a:p>
        </p:txBody>
      </p:sp>
      <p:sp>
        <p:nvSpPr>
          <p:cNvPr id="38" name="Rounded Rectangle 37"/>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Why the gap matters</a:t>
            </a:r>
          </a:p>
        </p:txBody>
      </p:sp>
      <p:sp>
        <p:nvSpPr>
          <p:cNvPr id="39" name="TextBox 38"/>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0" name="Rounded Rectangle 39"/>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84080" y="6052058"/>
            <a:ext cx="3837783"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2" name="TextBox 41"/>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1" name="Picture 20" descr="image.png"/>
          <p:cNvPicPr>
            <a:picLocks noChangeAspect="1"/>
          </p:cNvPicPr>
          <p:nvPr/>
        </p:nvPicPr>
        <p:blipFill>
          <a:blip r:embed="rId3"/>
          <a:stretch>
            <a:fillRect/>
          </a:stretch>
        </p:blipFill>
        <p:spPr>
          <a:xfrm>
            <a:off x="12921990" y="1673352"/>
            <a:ext cx="457200" cy="617115"/>
          </a:xfrm>
          <a:prstGeom prst="rect">
            <a:avLst/>
          </a:prstGeom>
        </p:spPr>
      </p:pic>
      <p:sp>
        <p:nvSpPr>
          <p:cNvPr id="22" name="Rounded Rectangle 21"/>
          <p:cNvSpPr/>
          <p:nvPr/>
        </p:nvSpPr>
        <p:spPr>
          <a:xfrm>
            <a:off x="1028700" y="2559050"/>
            <a:ext cx="1715805"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Motivation</a:t>
            </a:r>
          </a:p>
        </p:txBody>
      </p:sp>
      <p:sp>
        <p:nvSpPr>
          <p:cNvPr id="23" name="Rounded Rectangle 22"/>
          <p:cNvSpPr/>
          <p:nvPr/>
        </p:nvSpPr>
        <p:spPr>
          <a:xfrm>
            <a:off x="2872521" y="2559050"/>
            <a:ext cx="254485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Actionable Insight</a:t>
            </a:r>
          </a:p>
        </p:txBody>
      </p:sp>
      <p:sp>
        <p:nvSpPr>
          <p:cNvPr id="24" name="Rounded Rectangle 23"/>
          <p:cNvSpPr/>
          <p:nvPr/>
        </p:nvSpPr>
        <p:spPr>
          <a:xfrm>
            <a:off x="5545389" y="2559050"/>
            <a:ext cx="2484575"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5" name="Rounded Rectangle 24"/>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6" name="Rounded Rectangle 25"/>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7" name="TextBox 26"/>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8" name="TextBox 27"/>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9" name="Rounded Rectangle 28"/>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0" name="Rounded Rectangle 29"/>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1" name="TextBox 30"/>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2" name="TextBox 31"/>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3" name="Rounded Rectangle 32"/>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4" name="Rounded Rectangle 33"/>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5" name="TextBox 34"/>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6" name="TextBox 35"/>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7" name="Rounded Rectangle 36"/>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8" name="Rounded Rectangle 37"/>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9" name="TextBox 38"/>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0" name="TextBox 39"/>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1" name="Rounded Rectangle 40"/>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1" name="Picture 20" descr="image.png"/>
          <p:cNvPicPr>
            <a:picLocks noChangeAspect="1"/>
          </p:cNvPicPr>
          <p:nvPr/>
        </p:nvPicPr>
        <p:blipFill>
          <a:blip r:embed="rId3"/>
          <a:stretch>
            <a:fillRect/>
          </a:stretch>
        </p:blipFill>
        <p:spPr>
          <a:xfrm>
            <a:off x="7401574" y="1673352"/>
            <a:ext cx="457200" cy="250983"/>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a:t>
            </a:r>
          </a:p>
        </p:txBody>
      </p:sp>
      <p:sp>
        <p:nvSpPr>
          <p:cNvPr id="30" name="Rounded Rectangle 29"/>
          <p:cNvSpPr/>
          <p:nvPr/>
        </p:nvSpPr>
        <p:spPr>
          <a:xfrm>
            <a:off x="9258300" y="3958082"/>
            <a:ext cx="1572768" cy="1188720"/>
          </a:xfrm>
          <a:prstGeom prst="roundRect">
            <a:avLst>
              <a:gd name="adj" fmla="val 1538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1" name="Connector 30"/>
          <p:cNvCxnSpPr/>
          <p:nvPr/>
        </p:nvCxnSpPr>
        <p:spPr>
          <a:xfrm>
            <a:off x="10876788" y="4552442"/>
            <a:ext cx="478536" cy="0"/>
          </a:xfrm>
          <a:prstGeom prst="line">
            <a:avLst/>
          </a:prstGeom>
          <a:ln w="28575">
            <a:solidFill>
              <a:srgbClr val="0E3B5E"/>
            </a:solidFill>
            <a:tailEnd type="triangle" w="med" len="med"/>
          </a:ln>
        </p:spPr>
      </p:cxnSp>
      <p:sp>
        <p:nvSpPr>
          <p:cNvPr id="32" name="Rounded Rectangle 31"/>
          <p:cNvSpPr/>
          <p:nvPr/>
        </p:nvSpPr>
        <p:spPr>
          <a:xfrm>
            <a:off x="11401044" y="3958082"/>
            <a:ext cx="1572768" cy="1188720"/>
          </a:xfrm>
          <a:prstGeom prst="roundRect">
            <a:avLst>
              <a:gd name="adj" fmla="val 1538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3" name="Connector 32"/>
          <p:cNvCxnSpPr/>
          <p:nvPr/>
        </p:nvCxnSpPr>
        <p:spPr>
          <a:xfrm>
            <a:off x="13019532" y="4552442"/>
            <a:ext cx="478536" cy="0"/>
          </a:xfrm>
          <a:prstGeom prst="line">
            <a:avLst/>
          </a:prstGeom>
          <a:ln w="28575">
            <a:solidFill>
              <a:srgbClr val="0E3B5E"/>
            </a:solidFill>
            <a:tailEnd type="triangle" w="med" len="med"/>
          </a:ln>
        </p:spPr>
      </p:cxnSp>
      <p:sp>
        <p:nvSpPr>
          <p:cNvPr id="34" name="Rounded Rectangle 33"/>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5" name="Connector 34"/>
          <p:cNvCxnSpPr/>
          <p:nvPr/>
        </p:nvCxnSpPr>
        <p:spPr>
          <a:xfrm>
            <a:off x="15162276" y="4552442"/>
            <a:ext cx="478536" cy="0"/>
          </a:xfrm>
          <a:prstGeom prst="line">
            <a:avLst/>
          </a:prstGeom>
          <a:ln w="28575">
            <a:solidFill>
              <a:srgbClr val="0E3B5E"/>
            </a:solidFill>
            <a:tailEnd type="triangle" w="med" len="med"/>
          </a:ln>
        </p:spPr>
      </p:cxnSp>
      <p:sp>
        <p:nvSpPr>
          <p:cNvPr id="36" name="Rounded Rectangle 35"/>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7" name="TextBox 36"/>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38" name="Rounded Rectangle 37"/>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15500" y="5960618"/>
            <a:ext cx="2851659"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0" name="TextBox 39"/>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1" name="Rounded Rectangle 40"/>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3853160" y="5960618"/>
            <a:ext cx="2443924"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3" name="TextBox 42"/>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4" name="Rounded Rectangle 43"/>
          <p:cNvSpPr/>
          <p:nvPr/>
        </p:nvSpPr>
        <p:spPr>
          <a:xfrm>
            <a:off x="9258300" y="8210042"/>
            <a:ext cx="8001000" cy="1007110"/>
          </a:xfrm>
          <a:prstGeom prst="roundRect">
            <a:avLst>
              <a:gd name="adj" fmla="val 22698"/>
            </a:avLst>
          </a:prstGeom>
          <a:solidFill>
            <a:srgbClr val="0E3B5E"/>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1" name="Picture 20" descr="image.png"/>
          <p:cNvPicPr>
            <a:picLocks noChangeAspect="1"/>
          </p:cNvPicPr>
          <p:nvPr/>
        </p:nvPicPr>
        <p:blipFill>
          <a:blip r:embed="rId3"/>
          <a:stretch>
            <a:fillRect/>
          </a:stretch>
        </p:blipFill>
        <p:spPr>
          <a:xfrm>
            <a:off x="7040539" y="1673352"/>
            <a:ext cx="457200" cy="539881"/>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USER-BASED  ·  ITEM-BASED</a:t>
            </a:r>
          </a:p>
        </p:txBody>
      </p:sp>
      <p:sp>
        <p:nvSpPr>
          <p:cNvPr id="30" name="Oval 29"/>
          <p:cNvSpPr/>
          <p:nvPr/>
        </p:nvSpPr>
        <p:spPr>
          <a:xfrm>
            <a:off x="10081260" y="4278122"/>
            <a:ext cx="685800" cy="685800"/>
          </a:xfrm>
          <a:prstGeom prst="ellipse">
            <a:avLst/>
          </a:prstGeom>
          <a:solidFill>
            <a:srgbClr val="0E3B5E"/>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1" name="Oval 30"/>
          <p:cNvSpPr/>
          <p:nvPr/>
        </p:nvSpPr>
        <p:spPr>
          <a:xfrm>
            <a:off x="10081260" y="5329682"/>
            <a:ext cx="685800" cy="685800"/>
          </a:xfrm>
          <a:prstGeom prst="ellipse">
            <a:avLst/>
          </a:prstGeom>
          <a:solidFill>
            <a:srgbClr val="0E3B5E"/>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2" name="Oval 31"/>
          <p:cNvSpPr/>
          <p:nvPr/>
        </p:nvSpPr>
        <p:spPr>
          <a:xfrm>
            <a:off x="10081260" y="6381242"/>
            <a:ext cx="685800" cy="685800"/>
          </a:xfrm>
          <a:prstGeom prst="ellipse">
            <a:avLst/>
          </a:prstGeom>
          <a:solidFill>
            <a:srgbClr val="0E3B5E"/>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3" name="Rounded Rectangle 32"/>
          <p:cNvSpPr/>
          <p:nvPr/>
        </p:nvSpPr>
        <p:spPr>
          <a:xfrm>
            <a:off x="16162020" y="400380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4" name="TextBox 33"/>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5" name="Rounded Rectangle 34"/>
          <p:cNvSpPr/>
          <p:nvPr/>
        </p:nvSpPr>
        <p:spPr>
          <a:xfrm>
            <a:off x="16162020" y="482676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7" name="Rounded Rectangle 36"/>
          <p:cNvSpPr/>
          <p:nvPr/>
        </p:nvSpPr>
        <p:spPr>
          <a:xfrm>
            <a:off x="16162020" y="564972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39" name="Rounded Rectangle 38"/>
          <p:cNvSpPr/>
          <p:nvPr/>
        </p:nvSpPr>
        <p:spPr>
          <a:xfrm>
            <a:off x="16162020" y="647268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0" name="TextBox 39"/>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1" name="Connector 40"/>
          <p:cNvCxnSpPr/>
          <p:nvPr/>
        </p:nvCxnSpPr>
        <p:spPr>
          <a:xfrm flipV="1">
            <a:off x="10767060" y="4323842"/>
            <a:ext cx="5394960" cy="297180"/>
          </a:xfrm>
          <a:prstGeom prst="line">
            <a:avLst/>
          </a:prstGeom>
          <a:ln w="22225">
            <a:solidFill>
              <a:srgbClr val="0E3B5E"/>
            </a:solidFill>
          </a:ln>
        </p:spPr>
      </p:cxnSp>
      <p:cxnSp>
        <p:nvCxnSpPr>
          <p:cNvPr id="42" name="Connector 41"/>
          <p:cNvCxnSpPr/>
          <p:nvPr/>
        </p:nvCxnSpPr>
        <p:spPr>
          <a:xfrm>
            <a:off x="10767060" y="4621022"/>
            <a:ext cx="5394960" cy="525780"/>
          </a:xfrm>
          <a:prstGeom prst="line">
            <a:avLst/>
          </a:prstGeom>
          <a:ln w="22225">
            <a:solidFill>
              <a:srgbClr val="0E3B5E"/>
            </a:solidFill>
          </a:ln>
        </p:spPr>
      </p:cxnSp>
      <p:cxnSp>
        <p:nvCxnSpPr>
          <p:cNvPr id="43" name="Connector 42"/>
          <p:cNvCxnSpPr/>
          <p:nvPr/>
        </p:nvCxnSpPr>
        <p:spPr>
          <a:xfrm flipV="1">
            <a:off x="10767060" y="4323842"/>
            <a:ext cx="5394960" cy="1348740"/>
          </a:xfrm>
          <a:prstGeom prst="line">
            <a:avLst/>
          </a:prstGeom>
          <a:ln w="22225">
            <a:solidFill>
              <a:srgbClr val="0E3B5E"/>
            </a:solidFill>
          </a:ln>
        </p:spPr>
      </p:cxnSp>
      <p:cxnSp>
        <p:nvCxnSpPr>
          <p:cNvPr id="44" name="Connector 43"/>
          <p:cNvCxnSpPr/>
          <p:nvPr/>
        </p:nvCxnSpPr>
        <p:spPr>
          <a:xfrm flipV="1">
            <a:off x="10767060" y="5146802"/>
            <a:ext cx="5394960" cy="525780"/>
          </a:xfrm>
          <a:prstGeom prst="line">
            <a:avLst/>
          </a:prstGeom>
          <a:ln w="22225">
            <a:solidFill>
              <a:srgbClr val="0E3B5E"/>
            </a:solidFill>
          </a:ln>
        </p:spPr>
      </p:cxnSp>
      <p:cxnSp>
        <p:nvCxnSpPr>
          <p:cNvPr id="45" name="Connector 44"/>
          <p:cNvCxnSpPr/>
          <p:nvPr/>
        </p:nvCxnSpPr>
        <p:spPr>
          <a:xfrm>
            <a:off x="10767060" y="5672582"/>
            <a:ext cx="5394960" cy="297180"/>
          </a:xfrm>
          <a:prstGeom prst="line">
            <a:avLst/>
          </a:prstGeom>
          <a:ln w="22225">
            <a:solidFill>
              <a:srgbClr val="0E3B5E"/>
            </a:solidFill>
          </a:ln>
        </p:spPr>
      </p:cxnSp>
      <p:cxnSp>
        <p:nvCxnSpPr>
          <p:cNvPr id="46" name="Connector 45"/>
          <p:cNvCxnSpPr/>
          <p:nvPr/>
        </p:nvCxnSpPr>
        <p:spPr>
          <a:xfrm flipV="1">
            <a:off x="10767060" y="5969762"/>
            <a:ext cx="5394960" cy="754380"/>
          </a:xfrm>
          <a:prstGeom prst="line">
            <a:avLst/>
          </a:prstGeom>
          <a:ln w="22225">
            <a:solidFill>
              <a:srgbClr val="0E3B5E"/>
            </a:solidFill>
          </a:ln>
        </p:spPr>
      </p:cxnSp>
      <p:cxnSp>
        <p:nvCxnSpPr>
          <p:cNvPr id="47" name="Connector 46"/>
          <p:cNvCxnSpPr/>
          <p:nvPr/>
        </p:nvCxnSpPr>
        <p:spPr>
          <a:xfrm>
            <a:off x="10767060" y="6724142"/>
            <a:ext cx="5394960" cy="68580"/>
          </a:xfrm>
          <a:prstGeom prst="line">
            <a:avLst/>
          </a:prstGeom>
          <a:ln w="22225">
            <a:solidFill>
              <a:srgbClr val="0E3B5E"/>
            </a:solidFill>
          </a:ln>
        </p:spPr>
      </p:cxnSp>
      <p:cxnSp>
        <p:nvCxnSpPr>
          <p:cNvPr id="48" name="Connector 47"/>
          <p:cNvCxnSpPr/>
          <p:nvPr/>
        </p:nvCxnSpPr>
        <p:spPr>
          <a:xfrm>
            <a:off x="10767060" y="4621022"/>
            <a:ext cx="5394960" cy="1348740"/>
          </a:xfrm>
          <a:prstGeom prst="line">
            <a:avLst/>
          </a:prstGeom>
          <a:ln w="31750">
            <a:solidFill>
              <a:srgbClr val="DF8330"/>
            </a:solidFill>
            <a:prstDash val="dash"/>
          </a:ln>
        </p:spPr>
      </p:cxnSp>
      <p:sp>
        <p:nvSpPr>
          <p:cNvPr id="49" name="TextBox 48"/>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0" name="Rounded Rectangle 49"/>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1" name="Rounded Rectangle 50"/>
          <p:cNvSpPr/>
          <p:nvPr/>
        </p:nvSpPr>
        <p:spPr>
          <a:xfrm>
            <a:off x="9715500" y="7926578"/>
            <a:ext cx="1641980"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2" name="TextBox 51"/>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3" name="Rounded Rectangle 52"/>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4" name="Rounded Rectangle 53"/>
          <p:cNvSpPr/>
          <p:nvPr/>
        </p:nvSpPr>
        <p:spPr>
          <a:xfrm>
            <a:off x="13853160" y="7926578"/>
            <a:ext cx="1628245"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5" name="TextBox 54"/>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1" name="Picture 20" descr="image.png"/>
          <p:cNvPicPr>
            <a:picLocks noChangeAspect="1"/>
          </p:cNvPicPr>
          <p:nvPr/>
        </p:nvPicPr>
        <p:blipFill>
          <a:blip r:embed="rId3"/>
          <a:stretch>
            <a:fillRect/>
          </a:stretch>
        </p:blipFill>
        <p:spPr>
          <a:xfrm>
            <a:off x="12801265" y="1673352"/>
            <a:ext cx="457200" cy="373212"/>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HYBRID  ·  MATRIX FACTORISATION</a:t>
            </a:r>
          </a:p>
        </p:txBody>
      </p:sp>
      <p:sp>
        <p:nvSpPr>
          <p:cNvPr id="30" name="Rounded Rectangle 29"/>
          <p:cNvSpPr/>
          <p:nvPr/>
        </p:nvSpPr>
        <p:spPr>
          <a:xfrm>
            <a:off x="9258300" y="3958082"/>
            <a:ext cx="3863340" cy="914400"/>
          </a:xfrm>
          <a:prstGeom prst="roundRect">
            <a:avLst>
              <a:gd name="adj" fmla="val 22000"/>
            </a:avLst>
          </a:prstGeom>
          <a:solidFill>
            <a:srgbClr val="0E3B5E"/>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1" name="Rounded Rectangle 30"/>
          <p:cNvSpPr/>
          <p:nvPr/>
        </p:nvSpPr>
        <p:spPr>
          <a:xfrm>
            <a:off x="13395960" y="3958082"/>
            <a:ext cx="3863340" cy="914400"/>
          </a:xfrm>
          <a:prstGeom prst="roundRect">
            <a:avLst>
              <a:gd name="adj" fmla="val 22000"/>
            </a:avLst>
          </a:prstGeom>
          <a:solidFill>
            <a:srgbClr val="1F5C99"/>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2" name="Connector 31"/>
          <p:cNvCxnSpPr/>
          <p:nvPr/>
        </p:nvCxnSpPr>
        <p:spPr>
          <a:xfrm>
            <a:off x="11189970" y="4872482"/>
            <a:ext cx="1794510" cy="411480"/>
          </a:xfrm>
          <a:prstGeom prst="line">
            <a:avLst/>
          </a:prstGeom>
          <a:ln w="31750">
            <a:solidFill>
              <a:srgbClr val="0E3B5E"/>
            </a:solidFill>
            <a:tailEnd type="triangle" w="med" len="med"/>
          </a:ln>
        </p:spPr>
      </p:cxnSp>
      <p:cxnSp>
        <p:nvCxnSpPr>
          <p:cNvPr id="33" name="Connector 32"/>
          <p:cNvCxnSpPr/>
          <p:nvPr/>
        </p:nvCxnSpPr>
        <p:spPr>
          <a:xfrm flipH="1">
            <a:off x="13533120" y="4872482"/>
            <a:ext cx="1794510" cy="411480"/>
          </a:xfrm>
          <a:prstGeom prst="line">
            <a:avLst/>
          </a:prstGeom>
          <a:ln w="31750">
            <a:solidFill>
              <a:srgbClr val="0E3B5E"/>
            </a:solidFill>
            <a:tailEnd type="triangle" w="med" len="med"/>
          </a:ln>
        </p:spPr>
      </p:cxnSp>
      <p:sp>
        <p:nvSpPr>
          <p:cNvPr id="34" name="Rounded Rectangle 33"/>
          <p:cNvSpPr/>
          <p:nvPr/>
        </p:nvSpPr>
        <p:spPr>
          <a:xfrm>
            <a:off x="11430000" y="5283962"/>
            <a:ext cx="3657600" cy="868680"/>
          </a:xfrm>
          <a:prstGeom prst="roundRect">
            <a:avLst>
              <a:gd name="adj" fmla="val 23157"/>
            </a:avLst>
          </a:prstGeom>
          <a:solidFill>
            <a:srgbClr val="DF8330"/>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5" name="TextBox 34"/>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0E3B5E"/>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6"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6"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7" name="Rounded Rectangle 36"/>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1" name="Picture 20" descr="image.png"/>
          <p:cNvPicPr>
            <a:picLocks noChangeAspect="1"/>
          </p:cNvPicPr>
          <p:nvPr/>
        </p:nvPicPr>
        <p:blipFill>
          <a:blip r:embed="rId3"/>
          <a:stretch>
            <a:fillRect/>
          </a:stretch>
        </p:blipFill>
        <p:spPr>
          <a:xfrm>
            <a:off x="13302882" y="1673352"/>
            <a:ext cx="457200" cy="427074"/>
          </a:xfrm>
          <a:prstGeom prst="rect">
            <a:avLst/>
          </a:prstGeom>
        </p:spPr>
      </p:pic>
      <p:sp>
        <p:nvSpPr>
          <p:cNvPr id="22" name="Rounded Rectangle 21"/>
          <p:cNvSpPr/>
          <p:nvPr/>
        </p:nvSpPr>
        <p:spPr>
          <a:xfrm>
            <a:off x="1028700" y="2559050"/>
            <a:ext cx="1854490"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TextBox 24"/>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6" name="Rounded Rectangle 25"/>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7" name="Rounded Rectangle 26"/>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8" name="TextBox 27"/>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29" name="TextBox 28"/>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GRAPH  ·  HYPERGRAPH</a:t>
            </a:r>
          </a:p>
        </p:txBody>
      </p:sp>
      <p:sp>
        <p:nvSpPr>
          <p:cNvPr id="30" name="Rounded Rectangle 29"/>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15500" y="3903218"/>
            <a:ext cx="2690762"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2" name="Connector 31"/>
          <p:cNvCxnSpPr/>
          <p:nvPr/>
        </p:nvCxnSpPr>
        <p:spPr>
          <a:xfrm flipV="1">
            <a:off x="10367010" y="4735322"/>
            <a:ext cx="1645920" cy="274320"/>
          </a:xfrm>
          <a:prstGeom prst="line">
            <a:avLst/>
          </a:prstGeom>
          <a:ln w="22225">
            <a:solidFill>
              <a:srgbClr val="0E3B5E"/>
            </a:solidFill>
          </a:ln>
        </p:spPr>
      </p:cxnSp>
      <p:cxnSp>
        <p:nvCxnSpPr>
          <p:cNvPr id="33" name="Connector 32"/>
          <p:cNvCxnSpPr/>
          <p:nvPr/>
        </p:nvCxnSpPr>
        <p:spPr>
          <a:xfrm>
            <a:off x="10367010" y="5009642"/>
            <a:ext cx="1645920" cy="822960"/>
          </a:xfrm>
          <a:prstGeom prst="line">
            <a:avLst/>
          </a:prstGeom>
          <a:ln w="22225">
            <a:solidFill>
              <a:srgbClr val="0E3B5E"/>
            </a:solidFill>
          </a:ln>
        </p:spPr>
      </p:cxnSp>
      <p:cxnSp>
        <p:nvCxnSpPr>
          <p:cNvPr id="34" name="Connector 33"/>
          <p:cNvCxnSpPr/>
          <p:nvPr/>
        </p:nvCxnSpPr>
        <p:spPr>
          <a:xfrm flipV="1">
            <a:off x="10367010" y="5832602"/>
            <a:ext cx="1645920" cy="548640"/>
          </a:xfrm>
          <a:prstGeom prst="line">
            <a:avLst/>
          </a:prstGeom>
          <a:ln w="22225">
            <a:solidFill>
              <a:srgbClr val="0E3B5E"/>
            </a:solidFill>
          </a:ln>
        </p:spPr>
      </p:cxnSp>
      <p:cxnSp>
        <p:nvCxnSpPr>
          <p:cNvPr id="35" name="Connector 34"/>
          <p:cNvCxnSpPr/>
          <p:nvPr/>
        </p:nvCxnSpPr>
        <p:spPr>
          <a:xfrm>
            <a:off x="10367010" y="6381242"/>
            <a:ext cx="1645920" cy="548640"/>
          </a:xfrm>
          <a:prstGeom prst="line">
            <a:avLst/>
          </a:prstGeom>
          <a:ln w="22225">
            <a:solidFill>
              <a:srgbClr val="0E3B5E"/>
            </a:solidFill>
          </a:ln>
        </p:spPr>
      </p:cxnSp>
      <p:sp>
        <p:nvSpPr>
          <p:cNvPr id="36" name="Oval 35"/>
          <p:cNvSpPr/>
          <p:nvPr/>
        </p:nvSpPr>
        <p:spPr>
          <a:xfrm>
            <a:off x="10110978" y="4753610"/>
            <a:ext cx="512064" cy="512064"/>
          </a:xfrm>
          <a:prstGeom prst="ellipse">
            <a:avLst/>
          </a:prstGeom>
          <a:solidFill>
            <a:srgbClr val="0E3B5E"/>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7" name="Oval 36"/>
          <p:cNvSpPr/>
          <p:nvPr/>
        </p:nvSpPr>
        <p:spPr>
          <a:xfrm>
            <a:off x="11756898" y="447929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38" name="Oval 37"/>
          <p:cNvSpPr/>
          <p:nvPr/>
        </p:nvSpPr>
        <p:spPr>
          <a:xfrm>
            <a:off x="11756898" y="557657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39" name="Oval 38"/>
          <p:cNvSpPr/>
          <p:nvPr/>
        </p:nvSpPr>
        <p:spPr>
          <a:xfrm>
            <a:off x="10110978" y="6125210"/>
            <a:ext cx="512064" cy="512064"/>
          </a:xfrm>
          <a:prstGeom prst="ellipse">
            <a:avLst/>
          </a:prstGeom>
          <a:solidFill>
            <a:srgbClr val="0E3B5E"/>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0" name="Oval 39"/>
          <p:cNvSpPr/>
          <p:nvPr/>
        </p:nvSpPr>
        <p:spPr>
          <a:xfrm>
            <a:off x="11756898" y="667385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3853160" y="3903218"/>
            <a:ext cx="3887674"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3" name="Oval 42"/>
          <p:cNvSpPr/>
          <p:nvPr/>
        </p:nvSpPr>
        <p:spPr>
          <a:xfrm>
            <a:off x="13910310" y="4689602"/>
            <a:ext cx="2834640" cy="1737360"/>
          </a:xfrm>
          <a:prstGeom prst="ellipse">
            <a:avLst/>
          </a:prstGeom>
          <a:solidFill>
            <a:srgbClr val="E4EBF4"/>
          </a:solidFill>
          <a:ln w="28575">
            <a:solidFill>
              <a:srgbClr val="0E3B5E"/>
            </a:solidFill>
          </a:ln>
        </p:spPr>
        <p:txBody>
          <a:bodyPr anchor="ctr" rtlCol="false" lIns="0" tIns="0" rIns="0" bIns="0" wrap="square"/>
          <a:lstStyle/>
          <a:p>
            <a:endParaRPr lang="en-US" sz="1800"/>
          </a:p>
        </p:txBody>
      </p:sp>
      <p:sp>
        <p:nvSpPr>
          <p:cNvPr id="44" name="Oval 43"/>
          <p:cNvSpPr/>
          <p:nvPr/>
        </p:nvSpPr>
        <p:spPr>
          <a:xfrm>
            <a:off x="14248638" y="5027930"/>
            <a:ext cx="512064" cy="512064"/>
          </a:xfrm>
          <a:prstGeom prst="ellipse">
            <a:avLst/>
          </a:prstGeom>
          <a:solidFill>
            <a:srgbClr val="0E3B5E"/>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5" name="Oval 44"/>
          <p:cNvSpPr/>
          <p:nvPr/>
        </p:nvSpPr>
        <p:spPr>
          <a:xfrm>
            <a:off x="15163038" y="479933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6" name="Oval 45"/>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7" name="TextBox 46"/>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48" name="Rounded Rectangle 47"/>
          <p:cNvSpPr/>
          <p:nvPr/>
        </p:nvSpPr>
        <p:spPr>
          <a:xfrm>
            <a:off x="9258300" y="7981442"/>
            <a:ext cx="8001000" cy="1235710"/>
          </a:xfrm>
          <a:prstGeom prst="roundRect">
            <a:avLst>
              <a:gd name="adj" fmla="val 18499"/>
            </a:avLst>
          </a:prstGeom>
          <a:solidFill>
            <a:srgbClr val="0E3B5E"/>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1" name="Picture 20" descr="image.png"/>
          <p:cNvPicPr>
            <a:picLocks noChangeAspect="1"/>
          </p:cNvPicPr>
          <p:nvPr/>
        </p:nvPicPr>
        <p:blipFill>
          <a:blip r:embed="rId3"/>
          <a:stretch>
            <a:fillRect/>
          </a:stretch>
        </p:blipFill>
        <p:spPr>
          <a:xfrm>
            <a:off x="16315229" y="1673352"/>
            <a:ext cx="457200" cy="399005"/>
          </a:xfrm>
          <a:prstGeom prst="rect">
            <a:avLst/>
          </a:prstGeom>
        </p:spPr>
      </p:pic>
      <p:sp>
        <p:nvSpPr>
          <p:cNvPr id="22" name="Rounded Rectangle 21"/>
          <p:cNvSpPr/>
          <p:nvPr/>
        </p:nvSpPr>
        <p:spPr>
          <a:xfrm>
            <a:off x="1028700" y="2495550"/>
            <a:ext cx="1854490"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Approaches</a:t>
            </a:r>
          </a:p>
        </p:txBody>
      </p:sp>
      <p:sp>
        <p:nvSpPr>
          <p:cNvPr id="23" name="Rounded Rectangle 22"/>
          <p:cNvSpPr/>
          <p:nvPr/>
        </p:nvSpPr>
        <p:spPr>
          <a:xfrm>
            <a:off x="3011206" y="2495550"/>
            <a:ext cx="1870972"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4" name="Rounded Rectangle 23"/>
          <p:cNvSpPr/>
          <p:nvPr/>
        </p:nvSpPr>
        <p:spPr>
          <a:xfrm>
            <a:off x="5010194" y="24955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Rounded Rectangle 24"/>
          <p:cNvSpPr/>
          <p:nvPr/>
        </p:nvSpPr>
        <p:spPr>
          <a:xfrm>
            <a:off x="1028700" y="3391662"/>
            <a:ext cx="3851910" cy="3017520"/>
          </a:xfrm>
          <a:prstGeom prst="roundRect">
            <a:avLst>
              <a:gd name="adj" fmla="val 9090"/>
            </a:avLst>
          </a:prstGeom>
          <a:solidFill>
            <a:srgbClr val="0E3B5E"/>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6" name="Rounded Rectangle 25"/>
          <p:cNvSpPr/>
          <p:nvPr/>
        </p:nvSpPr>
        <p:spPr>
          <a:xfrm>
            <a:off x="5154930" y="3391662"/>
            <a:ext cx="3851910" cy="3017520"/>
          </a:xfrm>
          <a:prstGeom prst="roundRect">
            <a:avLst>
              <a:gd name="adj" fmla="val 9090"/>
            </a:avLst>
          </a:prstGeom>
          <a:solidFill>
            <a:srgbClr val="0E3B5E"/>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7" name="Rounded Rectangle 26"/>
          <p:cNvSpPr/>
          <p:nvPr/>
        </p:nvSpPr>
        <p:spPr>
          <a:xfrm>
            <a:off x="9281160" y="3391662"/>
            <a:ext cx="3851910" cy="3017520"/>
          </a:xfrm>
          <a:prstGeom prst="roundRect">
            <a:avLst>
              <a:gd name="adj" fmla="val 9090"/>
            </a:avLst>
          </a:prstGeom>
          <a:solidFill>
            <a:srgbClr val="0E3B5E"/>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8" name="Rounded Rectangle 27"/>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9" name="Rounded Rectangle 28"/>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6811518"/>
            <a:ext cx="7857234"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1" name="TextBox 30"/>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1" name="Picture 20" descr="image.png"/>
          <p:cNvPicPr>
            <a:picLocks noChangeAspect="1"/>
          </p:cNvPicPr>
          <p:nvPr/>
        </p:nvPicPr>
        <p:blipFill>
          <a:blip r:embed="rId3"/>
          <a:stretch>
            <a:fillRect/>
          </a:stretch>
        </p:blipFill>
        <p:spPr>
          <a:xfrm>
            <a:off x="12569927" y="1673352"/>
            <a:ext cx="457200" cy="446713"/>
          </a:xfrm>
          <a:prstGeom prst="rect">
            <a:avLst/>
          </a:prstGeom>
        </p:spPr>
      </p:pic>
      <p:sp>
        <p:nvSpPr>
          <p:cNvPr id="22" name="Rounded Rectangle 21"/>
          <p:cNvSpPr/>
          <p:nvPr/>
        </p:nvSpPr>
        <p:spPr>
          <a:xfrm>
            <a:off x="1028700" y="2559050"/>
            <a:ext cx="1854490"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Rounded Rectangle 24"/>
          <p:cNvSpPr/>
          <p:nvPr/>
        </p:nvSpPr>
        <p:spPr>
          <a:xfrm>
            <a:off x="1028700" y="3455162"/>
            <a:ext cx="5196840" cy="3566160"/>
          </a:xfrm>
          <a:prstGeom prst="roundRect">
            <a:avLst>
              <a:gd name="adj" fmla="val 8205"/>
            </a:avLst>
          </a:prstGeom>
          <a:solidFill>
            <a:srgbClr val="0E3B5E"/>
          </a:solidFill>
          <a:ln>
            <a:noFill/>
          </a:ln>
        </p:spPr>
        <p:txBody>
          <a:bodyPr anchor="ctr" rtlCol="false" lIns="0" tIns="0" rIns="0" bIns="0" wrap="square"/>
          <a:lstStyle/>
          <a:p>
            <a:endParaRPr lang="en-US" sz="1800"/>
          </a:p>
        </p:txBody>
      </p:sp>
      <p:sp>
        <p:nvSpPr>
          <p:cNvPr id="26" name="Oval 25"/>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7" name="TextBox 26"/>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8" name="Rounded Rectangle 27"/>
          <p:cNvSpPr/>
          <p:nvPr/>
        </p:nvSpPr>
        <p:spPr>
          <a:xfrm>
            <a:off x="6545580" y="3455162"/>
            <a:ext cx="5196840" cy="3566160"/>
          </a:xfrm>
          <a:prstGeom prst="roundRect">
            <a:avLst>
              <a:gd name="adj" fmla="val 8205"/>
            </a:avLst>
          </a:prstGeom>
          <a:solidFill>
            <a:srgbClr val="0E3B5E"/>
          </a:solidFill>
          <a:ln>
            <a:noFill/>
          </a:ln>
        </p:spPr>
        <p:txBody>
          <a:bodyPr anchor="ctr" rtlCol="false" lIns="0" tIns="0" rIns="0" bIns="0" wrap="square"/>
          <a:lstStyle/>
          <a:p>
            <a:endParaRPr lang="en-US" sz="1800"/>
          </a:p>
        </p:txBody>
      </p:sp>
      <p:sp>
        <p:nvSpPr>
          <p:cNvPr id="29" name="Oval 28"/>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0" name="TextBox 29"/>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1" name="Rounded Rectangle 30"/>
          <p:cNvSpPr/>
          <p:nvPr/>
        </p:nvSpPr>
        <p:spPr>
          <a:xfrm>
            <a:off x="12062460" y="3455162"/>
            <a:ext cx="5196840" cy="3566160"/>
          </a:xfrm>
          <a:prstGeom prst="roundRect">
            <a:avLst>
              <a:gd name="adj" fmla="val 8205"/>
            </a:avLst>
          </a:prstGeom>
          <a:solidFill>
            <a:srgbClr val="0E3B5E"/>
          </a:solidFill>
          <a:ln>
            <a:noFill/>
          </a:ln>
        </p:spPr>
        <p:txBody>
          <a:bodyPr anchor="ctr" rtlCol="false" lIns="0" tIns="0" rIns="0" bIns="0" wrap="square"/>
          <a:lstStyle/>
          <a:p>
            <a:endParaRPr lang="en-US" sz="1800"/>
          </a:p>
        </p:txBody>
      </p:sp>
      <p:sp>
        <p:nvSpPr>
          <p:cNvPr id="32" name="Oval 31"/>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3" name="TextBox 32"/>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4" name="Rounded Rectangle 33"/>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35" name="TextBox 34"/>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1" name="Picture 20" descr="image.png"/>
          <p:cNvPicPr>
            <a:picLocks noChangeAspect="1"/>
          </p:cNvPicPr>
          <p:nvPr/>
        </p:nvPicPr>
        <p:blipFill>
          <a:blip r:embed="rId3"/>
          <a:stretch>
            <a:fillRect/>
          </a:stretch>
        </p:blipFill>
        <p:spPr>
          <a:xfrm>
            <a:off x="13647239" y="1673352"/>
            <a:ext cx="457200" cy="452148"/>
          </a:xfrm>
          <a:prstGeom prst="rect">
            <a:avLst/>
          </a:prstGeom>
        </p:spPr>
      </p:pic>
      <p:sp>
        <p:nvSpPr>
          <p:cNvPr id="22" name="Rounded Rectangle 21"/>
          <p:cNvSpPr/>
          <p:nvPr/>
        </p:nvSpPr>
        <p:spPr>
          <a:xfrm>
            <a:off x="1028700" y="2559050"/>
            <a:ext cx="1854490"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Contributions</a:t>
            </a:r>
          </a:p>
        </p:txBody>
      </p:sp>
      <p:sp>
        <p:nvSpPr>
          <p:cNvPr id="25" name="Rounded Rectangle 24"/>
          <p:cNvSpPr/>
          <p:nvPr/>
        </p:nvSpPr>
        <p:spPr>
          <a:xfrm>
            <a:off x="1028700" y="3363722"/>
            <a:ext cx="16230600" cy="868680"/>
          </a:xfrm>
          <a:prstGeom prst="roundRect">
            <a:avLst>
              <a:gd name="adj" fmla="val 26315"/>
            </a:avLst>
          </a:prstGeom>
          <a:solidFill>
            <a:srgbClr val="0E3B5E"/>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6" name="Rounded Rectangle 25"/>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7" name="Rounded Rectangle 26"/>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8" name="TextBox 27"/>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5339060" y="4589018"/>
            <a:ext cx="1737360" cy="620217"/>
          </a:xfrm>
          <a:prstGeom prst="roundRect">
            <a:avLst>
              <a:gd name="adj" fmla="val 2211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0" name="Rounded Rectangle 29"/>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2" name="TextBox 31"/>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3" name="Rounded Rectangle 32"/>
          <p:cNvSpPr/>
          <p:nvPr/>
        </p:nvSpPr>
        <p:spPr>
          <a:xfrm>
            <a:off x="15339060" y="5593283"/>
            <a:ext cx="1737360" cy="620217"/>
          </a:xfrm>
          <a:prstGeom prst="roundRect">
            <a:avLst>
              <a:gd name="adj" fmla="val 2211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4" name="Rounded Rectangle 33"/>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6" name="TextBox 35"/>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7" name="Rounded Rectangle 36"/>
          <p:cNvSpPr/>
          <p:nvPr/>
        </p:nvSpPr>
        <p:spPr>
          <a:xfrm>
            <a:off x="15339060" y="6597548"/>
            <a:ext cx="1737360" cy="620217"/>
          </a:xfrm>
          <a:prstGeom prst="roundRect">
            <a:avLst>
              <a:gd name="adj" fmla="val 2211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8" name="Rounded Rectangle 37"/>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9" name="Rounded Rectangle 38"/>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0" name="TextBox 39"/>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1" name="Rounded Rectangle 40"/>
          <p:cNvSpPr/>
          <p:nvPr/>
        </p:nvSpPr>
        <p:spPr>
          <a:xfrm>
            <a:off x="15339060" y="7601813"/>
            <a:ext cx="1737360" cy="620217"/>
          </a:xfrm>
          <a:prstGeom prst="roundRect">
            <a:avLst>
              <a:gd name="adj" fmla="val 2211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2" name="Rounded Rectangle 41"/>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4" name="TextBox 43"/>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5" name="Rounded Rectangle 44"/>
          <p:cNvSpPr/>
          <p:nvPr/>
        </p:nvSpPr>
        <p:spPr>
          <a:xfrm>
            <a:off x="15339060" y="8606078"/>
            <a:ext cx="1737360" cy="620217"/>
          </a:xfrm>
          <a:prstGeom prst="roundRect">
            <a:avLst>
              <a:gd name="adj" fmla="val 22114"/>
            </a:avLst>
          </a:prstGeom>
          <a:solidFill>
            <a:srgbClr val="0E3B5E"/>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1" name="Picture 20" descr="image.png"/>
          <p:cNvPicPr>
            <a:picLocks noChangeAspect="1"/>
          </p:cNvPicPr>
          <p:nvPr/>
        </p:nvPicPr>
        <p:blipFill>
          <a:blip r:embed="rId3"/>
          <a:stretch>
            <a:fillRect/>
          </a:stretch>
        </p:blipFill>
        <p:spPr>
          <a:xfrm>
            <a:off x="7638654" y="1673352"/>
            <a:ext cx="457200" cy="415247"/>
          </a:xfrm>
          <a:prstGeom prst="rect">
            <a:avLst/>
          </a:prstGeom>
        </p:spPr>
      </p:pic>
      <p:sp>
        <p:nvSpPr>
          <p:cNvPr id="22" name="Rounded Rectangle 21"/>
          <p:cNvSpPr/>
          <p:nvPr/>
        </p:nvSpPr>
        <p:spPr>
          <a:xfrm>
            <a:off x="1028700" y="2559050"/>
            <a:ext cx="1854490"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Approaches</a:t>
            </a:r>
          </a:p>
        </p:txBody>
      </p:sp>
      <p:sp>
        <p:nvSpPr>
          <p:cNvPr id="23" name="Rounded Rectangle 22"/>
          <p:cNvSpPr/>
          <p:nvPr/>
        </p:nvSpPr>
        <p:spPr>
          <a:xfrm>
            <a:off x="3011206" y="2559050"/>
            <a:ext cx="187097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Problematic</a:t>
            </a:r>
          </a:p>
        </p:txBody>
      </p:sp>
      <p:sp>
        <p:nvSpPr>
          <p:cNvPr id="24" name="Rounded Rectangle 23"/>
          <p:cNvSpPr/>
          <p:nvPr/>
        </p:nvSpPr>
        <p:spPr>
          <a:xfrm>
            <a:off x="5010194" y="2559050"/>
            <a:ext cx="2041208"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5" name="Rounded Rectangle 24"/>
          <p:cNvSpPr/>
          <p:nvPr/>
        </p:nvSpPr>
        <p:spPr>
          <a:xfrm>
            <a:off x="1028700" y="3455162"/>
            <a:ext cx="5196840" cy="4480560"/>
          </a:xfrm>
          <a:prstGeom prst="roundRect">
            <a:avLst>
              <a:gd name="adj" fmla="val 6530"/>
            </a:avLst>
          </a:prstGeom>
          <a:solidFill>
            <a:srgbClr val="0E3B5E"/>
          </a:solidFill>
          <a:ln>
            <a:noFill/>
          </a:ln>
        </p:spPr>
        <p:txBody>
          <a:bodyPr anchor="ctr" rtlCol="false" lIns="0" tIns="0" rIns="0" bIns="0" wrap="square"/>
          <a:lstStyle/>
          <a:p>
            <a:endParaRPr lang="en-US" sz="1800"/>
          </a:p>
        </p:txBody>
      </p:sp>
      <p:sp>
        <p:nvSpPr>
          <p:cNvPr id="26" name="TextBox 25"/>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7" name="Rounded Rectangle 26"/>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0E3B5E"/>
                </a:solidFill>
                <a:latin typeface="Nunito Bold"/>
                <a:ea typeface="Nunito Bold"/>
                <a:cs typeface="Nunito Bold"/>
                <a:sym typeface="Nunito Bold"/>
              </a:rPr>
              <a:t>RQ1</a:t>
            </a:r>
          </a:p>
        </p:txBody>
      </p:sp>
      <p:sp>
        <p:nvSpPr>
          <p:cNvPr id="28" name="TextBox 27"/>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9" name="Rounded Rectangle 28"/>
          <p:cNvSpPr/>
          <p:nvPr/>
        </p:nvSpPr>
        <p:spPr>
          <a:xfrm>
            <a:off x="6545580" y="3455162"/>
            <a:ext cx="5196840" cy="4480560"/>
          </a:xfrm>
          <a:prstGeom prst="roundRect">
            <a:avLst>
              <a:gd name="adj" fmla="val 6530"/>
            </a:avLst>
          </a:prstGeom>
          <a:solidFill>
            <a:srgbClr val="1F5C99"/>
          </a:solidFill>
          <a:ln>
            <a:noFill/>
          </a:ln>
        </p:spPr>
        <p:txBody>
          <a:bodyPr anchor="ctr" rtlCol="false" lIns="0" tIns="0" rIns="0" bIns="0" wrap="square"/>
          <a:lstStyle/>
          <a:p>
            <a:endParaRPr lang="en-US" sz="1800"/>
          </a:p>
        </p:txBody>
      </p:sp>
      <p:sp>
        <p:nvSpPr>
          <p:cNvPr id="30" name="TextBox 29"/>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1" name="Rounded Rectangle 30"/>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5C99"/>
                </a:solidFill>
                <a:latin typeface="Nunito Bold"/>
                <a:ea typeface="Nunito Bold"/>
                <a:cs typeface="Nunito Bold"/>
                <a:sym typeface="Nunito Bold"/>
              </a:rPr>
              <a:t>RQ2</a:t>
            </a:r>
          </a:p>
        </p:txBody>
      </p:sp>
      <p:sp>
        <p:nvSpPr>
          <p:cNvPr id="32" name="TextBox 31"/>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3" name="Rounded Rectangle 32"/>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34" name="TextBox 33"/>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5" name="Rounded Rectangle 34"/>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36" name="TextBox 35"/>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7" name="Rounded Rectangle 36"/>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1" name="Picture 20" descr="image.png"/>
          <p:cNvPicPr>
            <a:picLocks noChangeAspect="1"/>
          </p:cNvPicPr>
          <p:nvPr/>
        </p:nvPicPr>
        <p:blipFill>
          <a:blip r:embed="rId3"/>
          <a:stretch>
            <a:fillRect/>
          </a:stretch>
        </p:blipFill>
        <p:spPr>
          <a:xfrm>
            <a:off x="11227909" y="1673352"/>
            <a:ext cx="457200" cy="250983"/>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public file</a:t>
            </a:r>
          </a:p>
        </p:txBody>
      </p:sp>
      <p:graphicFrame>
        <p:nvGraphicFramePr>
          <p:cNvPr id="28" name="Table 27"/>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1" name="Picture 20" descr="image.png"/>
          <p:cNvPicPr>
            <a:picLocks noChangeAspect="1"/>
          </p:cNvPicPr>
          <p:nvPr/>
        </p:nvPicPr>
        <p:blipFill>
          <a:blip r:embed="rId3"/>
          <a:stretch>
            <a:fillRect/>
          </a:stretch>
        </p:blipFill>
        <p:spPr>
          <a:xfrm>
            <a:off x="8588295" y="1673352"/>
            <a:ext cx="457200" cy="415247"/>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Aotizhongxin station file</a:t>
            </a:r>
          </a:p>
        </p:txBody>
      </p:sp>
      <p:graphicFrame>
        <p:nvGraphicFramePr>
          <p:cNvPr id="28" name="Table 27"/>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1" name="Picture 20" descr="image.png"/>
          <p:cNvPicPr>
            <a:picLocks noChangeAspect="1"/>
          </p:cNvPicPr>
          <p:nvPr/>
        </p:nvPicPr>
        <p:blipFill>
          <a:blip r:embed="rId3"/>
          <a:stretch>
            <a:fillRect/>
          </a:stretch>
        </p:blipFill>
        <p:spPr>
          <a:xfrm>
            <a:off x="4963971" y="1673352"/>
            <a:ext cx="457200" cy="452148"/>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ratings.dat joined with movies.dat</a:t>
            </a:r>
          </a:p>
        </p:txBody>
      </p:sp>
      <p:graphicFrame>
        <p:nvGraphicFramePr>
          <p:cNvPr id="28" name="Table 27"/>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1" name="Picture 20" descr="image.png"/>
          <p:cNvPicPr>
            <a:picLocks noChangeAspect="1"/>
          </p:cNvPicPr>
          <p:nvPr/>
        </p:nvPicPr>
        <p:blipFill>
          <a:blip r:embed="rId3"/>
          <a:stretch>
            <a:fillRect/>
          </a:stretch>
        </p:blipFill>
        <p:spPr>
          <a:xfrm>
            <a:off x="5002206" y="1673352"/>
            <a:ext cx="457200" cy="617115"/>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sp>
        <p:nvSpPr>
          <p:cNvPr id="25" name="TextBox 24"/>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6" name="Table 25"/>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illustrative rows in the format of the public file</a:t>
            </a:r>
          </a:p>
        </p:txBody>
      </p:sp>
      <p:graphicFrame>
        <p:nvGraphicFramePr>
          <p:cNvPr id="28" name="Table 27"/>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1" name="Picture 20" descr="image.png"/>
          <p:cNvPicPr>
            <a:picLocks noChangeAspect="1"/>
          </p:cNvPicPr>
          <p:nvPr/>
        </p:nvPicPr>
        <p:blipFill>
          <a:blip r:embed="rId3"/>
          <a:stretch>
            <a:fillRect/>
          </a:stretch>
        </p:blipFill>
        <p:spPr>
          <a:xfrm>
            <a:off x="9239964" y="1673352"/>
            <a:ext cx="457200" cy="250983"/>
          </a:xfrm>
          <a:prstGeom prst="rect">
            <a:avLst/>
          </a:prstGeom>
        </p:spPr>
      </p:pic>
      <p:sp>
        <p:nvSpPr>
          <p:cNvPr id="22" name="Rounded Rectangle 21"/>
          <p:cNvSpPr/>
          <p:nvPr/>
        </p:nvSpPr>
        <p:spPr>
          <a:xfrm>
            <a:off x="1028700" y="2559050"/>
            <a:ext cx="152390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sp>
        <p:nvSpPr>
          <p:cNvPr id="25" name="Rounded Rectangle 24"/>
          <p:cNvSpPr/>
          <p:nvPr/>
        </p:nvSpPr>
        <p:spPr>
          <a:xfrm>
            <a:off x="1028700" y="3592322"/>
            <a:ext cx="7932420" cy="5716270"/>
          </a:xfrm>
          <a:prstGeom prst="roundRect">
            <a:avLst>
              <a:gd name="adj" fmla="val 5438"/>
            </a:avLst>
          </a:prstGeom>
          <a:solidFill>
            <a:srgbClr val="0E3B5E"/>
          </a:solidFill>
          <a:ln>
            <a:noFill/>
          </a:ln>
        </p:spPr>
        <p:txBody>
          <a:bodyPr anchor="ctr" rtlCol="false" lIns="0" tIns="0" rIns="0" bIns="0" wrap="square"/>
          <a:lstStyle/>
          <a:p>
            <a:endParaRPr lang="en-US" sz="1800"/>
          </a:p>
        </p:txBody>
      </p:sp>
      <p:sp>
        <p:nvSpPr>
          <p:cNvPr id="26" name="Rounded Rectangle 25"/>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Clustering (C1, C2)</a:t>
            </a:r>
          </a:p>
        </p:txBody>
      </p:sp>
      <p:sp>
        <p:nvSpPr>
          <p:cNvPr id="27" name="TextBox 26"/>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9784080" y="3354578"/>
            <a:ext cx="3642955"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0" name="TextBox 29"/>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1" name="Picture 20" descr="image.png"/>
          <p:cNvPicPr>
            <a:picLocks noChangeAspect="1"/>
          </p:cNvPicPr>
          <p:nvPr/>
        </p:nvPicPr>
        <p:blipFill>
          <a:blip r:embed="rId3"/>
          <a:stretch>
            <a:fillRect/>
          </a:stretch>
        </p:blipFill>
        <p:spPr>
          <a:xfrm>
            <a:off x="3729007" y="1673352"/>
            <a:ext cx="457200" cy="539881"/>
          </a:xfrm>
          <a:prstGeom prst="rect">
            <a:avLst/>
          </a:prstGeom>
        </p:spPr>
      </p:pic>
      <p:sp>
        <p:nvSpPr>
          <p:cNvPr id="22" name="Rounded Rectangle 21"/>
          <p:cNvSpPr/>
          <p:nvPr/>
        </p:nvSpPr>
        <p:spPr>
          <a:xfrm>
            <a:off x="1028700" y="2559050"/>
            <a:ext cx="15239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graphicFrame>
        <p:nvGraphicFramePr>
          <p:cNvPr id="25" name="Table 24"/>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028700" y="8155178"/>
            <a:ext cx="16230600" cy="1016254"/>
          </a:xfrm>
          <a:prstGeom prst="roundRect">
            <a:avLst>
              <a:gd name="adj" fmla="val 19795"/>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7963154"/>
            <a:ext cx="1867571"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8" name="TextBox 27"/>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1" name="Picture 20" descr="image.png"/>
          <p:cNvPicPr>
            <a:picLocks noChangeAspect="1"/>
          </p:cNvPicPr>
          <p:nvPr/>
        </p:nvPicPr>
        <p:blipFill>
          <a:blip r:embed="rId3"/>
          <a:stretch>
            <a:fillRect/>
          </a:stretch>
        </p:blipFill>
        <p:spPr>
          <a:xfrm>
            <a:off x="6134170" y="1673352"/>
            <a:ext cx="457200" cy="373212"/>
          </a:xfrm>
          <a:prstGeom prst="rect">
            <a:avLst/>
          </a:prstGeom>
        </p:spPr>
      </p:pic>
      <p:sp>
        <p:nvSpPr>
          <p:cNvPr id="22" name="Rounded Rectangle 21"/>
          <p:cNvSpPr/>
          <p:nvPr/>
        </p:nvSpPr>
        <p:spPr>
          <a:xfrm>
            <a:off x="1028700" y="2559050"/>
            <a:ext cx="15239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Hardware</a:t>
            </a:r>
          </a:p>
        </p:txBody>
      </p:sp>
      <p:sp>
        <p:nvSpPr>
          <p:cNvPr id="25" name="Rectangle 24"/>
          <p:cNvSpPr/>
          <p:nvPr/>
        </p:nvSpPr>
        <p:spPr>
          <a:xfrm>
            <a:off x="1028700" y="3363722"/>
            <a:ext cx="16230600" cy="384048"/>
          </a:xfrm>
          <a:prstGeom prst="rect">
            <a:avLst/>
          </a:prstGeom>
          <a:solidFill>
            <a:srgbClr val="0E3B5E"/>
          </a:solidFill>
          <a:ln>
            <a:noFill/>
          </a:ln>
        </p:spPr>
        <p:txBody>
          <a:bodyPr anchor="ctr" rtlCol="false" lIns="0" tIns="0" rIns="0" bIns="0" wrap="square"/>
          <a:lstStyle/>
          <a:p>
            <a:endParaRPr lang="en-US" sz="1800"/>
          </a:p>
        </p:txBody>
      </p:sp>
      <p:sp>
        <p:nvSpPr>
          <p:cNvPr id="26" name="TextBox 25"/>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7" name="TextBox 26"/>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8" name="TextBox 27"/>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9" name="Rectangle 28"/>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0" name="TextBox 29"/>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1"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1"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3" name="Connector 32"/>
          <p:cNvCxnSpPr/>
          <p:nvPr/>
        </p:nvCxnSpPr>
        <p:spPr>
          <a:xfrm>
            <a:off x="1028700" y="4487309"/>
            <a:ext cx="16230600" cy="0"/>
          </a:xfrm>
          <a:prstGeom prst="line">
            <a:avLst/>
          </a:prstGeom>
          <a:ln w="12700">
            <a:solidFill>
              <a:srgbClr val="E3D6C4"/>
            </a:solidFill>
          </a:ln>
        </p:spPr>
      </p:cxnSp>
      <p:sp>
        <p:nvSpPr>
          <p:cNvPr id="34" name="Rectangle 33"/>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6"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6"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7" name="TextBox 36"/>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8" name="Connector 37"/>
          <p:cNvCxnSpPr/>
          <p:nvPr/>
        </p:nvCxnSpPr>
        <p:spPr>
          <a:xfrm>
            <a:off x="1028700" y="5226848"/>
            <a:ext cx="16230600" cy="0"/>
          </a:xfrm>
          <a:prstGeom prst="line">
            <a:avLst/>
          </a:prstGeom>
          <a:ln w="12700">
            <a:solidFill>
              <a:srgbClr val="E3D6C4"/>
            </a:solidFill>
          </a:ln>
        </p:spPr>
      </p:cxnSp>
      <p:sp>
        <p:nvSpPr>
          <p:cNvPr id="39" name="Rectangle 38"/>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0" name="TextBox 39"/>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1"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1"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2" name="TextBox 41"/>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3" name="Connector 42"/>
          <p:cNvCxnSpPr/>
          <p:nvPr/>
        </p:nvCxnSpPr>
        <p:spPr>
          <a:xfrm>
            <a:off x="1028700" y="5966387"/>
            <a:ext cx="16230600" cy="0"/>
          </a:xfrm>
          <a:prstGeom prst="line">
            <a:avLst/>
          </a:prstGeom>
          <a:ln w="12700">
            <a:solidFill>
              <a:srgbClr val="E3D6C4"/>
            </a:solidFill>
          </a:ln>
        </p:spPr>
      </p:cxnSp>
      <p:sp>
        <p:nvSpPr>
          <p:cNvPr id="44" name="Rectangle 43"/>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5" name="TextBox 44"/>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6"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6"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7" name="TextBox 46"/>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8" name="Connector 47"/>
          <p:cNvCxnSpPr/>
          <p:nvPr/>
        </p:nvCxnSpPr>
        <p:spPr>
          <a:xfrm>
            <a:off x="1028700" y="6705926"/>
            <a:ext cx="16230600" cy="0"/>
          </a:xfrm>
          <a:prstGeom prst="line">
            <a:avLst/>
          </a:prstGeom>
          <a:ln w="12700">
            <a:solidFill>
              <a:srgbClr val="E3D6C4"/>
            </a:solidFill>
          </a:ln>
        </p:spPr>
      </p:cxnSp>
      <p:sp>
        <p:nvSpPr>
          <p:cNvPr id="49" name="Rectangle 48"/>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0" name="TextBox 49"/>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1"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1"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2" name="TextBox 51"/>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3" name="Connector 52"/>
          <p:cNvCxnSpPr/>
          <p:nvPr/>
        </p:nvCxnSpPr>
        <p:spPr>
          <a:xfrm>
            <a:off x="1028700" y="7445465"/>
            <a:ext cx="16230600" cy="0"/>
          </a:xfrm>
          <a:prstGeom prst="line">
            <a:avLst/>
          </a:prstGeom>
          <a:ln w="12700">
            <a:solidFill>
              <a:srgbClr val="E3D6C4"/>
            </a:solidFill>
          </a:ln>
        </p:spPr>
      </p:cxnSp>
      <p:sp>
        <p:nvSpPr>
          <p:cNvPr id="54" name="Rectangle 53"/>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5" name="TextBox 54"/>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6"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6"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7" name="TextBox 56"/>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8" name="Connector 57"/>
          <p:cNvCxnSpPr/>
          <p:nvPr/>
        </p:nvCxnSpPr>
        <p:spPr>
          <a:xfrm>
            <a:off x="1028700" y="8185004"/>
            <a:ext cx="16230600" cy="0"/>
          </a:xfrm>
          <a:prstGeom prst="line">
            <a:avLst/>
          </a:prstGeom>
          <a:ln w="12700">
            <a:solidFill>
              <a:srgbClr val="E3D6C4"/>
            </a:solidFill>
          </a:ln>
        </p:spPr>
      </p:cxnSp>
      <p:sp>
        <p:nvSpPr>
          <p:cNvPr id="59" name="Rectangle 58"/>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0" name="TextBox 59"/>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1"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1"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2" name="TextBox 61"/>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3" name="Connector 62"/>
          <p:cNvCxnSpPr/>
          <p:nvPr/>
        </p:nvCxnSpPr>
        <p:spPr>
          <a:xfrm>
            <a:off x="1028700" y="8924544"/>
            <a:ext cx="16230600" cy="0"/>
          </a:xfrm>
          <a:prstGeom prst="line">
            <a:avLst/>
          </a:prstGeom>
          <a:ln w="12700">
            <a:solidFill>
              <a:srgbClr val="E3D6C4"/>
            </a:solidFill>
          </a:ln>
        </p:spPr>
      </p:cxnSp>
      <p:sp>
        <p:nvSpPr>
          <p:cNvPr id="64" name="TextBox 63"/>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1" name="Picture 20" descr="image.png"/>
          <p:cNvPicPr>
            <a:picLocks noChangeAspect="1"/>
          </p:cNvPicPr>
          <p:nvPr/>
        </p:nvPicPr>
        <p:blipFill>
          <a:blip r:embed="rId3"/>
          <a:stretch>
            <a:fillRect/>
          </a:stretch>
        </p:blipFill>
        <p:spPr>
          <a:xfrm>
            <a:off x="7035228" y="1673352"/>
            <a:ext cx="457200" cy="427074"/>
          </a:xfrm>
          <a:prstGeom prst="rect">
            <a:avLst/>
          </a:prstGeom>
        </p:spPr>
      </p:pic>
      <p:sp>
        <p:nvSpPr>
          <p:cNvPr id="22" name="Rounded Rectangle 21"/>
          <p:cNvSpPr/>
          <p:nvPr/>
        </p:nvSpPr>
        <p:spPr>
          <a:xfrm>
            <a:off x="1028700" y="2559050"/>
            <a:ext cx="15239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Datasets</a:t>
            </a:r>
          </a:p>
        </p:txBody>
      </p:sp>
      <p:sp>
        <p:nvSpPr>
          <p:cNvPr id="23" name="Rounded Rectangle 22"/>
          <p:cNvSpPr/>
          <p:nvPr/>
        </p:nvSpPr>
        <p:spPr>
          <a:xfrm>
            <a:off x="2680623" y="2559050"/>
            <a:ext cx="1349432"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Metrics</a:t>
            </a:r>
          </a:p>
        </p:txBody>
      </p:sp>
      <p:sp>
        <p:nvSpPr>
          <p:cNvPr id="24" name="Rounded Rectangle 23"/>
          <p:cNvSpPr/>
          <p:nvPr/>
        </p:nvSpPr>
        <p:spPr>
          <a:xfrm>
            <a:off x="4158071" y="2559050"/>
            <a:ext cx="164257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5" name="Table 24"/>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TextBox 25"/>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7" name="Rounded Rectangle 26"/>
          <p:cNvSpPr/>
          <p:nvPr/>
        </p:nvSpPr>
        <p:spPr>
          <a:xfrm>
            <a:off x="1028700" y="7249922"/>
            <a:ext cx="7932420" cy="1967230"/>
          </a:xfrm>
          <a:prstGeom prst="roundRect">
            <a:avLst>
              <a:gd name="adj" fmla="val 15803"/>
            </a:avLst>
          </a:prstGeom>
          <a:solidFill>
            <a:srgbClr val="0E3B5E"/>
          </a:solidFill>
          <a:ln>
            <a:noFill/>
          </a:ln>
        </p:spPr>
        <p:txBody>
          <a:bodyPr anchor="ctr" rtlCol="false" lIns="0" tIns="0" rIns="0" bIns="0" wrap="square"/>
          <a:lstStyle/>
          <a:p>
            <a:endParaRPr lang="en-US" sz="1800"/>
          </a:p>
        </p:txBody>
      </p:sp>
      <p:sp>
        <p:nvSpPr>
          <p:cNvPr id="28" name="Rounded Rectangle 27"/>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Why it matters</a:t>
            </a:r>
          </a:p>
        </p:txBody>
      </p:sp>
      <p:sp>
        <p:nvSpPr>
          <p:cNvPr id="29" name="TextBox 28"/>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0" name="Rounded Rectangle 29"/>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7012178"/>
            <a:ext cx="1470201"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2" name="TextBox 31"/>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DF8330"/>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DF8330"/>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1" name="Picture 20" descr="image.png"/>
          <p:cNvPicPr>
            <a:picLocks noChangeAspect="1"/>
          </p:cNvPicPr>
          <p:nvPr/>
        </p:nvPicPr>
        <p:blipFill>
          <a:blip r:embed="rId3"/>
          <a:stretch>
            <a:fillRect/>
          </a:stretch>
        </p:blipFill>
        <p:spPr>
          <a:xfrm>
            <a:off x="4883941"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7" name="Rounded Rectangle 26"/>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28" name="Rounded Rectangle 27"/>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9" name="TextBox 28"/>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1" name="Picture 20" descr="image.png"/>
          <p:cNvPicPr>
            <a:picLocks noChangeAspect="1"/>
          </p:cNvPicPr>
          <p:nvPr/>
        </p:nvPicPr>
        <p:blipFill>
          <a:blip r:embed="rId3"/>
          <a:stretch>
            <a:fillRect/>
          </a:stretch>
        </p:blipFill>
        <p:spPr>
          <a:xfrm>
            <a:off x="6193139"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546602"/>
            <a:ext cx="16230600" cy="1325880"/>
          </a:xfrm>
          <a:prstGeom prst="roundRect">
            <a:avLst>
              <a:gd name="adj" fmla="val 15172"/>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3354578"/>
            <a:ext cx="927910"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8" name="TextBox 27"/>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9" name="Table 28"/>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1" name="Picture 20" descr="image.png"/>
          <p:cNvPicPr>
            <a:picLocks noChangeAspect="1"/>
          </p:cNvPicPr>
          <p:nvPr/>
        </p:nvPicPr>
        <p:blipFill>
          <a:blip r:embed="rId3"/>
          <a:stretch>
            <a:fillRect/>
          </a:stretch>
        </p:blipFill>
        <p:spPr>
          <a:xfrm>
            <a:off x="12978774"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0E3B5E"/>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DF8330"/>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7" name="Rounded Rectangle 26"/>
          <p:cNvSpPr/>
          <p:nvPr/>
        </p:nvSpPr>
        <p:spPr>
          <a:xfrm>
            <a:off x="1028700" y="5741162"/>
            <a:ext cx="7680960" cy="868680"/>
          </a:xfrm>
          <a:prstGeom prst="roundRect">
            <a:avLst>
              <a:gd name="adj" fmla="val 23157"/>
            </a:avLst>
          </a:prstGeom>
          <a:solidFill>
            <a:srgbClr val="0E3B5E"/>
          </a:solidFill>
          <a:ln>
            <a:noFill/>
          </a:ln>
        </p:spPr>
        <p:txBody>
          <a:bodyPr anchor="ctr" rtlCol="false" lIns="0" tIns="0" rIns="0" bIns="0" wrap="square"/>
          <a:lstStyle/>
          <a:p>
            <a:endParaRPr lang="en-US" sz="1800"/>
          </a:p>
        </p:txBody>
      </p:sp>
      <p:sp>
        <p:nvSpPr>
          <p:cNvPr id="28" name="TextBox 27"/>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9"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9" name="Equation"/>
              <p:cNvSpPr txBox="1"/>
              <p:nvPr/>
            </p:nvSpPr>
            <p:spPr>
              <a:xfrm>
                <a:off x="1211580" y="6015482"/>
                <a:ext cx="7315200" cy="548640"/>
              </a:xfrm>
              <a:prstGeom prst="rect">
                <a:avLst/>
              </a:prstGeom>
              <a:blipFill>
                <a:blip r:embed="rId5"/>
                <a:stretch>
                  <a:fillRect/>
                </a:stretch>
              </a:blipFill>
            </p:spPr>
            <p:txBody>
              <a:bodyPr/>
              <a:lstStyle/>
              <a:p>
                <a:endParaRPr lang="en-US"/>
              </a:p>
            </p:txBody>
          </p:sp>
        </mc:Fallback>
      </mc:AlternateContent>
      <p:sp>
        <p:nvSpPr>
          <p:cNvPr id="30" name="Rounded Rectangle 29"/>
          <p:cNvSpPr/>
          <p:nvPr/>
        </p:nvSpPr>
        <p:spPr>
          <a:xfrm>
            <a:off x="1028700" y="6792722"/>
            <a:ext cx="7680960" cy="1371600"/>
          </a:xfrm>
          <a:prstGeom prst="roundRect">
            <a:avLst>
              <a:gd name="adj" fmla="val 14666"/>
            </a:avLst>
          </a:prstGeom>
          <a:solidFill>
            <a:srgbClr val="F6ECDF"/>
          </a:solidFill>
          <a:ln w="25400">
            <a:solidFill>
              <a:srgbClr val="DF8330"/>
            </a:solidFill>
          </a:ln>
        </p:spPr>
        <p:txBody>
          <a:bodyPr anchor="ctr" rtlCol="false" lIns="0" tIns="0" rIns="0" bIns="0" wrap="square"/>
          <a:lstStyle/>
          <a:p>
            <a:endParaRPr lang="en-US" sz="1800"/>
          </a:p>
        </p:txBody>
      </p:sp>
      <p:sp>
        <p:nvSpPr>
          <p:cNvPr id="31" name="Rounded Rectangle 30"/>
          <p:cNvSpPr/>
          <p:nvPr/>
        </p:nvSpPr>
        <p:spPr>
          <a:xfrm>
            <a:off x="1348740" y="6600698"/>
            <a:ext cx="38908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2" name="TextBox 31"/>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3" name="Rounded Rectangle 32"/>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4" name="TextBox 33"/>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5"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5" name="Equation"/>
              <p:cNvSpPr txBox="1"/>
              <p:nvPr/>
            </p:nvSpPr>
            <p:spPr>
              <a:xfrm>
                <a:off x="1211580" y="8749538"/>
                <a:ext cx="7315200" cy="1097280"/>
              </a:xfrm>
              <a:prstGeom prst="rect">
                <a:avLst/>
              </a:prstGeom>
              <a:blipFill>
                <a:blip r:embed="rId6"/>
                <a:stretch>
                  <a:fillRect/>
                </a:stretch>
              </a:blipFill>
            </p:spPr>
            <p:txBody>
              <a:bodyPr/>
              <a:lstStyle/>
              <a:p>
                <a:endParaRPr lang="en-US"/>
              </a:p>
            </p:txBody>
          </p:sp>
        </mc:Fallback>
      </mc:AlternateContent>
      <p:sp>
        <p:nvSpPr>
          <p:cNvPr id="36" name="TextBox 35"/>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2EF"/>
                </a:solidFill>
                <a:latin typeface="Nunito Semi-Bold"/>
                <a:ea typeface="Nunito Semi-Bold"/>
                <a:cs typeface="Nunito Semi-Bold"/>
                <a:sym typeface="Nunito Semi-Bold"/>
              </a:rPr>
              <a:t>average marginal contribution over every arrival order</a:t>
            </a:r>
          </a:p>
        </p:txBody>
      </p:sp>
      <p:sp>
        <p:nvSpPr>
          <p:cNvPr id="37" name="TextBox 36"/>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CHARACTERISTIC FUNCTION v(S) OF THE BAND</a:t>
            </a:r>
          </a:p>
        </p:txBody>
      </p:sp>
      <p:graphicFrame>
        <p:nvGraphicFramePr>
          <p:cNvPr id="38" name="Table 37"/>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9" name="Rounded Rectangle 38"/>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0" name="Rounded Rectangle 39"/>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1" name="Rounded Rectangle 40"/>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2" name="Rounded Rectangle 41"/>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3" name="Rounded Rectangle 42"/>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4" name="Rounded Rectangle 43"/>
          <p:cNvSpPr/>
          <p:nvPr/>
        </p:nvSpPr>
        <p:spPr>
          <a:xfrm>
            <a:off x="9166860" y="10934446"/>
            <a:ext cx="8092440" cy="-1671574"/>
          </a:xfrm>
          <a:prstGeom prst="roundRect">
            <a:avLst>
              <a:gd name="adj" fmla="val 0"/>
            </a:avLst>
          </a:prstGeom>
          <a:solidFill>
            <a:srgbClr val="DF8330"/>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1" name="Picture 20" descr="image.png"/>
          <p:cNvPicPr>
            <a:picLocks noChangeAspect="1"/>
          </p:cNvPicPr>
          <p:nvPr/>
        </p:nvPicPr>
        <p:blipFill>
          <a:blip r:embed="rId3"/>
          <a:stretch>
            <a:fillRect/>
          </a:stretch>
        </p:blipFill>
        <p:spPr>
          <a:xfrm>
            <a:off x="12801592"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455162"/>
            <a:ext cx="2926080" cy="1188720"/>
          </a:xfrm>
          <a:prstGeom prst="roundRect">
            <a:avLst>
              <a:gd name="adj" fmla="val 16923"/>
            </a:avLst>
          </a:prstGeom>
          <a:solidFill>
            <a:srgbClr val="0E3B5E"/>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7" name="Connector 26"/>
          <p:cNvCxnSpPr/>
          <p:nvPr/>
        </p:nvCxnSpPr>
        <p:spPr>
          <a:xfrm>
            <a:off x="4027932" y="4049522"/>
            <a:ext cx="1362456" cy="0"/>
          </a:xfrm>
          <a:prstGeom prst="line">
            <a:avLst/>
          </a:prstGeom>
          <a:ln w="31750">
            <a:solidFill>
              <a:srgbClr val="0E3B5E"/>
            </a:solidFill>
            <a:tailEnd type="triangle" w="med" len="med"/>
          </a:ln>
        </p:spPr>
      </p:cxnSp>
      <p:sp>
        <p:nvSpPr>
          <p:cNvPr id="28" name="Rounded Rectangle 27"/>
          <p:cNvSpPr/>
          <p:nvPr/>
        </p:nvSpPr>
        <p:spPr>
          <a:xfrm>
            <a:off x="5463540" y="3455162"/>
            <a:ext cx="2926080" cy="1188720"/>
          </a:xfrm>
          <a:prstGeom prst="roundRect">
            <a:avLst>
              <a:gd name="adj" fmla="val 16923"/>
            </a:avLst>
          </a:prstGeom>
          <a:solidFill>
            <a:srgbClr val="0E3B5E"/>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9" name="Connector 28"/>
          <p:cNvCxnSpPr/>
          <p:nvPr/>
        </p:nvCxnSpPr>
        <p:spPr>
          <a:xfrm>
            <a:off x="8462772" y="4049522"/>
            <a:ext cx="1362456" cy="0"/>
          </a:xfrm>
          <a:prstGeom prst="line">
            <a:avLst/>
          </a:prstGeom>
          <a:ln w="31750">
            <a:solidFill>
              <a:srgbClr val="0E3B5E"/>
            </a:solidFill>
            <a:tailEnd type="triangle" w="med" len="med"/>
          </a:ln>
        </p:spPr>
      </p:cxnSp>
      <p:sp>
        <p:nvSpPr>
          <p:cNvPr id="30" name="Rounded Rectangle 29"/>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1" name="Connector 30"/>
          <p:cNvCxnSpPr/>
          <p:nvPr/>
        </p:nvCxnSpPr>
        <p:spPr>
          <a:xfrm>
            <a:off x="12897612" y="4049522"/>
            <a:ext cx="1362456" cy="0"/>
          </a:xfrm>
          <a:prstGeom prst="line">
            <a:avLst/>
          </a:prstGeom>
          <a:ln w="31750">
            <a:solidFill>
              <a:srgbClr val="0E3B5E"/>
            </a:solidFill>
            <a:tailEnd type="triangle" w="med" len="med"/>
          </a:ln>
        </p:spPr>
      </p:cxnSp>
      <p:sp>
        <p:nvSpPr>
          <p:cNvPr id="32" name="Rounded Rectangle 31"/>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3" name="Rounded Rectangle 32"/>
          <p:cNvSpPr/>
          <p:nvPr/>
        </p:nvSpPr>
        <p:spPr>
          <a:xfrm>
            <a:off x="1028700" y="5283962"/>
            <a:ext cx="7932420" cy="4070350"/>
          </a:xfrm>
          <a:prstGeom prst="roundRect">
            <a:avLst>
              <a:gd name="adj" fmla="val 7638"/>
            </a:avLst>
          </a:prstGeom>
          <a:solidFill>
            <a:srgbClr val="0E3B5E"/>
          </a:solidFill>
          <a:ln>
            <a:noFill/>
          </a:ln>
        </p:spPr>
        <p:txBody>
          <a:bodyPr anchor="ctr" rtlCol="false" lIns="0" tIns="0" rIns="0" bIns="0" wrap="square"/>
          <a:lstStyle/>
          <a:p>
            <a:endParaRPr lang="en-US" sz="1800"/>
          </a:p>
        </p:txBody>
      </p:sp>
      <p:sp>
        <p:nvSpPr>
          <p:cNvPr id="34" name="Rounded Rectangle 33"/>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How</a:t>
            </a:r>
          </a:p>
        </p:txBody>
      </p:sp>
      <p:sp>
        <p:nvSpPr>
          <p:cNvPr id="35" name="TextBox 34"/>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9784080" y="5046218"/>
            <a:ext cx="1298395"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8" name="TextBox 37"/>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1" name="Picture 20" descr="image.png"/>
          <p:cNvPicPr>
            <a:picLocks noChangeAspect="1"/>
          </p:cNvPicPr>
          <p:nvPr/>
        </p:nvPicPr>
        <p:blipFill>
          <a:blip r:embed="rId3"/>
          <a:stretch>
            <a:fillRect/>
          </a:stretch>
        </p:blipFill>
        <p:spPr>
          <a:xfrm>
            <a:off x="6376338"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graphicFrame>
        <p:nvGraphicFramePr>
          <p:cNvPr id="26" name="Table 25"/>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1452860" y="3592322"/>
            <a:ext cx="5806440" cy="5670550"/>
          </a:xfrm>
          <a:prstGeom prst="roundRect">
            <a:avLst>
              <a:gd name="adj" fmla="val 5482"/>
            </a:avLst>
          </a:prstGeom>
          <a:solidFill>
            <a:srgbClr val="0E3B5E"/>
          </a:solidFill>
          <a:ln>
            <a:noFill/>
          </a:ln>
        </p:spPr>
        <p:txBody>
          <a:bodyPr anchor="ctr" rtlCol="false" lIns="0" tIns="0" rIns="0" bIns="0" wrap="square"/>
          <a:lstStyle/>
          <a:p>
            <a:endParaRPr lang="en-US" sz="1800"/>
          </a:p>
        </p:txBody>
      </p:sp>
      <p:sp>
        <p:nvSpPr>
          <p:cNvPr id="28" name="Rounded Rectangle 27"/>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What counts as success</a:t>
            </a:r>
          </a:p>
        </p:txBody>
      </p:sp>
      <p:sp>
        <p:nvSpPr>
          <p:cNvPr id="29" name="TextBox 28"/>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1" name="Picture 20" descr="image.png"/>
          <p:cNvPicPr>
            <a:picLocks noChangeAspect="1"/>
          </p:cNvPicPr>
          <p:nvPr/>
        </p:nvPicPr>
        <p:blipFill>
          <a:blip r:embed="rId3"/>
          <a:stretch>
            <a:fillRect/>
          </a:stretch>
        </p:blipFill>
        <p:spPr>
          <a:xfrm>
            <a:off x="12331918"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0E3B5E"/>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0E3B5E"/>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7" name="Table 26"/>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Rounded Rectangle 27"/>
          <p:cNvSpPr/>
          <p:nvPr/>
        </p:nvSpPr>
        <p:spPr>
          <a:xfrm>
            <a:off x="9441180" y="6014466"/>
            <a:ext cx="3771900" cy="3294126"/>
          </a:xfrm>
          <a:prstGeom prst="roundRect">
            <a:avLst>
              <a:gd name="adj" fmla="val 8327"/>
            </a:avLst>
          </a:prstGeom>
          <a:solidFill>
            <a:srgbClr val="0E3B5E"/>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9" name="Rounded Rectangle 28"/>
          <p:cNvSpPr/>
          <p:nvPr/>
        </p:nvSpPr>
        <p:spPr>
          <a:xfrm>
            <a:off x="13487400" y="6014466"/>
            <a:ext cx="3771900" cy="3294126"/>
          </a:xfrm>
          <a:prstGeom prst="roundRect">
            <a:avLst>
              <a:gd name="adj" fmla="val 8327"/>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1" name="Picture 20" descr="image.png"/>
          <p:cNvPicPr>
            <a:picLocks noChangeAspect="1"/>
          </p:cNvPicPr>
          <p:nvPr/>
        </p:nvPicPr>
        <p:blipFill>
          <a:blip r:embed="rId3"/>
          <a:stretch>
            <a:fillRect/>
          </a:stretch>
        </p:blipFill>
        <p:spPr>
          <a:xfrm>
            <a:off x="10549542"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0E3B5E"/>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7" name="Rounded Rectangle 26"/>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fig5_1_wine_global.png"/>
          <p:cNvPicPr>
            <a:picLocks noChangeAspect="1"/>
          </p:cNvPicPr>
          <p:nvPr/>
        </p:nvPicPr>
        <p:blipFill>
          <a:blip r:embed="rId5"/>
          <a:stretch>
            <a:fillRect/>
          </a:stretch>
        </p:blipFill>
        <p:spPr>
          <a:xfrm>
            <a:off x="9984489" y="3546602"/>
            <a:ext cx="5359901" cy="3320160"/>
          </a:xfrm>
          <a:prstGeom prst="rect">
            <a:avLst/>
          </a:prstGeom>
        </p:spPr>
      </p:pic>
      <p:sp>
        <p:nvSpPr>
          <p:cNvPr id="29" name="TextBox 28"/>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0" name="Rounded Rectangle 29"/>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5_2_wine_clusters.png"/>
          <p:cNvPicPr>
            <a:picLocks noChangeAspect="1"/>
          </p:cNvPicPr>
          <p:nvPr/>
        </p:nvPicPr>
        <p:blipFill>
          <a:blip r:embed="rId6"/>
          <a:stretch>
            <a:fillRect/>
          </a:stretch>
        </p:blipFill>
        <p:spPr>
          <a:xfrm>
            <a:off x="10379599" y="7808595"/>
            <a:ext cx="4569680" cy="814197"/>
          </a:xfrm>
          <a:prstGeom prst="rect">
            <a:avLst/>
          </a:prstGeom>
        </p:spPr>
      </p:pic>
      <p:sp>
        <p:nvSpPr>
          <p:cNvPr id="32" name="TextBox 31"/>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1" name="Picture 20" descr="image.png"/>
          <p:cNvPicPr>
            <a:picLocks noChangeAspect="1"/>
          </p:cNvPicPr>
          <p:nvPr/>
        </p:nvPicPr>
        <p:blipFill>
          <a:blip r:embed="rId3"/>
          <a:stretch>
            <a:fillRect/>
          </a:stretch>
        </p:blipFill>
        <p:spPr>
          <a:xfrm>
            <a:off x="5060521" y="1673352"/>
            <a:ext cx="457200" cy="61711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546602"/>
            <a:ext cx="16230600" cy="1463040"/>
          </a:xfrm>
          <a:prstGeom prst="roundRect">
            <a:avLst>
              <a:gd name="adj" fmla="val 13750"/>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3354578"/>
            <a:ext cx="2112238"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8" name="TextBox 27"/>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9" name="Table 28"/>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1" name="Picture 20" descr="image.png"/>
          <p:cNvPicPr>
            <a:picLocks noChangeAspect="1"/>
          </p:cNvPicPr>
          <p:nvPr/>
        </p:nvPicPr>
        <p:blipFill>
          <a:blip r:embed="rId3"/>
          <a:stretch>
            <a:fillRect/>
          </a:stretch>
        </p:blipFill>
        <p:spPr>
          <a:xfrm>
            <a:off x="4641445"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7" name="Oval 26"/>
          <p:cNvSpPr/>
          <p:nvPr/>
        </p:nvSpPr>
        <p:spPr>
          <a:xfrm>
            <a:off x="1303020" y="3750214"/>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8" name="TextBox 27"/>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9" name="Rounded Rectangle 28"/>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0" name="Oval 29"/>
          <p:cNvSpPr/>
          <p:nvPr/>
        </p:nvSpPr>
        <p:spPr>
          <a:xfrm>
            <a:off x="1303020" y="5254720"/>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1" name="TextBox 30"/>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2" name="Rounded Rectangle 31"/>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03020" y="6759225"/>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4" name="TextBox 33"/>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5" name="Rounded Rectangle 34"/>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6" name="Oval 35"/>
          <p:cNvSpPr/>
          <p:nvPr/>
        </p:nvSpPr>
        <p:spPr>
          <a:xfrm>
            <a:off x="1303020" y="8263731"/>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7" name="TextBox 36"/>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1" name="Picture 20" descr="image.png"/>
          <p:cNvPicPr>
            <a:picLocks noChangeAspect="1"/>
          </p:cNvPicPr>
          <p:nvPr/>
        </p:nvPicPr>
        <p:blipFill>
          <a:blip r:embed="rId3"/>
          <a:stretch>
            <a:fillRect/>
          </a:stretch>
        </p:blipFill>
        <p:spPr>
          <a:xfrm>
            <a:off x="4251252" y="1673352"/>
            <a:ext cx="457200" cy="539881"/>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7955280" cy="2172335"/>
          </a:xfrm>
          <a:prstGeom prst="roundRect">
            <a:avLst>
              <a:gd name="adj" fmla="val 11786"/>
            </a:avLst>
          </a:prstGeom>
          <a:solidFill>
            <a:srgbClr val="0E3B5E"/>
          </a:solidFill>
          <a:ln>
            <a:noFill/>
          </a:ln>
        </p:spPr>
        <p:txBody>
          <a:bodyPr anchor="ctr" rtlCol="false" lIns="0" tIns="0" rIns="0" bIns="0" wrap="square"/>
          <a:lstStyle/>
          <a:p>
            <a:endParaRPr lang="en-US" sz="1800"/>
          </a:p>
        </p:txBody>
      </p:sp>
      <p:sp>
        <p:nvSpPr>
          <p:cNvPr id="27" name="TextBox 26"/>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8" name="Rounded Rectangle 27"/>
          <p:cNvSpPr/>
          <p:nvPr/>
        </p:nvSpPr>
        <p:spPr>
          <a:xfrm>
            <a:off x="9304020" y="3363722"/>
            <a:ext cx="7955280" cy="2172335"/>
          </a:xfrm>
          <a:prstGeom prst="roundRect">
            <a:avLst>
              <a:gd name="adj" fmla="val 11786"/>
            </a:avLst>
          </a:prstGeom>
          <a:solidFill>
            <a:srgbClr val="1F5C99"/>
          </a:solidFill>
          <a:ln>
            <a:noFill/>
          </a:ln>
        </p:spPr>
        <p:txBody>
          <a:bodyPr anchor="ctr" rtlCol="false" lIns="0" tIns="0" rIns="0" bIns="0" wrap="square"/>
          <a:lstStyle/>
          <a:p>
            <a:endParaRPr lang="en-US" sz="1800"/>
          </a:p>
        </p:txBody>
      </p:sp>
      <p:sp>
        <p:nvSpPr>
          <p:cNvPr id="29" name="TextBox 28"/>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0" name="Rounded Rectangle 29"/>
          <p:cNvSpPr/>
          <p:nvPr/>
        </p:nvSpPr>
        <p:spPr>
          <a:xfrm>
            <a:off x="1028700" y="5810377"/>
            <a:ext cx="7955280" cy="2172335"/>
          </a:xfrm>
          <a:prstGeom prst="roundRect">
            <a:avLst>
              <a:gd name="adj" fmla="val 11786"/>
            </a:avLst>
          </a:prstGeom>
          <a:solidFill>
            <a:srgbClr val="1F5C99"/>
          </a:solidFill>
          <a:ln>
            <a:noFill/>
          </a:ln>
        </p:spPr>
        <p:txBody>
          <a:bodyPr anchor="ctr" rtlCol="false" lIns="0" tIns="0" rIns="0" bIns="0" wrap="square"/>
          <a:lstStyle/>
          <a:p>
            <a:endParaRPr lang="en-US" sz="1800"/>
          </a:p>
        </p:txBody>
      </p:sp>
      <p:sp>
        <p:nvSpPr>
          <p:cNvPr id="31" name="TextBox 30"/>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04020" y="5810377"/>
            <a:ext cx="7955280" cy="2172335"/>
          </a:xfrm>
          <a:prstGeom prst="roundRect">
            <a:avLst>
              <a:gd name="adj" fmla="val 11786"/>
            </a:avLst>
          </a:prstGeom>
          <a:solidFill>
            <a:srgbClr val="0E3B5E"/>
          </a:solidFill>
          <a:ln>
            <a:noFill/>
          </a:ln>
        </p:spPr>
        <p:txBody>
          <a:bodyPr anchor="ctr" rtlCol="false" lIns="0" tIns="0" rIns="0" bIns="0" wrap="square"/>
          <a:lstStyle/>
          <a:p>
            <a:endParaRPr lang="en-US" sz="1800"/>
          </a:p>
        </p:txBody>
      </p:sp>
      <p:sp>
        <p:nvSpPr>
          <p:cNvPr id="33" name="TextBox 32"/>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4" name="Rounded Rectangle 33"/>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1" name="Picture 20" descr="image.png"/>
          <p:cNvPicPr>
            <a:picLocks noChangeAspect="1"/>
          </p:cNvPicPr>
          <p:nvPr/>
        </p:nvPicPr>
        <p:blipFill>
          <a:blip r:embed="rId3"/>
          <a:stretch>
            <a:fillRect/>
          </a:stretch>
        </p:blipFill>
        <p:spPr>
          <a:xfrm>
            <a:off x="7838100" y="1673352"/>
            <a:ext cx="457200" cy="373212"/>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5196840" cy="2651760"/>
          </a:xfrm>
          <a:prstGeom prst="roundRect">
            <a:avLst>
              <a:gd name="adj" fmla="val 10344"/>
            </a:avLst>
          </a:prstGeom>
          <a:solidFill>
            <a:srgbClr val="0E3B5E"/>
          </a:solidFill>
          <a:ln>
            <a:noFill/>
          </a:ln>
        </p:spPr>
        <p:txBody>
          <a:bodyPr anchor="ctr" rtlCol="false" lIns="0" tIns="0" rIns="0" bIns="0" wrap="square"/>
          <a:lstStyle/>
          <a:p>
            <a:endParaRPr lang="en-US" sz="1800"/>
          </a:p>
        </p:txBody>
      </p:sp>
      <p:sp>
        <p:nvSpPr>
          <p:cNvPr id="27" name="TextBox 26"/>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8" name="Rounded Rectangle 27"/>
          <p:cNvSpPr/>
          <p:nvPr/>
        </p:nvSpPr>
        <p:spPr>
          <a:xfrm>
            <a:off x="6545580" y="3363722"/>
            <a:ext cx="5196840" cy="2651760"/>
          </a:xfrm>
          <a:prstGeom prst="roundRect">
            <a:avLst>
              <a:gd name="adj" fmla="val 10344"/>
            </a:avLst>
          </a:prstGeom>
          <a:solidFill>
            <a:srgbClr val="1F5C99"/>
          </a:solidFill>
          <a:ln>
            <a:noFill/>
          </a:ln>
        </p:spPr>
        <p:txBody>
          <a:bodyPr anchor="ctr" rtlCol="false" lIns="0" tIns="0" rIns="0" bIns="0" wrap="square"/>
          <a:lstStyle/>
          <a:p>
            <a:endParaRPr lang="en-US" sz="1800"/>
          </a:p>
        </p:txBody>
      </p:sp>
      <p:sp>
        <p:nvSpPr>
          <p:cNvPr id="29" name="TextBox 28"/>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0" name="Rounded Rectangle 29"/>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1" name="TextBox 30"/>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2" name="Rounded Rectangle 31"/>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3" name="Rounded Rectangle 32"/>
          <p:cNvSpPr/>
          <p:nvPr/>
        </p:nvSpPr>
        <p:spPr>
          <a:xfrm>
            <a:off x="1348740" y="6280658"/>
            <a:ext cx="3367987"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4" name="TextBox 33"/>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5" name="Rounded Rectangle 34"/>
          <p:cNvSpPr/>
          <p:nvPr/>
        </p:nvSpPr>
        <p:spPr>
          <a:xfrm>
            <a:off x="1028700" y="8392922"/>
            <a:ext cx="16230600" cy="961390"/>
          </a:xfrm>
          <a:prstGeom prst="roundRect">
            <a:avLst>
              <a:gd name="adj" fmla="val 23778"/>
            </a:avLst>
          </a:prstGeom>
          <a:solidFill>
            <a:srgbClr val="0E3B5E"/>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1" name="Picture 20" descr="image.png"/>
          <p:cNvPicPr>
            <a:picLocks noChangeAspect="1"/>
          </p:cNvPicPr>
          <p:nvPr/>
        </p:nvPicPr>
        <p:blipFill>
          <a:blip r:embed="rId3"/>
          <a:stretch>
            <a:fillRect/>
          </a:stretch>
        </p:blipFill>
        <p:spPr>
          <a:xfrm>
            <a:off x="4883941" y="1673352"/>
            <a:ext cx="457200" cy="427074"/>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7" name="Rounded Rectangle 26"/>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28" name="Rounded Rectangle 27"/>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9" name="TextBox 28"/>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1" name="Picture 20" descr="image.png"/>
          <p:cNvPicPr>
            <a:picLocks noChangeAspect="1"/>
          </p:cNvPicPr>
          <p:nvPr/>
        </p:nvPicPr>
        <p:blipFill>
          <a:blip r:embed="rId3"/>
          <a:stretch>
            <a:fillRect/>
          </a:stretch>
        </p:blipFill>
        <p:spPr>
          <a:xfrm>
            <a:off x="6337553"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546602"/>
            <a:ext cx="16230600" cy="1325880"/>
          </a:xfrm>
          <a:prstGeom prst="roundRect">
            <a:avLst>
              <a:gd name="adj" fmla="val 15172"/>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3354578"/>
            <a:ext cx="927910"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8" name="TextBox 27"/>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9" name="Table 28"/>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1" name="Picture 20" descr="image.png"/>
          <p:cNvPicPr>
            <a:picLocks noChangeAspect="1"/>
          </p:cNvPicPr>
          <p:nvPr/>
        </p:nvPicPr>
        <p:blipFill>
          <a:blip r:embed="rId3"/>
          <a:stretch>
            <a:fillRect/>
          </a:stretch>
        </p:blipFill>
        <p:spPr>
          <a:xfrm>
            <a:off x="14669741"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0E3B5E"/>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0E3B5E"/>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7" name="Rounded Rectangle 26"/>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8" name="Rounded Rectangle 27"/>
          <p:cNvSpPr/>
          <p:nvPr/>
        </p:nvSpPr>
        <p:spPr>
          <a:xfrm>
            <a:off x="9258300" y="4826762"/>
            <a:ext cx="2514600" cy="1234440"/>
          </a:xfrm>
          <a:prstGeom prst="roundRect">
            <a:avLst>
              <a:gd name="adj" fmla="val 14814"/>
            </a:avLst>
          </a:prstGeom>
          <a:solidFill>
            <a:srgbClr val="0E3B5E"/>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9" name="Connector 28"/>
          <p:cNvCxnSpPr/>
          <p:nvPr/>
        </p:nvCxnSpPr>
        <p:spPr>
          <a:xfrm flipH="1">
            <a:off x="10515600" y="4278122"/>
            <a:ext cx="2743200" cy="502920"/>
          </a:xfrm>
          <a:prstGeom prst="line">
            <a:avLst/>
          </a:prstGeom>
          <a:ln w="25400">
            <a:solidFill>
              <a:srgbClr val="0E3B5E"/>
            </a:solidFill>
            <a:tailEnd type="triangle" w="med" len="med"/>
          </a:ln>
        </p:spPr>
      </p:cxnSp>
      <p:sp>
        <p:nvSpPr>
          <p:cNvPr id="30" name="Rounded Rectangle 29"/>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1" name="Connector 30"/>
          <p:cNvCxnSpPr/>
          <p:nvPr/>
        </p:nvCxnSpPr>
        <p:spPr>
          <a:xfrm flipH="1">
            <a:off x="9859518" y="6088634"/>
            <a:ext cx="656082" cy="393192"/>
          </a:xfrm>
          <a:prstGeom prst="line">
            <a:avLst/>
          </a:prstGeom>
          <a:ln w="19050">
            <a:solidFill>
              <a:srgbClr val="0E3B5E"/>
            </a:solidFill>
            <a:tailEnd type="triangle" w="med" len="med"/>
          </a:ln>
        </p:spPr>
      </p:cxnSp>
      <p:sp>
        <p:nvSpPr>
          <p:cNvPr id="32" name="Rounded Rectangle 31"/>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3" name="Connector 32"/>
          <p:cNvCxnSpPr/>
          <p:nvPr/>
        </p:nvCxnSpPr>
        <p:spPr>
          <a:xfrm>
            <a:off x="10515600" y="6088634"/>
            <a:ext cx="656082" cy="393192"/>
          </a:xfrm>
          <a:prstGeom prst="line">
            <a:avLst/>
          </a:prstGeom>
          <a:ln w="19050">
            <a:solidFill>
              <a:srgbClr val="0E3B5E"/>
            </a:solidFill>
            <a:tailEnd type="triangle" w="med" len="med"/>
          </a:ln>
        </p:spPr>
      </p:cxnSp>
      <p:sp>
        <p:nvSpPr>
          <p:cNvPr id="34" name="Rounded Rectangle 33"/>
          <p:cNvSpPr/>
          <p:nvPr/>
        </p:nvSpPr>
        <p:spPr>
          <a:xfrm>
            <a:off x="12001500" y="4826762"/>
            <a:ext cx="2514600" cy="1234440"/>
          </a:xfrm>
          <a:prstGeom prst="roundRect">
            <a:avLst>
              <a:gd name="adj" fmla="val 14814"/>
            </a:avLst>
          </a:prstGeom>
          <a:solidFill>
            <a:srgbClr val="1F5C99"/>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5" name="Connector 34"/>
          <p:cNvCxnSpPr/>
          <p:nvPr/>
        </p:nvCxnSpPr>
        <p:spPr>
          <a:xfrm>
            <a:off x="13258800" y="4278122"/>
            <a:ext cx="0" cy="502920"/>
          </a:xfrm>
          <a:prstGeom prst="line">
            <a:avLst/>
          </a:prstGeom>
          <a:ln w="25400">
            <a:solidFill>
              <a:srgbClr val="0E3B5E"/>
            </a:solidFill>
            <a:tailEnd type="triangle" w="med" len="med"/>
          </a:ln>
        </p:spPr>
      </p:cxnSp>
      <p:sp>
        <p:nvSpPr>
          <p:cNvPr id="36" name="Rounded Rectangle 35"/>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7" name="Connector 36"/>
          <p:cNvCxnSpPr/>
          <p:nvPr/>
        </p:nvCxnSpPr>
        <p:spPr>
          <a:xfrm flipH="1">
            <a:off x="12602718" y="6088634"/>
            <a:ext cx="656082" cy="393192"/>
          </a:xfrm>
          <a:prstGeom prst="line">
            <a:avLst/>
          </a:prstGeom>
          <a:ln w="19050">
            <a:solidFill>
              <a:srgbClr val="0E3B5E"/>
            </a:solidFill>
            <a:tailEnd type="triangle" w="med" len="med"/>
          </a:ln>
        </p:spPr>
      </p:cxnSp>
      <p:sp>
        <p:nvSpPr>
          <p:cNvPr id="38" name="Rounded Rectangle 37"/>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9" name="Connector 38"/>
          <p:cNvCxnSpPr/>
          <p:nvPr/>
        </p:nvCxnSpPr>
        <p:spPr>
          <a:xfrm>
            <a:off x="13258800" y="6088634"/>
            <a:ext cx="656082" cy="393192"/>
          </a:xfrm>
          <a:prstGeom prst="line">
            <a:avLst/>
          </a:prstGeom>
          <a:ln w="19050">
            <a:solidFill>
              <a:srgbClr val="0E3B5E"/>
            </a:solidFill>
            <a:tailEnd type="triangle" w="med" len="med"/>
          </a:ln>
        </p:spPr>
      </p:cxnSp>
      <p:sp>
        <p:nvSpPr>
          <p:cNvPr id="40" name="Rounded Rectangle 39"/>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1" name="Connector 40"/>
          <p:cNvCxnSpPr/>
          <p:nvPr/>
        </p:nvCxnSpPr>
        <p:spPr>
          <a:xfrm>
            <a:off x="13258800" y="4278122"/>
            <a:ext cx="2743200" cy="502920"/>
          </a:xfrm>
          <a:prstGeom prst="line">
            <a:avLst/>
          </a:prstGeom>
          <a:ln w="25400">
            <a:solidFill>
              <a:srgbClr val="0E3B5E"/>
            </a:solidFill>
            <a:tailEnd type="triangle" w="med" len="med"/>
          </a:ln>
        </p:spPr>
      </p:cxnSp>
      <p:sp>
        <p:nvSpPr>
          <p:cNvPr id="42" name="Rounded Rectangle 41"/>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3" name="Connector 42"/>
          <p:cNvCxnSpPr/>
          <p:nvPr/>
        </p:nvCxnSpPr>
        <p:spPr>
          <a:xfrm flipH="1">
            <a:off x="15345918" y="6088634"/>
            <a:ext cx="656082" cy="393192"/>
          </a:xfrm>
          <a:prstGeom prst="line">
            <a:avLst/>
          </a:prstGeom>
          <a:ln w="19050">
            <a:solidFill>
              <a:srgbClr val="0E3B5E"/>
            </a:solidFill>
            <a:tailEnd type="triangle" w="med" len="med"/>
          </a:ln>
        </p:spPr>
      </p:cxnSp>
      <p:sp>
        <p:nvSpPr>
          <p:cNvPr id="44" name="Rounded Rectangle 43"/>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5" name="Connector 44"/>
          <p:cNvCxnSpPr/>
          <p:nvPr/>
        </p:nvCxnSpPr>
        <p:spPr>
          <a:xfrm>
            <a:off x="16002000" y="6088634"/>
            <a:ext cx="656082" cy="393192"/>
          </a:xfrm>
          <a:prstGeom prst="line">
            <a:avLst/>
          </a:prstGeom>
          <a:ln w="19050">
            <a:solidFill>
              <a:srgbClr val="0E3B5E"/>
            </a:solidFill>
            <a:tailEnd type="triangle" w="med" len="med"/>
          </a:ln>
        </p:spPr>
      </p:cxnSp>
      <p:sp>
        <p:nvSpPr>
          <p:cNvPr id="46" name="Rounded Rectangle 45"/>
          <p:cNvSpPr/>
          <p:nvPr/>
        </p:nvSpPr>
        <p:spPr>
          <a:xfrm>
            <a:off x="9258300" y="7341362"/>
            <a:ext cx="8001000" cy="1967230"/>
          </a:xfrm>
          <a:prstGeom prst="roundRect">
            <a:avLst>
              <a:gd name="adj" fmla="val 11620"/>
            </a:avLst>
          </a:prstGeom>
          <a:solidFill>
            <a:srgbClr val="0E3B5E"/>
          </a:solidFill>
          <a:ln>
            <a:noFill/>
          </a:ln>
        </p:spPr>
        <p:txBody>
          <a:bodyPr anchor="ctr" rtlCol="false" lIns="0" tIns="0" rIns="0" bIns="0" wrap="square"/>
          <a:lstStyle/>
          <a:p>
            <a:endParaRPr lang="en-US" sz="1800"/>
          </a:p>
        </p:txBody>
      </p:sp>
      <p:sp>
        <p:nvSpPr>
          <p:cNvPr id="47" name="TextBox 46"/>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8"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8"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9"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2EF"/>
                              </a:solidFill>
                              <a:latin typeface="Cambria Math" panose="02040503050406030204" pitchFamily="18" charset="0"/>
                            </a:rPr>
                          </m:ctrlPr>
                        </m:sSubPr>
                        <m:e>
                          <m:r>
                            <a:rPr lang="en-US" sz="1400" i="1">
                              <a:solidFill>
                                <a:srgbClr val="D6E2EF"/>
                              </a:solidFill>
                              <a:latin typeface="Cambria Math" panose="02040503050406030204" pitchFamily="18" charset="0"/>
                            </a:rPr>
                            <m:t xml:space="preserve">w</m:t>
                          </m:r>
                        </m:e>
                        <m:sub>
                          <m:r>
                            <a:rPr lang="en-US" sz="1400" i="1">
                              <a:solidFill>
                                <a:srgbClr val="D6E2EF"/>
                              </a:solidFill>
                              <a:latin typeface="Cambria Math" panose="02040503050406030204" pitchFamily="18" charset="0"/>
                            </a:rPr>
                            <m:t xml:space="preserve">c′</m:t>
                          </m:r>
                        </m:sub>
                      </m:sSub>
                      <m:r>
                        <m:rPr>
                          <m:sty m:val="p"/>
                        </m:rPr>
                        <a:rPr lang="en-US" sz="1400">
                          <a:solidFill>
                            <a:srgbClr val="D6E2EF"/>
                          </a:solidFill>
                          <a:latin typeface="Cambria Math" panose="02040503050406030204" pitchFamily="18" charset="0"/>
                        </a:rPr>
                        <m:t xml:space="preserve">=|</m:t>
                      </m:r>
                      <m:r>
                        <a:rPr lang="en-US" sz="1400" i="1">
                          <a:solidFill>
                            <a:srgbClr val="D6E2EF"/>
                          </a:solidFill>
                          <a:latin typeface="Cambria Math" panose="02040503050406030204" pitchFamily="18" charset="0"/>
                        </a:rPr>
                        <m:t xml:space="preserve">c′</m:t>
                      </m:r>
                      <m:r>
                        <m:rPr>
                          <m:sty m:val="p"/>
                        </m:rPr>
                        <a:rPr lang="en-US" sz="1400">
                          <a:solidFill>
                            <a:srgbClr val="D6E2EF"/>
                          </a:solidFill>
                          <a:latin typeface="Cambria Math" panose="02040503050406030204" pitchFamily="18" charset="0"/>
                        </a:rPr>
                        <m:t xml:space="preserve">| / |</m:t>
                      </m:r>
                      <m:r>
                        <a:rPr lang="en-US" sz="1400" i="1">
                          <a:solidFill>
                            <a:srgbClr val="D6E2EF"/>
                          </a:solidFill>
                          <a:latin typeface="Cambria Math" panose="02040503050406030204" pitchFamily="18" charset="0"/>
                        </a:rPr>
                        <m:t xml:space="preserve">c</m:t>
                      </m:r>
                      <m:r>
                        <m:rPr>
                          <m:sty m:val="p"/>
                        </m:rPr>
                        <a:rPr lang="en-US" sz="1400">
                          <a:solidFill>
                            <a:srgbClr val="D6E2EF"/>
                          </a:solidFill>
                          <a:latin typeface="Cambria Math" panose="02040503050406030204" pitchFamily="18" charset="0"/>
                        </a:rPr>
                        <m:t xml:space="preserve">|,  </m:t>
                      </m:r>
                      <m:sSub>
                        <m:sSubPr>
                          <m:ctrlPr>
                            <a:rPr lang="en-US" sz="1400" i="1">
                              <a:solidFill>
                                <a:srgbClr val="D6E2EF"/>
                              </a:solidFill>
                              <a:latin typeface="Cambria Math" panose="02040503050406030204" pitchFamily="18" charset="0"/>
                            </a:rPr>
                          </m:ctrlPr>
                        </m:sSubPr>
                        <m:e>
                          <m:r>
                            <a:rPr lang="en-US" sz="1400" i="1">
                              <a:solidFill>
                                <a:srgbClr val="D6E2EF"/>
                              </a:solidFill>
                              <a:latin typeface="Cambria Math" panose="02040503050406030204" pitchFamily="18" charset="0"/>
                            </a:rPr>
                            <m:t xml:space="preserve">ε</m:t>
                          </m:r>
                        </m:e>
                        <m:sub>
                          <m:r>
                            <a:rPr lang="en-US" sz="1400" i="1">
                              <a:solidFill>
                                <a:srgbClr val="D6E2EF"/>
                              </a:solidFill>
                              <a:latin typeface="Cambria Math" panose="02040503050406030204" pitchFamily="18" charset="0"/>
                            </a:rPr>
                            <m:t xml:space="preserve">j</m:t>
                          </m:r>
                        </m:sub>
                      </m:sSub>
                      <m:r>
                        <m:rPr>
                          <m:sty m:val="p"/>
                        </m:rPr>
                        <a:rPr lang="en-US" sz="1400">
                          <a:solidFill>
                            <a:srgbClr val="D6E2EF"/>
                          </a:solidFill>
                          <a:latin typeface="Cambria Math" panose="02040503050406030204" pitchFamily="18" charset="0"/>
                        </a:rPr>
                        <m:t xml:space="preserve">→0</m:t>
                      </m:r>
                      <m:r>
                        <m:rPr>
                          <m:nor/>
                        </m:rPr>
                        <a:rPr lang="en-US" sz="1400">
                          <a:solidFill>
                            <a:srgbClr val="D6E2EF"/>
                          </a:solidFill>
                          <a:latin typeface="Cambria Math" panose="02040503050406030204" pitchFamily="18" charset="0"/>
                        </a:rPr>
                        <m:t xml:space="preserve">  under perfect surrogate fidelity</m:t>
                      </m:r>
                    </m:oMath>
                  </m:oMathPara>
                </a14:m>
                <a:endParaRPr lang="en-US" sz="1400"/>
              </a:p>
            </p:txBody>
          </p:sp>
        </mc:Choice>
        <mc:Fallback>
          <p:sp>
            <p:nvSpPr>
              <p:cNvPr id="49"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1" name="Picture 20" descr="image.png"/>
          <p:cNvPicPr>
            <a:picLocks noChangeAspect="1"/>
          </p:cNvPicPr>
          <p:nvPr/>
        </p:nvPicPr>
        <p:blipFill>
          <a:blip r:embed="rId3"/>
          <a:stretch>
            <a:fillRect/>
          </a:stretch>
        </p:blipFill>
        <p:spPr>
          <a:xfrm>
            <a:off x="11568381"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Oval 25"/>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7"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0E3B5E"/>
                              </a:solidFill>
                              <a:latin typeface="Cambria Math" panose="02040503050406030204" pitchFamily="18" charset="0"/>
                            </a:rPr>
                          </m:ctrlPr>
                        </m:sSubSupPr>
                        <m:e>
                          <m:r>
                            <a:rPr lang="en-US" sz="1800" i="1">
                              <a:solidFill>
                                <a:srgbClr val="0E3B5E"/>
                              </a:solidFill>
                              <a:latin typeface="Cambria Math" panose="02040503050406030204" pitchFamily="18" charset="0"/>
                            </a:rPr>
                            <m:t xml:space="preserve">Φ</m:t>
                          </m:r>
                        </m:e>
                        <m:sub>
                          <m:r>
                            <a:rPr lang="en-US" sz="1800" i="1">
                              <a:solidFill>
                                <a:srgbClr val="0E3B5E"/>
                              </a:solidFill>
                              <a:latin typeface="Cambria Math" panose="02040503050406030204" pitchFamily="18" charset="0"/>
                            </a:rPr>
                            <m:t xml:space="preserve">j</m:t>
                          </m:r>
                        </m:sub>
                        <m:sup>
                          <m:r>
                            <m:rPr>
                              <m:sty m:val="p"/>
                            </m:rPr>
                            <a:rPr lang="en-US" sz="1800">
                              <a:solidFill>
                                <a:srgbClr val="0E3B5E"/>
                              </a:solidFill>
                              <a:latin typeface="Cambria Math" panose="02040503050406030204" pitchFamily="18" charset="0"/>
                            </a:rPr>
                            <m:t xml:space="preserve">(</m:t>
                          </m:r>
                          <m:r>
                            <a:rPr lang="en-US" sz="1800" i="1">
                              <a:solidFill>
                                <a:srgbClr val="0E3B5E"/>
                              </a:solidFill>
                              <a:latin typeface="Cambria Math" panose="02040503050406030204" pitchFamily="18" charset="0"/>
                            </a:rPr>
                            <m:t xml:space="preserve">l</m:t>
                          </m:r>
                          <m:r>
                            <m:rPr>
                              <m:sty m:val="p"/>
                            </m:rPr>
                            <a:rPr lang="en-US" sz="1800">
                              <a:solidFill>
                                <a:srgbClr val="0E3B5E"/>
                              </a:solidFill>
                              <a:latin typeface="Cambria Math" panose="02040503050406030204" pitchFamily="18" charset="0"/>
                            </a:rPr>
                            <m:t xml:space="preserve">,</m:t>
                          </m:r>
                          <m:r>
                            <a:rPr lang="en-US" sz="1800" i="1">
                              <a:solidFill>
                                <a:srgbClr val="0E3B5E"/>
                              </a:solidFill>
                              <a:latin typeface="Cambria Math" panose="02040503050406030204" pitchFamily="18" charset="0"/>
                            </a:rPr>
                            <m:t xml:space="preserve">c</m:t>
                          </m:r>
                          <m:r>
                            <m:rPr>
                              <m:sty m:val="p"/>
                            </m:rPr>
                            <a:rPr lang="en-US" sz="1800">
                              <a:solidFill>
                                <a:srgbClr val="0E3B5E"/>
                              </a:solidFill>
                              <a:latin typeface="Cambria Math" panose="02040503050406030204" pitchFamily="18" charset="0"/>
                            </a:rPr>
                            <m:t xml:space="preserve">)</m:t>
                          </m:r>
                        </m:sup>
                      </m:sSubSup>
                      <m:r>
                        <m:rPr>
                          <m:sty m:val="p"/>
                        </m:rPr>
                        <a:rPr lang="en-US" sz="1800">
                          <a:solidFill>
                            <a:srgbClr val="0E3B5E"/>
                          </a:solidFill>
                          <a:latin typeface="Cambria Math" panose="02040503050406030204" pitchFamily="18" charset="0"/>
                        </a:rPr>
                        <m:t xml:space="preserve">=</m:t>
                      </m:r>
                      <m:sSub>
                        <m:sSubPr>
                          <m:ctrlPr>
                            <a:rPr lang="en-US" sz="1800" i="1">
                              <a:solidFill>
                                <a:srgbClr val="0E3B5E"/>
                              </a:solidFill>
                              <a:latin typeface="Cambria Math" panose="02040503050406030204" pitchFamily="18" charset="0"/>
                            </a:rPr>
                          </m:ctrlPr>
                        </m:sSubPr>
                        <m:e>
                          <m:r>
                            <m:rPr>
                              <m:scr m:val="double-struck"/>
                              <m:sty m:val="p"/>
                            </m:rPr>
                            <a:rPr lang="en-US" sz="1800">
                              <a:solidFill>
                                <a:srgbClr val="0E3B5E"/>
                              </a:solidFill>
                              <a:latin typeface="Cambria Math" panose="02040503050406030204" pitchFamily="18" charset="0"/>
                            </a:rPr>
                            <m:t xml:space="preserve">E</m:t>
                          </m:r>
                        </m:e>
                        <m:sub>
                          <m:r>
                            <a:rPr lang="en-US" sz="1800" i="1">
                              <a:solidFill>
                                <a:srgbClr val="0E3B5E"/>
                              </a:solidFill>
                              <a:latin typeface="Cambria Math" panose="02040503050406030204" pitchFamily="18" charset="0"/>
                            </a:rPr>
                            <m:t xml:space="preserve">x</m:t>
                          </m:r>
                          <m:r>
                            <m:rPr>
                              <m:sty m:val="p"/>
                            </m:rPr>
                            <a:rPr lang="en-US" sz="1800">
                              <a:solidFill>
                                <a:srgbClr val="0E3B5E"/>
                              </a:solidFill>
                              <a:latin typeface="Cambria Math" panose="02040503050406030204" pitchFamily="18" charset="0"/>
                            </a:rPr>
                            <m:t xml:space="preserve">∈</m:t>
                          </m:r>
                          <m:r>
                            <a:rPr lang="en-US" sz="1800" i="1">
                              <a:solidFill>
                                <a:srgbClr val="0E3B5E"/>
                              </a:solidFill>
                              <a:latin typeface="Cambria Math" panose="02040503050406030204" pitchFamily="18" charset="0"/>
                            </a:rPr>
                            <m:t xml:space="preserve">c</m:t>
                          </m:r>
                        </m:sub>
                      </m:sSub>
                      <m:d>
                        <m:dPr>
                          <m:begChr m:val="["/>
                          <m:endChr m:val="]"/>
                          <m:ctrlPr>
                            <a:rPr lang="en-US" sz="1800" i="1">
                              <a:solidFill>
                                <a:srgbClr val="0E3B5E"/>
                              </a:solidFill>
                              <a:latin typeface="Cambria Math" panose="02040503050406030204" pitchFamily="18" charset="0"/>
                            </a:rPr>
                          </m:ctrlPr>
                        </m:dPr>
                        <m:e>
                          <m:r>
                            <m:rPr>
                              <m:sty m:val="p"/>
                            </m:rPr>
                            <a:rPr lang="en-US" sz="1800">
                              <a:solidFill>
                                <a:srgbClr val="0E3B5E"/>
                              </a:solidFill>
                              <a:latin typeface="Cambria Math" panose="02040503050406030204" pitchFamily="18" charset="0"/>
                            </a:rPr>
                            <m:t xml:space="preserve"> </m:t>
                          </m:r>
                          <m:d>
                            <m:dPr>
                              <m:begChr m:val="|"/>
                              <m:endChr m:val="|"/>
                              <m:ctrlPr>
                                <a:rPr lang="en-US" sz="1800" i="1">
                                  <a:solidFill>
                                    <a:srgbClr val="0E3B5E"/>
                                  </a:solidFill>
                                  <a:latin typeface="Cambria Math" panose="02040503050406030204" pitchFamily="18" charset="0"/>
                                </a:rPr>
                              </m:ctrlPr>
                            </m:dPr>
                            <m:e>
                              <m:sSubSup>
                                <m:sSubSupPr>
                                  <m:ctrlPr>
                                    <a:rPr lang="en-US" sz="1800" i="1">
                                      <a:solidFill>
                                        <a:srgbClr val="0E3B5E"/>
                                      </a:solidFill>
                                      <a:latin typeface="Cambria Math" panose="02040503050406030204" pitchFamily="18" charset="0"/>
                                    </a:rPr>
                                  </m:ctrlPr>
                                </m:sSubSupPr>
                                <m:e>
                                  <m:r>
                                    <a:rPr lang="en-US" sz="1800" i="1">
                                      <a:solidFill>
                                        <a:srgbClr val="0E3B5E"/>
                                      </a:solidFill>
                                      <a:latin typeface="Cambria Math" panose="02040503050406030204" pitchFamily="18" charset="0"/>
                                    </a:rPr>
                                    <m:t xml:space="preserve">φ</m:t>
                                  </m:r>
                                </m:e>
                                <m:sub>
                                  <m:r>
                                    <a:rPr lang="en-US" sz="1800" i="1">
                                      <a:solidFill>
                                        <a:srgbClr val="0E3B5E"/>
                                      </a:solidFill>
                                      <a:latin typeface="Cambria Math" panose="02040503050406030204" pitchFamily="18" charset="0"/>
                                    </a:rPr>
                                    <m:t xml:space="preserve">j</m:t>
                                  </m:r>
                                </m:sub>
                                <m:sup>
                                  <m:r>
                                    <m:rPr>
                                      <m:sty m:val="p"/>
                                    </m:rPr>
                                    <a:rPr lang="en-US" sz="1800">
                                      <a:solidFill>
                                        <a:srgbClr val="0E3B5E"/>
                                      </a:solidFill>
                                      <a:latin typeface="Cambria Math" panose="02040503050406030204" pitchFamily="18" charset="0"/>
                                    </a:rPr>
                                    <m:t xml:space="preserve">(</m:t>
                                  </m:r>
                                  <m:r>
                                    <a:rPr lang="en-US" sz="1800" i="1">
                                      <a:solidFill>
                                        <a:srgbClr val="0E3B5E"/>
                                      </a:solidFill>
                                      <a:latin typeface="Cambria Math" panose="02040503050406030204" pitchFamily="18" charset="0"/>
                                    </a:rPr>
                                    <m:t xml:space="preserve">l</m:t>
                                  </m:r>
                                  <m:r>
                                    <m:rPr>
                                      <m:sty m:val="p"/>
                                    </m:rPr>
                                    <a:rPr lang="en-US" sz="1800">
                                      <a:solidFill>
                                        <a:srgbClr val="0E3B5E"/>
                                      </a:solidFill>
                                      <a:latin typeface="Cambria Math" panose="02040503050406030204" pitchFamily="18" charset="0"/>
                                    </a:rPr>
                                    <m:t xml:space="preserve">)</m:t>
                                  </m:r>
                                </m:sup>
                              </m:sSubSup>
                              <m:r>
                                <m:rPr>
                                  <m:sty m:val="p"/>
                                </m:rPr>
                                <a:rPr lang="en-US" sz="1800">
                                  <a:solidFill>
                                    <a:srgbClr val="0E3B5E"/>
                                  </a:solidFill>
                                  <a:latin typeface="Cambria Math" panose="02040503050406030204" pitchFamily="18" charset="0"/>
                                </a:rPr>
                                <m:t xml:space="preserve">(</m:t>
                              </m:r>
                              <m:r>
                                <a:rPr lang="en-US" sz="1800" i="1">
                                  <a:solidFill>
                                    <a:srgbClr val="0E3B5E"/>
                                  </a:solidFill>
                                  <a:latin typeface="Cambria Math" panose="02040503050406030204" pitchFamily="18" charset="0"/>
                                </a:rPr>
                                <m:t xml:space="preserve">x</m:t>
                              </m:r>
                              <m:r>
                                <m:rPr>
                                  <m:sty m:val="p"/>
                                </m:rPr>
                                <a:rPr lang="en-US" sz="1800">
                                  <a:solidFill>
                                    <a:srgbClr val="0E3B5E"/>
                                  </a:solidFill>
                                  <a:latin typeface="Cambria Math" panose="02040503050406030204" pitchFamily="18" charset="0"/>
                                </a:rPr>
                                <m:t xml:space="preserve">)</m:t>
                              </m:r>
                            </m:e>
                          </m:d>
                          <m:r>
                            <m:rPr>
                              <m:sty m:val="p"/>
                            </m:rPr>
                            <a:rPr lang="en-US" sz="1800">
                              <a:solidFill>
                                <a:srgbClr val="0E3B5E"/>
                              </a:solidFill>
                              <a:latin typeface="Cambria Math" panose="02040503050406030204" pitchFamily="18" charset="0"/>
                            </a:rPr>
                            <m:t xml:space="preserve"> </m:t>
                          </m:r>
                        </m:e>
                      </m:d>
                    </m:oMath>
                  </m:oMathPara>
                </a14:m>
                <a:endParaRPr lang="en-US" sz="1800"/>
              </a:p>
            </p:txBody>
          </p:sp>
        </mc:Choice>
        <mc:Fallback>
          <p:sp>
            <p:nvSpPr>
              <p:cNvPr id="27"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28" name="TextBox 27"/>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9" name="Oval 28"/>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0"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0E3B5E"/>
                              </a:solidFill>
                              <a:latin typeface="Cambria Math" panose="02040503050406030204" pitchFamily="18" charset="0"/>
                            </a:rPr>
                          </m:ctrlPr>
                        </m:sSubPr>
                        <m:e>
                          <m:r>
                            <a:rPr lang="en-US" sz="2100" i="1">
                              <a:solidFill>
                                <a:srgbClr val="0E3B5E"/>
                              </a:solidFill>
                              <a:latin typeface="Cambria Math" panose="02040503050406030204" pitchFamily="18" charset="0"/>
                            </a:rPr>
                            <m:t xml:space="preserve">w</m:t>
                          </m:r>
                        </m:e>
                        <m:sub>
                          <m:r>
                            <a:rPr lang="en-US" sz="2100" i="1">
                              <a:solidFill>
                                <a:srgbClr val="0E3B5E"/>
                              </a:solidFill>
                              <a:latin typeface="Cambria Math" panose="02040503050406030204" pitchFamily="18" charset="0"/>
                            </a:rPr>
                            <m:t xml:space="preserve">c′</m:t>
                          </m:r>
                        </m:sub>
                      </m:sSub>
                      <m:r>
                        <m:rPr>
                          <m:sty m:val="p"/>
                        </m:rPr>
                        <a:rPr lang="en-US" sz="2100">
                          <a:solidFill>
                            <a:srgbClr val="0E3B5E"/>
                          </a:solidFill>
                          <a:latin typeface="Cambria Math" panose="02040503050406030204" pitchFamily="18" charset="0"/>
                        </a:rPr>
                        <m:t xml:space="preserve">=|</m:t>
                      </m:r>
                      <m:r>
                        <a:rPr lang="en-US" sz="2100" i="1">
                          <a:solidFill>
                            <a:srgbClr val="0E3B5E"/>
                          </a:solidFill>
                          <a:latin typeface="Cambria Math" panose="02040503050406030204" pitchFamily="18" charset="0"/>
                        </a:rPr>
                        <m:t xml:space="preserve">c′</m:t>
                      </m:r>
                      <m:r>
                        <m:rPr>
                          <m:sty m:val="p"/>
                        </m:rPr>
                        <a:rPr lang="en-US" sz="2100">
                          <a:solidFill>
                            <a:srgbClr val="0E3B5E"/>
                          </a:solidFill>
                          <a:latin typeface="Cambria Math" panose="02040503050406030204" pitchFamily="18" charset="0"/>
                        </a:rPr>
                        <m:t xml:space="preserve">| / |</m:t>
                      </m:r>
                      <m:r>
                        <a:rPr lang="en-US" sz="2100" i="1">
                          <a:solidFill>
                            <a:srgbClr val="0E3B5E"/>
                          </a:solidFill>
                          <a:latin typeface="Cambria Math" panose="02040503050406030204" pitchFamily="18" charset="0"/>
                        </a:rPr>
                        <m:t xml:space="preserve">c</m:t>
                      </m:r>
                      <m:r>
                        <m:rPr>
                          <m:sty m:val="p"/>
                        </m:rPr>
                        <a:rPr lang="en-US" sz="2100">
                          <a:solidFill>
                            <a:srgbClr val="0E3B5E"/>
                          </a:solidFill>
                          <a:latin typeface="Cambria Math" panose="02040503050406030204" pitchFamily="18" charset="0"/>
                        </a:rPr>
                        <m:t xml:space="preserve">|</m:t>
                      </m:r>
                    </m:oMath>
                  </m:oMathPara>
                </a14:m>
                <a:endParaRPr lang="en-US" sz="2100"/>
              </a:p>
            </p:txBody>
          </p:sp>
        </mc:Choice>
        <mc:Fallback>
          <p:sp>
            <p:nvSpPr>
              <p:cNvPr id="30"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1" name="TextBox 30"/>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2" name="TextBox 31"/>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3" name="Rounded Rectangle 32"/>
          <p:cNvSpPr/>
          <p:nvPr/>
        </p:nvSpPr>
        <p:spPr>
          <a:xfrm>
            <a:off x="1028700" y="5393690"/>
            <a:ext cx="8229600" cy="1508760"/>
          </a:xfrm>
          <a:prstGeom prst="roundRect">
            <a:avLst>
              <a:gd name="adj" fmla="val 12121"/>
            </a:avLst>
          </a:prstGeom>
          <a:solidFill>
            <a:srgbClr val="E4EBF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0E3B5E"/>
                              </a:solidFill>
                              <a:latin typeface="Cambria Math" panose="02040503050406030204" pitchFamily="18" charset="0"/>
                            </a:rPr>
                          </m:ctrlPr>
                        </m:sSubSupPr>
                        <m:e>
                          <m:r>
                            <a:rPr lang="en-US" sz="2550" i="1">
                              <a:solidFill>
                                <a:srgbClr val="0E3B5E"/>
                              </a:solidFill>
                              <a:latin typeface="Cambria Math" panose="02040503050406030204" pitchFamily="18" charset="0"/>
                            </a:rPr>
                            <m:t xml:space="preserve">Φ</m:t>
                          </m:r>
                        </m:e>
                        <m:sub>
                          <m:r>
                            <a:rPr lang="en-US" sz="2550" i="1">
                              <a:solidFill>
                                <a:srgbClr val="0E3B5E"/>
                              </a:solidFill>
                              <a:latin typeface="Cambria Math" panose="02040503050406030204" pitchFamily="18" charset="0"/>
                            </a:rPr>
                            <m:t xml:space="preserve">j</m:t>
                          </m:r>
                        </m:sub>
                        <m:sup>
                          <m:r>
                            <m:rPr>
                              <m:sty m:val="p"/>
                            </m:rPr>
                            <a:rPr lang="en-US" sz="2550">
                              <a:solidFill>
                                <a:srgbClr val="0E3B5E"/>
                              </a:solidFill>
                              <a:latin typeface="Cambria Math" panose="02040503050406030204" pitchFamily="18" charset="0"/>
                            </a:rPr>
                            <m:t xml:space="preserve">(</m:t>
                          </m:r>
                          <m:r>
                            <a:rPr lang="en-US" sz="2550" i="1">
                              <a:solidFill>
                                <a:srgbClr val="0E3B5E"/>
                              </a:solidFill>
                              <a:latin typeface="Cambria Math" panose="02040503050406030204" pitchFamily="18" charset="0"/>
                            </a:rPr>
                            <m:t xml:space="preserve">l</m:t>
                          </m:r>
                          <m:r>
                            <m:rPr>
                              <m:sty m:val="p"/>
                            </m:rPr>
                            <a:rPr lang="en-US" sz="2550">
                              <a:solidFill>
                                <a:srgbClr val="0E3B5E"/>
                              </a:solidFill>
                              <a:latin typeface="Cambria Math" panose="02040503050406030204" pitchFamily="18" charset="0"/>
                            </a:rPr>
                            <m:t xml:space="preserve">,</m:t>
                          </m:r>
                          <m:r>
                            <a:rPr lang="en-US" sz="2550" i="1">
                              <a:solidFill>
                                <a:srgbClr val="0E3B5E"/>
                              </a:solidFill>
                              <a:latin typeface="Cambria Math" panose="02040503050406030204" pitchFamily="18" charset="0"/>
                            </a:rPr>
                            <m:t xml:space="preserve">c</m:t>
                          </m:r>
                          <m:r>
                            <m:rPr>
                              <m:sty m:val="p"/>
                            </m:rPr>
                            <a:rPr lang="en-US" sz="2550">
                              <a:solidFill>
                                <a:srgbClr val="0E3B5E"/>
                              </a:solidFill>
                              <a:latin typeface="Cambria Math" panose="02040503050406030204" pitchFamily="18" charset="0"/>
                            </a:rPr>
                            <m:t xml:space="preserve">)</m:t>
                          </m:r>
                        </m:sup>
                      </m:sSubSup>
                      <m:r>
                        <m:rPr>
                          <m:sty m:val="p"/>
                        </m:rPr>
                        <a:rPr lang="en-US" sz="2550">
                          <a:solidFill>
                            <a:srgbClr val="0E3B5E"/>
                          </a:solidFill>
                          <a:latin typeface="Cambria Math" panose="02040503050406030204" pitchFamily="18" charset="0"/>
                        </a:rPr>
                        <m:t xml:space="preserve">=</m:t>
                      </m:r>
                      <m:nary>
                        <m:naryPr>
                          <m:chr m:val="∑"/>
                          <m:limLoc m:val="undOvr"/>
                          <m:supHide m:val="1"/>
                          <m:ctrlPr>
                            <a:rPr lang="en-US" sz="2550" i="1">
                              <a:solidFill>
                                <a:srgbClr val="0E3B5E"/>
                              </a:solidFill>
                              <a:latin typeface="Cambria Math" panose="02040503050406030204" pitchFamily="18" charset="0"/>
                            </a:rPr>
                          </m:ctrlPr>
                        </m:naryPr>
                        <m:sub>
                          <m:r>
                            <a:rPr lang="en-US" sz="2550" i="1">
                              <a:solidFill>
                                <a:srgbClr val="0E3B5E"/>
                              </a:solidFill>
                              <a:latin typeface="Cambria Math" panose="02040503050406030204" pitchFamily="18" charset="0"/>
                            </a:rPr>
                            <m:t xml:space="preserve">c′</m:t>
                          </m:r>
                          <m:r>
                            <m:rPr>
                              <m:sty m:val="p"/>
                            </m:rPr>
                            <a:rPr lang="en-US" sz="2550">
                              <a:solidFill>
                                <a:srgbClr val="0E3B5E"/>
                              </a:solidFill>
                              <a:latin typeface="Cambria Math" panose="02040503050406030204" pitchFamily="18" charset="0"/>
                            </a:rPr>
                            <m:t xml:space="preserve">∈child(</m:t>
                          </m:r>
                          <m:r>
                            <a:rPr lang="en-US" sz="2550" i="1">
                              <a:solidFill>
                                <a:srgbClr val="0E3B5E"/>
                              </a:solidFill>
                              <a:latin typeface="Cambria Math" panose="02040503050406030204" pitchFamily="18" charset="0"/>
                            </a:rPr>
                            <m:t xml:space="preserve">c</m:t>
                          </m:r>
                          <m:r>
                            <m:rPr>
                              <m:sty m:val="p"/>
                            </m:rPr>
                            <a:rPr lang="en-US" sz="2550">
                              <a:solidFill>
                                <a:srgbClr val="0E3B5E"/>
                              </a:solidFill>
                              <a:latin typeface="Cambria Math" panose="02040503050406030204" pitchFamily="18" charset="0"/>
                            </a:rPr>
                            <m:t xml:space="preserve">)</m:t>
                          </m:r>
                        </m:sub>
                        <m:sup/>
                        <m:e>
                          <m:sSub>
                            <m:sSubPr>
                              <m:ctrlPr>
                                <a:rPr lang="en-US" sz="2550" i="1">
                                  <a:solidFill>
                                    <a:srgbClr val="0E3B5E"/>
                                  </a:solidFill>
                                  <a:latin typeface="Cambria Math" panose="02040503050406030204" pitchFamily="18" charset="0"/>
                                </a:rPr>
                              </m:ctrlPr>
                            </m:sSubPr>
                            <m:e>
                              <m:r>
                                <a:rPr lang="en-US" sz="2550" i="1">
                                  <a:solidFill>
                                    <a:srgbClr val="0E3B5E"/>
                                  </a:solidFill>
                                  <a:latin typeface="Cambria Math" panose="02040503050406030204" pitchFamily="18" charset="0"/>
                                </a:rPr>
                                <m:t xml:space="preserve">w</m:t>
                              </m:r>
                            </m:e>
                            <m:sub>
                              <m:r>
                                <a:rPr lang="en-US" sz="2550" i="1">
                                  <a:solidFill>
                                    <a:srgbClr val="0E3B5E"/>
                                  </a:solidFill>
                                  <a:latin typeface="Cambria Math" panose="02040503050406030204" pitchFamily="18" charset="0"/>
                                </a:rPr>
                                <m:t xml:space="preserve">c′</m:t>
                              </m:r>
                            </m:sub>
                          </m:sSub>
                        </m:e>
                      </m:nary>
                      <m:r>
                        <m:rPr>
                          <m:sty m:val="p"/>
                        </m:rPr>
                        <a:rPr lang="en-US" sz="2550">
                          <a:solidFill>
                            <a:srgbClr val="0E3B5E"/>
                          </a:solidFill>
                          <a:latin typeface="Cambria Math" panose="02040503050406030204" pitchFamily="18" charset="0"/>
                        </a:rPr>
                        <m:t xml:space="preserve"> </m:t>
                      </m:r>
                      <m:sSubSup>
                        <m:sSubSupPr>
                          <m:ctrlPr>
                            <a:rPr lang="en-US" sz="2550" i="1">
                              <a:solidFill>
                                <a:srgbClr val="0E3B5E"/>
                              </a:solidFill>
                              <a:latin typeface="Cambria Math" panose="02040503050406030204" pitchFamily="18" charset="0"/>
                            </a:rPr>
                          </m:ctrlPr>
                        </m:sSubSupPr>
                        <m:e>
                          <m:r>
                            <a:rPr lang="en-US" sz="2550" i="1">
                              <a:solidFill>
                                <a:srgbClr val="0E3B5E"/>
                              </a:solidFill>
                              <a:latin typeface="Cambria Math" panose="02040503050406030204" pitchFamily="18" charset="0"/>
                            </a:rPr>
                            <m:t xml:space="preserve">Φ</m:t>
                          </m:r>
                        </m:e>
                        <m:sub>
                          <m:r>
                            <a:rPr lang="en-US" sz="2550" i="1">
                              <a:solidFill>
                                <a:srgbClr val="0E3B5E"/>
                              </a:solidFill>
                              <a:latin typeface="Cambria Math" panose="02040503050406030204" pitchFamily="18" charset="0"/>
                            </a:rPr>
                            <m:t xml:space="preserve">j</m:t>
                          </m:r>
                        </m:sub>
                        <m:sup>
                          <m:r>
                            <m:rPr>
                              <m:sty m:val="p"/>
                            </m:rPr>
                            <a:rPr lang="en-US" sz="2550">
                              <a:solidFill>
                                <a:srgbClr val="0E3B5E"/>
                              </a:solidFill>
                              <a:latin typeface="Cambria Math" panose="02040503050406030204" pitchFamily="18" charset="0"/>
                            </a:rPr>
                            <m:t xml:space="preserve">(</m:t>
                          </m:r>
                          <m:r>
                            <a:rPr lang="en-US" sz="2550" i="1">
                              <a:solidFill>
                                <a:srgbClr val="0E3B5E"/>
                              </a:solidFill>
                              <a:latin typeface="Cambria Math" panose="02040503050406030204" pitchFamily="18" charset="0"/>
                            </a:rPr>
                            <m:t xml:space="preserve">l</m:t>
                          </m:r>
                          <m:r>
                            <m:rPr>
                              <m:sty m:val="p"/>
                            </m:rPr>
                            <a:rPr lang="en-US" sz="2550">
                              <a:solidFill>
                                <a:srgbClr val="0E3B5E"/>
                              </a:solidFill>
                              <a:latin typeface="Cambria Math" panose="02040503050406030204" pitchFamily="18" charset="0"/>
                            </a:rPr>
                            <m:t xml:space="preserve">+1, </m:t>
                          </m:r>
                          <m:r>
                            <a:rPr lang="en-US" sz="2550" i="1">
                              <a:solidFill>
                                <a:srgbClr val="0E3B5E"/>
                              </a:solidFill>
                              <a:latin typeface="Cambria Math" panose="02040503050406030204" pitchFamily="18" charset="0"/>
                            </a:rPr>
                            <m:t xml:space="preserve">c′</m:t>
                          </m:r>
                          <m:r>
                            <m:rPr>
                              <m:sty m:val="p"/>
                            </m:rPr>
                            <a:rPr lang="en-US" sz="2550">
                              <a:solidFill>
                                <a:srgbClr val="0E3B5E"/>
                              </a:solidFill>
                              <a:latin typeface="Cambria Math" panose="02040503050406030204" pitchFamily="18" charset="0"/>
                            </a:rPr>
                            <m:t xml:space="preserve">)</m:t>
                          </m:r>
                        </m:sup>
                      </m:sSubSup>
                      <m:r>
                        <m:rPr>
                          <m:sty m:val="p"/>
                        </m:rPr>
                        <a:rPr lang="en-US" sz="2550">
                          <a:solidFill>
                            <a:srgbClr val="0E3B5E"/>
                          </a:solidFill>
                          <a:latin typeface="Cambria Math" panose="02040503050406030204" pitchFamily="18" charset="0"/>
                        </a:rPr>
                        <m:t xml:space="preserve">+</m:t>
                      </m:r>
                      <m:sSub>
                        <m:sSubPr>
                          <m:ctrlPr>
                            <a:rPr lang="en-US" sz="2550" i="1">
                              <a:solidFill>
                                <a:srgbClr val="0E3B5E"/>
                              </a:solidFill>
                              <a:latin typeface="Cambria Math" panose="02040503050406030204" pitchFamily="18" charset="0"/>
                            </a:rPr>
                          </m:ctrlPr>
                        </m:sSubPr>
                        <m:e>
                          <m:r>
                            <a:rPr lang="en-US" sz="2550" i="1">
                              <a:solidFill>
                                <a:srgbClr val="0E3B5E"/>
                              </a:solidFill>
                              <a:latin typeface="Cambria Math" panose="02040503050406030204" pitchFamily="18" charset="0"/>
                            </a:rPr>
                            <m:t xml:space="preserve">ε</m:t>
                          </m:r>
                        </m:e>
                        <m:sub>
                          <m:r>
                            <a:rPr lang="en-US" sz="2550" i="1">
                              <a:solidFill>
                                <a:srgbClr val="0E3B5E"/>
                              </a:solidFill>
                              <a:latin typeface="Cambria Math" panose="02040503050406030204" pitchFamily="18" charset="0"/>
                            </a:rPr>
                            <m:t xml:space="preserve">j</m:t>
                          </m:r>
                        </m:sub>
                      </m:sSub>
                    </m:oMath>
                  </m:oMathPara>
                </a14:m>
                <a:endParaRPr lang="en-US" sz="2550"/>
              </a:p>
            </p:txBody>
          </p:sp>
        </mc:Choice>
        <mc:Fallback>
          <p:sp>
            <p:nvSpPr>
              <p:cNvPr id="34"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5" name="TextBox 34"/>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6" name="Rounded Rectangle 35"/>
          <p:cNvSpPr/>
          <p:nvPr/>
        </p:nvSpPr>
        <p:spPr>
          <a:xfrm>
            <a:off x="9806940" y="3592322"/>
            <a:ext cx="7452360" cy="3017520"/>
          </a:xfrm>
          <a:prstGeom prst="roundRect">
            <a:avLst>
              <a:gd name="adj" fmla="val 10303"/>
            </a:avLst>
          </a:prstGeom>
          <a:solidFill>
            <a:srgbClr val="0E3B5E"/>
          </a:solidFill>
          <a:ln>
            <a:noFill/>
          </a:ln>
        </p:spPr>
        <p:txBody>
          <a:bodyPr anchor="ctr" rtlCol="false" lIns="0" tIns="0" rIns="0" bIns="0" wrap="square"/>
          <a:lstStyle/>
          <a:p>
            <a:endParaRPr lang="en-US" sz="1800"/>
          </a:p>
        </p:txBody>
      </p:sp>
      <p:sp>
        <p:nvSpPr>
          <p:cNvPr id="37" name="Rounded Rectangle 36"/>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Why it matters</a:t>
            </a:r>
          </a:p>
        </p:txBody>
      </p:sp>
      <p:sp>
        <p:nvSpPr>
          <p:cNvPr id="38" name="TextBox 37"/>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0E3B5E"/>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0" name="Rounded Rectangle 39"/>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1" name="Picture 20" descr="image.png"/>
          <p:cNvPicPr>
            <a:picLocks noChangeAspect="1"/>
          </p:cNvPicPr>
          <p:nvPr/>
        </p:nvPicPr>
        <p:blipFill>
          <a:blip r:embed="rId3"/>
          <a:stretch>
            <a:fillRect/>
          </a:stretch>
        </p:blipFill>
        <p:spPr>
          <a:xfrm>
            <a:off x="6376338"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graphicFrame>
        <p:nvGraphicFramePr>
          <p:cNvPr id="26" name="Table 25"/>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1452860" y="3592322"/>
            <a:ext cx="5806440" cy="5670550"/>
          </a:xfrm>
          <a:prstGeom prst="roundRect">
            <a:avLst>
              <a:gd name="adj" fmla="val 5482"/>
            </a:avLst>
          </a:prstGeom>
          <a:solidFill>
            <a:srgbClr val="0E3B5E"/>
          </a:solidFill>
          <a:ln>
            <a:noFill/>
          </a:ln>
        </p:spPr>
        <p:txBody>
          <a:bodyPr anchor="ctr" rtlCol="false" lIns="0" tIns="0" rIns="0" bIns="0" wrap="square"/>
          <a:lstStyle/>
          <a:p>
            <a:endParaRPr lang="en-US" sz="1800"/>
          </a:p>
        </p:txBody>
      </p:sp>
      <p:sp>
        <p:nvSpPr>
          <p:cNvPr id="28" name="Rounded Rectangle 27"/>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What counts as success</a:t>
            </a:r>
          </a:p>
        </p:txBody>
      </p:sp>
      <p:sp>
        <p:nvSpPr>
          <p:cNvPr id="29" name="TextBox 28"/>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1" name="Picture 20" descr="image.png"/>
          <p:cNvPicPr>
            <a:picLocks noChangeAspect="1"/>
          </p:cNvPicPr>
          <p:nvPr/>
        </p:nvPicPr>
        <p:blipFill>
          <a:blip r:embed="rId3"/>
          <a:stretch>
            <a:fillRect/>
          </a:stretch>
        </p:blipFill>
        <p:spPr>
          <a:xfrm>
            <a:off x="12341493"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455162"/>
            <a:ext cx="5196840" cy="2103120"/>
          </a:xfrm>
          <a:prstGeom prst="roundRect">
            <a:avLst>
              <a:gd name="adj" fmla="val 13043"/>
            </a:avLst>
          </a:prstGeom>
          <a:solidFill>
            <a:srgbClr val="0E3B5E"/>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7" name="Rounded Rectangle 26"/>
          <p:cNvSpPr/>
          <p:nvPr/>
        </p:nvSpPr>
        <p:spPr>
          <a:xfrm>
            <a:off x="6545580" y="3455162"/>
            <a:ext cx="5196840" cy="2103120"/>
          </a:xfrm>
          <a:prstGeom prst="roundRect">
            <a:avLst>
              <a:gd name="adj" fmla="val 13043"/>
            </a:avLst>
          </a:prstGeom>
          <a:solidFill>
            <a:srgbClr val="1F5C99"/>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8" name="Rounded Rectangle 27"/>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0" name="Rounded Rectangle 29"/>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6006338"/>
            <a:ext cx="1445739"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2" name="TextBox 31"/>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3" name="Rounded Rectangle 32"/>
          <p:cNvSpPr/>
          <p:nvPr/>
        </p:nvSpPr>
        <p:spPr>
          <a:xfrm>
            <a:off x="9326880" y="6244082"/>
            <a:ext cx="7932420" cy="3110230"/>
          </a:xfrm>
          <a:prstGeom prst="roundRect">
            <a:avLst>
              <a:gd name="adj" fmla="val 9995"/>
            </a:avLst>
          </a:prstGeom>
          <a:solidFill>
            <a:srgbClr val="0E3B5E"/>
          </a:solidFill>
          <a:ln>
            <a:noFill/>
          </a:ln>
        </p:spPr>
        <p:txBody>
          <a:bodyPr anchor="ctr" rtlCol="false" lIns="0" tIns="0" rIns="0" bIns="0" wrap="square"/>
          <a:lstStyle/>
          <a:p>
            <a:endParaRPr lang="en-US" sz="1800"/>
          </a:p>
        </p:txBody>
      </p:sp>
      <p:sp>
        <p:nvSpPr>
          <p:cNvPr id="34" name="Rounded Rectangle 33"/>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Sensitivity</a:t>
            </a:r>
          </a:p>
        </p:txBody>
      </p:sp>
      <p:sp>
        <p:nvSpPr>
          <p:cNvPr id="35" name="TextBox 34"/>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1" name="Picture 20" descr="image.png"/>
          <p:cNvPicPr>
            <a:picLocks noChangeAspect="1"/>
          </p:cNvPicPr>
          <p:nvPr/>
        </p:nvPicPr>
        <p:blipFill>
          <a:blip r:embed="rId3"/>
          <a:stretch>
            <a:fillRect/>
          </a:stretch>
        </p:blipFill>
        <p:spPr>
          <a:xfrm>
            <a:off x="15043687"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0E3B5E"/>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7" name="Rounded Rectangle 26"/>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fig6_1_beijing_global.png"/>
          <p:cNvPicPr>
            <a:picLocks noChangeAspect="1"/>
          </p:cNvPicPr>
          <p:nvPr/>
        </p:nvPicPr>
        <p:blipFill>
          <a:blip r:embed="rId5"/>
          <a:stretch>
            <a:fillRect/>
          </a:stretch>
        </p:blipFill>
        <p:spPr>
          <a:xfrm>
            <a:off x="9013665" y="3546602"/>
            <a:ext cx="7484428" cy="5076190"/>
          </a:xfrm>
          <a:prstGeom prst="rect">
            <a:avLst/>
          </a:prstGeom>
        </p:spPr>
      </p:pic>
      <p:sp>
        <p:nvSpPr>
          <p:cNvPr id="29" name="TextBox 28"/>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1" name="Picture 20" descr="image.png"/>
          <p:cNvPicPr>
            <a:picLocks noChangeAspect="1"/>
          </p:cNvPicPr>
          <p:nvPr/>
        </p:nvPicPr>
        <p:blipFill>
          <a:blip r:embed="rId3"/>
          <a:stretch>
            <a:fillRect/>
          </a:stretch>
        </p:blipFill>
        <p:spPr>
          <a:xfrm>
            <a:off x="11659347"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3_beijing_multilevel.png"/>
          <p:cNvPicPr>
            <a:picLocks noChangeAspect="1"/>
          </p:cNvPicPr>
          <p:nvPr/>
        </p:nvPicPr>
        <p:blipFill>
          <a:blip r:embed="rId5"/>
          <a:stretch>
            <a:fillRect/>
          </a:stretch>
        </p:blipFill>
        <p:spPr>
          <a:xfrm>
            <a:off x="6273209" y="3500882"/>
            <a:ext cx="5741581" cy="1645920"/>
          </a:xfrm>
          <a:prstGeom prst="rect">
            <a:avLst/>
          </a:prstGeom>
        </p:spPr>
      </p:pic>
      <p:sp>
        <p:nvSpPr>
          <p:cNvPr id="28" name="TextBox 27"/>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9" name="Rounded Rectangle 28"/>
          <p:cNvSpPr/>
          <p:nvPr/>
        </p:nvSpPr>
        <p:spPr>
          <a:xfrm>
            <a:off x="1028700" y="6198362"/>
            <a:ext cx="7932420" cy="2148840"/>
          </a:xfrm>
          <a:prstGeom prst="roundRect">
            <a:avLst>
              <a:gd name="adj" fmla="val 14468"/>
            </a:avLst>
          </a:prstGeom>
          <a:solidFill>
            <a:srgbClr val="0E3B5E"/>
          </a:solidFill>
          <a:ln>
            <a:noFill/>
          </a:ln>
        </p:spPr>
        <p:txBody>
          <a:bodyPr anchor="ctr" rtlCol="false" lIns="0" tIns="0" rIns="0" bIns="0" wrap="square"/>
          <a:lstStyle/>
          <a:p>
            <a:endParaRPr lang="en-US" sz="1800"/>
          </a:p>
        </p:txBody>
      </p:sp>
      <p:sp>
        <p:nvSpPr>
          <p:cNvPr id="30" name="Rounded Rectangle 29"/>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Coarse level · regime selection</a:t>
            </a:r>
          </a:p>
        </p:txBody>
      </p:sp>
      <p:sp>
        <p:nvSpPr>
          <p:cNvPr id="31" name="TextBox 30"/>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2" name="Rounded Rectangle 31"/>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5960618"/>
            <a:ext cx="6203063"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4" name="TextBox 33"/>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5" name="Rounded Rectangle 34"/>
          <p:cNvSpPr/>
          <p:nvPr/>
        </p:nvSpPr>
        <p:spPr>
          <a:xfrm>
            <a:off x="1028700" y="8621522"/>
            <a:ext cx="16230600" cy="595630"/>
          </a:xfrm>
          <a:prstGeom prst="roundRect">
            <a:avLst>
              <a:gd name="adj" fmla="val 46055"/>
            </a:avLst>
          </a:prstGeom>
          <a:noFill/>
          <a:ln w="31750">
            <a:solidFill>
              <a:srgbClr val="DF8330"/>
            </a:solidFill>
          </a:ln>
        </p:spPr>
        <p:txBody>
          <a:bodyPr anchor="ctr" rtlCol="false" lIns="0" tIns="0" rIns="0" bIns="0" wrap="square"/>
          <a:lstStyle/>
          <a:p>
            <a:endParaRPr lang="en-US" sz="1800"/>
          </a:p>
        </p:txBody>
      </p:sp>
      <p:sp>
        <p:nvSpPr>
          <p:cNvPr id="36" name="TextBox 35"/>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1" name="Picture 20" descr="image.png"/>
          <p:cNvPicPr>
            <a:picLocks noChangeAspect="1"/>
          </p:cNvPicPr>
          <p:nvPr/>
        </p:nvPicPr>
        <p:blipFill>
          <a:blip r:embed="rId3"/>
          <a:stretch>
            <a:fillRect/>
          </a:stretch>
        </p:blipFill>
        <p:spPr>
          <a:xfrm>
            <a:off x="5204935" y="1673352"/>
            <a:ext cx="457200" cy="61711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546602"/>
            <a:ext cx="16230600" cy="1463040"/>
          </a:xfrm>
          <a:prstGeom prst="roundRect">
            <a:avLst>
              <a:gd name="adj" fmla="val 13750"/>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3354578"/>
            <a:ext cx="2112238"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8" name="TextBox 27"/>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9" name="Table 28"/>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1" name="Picture 20" descr="image.png"/>
          <p:cNvPicPr>
            <a:picLocks noChangeAspect="1"/>
          </p:cNvPicPr>
          <p:nvPr/>
        </p:nvPicPr>
        <p:blipFill>
          <a:blip r:embed="rId3"/>
          <a:stretch>
            <a:fillRect/>
          </a:stretch>
        </p:blipFill>
        <p:spPr>
          <a:xfrm>
            <a:off x="4641445"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7" name="Oval 26"/>
          <p:cNvSpPr/>
          <p:nvPr/>
        </p:nvSpPr>
        <p:spPr>
          <a:xfrm>
            <a:off x="1303020" y="3750214"/>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8" name="TextBox 27"/>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9" name="Rounded Rectangle 28"/>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0" name="Oval 29"/>
          <p:cNvSpPr/>
          <p:nvPr/>
        </p:nvSpPr>
        <p:spPr>
          <a:xfrm>
            <a:off x="1303020" y="5254720"/>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1" name="TextBox 30"/>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2" name="Rounded Rectangle 31"/>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03020" y="6759225"/>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4" name="TextBox 33"/>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5" name="Rounded Rectangle 34"/>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6" name="Oval 35"/>
          <p:cNvSpPr/>
          <p:nvPr/>
        </p:nvSpPr>
        <p:spPr>
          <a:xfrm>
            <a:off x="1303020" y="8263731"/>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7" name="TextBox 36"/>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1" name="Picture 20" descr="image.png"/>
          <p:cNvPicPr>
            <a:picLocks noChangeAspect="1"/>
          </p:cNvPicPr>
          <p:nvPr/>
        </p:nvPicPr>
        <p:blipFill>
          <a:blip r:embed="rId3"/>
          <a:stretch>
            <a:fillRect/>
          </a:stretch>
        </p:blipFill>
        <p:spPr>
          <a:xfrm>
            <a:off x="4251252" y="1673352"/>
            <a:ext cx="457200" cy="539881"/>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7955280" cy="2172335"/>
          </a:xfrm>
          <a:prstGeom prst="roundRect">
            <a:avLst>
              <a:gd name="adj" fmla="val 11786"/>
            </a:avLst>
          </a:prstGeom>
          <a:solidFill>
            <a:srgbClr val="0E3B5E"/>
          </a:solidFill>
          <a:ln>
            <a:noFill/>
          </a:ln>
        </p:spPr>
        <p:txBody>
          <a:bodyPr anchor="ctr" rtlCol="false" lIns="0" tIns="0" rIns="0" bIns="0" wrap="square"/>
          <a:lstStyle/>
          <a:p>
            <a:endParaRPr lang="en-US" sz="1800"/>
          </a:p>
        </p:txBody>
      </p:sp>
      <p:sp>
        <p:nvSpPr>
          <p:cNvPr id="27" name="TextBox 26"/>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8" name="Rounded Rectangle 27"/>
          <p:cNvSpPr/>
          <p:nvPr/>
        </p:nvSpPr>
        <p:spPr>
          <a:xfrm>
            <a:off x="9304020" y="3363722"/>
            <a:ext cx="7955280" cy="2172335"/>
          </a:xfrm>
          <a:prstGeom prst="roundRect">
            <a:avLst>
              <a:gd name="adj" fmla="val 11786"/>
            </a:avLst>
          </a:prstGeom>
          <a:solidFill>
            <a:srgbClr val="1F5C99"/>
          </a:solidFill>
          <a:ln>
            <a:noFill/>
          </a:ln>
        </p:spPr>
        <p:txBody>
          <a:bodyPr anchor="ctr" rtlCol="false" lIns="0" tIns="0" rIns="0" bIns="0" wrap="square"/>
          <a:lstStyle/>
          <a:p>
            <a:endParaRPr lang="en-US" sz="1800"/>
          </a:p>
        </p:txBody>
      </p:sp>
      <p:sp>
        <p:nvSpPr>
          <p:cNvPr id="29" name="TextBox 28"/>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1028700" y="5810377"/>
            <a:ext cx="7955280" cy="2172335"/>
          </a:xfrm>
          <a:prstGeom prst="roundRect">
            <a:avLst>
              <a:gd name="adj" fmla="val 11786"/>
            </a:avLst>
          </a:prstGeom>
          <a:solidFill>
            <a:srgbClr val="1F5C99"/>
          </a:solidFill>
          <a:ln>
            <a:noFill/>
          </a:ln>
        </p:spPr>
        <p:txBody>
          <a:bodyPr anchor="ctr" rtlCol="false" lIns="0" tIns="0" rIns="0" bIns="0" wrap="square"/>
          <a:lstStyle/>
          <a:p>
            <a:endParaRPr lang="en-US" sz="1800"/>
          </a:p>
        </p:txBody>
      </p:sp>
      <p:sp>
        <p:nvSpPr>
          <p:cNvPr id="31" name="TextBox 30"/>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2" name="Rounded Rectangle 31"/>
          <p:cNvSpPr/>
          <p:nvPr/>
        </p:nvSpPr>
        <p:spPr>
          <a:xfrm>
            <a:off x="9304020" y="5810377"/>
            <a:ext cx="7955280" cy="2172335"/>
          </a:xfrm>
          <a:prstGeom prst="roundRect">
            <a:avLst>
              <a:gd name="adj" fmla="val 11786"/>
            </a:avLst>
          </a:prstGeom>
          <a:solidFill>
            <a:srgbClr val="0E3B5E"/>
          </a:solidFill>
          <a:ln>
            <a:noFill/>
          </a:ln>
        </p:spPr>
        <p:txBody>
          <a:bodyPr anchor="ctr" rtlCol="false" lIns="0" tIns="0" rIns="0" bIns="0" wrap="square"/>
          <a:lstStyle/>
          <a:p>
            <a:endParaRPr lang="en-US" sz="1800"/>
          </a:p>
        </p:txBody>
      </p:sp>
      <p:sp>
        <p:nvSpPr>
          <p:cNvPr id="33" name="TextBox 32"/>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4" name="Rounded Rectangle 33"/>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1" name="Picture 20" descr="image.png"/>
          <p:cNvPicPr>
            <a:picLocks noChangeAspect="1"/>
          </p:cNvPicPr>
          <p:nvPr/>
        </p:nvPicPr>
        <p:blipFill>
          <a:blip r:embed="rId3"/>
          <a:stretch>
            <a:fillRect/>
          </a:stretch>
        </p:blipFill>
        <p:spPr>
          <a:xfrm>
            <a:off x="8008663" y="1673352"/>
            <a:ext cx="457200" cy="373212"/>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5196840" cy="2651760"/>
          </a:xfrm>
          <a:prstGeom prst="roundRect">
            <a:avLst>
              <a:gd name="adj" fmla="val 10344"/>
            </a:avLst>
          </a:prstGeom>
          <a:solidFill>
            <a:srgbClr val="0E3B5E"/>
          </a:solidFill>
          <a:ln>
            <a:noFill/>
          </a:ln>
        </p:spPr>
        <p:txBody>
          <a:bodyPr anchor="ctr" rtlCol="false" lIns="0" tIns="0" rIns="0" bIns="0" wrap="square"/>
          <a:lstStyle/>
          <a:p>
            <a:endParaRPr lang="en-US" sz="1800"/>
          </a:p>
        </p:txBody>
      </p:sp>
      <p:sp>
        <p:nvSpPr>
          <p:cNvPr id="27" name="TextBox 26"/>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8" name="Rounded Rectangle 27"/>
          <p:cNvSpPr/>
          <p:nvPr/>
        </p:nvSpPr>
        <p:spPr>
          <a:xfrm>
            <a:off x="6545580" y="3363722"/>
            <a:ext cx="5196840" cy="2651760"/>
          </a:xfrm>
          <a:prstGeom prst="roundRect">
            <a:avLst>
              <a:gd name="adj" fmla="val 10344"/>
            </a:avLst>
          </a:prstGeom>
          <a:solidFill>
            <a:srgbClr val="1F5C99"/>
          </a:solidFill>
          <a:ln>
            <a:noFill/>
          </a:ln>
        </p:spPr>
        <p:txBody>
          <a:bodyPr anchor="ctr" rtlCol="false" lIns="0" tIns="0" rIns="0" bIns="0" wrap="square"/>
          <a:lstStyle/>
          <a:p>
            <a:endParaRPr lang="en-US" sz="1800"/>
          </a:p>
        </p:txBody>
      </p:sp>
      <p:sp>
        <p:nvSpPr>
          <p:cNvPr id="29" name="TextBox 28"/>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0" name="Rounded Rectangle 29"/>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1" name="TextBox 30"/>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2" name="Rounded Rectangle 31"/>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3" name="Rounded Rectangle 32"/>
          <p:cNvSpPr/>
          <p:nvPr/>
        </p:nvSpPr>
        <p:spPr>
          <a:xfrm>
            <a:off x="1348740" y="6280658"/>
            <a:ext cx="341963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4" name="TextBox 33"/>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5" name="Rounded Rectangle 34"/>
          <p:cNvSpPr/>
          <p:nvPr/>
        </p:nvSpPr>
        <p:spPr>
          <a:xfrm>
            <a:off x="1028700" y="8392922"/>
            <a:ext cx="16230600" cy="961390"/>
          </a:xfrm>
          <a:prstGeom prst="roundRect">
            <a:avLst>
              <a:gd name="adj" fmla="val 23778"/>
            </a:avLst>
          </a:prstGeom>
          <a:solidFill>
            <a:srgbClr val="0E3B5E"/>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1" name="Picture 20" descr="image.png"/>
          <p:cNvPicPr>
            <a:picLocks noChangeAspect="1"/>
          </p:cNvPicPr>
          <p:nvPr/>
        </p:nvPicPr>
        <p:blipFill>
          <a:blip r:embed="rId3"/>
          <a:stretch>
            <a:fillRect/>
          </a:stretch>
        </p:blipFill>
        <p:spPr>
          <a:xfrm>
            <a:off x="4883941" y="1673352"/>
            <a:ext cx="457200" cy="427074"/>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7" name="Rounded Rectangle 26"/>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28" name="Rounded Rectangle 27"/>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9" name="TextBox 28"/>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1" name="Picture 20" descr="image.png"/>
          <p:cNvPicPr>
            <a:picLocks noChangeAspect="1"/>
          </p:cNvPicPr>
          <p:nvPr/>
        </p:nvPicPr>
        <p:blipFill>
          <a:blip r:embed="rId3"/>
          <a:stretch>
            <a:fillRect/>
          </a:stretch>
        </p:blipFill>
        <p:spPr>
          <a:xfrm>
            <a:off x="7714472"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546602"/>
            <a:ext cx="7932420" cy="1417320"/>
          </a:xfrm>
          <a:prstGeom prst="roundRect">
            <a:avLst>
              <a:gd name="adj" fmla="val 14193"/>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3354578"/>
            <a:ext cx="927910"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8" name="TextBox 27"/>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9" name="Rounded Rectangle 28"/>
          <p:cNvSpPr/>
          <p:nvPr/>
        </p:nvSpPr>
        <p:spPr>
          <a:xfrm>
            <a:off x="9326880" y="3546602"/>
            <a:ext cx="7932420" cy="1417320"/>
          </a:xfrm>
          <a:prstGeom prst="roundRect">
            <a:avLst>
              <a:gd name="adj" fmla="val 14193"/>
            </a:avLst>
          </a:prstGeom>
          <a:solidFill>
            <a:srgbClr val="F6ECDF"/>
          </a:solidFill>
          <a:ln w="25400">
            <a:solidFill>
              <a:srgbClr val="0E3B5E"/>
            </a:solidFill>
          </a:ln>
        </p:spPr>
        <p:txBody>
          <a:bodyPr anchor="ctr" rtlCol="false" lIns="0" tIns="0" rIns="0" bIns="0" wrap="square"/>
          <a:lstStyle/>
          <a:p>
            <a:endParaRPr lang="en-US" sz="1800"/>
          </a:p>
        </p:txBody>
      </p:sp>
      <p:sp>
        <p:nvSpPr>
          <p:cNvPr id="30" name="Rounded Rectangle 29"/>
          <p:cNvSpPr/>
          <p:nvPr/>
        </p:nvSpPr>
        <p:spPr>
          <a:xfrm>
            <a:off x="9646920" y="3354578"/>
            <a:ext cx="927910"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1" name="TextBox 30"/>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2" name="Table 31"/>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1" name="Picture 20" descr="image.png"/>
          <p:cNvPicPr>
            <a:picLocks noChangeAspect="1"/>
          </p:cNvPicPr>
          <p:nvPr/>
        </p:nvPicPr>
        <p:blipFill>
          <a:blip r:embed="rId3"/>
          <a:stretch>
            <a:fillRect/>
          </a:stretch>
        </p:blipFill>
        <p:spPr>
          <a:xfrm>
            <a:off x="11933734"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DF8330"/>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DF8330"/>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DF8330"/>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7" name="Rounded Rectangle 26"/>
          <p:cNvSpPr/>
          <p:nvPr/>
        </p:nvSpPr>
        <p:spPr>
          <a:xfrm>
            <a:off x="1028700" y="5649722"/>
            <a:ext cx="7863840" cy="1417320"/>
          </a:xfrm>
          <a:prstGeom prst="roundRect">
            <a:avLst>
              <a:gd name="adj" fmla="val 16129"/>
            </a:avLst>
          </a:prstGeom>
          <a:solidFill>
            <a:srgbClr val="0E3B5E"/>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8"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8"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9"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1" name="TextBox 30"/>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32" name="Rounded Rectangle 31"/>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3" name="TextBox 32"/>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4" name="Oval 33"/>
          <p:cNvSpPr/>
          <p:nvPr/>
        </p:nvSpPr>
        <p:spPr>
          <a:xfrm>
            <a:off x="10165080" y="4598162"/>
            <a:ext cx="1737360" cy="1737360"/>
          </a:xfrm>
          <a:prstGeom prst="ellipse">
            <a:avLst/>
          </a:prstGeom>
          <a:solidFill>
            <a:srgbClr val="0E3B5E"/>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5" name="Oval 34"/>
          <p:cNvSpPr/>
          <p:nvPr/>
        </p:nvSpPr>
        <p:spPr>
          <a:xfrm>
            <a:off x="12481560" y="4598162"/>
            <a:ext cx="1737360" cy="1737360"/>
          </a:xfrm>
          <a:prstGeom prst="ellipse">
            <a:avLst/>
          </a:prstGeom>
          <a:solidFill>
            <a:srgbClr val="1F5C99"/>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6" name="Oval 35"/>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7" name="Rounded Rectangle 36"/>
          <p:cNvSpPr/>
          <p:nvPr/>
        </p:nvSpPr>
        <p:spPr>
          <a:xfrm>
            <a:off x="9441180" y="7067042"/>
            <a:ext cx="7818120" cy="2241550"/>
          </a:xfrm>
          <a:prstGeom prst="roundRect">
            <a:avLst>
              <a:gd name="adj" fmla="val 10198"/>
            </a:avLst>
          </a:prstGeom>
          <a:solidFill>
            <a:srgbClr val="0E3B5E"/>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8"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8"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39" name="TextBox 38"/>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0"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0"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1" name="Picture 20" descr="image.png"/>
          <p:cNvPicPr>
            <a:picLocks noChangeAspect="1"/>
          </p:cNvPicPr>
          <p:nvPr/>
        </p:nvPicPr>
        <p:blipFill>
          <a:blip r:embed="rId3"/>
          <a:stretch>
            <a:fillRect/>
          </a:stretch>
        </p:blipFill>
        <p:spPr>
          <a:xfrm>
            <a:off x="11509517"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7" name="Rounded Rectangle 26"/>
          <p:cNvSpPr/>
          <p:nvPr/>
        </p:nvSpPr>
        <p:spPr>
          <a:xfrm>
            <a:off x="1028700" y="3866642"/>
            <a:ext cx="8595360" cy="2834640"/>
          </a:xfrm>
          <a:prstGeom prst="roundRect">
            <a:avLst>
              <a:gd name="adj" fmla="val 6451"/>
            </a:avLst>
          </a:prstGeom>
          <a:solidFill>
            <a:srgbClr val="E4EBF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8"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0E3B5E"/>
                              </a:solidFill>
                              <a:latin typeface="Cambria Math" panose="02040503050406030204" pitchFamily="18" charset="0"/>
                            </a:rPr>
                          </m:ctrlPr>
                        </m:sSubPr>
                        <m:e>
                          <m:acc>
                            <m:accPr>
                              <m:chr m:val="̂"/>
                              <m:ctrlPr>
                                <a:rPr lang="en-US" sz="2350" i="1">
                                  <a:solidFill>
                                    <a:srgbClr val="0E3B5E"/>
                                  </a:solidFill>
                                  <a:latin typeface="Cambria Math" panose="02040503050406030204" pitchFamily="18" charset="0"/>
                                </a:rPr>
                              </m:ctrlPr>
                            </m:accPr>
                            <m:e>
                              <m:r>
                                <a:rPr lang="en-US" sz="2350" i="1">
                                  <a:solidFill>
                                    <a:srgbClr val="0E3B5E"/>
                                  </a:solidFill>
                                  <a:latin typeface="Cambria Math" panose="02040503050406030204" pitchFamily="18" charset="0"/>
                                </a:rPr>
                                <m:t xml:space="preserve">φ</m:t>
                              </m:r>
                            </m:e>
                          </m:acc>
                        </m:e>
                        <m:sub>
                          <m:r>
                            <a:rPr lang="en-US" sz="2350" i="1">
                              <a:solidFill>
                                <a:srgbClr val="0E3B5E"/>
                              </a:solidFill>
                              <a:latin typeface="Cambria Math" panose="02040503050406030204" pitchFamily="18" charset="0"/>
                            </a:rPr>
                            <m:t xml:space="preserve">j</m:t>
                          </m:r>
                        </m:sub>
                      </m:sSub>
                      <m:r>
                        <m:rPr>
                          <m:sty m:val="p"/>
                        </m:rPr>
                        <a:rPr lang="en-US" sz="2350">
                          <a:solidFill>
                            <a:srgbClr val="0E3B5E"/>
                          </a:solidFill>
                          <a:latin typeface="Cambria Math" panose="02040503050406030204" pitchFamily="18" charset="0"/>
                        </a:rPr>
                        <m:t xml:space="preserve">=</m:t>
                      </m:r>
                      <m:f>
                        <m:fPr>
                          <m:ctrlPr>
                            <a:rPr lang="en-US" sz="2350" i="1">
                              <a:solidFill>
                                <a:srgbClr val="0E3B5E"/>
                              </a:solidFill>
                              <a:latin typeface="Cambria Math" panose="02040503050406030204" pitchFamily="18" charset="0"/>
                            </a:rPr>
                          </m:ctrlPr>
                        </m:fPr>
                        <m:num>
                          <m:r>
                            <m:rPr>
                              <m:sty m:val="p"/>
                            </m:rPr>
                            <a:rPr lang="en-US" sz="2350">
                              <a:solidFill>
                                <a:srgbClr val="0E3B5E"/>
                              </a:solidFill>
                              <a:latin typeface="Cambria Math" panose="02040503050406030204" pitchFamily="18" charset="0"/>
                            </a:rPr>
                            <m:t xml:space="preserve">1</m:t>
                          </m:r>
                        </m:num>
                        <m:den>
                          <m:r>
                            <a:rPr lang="en-US" sz="2350" i="1">
                              <a:solidFill>
                                <a:srgbClr val="0E3B5E"/>
                              </a:solidFill>
                              <a:latin typeface="Cambria Math" panose="02040503050406030204" pitchFamily="18" charset="0"/>
                            </a:rPr>
                            <m:t xml:space="preserve">M</m:t>
                          </m:r>
                        </m:den>
                      </m:f>
                      <m:nary>
                        <m:naryPr>
                          <m:chr m:val="∑"/>
                          <m:limLoc m:val="undOvr"/>
                          <m:ctrlPr>
                            <a:rPr lang="en-US" sz="2350" i="1">
                              <a:solidFill>
                                <a:srgbClr val="0E3B5E"/>
                              </a:solidFill>
                              <a:latin typeface="Cambria Math" panose="02040503050406030204" pitchFamily="18" charset="0"/>
                            </a:rPr>
                          </m:ctrlPr>
                        </m:naryPr>
                        <m:sub>
                          <m:r>
                            <a:rPr lang="en-US" sz="2350" i="1">
                              <a:solidFill>
                                <a:srgbClr val="0E3B5E"/>
                              </a:solidFill>
                              <a:latin typeface="Cambria Math" panose="02040503050406030204" pitchFamily="18" charset="0"/>
                            </a:rPr>
                            <m:t xml:space="preserve">m</m:t>
                          </m:r>
                          <m:r>
                            <m:rPr>
                              <m:sty m:val="p"/>
                            </m:rPr>
                            <a:rPr lang="en-US" sz="2350">
                              <a:solidFill>
                                <a:srgbClr val="0E3B5E"/>
                              </a:solidFill>
                              <a:latin typeface="Cambria Math" panose="02040503050406030204" pitchFamily="18" charset="0"/>
                            </a:rPr>
                            <m:t xml:space="preserve">=1</m:t>
                          </m:r>
                        </m:sub>
                        <m:sup>
                          <m:r>
                            <a:rPr lang="en-US" sz="2350" i="1">
                              <a:solidFill>
                                <a:srgbClr val="0E3B5E"/>
                              </a:solidFill>
                              <a:latin typeface="Cambria Math" panose="02040503050406030204" pitchFamily="18" charset="0"/>
                            </a:rPr>
                            <m:t xml:space="preserve">M</m:t>
                          </m:r>
                        </m:sup>
                        <m:e>
                          <m:d>
                            <m:dPr>
                              <m:begChr m:val="["/>
                              <m:endChr m:val="]"/>
                              <m:ctrlPr>
                                <a:rPr lang="en-US" sz="2350" i="1">
                                  <a:solidFill>
                                    <a:srgbClr val="0E3B5E"/>
                                  </a:solidFill>
                                  <a:latin typeface="Cambria Math" panose="02040503050406030204" pitchFamily="18" charset="0"/>
                                </a:rPr>
                              </m:ctrlPr>
                            </m:dPr>
                            <m:e>
                              <m:r>
                                <m:rPr>
                                  <m:sty m:val="p"/>
                                </m:rPr>
                                <a:rPr lang="en-US" sz="2350">
                                  <a:solidFill>
                                    <a:srgbClr val="0E3B5E"/>
                                  </a:solidFill>
                                  <a:latin typeface="Cambria Math" panose="02040503050406030204" pitchFamily="18" charset="0"/>
                                </a:rPr>
                                <m:t xml:space="preserve"> </m:t>
                              </m:r>
                              <m:r>
                                <a:rPr lang="en-US" sz="2350" i="1">
                                  <a:solidFill>
                                    <a:srgbClr val="0E3B5E"/>
                                  </a:solidFill>
                                  <a:latin typeface="Cambria Math" panose="02040503050406030204" pitchFamily="18" charset="0"/>
                                </a:rPr>
                                <m:t xml:space="preserve">v</m:t>
                              </m:r>
                              <m:r>
                                <m:rPr>
                                  <m:sty m:val="p"/>
                                </m:rPr>
                                <a:rPr lang="en-US" sz="2350">
                                  <a:solidFill>
                                    <a:srgbClr val="0E3B5E"/>
                                  </a:solidFill>
                                  <a:latin typeface="Cambria Math" panose="02040503050406030204" pitchFamily="18" charset="0"/>
                                </a:rPr>
                                <m:t xml:space="preserve">(</m:t>
                              </m:r>
                              <m:sSub>
                                <m:sSubPr>
                                  <m:ctrlPr>
                                    <a:rPr lang="en-US" sz="2350" i="1">
                                      <a:solidFill>
                                        <a:srgbClr val="0E3B5E"/>
                                      </a:solidFill>
                                      <a:latin typeface="Cambria Math" panose="02040503050406030204" pitchFamily="18" charset="0"/>
                                    </a:rPr>
                                  </m:ctrlPr>
                                </m:sSubPr>
                                <m:e>
                                  <m:r>
                                    <a:rPr lang="en-US" sz="2350" i="1">
                                      <a:solidFill>
                                        <a:srgbClr val="0E3B5E"/>
                                      </a:solidFill>
                                      <a:latin typeface="Cambria Math" panose="02040503050406030204" pitchFamily="18" charset="0"/>
                                    </a:rPr>
                                    <m:t xml:space="preserve">S</m:t>
                                  </m:r>
                                </m:e>
                                <m:sub>
                                  <m:r>
                                    <a:rPr lang="en-US" sz="2350" i="1">
                                      <a:solidFill>
                                        <a:srgbClr val="0E3B5E"/>
                                      </a:solidFill>
                                      <a:latin typeface="Cambria Math" panose="02040503050406030204" pitchFamily="18" charset="0"/>
                                    </a:rPr>
                                    <m:t xml:space="preserve">m</m:t>
                                  </m:r>
                                </m:sub>
                              </m:sSub>
                              <m:r>
                                <m:rPr>
                                  <m:sty m:val="p"/>
                                </m:rPr>
                                <a:rPr lang="en-US" sz="2350">
                                  <a:solidFill>
                                    <a:srgbClr val="0E3B5E"/>
                                  </a:solidFill>
                                  <a:latin typeface="Cambria Math" panose="02040503050406030204" pitchFamily="18" charset="0"/>
                                </a:rPr>
                                <m:t xml:space="preserve">∪{</m:t>
                              </m:r>
                              <m:r>
                                <a:rPr lang="en-US" sz="2350" i="1">
                                  <a:solidFill>
                                    <a:srgbClr val="0E3B5E"/>
                                  </a:solidFill>
                                  <a:latin typeface="Cambria Math" panose="02040503050406030204" pitchFamily="18" charset="0"/>
                                </a:rPr>
                                <m:t xml:space="preserve">j</m:t>
                              </m:r>
                              <m:r>
                                <m:rPr>
                                  <m:sty m:val="p"/>
                                </m:rPr>
                                <a:rPr lang="en-US" sz="2350">
                                  <a:solidFill>
                                    <a:srgbClr val="0E3B5E"/>
                                  </a:solidFill>
                                  <a:latin typeface="Cambria Math" panose="02040503050406030204" pitchFamily="18" charset="0"/>
                                </a:rPr>
                                <m:t xml:space="preserve">})−</m:t>
                              </m:r>
                              <m:r>
                                <a:rPr lang="en-US" sz="2350" i="1">
                                  <a:solidFill>
                                    <a:srgbClr val="0E3B5E"/>
                                  </a:solidFill>
                                  <a:latin typeface="Cambria Math" panose="02040503050406030204" pitchFamily="18" charset="0"/>
                                </a:rPr>
                                <m:t xml:space="preserve">v</m:t>
                              </m:r>
                              <m:r>
                                <m:rPr>
                                  <m:sty m:val="p"/>
                                </m:rPr>
                                <a:rPr lang="en-US" sz="2350">
                                  <a:solidFill>
                                    <a:srgbClr val="0E3B5E"/>
                                  </a:solidFill>
                                  <a:latin typeface="Cambria Math" panose="02040503050406030204" pitchFamily="18" charset="0"/>
                                </a:rPr>
                                <m:t xml:space="preserve">(</m:t>
                              </m:r>
                              <m:sSub>
                                <m:sSubPr>
                                  <m:ctrlPr>
                                    <a:rPr lang="en-US" sz="2350" i="1">
                                      <a:solidFill>
                                        <a:srgbClr val="0E3B5E"/>
                                      </a:solidFill>
                                      <a:latin typeface="Cambria Math" panose="02040503050406030204" pitchFamily="18" charset="0"/>
                                    </a:rPr>
                                  </m:ctrlPr>
                                </m:sSubPr>
                                <m:e>
                                  <m:r>
                                    <a:rPr lang="en-US" sz="2350" i="1">
                                      <a:solidFill>
                                        <a:srgbClr val="0E3B5E"/>
                                      </a:solidFill>
                                      <a:latin typeface="Cambria Math" panose="02040503050406030204" pitchFamily="18" charset="0"/>
                                    </a:rPr>
                                    <m:t xml:space="preserve">S</m:t>
                                  </m:r>
                                </m:e>
                                <m:sub>
                                  <m:r>
                                    <a:rPr lang="en-US" sz="2350" i="1">
                                      <a:solidFill>
                                        <a:srgbClr val="0E3B5E"/>
                                      </a:solidFill>
                                      <a:latin typeface="Cambria Math" panose="02040503050406030204" pitchFamily="18" charset="0"/>
                                    </a:rPr>
                                    <m:t xml:space="preserve">m</m:t>
                                  </m:r>
                                </m:sub>
                              </m:sSub>
                              <m:r>
                                <m:rPr>
                                  <m:sty m:val="p"/>
                                </m:rPr>
                                <a:rPr lang="en-US" sz="2350">
                                  <a:solidFill>
                                    <a:srgbClr val="0E3B5E"/>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29"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0"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0"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1" name="TextBox 30"/>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2" name="Table 31"/>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3" name="TextBox 32"/>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4" name="Rounded Rectangle 33"/>
          <p:cNvSpPr/>
          <p:nvPr/>
        </p:nvSpPr>
        <p:spPr>
          <a:xfrm>
            <a:off x="10172700" y="6362954"/>
            <a:ext cx="7086600" cy="2945638"/>
          </a:xfrm>
          <a:prstGeom prst="roundRect">
            <a:avLst>
              <a:gd name="adj" fmla="val 10554"/>
            </a:avLst>
          </a:prstGeom>
          <a:solidFill>
            <a:srgbClr val="0E3B5E"/>
          </a:solidFill>
          <a:ln>
            <a:noFill/>
          </a:ln>
        </p:spPr>
        <p:txBody>
          <a:bodyPr anchor="ctr" rtlCol="false" lIns="0" tIns="0" rIns="0" bIns="0" wrap="square"/>
          <a:lstStyle/>
          <a:p>
            <a:endParaRPr lang="en-US" sz="1800"/>
          </a:p>
        </p:txBody>
      </p:sp>
      <p:sp>
        <p:nvSpPr>
          <p:cNvPr id="35" name="Rounded Rectangle 34"/>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In the training loop</a:t>
            </a:r>
          </a:p>
        </p:txBody>
      </p:sp>
      <p:sp>
        <p:nvSpPr>
          <p:cNvPr id="36" name="TextBox 35"/>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7"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7"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1" name="Picture 20" descr="image.png"/>
          <p:cNvPicPr>
            <a:picLocks noChangeAspect="1"/>
          </p:cNvPicPr>
          <p:nvPr/>
        </p:nvPicPr>
        <p:blipFill>
          <a:blip r:embed="rId3"/>
          <a:stretch>
            <a:fillRect/>
          </a:stretch>
        </p:blipFill>
        <p:spPr>
          <a:xfrm>
            <a:off x="13838915"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dyhucog_arch.png"/>
          <p:cNvPicPr>
            <a:picLocks noChangeAspect="1"/>
          </p:cNvPicPr>
          <p:nvPr/>
        </p:nvPicPr>
        <p:blipFill>
          <a:blip r:embed="rId5"/>
          <a:stretch>
            <a:fillRect/>
          </a:stretch>
        </p:blipFill>
        <p:spPr>
          <a:xfrm>
            <a:off x="6205039" y="3500882"/>
            <a:ext cx="5877921" cy="1417320"/>
          </a:xfrm>
          <a:prstGeom prst="rect">
            <a:avLst/>
          </a:prstGeom>
        </p:spPr>
      </p:pic>
      <p:sp>
        <p:nvSpPr>
          <p:cNvPr id="28" name="TextBox 27"/>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9" name="Rounded Rectangle 28"/>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0" name="TextBox 29"/>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0E3B5E"/>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1"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1" name="Equation"/>
              <p:cNvSpPr txBox="1"/>
              <p:nvPr/>
            </p:nvSpPr>
            <p:spPr>
              <a:xfrm>
                <a:off x="4686300" y="5283962"/>
                <a:ext cx="12298680" cy="609811"/>
              </a:xfrm>
              <a:prstGeom prst="rect">
                <a:avLst/>
              </a:prstGeom>
              <a:blipFill>
                <a:blip r:embed="rId6"/>
                <a:stretch>
                  <a:fillRect/>
                </a:stretch>
              </a:blipFill>
            </p:spPr>
            <p:txBody>
              <a:bodyPr/>
              <a:lstStyle/>
              <a:p>
                <a:endParaRPr lang="en-US"/>
              </a:p>
            </p:txBody>
          </p:sp>
        </mc:Fallback>
      </mc:AlternateContent>
      <p:sp>
        <p:nvSpPr>
          <p:cNvPr id="32" name="Rounded Rectangle 31"/>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3" name="TextBox 32"/>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0E3B5E"/>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4"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4" name="Equation"/>
              <p:cNvSpPr txBox="1"/>
              <p:nvPr/>
            </p:nvSpPr>
            <p:spPr>
              <a:xfrm>
                <a:off x="4686300" y="5985213"/>
                <a:ext cx="12298680" cy="609811"/>
              </a:xfrm>
              <a:prstGeom prst="rect">
                <a:avLst/>
              </a:prstGeom>
              <a:blipFill>
                <a:blip r:embed="rId7"/>
                <a:stretch>
                  <a:fillRect/>
                </a:stretch>
              </a:blipFill>
            </p:spPr>
            <p:txBody>
              <a:bodyPr/>
              <a:lstStyle/>
              <a:p>
                <a:endParaRPr lang="en-US"/>
              </a:p>
            </p:txBody>
          </p:sp>
        </mc:Fallback>
      </mc:AlternateContent>
      <p:sp>
        <p:nvSpPr>
          <p:cNvPr id="35" name="Rounded Rectangle 34"/>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6" name="TextBox 35"/>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0E3B5E"/>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7"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7" name="Equation"/>
              <p:cNvSpPr txBox="1"/>
              <p:nvPr/>
            </p:nvSpPr>
            <p:spPr>
              <a:xfrm>
                <a:off x="4686300" y="6686465"/>
                <a:ext cx="9372600" cy="609811"/>
              </a:xfrm>
              <a:prstGeom prst="rect">
                <a:avLst/>
              </a:prstGeom>
              <a:blipFill>
                <a:blip r:embed="rId8"/>
                <a:stretch>
                  <a:fillRect/>
                </a:stretch>
              </a:blipFill>
            </p:spPr>
            <p:txBody>
              <a:bodyPr/>
              <a:lstStyle/>
              <a:p>
                <a:endParaRPr lang="en-US"/>
              </a:p>
            </p:txBody>
          </p:sp>
        </mc:Fallback>
      </mc:AlternateContent>
      <p:sp>
        <p:nvSpPr>
          <p:cNvPr id="38" name="TextBox 37"/>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9" name="Rounded Rectangle 38"/>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0" name="TextBox 39"/>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0E3B5E"/>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1"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1" name="Equation"/>
              <p:cNvSpPr txBox="1"/>
              <p:nvPr/>
            </p:nvSpPr>
            <p:spPr>
              <a:xfrm>
                <a:off x="4686300" y="7387717"/>
                <a:ext cx="12298680" cy="609811"/>
              </a:xfrm>
              <a:prstGeom prst="rect">
                <a:avLst/>
              </a:prstGeom>
              <a:blipFill>
                <a:blip r:embed="rId9"/>
                <a:stretch>
                  <a:fillRect/>
                </a:stretch>
              </a:blipFill>
            </p:spPr>
            <p:txBody>
              <a:bodyPr/>
              <a:lstStyle/>
              <a:p>
                <a:endParaRPr lang="en-US"/>
              </a:p>
            </p:txBody>
          </p:sp>
        </mc:Fallback>
      </mc:AlternateContent>
      <p:sp>
        <p:nvSpPr>
          <p:cNvPr id="42" name="Rounded Rectangle 41"/>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3" name="TextBox 42"/>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0E3B5E"/>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4"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4" name="Equation"/>
              <p:cNvSpPr txBox="1"/>
              <p:nvPr/>
            </p:nvSpPr>
            <p:spPr>
              <a:xfrm>
                <a:off x="4686300" y="8088968"/>
                <a:ext cx="12298680" cy="609811"/>
              </a:xfrm>
              <a:prstGeom prst="rect">
                <a:avLst/>
              </a:prstGeom>
              <a:blipFill>
                <a:blip r:embed="rId10"/>
                <a:stretch>
                  <a:fillRect/>
                </a:stretch>
              </a:blipFill>
            </p:spPr>
            <p:txBody>
              <a:bodyPr/>
              <a:lstStyle/>
              <a:p>
                <a:endParaRPr lang="en-US"/>
              </a:p>
            </p:txBody>
          </p:sp>
        </mc:Fallback>
      </mc:AlternateContent>
      <p:sp>
        <p:nvSpPr>
          <p:cNvPr id="45" name="Rounded Rectangle 44"/>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6" name="TextBox 45"/>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0E3B5E"/>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7"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7" name="Equation"/>
              <p:cNvSpPr txBox="1"/>
              <p:nvPr/>
            </p:nvSpPr>
            <p:spPr>
              <a:xfrm>
                <a:off x="4686300" y="8790220"/>
                <a:ext cx="9372600" cy="609811"/>
              </a:xfrm>
              <a:prstGeom prst="rect">
                <a:avLst/>
              </a:prstGeom>
              <a:blipFill>
                <a:blip r:embed="rId11"/>
                <a:stretch>
                  <a:fillRect/>
                </a:stretch>
              </a:blipFill>
            </p:spPr>
            <p:txBody>
              <a:bodyPr/>
              <a:lstStyle/>
              <a:p>
                <a:endParaRPr lang="en-US"/>
              </a:p>
            </p:txBody>
          </p:sp>
        </mc:Fallback>
      </mc:AlternateContent>
      <p:sp>
        <p:nvSpPr>
          <p:cNvPr id="48" name="TextBox 47"/>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1" name="Picture 20" descr="image.png"/>
          <p:cNvPicPr>
            <a:picLocks noChangeAspect="1"/>
          </p:cNvPicPr>
          <p:nvPr/>
        </p:nvPicPr>
        <p:blipFill>
          <a:blip r:embed="rId3"/>
          <a:stretch>
            <a:fillRect/>
          </a:stretch>
        </p:blipFill>
        <p:spPr>
          <a:xfrm>
            <a:off x="6376338"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graphicFrame>
        <p:nvGraphicFramePr>
          <p:cNvPr id="26" name="Table 25"/>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1452860" y="3592322"/>
            <a:ext cx="5806440" cy="5670550"/>
          </a:xfrm>
          <a:prstGeom prst="roundRect">
            <a:avLst>
              <a:gd name="adj" fmla="val 5482"/>
            </a:avLst>
          </a:prstGeom>
          <a:solidFill>
            <a:srgbClr val="0E3B5E"/>
          </a:solidFill>
          <a:ln>
            <a:noFill/>
          </a:ln>
        </p:spPr>
        <p:txBody>
          <a:bodyPr anchor="ctr" rtlCol="false" lIns="0" tIns="0" rIns="0" bIns="0" wrap="square"/>
          <a:lstStyle/>
          <a:p>
            <a:endParaRPr lang="en-US" sz="1800"/>
          </a:p>
        </p:txBody>
      </p:sp>
      <p:sp>
        <p:nvSpPr>
          <p:cNvPr id="28" name="Rounded Rectangle 27"/>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What counts as success</a:t>
            </a:r>
          </a:p>
        </p:txBody>
      </p:sp>
      <p:sp>
        <p:nvSpPr>
          <p:cNvPr id="29" name="TextBox 28"/>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1" name="Picture 20" descr="image.png"/>
          <p:cNvPicPr>
            <a:picLocks noChangeAspect="1"/>
          </p:cNvPicPr>
          <p:nvPr/>
        </p:nvPicPr>
        <p:blipFill>
          <a:blip r:embed="rId3"/>
          <a:stretch>
            <a:fillRect/>
          </a:stretch>
        </p:blipFill>
        <p:spPr>
          <a:xfrm>
            <a:off x="9149156" y="1673352"/>
            <a:ext cx="457200" cy="415247"/>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7" name="Rounded Rectangle 26"/>
          <p:cNvSpPr/>
          <p:nvPr/>
        </p:nvSpPr>
        <p:spPr>
          <a:xfrm>
            <a:off x="1028700" y="8119872"/>
            <a:ext cx="6035040" cy="1097280"/>
          </a:xfrm>
          <a:prstGeom prst="roundRect">
            <a:avLst>
              <a:gd name="adj" fmla="val 25000"/>
            </a:avLst>
          </a:prstGeom>
          <a:solidFill>
            <a:srgbClr val="0E3B5E"/>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8" name="Table 27"/>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bl>
          </a:graphicData>
        </a:graphic>
      </p:graphicFrame>
      <p:sp>
        <p:nvSpPr>
          <p:cNvPr id="29" name="TextBox 28"/>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1" name="Picture 20" descr="image.png"/>
          <p:cNvPicPr>
            <a:picLocks noChangeAspect="1"/>
          </p:cNvPicPr>
          <p:nvPr/>
        </p:nvPicPr>
        <p:blipFill>
          <a:blip r:embed="rId3"/>
          <a:stretch>
            <a:fillRect/>
          </a:stretch>
        </p:blipFill>
        <p:spPr>
          <a:xfrm>
            <a:off x="9187392" y="1673352"/>
            <a:ext cx="457200" cy="452148"/>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7" name="Rounded Rectangle 26"/>
          <p:cNvSpPr/>
          <p:nvPr/>
        </p:nvSpPr>
        <p:spPr>
          <a:xfrm>
            <a:off x="1028700" y="8119872"/>
            <a:ext cx="6035040" cy="1097280"/>
          </a:xfrm>
          <a:prstGeom prst="roundRect">
            <a:avLst>
              <a:gd name="adj" fmla="val 25000"/>
            </a:avLst>
          </a:prstGeom>
          <a:solidFill>
            <a:srgbClr val="0E3B5E"/>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8" name="Table 27"/>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bl>
          </a:graphicData>
        </a:graphic>
      </p:graphicFrame>
      <p:sp>
        <p:nvSpPr>
          <p:cNvPr id="29" name="TextBox 28"/>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1" name="Picture 20" descr="image.png"/>
          <p:cNvPicPr>
            <a:picLocks noChangeAspect="1"/>
          </p:cNvPicPr>
          <p:nvPr/>
        </p:nvPicPr>
        <p:blipFill>
          <a:blip r:embed="rId3"/>
          <a:stretch>
            <a:fillRect/>
          </a:stretch>
        </p:blipFill>
        <p:spPr>
          <a:xfrm>
            <a:off x="11596440" y="1673352"/>
            <a:ext cx="457200" cy="61711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TextBox 25"/>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7.2  ·  MOVIELENS-1M</a:t>
            </a:r>
          </a:p>
        </p:txBody>
      </p:sp>
      <p:graphicFrame>
        <p:nvGraphicFramePr>
          <p:cNvPr id="27" name="Table 26"/>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TextBox 27"/>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29" name="Table 28"/>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300214"/>
            <a:ext cx="1757407"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2" name="TextBox 31"/>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1" name="Picture 20" descr="image.png"/>
          <p:cNvPicPr>
            <a:picLocks noChangeAspect="1"/>
          </p:cNvPicPr>
          <p:nvPr/>
        </p:nvPicPr>
        <p:blipFill>
          <a:blip r:embed="rId3"/>
          <a:stretch>
            <a:fillRect/>
          </a:stretch>
        </p:blipFill>
        <p:spPr>
          <a:xfrm>
            <a:off x="10646093" y="1673352"/>
            <a:ext cx="457200" cy="25098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455162"/>
            <a:ext cx="3851910" cy="2103120"/>
          </a:xfrm>
          <a:prstGeom prst="roundRect">
            <a:avLst>
              <a:gd name="adj" fmla="val 13043"/>
            </a:avLst>
          </a:prstGeom>
          <a:solidFill>
            <a:srgbClr val="0E3B5E"/>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7" name="Rounded Rectangle 26"/>
          <p:cNvSpPr/>
          <p:nvPr/>
        </p:nvSpPr>
        <p:spPr>
          <a:xfrm>
            <a:off x="5154930" y="3455162"/>
            <a:ext cx="3851910" cy="2103120"/>
          </a:xfrm>
          <a:prstGeom prst="roundRect">
            <a:avLst>
              <a:gd name="adj" fmla="val 13043"/>
            </a:avLst>
          </a:prstGeom>
          <a:solidFill>
            <a:srgbClr val="1F5C99"/>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8" name="Rounded Rectangle 27"/>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9" name="Rounded Rectangle 28"/>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0" name="TextBox 29"/>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1" name="Rounded Rectangle 30"/>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006338"/>
            <a:ext cx="2185051"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3" name="TextBox 32"/>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4"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0E3B5E"/>
                          </a:solidFill>
                          <a:latin typeface="Cambria Math" panose="02040503050406030204" pitchFamily="18" charset="0"/>
                        </a:rPr>
                        <m:t xml:space="preserve">O</m:t>
                      </m:r>
                      <m:d>
                        <m:dPr>
                          <m:ctrlPr>
                            <a:rPr lang="en-US" sz="2000" i="1">
                              <a:solidFill>
                                <a:srgbClr val="0E3B5E"/>
                              </a:solidFill>
                              <a:latin typeface="Cambria Math" panose="02040503050406030204" pitchFamily="18" charset="0"/>
                            </a:rPr>
                          </m:ctrlPr>
                        </m:dPr>
                        <m:e>
                          <m:r>
                            <m:rPr>
                              <m:sty m:val="p"/>
                            </m:rPr>
                            <a:rPr lang="en-US" sz="2000">
                              <a:solidFill>
                                <a:srgbClr val="0E3B5E"/>
                              </a:solidFill>
                              <a:latin typeface="Cambria Math" panose="02040503050406030204" pitchFamily="18" charset="0"/>
                            </a:rPr>
                            <m:t xml:space="preserve">(</m:t>
                          </m:r>
                          <m:r>
                            <a:rPr lang="en-US" sz="2000" i="1">
                              <a:solidFill>
                                <a:srgbClr val="0E3B5E"/>
                              </a:solidFill>
                              <a:latin typeface="Cambria Math" panose="02040503050406030204" pitchFamily="18" charset="0"/>
                            </a:rPr>
                            <m:t xml:space="preserve">L</m:t>
                          </m:r>
                          <m:r>
                            <m:rPr>
                              <m:sty m:val="p"/>
                            </m:rPr>
                            <a:rPr lang="en-US" sz="2000">
                              <a:solidFill>
                                <a:srgbClr val="0E3B5E"/>
                              </a:solidFill>
                              <a:latin typeface="Cambria Math" panose="02040503050406030204" pitchFamily="18" charset="0"/>
                            </a:rPr>
                            <m:t xml:space="preserve">+1) </m:t>
                          </m:r>
                          <m:r>
                            <a:rPr lang="en-US" sz="2000" i="1">
                              <a:solidFill>
                                <a:srgbClr val="0E3B5E"/>
                              </a:solidFill>
                              <a:latin typeface="Cambria Math" panose="02040503050406030204" pitchFamily="18" charset="0"/>
                            </a:rPr>
                            <m:t xml:space="preserve">m</m:t>
                          </m:r>
                          <m:r>
                            <m:rPr>
                              <m:sty m:val="p"/>
                            </m:rPr>
                            <a:rPr lang="en-US" sz="2000">
                              <a:solidFill>
                                <a:srgbClr val="0E3B5E"/>
                              </a:solidFill>
                              <a:latin typeface="Cambria Math" panose="02040503050406030204" pitchFamily="18" charset="0"/>
                            </a:rPr>
                            <m:t xml:space="preserve"> </m:t>
                          </m:r>
                          <m:r>
                            <a:rPr lang="en-US" sz="2000" i="1">
                              <a:solidFill>
                                <a:srgbClr val="0E3B5E"/>
                              </a:solidFill>
                              <a:latin typeface="Cambria Math" panose="02040503050406030204" pitchFamily="18" charset="0"/>
                            </a:rPr>
                            <m:t xml:space="preserve">d</m:t>
                          </m:r>
                        </m:e>
                      </m:d>
                      <m:r>
                        <m:rPr>
                          <m:sty m:val="p"/>
                        </m:rPr>
                        <a:rPr lang="en-US" sz="2000">
                          <a:solidFill>
                            <a:srgbClr val="0E3B5E"/>
                          </a:solidFill>
                          <a:latin typeface="Cambria Math" panose="02040503050406030204" pitchFamily="18" charset="0"/>
                        </a:rPr>
                        <m:t xml:space="preserve">+</m:t>
                      </m:r>
                      <m:r>
                        <a:rPr lang="en-US" sz="2000" i="1">
                          <a:solidFill>
                            <a:srgbClr val="0E3B5E"/>
                          </a:solidFill>
                          <a:latin typeface="Cambria Math" panose="02040503050406030204" pitchFamily="18" charset="0"/>
                        </a:rPr>
                        <m:t xml:space="preserve">O</m:t>
                      </m:r>
                      <m:d>
                        <m:dPr>
                          <m:ctrlPr>
                            <a:rPr lang="en-US" sz="2000" i="1">
                              <a:solidFill>
                                <a:srgbClr val="0E3B5E"/>
                              </a:solidFill>
                              <a:latin typeface="Cambria Math" panose="02040503050406030204" pitchFamily="18" charset="0"/>
                            </a:rPr>
                          </m:ctrlPr>
                        </m:dPr>
                        <m:e>
                          <m:r>
                            <m:rPr>
                              <m:sty m:val="p"/>
                            </m:rPr>
                            <a:rPr lang="en-US" sz="2000">
                              <a:solidFill>
                                <a:srgbClr val="0E3B5E"/>
                              </a:solidFill>
                              <a:latin typeface="Cambria Math" panose="02040503050406030204" pitchFamily="18" charset="0"/>
                            </a:rPr>
                            <m:t xml:space="preserve">(</m:t>
                          </m:r>
                          <m:r>
                            <a:rPr lang="en-US" sz="2000" i="1">
                              <a:solidFill>
                                <a:srgbClr val="0E3B5E"/>
                              </a:solidFill>
                              <a:latin typeface="Cambria Math" panose="02040503050406030204" pitchFamily="18" charset="0"/>
                            </a:rPr>
                            <m:t xml:space="preserve">M</m:t>
                          </m:r>
                          <m:r>
                            <m:rPr>
                              <m:sty m:val="p"/>
                            </m:rPr>
                            <a:rPr lang="en-US" sz="2000">
                              <a:solidFill>
                                <a:srgbClr val="0E3B5E"/>
                              </a:solidFill>
                              <a:latin typeface="Cambria Math" panose="02040503050406030204" pitchFamily="18" charset="0"/>
                            </a:rPr>
                            <m:t xml:space="preserve">/</m:t>
                          </m:r>
                          <m:r>
                            <a:rPr lang="en-US" sz="2000" i="1">
                              <a:solidFill>
                                <a:srgbClr val="0E3B5E"/>
                              </a:solidFill>
                              <a:latin typeface="Cambria Math" panose="02040503050406030204" pitchFamily="18" charset="0"/>
                            </a:rPr>
                            <m:t xml:space="preserve">f</m:t>
                          </m:r>
                          <m:r>
                            <m:rPr>
                              <m:sty m:val="p"/>
                            </m:rPr>
                            <a:rPr lang="en-US" sz="2000">
                              <a:solidFill>
                                <a:srgbClr val="0E3B5E"/>
                              </a:solidFill>
                              <a:latin typeface="Cambria Math" panose="02040503050406030204" pitchFamily="18" charset="0"/>
                            </a:rPr>
                            <m:t xml:space="preserve">) </m:t>
                          </m:r>
                          <m:r>
                            <a:rPr lang="en-US" sz="2000" i="1">
                              <a:solidFill>
                                <a:srgbClr val="0E3B5E"/>
                              </a:solidFill>
                              <a:latin typeface="Cambria Math" panose="02040503050406030204" pitchFamily="18" charset="0"/>
                            </a:rPr>
                            <m:t xml:space="preserve">m</m:t>
                          </m:r>
                        </m:e>
                      </m:d>
                    </m:oMath>
                  </m:oMathPara>
                </a14:m>
                <a:endParaRPr lang="en-US" sz="2000"/>
              </a:p>
            </p:txBody>
          </p:sp>
        </mc:Choice>
        <mc:Fallback>
          <p:sp>
            <p:nvSpPr>
              <p:cNvPr id="34"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5" name="Rounded Rectangle 34"/>
          <p:cNvSpPr/>
          <p:nvPr/>
        </p:nvSpPr>
        <p:spPr>
          <a:xfrm>
            <a:off x="9326880" y="6244082"/>
            <a:ext cx="7932420" cy="3110230"/>
          </a:xfrm>
          <a:prstGeom prst="roundRect">
            <a:avLst>
              <a:gd name="adj" fmla="val 9995"/>
            </a:avLst>
          </a:prstGeom>
          <a:solidFill>
            <a:srgbClr val="0E3B5E"/>
          </a:solidFill>
          <a:ln>
            <a:noFill/>
          </a:ln>
        </p:spPr>
        <p:txBody>
          <a:bodyPr anchor="ctr" rtlCol="false" lIns="0" tIns="0" rIns="0" bIns="0" wrap="square"/>
          <a:lstStyle/>
          <a:p>
            <a:endParaRPr lang="en-US" sz="1800"/>
          </a:p>
        </p:txBody>
      </p:sp>
      <p:sp>
        <p:nvSpPr>
          <p:cNvPr id="36" name="Rounded Rectangle 35"/>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Convergence</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1" name="Picture 20" descr="image.png"/>
          <p:cNvPicPr>
            <a:picLocks noChangeAspect="1"/>
          </p:cNvPicPr>
          <p:nvPr/>
        </p:nvPicPr>
        <p:blipFill>
          <a:blip r:embed="rId3"/>
          <a:stretch>
            <a:fillRect/>
          </a:stretch>
        </p:blipFill>
        <p:spPr>
          <a:xfrm>
            <a:off x="7141903" y="1673352"/>
            <a:ext cx="457200" cy="539881"/>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Findings</a:t>
            </a:r>
          </a:p>
        </p:txBody>
      </p:sp>
      <p:sp>
        <p:nvSpPr>
          <p:cNvPr id="26" name="Rounded Rectangle 25"/>
          <p:cNvSpPr/>
          <p:nvPr/>
        </p:nvSpPr>
        <p:spPr>
          <a:xfrm>
            <a:off x="1028700" y="3455162"/>
            <a:ext cx="5196840" cy="2194560"/>
          </a:xfrm>
          <a:prstGeom prst="roundRect">
            <a:avLst>
              <a:gd name="adj" fmla="val 12500"/>
            </a:avLst>
          </a:prstGeom>
          <a:solidFill>
            <a:srgbClr val="0E3B5E"/>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7"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28" name="TextBox 27"/>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9" name="Rounded Rectangle 28"/>
          <p:cNvSpPr/>
          <p:nvPr/>
        </p:nvSpPr>
        <p:spPr>
          <a:xfrm>
            <a:off x="6545580" y="3455162"/>
            <a:ext cx="5196840" cy="2194560"/>
          </a:xfrm>
          <a:prstGeom prst="roundRect">
            <a:avLst>
              <a:gd name="adj" fmla="val 12500"/>
            </a:avLst>
          </a:prstGeom>
          <a:solidFill>
            <a:srgbClr val="1F5C99"/>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0"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1" name="TextBox 30"/>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2" name="Rounded Rectangle 31"/>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3"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4" name="TextBox 33"/>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5" name="TextBox 34"/>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6" name="Rounded Rectangle 35"/>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485900" y="6097778"/>
            <a:ext cx="1794243"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8" name="TextBox 37"/>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1" name="Picture 20" descr="image.png"/>
          <p:cNvPicPr>
            <a:picLocks noChangeAspect="1"/>
          </p:cNvPicPr>
          <p:nvPr/>
        </p:nvPicPr>
        <p:blipFill>
          <a:blip r:embed="rId3"/>
          <a:stretch>
            <a:fillRect/>
          </a:stretch>
        </p:blipFill>
        <p:spPr>
          <a:xfrm>
            <a:off x="7806261" y="1673352"/>
            <a:ext cx="457200" cy="373212"/>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546602"/>
            <a:ext cx="7932420" cy="1600200"/>
          </a:xfrm>
          <a:prstGeom prst="roundRect">
            <a:avLst>
              <a:gd name="adj" fmla="val 12571"/>
            </a:avLst>
          </a:prstGeom>
          <a:solidFill>
            <a:srgbClr val="F6ECDF"/>
          </a:solidFill>
          <a:ln w="25400">
            <a:solidFill>
              <a:srgbClr val="0E3B5E"/>
            </a:solidFill>
          </a:ln>
        </p:spPr>
        <p:txBody>
          <a:bodyPr anchor="ctr" rtlCol="false" lIns="0" tIns="0" rIns="0" bIns="0" wrap="square"/>
          <a:lstStyle/>
          <a:p>
            <a:endParaRPr lang="en-US" sz="1800"/>
          </a:p>
        </p:txBody>
      </p:sp>
      <p:sp>
        <p:nvSpPr>
          <p:cNvPr id="27" name="Rounded Rectangle 26"/>
          <p:cNvSpPr/>
          <p:nvPr/>
        </p:nvSpPr>
        <p:spPr>
          <a:xfrm>
            <a:off x="1348740" y="3354578"/>
            <a:ext cx="2112238"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8" name="TextBox 27"/>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9" name="Rounded Rectangle 28"/>
          <p:cNvSpPr/>
          <p:nvPr/>
        </p:nvSpPr>
        <p:spPr>
          <a:xfrm>
            <a:off x="9326880" y="3546602"/>
            <a:ext cx="7932420" cy="1600200"/>
          </a:xfrm>
          <a:prstGeom prst="roundRect">
            <a:avLst>
              <a:gd name="adj" fmla="val 12571"/>
            </a:avLst>
          </a:prstGeom>
          <a:solidFill>
            <a:srgbClr val="F6ECDF"/>
          </a:solidFill>
          <a:ln w="25400">
            <a:solidFill>
              <a:srgbClr val="0E3B5E"/>
            </a:solidFill>
          </a:ln>
        </p:spPr>
        <p:txBody>
          <a:bodyPr anchor="ctr" rtlCol="false" lIns="0" tIns="0" rIns="0" bIns="0" wrap="square"/>
          <a:lstStyle/>
          <a:p>
            <a:endParaRPr lang="en-US" sz="1800"/>
          </a:p>
        </p:txBody>
      </p:sp>
      <p:sp>
        <p:nvSpPr>
          <p:cNvPr id="30" name="Rounded Rectangle 29"/>
          <p:cNvSpPr/>
          <p:nvPr/>
        </p:nvSpPr>
        <p:spPr>
          <a:xfrm>
            <a:off x="9646920" y="3354578"/>
            <a:ext cx="2112238"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1" name="TextBox 30"/>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2" name="Table 31"/>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1" name="Picture 20" descr="image.png"/>
          <p:cNvPicPr>
            <a:picLocks noChangeAspect="1"/>
          </p:cNvPicPr>
          <p:nvPr/>
        </p:nvPicPr>
        <p:blipFill>
          <a:blip r:embed="rId3"/>
          <a:stretch>
            <a:fillRect/>
          </a:stretch>
        </p:blipFill>
        <p:spPr>
          <a:xfrm>
            <a:off x="4641445" y="1673352"/>
            <a:ext cx="457200" cy="427074"/>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7" name="Oval 26"/>
          <p:cNvSpPr/>
          <p:nvPr/>
        </p:nvSpPr>
        <p:spPr>
          <a:xfrm>
            <a:off x="1303020" y="3750214"/>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8" name="TextBox 27"/>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9" name="Rounded Rectangle 28"/>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0" name="Oval 29"/>
          <p:cNvSpPr/>
          <p:nvPr/>
        </p:nvSpPr>
        <p:spPr>
          <a:xfrm>
            <a:off x="1303020" y="5254720"/>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1" name="TextBox 30"/>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2" name="Rounded Rectangle 31"/>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03020" y="6759225"/>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4" name="TextBox 33"/>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5" name="Rounded Rectangle 34"/>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6" name="Oval 35"/>
          <p:cNvSpPr/>
          <p:nvPr/>
        </p:nvSpPr>
        <p:spPr>
          <a:xfrm>
            <a:off x="1303020" y="8263731"/>
            <a:ext cx="566928" cy="566928"/>
          </a:xfrm>
          <a:prstGeom prst="ellipse">
            <a:avLst/>
          </a:prstGeom>
          <a:solidFill>
            <a:srgbClr val="0E3B5E"/>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7" name="TextBox 36"/>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0E3B5E"/>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1" name="Picture 20" descr="image.png"/>
          <p:cNvPicPr>
            <a:picLocks noChangeAspect="1"/>
          </p:cNvPicPr>
          <p:nvPr/>
        </p:nvPicPr>
        <p:blipFill>
          <a:blip r:embed="rId3"/>
          <a:stretch>
            <a:fillRect/>
          </a:stretch>
        </p:blipFill>
        <p:spPr>
          <a:xfrm>
            <a:off x="4251252" y="1673352"/>
            <a:ext cx="457200" cy="399005"/>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7955280" cy="2172335"/>
          </a:xfrm>
          <a:prstGeom prst="roundRect">
            <a:avLst>
              <a:gd name="adj" fmla="val 11786"/>
            </a:avLst>
          </a:prstGeom>
          <a:solidFill>
            <a:srgbClr val="0E3B5E"/>
          </a:solidFill>
          <a:ln>
            <a:noFill/>
          </a:ln>
        </p:spPr>
        <p:txBody>
          <a:bodyPr anchor="ctr" rtlCol="false" lIns="0" tIns="0" rIns="0" bIns="0" wrap="square"/>
          <a:lstStyle/>
          <a:p>
            <a:endParaRPr lang="en-US" sz="1800"/>
          </a:p>
        </p:txBody>
      </p:sp>
      <p:sp>
        <p:nvSpPr>
          <p:cNvPr id="27" name="TextBox 26"/>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8" name="Rounded Rectangle 27"/>
          <p:cNvSpPr/>
          <p:nvPr/>
        </p:nvSpPr>
        <p:spPr>
          <a:xfrm>
            <a:off x="9304020" y="3363722"/>
            <a:ext cx="7955280" cy="2172335"/>
          </a:xfrm>
          <a:prstGeom prst="roundRect">
            <a:avLst>
              <a:gd name="adj" fmla="val 11786"/>
            </a:avLst>
          </a:prstGeom>
          <a:solidFill>
            <a:srgbClr val="1F5C99"/>
          </a:solidFill>
          <a:ln>
            <a:noFill/>
          </a:ln>
        </p:spPr>
        <p:txBody>
          <a:bodyPr anchor="ctr" rtlCol="false" lIns="0" tIns="0" rIns="0" bIns="0" wrap="square"/>
          <a:lstStyle/>
          <a:p>
            <a:endParaRPr lang="en-US" sz="1800"/>
          </a:p>
        </p:txBody>
      </p:sp>
      <p:sp>
        <p:nvSpPr>
          <p:cNvPr id="29" name="TextBox 28"/>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0" name="Rounded Rectangle 29"/>
          <p:cNvSpPr/>
          <p:nvPr/>
        </p:nvSpPr>
        <p:spPr>
          <a:xfrm>
            <a:off x="1028700" y="5810377"/>
            <a:ext cx="7955280" cy="2172335"/>
          </a:xfrm>
          <a:prstGeom prst="roundRect">
            <a:avLst>
              <a:gd name="adj" fmla="val 11786"/>
            </a:avLst>
          </a:prstGeom>
          <a:solidFill>
            <a:srgbClr val="1F5C99"/>
          </a:solidFill>
          <a:ln>
            <a:noFill/>
          </a:ln>
        </p:spPr>
        <p:txBody>
          <a:bodyPr anchor="ctr" rtlCol="false" lIns="0" tIns="0" rIns="0" bIns="0" wrap="square"/>
          <a:lstStyle/>
          <a:p>
            <a:endParaRPr lang="en-US" sz="1800"/>
          </a:p>
        </p:txBody>
      </p:sp>
      <p:sp>
        <p:nvSpPr>
          <p:cNvPr id="31" name="TextBox 30"/>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2" name="Rounded Rectangle 31"/>
          <p:cNvSpPr/>
          <p:nvPr/>
        </p:nvSpPr>
        <p:spPr>
          <a:xfrm>
            <a:off x="9304020" y="5810377"/>
            <a:ext cx="7955280" cy="2172335"/>
          </a:xfrm>
          <a:prstGeom prst="roundRect">
            <a:avLst>
              <a:gd name="adj" fmla="val 11786"/>
            </a:avLst>
          </a:prstGeom>
          <a:solidFill>
            <a:srgbClr val="0E3B5E"/>
          </a:solidFill>
          <a:ln>
            <a:noFill/>
          </a:ln>
        </p:spPr>
        <p:txBody>
          <a:bodyPr anchor="ctr" rtlCol="false" lIns="0" tIns="0" rIns="0" bIns="0" wrap="square"/>
          <a:lstStyle/>
          <a:p>
            <a:endParaRPr lang="en-US" sz="1800"/>
          </a:p>
        </p:txBody>
      </p:sp>
      <p:sp>
        <p:nvSpPr>
          <p:cNvPr id="33" name="TextBox 32"/>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1" name="Picture 20" descr="image.png"/>
          <p:cNvPicPr>
            <a:picLocks noChangeAspect="1"/>
          </p:cNvPicPr>
          <p:nvPr/>
        </p:nvPicPr>
        <p:blipFill>
          <a:blip r:embed="rId3"/>
          <a:stretch>
            <a:fillRect/>
          </a:stretch>
        </p:blipFill>
        <p:spPr>
          <a:xfrm>
            <a:off x="8179226" y="1673352"/>
            <a:ext cx="457200" cy="446713"/>
          </a:xfrm>
          <a:prstGeom prst="rect">
            <a:avLst/>
          </a:prstGeom>
        </p:spPr>
      </p:pic>
      <p:sp>
        <p:nvSpPr>
          <p:cNvPr id="22" name="Rounded Rectangle 21"/>
          <p:cNvSpPr/>
          <p:nvPr/>
        </p:nvSpPr>
        <p:spPr>
          <a:xfrm>
            <a:off x="1028700" y="2559050"/>
            <a:ext cx="169155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Objectives</a:t>
            </a:r>
          </a:p>
        </p:txBody>
      </p:sp>
      <p:sp>
        <p:nvSpPr>
          <p:cNvPr id="23" name="Rounded Rectangle 22"/>
          <p:cNvSpPr/>
          <p:nvPr/>
        </p:nvSpPr>
        <p:spPr>
          <a:xfrm>
            <a:off x="2848269" y="2559050"/>
            <a:ext cx="1998119"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Methodology</a:t>
            </a:r>
          </a:p>
        </p:txBody>
      </p:sp>
      <p:sp>
        <p:nvSpPr>
          <p:cNvPr id="24" name="Rounded Rectangle 23"/>
          <p:cNvSpPr/>
          <p:nvPr/>
        </p:nvSpPr>
        <p:spPr>
          <a:xfrm>
            <a:off x="4974404" y="2559050"/>
            <a:ext cx="136944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Results</a:t>
            </a:r>
          </a:p>
        </p:txBody>
      </p:sp>
      <p:sp>
        <p:nvSpPr>
          <p:cNvPr id="25" name="Rounded Rectangle 24"/>
          <p:cNvSpPr/>
          <p:nvPr/>
        </p:nvSpPr>
        <p:spPr>
          <a:xfrm>
            <a:off x="6471866" y="2559050"/>
            <a:ext cx="1474931"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6" name="Rounded Rectangle 25"/>
          <p:cNvSpPr/>
          <p:nvPr/>
        </p:nvSpPr>
        <p:spPr>
          <a:xfrm>
            <a:off x="1028700" y="3363722"/>
            <a:ext cx="5196840" cy="2651760"/>
          </a:xfrm>
          <a:prstGeom prst="roundRect">
            <a:avLst>
              <a:gd name="adj" fmla="val 10344"/>
            </a:avLst>
          </a:prstGeom>
          <a:solidFill>
            <a:srgbClr val="0E3B5E"/>
          </a:solidFill>
          <a:ln>
            <a:noFill/>
          </a:ln>
        </p:spPr>
        <p:txBody>
          <a:bodyPr anchor="ctr" rtlCol="false" lIns="0" tIns="0" rIns="0" bIns="0" wrap="square"/>
          <a:lstStyle/>
          <a:p>
            <a:endParaRPr lang="en-US" sz="1800"/>
          </a:p>
        </p:txBody>
      </p:sp>
      <p:sp>
        <p:nvSpPr>
          <p:cNvPr id="27" name="TextBox 26"/>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8" name="Rounded Rectangle 27"/>
          <p:cNvSpPr/>
          <p:nvPr/>
        </p:nvSpPr>
        <p:spPr>
          <a:xfrm>
            <a:off x="6545580" y="3363722"/>
            <a:ext cx="5196840" cy="2651760"/>
          </a:xfrm>
          <a:prstGeom prst="roundRect">
            <a:avLst>
              <a:gd name="adj" fmla="val 10344"/>
            </a:avLst>
          </a:prstGeom>
          <a:solidFill>
            <a:srgbClr val="1F5C99"/>
          </a:solidFill>
          <a:ln>
            <a:noFill/>
          </a:ln>
        </p:spPr>
        <p:txBody>
          <a:bodyPr anchor="ctr" rtlCol="false" lIns="0" tIns="0" rIns="0" bIns="0" wrap="square"/>
          <a:lstStyle/>
          <a:p>
            <a:endParaRPr lang="en-US" sz="1800"/>
          </a:p>
        </p:txBody>
      </p:sp>
      <p:sp>
        <p:nvSpPr>
          <p:cNvPr id="29" name="TextBox 28"/>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0" name="Rounded Rectangle 29"/>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1" name="TextBox 30"/>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2" name="Rounded Rectangle 31"/>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3" name="Rounded Rectangle 32"/>
          <p:cNvSpPr/>
          <p:nvPr/>
        </p:nvSpPr>
        <p:spPr>
          <a:xfrm>
            <a:off x="1348740" y="6280658"/>
            <a:ext cx="347127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4" name="TextBox 33"/>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5" name="Rounded Rectangle 34"/>
          <p:cNvSpPr/>
          <p:nvPr/>
        </p:nvSpPr>
        <p:spPr>
          <a:xfrm>
            <a:off x="1028700" y="8392922"/>
            <a:ext cx="16230600" cy="961390"/>
          </a:xfrm>
          <a:prstGeom prst="roundRect">
            <a:avLst>
              <a:gd name="adj" fmla="val 23778"/>
            </a:avLst>
          </a:prstGeom>
          <a:solidFill>
            <a:srgbClr val="0E3B5E"/>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0E3B5E"/>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0E3B5E"/>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1" name="Picture 20" descr="image.png"/>
          <p:cNvPicPr>
            <a:picLocks noChangeAspect="1"/>
          </p:cNvPicPr>
          <p:nvPr/>
        </p:nvPicPr>
        <p:blipFill>
          <a:blip r:embed="rId3"/>
          <a:stretch>
            <a:fillRect/>
          </a:stretch>
        </p:blipFill>
        <p:spPr>
          <a:xfrm>
            <a:off x="10723663" y="1673352"/>
            <a:ext cx="457200" cy="452148"/>
          </a:xfrm>
          <a:prstGeom prst="rect">
            <a:avLst/>
          </a:prstGeom>
        </p:spPr>
      </p:pic>
      <p:sp>
        <p:nvSpPr>
          <p:cNvPr id="22" name="Rounded Rectangle 21"/>
          <p:cNvSpPr/>
          <p:nvPr/>
        </p:nvSpPr>
        <p:spPr>
          <a:xfrm>
            <a:off x="1028700" y="2559050"/>
            <a:ext cx="1604433"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Conclusion</a:t>
            </a:r>
          </a:p>
        </p:txBody>
      </p:sp>
      <p:graphicFrame>
        <p:nvGraphicFramePr>
          <p:cNvPr id="27" name="Table 26"/>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0E3B5E"/>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5C99"/>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6314186"/>
            <a:ext cx="4023360" cy="822960"/>
          </a:xfrm>
          <a:prstGeom prst="roundRect">
            <a:avLst>
              <a:gd name="adj" fmla="val 27777"/>
            </a:avLst>
          </a:prstGeom>
          <a:solidFill>
            <a:srgbClr val="0E3B5E"/>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9" name="Connector 28"/>
          <p:cNvCxnSpPr/>
          <p:nvPr/>
        </p:nvCxnSpPr>
        <p:spPr>
          <a:xfrm>
            <a:off x="5143500" y="6725666"/>
            <a:ext cx="1897380" cy="0"/>
          </a:xfrm>
          <a:prstGeom prst="line">
            <a:avLst/>
          </a:prstGeom>
          <a:ln w="38100">
            <a:solidFill>
              <a:srgbClr val="0E3B5E"/>
            </a:solidFill>
            <a:tailEnd type="triangle" w="med" len="med"/>
          </a:ln>
        </p:spPr>
      </p:cxnSp>
      <p:sp>
        <p:nvSpPr>
          <p:cNvPr id="30" name="Rounded Rectangle 29"/>
          <p:cNvSpPr/>
          <p:nvPr/>
        </p:nvSpPr>
        <p:spPr>
          <a:xfrm>
            <a:off x="7132320" y="6314186"/>
            <a:ext cx="4023360" cy="822960"/>
          </a:xfrm>
          <a:prstGeom prst="roundRect">
            <a:avLst>
              <a:gd name="adj" fmla="val 27777"/>
            </a:avLst>
          </a:prstGeom>
          <a:solidFill>
            <a:srgbClr val="1F5C99"/>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1" name="Connector 30"/>
          <p:cNvCxnSpPr/>
          <p:nvPr/>
        </p:nvCxnSpPr>
        <p:spPr>
          <a:xfrm>
            <a:off x="11247120" y="6725666"/>
            <a:ext cx="1897380" cy="0"/>
          </a:xfrm>
          <a:prstGeom prst="line">
            <a:avLst/>
          </a:prstGeom>
          <a:ln w="38100">
            <a:solidFill>
              <a:srgbClr val="0E3B5E"/>
            </a:solidFill>
            <a:tailEnd type="triangle" w="med" len="med"/>
          </a:ln>
        </p:spPr>
      </p:cxnSp>
      <p:sp>
        <p:nvSpPr>
          <p:cNvPr id="32" name="Rounded Rectangle 31"/>
          <p:cNvSpPr/>
          <p:nvPr/>
        </p:nvSpPr>
        <p:spPr>
          <a:xfrm>
            <a:off x="13235940" y="6314186"/>
            <a:ext cx="4023360" cy="822960"/>
          </a:xfrm>
          <a:prstGeom prst="roundRect">
            <a:avLst>
              <a:gd name="adj" fmla="val 27777"/>
            </a:avLst>
          </a:prstGeom>
          <a:solidFill>
            <a:srgbClr val="DF8330"/>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3" name="Rounded Rectangle 32"/>
          <p:cNvSpPr/>
          <p:nvPr/>
        </p:nvSpPr>
        <p:spPr>
          <a:xfrm>
            <a:off x="1028700" y="7640066"/>
            <a:ext cx="16230600" cy="1577086"/>
          </a:xfrm>
          <a:prstGeom prst="roundRect">
            <a:avLst>
              <a:gd name="adj" fmla="val 12755"/>
            </a:avLst>
          </a:prstGeom>
          <a:solidFill>
            <a:srgbClr val="F6ECDF"/>
          </a:solidFill>
          <a:ln w="25400">
            <a:solidFill>
              <a:srgbClr val="DF8330"/>
            </a:solidFill>
          </a:ln>
        </p:spPr>
        <p:txBody>
          <a:bodyPr anchor="ctr" rtlCol="false" lIns="0" tIns="0" rIns="0" bIns="0" wrap="square"/>
          <a:lstStyle/>
          <a:p>
            <a:endParaRPr lang="en-US" sz="1800"/>
          </a:p>
        </p:txBody>
      </p:sp>
      <p:sp>
        <p:nvSpPr>
          <p:cNvPr id="34" name="Rounded Rectangle 33"/>
          <p:cNvSpPr/>
          <p:nvPr/>
        </p:nvSpPr>
        <p:spPr>
          <a:xfrm>
            <a:off x="1348740" y="7448042"/>
            <a:ext cx="2510554"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5" name="TextBox 34"/>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1" name="Picture 20" descr="image.png"/>
          <p:cNvPicPr>
            <a:picLocks noChangeAspect="1"/>
          </p:cNvPicPr>
          <p:nvPr/>
        </p:nvPicPr>
        <p:blipFill>
          <a:blip r:embed="rId3"/>
          <a:stretch>
            <a:fillRect/>
          </a:stretch>
        </p:blipFill>
        <p:spPr>
          <a:xfrm>
            <a:off x="10279040" y="1673352"/>
            <a:ext cx="457200" cy="415247"/>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Conclusion</a:t>
            </a:r>
          </a:p>
        </p:txBody>
      </p:sp>
      <p:graphicFrame>
        <p:nvGraphicFramePr>
          <p:cNvPr id="27" name="Table 26"/>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0E3B5E"/>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0E3B5E"/>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5C99"/>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0E3B5E"/>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0E3B5E"/>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bl>
          </a:graphicData>
        </a:graphic>
      </p:graphicFrame>
      <p:sp>
        <p:nvSpPr>
          <p:cNvPr id="28" name="Rounded Rectangle 27"/>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485900" y="7103618"/>
            <a:ext cx="3560649"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0" name="TextBox 29"/>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DF8330"/>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DF8330"/>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1" name="Rounded Rectangle 30"/>
          <p:cNvSpPr/>
          <p:nvPr/>
        </p:nvSpPr>
        <p:spPr>
          <a:xfrm>
            <a:off x="9326880" y="7341362"/>
            <a:ext cx="7932420" cy="1921510"/>
          </a:xfrm>
          <a:prstGeom prst="roundRect">
            <a:avLst>
              <a:gd name="adj" fmla="val 16179"/>
            </a:avLst>
          </a:prstGeom>
          <a:solidFill>
            <a:srgbClr val="0E3B5E"/>
          </a:solidFill>
          <a:ln>
            <a:noFill/>
          </a:ln>
        </p:spPr>
        <p:txBody>
          <a:bodyPr anchor="ctr" rtlCol="false" lIns="0" tIns="0" rIns="0" bIns="0" wrap="square"/>
          <a:lstStyle/>
          <a:p>
            <a:endParaRPr lang="en-US" sz="1800"/>
          </a:p>
        </p:txBody>
      </p:sp>
      <p:sp>
        <p:nvSpPr>
          <p:cNvPr id="32" name="Rounded Rectangle 31"/>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Related work with the team</a:t>
            </a:r>
          </a:p>
        </p:txBody>
      </p:sp>
      <p:sp>
        <p:nvSpPr>
          <p:cNvPr id="33" name="TextBox 32"/>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1" name="Picture 20" descr="image.png"/>
          <p:cNvPicPr>
            <a:picLocks noChangeAspect="1"/>
          </p:cNvPicPr>
          <p:nvPr/>
        </p:nvPicPr>
        <p:blipFill>
          <a:blip r:embed="rId3"/>
          <a:stretch>
            <a:fillRect/>
          </a:stretch>
        </p:blipFill>
        <p:spPr>
          <a:xfrm>
            <a:off x="8586542" y="1673352"/>
            <a:ext cx="457200" cy="250983"/>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Conclusion</a:t>
            </a:r>
          </a:p>
        </p:txBody>
      </p:sp>
      <p:sp>
        <p:nvSpPr>
          <p:cNvPr id="27" name="Rounded Rectangle 26"/>
          <p:cNvSpPr/>
          <p:nvPr/>
        </p:nvSpPr>
        <p:spPr>
          <a:xfrm>
            <a:off x="1028700" y="3455162"/>
            <a:ext cx="7978140" cy="2789555"/>
          </a:xfrm>
          <a:prstGeom prst="roundRect">
            <a:avLst>
              <a:gd name="adj" fmla="val 9833"/>
            </a:avLst>
          </a:prstGeom>
          <a:solidFill>
            <a:srgbClr val="0E3B5E"/>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8" name="Rounded Rectangle 27"/>
          <p:cNvSpPr/>
          <p:nvPr/>
        </p:nvSpPr>
        <p:spPr>
          <a:xfrm>
            <a:off x="9281160" y="3455162"/>
            <a:ext cx="7978140" cy="2789555"/>
          </a:xfrm>
          <a:prstGeom prst="roundRect">
            <a:avLst>
              <a:gd name="adj" fmla="val 9833"/>
            </a:avLst>
          </a:prstGeom>
          <a:solidFill>
            <a:srgbClr val="1F5C99"/>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9" name="Rounded Rectangle 28"/>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0" name="Rounded Rectangle 29"/>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1" name="Picture 20" descr="image.png"/>
          <p:cNvPicPr>
            <a:picLocks noChangeAspect="1"/>
          </p:cNvPicPr>
          <p:nvPr/>
        </p:nvPicPr>
        <p:blipFill>
          <a:blip r:embed="rId3"/>
          <a:stretch>
            <a:fillRect/>
          </a:stretch>
        </p:blipFill>
        <p:spPr>
          <a:xfrm>
            <a:off x="13921521" y="1673352"/>
            <a:ext cx="457200" cy="415247"/>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Conclusion</a:t>
            </a:r>
          </a:p>
        </p:txBody>
      </p:sp>
      <p:sp>
        <p:nvSpPr>
          <p:cNvPr id="27" name="Rounded Rectangle 26"/>
          <p:cNvSpPr/>
          <p:nvPr/>
        </p:nvSpPr>
        <p:spPr>
          <a:xfrm>
            <a:off x="1028700" y="3455162"/>
            <a:ext cx="7978140" cy="2789555"/>
          </a:xfrm>
          <a:prstGeom prst="roundRect">
            <a:avLst>
              <a:gd name="adj" fmla="val 9833"/>
            </a:avLst>
          </a:prstGeom>
          <a:solidFill>
            <a:srgbClr val="0E3B5E"/>
          </a:solidFill>
          <a:ln>
            <a:noFill/>
          </a:ln>
        </p:spPr>
        <p:txBody>
          <a:bodyPr anchor="ctr" rtlCol="false" lIns="0" tIns="0" rIns="0" bIns="0" wrap="square"/>
          <a:lstStyle/>
          <a:p>
            <a:endParaRPr lang="en-US" sz="1800"/>
          </a:p>
        </p:txBody>
      </p:sp>
      <p:sp>
        <p:nvSpPr>
          <p:cNvPr id="28" name="Oval 27"/>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9" name="TextBox 28"/>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0" name="Rounded Rectangle 29"/>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1" name="Oval 30"/>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2" name="TextBox 31"/>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3" name="Rounded Rectangle 32"/>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5" name="TextBox 34"/>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6" name="Rounded Rectangle 35"/>
          <p:cNvSpPr/>
          <p:nvPr/>
        </p:nvSpPr>
        <p:spPr>
          <a:xfrm>
            <a:off x="9281160" y="6519037"/>
            <a:ext cx="7978140" cy="2789555"/>
          </a:xfrm>
          <a:prstGeom prst="roundRect">
            <a:avLst>
              <a:gd name="adj" fmla="val 9833"/>
            </a:avLst>
          </a:prstGeom>
          <a:solidFill>
            <a:srgbClr val="0E3B5E"/>
          </a:solidFill>
          <a:ln>
            <a:noFill/>
          </a:ln>
        </p:spPr>
        <p:txBody>
          <a:bodyPr anchor="ctr" rtlCol="false" lIns="0" tIns="0" rIns="0" bIns="0" wrap="square"/>
          <a:lstStyle/>
          <a:p>
            <a:endParaRPr lang="en-US" sz="1800"/>
          </a:p>
        </p:txBody>
      </p:sp>
      <p:sp>
        <p:nvSpPr>
          <p:cNvPr id="37" name="Oval 36"/>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8" name="TextBox 37"/>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1" name="Picture 20" descr="image.png"/>
          <p:cNvPicPr>
            <a:picLocks noChangeAspect="1"/>
          </p:cNvPicPr>
          <p:nvPr/>
        </p:nvPicPr>
        <p:blipFill>
          <a:blip r:embed="rId3"/>
          <a:stretch>
            <a:fillRect/>
          </a:stretch>
        </p:blipFill>
        <p:spPr>
          <a:xfrm>
            <a:off x="4224502" y="1673352"/>
            <a:ext cx="457200" cy="452148"/>
          </a:xfrm>
          <a:prstGeom prst="rect">
            <a:avLst/>
          </a:prstGeom>
        </p:spPr>
      </p:pic>
      <p:sp>
        <p:nvSpPr>
          <p:cNvPr id="22" name="Rounded Rectangle 21"/>
          <p:cNvSpPr/>
          <p:nvPr/>
        </p:nvSpPr>
        <p:spPr>
          <a:xfrm>
            <a:off x="1028700" y="2559050"/>
            <a:ext cx="1604433"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Synthesis</a:t>
            </a:r>
          </a:p>
        </p:txBody>
      </p:sp>
      <p:sp>
        <p:nvSpPr>
          <p:cNvPr id="23" name="Rounded Rectangle 22"/>
          <p:cNvSpPr/>
          <p:nvPr/>
        </p:nvSpPr>
        <p:spPr>
          <a:xfrm>
            <a:off x="2761149" y="2559050"/>
            <a:ext cx="189357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Publications</a:t>
            </a:r>
          </a:p>
        </p:txBody>
      </p:sp>
      <p:sp>
        <p:nvSpPr>
          <p:cNvPr id="24" name="Rounded Rectangle 23"/>
          <p:cNvSpPr/>
          <p:nvPr/>
        </p:nvSpPr>
        <p:spPr>
          <a:xfrm>
            <a:off x="4782741" y="2559050"/>
            <a:ext cx="1765486"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Limitations</a:t>
            </a:r>
          </a:p>
        </p:txBody>
      </p:sp>
      <p:sp>
        <p:nvSpPr>
          <p:cNvPr id="25" name="Rounded Rectangle 24"/>
          <p:cNvSpPr/>
          <p:nvPr/>
        </p:nvSpPr>
        <p:spPr>
          <a:xfrm>
            <a:off x="6676243" y="2559050"/>
            <a:ext cx="1934074" cy="420624"/>
          </a:xfrm>
          <a:prstGeom prst="roundRect">
            <a:avLst>
              <a:gd name="adj" fmla="val 50000"/>
            </a:avLst>
          </a:prstGeom>
          <a:noFill/>
          <a:ln w="28575">
            <a:solidFill>
              <a:srgbClr val="0E3B5E"/>
            </a:solidFill>
          </a:ln>
        </p:spPr>
        <p:txBody>
          <a:bodyPr anchor="ctr" rtlCol="false" lIns="45720" tIns="0" rIns="45720" bIns="0" wrap="square"/>
          <a:lstStyle/>
          <a:p>
            <a:pPr algn="ctr">
              <a:lnSpc>
                <a:spcPts val="2160"/>
              </a:lnSpc>
              <a:spcBef>
                <a:spcPts val="0"/>
              </a:spcBef>
              <a:buNone/>
            </a:pPr>
            <a:r>
              <a:rPr lang="en-US" sz="1800" b="true">
                <a:solidFill>
                  <a:srgbClr val="0E3B5E"/>
                </a:solidFill>
                <a:latin typeface="Nunito Bold"/>
                <a:ea typeface="Nunito Bold"/>
                <a:cs typeface="Nunito Bold"/>
                <a:sym typeface="Nunito Bold"/>
              </a:rPr>
              <a:t>Perspectives</a:t>
            </a:r>
          </a:p>
        </p:txBody>
      </p:sp>
      <p:sp>
        <p:nvSpPr>
          <p:cNvPr id="26" name="Rounded Rectangle 25"/>
          <p:cNvSpPr/>
          <p:nvPr/>
        </p:nvSpPr>
        <p:spPr>
          <a:xfrm>
            <a:off x="8738333" y="2559050"/>
            <a:ext cx="1753007" cy="420624"/>
          </a:xfrm>
          <a:prstGeom prst="roundRect">
            <a:avLst>
              <a:gd name="adj" fmla="val 50000"/>
            </a:avLst>
          </a:prstGeom>
          <a:solidFill>
            <a:srgbClr val="0E3B5E"/>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7" name="Rounded Rectangle 26"/>
          <p:cNvSpPr/>
          <p:nvPr/>
        </p:nvSpPr>
        <p:spPr>
          <a:xfrm>
            <a:off x="1028700" y="3546602"/>
            <a:ext cx="16230600" cy="1554480"/>
          </a:xfrm>
          <a:prstGeom prst="roundRect">
            <a:avLst>
              <a:gd name="adj" fmla="val 12941"/>
            </a:avLst>
          </a:prstGeom>
          <a:solidFill>
            <a:srgbClr val="F6ECDF"/>
          </a:solidFill>
          <a:ln w="25400">
            <a:solidFill>
              <a:srgbClr val="0E3B5E"/>
            </a:solidFill>
          </a:ln>
        </p:spPr>
        <p:txBody>
          <a:bodyPr anchor="ctr" rtlCol="false" lIns="0" tIns="0" rIns="0" bIns="0" wrap="square"/>
          <a:lstStyle/>
          <a:p>
            <a:endParaRPr lang="en-US" sz="1800"/>
          </a:p>
        </p:txBody>
      </p:sp>
      <p:sp>
        <p:nvSpPr>
          <p:cNvPr id="28" name="Rounded Rectangle 27"/>
          <p:cNvSpPr/>
          <p:nvPr/>
        </p:nvSpPr>
        <p:spPr>
          <a:xfrm>
            <a:off x="1348740" y="3354578"/>
            <a:ext cx="2073230" cy="384048"/>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9" name="TextBox 28"/>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0" name="TextBox 29"/>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KEY OUTCOMES</a:t>
            </a:r>
          </a:p>
        </p:txBody>
      </p:sp>
      <p:sp>
        <p:nvSpPr>
          <p:cNvPr id="31" name="Rounded Rectangle 30"/>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4874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3" name="TextBox 32"/>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0E3B5E"/>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4" name="Rounded Rectangle 33"/>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547497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6" name="TextBox 35"/>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0E3B5E"/>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7" name="Rounded Rectangle 36"/>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8" name="Oval 37"/>
          <p:cNvSpPr/>
          <p:nvPr/>
        </p:nvSpPr>
        <p:spPr>
          <a:xfrm>
            <a:off x="960120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9" name="TextBox 38"/>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0E3B5E"/>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0" name="Rounded Rectangle 39"/>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1" name="Oval 40"/>
          <p:cNvSpPr/>
          <p:nvPr/>
        </p:nvSpPr>
        <p:spPr>
          <a:xfrm>
            <a:off x="1372743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2" name="TextBox 41"/>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0E3B5E"/>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1" name="Picture 20" descr="image.png"/>
          <p:cNvPicPr>
            <a:picLocks noChangeAspect="1"/>
          </p:cNvPicPr>
          <p:nvPr/>
        </p:nvPicPr>
        <p:blipFill>
          <a:blip r:embed="rId3"/>
          <a:stretch>
            <a:fillRect/>
          </a:stretch>
        </p:blipFill>
        <p:spPr>
          <a:xfrm>
            <a:off x="5569149" y="1673352"/>
            <a:ext cx="457200" cy="617115"/>
          </a:xfrm>
          <a:prstGeom prst="rect">
            <a:avLst/>
          </a:prstGeom>
        </p:spPr>
      </p:pic>
      <p:sp>
        <p:nvSpPr>
          <p:cNvPr id="22" name="Rounded Rectangle 21"/>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3" name="Rounded Rectangle 22"/>
          <p:cNvSpPr/>
          <p:nvPr/>
        </p:nvSpPr>
        <p:spPr>
          <a:xfrm>
            <a:off x="1138428" y="2769362"/>
            <a:ext cx="640080" cy="323396"/>
          </a:xfrm>
          <a:prstGeom prst="roundRect">
            <a:avLst>
              <a:gd name="adj" fmla="val 22619"/>
            </a:avLst>
          </a:prstGeom>
          <a:solidFill>
            <a:srgbClr val="0E3B5E"/>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4" name="TextBox 23"/>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5" name="Rounded Rectangle 24"/>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6" name="Rounded Rectangle 25"/>
          <p:cNvSpPr/>
          <p:nvPr/>
        </p:nvSpPr>
        <p:spPr>
          <a:xfrm>
            <a:off x="1138428" y="3257350"/>
            <a:ext cx="640080" cy="323396"/>
          </a:xfrm>
          <a:prstGeom prst="roundRect">
            <a:avLst>
              <a:gd name="adj" fmla="val 22619"/>
            </a:avLst>
          </a:prstGeom>
          <a:solidFill>
            <a:srgbClr val="0E3B5E"/>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7" name="TextBox 26"/>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8" name="Rounded Rectangle 27"/>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138428" y="3745338"/>
            <a:ext cx="640080" cy="323396"/>
          </a:xfrm>
          <a:prstGeom prst="roundRect">
            <a:avLst>
              <a:gd name="adj" fmla="val 22619"/>
            </a:avLst>
          </a:prstGeom>
          <a:solidFill>
            <a:srgbClr val="0E3B5E"/>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0" name="TextBox 29"/>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1" name="Rounded Rectangle 30"/>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2" name="Rounded Rectangle 31"/>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3" name="TextBox 32"/>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4" name="Rounded Rectangle 33"/>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6" name="TextBox 35"/>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7" name="Rounded Rectangle 36"/>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9" name="TextBox 38"/>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0" name="Rounded Rectangle 39"/>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2" name="TextBox 41"/>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3" name="Rounded Rectangle 42"/>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4" name="Rounded Rectangle 43"/>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5" name="TextBox 44"/>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6" name="Rounded Rectangle 45"/>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7" name="Rounded Rectangle 46"/>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8" name="TextBox 47"/>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9" name="Rounded Rectangle 48"/>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0" name="Rounded Rectangle 49"/>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1" name="TextBox 50"/>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2" name="Rounded Rectangle 51"/>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4" name="TextBox 53"/>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5" name="Rounded Rectangle 54"/>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6" name="Rounded Rectangle 55"/>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7" name="TextBox 56"/>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8" name="Rounded Rectangle 57"/>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9" name="Rounded Rectangle 58"/>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0" name="TextBox 59"/>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1" name="Rounded Rectangle 60"/>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2" name="Rounded Rectangle 61"/>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3" name="TextBox 62"/>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0E3B5E"/>
          </a:solidFill>
          <a:ln w="15875">
            <a:solidFill>
              <a:srgbClr val="0E3B5E"/>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1" name="Picture 20" descr="image.png"/>
          <p:cNvPicPr>
            <a:picLocks noChangeAspect="1"/>
          </p:cNvPicPr>
          <p:nvPr/>
        </p:nvPicPr>
        <p:blipFill>
          <a:blip r:embed="rId3"/>
          <a:stretch>
            <a:fillRect/>
          </a:stretch>
        </p:blipFill>
        <p:spPr>
          <a:xfrm>
            <a:off x="5713563" y="1673352"/>
            <a:ext cx="457200" cy="250983"/>
          </a:xfrm>
          <a:prstGeom prst="rect">
            <a:avLst/>
          </a:prstGeom>
        </p:spPr>
      </p:pic>
      <p:sp>
        <p:nvSpPr>
          <p:cNvPr id="22" name="Rounded Rectangle 21"/>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3" name="Rounded Rectangle 22"/>
          <p:cNvSpPr/>
          <p:nvPr/>
        </p:nvSpPr>
        <p:spPr>
          <a:xfrm>
            <a:off x="1138428" y="276936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4" name="TextBox 23"/>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5" name="Rounded Rectangle 24"/>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6" name="Rounded Rectangle 25"/>
          <p:cNvSpPr/>
          <p:nvPr/>
        </p:nvSpPr>
        <p:spPr>
          <a:xfrm>
            <a:off x="1138428" y="3257350"/>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7" name="TextBox 26"/>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8" name="Rounded Rectangle 27"/>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138428" y="3745338"/>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0" name="TextBox 29"/>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1" name="Rounded Rectangle 30"/>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2" name="Rounded Rectangle 31"/>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3" name="TextBox 32"/>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4" name="Rounded Rectangle 33"/>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6" name="TextBox 35"/>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7" name="Rounded Rectangle 36"/>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9" name="TextBox 38"/>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0" name="Rounded Rectangle 39"/>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2" name="TextBox 41"/>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3" name="Rounded Rectangle 42"/>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4" name="Rounded Rectangle 43"/>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5" name="TextBox 44"/>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6" name="Rounded Rectangle 45"/>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7" name="Rounded Rectangle 46"/>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8" name="TextBox 47"/>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9" name="Rounded Rectangle 48"/>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0" name="Rounded Rectangle 49"/>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1" name="TextBox 50"/>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2" name="Rounded Rectangle 51"/>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4" name="TextBox 53"/>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5" name="Rounded Rectangle 54"/>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6" name="Rounded Rectangle 55"/>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7" name="TextBox 56"/>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8" name="Rounded Rectangle 57"/>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9" name="Rounded Rectangle 58"/>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0" name="TextBox 59"/>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1" name="Rounded Rectangle 60"/>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2" name="Rounded Rectangle 61"/>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3" name="TextBox 62"/>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0E3B5E"/>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0E3B5E"/>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0E3B5E"/>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0E3B5E"/>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7" name="Picture 6" descr="image.png"/>
          <p:cNvPicPr>
            <a:picLocks noChangeAspect="1"/>
          </p:cNvPicPr>
          <p:nvPr/>
        </p:nvPicPr>
        <p:blipFill>
          <a:blip r:embed="rId3"/>
          <a:stretch>
            <a:fillRect/>
          </a:stretch>
        </p:blipFill>
        <p:spPr>
          <a:xfrm>
            <a:off x="14357876" y="1673352"/>
            <a:ext cx="457200" cy="539881"/>
          </a:xfrm>
          <a:prstGeom prst="rect">
            <a:avLst/>
          </a:prstGeom>
        </p:spPr>
      </p:pic>
      <p:sp>
        <p:nvSpPr>
          <p:cNvPr id="8" name="TextBox 7"/>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MOVIELENS-1M</a:t>
            </a:r>
          </a:p>
        </p:txBody>
      </p:sp>
      <p:graphicFrame>
        <p:nvGraphicFramePr>
          <p:cNvPr id="9" name="Table 8"/>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bl>
          </a:graphicData>
        </a:graphic>
      </p:graphicFrame>
      <p:sp>
        <p:nvSpPr>
          <p:cNvPr id="10" name="TextBox 9"/>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11" name="Table 10"/>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bl>
          </a:graphicData>
        </a:graphic>
      </p:graphicFrame>
      <p:sp>
        <p:nvSpPr>
          <p:cNvPr id="12" name="Rounded Rectangle 11"/>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7" name="Picture 6"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8" name="Table 7"/>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9" name="Rounded Rectangle 8"/>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0" name="Rounded Rectangle 9"/>
          <p:cNvSpPr/>
          <p:nvPr/>
        </p:nvSpPr>
        <p:spPr>
          <a:xfrm>
            <a:off x="1485900" y="7313930"/>
            <a:ext cx="2585068" cy="438912"/>
          </a:xfrm>
          <a:prstGeom prst="roundRect">
            <a:avLst>
              <a:gd name="adj" fmla="val 50000"/>
            </a:avLst>
          </a:prstGeom>
          <a:solidFill>
            <a:srgbClr val="0E3B5E"/>
          </a:solidFill>
          <a:ln w="28575">
            <a:solidFill>
              <a:srgbClr val="0E3B5E"/>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1" name="TextBox 10"/>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2" name="Rounded Rectangle 11"/>
          <p:cNvSpPr/>
          <p:nvPr/>
        </p:nvSpPr>
        <p:spPr>
          <a:xfrm>
            <a:off x="9326880" y="7551674"/>
            <a:ext cx="7932420" cy="1665478"/>
          </a:xfrm>
          <a:prstGeom prst="roundRect">
            <a:avLst>
              <a:gd name="adj" fmla="val 18667"/>
            </a:avLst>
          </a:prstGeom>
          <a:solidFill>
            <a:srgbClr val="0E3B5E"/>
          </a:solidFill>
          <a:ln>
            <a:noFill/>
          </a:ln>
        </p:spPr>
        <p:txBody>
          <a:bodyPr anchor="ctr" rtlCol="false" lIns="0" tIns="0" rIns="0" bIns="0" wrap="square"/>
          <a:lstStyle/>
          <a:p>
            <a:endParaRPr lang="en-US" sz="1800"/>
          </a:p>
        </p:txBody>
      </p:sp>
      <p:sp>
        <p:nvSpPr>
          <p:cNvPr id="13" name="Rounded Rectangle 12"/>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0E3B5E"/>
                </a:solidFill>
                <a:latin typeface="Nunito Bold"/>
                <a:ea typeface="Nunito Bold"/>
                <a:cs typeface="Nunito Bold"/>
                <a:sym typeface="Nunito Bold"/>
              </a:rPr>
              <a:t>Effect size</a:t>
            </a:r>
          </a:p>
        </p:txBody>
      </p:sp>
      <p:sp>
        <p:nvSpPr>
          <p:cNvPr id="14" name="TextBox 13"/>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7" name="Picture 6" descr="image.png"/>
          <p:cNvPicPr>
            <a:picLocks noChangeAspect="1"/>
          </p:cNvPicPr>
          <p:nvPr/>
        </p:nvPicPr>
        <p:blipFill>
          <a:blip r:embed="rId3"/>
          <a:stretch>
            <a:fillRect/>
          </a:stretch>
        </p:blipFill>
        <p:spPr>
          <a:xfrm>
            <a:off x="13929945" y="1673352"/>
            <a:ext cx="457200" cy="427074"/>
          </a:xfrm>
          <a:prstGeom prst="rect">
            <a:avLst/>
          </a:prstGeom>
        </p:spPr>
      </p:pic>
      <p:sp>
        <p:nvSpPr>
          <p:cNvPr id="8" name="TextBox 7"/>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7.3  ·  RUNTIME AND MEMORY</a:t>
            </a:r>
          </a:p>
        </p:txBody>
      </p:sp>
      <p:graphicFrame>
        <p:nvGraphicFramePr>
          <p:cNvPr id="9" name="Table 8"/>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bl>
          </a:graphicData>
        </a:graphic>
      </p:graphicFrame>
      <p:sp>
        <p:nvSpPr>
          <p:cNvPr id="10" name="TextBox 9"/>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7.4  ·  MONTE CARLO SHAPLEY</a:t>
            </a:r>
          </a:p>
        </p:txBody>
      </p:sp>
      <p:graphicFrame>
        <p:nvGraphicFramePr>
          <p:cNvPr id="11" name="Table 10"/>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0E3B5E"/>
                      </a:solidFill>
                      <a:prstDash val="solid"/>
                    </a:lnL>
                    <a:lnR w="12700" cap="flat" cmpd="sng" algn="ctr">
                      <a:solidFill>
                        <a:srgbClr val="0E3B5E"/>
                      </a:solidFill>
                      <a:prstDash val="solid"/>
                    </a:lnR>
                    <a:lnT w="12700" cap="flat" cmpd="sng" algn="ctr">
                      <a:solidFill>
                        <a:srgbClr val="0E3B5E"/>
                      </a:solidFill>
                      <a:prstDash val="solid"/>
                    </a:lnT>
                    <a:lnB w="12700" cap="flat" cmpd="sng" algn="ctr">
                      <a:solidFill>
                        <a:srgbClr val="0E3B5E"/>
                      </a:solidFill>
                      <a:prstDash val="solid"/>
                    </a:lnB>
                    <a:solidFill>
                      <a:srgbClr val="0E3B5E"/>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4EBF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2" name="Rounded Rectangle 11"/>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