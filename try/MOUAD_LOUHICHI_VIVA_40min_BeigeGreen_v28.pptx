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comes down to three questions.</a:t>
            </a:r>
          </a:p>
          <a:p/>
          <a:p>
            <a:r>
              <a:t>First, how do black-box systems shape what billions of users see, buy and watch? Recommenders already influence news, study, health and credit decisions.</a:t>
            </a:r>
          </a:p>
          <a:p/>
          <a:p>
            <a:r>
              <a:t>Second, why do state-of-the-art recommenders and clustering pipelines stay black boxes for users and designers? Deep and graph models hide their logic and are hard to audit.</a:t>
            </a:r>
          </a:p>
          <a:p/>
          <a:p>
            <a:r>
              <a:t>Third, how can transparency be built into the model instead of added afterwards? That is the tension on this slide: as models gain power, they lose the transparency we need. This thesis treats accuracy and interpretability as two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a:p/>
          <a:p>
            <a:r>
              <a:t>So what does this thesis argue? That attribution belongs inside the model, not added on afterwards. That one method should stay consistent at every level of detail, from the global picture down to a single cluster. And that the explanation has to speak the language of the domain, otherwise nobody can act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thesis is three contributions that build on each other.</a:t>
            </a:r>
          </a:p>
          <a:p/>
          <a:p>
            <a:r>
              <a:t>C1 explains a black-box partition: the features are the players, the Silhouette of the clustering is the value function, and a LightGBM surrogate with TreeSHAP brings the attribution back to the original variables.</a:t>
            </a:r>
          </a:p>
          <a:p/>
          <a:p>
            <a:r>
              <a:t>C2 keeps that explanation consistent across levels and at scale, through the cross-level aggregation of Proposition 6.1.</a:t>
            </a:r>
          </a:p>
          <a:p/>
          <a:p>
            <a:r>
              <a:t>C3, DyHuCoG, moves attribution inside the model: preference-aware Monte Carlo Shapley becomes an in-training signal on a hypergraph.</a:t>
            </a:r>
          </a:p>
          <a:p/>
          <a:p>
            <a:r>
              <a:t>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[24] Arrieta 2020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in systems used at global scale.</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transparency duties.</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8" name="Rounded Rectangle 37"/>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2017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2009   [12] He 2020   [16] Feng 2019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0" name="TextBox 39"/>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41" name="Rounded Rectangle 40"/>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Users get outputs without reasons:</a:t>
            </a:r>
            <a:r>
              <a:rPr lang="en-US" sz="1843" b="true">
                <a:solidFill>
                  <a:srgbClr val="FFFFFF"/>
                </a:solidFill>
                <a:latin typeface="Nunito Semi-Bold"/>
                <a:ea typeface="Nunito Semi-Bold"/>
                <a:cs typeface="Nunito Semi-Bold"/>
                <a:sym typeface="Nunito Semi-Bold"/>
              </a:rPr>
              <a:t> trust drops.</a:t>
            </a:r>
          </a:p>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Designers cannot debug</a:t>
            </a:r>
            <a:r>
              <a:rPr lang="en-US" sz="1843" b="true">
                <a:solidFill>
                  <a:srgbClr val="FFFFFF"/>
                </a:solidFill>
                <a:latin typeface="Nunito Semi-Bold"/>
                <a:ea typeface="Nunito Semi-Bold"/>
                <a:cs typeface="Nunito Semi-Bold"/>
                <a:sym typeface="Nunito Semi-Bold"/>
              </a:rPr>
              <a:t> what they cannot inspect.</a:t>
            </a:r>
          </a:p>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Regulation now asks for transparency:</a:t>
            </a:r>
            <a:r>
              <a:rPr lang="en-US" sz="1843" b="true">
                <a:solidFill>
                  <a:srgbClr val="FFFFFF"/>
                </a:solidFill>
                <a:latin typeface="Nunito Semi-Bold"/>
                <a:ea typeface="Nunito Semi-Bold"/>
                <a:cs typeface="Nunito Semi-Bold"/>
                <a:sym typeface="Nunito Semi-Bold"/>
              </a:rPr>
              <a:t> EU AI Act, GDPR.</a:t>
            </a:r>
          </a:p>
        </p:txBody>
      </p:sp>
      <p:sp>
        <p:nvSpPr>
          <p:cNvPr id="44" name="Rounded Rectangle 43"/>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6" name="TextBox 45"/>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Attribution belongs inside the model:</a:t>
            </a:r>
            <a:r>
              <a:rPr lang="en-US" sz="1786" b="true">
                <a:solidFill>
                  <a:srgbClr val="111111"/>
                </a:solidFill>
                <a:latin typeface="Nunito Semi-Bold"/>
                <a:ea typeface="Nunito Semi-Bold"/>
                <a:cs typeface="Nunito Semi-Bold"/>
                <a:sym typeface="Nunito Bold"/>
              </a:rPr>
              <a:t> not added on afterwards.</a:t>
            </a:r>
          </a:p>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Consistent across levels of detail:</a:t>
            </a:r>
            <a:r>
              <a:rPr lang="en-US" sz="1786" b="true">
                <a:solidFill>
                  <a:srgbClr val="111111"/>
                </a:solidFill>
                <a:latin typeface="Nunito Semi-Bold"/>
                <a:ea typeface="Nunito Semi-Bold"/>
                <a:cs typeface="Nunito Semi-Bold"/>
                <a:sym typeface="Nunito Bold"/>
              </a:rPr>
              <a:t> one method, global to local.</a:t>
            </a:r>
          </a:p>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Explanations must speak the domain's language:</a:t>
            </a:r>
            <a:r>
              <a:rPr lang="en-US" sz="1786" b="true">
                <a:solidFill>
                  <a:srgbClr val="111111"/>
                </a:solidFill>
                <a:latin typeface="Nunito Semi-Bold"/>
                <a:ea typeface="Nunito Semi-Bold"/>
                <a:cs typeface="Nunito Semi-Bold"/>
                <a:sym typeface="Nunito Bold"/>
              </a:rPr>
              <a:t> otherwise they cannot be acted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2009   [22]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[13] Xia 2022   [14] Xiangyi 2025   [16] Feng 2019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2021   [21] Zhang 2020</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[24] Arrieta 2020</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[14] Xiangyi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2016   [10] Koren 2009   [11] He 2017   [12] He 2020   [13] Xia 2022   [14] Xiangyi 2025   [15] Zhang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1987   [23] Zhu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805672"/>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2017   [6] Lundberg 2020   [7] Ribeiro 2016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1953   [5] Lundberg 2017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280146"/>
            <a:ext cx="8092440" cy="1074166"/>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2020   [7] Ribeiro 2016   [17] Rousseeuw 1987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808595"/>
            <a:ext cx="6557986" cy="814197"/>
          </a:xfrm>
          <a:prstGeom prst="rect">
            <a:avLst/>
          </a:prstGeom>
        </p:spPr>
      </p:pic>
      <p:sp>
        <p:nvSpPr>
          <p:cNvPr id="36" name="TextBox 35"/>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   [18] Gramegna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1987   [19]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3" name="TextBox 32"/>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731250"/>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   [18] Gramegna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[13] Xia 2022   [14] Xiangyi 2025   [21] Zhang 2020   [23] Zhu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   [27]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   [8] Castro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   [2] Louhichi 2025   [3]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2020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   [8] Castro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