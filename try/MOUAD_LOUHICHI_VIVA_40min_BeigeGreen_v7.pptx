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62" r:id="rId117"/>
    <p:sldId id="363" r:id="rId118"/>
    <p:sldId id="364" r:id="rId119"/>
    <p:sldId id="365" r:id="rId120"/>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President and Professors, for the time you are giving me to present and discuss my thesis. My name is Mouad Louhichi. My thesis is titled Cooperative Game Theory for Explainable AI in Recommendation Systems: A Shapley Framework for Actionable Insight, supervised by Professor Mohamed Lazaar. It defends one idea: that Shapley-value attribution is not only a post-hoc explanation, but one formal method that can explain black-box clustering, stay consistent across levels and at scale, and finally act as an in-training signal inside a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walk you through seven parts: introduction, context and problematic, the shared experimental protocol, then my three contributions, and finally the conclusion and perspectives. Each contribution follows the same structure: research gap, objectives, methodology, evaluation protocol, results, and findings. The seven small squares at the top right of every slide show where we are. At the start of Contribution I, I take three slides to explain the cooperative game and the Shapley value, since the whole thesis rests on them. Backup tables are placed after the end,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begin with the introduction. I will spend a few minutes on why explainability is not a nice-to-have but a core requirement for recommender systems, and I will define carefully what I mean by an actionable insight.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whole work. First, these systems are everywhere: black-box systems shape what billions of people see, buy and watch every day, not only on streaming platforms but in e-commerce, news feeds and search. Second, the black box: even strong recommenders and clustering pipelines are hard to question. We see their outputs without knowing why a given item was chosen. Third, trust: transparency should be built into the model, not added after the fact. The core tension of the thesis is that as models gain power, they lose the transparency needed for trustworthy use. Throughout this work I treat accuracy and interpretability as two goals to meet together, not to trade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the whole thesis around actionable insight. An explanation is actionable when it points to at least one factor that can be changed, when that change leads to a clear change in the model output, and when that factor is stated in the domain's own terms: a chemical variable for wine, a pollution indicator for air quality, a preference signal for recommendation. The key constraint is that it must not be a hidden latent code. This is what separates explanations that let a designer act from those that only describe what happened. By this definition, a good explanation is judged by whether it supports a real decision, not by whether it looks plausible.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is the move from simple to hypergraph recommenders. Matrix factorisation showed that latent factors could capture preferences, but those factors had no readable meaning. Graph and graph-neural-network models improved ranking by using connectivity, yet they replaced a hidden latent code with a hidden message-passing mechanism. Finally, hypergraph models added higher-order user-item-context relations, but they usually assume that every message counts the same. Each step added modelling power and removed transparency. This gap matters for trust, debugging and regulation: the EU AI Act, the OECD principles and the GDPR all ask for meaningful explanation. That is why a well-founded attribution method is needed, and why I will argue it should be part of the model itself rather than an add-on.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is not a niche technique; it is infrastructure for everyday decisions. Streaming platforms decide what you watch next, music services what you hear, e-commerce what you buy, and social feeds what you read. Each system is very accurate, yet its reasoning is hidden from the user. Everywhere, and hidden: that is exactly what makes explainability a core requirement, and what motivates the three contributions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more closely at the problem this thesis addresses. I will quickly go over the main approaches, then point out the main limitations and the five research questions, and finally map the three contributions to those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four families of recommender we build on, one slide each, because the limitations of each one motivate the thesis. The first is content-based filtering. The system builds a profile of what the user liked, in terms of item features such as genre, cast or brand, and recommends new items whose features match that profile. In the diagram, the taste profile and the item feature vectors meet in a similarity score, and the top results are shown. The good news is that content-based filtering is explainable by construction: the reason for a recommendation is a named feature, the film is science fiction, the director is the same. The limitation is that it needs good metadata and tends to recommend more of the same, which makes the results narrow. Keep in mind the explanation is at the level of domain factors; that is exactly the level we want to preserve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ignores item content and uses the behaviour of other users. The idea is that users who agreed in the past will agree in the future. In the diagram, user one and user two both interacted with items one and two, so user two's interest in item three is passed on to user one. It can be user-based, comparing users, or item-based, comparing items by who consumed them. Collaborative filtering is the base idea behind matrix factorisation and behind graph recommenders. Its weakness is well known: it struggles with new users and new items, because there is no history to compare, and it struggles when the interaction matrix is very sparse. Both of these show up later as cold-start and sparsity problems.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the two: hybrid approaches, and their most successful form, matrix factorisation. A hybrid recommender mixes content signals with collaborative signals, which reduces the cold-start problem and the over-specialisation of content-based methods. Matrix factorisation takes the interaction matrix R, users by items, and splits it into two low-rank matrices, P for users and Q for items, with k latent factors. It made recommendation accurate and scalable, and it is still the standard baseline. But it introduced a cost we will pay attention to: the latent factors are compact and effective, but hidden. Nobody can say what factor number seven means. So the field gained accuracy and lost the named, domain-level explanation that content-based filtering had.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is where the state of the art lives today: graph-based and hypergraph recommenders. Users and items become nodes, interactions become edges, and message passing, as in LightGCN, HCCF or HPCF, lets information travel over several hops. A hypergraph goes one step further: one hyperedge can join more than two nodes at once, for example a user, an item and the context in which they met. This captures higher-order relations and gives the best accuracy on sparse benchmarks such as MovieLens-1M and Amazon-Book. The limitation to remember is in the orange box: these models are expensive, and above all they treat all messages as equally important, or at best weight them by attention that has no formal meaning. That equal-messages assumption is one of the things Contribution III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limitations. Data sparsity and scalability are the most cited: the user-item matrix is almost empty, so there is very little signal to learn from. Cold-start follows from that, because a new user or item has no history to learn from. Popularity bias and the resulting lack of diversity create a filter-bubble loop, where exposure leads to interaction, which leads to more exposure. And the most basic limitation, the one this thesis targets, is the lack of interpretability. For clustering the situation is even harder: methods give a local explanation or a global one but not both, they struggle to scale, and their explanations rarely stay consistent across levels of detail. That combination, no faithful local and global explanation, poor scaling, and no consistency across levels, is exactly the gap I work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main problems. First, lack of explainability: complex models are still hard to explain in a faithful and actionable way. Second, difficulty of scaling: local explanations do not carry over to multi-level structures or large datasets, so a method that works on a toy partition may break on hundreds of thousands of nested records. Third, weak link with learning: most explanations are post-hoc; they do not shape how the model learns, and they take no part in the accuracy-diversity-context trade-off the model is trying to satisfy. The thesis gap follows directly: the literature still lacks one cooperative-attribution framework that explains clustering faithfully, stays consistent across levels, and then works as an in-training signal in recommendation. My claim is that Shapley-value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overall aim is to develop, justify and evaluate a cooperative-game view of explainable AI for clustering and recommendation, using Shapley attribution both as an explanation method and as an in-training signal. Five research questions form the backbone. RQ1 asks how Shapley values can explain black-box clustering faithfully at instance and cluster level. RQ2 asks how that extends to large-scale, multi-level clustering while staying feasible and consistent. RQ3 asks whether cooperative attribution can move beyond post-hoc analysis and become part of how graph recommenders learn. RQ4 asks whether a recommender can improve ranking accuracy, context and diversity at the same time when importance comes from a cooperative-game utility. RQ5 is the thesis-level question: what do we gain when clustering explanation and recommendation learning are read as two stages of one shared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sets up Shapley-based explanation for black-box clustering through a PCA, K-Means, LightGBM, TreeSHAP pipeline, and validates it on the wine quality dataset. C2 scales it to multi-level and large data, with cross-level SHAP aggregation, validated on the Beijing air-quality dataset. C3 is the strongest claim: DyHuCoG replaces post-hoc attribution with an in-training signal inside a hypergraph recommender, validated on MovieLens-1M and Amazon-Book. Each contribution answers its own research question, but they are designed to be read together as one argument that builds step by step. The thesis claim is that cooperative game theory works as one shared attribution view for explanation, optimisation and action, not that these are three unrelated papers.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thesis is a single claim: that Shapley-value attribution can work as one shared, explainable view across clustering and recommendation. The three contributions are not separate fixes but one argument that builds up: each applies the same cooperative-game logic at a different stage, from faithful clustering explanation to an in-training signal inside a recommender. That is what makes explanation part of the model itself, not a by-product attached after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contributions, let me briefly cover the shared experimental setup. The purpose of this section is to show that my comparisons are fair: the datasets, the splitting and preprocessing, the baselines, the evaluation metrics, and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clustering datasets and two recommendation datasets, summarised here; the next four slides present each one in the same format. For clustering I chose, on purpose, datasets with features that have a clear meaning, because the whole point of the method is to return attribution to the original variables. Wine Quality is a small, dense, chemically correlated dataset of almost five thousand samples with eleven features. Beijing Multi-Site Air Quality is a large, noisy dataset of over three hundred and eighty thousand hourly records, which varies with time and weather. For recommendation I used standard benchmark datasets with well-known baselines: MovieLens-1M, with roughly a million interactions and a density of 0.0447, and Amazon-Book, which is far sparser at 0.0006. The sparsity contrast is on purpose, because it stress-tests whether a Shapley-guided model helps most exactly when interaction data are weak. Beyond scale, each dataset was chosen so that attribution lands in terms a domain expert can act on.</a:t>
            </a:r>
          </a:p>
          <a:p/>
          <a:p>
            <a:r>
              <a:t>Beyond scale, each dataset was chosen so that attribution lands in terms a domain expert can act on. Wine and Beijing give features with a clear meaning (chemistry, pollution); the two recommendation datasets give a density contrast that shows whether cooperative attribution helps most when interaction data are scarce. That is why the same explanatory logic can be validated across tabular clustering and recommendation without changing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present each dataset briefly, in the same format: what it is, its specification, a few sample rows, and why it was chosen. The first is the Portuguese Vinho Verde white wine dataset from the UCI repository: four thousand eight hundred and ninety-eight samples, eleven physicochemical measurements such as fixed acidity, residual sugar, free and total sulfur dioxide, density, pH and alcohol, plus a sensory quality score that we do not use for clustering. The sample rows show real values from the public file. The point of choosing this dataset is that every column is a laboratory measurement with a physical meaning. When the explanation says density and pH, a wine maker knows what to do with that. It is small and dense, so it is the right place to first check that the method returns attribution in a vocabulary experts trust.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the Beijing Multi-Site Air Quality dataset, also from UCI. It contains three hundred and eighty-three thousand hourly records from monitoring stations in Beijing, from March 2013 to February 2017. We use eleven modelling variables: six pollutants, PM2.5, PM10, sulfur dioxide, nitrogen dioxide, carbon monoxide and ozone, and five weather variables: temperature, pressure, dew point, rain and wind speed. The sample rows are the first hours of the Aotizhongxin station file. This dataset is large, noisy, and varies with season and weather, which makes it the stress test for Contribution II: it needs a multi-level structure, coarse regimes and then sub-clusters, and it needs an explanation that stays consistent across those levels. The important design point is that pollutant and weather columns sit side by side, so the explanation can show that the weather is what sets the regime.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dataset is MovieLens-1M from GroupLens: about one million ratings from six thousand and forty users on three thousand seven hundred and six movies. It has been the standard benchmark for collaborative filtering for two decades, and every graph recommender we compare against, LightGCN, HCCF, HPCF, reports results on it. The sample rows show the raw format: a user, a movie, a rating from one to five and a timestamp, joined with the title and genres. In our protocol ratings above three become positive implicit feedback, and genre serves as the context proxy. With a density of about four and a half percent it is comparatively dense. Using this benchmark keeps our numbers directly comparable with prior 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dataset is Amazon-Book from the McAuley Lab at UC San Diego: fifty-two thousand users, ninety-one thousand books and about three million interactions. The density is roughly six in ten thousand, so the user-item matrix is almost empty. The sample rows are illustrative of the public format: a user identifier, an item identifier, a category, a rating and a review summary; we treat a review as an interaction and use the book category as context. This dataset was included for one reason: to test whether Shapley-guided weighting helps most when the signal is weakest. The density gap between MovieLens-1M and Amazon-Book, 0.0447 against 0.0006, is the core of the robustness argument in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is designed against leakage, because recommendation metrics are very sensitive to how you split. For clustering I use five-fold cross-validation to test the stability of the surrogate and the attribution. For recommendation I use a user-level, time-ordered holdout: interactions sorted by time per user, split seventy percent train, ten percent validation, twenty percent test. Evaluation uses leave-one-out, where the latest test positive per user is the target, ranked against sampled negatives. Because MovieLens-1M contains explicit ratings, I convert ratings greater than three into positive implicit feedback. Negatives are drawn from a popularity-aware distribution to produce harder negatives. Results are reported across five seeds, with early stopping on validation NDCG at twenty.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in one table. For clustering interpretability the comparison point is a LIME-based surrogate pipeline, the standard alternative to SHAP. For recommendation there are six baselines from four families: matrix factorisation with the pairwise BPR loss as the classical reference, NCF for neural collaborative filtering, LightGCN for graph convolution, RecDCL for graph plus contrastive learning, and two hypergraph models, HCCF and HPCF, with HPCF from 2025 as the strongest reference. The set covers classical, neural, graph and hypergraph methods on purpose, so that the effect of cooperative attribution is not confused with a lucky model choice. All baselines were finalised in early 2026, so the comparison is against the current state of the art, and superiority is claimed only against the models tested 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metrics with their formulas, in one table, so that the jury can refer back to it. NDCG at K is the main ranking measure: it sums the relevance of each item in the top-K list, discounted by the logarithm of its position, and normalises by the ideal ordering, so it rewards relevant items placed near the top. Recall at K is the share of the user's held-out relevant items that appear in the list; Precision at K is the share of the list that is relevant. Then two beyond-accuracy measures. Catalogue coverage is the fraction of the whole catalogue that is ever recommended to anyone, a system-level measure of diversity. Intra-list diversity is the average pairwise dissimilarity inside one user's list; I want to stress that ILD is built into the DyHuCoG coalition utility on purpose, it is not only a reporting metric. Finally the two clustering measures: the Silhouette, which compares the mean distance to one's own cluster with the distance to the nearest other cluster and lies between minus one and one, and Davies-Bouldin, which measures cluster overlap, lower is better. The Silhouette is also the value function of the clustering game in Contributions I and II. Everything is reported at K equal to five, ten and twenty; NDCG at twenty is the headline.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matters mainly because it explains some runtime figures I will quote later. All clustering, preprocessing and data loading run on an Intel Core i9-14900K with twenty-four cores. DyHuCoG training and inference run on an NVIDIA RTX 4090 with twenty-four gigabytes, with forty-eight gigabytes of RAM and a two-terabyte SSD. The software stack is Python 3.8, with scikit-learn for PCA and K-Means, LightGBM for the surrogate, SHAP for TreeSHAP, and PyTorch 2.0.1 for the recommendation model. I use Altair for interactive SHAP visualisation and report metrics at K equal to five, ten and twenty. Everything runs on standard academic hardware; nothing here needs industrial-scale compute.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move to the first contribution: explaining black-box clustering with Shapley values. This contribution answers RQ1. I will present the research gap and the objectives, then take a short technical deep dive into cooperative games and the Shapley value, and then follow the usual order: methodology, evaluation protocol, results, findings.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start with clustering? Here the model creates its own structure, so the meaning of a cluster must be worked out after the fact. That makes clustering the hardest and most natural test bed for attribution. The gap is that explainable clustering is fragmented: methods favour a local or a global explanation, rarely both; they often fail to scale; and they rarely stay consistent across clusters. And since Shapley explanation is well established in supervised problems, its near absence from unsupervised clustering is striking. Local surrogates such as LIME can describe one point, but they give no guarantee that the credit assigned to a feature is fair or stable. So the research gap, in one sentence: there is no principled, axiomatic way to explain why a black-box clustering put an observation in a given cluster, in the original feature space and consistently across clusters.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asks how Shapley values can explain black-box clustering faithfully at both instance and cluster level, and it breaks down into three objectives. O1 is a pipeline that produces a cluster-level explanation while keeping feature-level attribution, so the explanation is consistent rather than a single summary number. O2 requires that attribution stays in the original feature space: density, pH, acidity, sulfur dioxide, alcohol, because that is what makes it actionable for a domain expert. O3 is about justification: we must show why Shapley is the right allocation rule rather than an ad-hoc surrogate such as LIME. The next methodology slide shows how these three objectives are met.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of Contribution I, let me take three slides to explain the one mathematical object that the whole thesis rests on: the cooperative game and the Shapley value. A cooperative game has three ingredients. A set of players N. Coalitions, which are any subsets S of the players; with n players there are two to the power n of them. And a characteristic function v that assigns to every coalition the value it can create on its own, with the empty coalition worth zero. The question a cooperative game asks is a fairness question: the grand coalition earns v of N; how should that be shared among the players? To make it concrete, take a three-piece band: Guitar, Voice and Drums are paid for a gig. Alone they would earn sixty, forty and twenty. Guitar and Voice together earn one hundred and forty, which is more than sixty plus forty; the whole band earns two hundred. The table on the right is the full characteristic function. Notice the synergy: the value of a group is not the sum of its parts, so a fair split has to give credit for what a player adds to the others, not only for what they earn alone.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Shapley's answer, from 1953, is to imagine the players arriving one at a time in a random order and to pay each player what they add at the moment they arrive: their marginal contribution. With three players there are six arrival orders; the table lists all of them. Take the order Voice, Drums, Guitar. Voice arrives first and creates forty. Drums arrives and the pair is worth eighty, so Drums adds forty. Guitar completes the band, eighty becomes two hundred, so Guitar adds one hundred and twenty. Averaging each player's marginal contribution over all six orders gives ninety for Guitar, seventy for Voice and forty for Drums. Ninety plus seventy plus forty is exactly two hundred: nothing is lost and nothing is invented. The formula on the right is the same computation written in general: a sum over all coalitions S that do not contain player j, of the marginal contribution of j to S, weighted by the probability that exactly the players in S arrive before j. The four axioms below are why this is the right rule and not just a reasonable one. Efficiency: the shares add up to the total. Symmetry: two players who contribute the same get the same. Null player: a player who never adds anything gets nothing. Additivity: the value is linear across games. Shapley proved that this is the only allocation rule that satisfies all four at once. Equal shares would violate symmetry in the other direction, and shares proportional to solo pay would ignore synergy.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connection to the thesis, because this same game appears three times with different players and different value functions. In Contribution I the players are the eleven features of a wine sample and the value of a coalition is the Silhouette of K-Means run with only those features; the Shapley value of a feature is how much it adds to clustering quality, computed exactly with TreeSHAP on a surrogate. In Contribution II the players are the same features, but the game is played at each level of the hierarchy, so the Shapley value tells us how importance changes between a partition and its sub-partition. In Contribution III the players are users, items and contexts, the members of a hyperedge, and the value of a coalition is the utility of the recommendation they produce together: a mix of accuracy, diversity and novelty. Because the number of players is large, the Shapley values are estimated by Monte Carlo sampling of arrival orders, fifty permutations, refreshed every ten batches. And the crucial difference is in the last row: in the first two contributions the Shapley value explains a model after training; in the third it is used during training, as the weight of each hyperedge. The axioms never change. What changes is who the players are and what the coalition value measures. That is why one explanation can be read the same way across all three chapters.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clustering as a cooperative game where the features are the players. The value function measures how well the data cluster when we use only the features in a given coalition: concretely, the value of coalition S is the Silhouette of K-Means run on the feature subset X_S, with a fixed k. I choose Silhouette because it is bounded, normalised and easy to interpret; Davies-Bouldin or Calinski-Harabasz would also be defensible. A feature then receives a high Shapley value when adding it improves separation, on average over all coalitions. The problem is that computing the Silhouette for every subset is combinatorial and not feasible even for a modest number of features, which is exactly why we need a bridge between the unsupervised partition and a practical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heart of the method. TreeSHAP explains tree models; it cannot explain K-Means centroids. And explaining the PCA representation would move attribution away from the variables we care about. So we turn an unsupervised partition into a supervised task: once K-Means produces cluster labels, we train a LightGBM multiclass classifier to predict them from the original features, then apply TreeSHAP to that surrogate. This keeps attribution in the original feature space, which is what makes the explanation actionable. The key validity condition is surrogate fidelity: if the surrogate does not reproduce the partition well, the attribution is not faithful. We require a macro-F1 of around 0.82 as the floor.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five stages. Stage one is feature standardisation. Stage two is PCA, which I want to stress is used only as a computational and visual check; on purpose, it is not the explanatory space, because explaining principal components would defeat the purpose of actionable attribution. Stage three is K-Means-plus-plus with multi-criteria k selection, using the elbow method, Silhouette and Davies-Bouldin. Stage four is the LightGBM surrogate trained on the original features to predict the cluster labels. Stage five is TreeSHAP attribution in the original feature space, aggregated into global importance, cluster-specific profiles, and local force plots. The cost is dominated by PCA and repeated K-Means; TreeSHAP scales with tree count and depth rather than exponentially in the number of features, which is what makes the approach practical.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results, the evaluation protocol for this contribution, so it is clear what would count as success. The dataset is Wine Quality with eleven standardised chemical features. K-Means plus-plus runs on the PCA-stabilised data with k scanned from two to ten, and k is chosen with the elbow, the Silhouette and Davies-Bouldin, followed by an interpretability check. The surrogate is a LightGBM multiclass model trained with five-fold cross-validation, and its macro-F1 is the fidelity score. Attribution is exact TreeSHAP on the surrogate, in the original eleven-feature space. The outputs are the global ranking, the per-cluster profiles and local force plots, and the comparison point is a LIME-based surrogate on the same partition. Success means four things: the fidelity floor of macro-F1 around 0.82 is met, the global ranking is chemically meaningful, the clusters have distinct signatures, and Shapley beats LIME on stability and comparability.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honest and important point. We evaluate k from two to ten, and we select k equal to three on purpose, even though it is not the best geometry. With k equal to two we get a stronger Silhouette of 0.214 and a Davies-Bouldin of 1.775; with k equal to three the Silhouette drops to 0.144 and the Davies-Bouldin rises to 2.097. On raw geometry, two is the better partition. We choose three anyway, because three clusters support three distinct, chemically meaningful wine stories, far more actionable than a two-way split. I select the partition a domain expert would find useful, not the one that maximises a separation index. And to avoid a common confusion: the 0.63 Silhouette belongs to the Beijing dataset in Contribution II, not to this one.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SHAP ranking is led by density, followed by pH, fixed acidity, sulfur-dioxide-related variables and alcohol. These are exactly the variables a wine expert would point to as controlling structure, preservation and sensory balance. The important point is that this is not a random side effect of the classifier. Because the surrogate was trained to reproduce the partition from the original variables, and because TreeSHAP attributes in that original space, the recovered ranking matches a chemically meaningful structure. This is the strongest evidence that the pipeline is faithful: it recovers domain knowledge without being told to. It also shows the value of keeping attribution in the original feature space rather than in a reduced or latent space.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cluster-specific profiles show that the solution is not only interpretable overall but also different from one cluster to the next. Each cluster has its own signature. Cluster zero is driven mainly by density and sulfur-dioxide-related variables; cluster one by acidity and pH effects; cluster two by a different balance of acidity, alcohol and related chemical attributes. The key point is that the same small set of variables comes back in all three clusters, but with different relative weights in each. This is the actionable insight: a cluster is not just a label, it is a distinct, domain-meaningful combination of drivers. It also shows the method supports both a global reading, which variable matters most overall, and a local, per-cluster reading, where the practical value lies.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sums up why we prefer Shapley over LIME. SHAP bases attribution on a cooperative-game allocation rule and satisfies four axioms: efficiency, so the whole explanation mass is allocated; symmetry, so equal contributors get equal credit; the null-player property, so a player with zero marginal effect gets zero; and additivity, so explanations add up across games. LIME fits a local surrogate and has no equivalent guarantee; it is sensitive to the perturbation design. SHAP supports both local and global explanation, whereas LIME is mainly local, and SHAP is much stronger for comparing clusters, which is central here. One caveat: in this surrogate pipeline, efficiency holds with respect to the LightGBM output, not directly to the Silhouette-based game. That is exactly why surrogate fidelity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RQ1 directly: yes. Shapley values explain a black-box partition faithfully, provided the surrogate has high fidelity, and consistently at cluster level. Each objective is met. O1 is met because the pipeline gives both a global reading, density, pH, acidity, sulfur dioxide, alcohol, and a per-cluster reading where the same drivers get different weights. O2 is met because attribution is returned to the original chemical variables, which is what makes it actionable. O3 is met because Shapley satisfies efficiency, symmetry, the null-player property and additivity, whereas LIME has no equivalent guarantee. The honest caveat is that efficiency holds with respect to the surrogate output, not directly to the Silhouette-based game, which is why surrogate fidelity is the critical validity condition.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answers RQ1 with a yes. The key findings are four. Shapley values explain the black-box partition at both cluster level and instance level, tying each cluster's meaning to single feature contributions. They return attribution to the original chemical variables, density, pH, fixed acidity, sulfur dioxide, alcohol, rather than to a reduced or latent space, which is what makes the explanation actionable. Because the surrogate reproduces the partition from the original variables, the recovered ranking is chemically meaningful and faithful. And the approach has a solid theoretical basis: SHAP satisfies efficiency, symmetry, the null-player property and additivity, which LIME does not.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clear about the scope. First, the explanation depends on the fidelity of the LightGBM surrogate; it is not a direct mechanism of the K-Means geometry. Second, the approach is limited to tabular data. Third, and most important for what follows, it is single-level: it cannot yet handle consistency across levels, meaning it cannot explain how feature importance changes between a partition and its sub-partitions. And the surrogate plus representative-instance reporting smooths out some variation between single observations. These limits are the starting point for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works as one well-founded lens for explaining an unsupervised partition, and that keeping attribution in the original feature space is what makes it actionable. But real data are rarely single-level: broad groups contain nested sub-groups, and a variable can be globally important yet locally uninformative. That flat limitation directly motivates Contribution II: can the explanation logic be scaled to multi-level, large-scale clustering without losing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second contribution: scaling the explanation logic to multi-level, large-scale clustering. It answers RQ2, and the central concern is not only scale but several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for Contribution II. Once clustering is multi-level, feature importance must stay readable within a cluster, across sub-clusters and across the levels. Large-scale data make exact explanation too costly: three hundred and eighty-three thousand records cannot be explained coalition by coalition. A flat explanation may be true yet incomplete, because it cannot show how importance changes inside a cluster. And existing hierarchical clustering work reports structure but gives no formal link between the explanation of a parent and that of its children. So the gap is a multi-level explanation method for large-scale clustering that is both computationally feasible and provably consistent across levels.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asks how the Shapley explanation can extend to large-scale, multi-level clustering while staying feasible and consistent. Three objectives follow. O1 is a truly multi-level workflow, recursive clustering with level-specific surrogates, not a rerun of the single-level pipeline. O2 is a formal cross-level consistency argument, Proposition 6.1, which says that parent importance equals the size-weighted expectation over its children. O3 is validation at scale on data far from wine: the Beijing air-quality records. The table also says where each objective is shown in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multi-level architecture works recursively: we learn a coarse clustering on the full dataset, then split each cluster again where it makes sense, which gives a nested structure. For each level we train a level-specific surrogate and compute SHAP values in the same original feature space. The cross-level aggregation is, on purpose, not a naive average: it respects cluster size and nesting structure. A parent-level attribution is an expectation over the explanations of its children, so a coarse-level importance reflects the size-weighted contributions of the clusters it contains. One methodological point: the hierarchy here is a practical analysis tool. I am not claiming the data have a true, natural hierarchy of levels; the nested structure is a computational and interpretive tool, and Proposition 6.1 is stated with that in mind.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mathematical heart of the contribution. Let Phi at level l, in cluster c, for feature j, be the expected absolute SHAP importance over the examples in that cluster, and let w sub c-prime be the relative size of a child cluster within its parent. For a strict nested hierarchy on a consistent feature space, the parent's expected absolute importance equals the sum over its children of the child's relative size times the child's expected absolute importance, plus a residual epsilon that comes from surrogate mismatch and vanishes under perfect fidelity. The derivation uses the law of total expectation and the fact that the children partition the parent. The key point: it does not claim explanations are identical across levels; it says differences can be interpreted rather than ruled out as inconsistency. That makes a multi-level explanation self-consistent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Contribution II follows the same template, so the two contributions can be read together. The dataset is Beijing Multi-Site Air Quality, three hundred and eighty-three thousand hourly records and eleven variables. Level one is K-Means plus-plus on the full dataset, with k chosen by the elbow, the Silhouette and Davies-Bouldin. Level two splits each coarse cluster again, three regimes into nine sub-clusters. There is one LightGBM surrogate per level, again with five-fold cross-validation, and exact TreeSHAP per level, always in the original eleven-variable space. Cross-level aggregation follows Proposition 6.1, with size weights. Finally a sensitivity analysis repeats everything with small changes in k, in the projection dimension and in the surrogate depth. Success means strong separation, regimes with a physical reading, cross-level differences that are interpretable rather than contradictory, and leading drivers that stay stable under the sensitivity changes.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Beijing, the k-selection criteria agree much more strongly than on wine, and this is worth stressing. The full dataset clusters cleanly into k equal to three, with a Silhouette of about 0.63 and a Davies-Bouldin of about 0.55. Recall that this is where the 0.63 figure comes from: it belongs to Beijing, not to the wine partition, whose Silhouette is 0.144. The low Davies-Bouldin means the clusters rarely overlap. The PCA projection, using two components, is used only for visual inspection. I also tested sensitivity: the conclusions are robust to small changes in k, in the number of projection dimensions, and in the surrogate depth; only low-ranked variables shift. So the finding is not a side effect of one parameter choice.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ranking is rich. The dominant features are temperature, dew point and pressure, followed by carbon monoxide, nitrogen dioxide, PM10 and PM2.5. It is striking that it is not only the pollutant concentrations that dominate. Weather variables play a central role in the structure, because temperature, dew point and pressure control dispersion, trapping and sunlight-driven chemistry. In other words, they set the atmospheric conditions under which pollution builds up. This is exactly the kind of insight that flat summaries often miss: a naive ranking of pollutant concentrations would overlook the fact that the weather is what sets the regime. It is a good example of why attribution in the original variable space is valuable.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plots reveal three representative regimes, and this is where the interpretation becomes concrete. Regime A is a warm, sunlight-driven regime, where ozone, temperature and dew point stand out; this is typical of summer photochemical smog. Regime B is a wintertime smog regime, dominated by carbon monoxide, sulfur dioxide and particulate matter, with low wind speed limiting dispersion. Regime C is a comparatively clean-air regime, linked to favourable weather and weak pollutant signals. The value is not only in showing that these regimes exist; it is in showing which combinations of variables define each one. That is the actionable insight: an air-quality analyst can see the specific drivers of a given pollution episode and act on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payoff of the chapter, and the reason a flat explanation is not enough. At the coarse level, temperature and dew point dominate, because they separate the broad atmospheric regimes. Inside single clusters, the informative variables shift to carbon monoxide, sulfur dioxide, PM10, wind speed, pressure or ozone. This change is not a contradiction. It is exactly what a multi-level explanation should reveal. The parent-level story is regime selection; the cluster-level story is variation within a regime. A variable can be globally important yet locally uninformative inside a sub-cluster. Proposition 6.1 lets us read these shifts as meaningful structure rather than noise; a flat, single-level explanation would present them as a conflict, whereas our framework makes them consistent.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logic works on both a small, dense, chemically correlated dataset and a large, noisy, environmental one, which supports the generality of the approach. It is not tied to one special property of wine chemistry. I also compared against the SHAP-based clustering literature: our Beijing partition reaches a Silhouette of about 0.63, whereas Gramegna and Giudici, working on credit-risk data, report around 0.37. Against LIME, we see weaker consistency across levels and less stable local stories for multi-level reasoning. I want to be careful here: these are comparative observations rather than a full benchmark, but they support the claim that a cooperative-attribution approach produces more structured, more consistent explanations for multi-level clustering.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RQ2 directly: yes, within bounds. Shapley-based clustering explanation can scale to multi-level, large-scale settings without losing consistency, provided the hierarchy is modelled explicitly and the approximation is transparent. O1 is met: we obtain a multi-level explanation that does not collapse into a single flat summary. O2 is met: Proposition 6.1 gives a formal cross-level consistency argument, so the regime-level and cluster-level stories do not conflict. O3 is met: the approach validates on Beijing air quality, a large, noisy dataset that varies over time, which supports generality. The honest bound is that the model is still an explanation of a pre-computed partition; it does not yet influence learning itself. That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answers RQ2 with a yes. The key findings are four. The explanation scales to a multi-level structure without collapsing into a single flat summary, because the hierarchy is modelled explicitly rather than flattened. Proposition 6.1 provides a formal cross-level consistency argument, so that differences across levels can be read as meaningful structure rather than ruled out as noise. The approach generalises to a very different large-scale dataset, Beijing air quality, which is far noisier and changes far more over time than the small correlated wine data. And the method produces parent-level regime-selection stories together with cluster-level, within-regime variation.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are just as clear. The clustering stays static even though the Beijing data are temporal, so the dynamics are not used. The surrogate-based SHAP plus representative-instance reporting smooths out variation between single observations, so some richness is lost. The whole approach is limited to tabular data. And, most important for what follows, the model is still an explanation of a pre-computed partition: it does not yet influence learning itself. This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stays consistent across levels of detail, provided the hierarchy is made explicit. Explanations become interpretable at scale, not only for a single flat partition, which is exactly where the literature was weakest. But the attribution is still post-hoc: it explains a partition that was already computed, and it never influences how the model learns. That is the limit that motivates Contribution III: can cooperative attribution move beyond explanation and become part of how a recommender learns?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main contribution introduces DyHuCoG, a Dynamic Hypergraph Cooperative Game, where Shapley attribution becomes an in-training signal inside a hypergraph recommender rather than a post-hoc explanation. It answers RQ3 and RQ4.</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for Contribution III. Graph and hypergraph recommenders treat message importance as uniform or attention-weighted, with no well-founded marginal-contribution account of how much each user, item or context actually adds. Diversity is often a secondary goal, handled by re-ranking after training. Interpretability is added after prediction, not built into the learning objective. And our own first two contributions, however faithful, were still post-hoc: they never changed what the model learned. So the gap is a recommender that uses a cooperative-game utility to decide, during training, how much each player should count, while keeping accuracy, context and diversity in the same objective.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research questions for this contribution. RQ3: can cooperative attribution move beyond post-hoc and become part of how a recommender learns? RQ4: can it improve ranking accuracy, context and diversity together, when importance comes from a cooperative-game utility? Three objectives follow. O1: formulate recommendation as a cooperative game with users, items and contexts as players and a coalition utility that mixes accuracy, diversity and novelty. O2: embed preference-aware Monte Carlo Shapley estimates into hypergraph message passing as dynamic hyperedge weights. O3: improve ranking, coverage and diversity together, against the strongest baseline, on two datasets. The evidence for each is in Tables 7.1 to 7.6.</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 recommendation as a cooperative game whose players are users, items and contexts. The hypergraph has vertices drawn from this same set, and hyperedges encode user-item-context interactions, with dynamic edge weights derived from Shapley estimates. A coalition is the set of entities taking part in a recommendation episode, and the coalition value measures the quality of the recommendation that this coalition can achieve. The task is top-N recommendation: we produce a ranked list for a user that balances relevance, diversity and contextual fit. This mirrors the clustering formulation, but with a value function built for recommendation. That parallel is intended, and it is one of the thesis-level contributions: the same cooperative-game logic applies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coalition utility combines ranking quality, diversity and context: a weighted sum of NDCG at twenty, a diversity term and a context score, with weights summing to one. The key point is that this is the same trade-off the recommender must satisfy and also the trade-off from which attribution is computed, so the explanatory game and the predictive objective are aligned by design. We add a preference-consistency bonus proportional to the sum of user-item similarities in the coalition. Alpha, beta and gamma were grid-searched to 0.60, 0.25 and 0.15, with the preference coefficient at 0.20, and NDCG varies by under one and a half percent around that point. One honest boundary: coalition evaluation is limited to the interaction episode, a few dozen players, not the full catalogue.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Shapley computation is combinatorial and not feasible for a real recommender, so we use a Monte Carlo estimator that averages, over M sampled coalitions, the difference between the value with a player and the value without it; the preference-aware variant applies the same estimator to the preference-weighted utility. It is unbiased, with variance decaying as sigma squared over M, so the mean squared error goes as one over M and the absolute error as one over root M. We chose M equal to fifty: mean squared error about one point four times ten to the minus five, and roughly ninety-nine percent accuracy. Because preferences change, the estimates are refreshed every ten batches, about forty-nine updates per epoch, and smoothed with an exponential moving average, so attribution adapts without making training too sensitive to a single estimate.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the decisive move. The base propagation is standard hypergraph message passing; the Shapley-weighted version weights each message by a normalised Shapley coefficient, dividing by the sum of coefficients over the neighbourhood. I clip and exponentially smooth the estimates before normalising, which keeps the sparse setting stable. Layer fusion combines embeddings across layers with learned coefficients. On top of that, an interaction-level attention gate blends the Shapley-weighted score with the standard inner-product score, acting as a stabiliser; a context-aware score then adds a context term. The essential point is that the model is told not only who is connected to whom, but how much each coalition is worth, and that worth directly controls how information flows. That is what sets it apart from a post-hoc explainer.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loss combines four terms. The recommendation loss is Bayesian Personalised Ranking, a pairwise objective suited to implicit feedback. The diversity loss is an intra-list diversity regulariser that penalises redundant ranked lists. The context loss aligns the context embedding with the context-node representation. And the regularisation term is weight decay. Negatives are drawn from a popularity-aware distribution, with periodic hard-negative refresh, and optimisation uses Adam. The main point I want to make is alignment: the model is trained to optimise the same accuracy-diversity-context balance that later determines cooperative attribution. So the explanation is not a separate check; it is a direct read-out of the objective the model is already optimising. This is what makes the explanation faithful by design.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DyHuCoG. Two datasets, MovieLens-1M which is dense and Amazon-Book which is sparse, with Yelp2018 as an additional check. The split is user-level and time-ordered, seventy, ten, twenty, with the latest test positive per user as the leave-one-out target. Six baselines from four families, with HPCF as the strongest reference. Four metrics: NDCG at twenty as the headline, Recall at twenty, catalogue coverage and intra-list diversity. Five seeds, with mean and standard deviation. Significance is tested with paired t-tests and Wilcoxon on per-user NDCG at twenty, with Holm-Bonferroni correction and Cohen's d for effect size. And an ablation removes one component at a time: Shapley, hypergraph, attention, context and diversity. Success means beating HPCF on both datasets with corrected p-values below 0.05, coverage and diversity rising at the same time, every component mattering in the ablation, and an overhead that stays within about two times HPCF with real-time inference.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result on MovieLens-1M, with all six baselines in the table and DyHuCoG in the bold row. Read it column by column: DyHuCoG is best on all four metrics. The strongest baseline, HPCF, reaches an NDCG at twenty of 0.2528 and a recall of 0.2098; DyHuCoG improves these to 0.2775 and 0.2362, plus nine point eight percent in NDCG and plus twelve point six percent in recall. At the same time, coverage rises from 0.342 to 0.397 and intra-list diversity from 0.461 to 0.516. Notice also the shape of the table: the gap widens from classical to graph to hypergraph models, and DyHuCoG adds another step on top of the strongest one. Standard deviations over the five seeds are in the backup slides; they are about a tenth of the gap.</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table for Amazon-Book, the sparse dataset with a density of six in ten thousand. The picture is the same and the relative gains are larger: plus thirteen point three percent NDCG at twenty and plus sixteen point two percent recall over HPCF, with coverage up by nearly thirty percent and diversity up by twelve and a half percent. The absolute values are low for every model, because the matrix is almost empty; what matters is the consistent ordering and the widening gap where data are weakest. This is in line with the hypothesis that Shapley-guided weighting helps most exactly when interaction data are scarce. Together the two tables are evidence that the accuracy-diversity trade-off, often treated as fixed by nature, can in fact be moved if attribution is handled as a first-class part of the learning objective.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from the thesis puts all seven models side by side on both datasets, NDCG at twenty on the left and Recall at twenty on the right. What I want the jury to see is the shape: a monotone ladder. Classical matrix factorisation is lowest, neural collaborative filtering is next, the graph model LightGCN is a big step up, the hypergraph models HCCF and HPCF are higher again, and DyHuCoG is the tallest bar in every panel. The gap between DyHuCoG and HPCF is visibly larger on Amazon-Book, the sparse dataset. The order makes sense, because each family adds structure: pairwise edges, then hyperedges, then Shapley-weighted hyperedges with context. So the improvement is cumulative and explainable; it is not the result of tuning one model harder than the others. All models were tuned with the same budget and the same early-stopping rule.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from the thesis shows coverage and intra-list diversity for HPCF and DyHuCoG on both datasets, and the tiles on the right give the numbers: coverage up sixteen percent on MovieLens-1M and thirty percent on Amazon-Book, diversity up twelve percent on both. Coverage is the share of the catalogue that is ever recommended, so a higher value means a smaller filter-bubble effect and more discovery for the user. The important point is in the green bar: these gains come together with the accuracy gains of the previous two slides, so accuracy is not traded for diversity. That is possible because diversity is part of the coalition utility that the Shapley weights are computed from, not a re-ranking step added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per dataset. Each row removes one component of DyHuCoG and reports NDCG at twenty and the relative drop. Context is the most important component, with a drop of eight point two percent on MovieLens-1M and eleven percent on Amazon-Book, highlighted in orange. The hypergraph structure is second, at six point eight and eight point nine percent. Removing the Shapley weighting costs four point six and six point one percent, more on the sparser dataset, where fair credit for weak signals matters most. Diversity and attention follow. Every component contributes, and no single one explains the whole gain. One honest note: the ablation removes one component at a time, so it does not test how components interact.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attribution cost is reasonable, and I report it openly because it matters for real use. On MovieLens-1M, DyHuCoG takes about two thousand seconds to train versus roughly eleven hundred for HPCF, about one point seven eight times. Inference is one point eight four milliseconds per query on MovieLens and eight point five two on Amazon, well within real-time requirements. Memory is slightly higher, four point four gigabytes versus four point one. The per-epoch cost scales with the number of layers, the embedding dimension and the Monte Carlo budget. On Shapley convergence, M equal to fifty gives ninety-nine percent accuracy, while M equal to one hundred gives ninety-nine point five with diminishing returns. So fifty is the right operating point, balancing accuracy against cost.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also checked that the improvements are statistically significant and large enough to matter. I ran paired t-tests on per-user NDCG at twenty across six thousand and forty users, comparing DyHuCoG against every baseline, with Holm-Bonferroni correction. Against HPCF, the t-statistic is 46.38, Cohen's d is 1.33, and the p-value is on the order of ten to the minus two hundred and seventy. The Wilcoxon signed-rank test is also significant at p less than 0.001. The effect sizes are large, and that matters: with six thousand users, even a tiny difference can look significant, so reporting the effect size shows the improvement is not only a large-sample effect. I should be careful about scope: these tabulated paired tests apply only to MovieLens-1M; the Amazon-Book results remain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also improves the settings where recommenders are at their weakest: cold-start. For users with five or fewer interactions, NDCG at twenty is about 0.061, roughly ten percent over HPCF; for cold-start items about 0.057, a gain of roughly nine point six percent. Across datasets the improvement holds at plus nine point nine percent on MovieLens, plus fourteen point eight on Amazon, and plus eleven point eight on Yelp2018, which I use only as an extra robustness check. On interpretability, the model produces a SHAP waterfall that breaks a recommendation down into the same ranking, diversity, context and preference components used during training, so the explanation is faithful by design rather than an outside approximation. And Shapley measures marginal utility rather than raw frequency, so weak but informative interactions keep their influence, which reduces popularity bias.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RQ3: yes. Attribution becomes an in-training signal: the Shapley estimates set the hyperedge weights while the model learns, instead of describing the model afterwards. RQ4: yes. Ranking, coverage and diversity improve together on both datasets, with the largest gains where the data are sparsest. All three objectives are met: recommendation is formulated as a cooperative game over users, items and contexts; preference-aware Monte Carlo Shapley runs inside message passing with fifty permutations and a refresh every ten batches, and removing it costs 4.6 and 6.1 percent; and the gains over HPCF are 9.8 and 13.3 percent in NDCG at twenty, 16 and 30 percent in coverage, and 12 percent in diversity.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answers RQ3 and RQ4, and makes the strongest claim of the thesis. Cooperative attribution can move beyond post-hoc analysis and become part of how a recommender learns, letting it balance accuracy, diversity and context more effectively. The key findings are that ranking, coverage and diversity improve together, NDCG, recall, coverage and intra-list diversity all rise on both datasets, so the accuracy-diversity trade-off is not fixed by nature. The largest gains appear on the sparsest data, Amazon-Book, exactly the setting where Shapley-driven weighting is most valuable, and the improvement is statistically large against the strongest baseline.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must be stated honestly. There is a measurable compute overhead, roughly one point seven eight times the training time of the strongest baseline, HPCF. The method depends on having meaningful context available. The Monte Carlo Shapley estimator could be improved by variance reduction. The ablation removes one component at a time, so it does not test combinations. And the baselines were fixed in early 2026, so I claim superiority only against the tested baselines. Within those bounds, the claim stands.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the conceptual shift of the thesis. Attribution is a first-class part of the learning objective, not a post-hoc check, and the explanation is a direct read-out of the objective the model already optimises. That is what makes it faithful by design rather than an outside approximation. And because Shapley values rest on four clear axioms, this view fits well with the transparency and accountability requirements of new AI regulation. This is the central claim worth defending: explanation should be part of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now bring everything together. I will present a synthesis of the three contributions, the published papers, the honest limitations, the future directions, and finally a clear statement of the thesis answer.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The synthesis table shows how each contribution builds on the previous one. C1 makes hidden structure easy to understand: it introduces a Shapley-based pipeline that explains black-box clustering faithfully, with chemistry-consistent cluster attribution on wine. C2 keeps that explanation consistent at scale and across levels: it introduces cross-level SHAP aggregation and Proposition 6.1, and shows that differences between levels can be interpreted rather than ruled out as inconsistency. C3 carries the same attribution logic inside the learning of a recommender, using preference-aware Shapley as an in-training signal, so that accuracy, coverage and diversity improve together. The flow under the table is the story in three words: explain, scale, guide. And the takeaway of the thesis, in the orange box: one cooperative-game definition, three value functions; the same Shapley logic explains, stays consistent, and finally guides learning.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are supported by three journal articles, all with me as first author. The first, with Redwane Nesmaoui, Mohamed Mbarek and Pr. Lazaar, appeared in Procedia Computer Science in 2023 and covers Contribution I. The second, with Redwane Nesmaoui and Pr. Lazaar, appeared in the International Journal of Advanced Computer Science and Applications in 2025 and covers Contribution II. The third, DyHuCoG, with the same co-authors, appeared in the International Journal of Intelligent Engineering and Systems in 2026 and covers Contribution III. A related article led by Redwane Nesmaoui, on real-time Shapley-based contribution adjustment, applies the same cooperative-game view in a dynamic setting.</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state the limitations honestly. On computation, exact Shapley is not feasible, so every contribution relies on approximation, surrogates, or limited reporting. On method, the clustering chapters depend on surrogate fidelity, and the recommendation results depend on stable approximate contributions and meaningful context. On experiments, the clustering work is limited to tabular data and the recommendation work is offline: no multimodal, sequential or online setting, and no dedicated user study of actionability. And on the claim itself, I want to be exact. I am not claiming one fully unified framework that removes all tension between accuracy and interpretability; I am claiming a shared view, a common attribution language, that is consistent and productive across the three tasks. That is the honest boundary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turns the limitations into a concrete agenda. First, scalable cooperative attribution: lower-variance Shapley estimators, learned proposal distributions, and adaptive refresh rules, to close the compute gap. Second, online and streaming recommendation: truly incremental settings with graphs that keep changing and delayed feedback, which would also address the static-graph limitation. Third, richer user-centred evaluation: I would like to test whether these explanations measurably improve analyst judgement, user trust, quality of action, or perceived fairness, which is the natural test of the actionable part of my definition. Fourth, broader trustworthy-AI and fairness evaluation: exposure fairness, transparency requirements, and auditing for governance, which connects the work to the EU AI Act, the OECD principles and the GDPR.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thesis answer is that cooperative game theory can serve as a shared methodological view for actionable explanation across clustering and recommendation: the same Shapley logic explains a partition, stays consistent across levels, and finally guides what a recommender learns. Four outcomes. Shapley attribution as a common formal language for assigning importance to features, interactions and contexts. Three concrete achievements: faithful clustering explanation, consistent multi-level explanation, and contribution-aware recommendation learning. Explanation treated as method rather than as a comment added later. And a position aligned with what the EU AI Act, the OECD principles and the GDPR expect from systems that affect people.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half of the reference list, in the order the footnotes use: the three articles of the thesis, the foundations of the Shapley value and SHAP, TreeSHAP and LIME, the sampling approach to Shapley estimation, and the classical, neural and graph baselines.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reference list: the graph and hypergraph baselines, the clustering validation measures, the datasets, the surveys on explainable recommendation and diversity, the trustworthy-AI and regulatory references, the statistical procedures, and the related article with the team. I will not read them; they are here so that every footnote number in the deck can be found.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am now happy to take your questions and comments; I will do my best to answer them directly, and I am happy to go deeper into any part of the methodology, the mathematics, or the experimental details.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leave this slide up during the discussion. It repeats the title and the composition of the jury, so that everyone in the room can see who is speaking. Thank you again for your attention; I am ready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backup slides. I will not present them, but they contain the full tables from Chapter 7 in case a question calls for exact numbers: Table 7.1 with all baselines and standard deviations, Table 7.6 with the paired tests against every baseline, and Tables 7.3 and 7.4 with runtime, memory and the Monte Carlo convergence study.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mean and standard deviation over five seeds. The bold row is DyHuCoG. Two things to point out if asked. First, the standard deviations are about one tenth of the gap between DyHuCoG and HPCF on every metric, so the ordering does not depend on the seed. Second, the improvement is consistent across all four metrics, not concentrated on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the paired t-tests of DyHuCoG against every baseline on per-user NDCG at twenty on MovieLens-1M, with six thousand and forty users. The Holm-Bonferroni procedure orders the six p-values and gives each its own threshold, from 0.0083 for the smallest to 0.05 for the largest. Every p-value is many orders of magnitude below its threshold. The effect size, Cohen's d, is 1.33 against HPCF and larger against the weaker baselines; anything above 0.8 is conventionally called large. A Wilcoxon signed-rank test, which does not assume normality, agrees with p below 0.001.</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backup slide has the cost figures. Table 7.3 gives training time, inference latency and memory for every model on both datasets. DyHuCoG trains in about two thousand seconds on MovieLens-1M against eleven hundred for HPCF, so roughly 1.78 times, and about 3.4 times matrix factorisation; inference stays under two milliseconds per query on MovieLens-1M and around eight and a half milliseconds on Amazon-Book. Table 7.4 is the Monte Carlo convergence study: with ten permutations the Shapley estimates are about ninety-five percent accurate, with fifty they reach ninety-nine percent, and going to one hundred adds half a point for a much higher cost. Fifty permutations is the knee of the curve, which is why it is the default.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6.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 Id="rId5" Type="http://schemas.openxmlformats.org/officeDocument/2006/relationships/image" Target="../media/image6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 Id="rId5" Type="http://schemas.openxmlformats.org/officeDocument/2006/relationships/image" Target="../media/image6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 Id="rId5"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 Id="rId5" Type="http://schemas.openxmlformats.org/officeDocument/2006/relationships/image" Target="../media/image6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39.xml"/><Relationship Id="rId5"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0.xml"/><Relationship Id="rId5"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70.png"/><Relationship Id="rId6" Type="http://schemas.openxmlformats.org/officeDocument/2006/relationships/image" Target="../media/image7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 Id="rId5"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4.xml"/><Relationship Id="rId5" Type="http://schemas.openxmlformats.org/officeDocument/2006/relationships/image" Target="../media/image7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5.xml"/><Relationship Id="rId5" Type="http://schemas.openxmlformats.org/officeDocument/2006/relationships/image" Target="../media/image7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 Id="rId5" Type="http://schemas.openxmlformats.org/officeDocument/2006/relationships/image" Target="../media/image78.png"/><Relationship Id="rId6" Type="http://schemas.openxmlformats.org/officeDocument/2006/relationships/image" Target="../media/image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image" Target="../media/image84.png"/><Relationship Id="rId10" Type="http://schemas.openxmlformats.org/officeDocument/2006/relationships/image" Target="../media/image8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7.xml"/><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8.xml"/><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2.xml"/><Relationship Id="rId5" Type="http://schemas.openxmlformats.org/officeDocument/2006/relationships/image" Target="../media/image10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3.xml"/><Relationship Id="rId5" Type="http://schemas.openxmlformats.org/officeDocument/2006/relationships/image" Target="../media/image10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5.xml"/><Relationship Id="rId5" Type="http://schemas.openxmlformats.org/officeDocument/2006/relationships/image" Target="../media/image10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6.xml"/><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77.xml"/><Relationship Id="rId5" Type="http://schemas.openxmlformats.org/officeDocument/2006/relationships/image" Target="../media/image10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7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8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8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8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8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8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8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9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95.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Deep &amp; graph models: hidden logic, hard to audit. EU AI Act: high-risk </a:t>
            </a:r>
            <a:r>
              <a:rPr lang="en-US" sz="1800" b="true">
                <a:solidFill>
                  <a:srgbClr val="CFDAD6"/>
                </a:solidFill>
                <a:latin typeface="Calibri"/>
                <a:ea typeface="Calibri"/>
                <a:cs typeface="Calibri"/>
                <a:sym typeface="Calibri"/>
              </a:rPr>
              <a:t>→ </a:t>
            </a:r>
            <a:r>
              <a:rPr lang="en-US" sz="1800" b="true">
                <a:solidFill>
                  <a:srgbClr val="CFDAD6"/>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8" name="TextBox 27"/>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29" name="Rounded Rectangle 28"/>
          <p:cNvSpPr/>
          <p:nvPr/>
        </p:nvSpPr>
        <p:spPr>
          <a:xfrm>
            <a:off x="944118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30" name="Connector 29"/>
          <p:cNvCxnSpPr/>
          <p:nvPr/>
        </p:nvCxnSpPr>
        <p:spPr>
          <a:xfrm>
            <a:off x="11087100" y="5352542"/>
            <a:ext cx="381000" cy="0"/>
          </a:xfrm>
          <a:prstGeom prst="line">
            <a:avLst/>
          </a:prstGeom>
          <a:ln w="28575">
            <a:solidFill>
              <a:srgbClr val="124944"/>
            </a:solidFill>
            <a:tailEnd type="triangle" w="med" len="med"/>
          </a:ln>
        </p:spPr>
      </p:cxnSp>
      <p:sp>
        <p:nvSpPr>
          <p:cNvPr id="31" name="Rounded Rectangle 30"/>
          <p:cNvSpPr/>
          <p:nvPr/>
        </p:nvSpPr>
        <p:spPr>
          <a:xfrm>
            <a:off x="1151382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2" name="Connector 31"/>
          <p:cNvCxnSpPr/>
          <p:nvPr/>
        </p:nvCxnSpPr>
        <p:spPr>
          <a:xfrm>
            <a:off x="13159740" y="5352542"/>
            <a:ext cx="381000" cy="0"/>
          </a:xfrm>
          <a:prstGeom prst="line">
            <a:avLst/>
          </a:prstGeom>
          <a:ln w="28575">
            <a:solidFill>
              <a:srgbClr val="124944"/>
            </a:solidFill>
            <a:tailEnd type="triangle" w="med" len="med"/>
          </a:ln>
        </p:spPr>
      </p:cxnSp>
      <p:sp>
        <p:nvSpPr>
          <p:cNvPr id="33" name="Rounded Rectangle 32"/>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4" name="Connector 33"/>
          <p:cNvCxnSpPr/>
          <p:nvPr/>
        </p:nvCxnSpPr>
        <p:spPr>
          <a:xfrm>
            <a:off x="15232380" y="5352542"/>
            <a:ext cx="381000" cy="0"/>
          </a:xfrm>
          <a:prstGeom prst="line">
            <a:avLst/>
          </a:prstGeom>
          <a:ln w="28575">
            <a:solidFill>
              <a:srgbClr val="124944"/>
            </a:solidFill>
            <a:tailEnd type="triangle" w="med" len="med"/>
          </a:ln>
        </p:spPr>
      </p:cxnSp>
      <p:sp>
        <p:nvSpPr>
          <p:cNvPr id="35" name="Rounded Rectangle 34"/>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6" name="Connector 35"/>
          <p:cNvCxnSpPr/>
          <p:nvPr/>
        </p:nvCxnSpPr>
        <p:spPr>
          <a:xfrm>
            <a:off x="10241280" y="6106922"/>
            <a:ext cx="0" cy="365760"/>
          </a:xfrm>
          <a:prstGeom prst="line">
            <a:avLst/>
          </a:prstGeom>
          <a:ln w="28575">
            <a:solidFill>
              <a:srgbClr val="DF8330"/>
            </a:solidFill>
          </a:ln>
        </p:spPr>
      </p:cxnSp>
      <p:cxnSp>
        <p:nvCxnSpPr>
          <p:cNvPr id="37" name="Connector 36"/>
          <p:cNvCxnSpPr/>
          <p:nvPr/>
        </p:nvCxnSpPr>
        <p:spPr>
          <a:xfrm>
            <a:off x="10241280" y="6472682"/>
            <a:ext cx="6217920" cy="0"/>
          </a:xfrm>
          <a:prstGeom prst="line">
            <a:avLst/>
          </a:prstGeom>
          <a:ln w="28575">
            <a:solidFill>
              <a:srgbClr val="DF8330"/>
            </a:solidFill>
            <a:prstDash val="dash"/>
          </a:ln>
        </p:spPr>
      </p:cxnSp>
      <p:cxnSp>
        <p:nvCxnSpPr>
          <p:cNvPr id="38" name="Connector 37"/>
          <p:cNvCxnSpPr/>
          <p:nvPr/>
        </p:nvCxnSpPr>
        <p:spPr>
          <a:xfrm>
            <a:off x="16459200" y="6106922"/>
            <a:ext cx="0" cy="365760"/>
          </a:xfrm>
          <a:prstGeom prst="line">
            <a:avLst/>
          </a:prstGeom>
          <a:ln w="28575">
            <a:solidFill>
              <a:srgbClr val="DF8330"/>
            </a:solidFill>
          </a:ln>
        </p:spPr>
      </p:cxnSp>
      <p:sp>
        <p:nvSpPr>
          <p:cNvPr id="39" name="TextBox 38"/>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40" name="Rounded Rectangle 39"/>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41" name="Rounded Rectangle 40"/>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2" name="Rounded Rectangle 41"/>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12494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12494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12494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12494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DF8330"/>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The interpretability gap grows:</a:t>
            </a:r>
            <a:r>
              <a:rPr lang="en-US" sz="1800" b="true">
                <a:solidFill>
                  <a:srgbClr val="DF8330"/>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8" name="Rounded Rectangle 27"/>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2" name="Rounded Rectangle 31"/>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6" name="Rounded Rectangle 35"/>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40" name="Rounded Rectangle 39"/>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a:t>
            </a:r>
          </a:p>
        </p:txBody>
      </p:sp>
      <p:sp>
        <p:nvSpPr>
          <p:cNvPr id="32" name="Rounded Rectangle 31"/>
          <p:cNvSpPr/>
          <p:nvPr/>
        </p:nvSpPr>
        <p:spPr>
          <a:xfrm>
            <a:off x="9258300"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3" name="Connector 32"/>
          <p:cNvCxnSpPr/>
          <p:nvPr/>
        </p:nvCxnSpPr>
        <p:spPr>
          <a:xfrm>
            <a:off x="10876788" y="4552442"/>
            <a:ext cx="478536" cy="0"/>
          </a:xfrm>
          <a:prstGeom prst="line">
            <a:avLst/>
          </a:prstGeom>
          <a:ln w="28575">
            <a:solidFill>
              <a:srgbClr val="124944"/>
            </a:solidFill>
            <a:tailEnd type="triangle" w="med" len="med"/>
          </a:ln>
        </p:spPr>
      </p:cxnSp>
      <p:sp>
        <p:nvSpPr>
          <p:cNvPr id="34" name="Rounded Rectangle 33"/>
          <p:cNvSpPr/>
          <p:nvPr/>
        </p:nvSpPr>
        <p:spPr>
          <a:xfrm>
            <a:off x="11401044"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5" name="Connector 34"/>
          <p:cNvCxnSpPr/>
          <p:nvPr/>
        </p:nvCxnSpPr>
        <p:spPr>
          <a:xfrm>
            <a:off x="13019532" y="4552442"/>
            <a:ext cx="478536" cy="0"/>
          </a:xfrm>
          <a:prstGeom prst="line">
            <a:avLst/>
          </a:prstGeom>
          <a:ln w="28575">
            <a:solidFill>
              <a:srgbClr val="124944"/>
            </a:solidFill>
            <a:tailEnd type="triangle" w="med" len="med"/>
          </a:ln>
        </p:spPr>
      </p:cxnSp>
      <p:sp>
        <p:nvSpPr>
          <p:cNvPr id="36" name="Rounded Rectangle 35"/>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7" name="Connector 36"/>
          <p:cNvCxnSpPr/>
          <p:nvPr/>
        </p:nvCxnSpPr>
        <p:spPr>
          <a:xfrm>
            <a:off x="15162276" y="4552442"/>
            <a:ext cx="478536" cy="0"/>
          </a:xfrm>
          <a:prstGeom prst="line">
            <a:avLst/>
          </a:prstGeom>
          <a:ln w="28575">
            <a:solidFill>
              <a:srgbClr val="124944"/>
            </a:solidFill>
            <a:tailEnd type="triangle" w="med" len="med"/>
          </a:ln>
        </p:spPr>
      </p:cxnSp>
      <p:sp>
        <p:nvSpPr>
          <p:cNvPr id="38" name="Rounded Rectangle 37"/>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9" name="TextBox 38"/>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40" name="Rounded Rectangle 39"/>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15500" y="5960618"/>
            <a:ext cx="285165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2" name="TextBox 41"/>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3" name="Rounded Rectangle 42"/>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5960618"/>
            <a:ext cx="244392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5" name="TextBox 44"/>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6" name="Rounded Rectangle 45"/>
          <p:cNvSpPr/>
          <p:nvPr/>
        </p:nvSpPr>
        <p:spPr>
          <a:xfrm>
            <a:off x="9258300" y="8210042"/>
            <a:ext cx="8001000" cy="1007110"/>
          </a:xfrm>
          <a:prstGeom prst="roundRect">
            <a:avLst>
              <a:gd name="adj" fmla="val 22698"/>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USER-BASED  ·  ITEM-BASED</a:t>
            </a:r>
          </a:p>
        </p:txBody>
      </p:sp>
      <p:sp>
        <p:nvSpPr>
          <p:cNvPr id="32" name="Oval 31"/>
          <p:cNvSpPr/>
          <p:nvPr/>
        </p:nvSpPr>
        <p:spPr>
          <a:xfrm>
            <a:off x="10081260" y="427812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3" name="Oval 32"/>
          <p:cNvSpPr/>
          <p:nvPr/>
        </p:nvSpPr>
        <p:spPr>
          <a:xfrm>
            <a:off x="10081260" y="532968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4" name="Oval 33"/>
          <p:cNvSpPr/>
          <p:nvPr/>
        </p:nvSpPr>
        <p:spPr>
          <a:xfrm>
            <a:off x="10081260" y="638124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5" name="Rounded Rectangle 34"/>
          <p:cNvSpPr/>
          <p:nvPr/>
        </p:nvSpPr>
        <p:spPr>
          <a:xfrm>
            <a:off x="16162020" y="400380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7" name="Rounded Rectangle 36"/>
          <p:cNvSpPr/>
          <p:nvPr/>
        </p:nvSpPr>
        <p:spPr>
          <a:xfrm>
            <a:off x="16162020" y="482676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9" name="Rounded Rectangle 38"/>
          <p:cNvSpPr/>
          <p:nvPr/>
        </p:nvSpPr>
        <p:spPr>
          <a:xfrm>
            <a:off x="16162020" y="564972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0" name="TextBox 39"/>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6162020" y="647268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2" name="TextBox 41"/>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3" name="Connector 42"/>
          <p:cNvCxnSpPr/>
          <p:nvPr/>
        </p:nvCxnSpPr>
        <p:spPr>
          <a:xfrm flipV="1">
            <a:off x="10767060" y="4323842"/>
            <a:ext cx="5394960" cy="297180"/>
          </a:xfrm>
          <a:prstGeom prst="line">
            <a:avLst/>
          </a:prstGeom>
          <a:ln w="22225">
            <a:solidFill>
              <a:srgbClr val="124944"/>
            </a:solidFill>
          </a:ln>
        </p:spPr>
      </p:cxnSp>
      <p:cxnSp>
        <p:nvCxnSpPr>
          <p:cNvPr id="44" name="Connector 43"/>
          <p:cNvCxnSpPr/>
          <p:nvPr/>
        </p:nvCxnSpPr>
        <p:spPr>
          <a:xfrm>
            <a:off x="10767060" y="4621022"/>
            <a:ext cx="5394960" cy="525780"/>
          </a:xfrm>
          <a:prstGeom prst="line">
            <a:avLst/>
          </a:prstGeom>
          <a:ln w="22225">
            <a:solidFill>
              <a:srgbClr val="124944"/>
            </a:solidFill>
          </a:ln>
        </p:spPr>
      </p:cxnSp>
      <p:cxnSp>
        <p:nvCxnSpPr>
          <p:cNvPr id="45" name="Connector 44"/>
          <p:cNvCxnSpPr/>
          <p:nvPr/>
        </p:nvCxnSpPr>
        <p:spPr>
          <a:xfrm flipV="1">
            <a:off x="10767060" y="4323842"/>
            <a:ext cx="5394960" cy="1348740"/>
          </a:xfrm>
          <a:prstGeom prst="line">
            <a:avLst/>
          </a:prstGeom>
          <a:ln w="22225">
            <a:solidFill>
              <a:srgbClr val="124944"/>
            </a:solidFill>
          </a:ln>
        </p:spPr>
      </p:cxnSp>
      <p:cxnSp>
        <p:nvCxnSpPr>
          <p:cNvPr id="46" name="Connector 45"/>
          <p:cNvCxnSpPr/>
          <p:nvPr/>
        </p:nvCxnSpPr>
        <p:spPr>
          <a:xfrm flipV="1">
            <a:off x="10767060" y="5146802"/>
            <a:ext cx="5394960" cy="525780"/>
          </a:xfrm>
          <a:prstGeom prst="line">
            <a:avLst/>
          </a:prstGeom>
          <a:ln w="22225">
            <a:solidFill>
              <a:srgbClr val="124944"/>
            </a:solidFill>
          </a:ln>
        </p:spPr>
      </p:cxnSp>
      <p:cxnSp>
        <p:nvCxnSpPr>
          <p:cNvPr id="47" name="Connector 46"/>
          <p:cNvCxnSpPr/>
          <p:nvPr/>
        </p:nvCxnSpPr>
        <p:spPr>
          <a:xfrm>
            <a:off x="10767060" y="5672582"/>
            <a:ext cx="5394960" cy="297180"/>
          </a:xfrm>
          <a:prstGeom prst="line">
            <a:avLst/>
          </a:prstGeom>
          <a:ln w="22225">
            <a:solidFill>
              <a:srgbClr val="124944"/>
            </a:solidFill>
          </a:ln>
        </p:spPr>
      </p:cxnSp>
      <p:cxnSp>
        <p:nvCxnSpPr>
          <p:cNvPr id="48" name="Connector 47"/>
          <p:cNvCxnSpPr/>
          <p:nvPr/>
        </p:nvCxnSpPr>
        <p:spPr>
          <a:xfrm flipV="1">
            <a:off x="10767060" y="5969762"/>
            <a:ext cx="5394960" cy="754380"/>
          </a:xfrm>
          <a:prstGeom prst="line">
            <a:avLst/>
          </a:prstGeom>
          <a:ln w="22225">
            <a:solidFill>
              <a:srgbClr val="124944"/>
            </a:solidFill>
          </a:ln>
        </p:spPr>
      </p:cxnSp>
      <p:cxnSp>
        <p:nvCxnSpPr>
          <p:cNvPr id="49" name="Connector 48"/>
          <p:cNvCxnSpPr/>
          <p:nvPr/>
        </p:nvCxnSpPr>
        <p:spPr>
          <a:xfrm>
            <a:off x="10767060" y="6724142"/>
            <a:ext cx="5394960" cy="68580"/>
          </a:xfrm>
          <a:prstGeom prst="line">
            <a:avLst/>
          </a:prstGeom>
          <a:ln w="22225">
            <a:solidFill>
              <a:srgbClr val="124944"/>
            </a:solidFill>
          </a:ln>
        </p:spPr>
      </p:cxnSp>
      <p:cxnSp>
        <p:nvCxnSpPr>
          <p:cNvPr id="50" name="Connector 49"/>
          <p:cNvCxnSpPr/>
          <p:nvPr/>
        </p:nvCxnSpPr>
        <p:spPr>
          <a:xfrm>
            <a:off x="10767060" y="4621022"/>
            <a:ext cx="5394960" cy="1348740"/>
          </a:xfrm>
          <a:prstGeom prst="line">
            <a:avLst/>
          </a:prstGeom>
          <a:ln w="31750">
            <a:solidFill>
              <a:srgbClr val="DF8330"/>
            </a:solidFill>
            <a:prstDash val="dash"/>
          </a:ln>
        </p:spPr>
      </p:cxnSp>
      <p:sp>
        <p:nvSpPr>
          <p:cNvPr id="51" name="TextBox 50"/>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2" name="Rounded Rectangle 51"/>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9715500" y="7926578"/>
            <a:ext cx="1641980"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4" name="TextBox 53"/>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5" name="Rounded Rectangle 54"/>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6" name="Rounded Rectangle 55"/>
          <p:cNvSpPr/>
          <p:nvPr/>
        </p:nvSpPr>
        <p:spPr>
          <a:xfrm>
            <a:off x="13853160" y="7926578"/>
            <a:ext cx="162824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7" name="TextBox 56"/>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HYBRID  ·  MATRIX FACTORISATION</a:t>
            </a:r>
          </a:p>
        </p:txBody>
      </p:sp>
      <p:sp>
        <p:nvSpPr>
          <p:cNvPr id="32" name="Rounded Rectangle 31"/>
          <p:cNvSpPr/>
          <p:nvPr/>
        </p:nvSpPr>
        <p:spPr>
          <a:xfrm>
            <a:off x="9258300" y="3958082"/>
            <a:ext cx="3863340" cy="914400"/>
          </a:xfrm>
          <a:prstGeom prst="roundRect">
            <a:avLst>
              <a:gd name="adj" fmla="val 22000"/>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3" name="Rounded Rectangle 32"/>
          <p:cNvSpPr/>
          <p:nvPr/>
        </p:nvSpPr>
        <p:spPr>
          <a:xfrm>
            <a:off x="13395960" y="3958082"/>
            <a:ext cx="3863340" cy="914400"/>
          </a:xfrm>
          <a:prstGeom prst="roundRect">
            <a:avLst>
              <a:gd name="adj" fmla="val 22000"/>
            </a:avLst>
          </a:prstGeom>
          <a:solidFill>
            <a:srgbClr val="1E5F58"/>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4" name="Connector 33"/>
          <p:cNvCxnSpPr/>
          <p:nvPr/>
        </p:nvCxnSpPr>
        <p:spPr>
          <a:xfrm>
            <a:off x="11189970" y="4872482"/>
            <a:ext cx="1794510" cy="411480"/>
          </a:xfrm>
          <a:prstGeom prst="line">
            <a:avLst/>
          </a:prstGeom>
          <a:ln w="31750">
            <a:solidFill>
              <a:srgbClr val="124944"/>
            </a:solidFill>
            <a:tailEnd type="triangle" w="med" len="med"/>
          </a:ln>
        </p:spPr>
      </p:cxnSp>
      <p:cxnSp>
        <p:nvCxnSpPr>
          <p:cNvPr id="35" name="Connector 34"/>
          <p:cNvCxnSpPr/>
          <p:nvPr/>
        </p:nvCxnSpPr>
        <p:spPr>
          <a:xfrm flipH="1">
            <a:off x="13533120" y="4872482"/>
            <a:ext cx="1794510" cy="411480"/>
          </a:xfrm>
          <a:prstGeom prst="line">
            <a:avLst/>
          </a:prstGeom>
          <a:ln w="31750">
            <a:solidFill>
              <a:srgbClr val="124944"/>
            </a:solidFill>
            <a:tailEnd type="triangle" w="med" len="med"/>
          </a:ln>
        </p:spPr>
      </p:cxnSp>
      <p:sp>
        <p:nvSpPr>
          <p:cNvPr id="36" name="Rounded Rectangle 35"/>
          <p:cNvSpPr/>
          <p:nvPr/>
        </p:nvSpPr>
        <p:spPr>
          <a:xfrm>
            <a:off x="11430000" y="5283962"/>
            <a:ext cx="3657600" cy="868680"/>
          </a:xfrm>
          <a:prstGeom prst="roundRect">
            <a:avLst>
              <a:gd name="adj" fmla="val 23157"/>
            </a:avLst>
          </a:prstGeom>
          <a:solidFill>
            <a:srgbClr val="DF8330"/>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7" name="TextBox 36"/>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12494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8"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8"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9" name="Rounded Rectangle 38"/>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GRAPH  ·  HYPERGRAPH</a:t>
            </a:r>
          </a:p>
        </p:txBody>
      </p:sp>
      <p:sp>
        <p:nvSpPr>
          <p:cNvPr id="32" name="Rounded Rectangle 31"/>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15500" y="3903218"/>
            <a:ext cx="2690762"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4" name="Connector 33"/>
          <p:cNvCxnSpPr/>
          <p:nvPr/>
        </p:nvCxnSpPr>
        <p:spPr>
          <a:xfrm flipV="1">
            <a:off x="10367010" y="4735322"/>
            <a:ext cx="1645920" cy="274320"/>
          </a:xfrm>
          <a:prstGeom prst="line">
            <a:avLst/>
          </a:prstGeom>
          <a:ln w="22225">
            <a:solidFill>
              <a:srgbClr val="124944"/>
            </a:solidFill>
          </a:ln>
        </p:spPr>
      </p:cxnSp>
      <p:cxnSp>
        <p:nvCxnSpPr>
          <p:cNvPr id="35" name="Connector 34"/>
          <p:cNvCxnSpPr/>
          <p:nvPr/>
        </p:nvCxnSpPr>
        <p:spPr>
          <a:xfrm>
            <a:off x="10367010" y="5009642"/>
            <a:ext cx="1645920" cy="822960"/>
          </a:xfrm>
          <a:prstGeom prst="line">
            <a:avLst/>
          </a:prstGeom>
          <a:ln w="22225">
            <a:solidFill>
              <a:srgbClr val="124944"/>
            </a:solidFill>
          </a:ln>
        </p:spPr>
      </p:cxnSp>
      <p:cxnSp>
        <p:nvCxnSpPr>
          <p:cNvPr id="36" name="Connector 35"/>
          <p:cNvCxnSpPr/>
          <p:nvPr/>
        </p:nvCxnSpPr>
        <p:spPr>
          <a:xfrm flipV="1">
            <a:off x="10367010" y="5832602"/>
            <a:ext cx="1645920" cy="548640"/>
          </a:xfrm>
          <a:prstGeom prst="line">
            <a:avLst/>
          </a:prstGeom>
          <a:ln w="22225">
            <a:solidFill>
              <a:srgbClr val="124944"/>
            </a:solidFill>
          </a:ln>
        </p:spPr>
      </p:cxnSp>
      <p:cxnSp>
        <p:nvCxnSpPr>
          <p:cNvPr id="37" name="Connector 36"/>
          <p:cNvCxnSpPr/>
          <p:nvPr/>
        </p:nvCxnSpPr>
        <p:spPr>
          <a:xfrm>
            <a:off x="10367010" y="6381242"/>
            <a:ext cx="1645920" cy="548640"/>
          </a:xfrm>
          <a:prstGeom prst="line">
            <a:avLst/>
          </a:prstGeom>
          <a:ln w="22225">
            <a:solidFill>
              <a:srgbClr val="124944"/>
            </a:solidFill>
          </a:ln>
        </p:spPr>
      </p:cxnSp>
      <p:sp>
        <p:nvSpPr>
          <p:cNvPr id="38" name="Oval 37"/>
          <p:cNvSpPr/>
          <p:nvPr/>
        </p:nvSpPr>
        <p:spPr>
          <a:xfrm>
            <a:off x="10110978" y="47536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9" name="Oval 38"/>
          <p:cNvSpPr/>
          <p:nvPr/>
        </p:nvSpPr>
        <p:spPr>
          <a:xfrm>
            <a:off x="11756898" y="447929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40" name="Oval 39"/>
          <p:cNvSpPr/>
          <p:nvPr/>
        </p:nvSpPr>
        <p:spPr>
          <a:xfrm>
            <a:off x="11756898" y="557657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41" name="Oval 40"/>
          <p:cNvSpPr/>
          <p:nvPr/>
        </p:nvSpPr>
        <p:spPr>
          <a:xfrm>
            <a:off x="10110978" y="61252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2" name="Oval 41"/>
          <p:cNvSpPr/>
          <p:nvPr/>
        </p:nvSpPr>
        <p:spPr>
          <a:xfrm>
            <a:off x="11756898" y="667385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3" name="Rounded Rectangle 42"/>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3903218"/>
            <a:ext cx="388767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5" name="Oval 44"/>
          <p:cNvSpPr/>
          <p:nvPr/>
        </p:nvSpPr>
        <p:spPr>
          <a:xfrm>
            <a:off x="13910310" y="4689602"/>
            <a:ext cx="2834640" cy="1737360"/>
          </a:xfrm>
          <a:prstGeom prst="ellipse">
            <a:avLst/>
          </a:prstGeom>
          <a:solidFill>
            <a:srgbClr val="E6EEEA"/>
          </a:solidFill>
          <a:ln w="28575">
            <a:solidFill>
              <a:srgbClr val="124944"/>
            </a:solidFill>
          </a:ln>
        </p:spPr>
        <p:txBody>
          <a:bodyPr anchor="ctr" rtlCol="false" lIns="0" tIns="0" rIns="0" bIns="0" wrap="square"/>
          <a:lstStyle/>
          <a:p>
            <a:endParaRPr lang="en-US" sz="1800"/>
          </a:p>
        </p:txBody>
      </p:sp>
      <p:sp>
        <p:nvSpPr>
          <p:cNvPr id="46" name="Oval 45"/>
          <p:cNvSpPr/>
          <p:nvPr/>
        </p:nvSpPr>
        <p:spPr>
          <a:xfrm>
            <a:off x="14248638" y="502793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7" name="Oval 46"/>
          <p:cNvSpPr/>
          <p:nvPr/>
        </p:nvSpPr>
        <p:spPr>
          <a:xfrm>
            <a:off x="15163038" y="479933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8" name="Oval 47"/>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9" name="TextBox 48"/>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50" name="Rounded Rectangle 49"/>
          <p:cNvSpPr/>
          <p:nvPr/>
        </p:nvSpPr>
        <p:spPr>
          <a:xfrm>
            <a:off x="9258300" y="7981442"/>
            <a:ext cx="8001000" cy="1235710"/>
          </a:xfrm>
          <a:prstGeom prst="roundRect">
            <a:avLst>
              <a:gd name="adj" fmla="val 18499"/>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12494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2494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1E5F58"/>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E5F58"/>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Our Thesis in One View</a:t>
            </a:r>
          </a:p>
        </p:txBody>
      </p:sp>
      <p:pic>
        <p:nvPicPr>
          <p:cNvPr id="23" name="Picture 22" descr="image.png"/>
          <p:cNvPicPr>
            <a:picLocks noChangeAspect="1"/>
          </p:cNvPicPr>
          <p:nvPr/>
        </p:nvPicPr>
        <p:blipFill>
          <a:blip r:embed="rId3"/>
          <a:stretch>
            <a:fillRect/>
          </a:stretch>
        </p:blipFill>
        <p:spPr>
          <a:xfrm>
            <a:off x="7298405"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TextBox 26"/>
          <p:cNvSpPr txBox="1"/>
          <p:nvPr/>
        </p:nvSpPr>
        <p:spPr>
          <a:xfrm>
            <a:off x="1028700" y="3363722"/>
            <a:ext cx="69494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Thesis</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Cooperative game theory (Shapley) is </a:t>
            </a:r>
            <a:r>
              <a:rPr lang="en-US" sz="2100" b="true">
                <a:solidFill>
                  <a:srgbClr val="111111"/>
                </a:solidFill>
                <a:latin typeface="Nunito Bold"/>
                <a:ea typeface="Nunito Bold"/>
                <a:cs typeface="Nunito Bold"/>
                <a:sym typeface="Nunito Bold"/>
              </a:rPr>
              <a:t>one shared, explainable way to attribute importance</a:t>
            </a:r>
            <a:r>
              <a:rPr lang="en-US" sz="2100" b="true">
                <a:solidFill>
                  <a:srgbClr val="111111"/>
                </a:solidFill>
                <a:latin typeface="Nunito Semi-Bold"/>
                <a:ea typeface="Nunito Semi-Bold"/>
                <a:cs typeface="Nunito Semi-Bold"/>
                <a:sym typeface="Nunito Semi-Bold"/>
              </a:rPr>
              <a:t>.</a:t>
            </a:r>
          </a:p>
          <a:p>
            <a:pPr algn="l">
              <a:lnSpc>
                <a:spcPts val="2750"/>
              </a:lnSpc>
              <a:spcBef>
                <a:spcPts val="1800"/>
              </a:spcBef>
              <a:buNone/>
            </a:pPr>
            <a:r>
              <a:rPr lang="en-US" sz="2200" b="true">
                <a:solidFill>
                  <a:srgbClr val="124944"/>
                </a:solidFill>
                <a:latin typeface="Nunito Ultra-Bold"/>
                <a:ea typeface="Nunito Ultra-Bold"/>
                <a:cs typeface="Nunito Ultra-Bold"/>
                <a:sym typeface="Nunito Ultra-Bold"/>
              </a:rPr>
              <a:t>The same logic spans clustering and recommendation</a:t>
            </a:r>
          </a:p>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C1:</a:t>
            </a:r>
            <a:r>
              <a:rPr lang="en-US" sz="2000" b="true">
                <a:solidFill>
                  <a:srgbClr val="111111"/>
                </a:solidFill>
                <a:latin typeface="Nunito Semi-Bold"/>
                <a:ea typeface="Nunito Semi-Bold"/>
                <a:cs typeface="Nunito Semi-Bold"/>
                <a:sym typeface="Nunito Semi-Bold"/>
              </a:rPr>
              <a:t> explains black-box clustering faithfully (wine).</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C2:</a:t>
            </a:r>
            <a:r>
              <a:rPr lang="en-US" sz="2000" b="true">
                <a:solidFill>
                  <a:srgbClr val="111111"/>
                </a:solidFill>
                <a:latin typeface="Nunito Semi-Bold"/>
                <a:ea typeface="Nunito Semi-Bold"/>
                <a:cs typeface="Nunito Semi-Bold"/>
                <a:sym typeface="Nunito Semi-Bold"/>
              </a:rPr>
              <a:t> keeps the explanation consistent at scale and across levels (Beijing).</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C3:</a:t>
            </a:r>
            <a:r>
              <a:rPr lang="en-US" sz="2000" b="true">
                <a:solidFill>
                  <a:srgbClr val="111111"/>
                </a:solidFill>
                <a:latin typeface="Nunito Semi-Bold"/>
                <a:ea typeface="Nunito Semi-Bold"/>
                <a:cs typeface="Nunito Semi-Bold"/>
                <a:sym typeface="Nunito Semi-Bold"/>
              </a:rPr>
              <a:t> DyHuCoG turns attribution into an </a:t>
            </a:r>
            <a:r>
              <a:rPr lang="en-US" sz="2000" b="true">
                <a:solidFill>
                  <a:srgbClr val="111111"/>
                </a:solidFill>
                <a:latin typeface="Nunito Bold"/>
                <a:ea typeface="Nunito Bold"/>
                <a:cs typeface="Nunito Bold"/>
                <a:sym typeface="Nunito Bold"/>
              </a:rPr>
              <a:t>in-training signal</a:t>
            </a:r>
            <a:r>
              <a:rPr lang="en-US" sz="2000" b="true">
                <a:solidFill>
                  <a:srgbClr val="111111"/>
                </a:solidFill>
                <a:latin typeface="Nunito Semi-Bold"/>
                <a:ea typeface="Nunito Semi-Bold"/>
                <a:cs typeface="Nunito Semi-Bold"/>
                <a:sym typeface="Nunito Semi-Bold"/>
              </a:rPr>
              <a:t>.</a:t>
            </a:r>
          </a:p>
          <a:p>
            <a:pPr algn="l">
              <a:lnSpc>
                <a:spcPts val="3080"/>
              </a:lnSpc>
              <a:spcBef>
                <a:spcPts val="1800"/>
              </a:spcBef>
              <a:buNone/>
            </a:pPr>
            <a:r>
              <a:rPr lang="en-US" sz="2200" b="true">
                <a:solidFill>
                  <a:srgbClr val="DF8330"/>
                </a:solidFill>
                <a:latin typeface="Nunito Bold"/>
                <a:ea typeface="Nunito Bold"/>
                <a:cs typeface="Nunito Bold"/>
                <a:sym typeface="Nunito Bold"/>
              </a:rPr>
              <a:t>From post-hoc description to in-training guidance.</a:t>
            </a:r>
          </a:p>
        </p:txBody>
      </p:sp>
      <p:sp>
        <p:nvSpPr>
          <p:cNvPr id="28" name="Rounded Rectangle 27"/>
          <p:cNvSpPr/>
          <p:nvPr/>
        </p:nvSpPr>
        <p:spPr>
          <a:xfrm>
            <a:off x="9914382" y="3409442"/>
            <a:ext cx="6048756" cy="914400"/>
          </a:xfrm>
          <a:prstGeom prst="roundRect">
            <a:avLst>
              <a:gd name="adj" fmla="val 20000"/>
            </a:avLst>
          </a:prstGeom>
          <a:solidFill>
            <a:srgbClr val="124944"/>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Everyday AI recommenders are powerful but not transparent</a:t>
            </a:r>
          </a:p>
        </p:txBody>
      </p:sp>
      <p:sp>
        <p:nvSpPr>
          <p:cNvPr id="29" name="Rounded Rectangle 28"/>
          <p:cNvSpPr/>
          <p:nvPr/>
        </p:nvSpPr>
        <p:spPr>
          <a:xfrm>
            <a:off x="9309506" y="4872482"/>
            <a:ext cx="7258507" cy="1097280"/>
          </a:xfrm>
          <a:prstGeom prst="roundRect">
            <a:avLst>
              <a:gd name="adj" fmla="val 16666"/>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Our thesis: cooperative game theory (Shapley) as one shared, explainable attribution method</a:t>
            </a:r>
          </a:p>
        </p:txBody>
      </p:sp>
      <p:cxnSp>
        <p:nvCxnSpPr>
          <p:cNvPr id="30" name="Connector 29"/>
          <p:cNvCxnSpPr/>
          <p:nvPr/>
        </p:nvCxnSpPr>
        <p:spPr>
          <a:xfrm>
            <a:off x="12938760" y="4351274"/>
            <a:ext cx="0" cy="475488"/>
          </a:xfrm>
          <a:prstGeom prst="line">
            <a:avLst/>
          </a:prstGeom>
          <a:ln w="31750">
            <a:solidFill>
              <a:srgbClr val="124944"/>
            </a:solidFill>
            <a:tailEnd type="triangle" w="med" len="med"/>
          </a:ln>
        </p:spPr>
      </p:cxnSp>
      <p:sp>
        <p:nvSpPr>
          <p:cNvPr id="31" name="Rounded Rectangle 30"/>
          <p:cNvSpPr/>
          <p:nvPr/>
        </p:nvSpPr>
        <p:spPr>
          <a:xfrm>
            <a:off x="8618220" y="6792722"/>
            <a:ext cx="2697480" cy="1554480"/>
          </a:xfrm>
          <a:prstGeom prst="roundRect">
            <a:avLst>
              <a:gd name="adj" fmla="val 11764"/>
            </a:avLst>
          </a:prstGeom>
          <a:solidFill>
            <a:srgbClr val="124944"/>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C1</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Explainable clustering</a:t>
            </a:r>
          </a:p>
        </p:txBody>
      </p:sp>
      <p:cxnSp>
        <p:nvCxnSpPr>
          <p:cNvPr id="32" name="Connector 31"/>
          <p:cNvCxnSpPr/>
          <p:nvPr/>
        </p:nvCxnSpPr>
        <p:spPr>
          <a:xfrm flipH="1">
            <a:off x="9966960" y="6015482"/>
            <a:ext cx="2971800" cy="731520"/>
          </a:xfrm>
          <a:prstGeom prst="line">
            <a:avLst/>
          </a:prstGeom>
          <a:ln w="25400">
            <a:solidFill>
              <a:srgbClr val="124944"/>
            </a:solidFill>
            <a:tailEnd type="triangle" w="med" len="med"/>
          </a:ln>
        </p:spPr>
      </p:cxnSp>
      <p:sp>
        <p:nvSpPr>
          <p:cNvPr id="33" name="Rounded Rectangle 32"/>
          <p:cNvSpPr/>
          <p:nvPr/>
        </p:nvSpPr>
        <p:spPr>
          <a:xfrm>
            <a:off x="11590020" y="6792722"/>
            <a:ext cx="2697480" cy="1554480"/>
          </a:xfrm>
          <a:prstGeom prst="roundRect">
            <a:avLst>
              <a:gd name="adj" fmla="val 11764"/>
            </a:avLst>
          </a:prstGeom>
          <a:solidFill>
            <a:srgbClr val="1E5F58"/>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C2</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Multi-level XAI</a:t>
            </a:r>
          </a:p>
        </p:txBody>
      </p:sp>
      <p:cxnSp>
        <p:nvCxnSpPr>
          <p:cNvPr id="34" name="Connector 33"/>
          <p:cNvCxnSpPr/>
          <p:nvPr/>
        </p:nvCxnSpPr>
        <p:spPr>
          <a:xfrm>
            <a:off x="12938760" y="6015482"/>
            <a:ext cx="0" cy="731520"/>
          </a:xfrm>
          <a:prstGeom prst="line">
            <a:avLst/>
          </a:prstGeom>
          <a:ln w="25400">
            <a:solidFill>
              <a:srgbClr val="124944"/>
            </a:solidFill>
            <a:tailEnd type="triangle" w="med" len="med"/>
          </a:ln>
        </p:spPr>
      </p:cxnSp>
      <p:sp>
        <p:nvSpPr>
          <p:cNvPr id="35" name="Rounded Rectangle 34"/>
          <p:cNvSpPr/>
          <p:nvPr/>
        </p:nvSpPr>
        <p:spPr>
          <a:xfrm>
            <a:off x="14561820" y="6792722"/>
            <a:ext cx="2697480" cy="1554480"/>
          </a:xfrm>
          <a:prstGeom prst="roundRect">
            <a:avLst>
              <a:gd name="adj" fmla="val 11764"/>
            </a:avLst>
          </a:prstGeom>
          <a:solidFill>
            <a:srgbClr val="DF8330"/>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C3</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DyHuCoG recommender</a:t>
            </a:r>
          </a:p>
        </p:txBody>
      </p:sp>
      <p:cxnSp>
        <p:nvCxnSpPr>
          <p:cNvPr id="36" name="Connector 35"/>
          <p:cNvCxnSpPr/>
          <p:nvPr/>
        </p:nvCxnSpPr>
        <p:spPr>
          <a:xfrm>
            <a:off x="12938760" y="6015482"/>
            <a:ext cx="2971800" cy="731520"/>
          </a:xfrm>
          <a:prstGeom prst="line">
            <a:avLst/>
          </a:prstGeom>
          <a:ln w="25400">
            <a:solidFill>
              <a:srgbClr val="124944"/>
            </a:solidFill>
            <a:tailEnd type="triangle" w="med" len="med"/>
          </a:ln>
        </p:spPr>
      </p:cxnSp>
      <p:sp>
        <p:nvSpPr>
          <p:cNvPr id="37" name="Rounded Rectangle 36"/>
          <p:cNvSpPr/>
          <p:nvPr/>
        </p:nvSpPr>
        <p:spPr>
          <a:xfrm>
            <a:off x="8618220" y="8667242"/>
            <a:ext cx="8641080" cy="641350"/>
          </a:xfrm>
          <a:prstGeom prst="roundRect">
            <a:avLst>
              <a:gd name="adj" fmla="val 35643"/>
            </a:avLst>
          </a:prstGeom>
          <a:solidFill>
            <a:srgbClr val="F6ECDF"/>
          </a:solidFill>
          <a:ln>
            <a:noFill/>
          </a:ln>
        </p:spPr>
        <p:txBody>
          <a:bodyPr anchor="ctr" rtlCol="false" lIns="274320" tIns="91440" rIns="274320" bIns="9144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Same axioms · same terms · same value-function logic: </a:t>
            </a:r>
            <a:r>
              <a:rPr lang="en-US" sz="1700" b="true">
                <a:solidFill>
                  <a:srgbClr val="111111"/>
                </a:solidFill>
                <a:latin typeface="Nunito Bold"/>
                <a:ea typeface="Nunito Bold"/>
                <a:cs typeface="Nunito Bold"/>
                <a:sym typeface="Nunito Bold"/>
              </a:rPr>
              <a:t>explanation as part of the method, not a comment added later.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   [20]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Datasets Used Throughout the Thesis</a:t>
            </a:r>
          </a:p>
        </p:txBody>
      </p:sp>
      <p:pic>
        <p:nvPicPr>
          <p:cNvPr id="23" name="Picture 22" descr="image.png"/>
          <p:cNvPicPr>
            <a:picLocks noChangeAspect="1"/>
          </p:cNvPicPr>
          <p:nvPr/>
        </p:nvPicPr>
        <p:blipFill>
          <a:blip r:embed="rId3"/>
          <a:stretch>
            <a:fillRect/>
          </a:stretch>
        </p:blipFill>
        <p:spPr>
          <a:xfrm>
            <a:off x="10935196"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7" cy="4532122"/>
        </p:xfrm>
        <a:graphic>
          <a:graphicData uri="http://schemas.openxmlformats.org/drawingml/2006/table">
            <a:tbl>
              <a:tblPr firstRow="0" bandRow="0" firstCol="0" lastRow="0" lastCol="0" bandCol="0">
                <a:tableStyleId>{2D5ABB26-0587-4C30-8999-92F81FD0307C}</a:tableStyleId>
              </a:tblPr>
              <a:tblGrid>
                <a:gridCol w="2870718"/>
                <a:gridCol w="2649893"/>
                <a:gridCol w="2539481"/>
                <a:gridCol w="2429069"/>
                <a:gridCol w="5741436"/>
              </a:tblGrid>
              <a:tr h="86868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Dataset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Scale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Type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Role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Why it was chosen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105740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Wine Quality (vinho verde)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numeric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C1: single-level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interpretable chemical features; small, dense, strongly correlated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attribution in a feature space experts trust.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Beijing Multi-Site Air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pollutants + weather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C2: multi-level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Hourly records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tests scale, noise, and time / weather 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MovieLens-1M</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 u / 3,706 i / 1.0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0.0447)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 benchmark with well-known 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Amazon-Book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 u / 91,599 i / 3.0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0.0006)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Very sparse, on purpose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stress-tests Shapley weighting when the signal is weak.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Rounded Rectangle 27"/>
          <p:cNvSpPr/>
          <p:nvPr/>
        </p:nvSpPr>
        <p:spPr>
          <a:xfrm>
            <a:off x="1028700" y="8261604"/>
            <a:ext cx="16230600" cy="914400"/>
          </a:xfrm>
          <a:prstGeom prst="roundRect">
            <a:avLst>
              <a:gd name="adj" fmla="val 25000"/>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The </a:t>
            </a:r>
            <a:r>
              <a:rPr lang="en-US" sz="2100" b="true">
                <a:solidFill>
                  <a:srgbClr val="FFFFFF"/>
                </a:solidFill>
                <a:latin typeface="Nunito Bold"/>
                <a:ea typeface="Nunito Bold"/>
                <a:cs typeface="Nunito Bold"/>
                <a:sym typeface="Nunito Bold"/>
              </a:rPr>
              <a:t>0.0447 vs 0.0006</a:t>
            </a:r>
            <a:r>
              <a:rPr lang="en-US" sz="2100" b="true">
                <a:solidFill>
                  <a:srgbClr val="FFFFFF"/>
                </a:solidFill>
                <a:latin typeface="Nunito Semi-Bold"/>
                <a:ea typeface="Nunito Semi-Bold"/>
                <a:cs typeface="Nunito Semi-Bold"/>
                <a:sym typeface="Nunito Semi-Bold"/>
              </a:rPr>
              <a:t> density contrast is on purpose: the claim is that </a:t>
            </a:r>
            <a:r>
              <a:rPr lang="en-US" sz="2100" b="true">
                <a:solidFill>
                  <a:srgbClr val="FFFFFF"/>
                </a:solidFill>
                <a:latin typeface="Nunito Bold"/>
                <a:ea typeface="Nunito Bold"/>
                <a:cs typeface="Nunito Bold"/>
                <a:sym typeface="Nunito Bold"/>
              </a:rPr>
              <a:t>gains are largest where data are weakest</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99005"/>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46713"/>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7112762"/>
            <a:ext cx="7932420" cy="2104390"/>
          </a:xfrm>
          <a:prstGeom prst="roundRect">
            <a:avLst>
              <a:gd name="adj" fmla="val 14773"/>
            </a:avLst>
          </a:prstGeom>
          <a:solidFill>
            <a:srgbClr val="124944"/>
          </a:solidFill>
          <a:ln>
            <a:noFill/>
          </a:ln>
        </p:spPr>
        <p:txBody>
          <a:bodyPr anchor="ctr" rtlCol="false" lIns="0" tIns="0" rIns="0" bIns="0" wrap="square"/>
          <a:lstStyle/>
          <a:p>
            <a:endParaRPr lang="en-US" sz="1800"/>
          </a:p>
        </p:txBody>
      </p:sp>
      <p:sp>
        <p:nvSpPr>
          <p:cNvPr id="29" name="Rounded Rectangle 28"/>
          <p:cNvSpPr/>
          <p:nvPr/>
        </p:nvSpPr>
        <p:spPr>
          <a:xfrm>
            <a:off x="1485900" y="687501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30" name="TextBox 29"/>
          <p:cNvSpPr txBox="1"/>
          <p:nvPr/>
        </p:nvSpPr>
        <p:spPr>
          <a:xfrm>
            <a:off x="1485900" y="7661402"/>
            <a:ext cx="7063740" cy="1372870"/>
          </a:xfrm>
          <a:prstGeom prst="rect">
            <a:avLst/>
          </a:prstGeom>
          <a:noFill/>
        </p:spPr>
        <p:txBody>
          <a:bodyPr anchor="t" rtlCol="false" lIns="0" tIns="0" rIns="0" bIns="0" wrap="square"/>
          <a:lstStyle/>
          <a:p>
            <a:pPr algn="l" marL="274320" indent="-274320">
              <a:lnSpc>
                <a:spcPts val="2380"/>
              </a:lnSpc>
              <a:spcBef>
                <a:spcPts val="0"/>
              </a:spcBef>
              <a:buClr>
                <a:srgbClr val="ECC665"/>
              </a:buClr>
              <a:buSzPct val="100000"/>
              <a:buFont typeface="Arial"/>
              <a:buChar char="•"/>
            </a:pPr>
            <a:r>
              <a:rPr lang="en-US" sz="1700" b="true">
                <a:solidFill>
                  <a:srgbClr val="FFFFFF"/>
                </a:solidFill>
                <a:latin typeface="Nunito Semi-Bold"/>
                <a:ea typeface="Nunito Semi-Bold"/>
                <a:cs typeface="Nunito Semi-Bold"/>
                <a:sym typeface="Nunito Semi-Bold"/>
              </a:rPr>
              <a:t>The hardware explains the </a:t>
            </a:r>
            <a:r>
              <a:rPr lang="en-US" sz="1700" b="true">
                <a:solidFill>
                  <a:srgbClr val="FFFFFF"/>
                </a:solidFill>
                <a:latin typeface="Nunito Bold"/>
                <a:ea typeface="Nunito Bold"/>
                <a:cs typeface="Nunito Bold"/>
                <a:sym typeface="Nunito Bold"/>
              </a:rPr>
              <a:t>runtime figures</a:t>
            </a:r>
            <a:r>
              <a:rPr lang="en-US" sz="1700"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380"/>
              </a:lnSpc>
              <a:spcBef>
                <a:spcPts val="600"/>
              </a:spcBef>
              <a:buClr>
                <a:srgbClr val="ECC665"/>
              </a:buClr>
              <a:buSzPct val="100000"/>
              <a:buFont typeface="Arial"/>
              <a:buChar char="•"/>
            </a:pPr>
            <a:r>
              <a:rPr lang="en-US" sz="1700" b="true">
                <a:solidFill>
                  <a:srgbClr val="FFFFFF"/>
                </a:solidFill>
                <a:latin typeface="Nunito Semi-Bold"/>
                <a:ea typeface="Nunito Semi-Bold"/>
                <a:cs typeface="Nunito Semi-Bold"/>
                <a:sym typeface="Nunito Semi-Bold"/>
              </a:rPr>
              <a:t>Metrics at K </a:t>
            </a:r>
            <a:r>
              <a:rPr lang="en-US" sz="1700" b="true">
                <a:solidFill>
                  <a:srgbClr val="FFFFFF"/>
                </a:solidFill>
                <a:latin typeface="Cambria Math"/>
                <a:ea typeface="Cambria Math"/>
                <a:cs typeface="Cambria Math"/>
                <a:sym typeface="Cambria Math"/>
              </a:rPr>
              <a:t>∈ </a:t>
            </a:r>
            <a:r>
              <a:rPr lang="en-US" sz="1700" b="true">
                <a:solidFill>
                  <a:srgbClr val="FFFFFF"/>
                </a:solidFill>
                <a:latin typeface="Nunito Semi-Bold"/>
                <a:ea typeface="Nunito Semi-Bold"/>
                <a:cs typeface="Nunito Semi-Bold"/>
                <a:sym typeface="Nunito Semi-Bold"/>
              </a:rPr>
              <a:t>{5, 10, 20}; five seeds; early stopping on validation NDCG@20.</a:t>
            </a:r>
          </a:p>
        </p:txBody>
      </p:sp>
      <p:sp>
        <p:nvSpPr>
          <p:cNvPr id="31" name="Rounded Rectangle 30"/>
          <p:cNvSpPr/>
          <p:nvPr/>
        </p:nvSpPr>
        <p:spPr>
          <a:xfrm>
            <a:off x="9326880" y="7112762"/>
            <a:ext cx="7932420" cy="2104390"/>
          </a:xfrm>
          <a:prstGeom prst="roundRect">
            <a:avLst>
              <a:gd name="adj" fmla="val 14773"/>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6875018"/>
            <a:ext cx="147020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3" name="TextBox 32"/>
          <p:cNvSpPr txBox="1"/>
          <p:nvPr/>
        </p:nvSpPr>
        <p:spPr>
          <a:xfrm>
            <a:off x="9784080" y="7661402"/>
            <a:ext cx="7063740" cy="1372870"/>
          </a:xfrm>
          <a:prstGeom prst="rect">
            <a:avLst/>
          </a:prstGeom>
          <a:noFill/>
        </p:spPr>
        <p:txBody>
          <a:bodyPr anchor="t" rtlCol="false" lIns="0" tIns="0" rIns="0" bIns="0" wrap="square"/>
          <a:lstStyle/>
          <a:p>
            <a:pPr algn="l" marL="274320" indent="-274320">
              <a:lnSpc>
                <a:spcPts val="2380"/>
              </a:lnSpc>
              <a:spcBef>
                <a:spcPts val="0"/>
              </a:spcBef>
              <a:buClr>
                <a:srgbClr val="DF8330"/>
              </a:buClr>
              <a:buSzPct val="100000"/>
              <a:buFont typeface="Arial"/>
              <a:buChar char="•"/>
            </a:pPr>
            <a:r>
              <a:rPr lang="en-US" sz="1700" b="true">
                <a:solidFill>
                  <a:srgbClr val="111111"/>
                </a:solidFill>
                <a:latin typeface="Nunito Bold"/>
                <a:ea typeface="Nunito Bold"/>
                <a:cs typeface="Nunito Bold"/>
                <a:sym typeface="Nunito Bold"/>
              </a:rPr>
              <a:t>Everything runs on standard academic hardware</a:t>
            </a:r>
            <a:r>
              <a:rPr lang="en-US" sz="1700" b="true">
                <a:solidFill>
                  <a:srgbClr val="111111"/>
                </a:solidFill>
                <a:latin typeface="Nunito Semi-Bold"/>
                <a:ea typeface="Nunito Semi-Bold"/>
                <a:cs typeface="Nunito Semi-Bold"/>
                <a:sym typeface="Nunito Semi-Bold"/>
              </a:rPr>
              <a:t>; nothing needs industrial-scale compute.</a:t>
            </a:r>
          </a:p>
          <a:p>
            <a:pPr algn="l" marL="274320" indent="-274320">
              <a:lnSpc>
                <a:spcPts val="2380"/>
              </a:lnSpc>
              <a:spcBef>
                <a:spcPts val="600"/>
              </a:spcBef>
              <a:buClr>
                <a:srgbClr val="DF8330"/>
              </a:buClr>
              <a:buSzPct val="100000"/>
              <a:buFont typeface="Arial"/>
              <a:buChar char="•"/>
            </a:pPr>
            <a:r>
              <a:rPr lang="en-US" sz="1700"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 Cooperative Game in One Picture</a:t>
            </a:r>
          </a:p>
        </p:txBody>
      </p:sp>
      <p:pic>
        <p:nvPicPr>
          <p:cNvPr id="23" name="Picture 22" descr="image.png"/>
          <p:cNvPicPr>
            <a:picLocks noChangeAspect="1"/>
          </p:cNvPicPr>
          <p:nvPr/>
        </p:nvPicPr>
        <p:blipFill>
          <a:blip r:embed="rId3"/>
          <a:stretch>
            <a:fillRect/>
          </a:stretch>
        </p:blipFill>
        <p:spPr>
          <a:xfrm>
            <a:off x="10353379" y="1673352"/>
            <a:ext cx="457200" cy="250983"/>
          </a:xfrm>
          <a:prstGeom prst="rect">
            <a:avLst/>
          </a:prstGeom>
        </p:spPr>
      </p:pic>
      <p:sp>
        <p:nvSpPr>
          <p:cNvPr id="24" name="Rounded Rectangle 23"/>
          <p:cNvSpPr/>
          <p:nvPr/>
        </p:nvSpPr>
        <p:spPr>
          <a:xfrm>
            <a:off x="1028700" y="2559050"/>
            <a:ext cx="162915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In this thesis</a:t>
            </a:r>
          </a:p>
        </p:txBody>
      </p:sp>
      <p:sp>
        <p:nvSpPr>
          <p:cNvPr id="27" name="TextBox 26"/>
          <p:cNvSpPr txBox="1"/>
          <p:nvPr/>
        </p:nvSpPr>
        <p:spPr>
          <a:xfrm>
            <a:off x="1028700" y="3363722"/>
            <a:ext cx="8229600" cy="2743200"/>
          </a:xfrm>
          <a:prstGeom prst="rect">
            <a:avLst/>
          </a:prstGeom>
          <a:noFill/>
        </p:spPr>
        <p:txBody>
          <a:bodyPr anchor="t" rtlCol="false" lIns="0" tIns="0" rIns="0" bIns="0" wrap="square"/>
          <a:lstStyle/>
          <a:p>
            <a:pPr algn="l">
              <a:lnSpc>
                <a:spcPts val="2420"/>
              </a:lnSpc>
              <a:spcBef>
                <a:spcPts val="0"/>
              </a:spcBef>
              <a:buNone/>
            </a:pPr>
            <a:r>
              <a:rPr lang="en-US" sz="1936" b="true">
                <a:solidFill>
                  <a:srgbClr val="124944"/>
                </a:solidFill>
                <a:latin typeface="Nunito Ultra-Bold"/>
                <a:ea typeface="Nunito Ultra-Bold"/>
                <a:cs typeface="Nunito Ultra-Bold"/>
                <a:sym typeface="Nunito Ultra-Bold"/>
              </a:rPr>
              <a:t>Three ingredients</a:t>
            </a:r>
          </a:p>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Bold"/>
                <a:ea typeface="Nunito Bold"/>
                <a:cs typeface="Nunito Bold"/>
                <a:sym typeface="Nunito Bold"/>
              </a:rPr>
              <a:t>Players</a:t>
            </a:r>
            <a:r>
              <a:rPr lang="en-US" sz="1760" b="true">
                <a:solidFill>
                  <a:srgbClr val="111111"/>
                </a:solidFill>
                <a:latin typeface="Nunito Semi-Bold"/>
                <a:ea typeface="Nunito Semi-Bold"/>
                <a:cs typeface="Nunito Semi-Bold"/>
                <a:sym typeface="Nunito Semi-Bold"/>
              </a:rPr>
              <a:t> N = {1, …, n}: the agents who can work together.</a:t>
            </a:r>
          </a:p>
          <a:p>
            <a:pPr algn="l" marL="274320" indent="-274320">
              <a:lnSpc>
                <a:spcPts val="2605"/>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Coalition</a:t>
            </a:r>
            <a:r>
              <a:rPr lang="en-US" sz="1760" b="true">
                <a:solidFill>
                  <a:srgbClr val="111111"/>
                </a:solidFill>
                <a:latin typeface="Nunito Semi-Bold"/>
                <a:ea typeface="Nunito Semi-Bold"/>
                <a:cs typeface="Nunito Semi-Bold"/>
                <a:sym typeface="Nunito Semi-Bold"/>
              </a:rPr>
              <a:t> S </a:t>
            </a:r>
            <a:r>
              <a:rPr lang="en-US" sz="1760" b="true">
                <a:solidFill>
                  <a:srgbClr val="111111"/>
                </a:solidFill>
                <a:latin typeface="Cambria Math"/>
                <a:ea typeface="Cambria Math"/>
                <a:cs typeface="Cambria Math"/>
                <a:sym typeface="Cambria Math"/>
              </a:rPr>
              <a:t>⊆ </a:t>
            </a:r>
            <a:r>
              <a:rPr lang="en-US" sz="1760" b="true">
                <a:solidFill>
                  <a:srgbClr val="111111"/>
                </a:solidFill>
                <a:latin typeface="Nunito Semi-Bold"/>
                <a:ea typeface="Nunito Semi-Bold"/>
                <a:cs typeface="Nunito Semi-Bold"/>
                <a:sym typeface="Nunito Semi-Bold"/>
              </a:rPr>
              <a:t>N: any group of players; there are 2</a:t>
            </a:r>
            <a:r>
              <a:rPr lang="en-US" sz="1760" b="true" baseline="30000">
                <a:solidFill>
                  <a:srgbClr val="111111"/>
                </a:solidFill>
                <a:latin typeface="Nunito Semi-Bold"/>
                <a:ea typeface="Nunito Semi-Bold"/>
                <a:cs typeface="Nunito Semi-Bold"/>
                <a:sym typeface="Nunito Semi-Bold"/>
              </a:rPr>
              <a:t>n</a:t>
            </a:r>
            <a:r>
              <a:rPr lang="en-US" sz="1760" b="true">
                <a:solidFill>
                  <a:srgbClr val="111111"/>
                </a:solidFill>
                <a:latin typeface="Nunito Semi-Bold"/>
                <a:ea typeface="Nunito Semi-Bold"/>
                <a:cs typeface="Nunito Semi-Bold"/>
                <a:sym typeface="Nunito Semi-Bold"/>
              </a:rPr>
              <a:t> of them.</a:t>
            </a:r>
          </a:p>
          <a:p>
            <a:pPr algn="l" marL="274320" indent="-274320">
              <a:lnSpc>
                <a:spcPts val="2605"/>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Characteristic function</a:t>
            </a:r>
            <a:r>
              <a:rPr lang="en-US" sz="1760" b="true">
                <a:solidFill>
                  <a:srgbClr val="111111"/>
                </a:solidFill>
                <a:latin typeface="Nunito Semi-Bold"/>
                <a:ea typeface="Nunito Semi-Bold"/>
                <a:cs typeface="Nunito Semi-Bold"/>
                <a:sym typeface="Nunito Semi-Bold"/>
              </a:rPr>
              <a:t> v: 2</a:t>
            </a:r>
            <a:r>
              <a:rPr lang="en-US" sz="1760" b="true" baseline="30000">
                <a:solidFill>
                  <a:srgbClr val="111111"/>
                </a:solidFill>
                <a:latin typeface="Nunito Semi-Bold"/>
                <a:ea typeface="Nunito Semi-Bold"/>
                <a:cs typeface="Nunito Semi-Bold"/>
                <a:sym typeface="Nunito Semi-Bold"/>
              </a:rPr>
              <a:t>N</a:t>
            </a:r>
            <a:r>
              <a:rPr lang="en-US" sz="1760" b="true">
                <a:solidFill>
                  <a:srgbClr val="111111"/>
                </a:solidFill>
                <a:latin typeface="Calibri"/>
                <a:ea typeface="Calibri"/>
                <a:cs typeface="Calibri"/>
                <a:sym typeface="Calibri"/>
              </a:rPr>
              <a:t> → </a:t>
            </a:r>
            <a:r>
              <a:rPr lang="en-US" sz="1760" b="true">
                <a:solidFill>
                  <a:srgbClr val="111111"/>
                </a:solidFill>
                <a:latin typeface="Cambria Math"/>
                <a:ea typeface="Cambria Math"/>
                <a:cs typeface="Cambria Math"/>
                <a:sym typeface="Cambria Math"/>
              </a:rPr>
              <a:t>ℝ </a:t>
            </a:r>
            <a:r>
              <a:rPr lang="en-US" sz="1760" b="true">
                <a:solidFill>
                  <a:srgbClr val="111111"/>
                </a:solidFill>
                <a:latin typeface="Nunito Semi-Bold"/>
                <a:ea typeface="Nunito Semi-Bold"/>
                <a:cs typeface="Nunito Semi-Bold"/>
                <a:sym typeface="Nunito Semi-Bold"/>
              </a:rPr>
              <a:t>with v(∅) = 0: the value a coalition creates </a:t>
            </a:r>
            <a:r>
              <a:rPr lang="en-US" sz="1760" b="true">
                <a:solidFill>
                  <a:srgbClr val="111111"/>
                </a:solidFill>
                <a:latin typeface="Nunito Bold"/>
                <a:ea typeface="Nunito Bold"/>
                <a:cs typeface="Nunito Bold"/>
                <a:sym typeface="Nunito Bold"/>
              </a:rPr>
              <a:t>on its own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The question:</a:t>
            </a:r>
            <a:r>
              <a:rPr lang="en-US" sz="1760" b="true">
                <a:solidFill>
                  <a:srgbClr val="111111"/>
                </a:solidFill>
                <a:latin typeface="Nunito Semi-Bold"/>
                <a:ea typeface="Nunito Semi-Bold"/>
                <a:cs typeface="Nunito Semi-Bold"/>
                <a:sym typeface="Nunito Semi-Bold"/>
              </a:rPr>
              <a:t> the grand coalition N earns v(N); </a:t>
            </a:r>
            <a:r>
              <a:rPr lang="en-US" sz="1760" b="true">
                <a:solidFill>
                  <a:srgbClr val="111111"/>
                </a:solidFill>
                <a:latin typeface="Nunito Bold"/>
                <a:ea typeface="Nunito Bold"/>
                <a:cs typeface="Nunito Bold"/>
                <a:sym typeface="Nunito Bold"/>
              </a:rPr>
              <a:t>how should it be shared fairly</a:t>
            </a:r>
            <a:r>
              <a:rPr lang="en-US" sz="1760" b="true">
                <a:solidFill>
                  <a:srgbClr val="111111"/>
                </a:solidFill>
                <a:latin typeface="Nunito Semi-Bold"/>
                <a:ea typeface="Nunito Semi-Bold"/>
                <a:cs typeface="Nunito Semi-Bold"/>
                <a:sym typeface="Nunito Semi-Bold"/>
              </a:rPr>
              <a:t> among the players?</a:t>
            </a:r>
          </a:p>
        </p:txBody>
      </p:sp>
      <p:sp>
        <p:nvSpPr>
          <p:cNvPr id="28" name="Rounded Rectangle 27"/>
          <p:cNvSpPr/>
          <p:nvPr/>
        </p:nvSpPr>
        <p:spPr>
          <a:xfrm>
            <a:off x="1028700" y="6198362"/>
            <a:ext cx="8229600" cy="914400"/>
          </a:xfrm>
          <a:prstGeom prst="roundRect">
            <a:avLst>
              <a:gd name="adj" fmla="val 22000"/>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028700" y="6271514"/>
            <a:ext cx="8229600" cy="256032"/>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0" name="Equation"/>
              <p:cNvSpPr txBox="1"/>
              <p:nvPr/>
            </p:nvSpPr>
            <p:spPr>
              <a:xfrm>
                <a:off x="1211580" y="6490970"/>
                <a:ext cx="7863840" cy="56692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2000">
                          <a:solidFill>
                            <a:srgbClr val="FFFFFF"/>
                          </a:solidFill>
                          <a:latin typeface="Cambria Math" panose="02040503050406030204" pitchFamily="18" charset="0"/>
                        </a:rPr>
                        <m:t xml:space="preserve">(</m:t>
                      </m:r>
                      <m:r>
                        <a:rPr lang="en-US" sz="2000" i="1">
                          <a:solidFill>
                            <a:srgbClr val="FFFFFF"/>
                          </a:solidFill>
                          <a:latin typeface="Cambria Math" panose="02040503050406030204" pitchFamily="18" charset="0"/>
                        </a:rPr>
                        <m:t xml:space="preserve">N</m:t>
                      </m:r>
                      <m:r>
                        <m:rPr>
                          <m:sty m:val="p"/>
                        </m:rPr>
                        <a:rPr lang="en-US" sz="2000">
                          <a:solidFill>
                            <a:srgbClr val="FFFFFF"/>
                          </a:solidFill>
                          <a:latin typeface="Cambria Math" panose="02040503050406030204" pitchFamily="18" charset="0"/>
                        </a:rPr>
                        <m:t xml:space="preserve">,</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),  </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m:t>
                      </m:r>
                      <m:sSup>
                        <m:sSupPr>
                          <m:ctrlPr>
                            <a:rPr lang="en-US" sz="2000" i="1">
                              <a:solidFill>
                                <a:srgbClr val="FFFFFF"/>
                              </a:solidFill>
                              <a:latin typeface="Cambria Math" panose="02040503050406030204" pitchFamily="18" charset="0"/>
                            </a:rPr>
                          </m:ctrlPr>
                        </m:sSupPr>
                        <m:e>
                          <m:r>
                            <m:rPr>
                              <m:sty m:val="p"/>
                            </m:rPr>
                            <a:rPr lang="en-US" sz="2000">
                              <a:solidFill>
                                <a:srgbClr val="FFFFFF"/>
                              </a:solidFill>
                              <a:latin typeface="Cambria Math" panose="02040503050406030204" pitchFamily="18" charset="0"/>
                            </a:rPr>
                            <m:t xml:space="preserve">2</m:t>
                          </m:r>
                        </m:e>
                        <m:sup>
                          <m:r>
                            <a:rPr lang="en-US" sz="2000" i="1">
                              <a:solidFill>
                                <a:srgbClr val="FFFFFF"/>
                              </a:solidFill>
                              <a:latin typeface="Cambria Math" panose="02040503050406030204" pitchFamily="18" charset="0"/>
                            </a:rPr>
                            <m:t xml:space="preserve">N</m:t>
                          </m:r>
                        </m:sup>
                      </m:sSup>
                      <m:r>
                        <m:rPr>
                          <m:sty m:val="p"/>
                        </m:rPr>
                        <a:rPr lang="en-US" sz="2000">
                          <a:solidFill>
                            <a:srgbClr val="FFFFFF"/>
                          </a:solidFill>
                          <a:latin typeface="Cambria Math" panose="02040503050406030204" pitchFamily="18" charset="0"/>
                        </a:rPr>
                        <m:t xml:space="preserve">→</m:t>
                      </m:r>
                      <m:r>
                        <m:rPr>
                          <m:scr m:val="double-struck"/>
                          <m:sty m:val="p"/>
                        </m:rPr>
                        <a:rPr lang="en-US" sz="2000">
                          <a:solidFill>
                            <a:srgbClr val="FFFFFF"/>
                          </a:solidFill>
                          <a:latin typeface="Cambria Math" panose="02040503050406030204" pitchFamily="18" charset="0"/>
                        </a:rPr>
                        <m:t xml:space="preserve">R</m:t>
                      </m:r>
                      <m:r>
                        <m:rPr>
                          <m:sty m:val="p"/>
                        </m:rPr>
                        <a:rPr lang="en-US" sz="2000">
                          <a:solidFill>
                            <a:srgbClr val="FFFFFF"/>
                          </a:solidFill>
                          <a:latin typeface="Cambria Math" panose="02040503050406030204" pitchFamily="18" charset="0"/>
                        </a:rPr>
                        <m:t xml:space="preserve">,  </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(∅)=0</m:t>
                      </m:r>
                    </m:oMath>
                  </m:oMathPara>
                </a14:m>
                <a:endParaRPr lang="en-US" sz="2000"/>
              </a:p>
            </p:txBody>
          </p:sp>
        </mc:Choice>
        <mc:Fallback>
          <p:sp>
            <p:nvSpPr>
              <p:cNvPr id="30" name="Equation"/>
              <p:cNvSpPr txBox="1"/>
              <p:nvPr/>
            </p:nvSpPr>
            <p:spPr>
              <a:xfrm>
                <a:off x="1211580" y="6490970"/>
                <a:ext cx="7863840" cy="566928"/>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7524242"/>
            <a:ext cx="8229600" cy="1738630"/>
          </a:xfrm>
          <a:prstGeom prst="roundRect">
            <a:avLst>
              <a:gd name="adj" fmla="val 11570"/>
            </a:avLst>
          </a:prstGeom>
          <a:solidFill>
            <a:srgbClr val="F6ECDF"/>
          </a:solidFill>
          <a:ln w="25400">
            <a:solidFill>
              <a:srgbClr val="DF8330"/>
            </a:solidFill>
          </a:ln>
        </p:spPr>
        <p:txBody>
          <a:bodyPr anchor="ctr" rtlCol="false" lIns="0" tIns="0" rIns="0" bIns="0" wrap="square"/>
          <a:lstStyle/>
          <a:p>
            <a:endParaRPr lang="en-US" sz="1800"/>
          </a:p>
        </p:txBody>
      </p:sp>
      <p:sp>
        <p:nvSpPr>
          <p:cNvPr id="32" name="Rounded Rectangle 31"/>
          <p:cNvSpPr/>
          <p:nvPr/>
        </p:nvSpPr>
        <p:spPr>
          <a:xfrm>
            <a:off x="1348740" y="7332218"/>
            <a:ext cx="38908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3" name="TextBox 32"/>
          <p:cNvSpPr txBox="1"/>
          <p:nvPr/>
        </p:nvSpPr>
        <p:spPr>
          <a:xfrm>
            <a:off x="1394460" y="7798562"/>
            <a:ext cx="7498080" cy="1327150"/>
          </a:xfrm>
          <a:prstGeom prst="rect">
            <a:avLst/>
          </a:prstGeom>
          <a:noFill/>
        </p:spPr>
        <p:txBody>
          <a:bodyPr anchor="ctr" rtlCol="false" lIns="0" tIns="0" rIns="0" bIns="0" wrap="square"/>
          <a:lstStyle/>
          <a:p>
            <a:pPr algn="l">
              <a:lnSpc>
                <a:spcPts val="2444"/>
              </a:lnSpc>
              <a:spcBef>
                <a:spcPts val="0"/>
              </a:spcBef>
              <a:buNone/>
            </a:pPr>
            <a:r>
              <a:rPr lang="en-US" sz="1746" b="true">
                <a:solidFill>
                  <a:srgbClr val="111111"/>
                </a:solidFill>
                <a:latin typeface="Nunito Semi-Bold"/>
                <a:ea typeface="Nunito Semi-Bold"/>
                <a:cs typeface="Nunito Semi-Bold"/>
                <a:sym typeface="Nunito Semi-Bold"/>
              </a:rPr>
              <a:t>Guitar, Voice and Drums are paid for a gig. Alone they earn </a:t>
            </a:r>
            <a:r>
              <a:rPr lang="en-US" sz="1746" b="true">
                <a:solidFill>
                  <a:srgbClr val="111111"/>
                </a:solidFill>
                <a:latin typeface="Nunito Bold"/>
                <a:ea typeface="Nunito Bold"/>
                <a:cs typeface="Nunito Bold"/>
                <a:sym typeface="Nunito Bold"/>
              </a:rPr>
              <a:t>60, 40 and 20</a:t>
            </a:r>
            <a:r>
              <a:rPr lang="en-US" sz="1746" b="true">
                <a:solidFill>
                  <a:srgbClr val="111111"/>
                </a:solidFill>
                <a:latin typeface="Nunito Semi-Bold"/>
                <a:ea typeface="Nunito Semi-Bold"/>
                <a:cs typeface="Nunito Semi-Bold"/>
                <a:sym typeface="Nunito Semi-Bold"/>
              </a:rPr>
              <a:t>. Guitar + Voice together earn </a:t>
            </a:r>
            <a:r>
              <a:rPr lang="en-US" sz="1746" b="true">
                <a:solidFill>
                  <a:srgbClr val="111111"/>
                </a:solidFill>
                <a:latin typeface="Nunito Bold"/>
                <a:ea typeface="Nunito Bold"/>
                <a:cs typeface="Nunito Bold"/>
                <a:sym typeface="Nunito Bold"/>
              </a:rPr>
              <a:t>140</a:t>
            </a:r>
            <a:r>
              <a:rPr lang="en-US" sz="1746" b="true">
                <a:solidFill>
                  <a:srgbClr val="111111"/>
                </a:solidFill>
                <a:latin typeface="Nunito Semi-Bold"/>
                <a:ea typeface="Nunito Semi-Bold"/>
                <a:cs typeface="Nunito Semi-Bold"/>
                <a:sym typeface="Nunito Semi-Bold"/>
              </a:rPr>
              <a:t>, more than 60 + 40: the value of a group is </a:t>
            </a:r>
            <a:r>
              <a:rPr lang="en-US" sz="1746" b="true">
                <a:solidFill>
                  <a:srgbClr val="111111"/>
                </a:solidFill>
                <a:latin typeface="Nunito Bold"/>
                <a:ea typeface="Nunito Bold"/>
                <a:cs typeface="Nunito Bold"/>
                <a:sym typeface="Nunito Bold"/>
              </a:rPr>
              <a:t>not the sum of its parts</a:t>
            </a:r>
            <a:r>
              <a:rPr lang="en-US" sz="1746" b="true">
                <a:solidFill>
                  <a:srgbClr val="111111"/>
                </a:solidFill>
                <a:latin typeface="Nunito Semi-Bold"/>
                <a:ea typeface="Nunito Semi-Bold"/>
                <a:cs typeface="Nunito Semi-Bold"/>
                <a:sym typeface="Nunito Semi-Bold"/>
              </a:rPr>
              <a:t>. All three together earn </a:t>
            </a:r>
            <a:r>
              <a:rPr lang="en-US" sz="1746" b="true">
                <a:solidFill>
                  <a:srgbClr val="111111"/>
                </a:solidFill>
                <a:latin typeface="Nunito Bold"/>
                <a:ea typeface="Nunito Bold"/>
                <a:cs typeface="Nunito Bold"/>
                <a:sym typeface="Nunito Bold"/>
              </a:rPr>
              <a:t>200</a:t>
            </a:r>
            <a:r>
              <a:rPr lang="en-US" sz="1746" b="true">
                <a:solidFill>
                  <a:srgbClr val="111111"/>
                </a:solidFill>
                <a:latin typeface="Nunito Semi-Bold"/>
                <a:ea typeface="Nunito Semi-Bold"/>
                <a:cs typeface="Nunito Semi-Bold"/>
                <a:sym typeface="Nunito Semi-Bold"/>
              </a:rPr>
              <a:t>. How should the 200 be split?</a:t>
            </a:r>
          </a:p>
        </p:txBody>
      </p:sp>
      <p:sp>
        <p:nvSpPr>
          <p:cNvPr id="34" name="TextBox 33"/>
          <p:cNvSpPr txBox="1"/>
          <p:nvPr/>
        </p:nvSpPr>
        <p:spPr>
          <a:xfrm>
            <a:off x="9761220" y="3318002"/>
            <a:ext cx="74980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CHARACTERISTIC FUNCTION v(S) OF THE BAND</a:t>
            </a:r>
          </a:p>
        </p:txBody>
      </p:sp>
      <p:graphicFrame>
        <p:nvGraphicFramePr>
          <p:cNvPr id="35" name="Table 34"/>
          <p:cNvGraphicFramePr>
            <a:graphicFrameLocks noGrp="1"/>
          </p:cNvGraphicFramePr>
          <p:nvPr/>
        </p:nvGraphicFramePr>
        <p:xfrm>
          <a:off x="9761220" y="3683762"/>
          <a:ext cx="7498079" cy="4448048"/>
        </p:xfrm>
        <a:graphic>
          <a:graphicData uri="http://schemas.openxmlformats.org/drawingml/2006/table">
            <a:tbl>
              <a:tblPr firstRow="0" bandRow="0" firstCol="0" lastRow="0" lastCol="0" bandCol="0">
                <a:tableStyleId>{2D5ABB26-0587-4C30-8999-92F81FD0307C}</a:tableStyleId>
              </a:tblPr>
              <a:tblGrid>
                <a:gridCol w="2221653"/>
                <a:gridCol w="3610186"/>
                <a:gridCol w="1666240"/>
              </a:tblGrid>
              <a:tr h="479552">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6" name="Rounded Rectangle 35"/>
          <p:cNvSpPr/>
          <p:nvPr/>
        </p:nvSpPr>
        <p:spPr>
          <a:xfrm>
            <a:off x="9761220" y="8406130"/>
            <a:ext cx="7498080" cy="811022"/>
          </a:xfrm>
          <a:prstGeom prst="roundRect">
            <a:avLst>
              <a:gd name="adj" fmla="val 24804"/>
            </a:avLst>
          </a:prstGeom>
          <a:solidFill>
            <a:srgbClr val="F6ECDF"/>
          </a:solidFill>
          <a:ln>
            <a:noFill/>
          </a:ln>
        </p:spPr>
        <p:txBody>
          <a:bodyPr anchor="ctr" rtlCol="false" lIns="274320" tIns="91440" rIns="27432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Synergy: v({G, V}) = 140 &gt; v({G}) + v({V}) = 100. A fair split has to give credit for what a player </a:t>
            </a:r>
            <a:r>
              <a:rPr lang="en-US" sz="1600" b="true">
                <a:solidFill>
                  <a:srgbClr val="111111"/>
                </a:solidFill>
                <a:latin typeface="Nunito Bold"/>
                <a:ea typeface="Nunito Bold"/>
                <a:cs typeface="Nunito Bold"/>
                <a:sym typeface="Nunito Bold"/>
              </a:rPr>
              <a:t>adds to the others</a:t>
            </a:r>
            <a:r>
              <a:rPr lang="en-US" sz="1600" b="true">
                <a:solidFill>
                  <a:srgbClr val="111111"/>
                </a:solidFill>
                <a:latin typeface="Nunito Semi-Bold"/>
                <a:ea typeface="Nunito Semi-Bold"/>
                <a:cs typeface="Nunito Semi-Bold"/>
                <a:sym typeface="Nunito Semi-Bold"/>
              </a:rPr>
              <a:t>, not only for what they earn alone.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Shapley Value: Average Marginal Contribution</a:t>
            </a:r>
          </a:p>
        </p:txBody>
      </p:sp>
      <p:pic>
        <p:nvPicPr>
          <p:cNvPr id="23" name="Picture 22" descr="image.png"/>
          <p:cNvPicPr>
            <a:picLocks noChangeAspect="1"/>
          </p:cNvPicPr>
          <p:nvPr/>
        </p:nvPicPr>
        <p:blipFill>
          <a:blip r:embed="rId3"/>
          <a:stretch>
            <a:fillRect/>
          </a:stretch>
        </p:blipFill>
        <p:spPr>
          <a:xfrm>
            <a:off x="14307829" y="1673352"/>
            <a:ext cx="457200" cy="415247"/>
          </a:xfrm>
          <a:prstGeom prst="rect">
            <a:avLst/>
          </a:prstGeom>
        </p:spPr>
      </p:pic>
      <p:sp>
        <p:nvSpPr>
          <p:cNvPr id="24" name="Rounded Rectangle 23"/>
          <p:cNvSpPr/>
          <p:nvPr/>
        </p:nvSpPr>
        <p:spPr>
          <a:xfrm>
            <a:off x="1028700" y="2559050"/>
            <a:ext cx="162915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In this thesis</a:t>
            </a:r>
          </a:p>
        </p:txBody>
      </p:sp>
      <p:sp>
        <p:nvSpPr>
          <p:cNvPr id="27" name="TextBox 26"/>
          <p:cNvSpPr txBox="1"/>
          <p:nvPr/>
        </p:nvSpPr>
        <p:spPr>
          <a:xfrm>
            <a:off x="1028700" y="3318002"/>
            <a:ext cx="786384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ALL 6 ARRIVAL ORDERS  ·  MARGINAL CONTRIBUTION OF EACH PLAYER</a:t>
            </a:r>
          </a:p>
        </p:txBody>
      </p:sp>
      <p:graphicFrame>
        <p:nvGraphicFramePr>
          <p:cNvPr id="28" name="Table 27"/>
          <p:cNvGraphicFramePr>
            <a:graphicFrameLocks noGrp="1"/>
          </p:cNvGraphicFramePr>
          <p:nvPr/>
        </p:nvGraphicFramePr>
        <p:xfrm>
          <a:off x="1028700" y="3683762"/>
          <a:ext cx="7863840" cy="4232656"/>
        </p:xfrm>
        <a:graphic>
          <a:graphicData uri="http://schemas.openxmlformats.org/drawingml/2006/table">
            <a:tbl>
              <a:tblPr firstRow="0" bandRow="0" firstCol="0" lastRow="0" lastCol="0" bandCol="0">
                <a:tableStyleId>{2D5ABB26-0587-4C30-8999-92F81FD0307C}</a:tableStyleId>
              </a:tblPr>
              <a:tblGrid>
                <a:gridCol w="2926080"/>
                <a:gridCol w="1645920"/>
                <a:gridCol w="1645920"/>
                <a:gridCol w="1645920"/>
              </a:tblGrid>
              <a:tr h="479552">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Arrival order</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Guitar</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Voice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Drums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00"/>
                        </a:lnSpc>
                        <a:spcBef>
                          <a:spcPts val="0"/>
                        </a:spcBef>
                        <a:buNone/>
                      </a:pPr>
                      <a:r>
                        <a:rPr lang="en-US" sz="1700" b="true">
                          <a:solidFill>
                            <a:srgbClr val="124944"/>
                          </a:solidFill>
                          <a:latin typeface="Nunito Ultra-Bold"/>
                          <a:ea typeface="Nunito Ultra-Bold"/>
                          <a:cs typeface="Nunito Ultra-Bold"/>
                          <a:sym typeface="Nunito Ultra-Bold"/>
                        </a:rPr>
                        <a:t>Average = Shapley value </a:t>
                      </a:r>
                      <a:r>
                        <a:rPr lang="en-US" sz="1700" b="true">
                          <a:solidFill>
                            <a:srgbClr val="124944"/>
                          </a:solidFill>
                          <a:latin typeface="Calibri"/>
                          <a:ea typeface="Calibri"/>
                          <a:cs typeface="Calibri"/>
                          <a:sym typeface="Calibri"/>
                        </a:rPr>
                        <a:t>φ</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90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8190738"/>
            <a:ext cx="7863840" cy="1026414"/>
          </a:xfrm>
          <a:prstGeom prst="roundRect">
            <a:avLst>
              <a:gd name="adj" fmla="val 19599"/>
            </a:avLst>
          </a:prstGeom>
          <a:solidFill>
            <a:srgbClr val="F6ECDF"/>
          </a:solidFill>
          <a:ln>
            <a:noFill/>
          </a:ln>
        </p:spPr>
        <p:txBody>
          <a:bodyPr anchor="ctr" rtlCol="false" lIns="320040" tIns="91440" rIns="320040" bIns="91440" wrap="square"/>
          <a:lstStyle/>
          <a:p>
            <a:pPr algn="l">
              <a:lnSpc>
                <a:spcPts val="2100"/>
              </a:lnSpc>
              <a:spcBef>
                <a:spcPts val="0"/>
              </a:spcBef>
              <a:buNone/>
            </a:pPr>
            <a:r>
              <a:rPr lang="en-US" sz="1600" b="true">
                <a:solidFill>
                  <a:srgbClr val="111111"/>
                </a:solidFill>
                <a:latin typeface="Nunito Semi-Bold"/>
                <a:ea typeface="Nunito Semi-Bold"/>
                <a:cs typeface="Nunito Semi-Bold"/>
                <a:sym typeface="Nunito Semi-Bold"/>
              </a:rPr>
              <a:t>Reading one row: in the order V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D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G, Voice arrives first and adds 40; Drums then raises the value from 40 to 80 (+40); Guitar completes the band, 80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200 (</a:t>
            </a:r>
            <a:r>
              <a:rPr lang="en-US" sz="1600" b="true">
                <a:solidFill>
                  <a:srgbClr val="111111"/>
                </a:solidFill>
                <a:latin typeface="Nunito Bold"/>
                <a:ea typeface="Nunito Bold"/>
                <a:cs typeface="Nunito Bold"/>
                <a:sym typeface="Nunito Bold"/>
              </a:rPr>
              <a:t>+120</a:t>
            </a:r>
            <a:r>
              <a:rPr lang="en-US" sz="1600" b="true">
                <a:solidFill>
                  <a:srgbClr val="111111"/>
                </a:solidFill>
                <a:latin typeface="Nunito Semi-Bold"/>
                <a:ea typeface="Nunito Semi-Bold"/>
                <a:cs typeface="Nunito Semi-Bold"/>
                <a:sym typeface="Nunito Semi-Bold"/>
              </a:rPr>
              <a:t>). The split </a:t>
            </a:r>
            <a:r>
              <a:rPr lang="en-US" sz="1600" b="true">
                <a:solidFill>
                  <a:srgbClr val="111111"/>
                </a:solidFill>
                <a:latin typeface="Nunito Bold"/>
                <a:ea typeface="Nunito Bold"/>
                <a:cs typeface="Nunito Bold"/>
                <a:sym typeface="Nunito Bold"/>
              </a:rPr>
              <a:t>90 + 70 + 40 = 200</a:t>
            </a:r>
            <a:r>
              <a:rPr lang="en-US" sz="1600" b="true">
                <a:solidFill>
                  <a:srgbClr val="111111"/>
                </a:solidFill>
                <a:latin typeface="Nunito Semi-Bold"/>
                <a:ea typeface="Nunito Semi-Bold"/>
                <a:cs typeface="Nunito Semi-Bold"/>
                <a:sym typeface="Nunito Semi-Bold"/>
              </a:rPr>
              <a:t>: nothing is lost, nothing is invented.</a:t>
            </a:r>
          </a:p>
        </p:txBody>
      </p:sp>
      <p:sp>
        <p:nvSpPr>
          <p:cNvPr id="30" name="Rounded Rectangle 29"/>
          <p:cNvSpPr/>
          <p:nvPr/>
        </p:nvSpPr>
        <p:spPr>
          <a:xfrm>
            <a:off x="9395460" y="3363722"/>
            <a:ext cx="7863840" cy="2514600"/>
          </a:xfrm>
          <a:prstGeom prst="roundRect">
            <a:avLst>
              <a:gd name="adj" fmla="val 10909"/>
            </a:avLst>
          </a:prstGeom>
          <a:solidFill>
            <a:srgbClr val="124944"/>
          </a:solidFill>
          <a:ln>
            <a:noFill/>
          </a:ln>
        </p:spPr>
        <p:txBody>
          <a:bodyPr anchor="ctr" rtlCol="false" lIns="0" tIns="0" rIns="0" bIns="0" wrap="square"/>
          <a:lstStyle/>
          <a:p>
            <a:endParaRPr lang="en-US" sz="1800"/>
          </a:p>
        </p:txBody>
      </p:sp>
      <p:sp>
        <p:nvSpPr>
          <p:cNvPr id="31" name="TextBox 30"/>
          <p:cNvSpPr txBox="1"/>
          <p:nvPr/>
        </p:nvSpPr>
        <p:spPr>
          <a:xfrm>
            <a:off x="9395460" y="3546602"/>
            <a:ext cx="7863840" cy="274320"/>
          </a:xfrm>
          <a:prstGeom prst="rect">
            <a:avLst/>
          </a:prstGeom>
          <a:noFill/>
        </p:spPr>
        <p:txBody>
          <a:bodyPr anchor="t" rtlCol="false" lIns="0" tIns="0" rIns="0" bIns="0" wrap="square"/>
          <a:lstStyle/>
          <a:p>
            <a:pPr algn="ctr">
              <a:lnSpc>
                <a:spcPts val="17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(SHAPLEY, 1953)</a:t>
            </a:r>
          </a:p>
        </p:txBody>
      </p:sp>
      <mc:AlternateContent xmlns:mc="http://schemas.openxmlformats.org/markup-compatibility/2006">
        <mc:Choice xmlns:a14="http://schemas.microsoft.com/office/drawing/2010/main" Requires="a14">
          <p:sp>
            <p:nvSpPr>
              <p:cNvPr id="32" name="Equation"/>
              <p:cNvSpPr txBox="1"/>
              <p:nvPr/>
            </p:nvSpPr>
            <p:spPr>
              <a:xfrm>
                <a:off x="9578340" y="3820922"/>
                <a:ext cx="7498080" cy="15544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100" i="1">
                              <a:solidFill>
                                <a:srgbClr val="FFFFFF"/>
                              </a:solidFill>
                              <a:latin typeface="Cambria Math" panose="02040503050406030204" pitchFamily="18" charset="0"/>
                            </a:rPr>
                          </m:ctrlPr>
                        </m:sSubPr>
                        <m:e>
                          <m:r>
                            <a:rPr lang="en-US" sz="2100" i="1">
                              <a:solidFill>
                                <a:srgbClr val="FFFFFF"/>
                              </a:solidFill>
                              <a:latin typeface="Cambria Math" panose="02040503050406030204" pitchFamily="18" charset="0"/>
                            </a:rPr>
                            <m:t xml:space="preserve">φ</m:t>
                          </m:r>
                        </m:e>
                        <m:sub>
                          <m:r>
                            <a:rPr lang="en-US" sz="2100" i="1">
                              <a:solidFill>
                                <a:srgbClr val="FFFFFF"/>
                              </a:solidFill>
                              <a:latin typeface="Cambria Math" panose="02040503050406030204" pitchFamily="18" charset="0"/>
                            </a:rPr>
                            <m:t xml:space="preserve">j</m:t>
                          </m:r>
                        </m:sub>
                      </m:sSub>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nary>
                        <m:naryPr>
                          <m:chr m:val="∑"/>
                          <m:limLoc m:val="undOvr"/>
                          <m:supHide m:val="1"/>
                          <m:ctrlPr>
                            <a:rPr lang="en-US" sz="2100" i="1">
                              <a:solidFill>
                                <a:srgbClr val="FFFFFF"/>
                              </a:solidFill>
                              <a:latin typeface="Cambria Math" panose="02040503050406030204" pitchFamily="18" charset="0"/>
                            </a:rPr>
                          </m:ctrlPr>
                        </m:naryPr>
                        <m:sub>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sub>
                        <m:sup/>
                        <m:e>
                          <m:f>
                            <m:fPr>
                              <m:ctrlPr>
                                <a:rPr lang="en-US" sz="2100" i="1">
                                  <a:solidFill>
                                    <a:srgbClr val="FFFFFF"/>
                                  </a:solidFill>
                                  <a:latin typeface="Cambria Math" panose="02040503050406030204" pitchFamily="18" charset="0"/>
                                </a:rPr>
                              </m:ctrlPr>
                            </m:fPr>
                            <m:num>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|−1)!</m:t>
                              </m:r>
                            </m:num>
                            <m:den>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den>
                          </m:f>
                        </m:e>
                      </m:nary>
                      <m:r>
                        <m:rPr>
                          <m:sty m:val="p"/>
                        </m:rPr>
                        <a:rPr lang="en-US" sz="2100">
                          <a:solidFill>
                            <a:srgbClr val="FFFFFF"/>
                          </a:solidFill>
                          <a:latin typeface="Cambria Math" panose="02040503050406030204" pitchFamily="18" charset="0"/>
                        </a:rPr>
                        <m:t xml:space="preserve"> </m:t>
                      </m:r>
                      <m:d>
                        <m:dPr>
                          <m:begChr m:val="["/>
                          <m:endChr m:val="]"/>
                          <m:ctrlPr>
                            <a:rPr lang="en-US" sz="2100" i="1">
                              <a:solidFill>
                                <a:srgbClr val="FFFFFF"/>
                              </a:solidFill>
                              <a:latin typeface="Cambria Math" panose="02040503050406030204" pitchFamily="18" charset="0"/>
                            </a:rPr>
                          </m:ctrlPr>
                        </m:dPr>
                        <m:e>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e>
                      </m:d>
                    </m:oMath>
                  </m:oMathPara>
                </a14:m>
                <a:endParaRPr lang="en-US" sz="2100"/>
              </a:p>
            </p:txBody>
          </p:sp>
        </mc:Choice>
        <mc:Fallback>
          <p:sp>
            <p:nvSpPr>
              <p:cNvPr id="32" name="Equation"/>
              <p:cNvSpPr txBox="1"/>
              <p:nvPr/>
            </p:nvSpPr>
            <p:spPr>
              <a:xfrm>
                <a:off x="9578340" y="3820922"/>
                <a:ext cx="7498080" cy="1554480"/>
              </a:xfrm>
              <a:prstGeom prst="rect">
                <a:avLst/>
              </a:prstGeom>
              <a:blipFill>
                <a:blip r:embed="rId5"/>
                <a:stretch>
                  <a:fillRect/>
                </a:stretch>
              </a:blipFill>
            </p:spPr>
            <p:txBody>
              <a:bodyPr/>
              <a:lstStyle/>
              <a:p>
                <a:endParaRPr lang="en-US"/>
              </a:p>
            </p:txBody>
          </p:sp>
        </mc:Fallback>
      </mc:AlternateContent>
      <p:sp>
        <p:nvSpPr>
          <p:cNvPr id="33" name="TextBox 32"/>
          <p:cNvSpPr txBox="1"/>
          <p:nvPr/>
        </p:nvSpPr>
        <p:spPr>
          <a:xfrm>
            <a:off x="9395460" y="5421122"/>
            <a:ext cx="7863840" cy="32004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weight = probability that exactly the players in S arrive before j</a:t>
            </a:r>
          </a:p>
        </p:txBody>
      </p:sp>
      <p:sp>
        <p:nvSpPr>
          <p:cNvPr id="34" name="Rounded Rectangle 33"/>
          <p:cNvSpPr/>
          <p:nvPr/>
        </p:nvSpPr>
        <p:spPr>
          <a:xfrm>
            <a:off x="9395460" y="6152642"/>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Efficiency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the shares add up to v(N)</a:t>
            </a:r>
          </a:p>
        </p:txBody>
      </p:sp>
      <p:sp>
        <p:nvSpPr>
          <p:cNvPr id="35" name="Rounded Rectangle 34"/>
          <p:cNvSpPr/>
          <p:nvPr/>
        </p:nvSpPr>
        <p:spPr>
          <a:xfrm>
            <a:off x="13441680" y="6152642"/>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Symmetry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equal contributors, equal credit</a:t>
            </a:r>
          </a:p>
        </p:txBody>
      </p:sp>
      <p:sp>
        <p:nvSpPr>
          <p:cNvPr id="36" name="Rounded Rectangle 35"/>
          <p:cNvSpPr/>
          <p:nvPr/>
        </p:nvSpPr>
        <p:spPr>
          <a:xfrm>
            <a:off x="9395460" y="7030466"/>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Null player</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adds nothing </a:t>
            </a:r>
            <a:r>
              <a:rPr lang="en-US" sz="1300" b="true">
                <a:solidFill>
                  <a:srgbClr val="8A8378"/>
                </a:solidFill>
                <a:latin typeface="Calibri"/>
                <a:ea typeface="Calibri"/>
                <a:cs typeface="Calibri"/>
                <a:sym typeface="Calibri"/>
              </a:rPr>
              <a:t>→ </a:t>
            </a:r>
            <a:r>
              <a:rPr lang="en-US" sz="1300" b="true">
                <a:solidFill>
                  <a:srgbClr val="8A8378"/>
                </a:solidFill>
                <a:latin typeface="Nunito Semi-Bold"/>
                <a:ea typeface="Nunito Semi-Bold"/>
                <a:cs typeface="Nunito Semi-Bold"/>
                <a:sym typeface="Nunito Semi-Bold"/>
              </a:rPr>
              <a:t>gets nothing</a:t>
            </a:r>
          </a:p>
        </p:txBody>
      </p:sp>
      <p:sp>
        <p:nvSpPr>
          <p:cNvPr id="37" name="Rounded Rectangle 36"/>
          <p:cNvSpPr/>
          <p:nvPr/>
        </p:nvSpPr>
        <p:spPr>
          <a:xfrm>
            <a:off x="13441680" y="7030466"/>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Additivity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linear across games</a:t>
            </a:r>
          </a:p>
        </p:txBody>
      </p:sp>
      <p:sp>
        <p:nvSpPr>
          <p:cNvPr id="38" name="Rounded Rectangle 37"/>
          <p:cNvSpPr/>
          <p:nvPr/>
        </p:nvSpPr>
        <p:spPr>
          <a:xfrm>
            <a:off x="9395460" y="8118602"/>
            <a:ext cx="7863840" cy="1098550"/>
          </a:xfrm>
          <a:prstGeom prst="roundRect">
            <a:avLst>
              <a:gd name="adj" fmla="val 18312"/>
            </a:avLst>
          </a:prstGeom>
          <a:solidFill>
            <a:srgbClr val="F6ECDF"/>
          </a:solidFill>
          <a:ln w="25400">
            <a:solidFill>
              <a:srgbClr val="DF8330"/>
            </a:solidFill>
          </a:ln>
        </p:spPr>
        <p:txBody>
          <a:bodyPr anchor="ctr" rtlCol="false" lIns="0" tIns="0" rIns="0" bIns="0" wrap="square"/>
          <a:lstStyle/>
          <a:p>
            <a:endParaRPr lang="en-US" sz="1800"/>
          </a:p>
        </p:txBody>
      </p:sp>
      <p:sp>
        <p:nvSpPr>
          <p:cNvPr id="39" name="Rounded Rectangle 38"/>
          <p:cNvSpPr/>
          <p:nvPr/>
        </p:nvSpPr>
        <p:spPr>
          <a:xfrm>
            <a:off x="9715500" y="7926578"/>
            <a:ext cx="2992929"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IT IS THE RIGHT RULE</a:t>
            </a:r>
          </a:p>
        </p:txBody>
      </p:sp>
      <p:sp>
        <p:nvSpPr>
          <p:cNvPr id="40" name="TextBox 39"/>
          <p:cNvSpPr txBox="1"/>
          <p:nvPr/>
        </p:nvSpPr>
        <p:spPr>
          <a:xfrm>
            <a:off x="9761220" y="8392922"/>
            <a:ext cx="7132320" cy="687070"/>
          </a:xfrm>
          <a:prstGeom prst="rect">
            <a:avLst/>
          </a:prstGeom>
          <a:noFill/>
        </p:spPr>
        <p:txBody>
          <a:bodyPr anchor="ctr" rtlCol="false" lIns="0" tIns="0" rIns="0" bIns="0" wrap="square"/>
          <a:lstStyle/>
          <a:p>
            <a:pPr algn="l">
              <a:lnSpc>
                <a:spcPts val="1702"/>
              </a:lnSpc>
              <a:spcBef>
                <a:spcPts val="0"/>
              </a:spcBef>
              <a:buNone/>
            </a:pPr>
            <a:r>
              <a:rPr lang="en-US" sz="1216" b="true">
                <a:solidFill>
                  <a:srgbClr val="111111"/>
                </a:solidFill>
                <a:latin typeface="Nunito Semi-Bold"/>
                <a:ea typeface="Nunito Semi-Bold"/>
                <a:cs typeface="Nunito Semi-Bold"/>
                <a:sym typeface="Nunito Semi-Bold"/>
              </a:rPr>
              <a:t>The Shapley value is the </a:t>
            </a:r>
            <a:r>
              <a:rPr lang="en-US" sz="1216" b="true">
                <a:solidFill>
                  <a:srgbClr val="111111"/>
                </a:solidFill>
                <a:latin typeface="Nunito Bold"/>
                <a:ea typeface="Nunito Bold"/>
                <a:cs typeface="Nunito Bold"/>
                <a:sym typeface="Nunito Bold"/>
              </a:rPr>
              <a:t>only</a:t>
            </a:r>
            <a:r>
              <a:rPr lang="en-US" sz="1216" b="true">
                <a:solidFill>
                  <a:srgbClr val="111111"/>
                </a:solidFill>
                <a:latin typeface="Nunito Semi-Bold"/>
                <a:ea typeface="Nunito Semi-Bold"/>
                <a:cs typeface="Nunito Semi-Bold"/>
                <a:sym typeface="Nunito Semi-Bold"/>
              </a:rPr>
              <a:t> allocation rule that satisfies all four axioms at once. Any other rule (equal shares 66.7 each, or proportional to solo pay 100 / 67 / 33) breaks at least one of them.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Same Game, Three Times in This Thesis</a:t>
            </a:r>
          </a:p>
        </p:txBody>
      </p:sp>
      <p:pic>
        <p:nvPicPr>
          <p:cNvPr id="23" name="Picture 22" descr="image.png"/>
          <p:cNvPicPr>
            <a:picLocks noChangeAspect="1"/>
          </p:cNvPicPr>
          <p:nvPr/>
        </p:nvPicPr>
        <p:blipFill>
          <a:blip r:embed="rId3"/>
          <a:stretch>
            <a:fillRect/>
          </a:stretch>
        </p:blipFill>
        <p:spPr>
          <a:xfrm>
            <a:off x="12586174" y="1673352"/>
            <a:ext cx="457200" cy="452148"/>
          </a:xfrm>
          <a:prstGeom prst="rect">
            <a:avLst/>
          </a:prstGeom>
        </p:spPr>
      </p:pic>
      <p:sp>
        <p:nvSpPr>
          <p:cNvPr id="24" name="Rounded Rectangle 23"/>
          <p:cNvSpPr/>
          <p:nvPr/>
        </p:nvSpPr>
        <p:spPr>
          <a:xfrm>
            <a:off x="1028700" y="2559050"/>
            <a:ext cx="162915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In this thesis</a:t>
            </a:r>
          </a:p>
        </p:txBody>
      </p:sp>
      <p:graphicFrame>
        <p:nvGraphicFramePr>
          <p:cNvPr id="27" name="Table 26"/>
          <p:cNvGraphicFramePr>
            <a:graphicFrameLocks noGrp="1"/>
          </p:cNvGraphicFramePr>
          <p:nvPr/>
        </p:nvGraphicFramePr>
        <p:xfrm>
          <a:off x="1028700" y="3363722"/>
          <a:ext cx="16230598" cy="4261104"/>
        </p:xfrm>
        <a:graphic>
          <a:graphicData uri="http://schemas.openxmlformats.org/drawingml/2006/table">
            <a:tbl>
              <a:tblPr firstRow="0" bandRow="0" firstCol="0" lastRow="0" lastCol="0" bandCol="0">
                <a:tableStyleId>{2D5ABB26-0587-4C30-8999-92F81FD0307C}</a:tableStyleId>
              </a:tblPr>
              <a:tblGrid>
                <a:gridCol w="2397702"/>
                <a:gridCol w="4334307"/>
                <a:gridCol w="4518746"/>
                <a:gridCol w="4979843"/>
              </a:tblGrid>
              <a:tr h="676656">
                <a:tc>
                  <a:txBody>
                    <a:bodyPr anchor="ctr" rtlCol="false" lIns="0" tIns="0" rIns="0" bIns="0" wrap="square"/>
                    <a:lstStyle/>
                    <a:p>
                      <a:pPr algn="l">
                        <a:lnSpc>
                          <a:spcPts val="2210"/>
                        </a:lnSpc>
                        <a:spcBef>
                          <a:spcPts val="0"/>
                        </a:spcBef>
                        <a:buNone/>
                      </a:pPr>
                      <a:endParaRPr lang="en-US" sz="2200"/>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II</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III  ·  DyHuCoG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76656">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Players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the 11 features of a wine sample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the 11 features, at each level of the hierarchy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users, items and contexts (hyperedge members)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Value function v(S)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Silhouette of K-Means using only the features in 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same, computed per level (coarse regimes, then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coalition utility U(S) = </a:t>
                      </a:r>
                      <a:r>
                        <a:rPr lang="en-US" sz="1600" b="true">
                          <a:solidFill>
                            <a:srgbClr val="111111"/>
                          </a:solidFill>
                          <a:latin typeface="Calibri"/>
                          <a:ea typeface="Calibri"/>
                          <a:cs typeface="Calibri"/>
                          <a:sym typeface="Calibri"/>
                        </a:rPr>
                        <a:t>α</a:t>
                      </a:r>
                      <a:r>
                        <a:rPr lang="en-US" sz="1600" b="true">
                          <a:solidFill>
                            <a:srgbClr val="111111"/>
                          </a:solidFill>
                          <a:latin typeface="Nunito Semi-Bold"/>
                          <a:ea typeface="Nunito Semi-Bold"/>
                          <a:cs typeface="Nunito Semi-Bold"/>
                          <a:sym typeface="Nunito Semi-Bold"/>
                        </a:rPr>
                        <a:t>·accuracy + </a:t>
                      </a:r>
                      <a:r>
                        <a:rPr lang="en-US" sz="1600" b="true">
                          <a:solidFill>
                            <a:srgbClr val="111111"/>
                          </a:solidFill>
                          <a:latin typeface="Calibri"/>
                          <a:ea typeface="Calibri"/>
                          <a:cs typeface="Calibri"/>
                          <a:sym typeface="Calibri"/>
                        </a:rPr>
                        <a:t>β</a:t>
                      </a:r>
                      <a:r>
                        <a:rPr lang="en-US" sz="1600" b="true">
                          <a:solidFill>
                            <a:srgbClr val="111111"/>
                          </a:solidFill>
                          <a:latin typeface="Nunito Semi-Bold"/>
                          <a:ea typeface="Nunito Semi-Bold"/>
                          <a:cs typeface="Nunito Semi-Bold"/>
                          <a:sym typeface="Nunito Semi-Bold"/>
                        </a:rPr>
                        <a:t>·diversity + </a:t>
                      </a:r>
                      <a:r>
                        <a:rPr lang="en-US" sz="1600" b="true">
                          <a:solidFill>
                            <a:srgbClr val="111111"/>
                          </a:solidFill>
                          <a:latin typeface="Calibri"/>
                          <a:ea typeface="Calibri"/>
                          <a:cs typeface="Calibri"/>
                          <a:sym typeface="Calibri"/>
                        </a:rPr>
                        <a:t>γ</a:t>
                      </a:r>
                      <a:r>
                        <a:rPr lang="en-US" sz="16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What </a:t>
                      </a:r>
                      <a:r>
                        <a:rPr lang="en-US" sz="1600" b="true">
                          <a:solidFill>
                            <a:srgbClr val="111111"/>
                          </a:solidFill>
                          <a:latin typeface="Calibri"/>
                          <a:ea typeface="Calibri"/>
                          <a:cs typeface="Calibri"/>
                          <a:sym typeface="Calibri"/>
                        </a:rPr>
                        <a:t>φ</a:t>
                      </a:r>
                      <a:r>
                        <a:rPr lang="en-US" sz="1600" b="true" baseline="-25000">
                          <a:solidFill>
                            <a:srgbClr val="111111"/>
                          </a:solidFill>
                          <a:latin typeface="Nunito Bold"/>
                          <a:ea typeface="Nunito Bold"/>
                          <a:cs typeface="Nunito Bold"/>
                          <a:sym typeface="Nunito Bold"/>
                        </a:rPr>
                        <a:t>j</a:t>
                      </a:r>
                      <a:r>
                        <a:rPr lang="en-US" sz="1600" b="true">
                          <a:solidFill>
                            <a:srgbClr val="111111"/>
                          </a:solidFill>
                          <a:latin typeface="Nunito Bold"/>
                          <a:ea typeface="Nunito Bold"/>
                          <a:cs typeface="Nunito Bold"/>
                          <a:sym typeface="Nunito Bold"/>
                        </a:rPr>
                        <a:t> means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much feature j adds to clustering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importance changes between a partition and its sub-partition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much a user, item or context adds to a good recommendation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How it is computed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exact TreeSHAP on a LightGBM 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exact TreeSHAP, one surrogate per 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Monte Carlo sampling, M = 50 permutations, refreshed every 10 batches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76656">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Where it is used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after training: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after training: explanation across levels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during training: Shapley-weighted hyperedges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219186"/>
            <a:ext cx="16230600" cy="997966"/>
          </a:xfrm>
          <a:prstGeom prst="roundRect">
            <a:avLst>
              <a:gd name="adj" fmla="val 20157"/>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8027162"/>
            <a:ext cx="4495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ONE DEFINITION, THREE VALUE FUNCTIONS</a:t>
            </a:r>
          </a:p>
        </p:txBody>
      </p:sp>
      <p:sp>
        <p:nvSpPr>
          <p:cNvPr id="30" name="TextBox 29"/>
          <p:cNvSpPr txBox="1"/>
          <p:nvPr/>
        </p:nvSpPr>
        <p:spPr>
          <a:xfrm>
            <a:off x="1394460" y="8493506"/>
            <a:ext cx="15499080" cy="586486"/>
          </a:xfrm>
          <a:prstGeom prst="rect">
            <a:avLst/>
          </a:prstGeom>
          <a:noFill/>
        </p:spPr>
        <p:txBody>
          <a:bodyPr anchor="ctr" rtlCol="false" lIns="0" tIns="0" rIns="0" bIns="0" wrap="square"/>
          <a:lstStyle/>
          <a:p>
            <a:pPr algn="l">
              <a:lnSpc>
                <a:spcPts val="2128"/>
              </a:lnSpc>
              <a:spcBef>
                <a:spcPts val="0"/>
              </a:spcBef>
              <a:buNone/>
            </a:pPr>
            <a:r>
              <a:rPr lang="en-US" sz="1520" b="true">
                <a:solidFill>
                  <a:srgbClr val="111111"/>
                </a:solidFill>
                <a:latin typeface="Nunito Semi-Bold"/>
                <a:ea typeface="Nunito Semi-Bold"/>
                <a:cs typeface="Nunito Semi-Bold"/>
                <a:sym typeface="Nunito Semi-Bold"/>
              </a:rPr>
              <a:t>The axioms never change. What changes from one contribution to the next is </a:t>
            </a:r>
            <a:r>
              <a:rPr lang="en-US" sz="1520" b="true">
                <a:solidFill>
                  <a:srgbClr val="111111"/>
                </a:solidFill>
                <a:latin typeface="Nunito Bold"/>
                <a:ea typeface="Nunito Bold"/>
                <a:cs typeface="Nunito Bold"/>
                <a:sym typeface="Nunito Bold"/>
              </a:rPr>
              <a:t>who the players are</a:t>
            </a:r>
            <a:r>
              <a:rPr lang="en-US" sz="1520" b="true">
                <a:solidFill>
                  <a:srgbClr val="111111"/>
                </a:solidFill>
                <a:latin typeface="Nunito Semi-Bold"/>
                <a:ea typeface="Nunito Semi-Bold"/>
                <a:cs typeface="Nunito Semi-Bold"/>
                <a:sym typeface="Nunito Semi-Bold"/>
              </a:rPr>
              <a:t> and </a:t>
            </a:r>
            <a:r>
              <a:rPr lang="en-US" sz="1520" b="true">
                <a:solidFill>
                  <a:srgbClr val="111111"/>
                </a:solidFill>
                <a:latin typeface="Nunito Bold"/>
                <a:ea typeface="Nunito Bold"/>
                <a:cs typeface="Nunito Bold"/>
                <a:sym typeface="Nunito Bold"/>
              </a:rPr>
              <a:t>what the coalition value measures</a:t>
            </a:r>
            <a:r>
              <a:rPr lang="en-US" sz="1520" b="true">
                <a:solidFill>
                  <a:srgbClr val="111111"/>
                </a:solidFill>
                <a:latin typeface="Nunito Semi-Bold"/>
                <a:ea typeface="Nunito Semi-Bold"/>
                <a:cs typeface="Nunito Semi-Bold"/>
                <a:sym typeface="Nunito Semi-Bold"/>
              </a:rPr>
              <a:t>. That is why the same explanation can be read the same way across all three chapters.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Clustering as a Cooperative Game</a:t>
            </a:r>
          </a:p>
        </p:txBody>
      </p:sp>
      <p:pic>
        <p:nvPicPr>
          <p:cNvPr id="23" name="Picture 22" descr="image.png"/>
          <p:cNvPicPr>
            <a:picLocks noChangeAspect="1"/>
          </p:cNvPicPr>
          <p:nvPr/>
        </p:nvPicPr>
        <p:blipFill>
          <a:blip r:embed="rId3"/>
          <a:stretch>
            <a:fillRect/>
          </a:stretch>
        </p:blipFill>
        <p:spPr>
          <a:xfrm>
            <a:off x="999086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F:</a:t>
            </a:r>
            <a:r>
              <a:rPr lang="en-US" sz="2100" b="true">
                <a:solidFill>
                  <a:srgbClr val="111111"/>
                </a:solidFill>
                <a:latin typeface="Nunito Semi-Bold"/>
                <a:ea typeface="Nunito Semi-Bold"/>
                <a:cs typeface="Nunito Semi-Bold"/>
                <a:sym typeface="Nunito Semi-Bold"/>
              </a:rPr>
              <a:t> each feature is a player.</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Value function v(S) = Silhouette( KMeans(X</a:t>
            </a:r>
            <a:r>
              <a:rPr lang="en-US" sz="2100" b="true" baseline="-25000">
                <a:solidFill>
                  <a:srgbClr val="111111"/>
                </a:solidFill>
                <a:latin typeface="Nunito Bold"/>
                <a:ea typeface="Nunito Bold"/>
                <a:cs typeface="Nunito Bold"/>
                <a:sym typeface="Nunito Bold"/>
              </a:rPr>
              <a:t>S</a:t>
            </a:r>
            <a:r>
              <a:rPr lang="en-US" sz="2100" b="true">
                <a:solidFill>
                  <a:srgbClr val="111111"/>
                </a:solidFill>
                <a:latin typeface="Nunito Bold"/>
                <a:ea typeface="Nunito Bold"/>
                <a:cs typeface="Nunito Bold"/>
                <a:sym typeface="Nunito Bold"/>
              </a:rPr>
              <a:t>, 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a:t>
            </a:r>
            <a:r>
              <a:rPr lang="en-US" sz="2100" b="true">
                <a:solidFill>
                  <a:srgbClr val="111111"/>
                </a:solidFill>
                <a:latin typeface="Nunito Semi-Bold"/>
                <a:ea typeface="Nunito Semi-Bold"/>
                <a:cs typeface="Nunito Semi-Bold"/>
                <a:sym typeface="Nunito Semi-Bold"/>
              </a:rPr>
              <a:t> how well the data cluster using only the features in 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feature's Shapley value = its </a:t>
            </a:r>
            <a:r>
              <a:rPr lang="en-US" sz="2100" b="true">
                <a:solidFill>
                  <a:srgbClr val="111111"/>
                </a:solidFill>
                <a:latin typeface="Nunito Bold"/>
                <a:ea typeface="Nunito Bold"/>
                <a:cs typeface="Nunito Bold"/>
                <a:sym typeface="Nunito Bold"/>
              </a:rPr>
              <a:t>expected marginal contribution to clustering quality</a:t>
            </a:r>
            <a:r>
              <a:rPr lang="en-US" sz="2100" b="true">
                <a:solidFill>
                  <a:srgbClr val="111111"/>
                </a:solidFill>
                <a:latin typeface="Nunito Semi-Bold"/>
                <a:ea typeface="Nunito Semi-Bold"/>
                <a:cs typeface="Nunito Semi-Bold"/>
                <a:sym typeface="Nunito Semi-Bold"/>
              </a:rPr>
              <a:t> over all coalition orders.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Silhouette:</a:t>
            </a:r>
            <a:r>
              <a:rPr lang="en-US" sz="2100" b="true">
                <a:solidFill>
                  <a:srgbClr val="111111"/>
                </a:solidFill>
                <a:latin typeface="Nunito Semi-Bold"/>
                <a:ea typeface="Nunito Semi-Bold"/>
                <a:cs typeface="Nunito Semi-Bold"/>
                <a:sym typeface="Nunito Semi-Bold"/>
              </a:rPr>
              <a:t> bounded, normalised, easy to interpret (Davies–Bouldin or Calinski–Harabasz would also be defensible).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Direct evaluation of every coalition is </a:t>
            </a:r>
            <a:r>
              <a:rPr lang="en-US" sz="2100" b="true">
                <a:solidFill>
                  <a:srgbClr val="111111"/>
                </a:solidFill>
                <a:latin typeface="Nunito Bold"/>
                <a:ea typeface="Nunito Bold"/>
                <a:cs typeface="Nunito Bold"/>
                <a:sym typeface="Nunito Bold"/>
              </a:rPr>
              <a:t>not feasible</a:t>
            </a:r>
            <a:r>
              <a:rPr lang="en-US" sz="2100" b="true">
                <a:solidFill>
                  <a:srgbClr val="111111"/>
                </a:solidFill>
                <a:latin typeface="Calibri"/>
                <a:ea typeface="Calibri"/>
                <a:cs typeface="Calibri"/>
                <a:sym typeface="Calibri"/>
              </a:rPr>
              <a:t> → </a:t>
            </a:r>
            <a:r>
              <a:rPr lang="en-US" sz="2100" b="true">
                <a:solidFill>
                  <a:srgbClr val="111111"/>
                </a:solidFill>
                <a:latin typeface="Nunito Semi-Bold"/>
                <a:ea typeface="Nunito Semi-Bold"/>
                <a:cs typeface="Nunito Semi-Bold"/>
                <a:sym typeface="Nunito Semi-Bold"/>
              </a:rPr>
              <a:t>we need a bridge.</a:t>
            </a:r>
          </a:p>
        </p:txBody>
      </p:sp>
      <p:sp>
        <p:nvSpPr>
          <p:cNvPr id="29" name="Rounded Rectangle 28"/>
          <p:cNvSpPr/>
          <p:nvPr/>
        </p:nvSpPr>
        <p:spPr>
          <a:xfrm>
            <a:off x="9258300" y="3363722"/>
            <a:ext cx="8001000" cy="2377440"/>
          </a:xfrm>
          <a:prstGeom prst="roundRect">
            <a:avLst>
              <a:gd name="adj" fmla="val 11538"/>
            </a:avLst>
          </a:prstGeom>
          <a:solidFill>
            <a:srgbClr val="124944"/>
          </a:solidFill>
          <a:ln>
            <a:noFill/>
          </a:ln>
        </p:spPr>
        <p:txBody>
          <a:bodyPr anchor="ctr" rtlCol="false" lIns="0" tIns="0" rIns="0" bIns="0" wrap="square"/>
          <a:lstStyle/>
          <a:p>
            <a:endParaRPr lang="en-US" sz="1800"/>
          </a:p>
        </p:txBody>
      </p:sp>
      <p:sp>
        <p:nvSpPr>
          <p:cNvPr id="30" name="TextBox 29"/>
          <p:cNvSpPr txBox="1"/>
          <p:nvPr/>
        </p:nvSpPr>
        <p:spPr>
          <a:xfrm>
            <a:off x="9258300" y="3528314"/>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60">
                <a:solidFill>
                  <a:srgbClr val="ECC665"/>
                </a:solidFill>
                <a:latin typeface="Nunito Ultra-Bold"/>
                <a:ea typeface="Nunito Ultra-Bold"/>
                <a:cs typeface="Nunito Ultra-Bold"/>
                <a:sym typeface="Nunito Ultra-Bold"/>
              </a:rPr>
              <a:t>SHAPLEY VALUE OF FEATURE j  ·  v(S) = SILHOUETTE</a:t>
            </a:r>
          </a:p>
        </p:txBody>
      </p:sp>
      <mc:AlternateContent xmlns:mc="http://schemas.openxmlformats.org/markup-compatibility/2006">
        <mc:Choice xmlns:a14="http://schemas.microsoft.com/office/drawing/2010/main" Requires="a14">
          <p:sp>
            <p:nvSpPr>
              <p:cNvPr id="31" name="Equation"/>
              <p:cNvSpPr txBox="1"/>
              <p:nvPr/>
            </p:nvSpPr>
            <p:spPr>
              <a:xfrm>
                <a:off x="9441180" y="3820922"/>
                <a:ext cx="7635240" cy="14173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100" i="1">
                              <a:solidFill>
                                <a:srgbClr val="FFFFFF"/>
                              </a:solidFill>
                              <a:latin typeface="Cambria Math" panose="02040503050406030204" pitchFamily="18" charset="0"/>
                            </a:rPr>
                          </m:ctrlPr>
                        </m:sSubPr>
                        <m:e>
                          <m:r>
                            <a:rPr lang="en-US" sz="2100" i="1">
                              <a:solidFill>
                                <a:srgbClr val="FFFFFF"/>
                              </a:solidFill>
                              <a:latin typeface="Cambria Math" panose="02040503050406030204" pitchFamily="18" charset="0"/>
                            </a:rPr>
                            <m:t xml:space="preserve">φ</m:t>
                          </m:r>
                        </m:e>
                        <m:sub>
                          <m:r>
                            <a:rPr lang="en-US" sz="2100" i="1">
                              <a:solidFill>
                                <a:srgbClr val="FFFFFF"/>
                              </a:solidFill>
                              <a:latin typeface="Cambria Math" panose="02040503050406030204" pitchFamily="18" charset="0"/>
                            </a:rPr>
                            <m:t xml:space="preserve">j</m:t>
                          </m:r>
                        </m:sub>
                      </m:sSub>
                      <m:r>
                        <m:rPr>
                          <m:sty m:val="p"/>
                        </m:rPr>
                        <a:rPr lang="en-US" sz="2100">
                          <a:solidFill>
                            <a:srgbClr val="FFFFFF"/>
                          </a:solidFill>
                          <a:latin typeface="Cambria Math" panose="02040503050406030204" pitchFamily="18" charset="0"/>
                        </a:rPr>
                        <m:t xml:space="preserve">=</m:t>
                      </m:r>
                      <m:nary>
                        <m:naryPr>
                          <m:chr m:val="∑"/>
                          <m:limLoc m:val="undOvr"/>
                          <m:supHide m:val="1"/>
                          <m:ctrlPr>
                            <a:rPr lang="en-US" sz="2100" i="1">
                              <a:solidFill>
                                <a:srgbClr val="FFFFFF"/>
                              </a:solidFill>
                              <a:latin typeface="Cambria Math" panose="02040503050406030204" pitchFamily="18" charset="0"/>
                            </a:rPr>
                          </m:ctrlPr>
                        </m:naryPr>
                        <m:sub>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sub>
                        <m:sup/>
                        <m:e>
                          <m:f>
                            <m:fPr>
                              <m:ctrlPr>
                                <a:rPr lang="en-US" sz="2100" i="1">
                                  <a:solidFill>
                                    <a:srgbClr val="FFFFFF"/>
                                  </a:solidFill>
                                  <a:latin typeface="Cambria Math" panose="02040503050406030204" pitchFamily="18" charset="0"/>
                                </a:rPr>
                              </m:ctrlPr>
                            </m:fPr>
                            <m:num>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|−1)!</m:t>
                              </m:r>
                            </m:num>
                            <m:den>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den>
                          </m:f>
                        </m:e>
                      </m:nary>
                      <m:r>
                        <m:rPr>
                          <m:sty m:val="p"/>
                        </m:rPr>
                        <a:rPr lang="en-US" sz="2100">
                          <a:solidFill>
                            <a:srgbClr val="FFFFFF"/>
                          </a:solidFill>
                          <a:latin typeface="Cambria Math" panose="02040503050406030204" pitchFamily="18" charset="0"/>
                        </a:rPr>
                        <m:t xml:space="preserve"> </m:t>
                      </m:r>
                      <m:d>
                        <m:dPr>
                          <m:begChr m:val="["/>
                          <m:endChr m:val="]"/>
                          <m:ctrlPr>
                            <a:rPr lang="en-US" sz="2100" i="1">
                              <a:solidFill>
                                <a:srgbClr val="FFFFFF"/>
                              </a:solidFill>
                              <a:latin typeface="Cambria Math" panose="02040503050406030204" pitchFamily="18" charset="0"/>
                            </a:rPr>
                          </m:ctrlPr>
                        </m:dPr>
                        <m:e>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e>
                      </m:d>
                    </m:oMath>
                  </m:oMathPara>
                </a14:m>
                <a:endParaRPr lang="en-US" sz="2100"/>
              </a:p>
            </p:txBody>
          </p:sp>
        </mc:Choice>
        <mc:Fallback>
          <p:sp>
            <p:nvSpPr>
              <p:cNvPr id="31" name="Equation"/>
              <p:cNvSpPr txBox="1"/>
              <p:nvPr/>
            </p:nvSpPr>
            <p:spPr>
              <a:xfrm>
                <a:off x="9441180" y="3820922"/>
                <a:ext cx="7635240" cy="141732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9258300" y="5283962"/>
            <a:ext cx="8001000" cy="32004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same formula as the deep dive: players are now the features</a:t>
            </a:r>
          </a:p>
        </p:txBody>
      </p:sp>
      <p:sp>
        <p:nvSpPr>
          <p:cNvPr id="33" name="TextBox 32"/>
          <p:cNvSpPr txBox="1"/>
          <p:nvPr/>
        </p:nvSpPr>
        <p:spPr>
          <a:xfrm>
            <a:off x="9258300" y="6015482"/>
            <a:ext cx="80010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FROM THE BAND TO THE CLUSTERING GAME</a:t>
            </a:r>
          </a:p>
        </p:txBody>
      </p:sp>
      <p:graphicFrame>
        <p:nvGraphicFramePr>
          <p:cNvPr id="34" name="Table 33"/>
          <p:cNvGraphicFramePr>
            <a:graphicFrameLocks noGrp="1"/>
          </p:cNvGraphicFramePr>
          <p:nvPr/>
        </p:nvGraphicFramePr>
        <p:xfrm>
          <a:off x="9258300" y="6335522"/>
          <a:ext cx="8000999" cy="2132330"/>
        </p:xfrm>
        <a:graphic>
          <a:graphicData uri="http://schemas.openxmlformats.org/drawingml/2006/table">
            <a:tbl>
              <a:tblPr firstRow="0" bandRow="0" firstCol="0" lastRow="0" lastCol="0" bandCol="0">
                <a:tableStyleId>{2D5ABB26-0587-4C30-8999-92F81FD0307C}</a:tableStyleId>
              </a:tblPr>
              <a:tblGrid>
                <a:gridCol w="1690352"/>
                <a:gridCol w="2704563"/>
                <a:gridCol w="3606084"/>
              </a:tblGrid>
              <a:tr h="426466">
                <a:tc>
                  <a:txBody>
                    <a:bodyPr anchor="ctr" rtlCol="false" lIns="0" tIns="0" rIns="0" bIns="0" wrap="square"/>
                    <a:lstStyle/>
                    <a:p>
                      <a:pPr algn="l">
                        <a:lnSpc>
                          <a:spcPts val="195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950"/>
                        </a:lnSpc>
                        <a:spcBef>
                          <a:spcPts val="0"/>
                        </a:spcBef>
                        <a:buNone/>
                      </a:pPr>
                      <a:r>
                        <a:rPr lang="en-US" sz="1500" b="true">
                          <a:solidFill>
                            <a:srgbClr val="FFFFFF"/>
                          </a:solidFill>
                          <a:latin typeface="Nunito Bold"/>
                          <a:ea typeface="Nunito Bold"/>
                          <a:cs typeface="Nunito Bold"/>
                          <a:sym typeface="Nunito Bold"/>
                        </a:rPr>
                        <a:t>Band example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950"/>
                        </a:lnSpc>
                        <a:spcBef>
                          <a:spcPts val="0"/>
                        </a:spcBef>
                        <a:buNone/>
                      </a:pPr>
                      <a:r>
                        <a:rPr lang="en-US" sz="1500" b="true">
                          <a:solidFill>
                            <a:srgbClr val="FFFFFF"/>
                          </a:solidFill>
                          <a:latin typeface="Nunito Bold"/>
                          <a:ea typeface="Nunito Bold"/>
                          <a:cs typeface="Nunito Bold"/>
                          <a:sym typeface="Nunito Bold"/>
                        </a:rPr>
                        <a:t>Clustering game (C1)</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Players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Voice, Drums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11 chemical features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Coalition 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who plays the gig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which features K-Means may use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v(S)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money earned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Silhouette of K-Means on X</a:t>
                      </a:r>
                      <a:r>
                        <a:rPr lang="en-US" sz="1500" b="true" baseline="-25000">
                          <a:solidFill>
                            <a:srgbClr val="111111"/>
                          </a:solidFill>
                          <a:latin typeface="Nunito Semi-Bold"/>
                          <a:ea typeface="Nunito Semi-Bold"/>
                          <a:cs typeface="Nunito Semi-Bold"/>
                          <a:sym typeface="Nunito Semi-Bold"/>
                        </a:rPr>
                        <a:t>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Calibri"/>
                          <a:ea typeface="Calibri"/>
                          <a:cs typeface="Calibri"/>
                          <a:sym typeface="Calibri"/>
                        </a:rPr>
                        <a:t>φ</a:t>
                      </a:r>
                      <a:r>
                        <a:rPr lang="en-US" sz="1500" b="true" baseline="-25000">
                          <a:solidFill>
                            <a:srgbClr val="111111"/>
                          </a:solidFill>
                          <a:latin typeface="Nunito Bold"/>
                          <a:ea typeface="Nunito Bold"/>
                          <a:cs typeface="Nunito Bold"/>
                          <a:sym typeface="Nunito Bold"/>
                        </a:rPr>
                        <a:t>j</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fair share of the pay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feature j's share of clustering quality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5" name="Rounded Rectangle 34"/>
          <p:cNvSpPr/>
          <p:nvPr/>
        </p:nvSpPr>
        <p:spPr>
          <a:xfrm>
            <a:off x="9258300" y="8742172"/>
            <a:ext cx="8001000" cy="474980"/>
          </a:xfrm>
          <a:prstGeom prst="roundRect">
            <a:avLst>
              <a:gd name="adj" fmla="val 48128"/>
            </a:avLst>
          </a:prstGeom>
          <a:noFill/>
          <a:ln w="31750">
            <a:solidFill>
              <a:srgbClr val="DF8330"/>
            </a:solidFill>
          </a:ln>
        </p:spPr>
        <p:txBody>
          <a:bodyPr anchor="ctr" rtlCol="false" lIns="274320" tIns="45720" rIns="274320" bIns="45720" wrap="square"/>
          <a:lstStyle/>
          <a:p>
            <a:pPr algn="ctr">
              <a:lnSpc>
                <a:spcPts val="2100"/>
              </a:lnSpc>
              <a:spcBef>
                <a:spcPts val="0"/>
              </a:spcBef>
              <a:buNone/>
            </a:pPr>
            <a:r>
              <a:rPr lang="en-US" sz="1600" b="true">
                <a:solidFill>
                  <a:srgbClr val="111111"/>
                </a:solidFill>
                <a:latin typeface="Nunito Bold"/>
                <a:ea typeface="Nunito Bold"/>
                <a:cs typeface="Nunito Bold"/>
                <a:sym typeface="Nunito Bold"/>
              </a:rPr>
              <a:t>2</a:t>
            </a:r>
            <a:r>
              <a:rPr lang="en-US" sz="1600" b="true" baseline="30000">
                <a:solidFill>
                  <a:srgbClr val="111111"/>
                </a:solidFill>
                <a:latin typeface="Nunito Bold"/>
                <a:ea typeface="Nunito Bold"/>
                <a:cs typeface="Nunito Bold"/>
                <a:sym typeface="Nunito Bold"/>
              </a:rPr>
              <a:t>|F|</a:t>
            </a:r>
            <a:r>
              <a:rPr lang="en-US" sz="1600" b="true">
                <a:solidFill>
                  <a:srgbClr val="111111"/>
                </a:solidFill>
                <a:latin typeface="Nunito Bold"/>
                <a:ea typeface="Nunito Bold"/>
                <a:cs typeface="Nunito Bold"/>
                <a:sym typeface="Nunito Bold"/>
              </a:rPr>
              <a:t> coalitions:</a:t>
            </a:r>
            <a:r>
              <a:rPr lang="en-US" sz="1600" b="true">
                <a:solidFill>
                  <a:srgbClr val="111111"/>
                </a:solidFill>
                <a:latin typeface="Nunito Semi-Bold"/>
                <a:ea typeface="Nunito Semi-Bold"/>
                <a:cs typeface="Nunito Semi-Bold"/>
                <a:sym typeface="Nunito Semi-Bold"/>
              </a:rPr>
              <a:t> for 11 wine features that is 2,048 K-Means runs per evaluation; for large data, not feasible.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12494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12494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12494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Pipeline in Five Stages</a:t>
            </a:r>
          </a:p>
        </p:txBody>
      </p:sp>
      <p:pic>
        <p:nvPicPr>
          <p:cNvPr id="23" name="Picture 22" descr="image.png"/>
          <p:cNvPicPr>
            <a:picLocks noChangeAspect="1"/>
          </p:cNvPicPr>
          <p:nvPr/>
        </p:nvPicPr>
        <p:blipFill>
          <a:blip r:embed="rId3"/>
          <a:stretch>
            <a:fillRect/>
          </a:stretch>
        </p:blipFill>
        <p:spPr>
          <a:xfrm>
            <a:off x="6938245"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211580" y="3500882"/>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1988820" y="3363722"/>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PCA</a:t>
            </a:r>
            <a:r>
              <a:rPr lang="en-US" sz="1900" b="true">
                <a:solidFill>
                  <a:srgbClr val="111111"/>
                </a:solidFill>
                <a:latin typeface="Nunito Semi-Bold"/>
                <a:ea typeface="Nunito Semi-Bold"/>
                <a:cs typeface="Nunito Semi-Bold"/>
                <a:sym typeface="Nunito Semi-Bold"/>
              </a:rPr>
              <a:t>: Stabilise geometry + visual check; </a:t>
            </a:r>
            <a:r>
              <a:rPr lang="en-US" sz="1900" b="true">
                <a:solidFill>
                  <a:srgbClr val="111111"/>
                </a:solidFill>
                <a:latin typeface="Nunito Bold"/>
                <a:ea typeface="Nunito Bold"/>
                <a:cs typeface="Nunito Bold"/>
                <a:sym typeface="Nunito Bold"/>
              </a:rPr>
              <a:t>NOT</a:t>
            </a:r>
            <a:r>
              <a:rPr lang="en-US" sz="1900" b="true">
                <a:solidFill>
                  <a:srgbClr val="111111"/>
                </a:solidFill>
                <a:latin typeface="Nunito Semi-Bold"/>
                <a:ea typeface="Nunito Semi-Bold"/>
                <a:cs typeface="Nunito Semi-Bold"/>
                <a:sym typeface="Nunito Semi-Bold"/>
              </a:rPr>
              <a:t> the explanatory space.</a:t>
            </a:r>
          </a:p>
        </p:txBody>
      </p:sp>
      <p:sp>
        <p:nvSpPr>
          <p:cNvPr id="31" name="Rounded Rectangle 30"/>
          <p:cNvSpPr/>
          <p:nvPr/>
        </p:nvSpPr>
        <p:spPr>
          <a:xfrm>
            <a:off x="1028700" y="4332986"/>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211580" y="4470146"/>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1988820" y="4332986"/>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K-Means++</a:t>
            </a:r>
            <a:r>
              <a:rPr lang="en-US" sz="1900" b="true">
                <a:solidFill>
                  <a:srgbClr val="111111"/>
                </a:solidFill>
                <a:latin typeface="Nunito Semi-Bold"/>
                <a:ea typeface="Nunito Semi-Bold"/>
                <a:cs typeface="Nunito Semi-Bold"/>
                <a:sym typeface="Nunito Semi-Bold"/>
              </a:rPr>
              <a:t>: Multi-criteria k selection: elbow, Silhouette, Davies–Bouldin.</a:t>
            </a:r>
          </a:p>
        </p:txBody>
      </p:sp>
      <p:sp>
        <p:nvSpPr>
          <p:cNvPr id="34" name="Rounded Rectangle 33"/>
          <p:cNvSpPr/>
          <p:nvPr/>
        </p:nvSpPr>
        <p:spPr>
          <a:xfrm>
            <a:off x="1028700" y="5302250"/>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211580" y="543941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1988820" y="5302250"/>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LightGBM surrogate</a:t>
            </a:r>
            <a:r>
              <a:rPr lang="en-US" sz="1900" b="true">
                <a:solidFill>
                  <a:srgbClr val="111111"/>
                </a:solidFill>
                <a:latin typeface="Nunito Semi-Bold"/>
                <a:ea typeface="Nunito Semi-Bold"/>
                <a:cs typeface="Nunito Semi-Bold"/>
                <a:sym typeface="Nunito Semi-Bold"/>
              </a:rPr>
              <a:t>: Trained on original features to predict cluster labels.</a:t>
            </a:r>
          </a:p>
        </p:txBody>
      </p:sp>
      <p:sp>
        <p:nvSpPr>
          <p:cNvPr id="37" name="Rounded Rectangle 36"/>
          <p:cNvSpPr/>
          <p:nvPr/>
        </p:nvSpPr>
        <p:spPr>
          <a:xfrm>
            <a:off x="1028700" y="6271514"/>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211580" y="640867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1988820" y="6271514"/>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TreeSHAP</a:t>
            </a:r>
            <a:r>
              <a:rPr lang="en-US" sz="1900" b="true">
                <a:solidFill>
                  <a:srgbClr val="111111"/>
                </a:solidFill>
                <a:latin typeface="Nunito Semi-Bold"/>
                <a:ea typeface="Nunito Semi-Bold"/>
                <a:cs typeface="Nunito Semi-Bold"/>
                <a:sym typeface="Nunito Semi-Bold"/>
              </a:rPr>
              <a:t>: Attribution in the original feature space.</a:t>
            </a:r>
          </a:p>
        </p:txBody>
      </p:sp>
      <p:sp>
        <p:nvSpPr>
          <p:cNvPr id="40" name="Rounded Rectangle 39"/>
          <p:cNvSpPr/>
          <p:nvPr/>
        </p:nvSpPr>
        <p:spPr>
          <a:xfrm>
            <a:off x="1028700" y="7240778"/>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41" name="Oval 40"/>
          <p:cNvSpPr/>
          <p:nvPr/>
        </p:nvSpPr>
        <p:spPr>
          <a:xfrm>
            <a:off x="1211580" y="7377938"/>
            <a:ext cx="566928" cy="566928"/>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5</a:t>
            </a:r>
          </a:p>
        </p:txBody>
      </p:sp>
      <p:sp>
        <p:nvSpPr>
          <p:cNvPr id="42" name="TextBox 41"/>
          <p:cNvSpPr txBox="1"/>
          <p:nvPr/>
        </p:nvSpPr>
        <p:spPr>
          <a:xfrm>
            <a:off x="1988820" y="7240778"/>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Aggregate</a:t>
            </a:r>
            <a:r>
              <a:rPr lang="en-US" sz="1900" b="true">
                <a:solidFill>
                  <a:srgbClr val="111111"/>
                </a:solidFill>
                <a:latin typeface="Nunito Semi-Bold"/>
                <a:ea typeface="Nunito Semi-Bold"/>
                <a:cs typeface="Nunito Semi-Bold"/>
                <a:sym typeface="Nunito Semi-Bold"/>
              </a:rPr>
              <a:t>: Global importance, cluster-specific profiles, local force plots.</a:t>
            </a:r>
          </a:p>
        </p:txBody>
      </p:sp>
      <p:sp>
        <p:nvSpPr>
          <p:cNvPr id="43" name="Rounded Rectangle 42"/>
          <p:cNvSpPr/>
          <p:nvPr/>
        </p:nvSpPr>
        <p:spPr>
          <a:xfrm>
            <a:off x="1028700" y="8301482"/>
            <a:ext cx="8961120" cy="1052830"/>
          </a:xfrm>
          <a:prstGeom prst="roundRect">
            <a:avLst>
              <a:gd name="adj" fmla="val 19107"/>
            </a:avLst>
          </a:prstGeom>
          <a:solidFill>
            <a:srgbClr val="124944"/>
          </a:solidFill>
          <a:ln>
            <a:noFill/>
          </a:ln>
        </p:spPr>
        <p:txBody>
          <a:bodyPr anchor="ctr" rtlCol="false" lIns="365760" tIns="91440" rIns="365760" bIns="9144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Complexity:</a:t>
            </a:r>
            <a:r>
              <a:rPr lang="en-US" sz="1700" b="true">
                <a:solidFill>
                  <a:srgbClr val="FFFFFF"/>
                </a:solidFill>
                <a:latin typeface="Nunito Semi-Bold"/>
                <a:ea typeface="Nunito Semi-Bold"/>
                <a:cs typeface="Nunito Semi-Bold"/>
                <a:sym typeface="Nunito Semi-Bold"/>
              </a:rPr>
              <a:t> dominated by PCA and repeated K-Means; TreeSHAP scales with tree count and depth, </a:t>
            </a:r>
            <a:r>
              <a:rPr lang="en-US" sz="1700" b="true">
                <a:solidFill>
                  <a:srgbClr val="FFFFFF"/>
                </a:solidFill>
                <a:latin typeface="Nunito Bold"/>
                <a:ea typeface="Nunito Bold"/>
                <a:cs typeface="Nunito Bold"/>
                <a:sym typeface="Nunito Bold"/>
              </a:rPr>
              <a:t>not exponentially in the number of features</a:t>
            </a:r>
            <a:r>
              <a:rPr lang="en-US" sz="1700" b="true">
                <a:solidFill>
                  <a:srgbClr val="FFFFFF"/>
                </a:solidFill>
                <a:latin typeface="Nunito Semi-Bold"/>
                <a:ea typeface="Nunito Semi-Bold"/>
                <a:cs typeface="Nunito Semi-Bold"/>
                <a:sym typeface="Nunito Semi-Bold"/>
              </a:rPr>
              <a:t>.</a:t>
            </a:r>
          </a:p>
        </p:txBody>
      </p:sp>
      <p:sp>
        <p:nvSpPr>
          <p:cNvPr id="44" name="Rounded Rectangle 43"/>
          <p:cNvSpPr/>
          <p:nvPr/>
        </p:nvSpPr>
        <p:spPr>
          <a:xfrm>
            <a:off x="10447020" y="3363722"/>
            <a:ext cx="6812280" cy="5944870"/>
          </a:xfrm>
          <a:prstGeom prst="roundRect">
            <a:avLst>
              <a:gd name="adj" fmla="val 3845"/>
            </a:avLst>
          </a:prstGeom>
          <a:solidFill>
            <a:srgbClr val="FFFFFF"/>
          </a:solidFill>
          <a:ln w="15875">
            <a:solidFill>
              <a:srgbClr val="E3D6C4"/>
            </a:solidFill>
          </a:ln>
        </p:spPr>
        <p:txBody>
          <a:bodyPr anchor="ctr" rtlCol="false" lIns="0" tIns="0" rIns="0" bIns="0" wrap="square"/>
          <a:lstStyle/>
          <a:p>
            <a:endParaRPr lang="en-US" sz="1800"/>
          </a:p>
        </p:txBody>
      </p:sp>
      <p:pic>
        <p:nvPicPr>
          <p:cNvPr id="45" name="Picture 44" descr="c1_pipeline.png"/>
          <p:cNvPicPr>
            <a:picLocks noChangeAspect="1"/>
          </p:cNvPicPr>
          <p:nvPr/>
        </p:nvPicPr>
        <p:blipFill>
          <a:blip r:embed="rId5"/>
          <a:stretch>
            <a:fillRect/>
          </a:stretch>
        </p:blipFill>
        <p:spPr>
          <a:xfrm>
            <a:off x="11292205" y="3546602"/>
            <a:ext cx="5121910" cy="5121910"/>
          </a:xfrm>
          <a:prstGeom prst="rect">
            <a:avLst/>
          </a:prstGeom>
        </p:spPr>
      </p:pic>
      <p:sp>
        <p:nvSpPr>
          <p:cNvPr id="46" name="TextBox 45"/>
          <p:cNvSpPr txBox="1"/>
          <p:nvPr/>
        </p:nvSpPr>
        <p:spPr>
          <a:xfrm>
            <a:off x="10447020" y="8759952"/>
            <a:ext cx="6812280" cy="4572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8A8378"/>
                </a:solidFill>
                <a:latin typeface="Nunito Semi-Bold"/>
                <a:ea typeface="Nunito Semi-Bold"/>
                <a:cs typeface="Nunito Semi-Bold"/>
                <a:sym typeface="Nunito Semi-Bold"/>
              </a:rPr>
              <a:t>Flowchart of the explainable clustering pipeline (Chapter 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8531303" y="3546602"/>
            <a:ext cx="8266272" cy="5076190"/>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Cluster-Specific Explanatory Signatures</a:t>
            </a:r>
          </a:p>
        </p:txBody>
      </p:sp>
      <p:pic>
        <p:nvPicPr>
          <p:cNvPr id="23" name="Picture 22" descr="image.png"/>
          <p:cNvPicPr>
            <a:picLocks noChangeAspect="1"/>
          </p:cNvPicPr>
          <p:nvPr/>
        </p:nvPicPr>
        <p:blipFill>
          <a:blip r:embed="rId3"/>
          <a:stretch>
            <a:fillRect/>
          </a:stretch>
        </p:blipFill>
        <p:spPr>
          <a:xfrm>
            <a:off x="1163249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240280"/>
          </a:xfrm>
          <a:prstGeom prst="roundRect">
            <a:avLst>
              <a:gd name="adj" fmla="val 1020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5_2_wine_clusters.png"/>
          <p:cNvPicPr>
            <a:picLocks noChangeAspect="1"/>
          </p:cNvPicPr>
          <p:nvPr/>
        </p:nvPicPr>
        <p:blipFill>
          <a:blip r:embed="rId5"/>
          <a:stretch>
            <a:fillRect/>
          </a:stretch>
        </p:blipFill>
        <p:spPr>
          <a:xfrm>
            <a:off x="2662732" y="3473450"/>
            <a:ext cx="12962534" cy="1609344"/>
          </a:xfrm>
          <a:prstGeom prst="rect">
            <a:avLst/>
          </a:prstGeom>
        </p:spPr>
      </p:pic>
      <p:sp>
        <p:nvSpPr>
          <p:cNvPr id="30" name="TextBox 29"/>
          <p:cNvSpPr txBox="1"/>
          <p:nvPr/>
        </p:nvSpPr>
        <p:spPr>
          <a:xfrm>
            <a:off x="1028700" y="514680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SHAP profiles of the three wine clusters, same feature space, different weights</a:t>
            </a:r>
          </a:p>
        </p:txBody>
      </p:sp>
      <p:sp>
        <p:nvSpPr>
          <p:cNvPr id="31" name="Rounded Rectangle 30"/>
          <p:cNvSpPr/>
          <p:nvPr/>
        </p:nvSpPr>
        <p:spPr>
          <a:xfrm>
            <a:off x="1028700" y="5878322"/>
            <a:ext cx="5196840" cy="1234440"/>
          </a:xfrm>
          <a:prstGeom prst="roundRect">
            <a:avLst>
              <a:gd name="adj" fmla="val 20740"/>
            </a:avLst>
          </a:prstGeom>
          <a:solidFill>
            <a:srgbClr val="124944"/>
          </a:solidFill>
          <a:ln>
            <a:noFill/>
          </a:ln>
        </p:spPr>
        <p:txBody>
          <a:bodyPr anchor="ctr" rtlCol="false" lIns="0" tIns="0" rIns="0" bIns="0" wrap="square"/>
          <a:lstStyle/>
          <a:p>
            <a:endParaRPr lang="en-US" sz="1800"/>
          </a:p>
        </p:txBody>
      </p:sp>
      <p:sp>
        <p:nvSpPr>
          <p:cNvPr id="32" name="TextBox 31"/>
          <p:cNvSpPr txBox="1"/>
          <p:nvPr/>
        </p:nvSpPr>
        <p:spPr>
          <a:xfrm>
            <a:off x="1394460" y="6079490"/>
            <a:ext cx="4465320" cy="914400"/>
          </a:xfrm>
          <a:prstGeom prst="rect">
            <a:avLst/>
          </a:prstGeom>
          <a:noFill/>
        </p:spPr>
        <p:txBody>
          <a:bodyPr anchor="t" rtlCol="false" lIns="0" tIns="0" rIns="0" bIns="0" wrap="square"/>
          <a:lstStyle/>
          <a:p>
            <a:pPr algn="l">
              <a:lnSpc>
                <a:spcPts val="1598"/>
              </a:lnSpc>
              <a:spcBef>
                <a:spcPts val="0"/>
              </a:spcBef>
              <a:buNone/>
            </a:pPr>
            <a:r>
              <a:rPr lang="en-US" sz="1222" b="true" spc="160">
                <a:solidFill>
                  <a:srgbClr val="ECC665"/>
                </a:solidFill>
                <a:latin typeface="Nunito Ultra-Bold"/>
                <a:ea typeface="Nunito Ultra-Bold"/>
                <a:cs typeface="Nunito Ultra-Bold"/>
                <a:sym typeface="Nunito Ultra-Bold"/>
              </a:rPr>
              <a:t>CLUSTER 0</a:t>
            </a:r>
          </a:p>
          <a:p>
            <a:pPr algn="l">
              <a:lnSpc>
                <a:spcPts val="2256"/>
              </a:lnSpc>
              <a:spcBef>
                <a:spcPts val="564"/>
              </a:spcBef>
              <a:buNone/>
            </a:pPr>
            <a:r>
              <a:rPr lang="en-US" sz="1786" b="true">
                <a:solidFill>
                  <a:srgbClr val="FFFFFF"/>
                </a:solidFill>
                <a:latin typeface="Nunito Ultra-Bold"/>
                <a:ea typeface="Nunito Ultra-Bold"/>
                <a:cs typeface="Nunito Ultra-Bold"/>
                <a:sym typeface="Nunito Ultra-Bold"/>
              </a:rPr>
              <a:t>density + sulfur-dioxide-related variables</a:t>
            </a:r>
          </a:p>
        </p:txBody>
      </p:sp>
      <p:sp>
        <p:nvSpPr>
          <p:cNvPr id="33" name="Rounded Rectangle 32"/>
          <p:cNvSpPr/>
          <p:nvPr/>
        </p:nvSpPr>
        <p:spPr>
          <a:xfrm>
            <a:off x="6545580" y="5878322"/>
            <a:ext cx="5196840" cy="1234440"/>
          </a:xfrm>
          <a:prstGeom prst="roundRect">
            <a:avLst>
              <a:gd name="adj" fmla="val 20740"/>
            </a:avLst>
          </a:prstGeom>
          <a:solidFill>
            <a:srgbClr val="1E5F58"/>
          </a:solidFill>
          <a:ln>
            <a:noFill/>
          </a:ln>
        </p:spPr>
        <p:txBody>
          <a:bodyPr anchor="ctr" rtlCol="false" lIns="0" tIns="0" rIns="0" bIns="0" wrap="square"/>
          <a:lstStyle/>
          <a:p>
            <a:endParaRPr lang="en-US" sz="1800"/>
          </a:p>
        </p:txBody>
      </p:sp>
      <p:sp>
        <p:nvSpPr>
          <p:cNvPr id="34" name="TextBox 33"/>
          <p:cNvSpPr txBox="1"/>
          <p:nvPr/>
        </p:nvSpPr>
        <p:spPr>
          <a:xfrm>
            <a:off x="6911340" y="6079490"/>
            <a:ext cx="4465320" cy="914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CLUSTER 1</a:t>
            </a:r>
          </a:p>
          <a:p>
            <a:pPr algn="l">
              <a:lnSpc>
                <a:spcPts val="2400"/>
              </a:lnSpc>
              <a:spcBef>
                <a:spcPts val="600"/>
              </a:spcBef>
              <a:buNone/>
            </a:pPr>
            <a:r>
              <a:rPr lang="en-US" sz="1900" b="true">
                <a:solidFill>
                  <a:srgbClr val="FFFFFF"/>
                </a:solidFill>
                <a:latin typeface="Nunito Ultra-Bold"/>
                <a:ea typeface="Nunito Ultra-Bold"/>
                <a:cs typeface="Nunito Ultra-Bold"/>
                <a:sym typeface="Nunito Ultra-Bold"/>
              </a:rPr>
              <a:t>acidity and pH-related effects</a:t>
            </a:r>
          </a:p>
        </p:txBody>
      </p:sp>
      <p:sp>
        <p:nvSpPr>
          <p:cNvPr id="35" name="Rounded Rectangle 34"/>
          <p:cNvSpPr/>
          <p:nvPr/>
        </p:nvSpPr>
        <p:spPr>
          <a:xfrm>
            <a:off x="12062460" y="5878322"/>
            <a:ext cx="5196840" cy="1234440"/>
          </a:xfrm>
          <a:prstGeom prst="roundRect">
            <a:avLst>
              <a:gd name="adj" fmla="val 2074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6079490"/>
            <a:ext cx="4465320" cy="914400"/>
          </a:xfrm>
          <a:prstGeom prst="rect">
            <a:avLst/>
          </a:prstGeom>
          <a:noFill/>
        </p:spPr>
        <p:txBody>
          <a:bodyPr anchor="t" rtlCol="false" lIns="0" tIns="0" rIns="0" bIns="0" wrap="square"/>
          <a:lstStyle/>
          <a:p>
            <a:pPr algn="l">
              <a:lnSpc>
                <a:spcPts val="1598"/>
              </a:lnSpc>
              <a:spcBef>
                <a:spcPts val="0"/>
              </a:spcBef>
              <a:buNone/>
            </a:pPr>
            <a:r>
              <a:rPr lang="en-US" sz="1222" b="true" spc="160">
                <a:solidFill>
                  <a:srgbClr val="FFFFFF"/>
                </a:solidFill>
                <a:latin typeface="Nunito Ultra-Bold"/>
                <a:ea typeface="Nunito Ultra-Bold"/>
                <a:cs typeface="Nunito Ultra-Bold"/>
                <a:sym typeface="Nunito Ultra-Bold"/>
              </a:rPr>
              <a:t>CLUSTER 2</a:t>
            </a:r>
          </a:p>
          <a:p>
            <a:pPr algn="l">
              <a:lnSpc>
                <a:spcPts val="2256"/>
              </a:lnSpc>
              <a:spcBef>
                <a:spcPts val="564"/>
              </a:spcBef>
              <a:buNone/>
            </a:pPr>
            <a:r>
              <a:rPr lang="en-US" sz="1786" b="true">
                <a:solidFill>
                  <a:srgbClr val="FFFFFF"/>
                </a:solidFill>
                <a:latin typeface="Nunito Ultra-Bold"/>
                <a:ea typeface="Nunito Ultra-Bold"/>
                <a:cs typeface="Nunito Ultra-Bold"/>
                <a:sym typeface="Nunito Ultra-Bold"/>
              </a:rPr>
              <a:t>a different balance of acidity, alcohol and related chemical attributes</a:t>
            </a:r>
          </a:p>
        </p:txBody>
      </p:sp>
      <p:sp>
        <p:nvSpPr>
          <p:cNvPr id="37" name="Rounded Rectangle 36"/>
          <p:cNvSpPr/>
          <p:nvPr/>
        </p:nvSpPr>
        <p:spPr>
          <a:xfrm>
            <a:off x="1028700" y="7798562"/>
            <a:ext cx="16230600" cy="1555750"/>
          </a:xfrm>
          <a:prstGeom prst="roundRect">
            <a:avLst>
              <a:gd name="adj" fmla="val 19983"/>
            </a:avLst>
          </a:prstGeom>
          <a:solidFill>
            <a:srgbClr val="F6ECDF"/>
          </a:solidFill>
          <a:ln>
            <a:noFill/>
          </a:ln>
        </p:spPr>
        <p:txBody>
          <a:bodyPr anchor="ctr" rtlCol="false" lIns="0" tIns="0" rIns="0" bIns="0" wrap="square"/>
          <a:lstStyle/>
          <a:p>
            <a:endParaRPr lang="en-US" sz="1800"/>
          </a:p>
        </p:txBody>
      </p:sp>
      <p:sp>
        <p:nvSpPr>
          <p:cNvPr id="38" name="Rounded Rectangle 37"/>
          <p:cNvSpPr/>
          <p:nvPr/>
        </p:nvSpPr>
        <p:spPr>
          <a:xfrm>
            <a:off x="1485900" y="7560818"/>
            <a:ext cx="420355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the signatures show</a:t>
            </a:r>
          </a:p>
        </p:txBody>
      </p:sp>
      <p:sp>
        <p:nvSpPr>
          <p:cNvPr id="39" name="TextBox 38"/>
          <p:cNvSpPr txBox="1"/>
          <p:nvPr/>
        </p:nvSpPr>
        <p:spPr>
          <a:xfrm>
            <a:off x="1531620" y="8347202"/>
            <a:ext cx="15270480" cy="824230"/>
          </a:xfrm>
          <a:prstGeom prst="rect">
            <a:avLst/>
          </a:prstGeom>
          <a:noFill/>
        </p:spPr>
        <p:txBody>
          <a:bodyPr anchor="t" rtlCol="false" lIns="0" tIns="0" rIns="0" bIns="0" wrap="square"/>
          <a:lstStyle/>
          <a:p>
            <a:pPr algn="l" marL="274320" indent="-274320">
              <a:lnSpc>
                <a:spcPts val="1991"/>
              </a:lnSpc>
              <a:spcBef>
                <a:spcPts val="0"/>
              </a:spcBef>
              <a:buClr>
                <a:srgbClr val="DF8330"/>
              </a:buClr>
              <a:buSzPct val="100000"/>
              <a:buFont typeface="Arial"/>
              <a:buChar char="•"/>
            </a:pPr>
            <a:r>
              <a:rPr lang="en-US" sz="1422" b="true">
                <a:solidFill>
                  <a:srgbClr val="111111"/>
                </a:solidFill>
                <a:latin typeface="Nunito Semi-Bold"/>
                <a:ea typeface="Nunito Semi-Bold"/>
                <a:cs typeface="Nunito Semi-Bold"/>
                <a:sym typeface="Nunito Semi-Bold"/>
              </a:rPr>
              <a:t>The three clusters show </a:t>
            </a:r>
            <a:r>
              <a:rPr lang="en-US" sz="1422" b="true">
                <a:solidFill>
                  <a:srgbClr val="111111"/>
                </a:solidFill>
                <a:latin typeface="Nunito Bold"/>
                <a:ea typeface="Nunito Bold"/>
                <a:cs typeface="Nunito Bold"/>
                <a:sym typeface="Nunito Bold"/>
              </a:rPr>
              <a:t>distinct explanatory signatures</a:t>
            </a:r>
            <a:r>
              <a:rPr lang="en-US" sz="1422" b="true">
                <a:solidFill>
                  <a:srgbClr val="111111"/>
                </a:solidFill>
                <a:latin typeface="Nunito Semi-Bold"/>
                <a:ea typeface="Nunito Semi-Bold"/>
                <a:cs typeface="Nunito Semi-Bold"/>
                <a:sym typeface="Nunito Semi-Bold"/>
              </a:rPr>
              <a:t>: the explanation is consistent, not a single summary number.</a:t>
            </a:r>
          </a:p>
          <a:p>
            <a:pPr algn="l" marL="274320" indent="-274320">
              <a:lnSpc>
                <a:spcPts val="1991"/>
              </a:lnSpc>
              <a:spcBef>
                <a:spcPts val="316"/>
              </a:spcBef>
              <a:buClr>
                <a:srgbClr val="DF8330"/>
              </a:buClr>
              <a:buSzPct val="100000"/>
              <a:buFont typeface="Arial"/>
              <a:buChar char="•"/>
            </a:pPr>
            <a:r>
              <a:rPr lang="en-US" sz="1422" b="true">
                <a:solidFill>
                  <a:srgbClr val="111111"/>
                </a:solidFill>
                <a:latin typeface="Nunito Semi-Bold"/>
                <a:ea typeface="Nunito Semi-Bold"/>
                <a:cs typeface="Nunito Semi-Bold"/>
                <a:sym typeface="Nunito Semi-Bold"/>
              </a:rPr>
              <a:t>The </a:t>
            </a:r>
            <a:r>
              <a:rPr lang="en-US" sz="1422" b="true">
                <a:solidFill>
                  <a:srgbClr val="111111"/>
                </a:solidFill>
                <a:latin typeface="Nunito Bold"/>
                <a:ea typeface="Nunito Bold"/>
                <a:cs typeface="Nunito Bold"/>
                <a:sym typeface="Nunito Bold"/>
              </a:rPr>
              <a:t>same small set of variables recurs</a:t>
            </a:r>
            <a:r>
              <a:rPr lang="en-US" sz="1422" b="true">
                <a:solidFill>
                  <a:srgbClr val="111111"/>
                </a:solidFill>
                <a:latin typeface="Nunito Semi-Bold"/>
                <a:ea typeface="Nunito Semi-Bold"/>
                <a:cs typeface="Nunito Semi-Bold"/>
                <a:sym typeface="Nunito Semi-Bold"/>
              </a:rPr>
              <a:t> across clusters, with </a:t>
            </a:r>
            <a:r>
              <a:rPr lang="en-US" sz="1422" b="true">
                <a:solidFill>
                  <a:srgbClr val="111111"/>
                </a:solidFill>
                <a:latin typeface="Nunito Bold"/>
                <a:ea typeface="Nunito Bold"/>
                <a:cs typeface="Nunito Bold"/>
                <a:sym typeface="Nunito Bold"/>
              </a:rPr>
              <a:t>different relative weights</a:t>
            </a:r>
            <a:r>
              <a:rPr lang="en-US" sz="1422" b="true">
                <a:solidFill>
                  <a:srgbClr val="111111"/>
                </a:solidFill>
                <a:latin typeface="Nunito Semi-Bold"/>
                <a:ea typeface="Nunito Semi-Bold"/>
                <a:cs typeface="Nunito Semi-Bold"/>
                <a:sym typeface="Nunito Semi-Bold"/>
              </a:rPr>
              <a:t> within each; local force plots break any single wine down into per-feature contributions.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 vs LIME: Why the Cooperative Concept Wins</a:t>
            </a:r>
          </a:p>
        </p:txBody>
      </p:sp>
      <p:pic>
        <p:nvPicPr>
          <p:cNvPr id="23" name="Picture 22" descr="image.png"/>
          <p:cNvPicPr>
            <a:picLocks noChangeAspect="1"/>
          </p:cNvPicPr>
          <p:nvPr/>
        </p:nvPicPr>
        <p:blipFill>
          <a:blip r:embed="rId3"/>
          <a:stretch>
            <a:fillRect/>
          </a:stretch>
        </p:blipFill>
        <p:spPr>
          <a:xfrm>
            <a:off x="1434759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16230599" cy="4498848"/>
        </p:xfrm>
        <a:graphic>
          <a:graphicData uri="http://schemas.openxmlformats.org/drawingml/2006/table">
            <a:tbl>
              <a:tblPr firstRow="0" bandRow="0" firstCol="0" lastRow="0" lastCol="0" bandCol="0">
                <a:tableStyleId>{2D5ABB26-0587-4C30-8999-92F81FD0307C}</a:tableStyleId>
              </a:tblPr>
              <a:tblGrid>
                <a:gridCol w="3701715"/>
                <a:gridCol w="6264442"/>
                <a:gridCol w="6264442"/>
              </a:tblGrid>
              <a:tr h="749808">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Criterion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SHAP (cooperative)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LIME (local surrogate)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Basis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Cooperative-game marginal contribution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Local surrogate approximation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Local / global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Both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Primarily local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Theoretical guarantee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Efficiency, symmetry, null player, additivity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None equivalent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Stability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Higher when surrogate faithful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Sensitive to perturbation design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Cluster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Strong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Limited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8228330"/>
            <a:ext cx="16230600" cy="1125982"/>
          </a:xfrm>
          <a:prstGeom prst="roundRect">
            <a:avLst>
              <a:gd name="adj" fmla="val 20302"/>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Shapley rests on </a:t>
            </a:r>
            <a:r>
              <a:rPr lang="en-US" sz="2100" b="true">
                <a:solidFill>
                  <a:srgbClr val="FFFFFF"/>
                </a:solidFill>
                <a:latin typeface="Nunito Bold"/>
                <a:ea typeface="Nunito Bold"/>
                <a:cs typeface="Nunito Bold"/>
                <a:sym typeface="Nunito Bold"/>
              </a:rPr>
              <a:t>four axioms</a:t>
            </a:r>
            <a:r>
              <a:rPr lang="en-US" sz="2100" b="true">
                <a:solidFill>
                  <a:srgbClr val="FFFFFF"/>
                </a:solidFill>
                <a:latin typeface="Nunito Semi-Bold"/>
                <a:ea typeface="Nunito Semi-Bold"/>
                <a:cs typeface="Nunito Semi-Bold"/>
                <a:sym typeface="Nunito Semi-Bold"/>
              </a:rPr>
              <a:t>; LIME has no equivalent guarantee. With a faithful surrogate, cooperative attribution is </a:t>
            </a:r>
            <a:r>
              <a:rPr lang="en-US" sz="2100" b="true">
                <a:solidFill>
                  <a:srgbClr val="FFFFFF"/>
                </a:solidFill>
                <a:latin typeface="Nunito Bold"/>
                <a:ea typeface="Nunito Bold"/>
                <a:cs typeface="Nunito Bold"/>
                <a:sym typeface="Nunito Bold"/>
              </a:rPr>
              <a:t>more stable and comparable across clusters</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6.1, 6.2,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12494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12494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12494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1E5F58"/>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12494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12494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12494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12494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12494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12494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12494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w</m:t>
                          </m:r>
                        </m:e>
                        <m:sub>
                          <m:r>
                            <a:rPr lang="en-US" sz="1400" i="1">
                              <a:solidFill>
                                <a:srgbClr val="DCE7E3"/>
                              </a:solidFill>
                              <a:latin typeface="Cambria Math" panose="02040503050406030204" pitchFamily="18" charset="0"/>
                            </a:rPr>
                            <m:t xml:space="preserve">c′</m:t>
                          </m:r>
                        </m:sub>
                      </m:sSub>
                      <m:r>
                        <m:rPr>
                          <m:sty m:val="p"/>
                        </m:rPr>
                        <a:rPr lang="en-US" sz="1400">
                          <a:solidFill>
                            <a:srgbClr val="DCE7E3"/>
                          </a:solidFill>
                          <a:latin typeface="Cambria Math" panose="02040503050406030204" pitchFamily="18" charset="0"/>
                        </a:rPr>
                        <m:t xml:space="preserve">=|</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 |</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m:t>
                      </m:r>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ε</m:t>
                          </m:r>
                        </m:e>
                        <m:sub>
                          <m:r>
                            <a:rPr lang="en-US" sz="1400" i="1">
                              <a:solidFill>
                                <a:srgbClr val="DCE7E3"/>
                              </a:solidFill>
                              <a:latin typeface="Cambria Math" panose="02040503050406030204" pitchFamily="18" charset="0"/>
                            </a:rPr>
                            <m:t xml:space="preserve">j</m:t>
                          </m:r>
                        </m:sub>
                      </m:sSub>
                      <m:r>
                        <m:rPr>
                          <m:sty m:val="p"/>
                        </m:rPr>
                        <a:rPr lang="en-US" sz="1400">
                          <a:solidFill>
                            <a:srgbClr val="DCE7E3"/>
                          </a:solidFill>
                          <a:latin typeface="Cambria Math" panose="02040503050406030204" pitchFamily="18" charset="0"/>
                        </a:rPr>
                        <m:t xml:space="preserve">→0</m:t>
                      </m:r>
                      <m:r>
                        <m:rPr>
                          <m:nor/>
                        </m:rPr>
                        <a:rPr lang="en-US" sz="1400">
                          <a:solidFill>
                            <a:srgbClr val="DCE7E3"/>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sSub>
                        <m:sSubPr>
                          <m:ctrlPr>
                            <a:rPr lang="en-US" sz="1800" i="1">
                              <a:solidFill>
                                <a:srgbClr val="124944"/>
                              </a:solidFill>
                              <a:latin typeface="Cambria Math" panose="02040503050406030204" pitchFamily="18" charset="0"/>
                            </a:rPr>
                          </m:ctrlPr>
                        </m:sSubPr>
                        <m:e>
                          <m:r>
                            <m:rPr>
                              <m:scr m:val="double-struck"/>
                              <m:sty m:val="p"/>
                            </m:rPr>
                            <a:rPr lang="en-US" sz="1800">
                              <a:solidFill>
                                <a:srgbClr val="124944"/>
                              </a:solidFill>
                              <a:latin typeface="Cambria Math" panose="02040503050406030204" pitchFamily="18" charset="0"/>
                            </a:rPr>
                            <m:t xml:space="preserve">E</m:t>
                          </m:r>
                        </m:e>
                        <m:sub>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sub>
                      </m:sSub>
                      <m:d>
                        <m:dPr>
                          <m:begChr m:val="["/>
                          <m:endChr m:val="]"/>
                          <m:ctrlPr>
                            <a:rPr lang="en-US" sz="1800" i="1">
                              <a:solidFill>
                                <a:srgbClr val="124944"/>
                              </a:solidFill>
                              <a:latin typeface="Cambria Math" panose="02040503050406030204" pitchFamily="18" charset="0"/>
                            </a:rPr>
                          </m:ctrlPr>
                        </m:dPr>
                        <m:e>
                          <m:r>
                            <m:rPr>
                              <m:sty m:val="p"/>
                            </m:rPr>
                            <a:rPr lang="en-US" sz="1800">
                              <a:solidFill>
                                <a:srgbClr val="124944"/>
                              </a:solidFill>
                              <a:latin typeface="Cambria Math" panose="02040503050406030204" pitchFamily="18" charset="0"/>
                            </a:rPr>
                            <m:t xml:space="preserve"> </m:t>
                          </m:r>
                          <m:d>
                            <m:dPr>
                              <m:begChr m:val="|"/>
                              <m:endChr m:val="|"/>
                              <m:ctrlPr>
                                <a:rPr lang="en-US" sz="1800" i="1">
                                  <a:solidFill>
                                    <a:srgbClr val="124944"/>
                                  </a:solidFill>
                                  <a:latin typeface="Cambria Math" panose="02040503050406030204" pitchFamily="18" charset="0"/>
                                </a:rPr>
                              </m:ctrlPr>
                            </m:dPr>
                            <m:e>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e>
                          </m:d>
                          <m:r>
                            <m:rPr>
                              <m:sty m:val="p"/>
                            </m:rPr>
                            <a:rPr lang="en-US" sz="1800">
                              <a:solidFill>
                                <a:srgbClr val="12494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124944"/>
                              </a:solidFill>
                              <a:latin typeface="Cambria Math" panose="02040503050406030204" pitchFamily="18" charset="0"/>
                            </a:rPr>
                          </m:ctrlPr>
                        </m:sSubPr>
                        <m:e>
                          <m:r>
                            <a:rPr lang="en-US" sz="2100" i="1">
                              <a:solidFill>
                                <a:srgbClr val="124944"/>
                              </a:solidFill>
                              <a:latin typeface="Cambria Math" panose="02040503050406030204" pitchFamily="18" charset="0"/>
                            </a:rPr>
                            <m:t xml:space="preserve">w</m:t>
                          </m:r>
                        </m:e>
                        <m:sub>
                          <m:r>
                            <a:rPr lang="en-US" sz="2100" i="1">
                              <a:solidFill>
                                <a:srgbClr val="124944"/>
                              </a:solidFill>
                              <a:latin typeface="Cambria Math" panose="02040503050406030204" pitchFamily="18" charset="0"/>
                            </a:rPr>
                            <m:t xml:space="preserve">c′</m:t>
                          </m:r>
                        </m:sub>
                      </m:sSub>
                      <m:r>
                        <m:rPr>
                          <m:sty m:val="p"/>
                        </m:rPr>
                        <a:rPr lang="en-US" sz="2100">
                          <a:solidFill>
                            <a:srgbClr val="124944"/>
                          </a:solidFill>
                          <a:latin typeface="Cambria Math" panose="02040503050406030204" pitchFamily="18" charset="0"/>
                        </a:rPr>
                        <m:t xml:space="preserve">=|</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 / |</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nary>
                        <m:naryPr>
                          <m:chr m:val="∑"/>
                          <m:limLoc m:val="undOvr"/>
                          <m:supHide m:val="1"/>
                          <m:ctrlPr>
                            <a:rPr lang="en-US" sz="2550" i="1">
                              <a:solidFill>
                                <a:srgbClr val="124944"/>
                              </a:solidFill>
                              <a:latin typeface="Cambria Math" panose="02040503050406030204" pitchFamily="18" charset="0"/>
                            </a:rPr>
                          </m:ctrlPr>
                        </m:naryPr>
                        <m:sub>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∈child(</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b>
                        <m:sup/>
                        <m:e>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w</m:t>
                              </m:r>
                            </m:e>
                            <m:sub>
                              <m:r>
                                <a:rPr lang="en-US" sz="2550" i="1">
                                  <a:solidFill>
                                    <a:srgbClr val="124944"/>
                                  </a:solidFill>
                                  <a:latin typeface="Cambria Math" panose="02040503050406030204" pitchFamily="18" charset="0"/>
                                </a:rPr>
                                <m:t xml:space="preserve">c′</m:t>
                              </m:r>
                            </m:sub>
                          </m:sSub>
                        </m:e>
                      </m:nary>
                      <m:r>
                        <m:rPr>
                          <m:sty m:val="p"/>
                        </m:rPr>
                        <a:rPr lang="en-US" sz="2550">
                          <a:solidFill>
                            <a:srgbClr val="124944"/>
                          </a:solidFill>
                          <a:latin typeface="Cambria Math" panose="02040503050406030204" pitchFamily="18" charset="0"/>
                        </a:rPr>
                        <m:t xml:space="preserve"> </m:t>
                      </m:r>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+1, </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ε</m:t>
                          </m:r>
                        </m:e>
                        <m:sub>
                          <m:r>
                            <a:rPr lang="en-US" sz="2550" i="1">
                              <a:solidFill>
                                <a:srgbClr val="12494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12494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2494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Rounded Rectangle 30"/>
          <p:cNvSpPr/>
          <p:nvPr/>
        </p:nvSpPr>
        <p:spPr>
          <a:xfrm>
            <a:off x="1028700" y="6198362"/>
            <a:ext cx="7932420" cy="3155950"/>
          </a:xfrm>
          <a:prstGeom prst="roundRect">
            <a:avLst>
              <a:gd name="adj" fmla="val 9851"/>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5960618"/>
            <a:ext cx="144573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3" name="TextBox 32"/>
          <p:cNvSpPr txBox="1"/>
          <p:nvPr/>
        </p:nvSpPr>
        <p:spPr>
          <a:xfrm>
            <a:off x="1531620" y="6838442"/>
            <a:ext cx="6972300" cy="224155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4" name="Rounded Rectangle 33"/>
          <p:cNvSpPr/>
          <p:nvPr/>
        </p:nvSpPr>
        <p:spPr>
          <a:xfrm>
            <a:off x="9326880" y="6198362"/>
            <a:ext cx="7932420" cy="3155950"/>
          </a:xfrm>
          <a:prstGeom prst="roundRect">
            <a:avLst>
              <a:gd name="adj" fmla="val 9851"/>
            </a:avLst>
          </a:prstGeom>
          <a:solidFill>
            <a:srgbClr val="124944"/>
          </a:solidFill>
          <a:ln>
            <a:noFill/>
          </a:ln>
        </p:spPr>
        <p:txBody>
          <a:bodyPr anchor="ctr" rtlCol="false" lIns="0" tIns="0" rIns="0" bIns="0" wrap="square"/>
          <a:lstStyle/>
          <a:p>
            <a:endParaRPr lang="en-US" sz="1800"/>
          </a:p>
        </p:txBody>
      </p:sp>
      <p:sp>
        <p:nvSpPr>
          <p:cNvPr id="35" name="Rounded Rectangle 34"/>
          <p:cNvSpPr/>
          <p:nvPr/>
        </p:nvSpPr>
        <p:spPr>
          <a:xfrm>
            <a:off x="9784080" y="596061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Sensitivity</a:t>
            </a:r>
          </a:p>
        </p:txBody>
      </p:sp>
      <p:sp>
        <p:nvSpPr>
          <p:cNvPr id="36" name="TextBox 35"/>
          <p:cNvSpPr txBox="1"/>
          <p:nvPr/>
        </p:nvSpPr>
        <p:spPr>
          <a:xfrm>
            <a:off x="9829800" y="6838442"/>
            <a:ext cx="6972300" cy="224155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Atmospheric Regimes</a:t>
            </a:r>
          </a:p>
        </p:txBody>
      </p:sp>
      <p:pic>
        <p:nvPicPr>
          <p:cNvPr id="23" name="Picture 22" descr="image.png"/>
          <p:cNvPicPr>
            <a:picLocks noChangeAspect="1"/>
          </p:cNvPicPr>
          <p:nvPr/>
        </p:nvPicPr>
        <p:blipFill>
          <a:blip r:embed="rId3"/>
          <a:stretch>
            <a:fillRect/>
          </a:stretch>
        </p:blipFill>
        <p:spPr>
          <a:xfrm>
            <a:off x="8656120"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5196840" cy="2514600"/>
          </a:xfrm>
          <a:prstGeom prst="roundRect">
            <a:avLst>
              <a:gd name="adj" fmla="val 10909"/>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REGIME A</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Warm, sunlight-driven</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Ozone, temperature and dew point stand out: summer photochemical smog.</a:t>
            </a:r>
          </a:p>
        </p:txBody>
      </p:sp>
      <p:sp>
        <p:nvSpPr>
          <p:cNvPr id="30" name="Rounded Rectangle 29"/>
          <p:cNvSpPr/>
          <p:nvPr/>
        </p:nvSpPr>
        <p:spPr>
          <a:xfrm>
            <a:off x="6545580" y="3363722"/>
            <a:ext cx="5196840" cy="2514600"/>
          </a:xfrm>
          <a:prstGeom prst="roundRect">
            <a:avLst>
              <a:gd name="adj" fmla="val 10909"/>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REGIME B</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Wintertime smog</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CO, SO₂ and particulate matter dominate; low wind speed limits dispersion.</a:t>
            </a:r>
          </a:p>
        </p:txBody>
      </p:sp>
      <p:sp>
        <p:nvSpPr>
          <p:cNvPr id="32" name="Rounded Rectangle 31"/>
          <p:cNvSpPr/>
          <p:nvPr/>
        </p:nvSpPr>
        <p:spPr>
          <a:xfrm>
            <a:off x="12062460" y="3363722"/>
            <a:ext cx="5196840" cy="2514600"/>
          </a:xfrm>
          <a:prstGeom prst="roundRect">
            <a:avLst>
              <a:gd name="adj" fmla="val 10909"/>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FFFFFF"/>
                </a:solidFill>
                <a:latin typeface="Nunito Ultra-Bold"/>
                <a:ea typeface="Nunito Ultra-Bold"/>
                <a:cs typeface="Nunito Ultra-Bold"/>
                <a:sym typeface="Nunito Ultra-Bold"/>
              </a:rPr>
              <a:t>REGIME C</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Comparatively clean air</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Favourable weather, weak pollutant signals.</a:t>
            </a:r>
          </a:p>
        </p:txBody>
      </p:sp>
      <p:sp>
        <p:nvSpPr>
          <p:cNvPr id="34" name="Rounded Rectangle 33"/>
          <p:cNvSpPr/>
          <p:nvPr/>
        </p:nvSpPr>
        <p:spPr>
          <a:xfrm>
            <a:off x="1028700" y="6152642"/>
            <a:ext cx="16230600" cy="2651760"/>
          </a:xfrm>
          <a:prstGeom prst="roundRect">
            <a:avLst>
              <a:gd name="adj" fmla="val 8620"/>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6_2_beijing_force.png"/>
          <p:cNvPicPr>
            <a:picLocks noChangeAspect="1"/>
          </p:cNvPicPr>
          <p:nvPr/>
        </p:nvPicPr>
        <p:blipFill>
          <a:blip r:embed="rId5"/>
          <a:stretch>
            <a:fillRect/>
          </a:stretch>
        </p:blipFill>
        <p:spPr>
          <a:xfrm>
            <a:off x="6827722" y="6289802"/>
            <a:ext cx="4632554" cy="1965960"/>
          </a:xfrm>
          <a:prstGeom prst="rect">
            <a:avLst/>
          </a:prstGeom>
        </p:spPr>
      </p:pic>
      <p:sp>
        <p:nvSpPr>
          <p:cNvPr id="36" name="TextBox 35"/>
          <p:cNvSpPr txBox="1"/>
          <p:nvPr/>
        </p:nvSpPr>
        <p:spPr>
          <a:xfrm>
            <a:off x="1028700" y="834720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6.2 (thesis): local SHAP force plots for representative observations of each regime</a:t>
            </a:r>
          </a:p>
        </p:txBody>
      </p:sp>
      <p:sp>
        <p:nvSpPr>
          <p:cNvPr id="37" name="Rounded Rectangle 36"/>
          <p:cNvSpPr/>
          <p:nvPr/>
        </p:nvSpPr>
        <p:spPr>
          <a:xfrm>
            <a:off x="1028700" y="9033002"/>
            <a:ext cx="16230600" cy="184150"/>
          </a:xfrm>
          <a:prstGeom prst="roundRect">
            <a:avLst>
              <a:gd name="adj" fmla="val 50000"/>
            </a:avLst>
          </a:prstGeom>
          <a:solidFill>
            <a:srgbClr val="F6ECDF"/>
          </a:solidFill>
          <a:ln>
            <a:noFill/>
          </a:ln>
        </p:spPr>
        <p:txBody>
          <a:bodyPr anchor="ctr" rtlCol="false" lIns="457200" tIns="45720" rIns="457200" bIns="4572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framework shows not only </a:t>
            </a:r>
            <a:r>
              <a:rPr lang="en-US" sz="2000" b="true">
                <a:solidFill>
                  <a:srgbClr val="111111"/>
                </a:solidFill>
                <a:latin typeface="Nunito Bold"/>
                <a:ea typeface="Nunito Bold"/>
                <a:cs typeface="Nunito Bold"/>
                <a:sym typeface="Nunito Bold"/>
              </a:rPr>
              <a:t>that these regimes exist</a:t>
            </a:r>
            <a:r>
              <a:rPr lang="en-US" sz="2000" b="true">
                <a:solidFill>
                  <a:srgbClr val="111111"/>
                </a:solidFill>
                <a:latin typeface="Nunito Semi-Bold"/>
                <a:ea typeface="Nunito Semi-Bold"/>
                <a:cs typeface="Nunito Semi-Bold"/>
                <a:sym typeface="Nunito Semi-Bold"/>
              </a:rPr>
              <a:t>, but </a:t>
            </a:r>
            <a:r>
              <a:rPr lang="en-US" sz="2000" b="true">
                <a:solidFill>
                  <a:srgbClr val="111111"/>
                </a:solidFill>
                <a:latin typeface="Nunito Bold"/>
                <a:ea typeface="Nunito Bold"/>
                <a:cs typeface="Nunito Bold"/>
                <a:sym typeface="Nunito Bold"/>
              </a:rPr>
              <a:t>which variable combinations define them</a:t>
            </a:r>
            <a:r>
              <a:rPr lang="en-US" sz="20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12494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DF8330"/>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Generalisation and Comparison</a:t>
            </a:r>
          </a:p>
        </p:txBody>
      </p:sp>
      <p:pic>
        <p:nvPicPr>
          <p:cNvPr id="23" name="Picture 22" descr="image.png"/>
          <p:cNvPicPr>
            <a:picLocks noChangeAspect="1"/>
          </p:cNvPicPr>
          <p:nvPr/>
        </p:nvPicPr>
        <p:blipFill>
          <a:blip r:embed="rId3"/>
          <a:stretch>
            <a:fillRect/>
          </a:stretch>
        </p:blipFill>
        <p:spPr>
          <a:xfrm>
            <a:off x="9506856"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16230599" cy="3182112"/>
        </p:xfrm>
        <a:graphic>
          <a:graphicData uri="http://schemas.openxmlformats.org/drawingml/2006/table">
            <a:tbl>
              <a:tblPr firstRow="0" bandRow="0" firstCol="0" lastRow="0" lastCol="0" bandCol="0">
                <a:tableStyleId>{2D5ABB26-0587-4C30-8999-92F81FD0307C}</a:tableStyleId>
              </a:tblPr>
              <a:tblGrid>
                <a:gridCol w="3416968"/>
                <a:gridCol w="6264442"/>
                <a:gridCol w="6549189"/>
              </a:tblGrid>
              <a:tr h="530352">
                <a:tc>
                  <a:txBody>
                    <a:bodyPr anchor="ctr" rtlCol="false" lIns="0" tIns="0" rIns="0" bIns="0" wrap="square"/>
                    <a:lstStyle/>
                    <a:p>
                      <a:pPr algn="l">
                        <a:lnSpc>
                          <a:spcPts val="2340"/>
                        </a:lnSpc>
                        <a:spcBef>
                          <a:spcPts val="0"/>
                        </a:spcBef>
                        <a:buNone/>
                      </a:pPr>
                      <a:endParaRPr lang="en-US" sz="2200"/>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Wine Quality (C1)</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Beijing Air Quality (C2)</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Scale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Nature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small, dense, chemically correlated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large, noisy, varies with time &amp; weather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single-level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multi-level (nested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Silhouette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0.144 (k* = 3, chosen for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 0.63 (k = 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Explanatory logic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Shapley in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same logic · still works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7140194"/>
            <a:ext cx="7932420" cy="2168398"/>
          </a:xfrm>
          <a:prstGeom prst="roundRect">
            <a:avLst>
              <a:gd name="adj" fmla="val 14337"/>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485900" y="6902450"/>
            <a:ext cx="278910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vs the literature</a:t>
            </a:r>
          </a:p>
        </p:txBody>
      </p:sp>
      <p:sp>
        <p:nvSpPr>
          <p:cNvPr id="31" name="TextBox 30"/>
          <p:cNvSpPr txBox="1"/>
          <p:nvPr/>
        </p:nvSpPr>
        <p:spPr>
          <a:xfrm>
            <a:off x="1531620" y="7780274"/>
            <a:ext cx="6972300" cy="1253998"/>
          </a:xfrm>
          <a:prstGeom prst="rect">
            <a:avLst/>
          </a:prstGeom>
          <a:noFill/>
        </p:spPr>
        <p:txBody>
          <a:bodyPr anchor="t" rtlCol="false" lIns="0" tIns="0" rIns="0" bIns="0" wrap="square"/>
          <a:lstStyle/>
          <a:p>
            <a:pPr algn="l" marL="274320" indent="-274320">
              <a:lnSpc>
                <a:spcPts val="2181"/>
              </a:lnSpc>
              <a:spcBef>
                <a:spcPts val="0"/>
              </a:spcBef>
              <a:buClr>
                <a:srgbClr val="ECC665"/>
              </a:buClr>
              <a:buSzPct val="100000"/>
              <a:buFont typeface="Arial"/>
              <a:buChar char="•"/>
            </a:pPr>
            <a:r>
              <a:rPr lang="en-US" sz="1558" b="true">
                <a:solidFill>
                  <a:srgbClr val="FFFFFF"/>
                </a:solidFill>
                <a:latin typeface="Nunito Semi-Bold"/>
                <a:ea typeface="Nunito Semi-Bold"/>
                <a:cs typeface="Nunito Semi-Bold"/>
                <a:sym typeface="Nunito Semi-Bold"/>
              </a:rPr>
              <a:t>The same explanatory logic works on </a:t>
            </a:r>
            <a:r>
              <a:rPr lang="en-US" sz="1558" b="true">
                <a:solidFill>
                  <a:srgbClr val="FFFFFF"/>
                </a:solidFill>
                <a:latin typeface="Nunito Bold"/>
                <a:ea typeface="Nunito Bold"/>
                <a:cs typeface="Nunito Bold"/>
                <a:sym typeface="Nunito Bold"/>
              </a:rPr>
              <a:t>both datasets</a:t>
            </a:r>
            <a:r>
              <a:rPr lang="en-US" sz="1558" b="true">
                <a:solidFill>
                  <a:srgbClr val="FFFFFF"/>
                </a:solidFill>
                <a:latin typeface="Calibri"/>
                <a:ea typeface="Calibri"/>
                <a:cs typeface="Calibri"/>
                <a:sym typeface="Calibri"/>
              </a:rPr>
              <a:t> → </a:t>
            </a:r>
            <a:r>
              <a:rPr lang="en-US" sz="1558" b="true">
                <a:solidFill>
                  <a:srgbClr val="FFFFFF"/>
                </a:solidFill>
                <a:latin typeface="Nunito Semi-Bold"/>
                <a:ea typeface="Nunito Semi-Bold"/>
                <a:cs typeface="Nunito Semi-Bold"/>
                <a:sym typeface="Nunito Semi-Bold"/>
              </a:rPr>
              <a:t>not tied to one domain.</a:t>
            </a:r>
          </a:p>
          <a:p>
            <a:pPr algn="l" marL="274320" indent="-274320">
              <a:lnSpc>
                <a:spcPts val="2181"/>
              </a:lnSpc>
              <a:spcBef>
                <a:spcPts val="656"/>
              </a:spcBef>
              <a:buClr>
                <a:srgbClr val="ECC665"/>
              </a:buClr>
              <a:buSzPct val="100000"/>
              <a:buFont typeface="Arial"/>
              <a:buChar char="•"/>
            </a:pPr>
            <a:r>
              <a:rPr lang="en-US" sz="1558" b="true">
                <a:solidFill>
                  <a:srgbClr val="FFFFFF"/>
                </a:solidFill>
                <a:latin typeface="Nunito Semi-Bold"/>
                <a:ea typeface="Nunito Semi-Bold"/>
                <a:cs typeface="Nunito Semi-Bold"/>
                <a:sym typeface="Nunito Semi-Bold"/>
              </a:rPr>
              <a:t>Beijing Silhouette ≈ 0.63 vs </a:t>
            </a:r>
            <a:r>
              <a:rPr lang="en-US" sz="1558" b="true">
                <a:solidFill>
                  <a:srgbClr val="FFFFFF"/>
                </a:solidFill>
                <a:latin typeface="Nunito Bold"/>
                <a:ea typeface="Nunito Bold"/>
                <a:cs typeface="Nunito Bold"/>
                <a:sym typeface="Nunito Bold"/>
              </a:rPr>
              <a:t>0.37</a:t>
            </a:r>
            <a:r>
              <a:rPr lang="en-US" sz="1558" b="true">
                <a:solidFill>
                  <a:srgbClr val="FFFFFF"/>
                </a:solidFill>
                <a:latin typeface="Nunito Semi-Bold"/>
                <a:ea typeface="Nunito Semi-Bold"/>
                <a:cs typeface="Nunito Semi-Bold"/>
                <a:sym typeface="Nunito Semi-Bold"/>
              </a:rPr>
              <a:t> in Gramegna &amp; Giudici's SHAP-based credit-risk clustering.</a:t>
            </a:r>
          </a:p>
        </p:txBody>
      </p:sp>
      <p:sp>
        <p:nvSpPr>
          <p:cNvPr id="32" name="Rounded Rectangle 31"/>
          <p:cNvSpPr/>
          <p:nvPr/>
        </p:nvSpPr>
        <p:spPr>
          <a:xfrm>
            <a:off x="9326880" y="7140194"/>
            <a:ext cx="7932420" cy="2168398"/>
          </a:xfrm>
          <a:prstGeom prst="roundRect">
            <a:avLst>
              <a:gd name="adj" fmla="val 1433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6902450"/>
            <a:ext cx="169294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vs LIME</a:t>
            </a:r>
          </a:p>
        </p:txBody>
      </p:sp>
      <p:sp>
        <p:nvSpPr>
          <p:cNvPr id="34" name="TextBox 33"/>
          <p:cNvSpPr txBox="1"/>
          <p:nvPr/>
        </p:nvSpPr>
        <p:spPr>
          <a:xfrm>
            <a:off x="9829800" y="7780274"/>
            <a:ext cx="6972300" cy="1253998"/>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Weaker </a:t>
            </a:r>
            <a:r>
              <a:rPr lang="en-US" sz="1900" b="true">
                <a:solidFill>
                  <a:srgbClr val="111111"/>
                </a:solidFill>
                <a:latin typeface="Nunito Bold"/>
                <a:ea typeface="Nunito Bold"/>
                <a:cs typeface="Nunito Bold"/>
                <a:sym typeface="Nunito Bold"/>
              </a:rPr>
              <a:t>consistency</a:t>
            </a:r>
            <a:r>
              <a:rPr lang="en-US" sz="1900" b="true">
                <a:solidFill>
                  <a:srgbClr val="111111"/>
                </a:solidFill>
                <a:latin typeface="Nunito Semi-Bold"/>
                <a:ea typeface="Nunito Semi-Bold"/>
                <a:cs typeface="Nunito Semi-Bold"/>
                <a:sym typeface="Nunito Semi-Bold"/>
              </a:rPr>
              <a:t> across levels.</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Less stable local stories for </a:t>
            </a:r>
            <a:r>
              <a:rPr lang="en-US" sz="1900" b="true">
                <a:solidFill>
                  <a:srgbClr val="111111"/>
                </a:solidFill>
                <a:latin typeface="Nunito Bold"/>
                <a:ea typeface="Nunito Bold"/>
                <a:cs typeface="Nunito Bold"/>
                <a:sym typeface="Nunito Bold"/>
              </a:rPr>
              <a:t>multi-level reasoning</a:t>
            </a:r>
            <a:r>
              <a:rPr lang="en-US" sz="19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Tables 7.1 to 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C</a:t>
            </a:r>
            <a:r>
              <a:rPr lang="en-US" sz="2100" b="true">
                <a:solidFill>
                  <a:srgbClr val="111111"/>
                </a:solidFill>
                <a:latin typeface="Nunito Semi-Bold"/>
                <a:ea typeface="Nunito Semi-Bold"/>
                <a:cs typeface="Nunito Semi-Bold"/>
                <a:sym typeface="Nunito Semi-Bold"/>
              </a:rPr>
              <a:t> (users, items, contexts).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 H = (V, E, W)</a:t>
            </a:r>
            <a:r>
              <a:rPr lang="en-US" sz="2100" b="true">
                <a:solidFill>
                  <a:srgbClr val="111111"/>
                </a:solidFill>
                <a:latin typeface="Nunito Semi-Bold"/>
                <a:ea typeface="Nunito Semi-Bold"/>
                <a:cs typeface="Nunito Semi-Bold"/>
                <a:sym typeface="Nunito Semi-Bold"/>
              </a:rPr>
              <a:t>; V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C; </a:t>
            </a:r>
            <a:r>
              <a:rPr lang="en-US" sz="2100" b="true">
                <a:solidFill>
                  <a:srgbClr val="111111"/>
                </a:solidFill>
                <a:latin typeface="Nunito Bold"/>
                <a:ea typeface="Nunito Bold"/>
                <a:cs typeface="Nunito Bold"/>
                <a:sym typeface="Nunito Bold"/>
              </a:rPr>
              <a:t>W = dynamic edge weights</a:t>
            </a:r>
            <a:r>
              <a:rPr lang="en-US" sz="2100" b="true">
                <a:solidFill>
                  <a:srgbClr val="111111"/>
                </a:solidFill>
                <a:latin typeface="Nunito Semi-Bold"/>
                <a:ea typeface="Nunito Semi-Bold"/>
                <a:cs typeface="Nunito Semi-Bold"/>
                <a:sym typeface="Nunito Semi-Bold"/>
              </a:rPr>
              <a:t> from Shapley estimates.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a:t>
            </a:r>
            <a:r>
              <a:rPr lang="en-US" sz="2100" b="true">
                <a:solidFill>
                  <a:srgbClr val="111111"/>
                </a:solidFill>
                <a:latin typeface="Nunito Bold"/>
                <a:ea typeface="Nunito Bold"/>
                <a:cs typeface="Nunito Bold"/>
                <a:sym typeface="Nunito Bold"/>
              </a:rPr>
              <a:t>coalition S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N</a:t>
            </a:r>
            <a:r>
              <a:rPr lang="en-US" sz="2100" b="true">
                <a:solidFill>
                  <a:srgbClr val="111111"/>
                </a:solidFill>
                <a:latin typeface="Nunito Semi-Bold"/>
                <a:ea typeface="Nunito Semi-Bold"/>
                <a:cs typeface="Nunito Semi-Bold"/>
                <a:sym typeface="Nunito Semi-Bold"/>
              </a:rPr>
              <a:t> is the set of entities taking part in a recommendation episode.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Coalition value v(S)</a:t>
            </a:r>
            <a:r>
              <a:rPr lang="en-US" sz="2100" b="true">
                <a:solidFill>
                  <a:srgbClr val="111111"/>
                </a:solidFill>
                <a:latin typeface="Nunito Semi-Bold"/>
                <a:ea typeface="Nunito Semi-Bold"/>
                <a:cs typeface="Nunito Semi-Bold"/>
                <a:sym typeface="Nunito Semi-Bold"/>
              </a:rPr>
              <a:t> measures the quality of the recommendation that S can achieve.</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Top-N task:</a:t>
            </a:r>
            <a:r>
              <a:rPr lang="en-US" sz="2100" b="true">
                <a:solidFill>
                  <a:srgbClr val="111111"/>
                </a:solidFill>
                <a:latin typeface="Nunito Semi-Bold"/>
                <a:ea typeface="Nunito Semi-Bold"/>
                <a:cs typeface="Nunito Semi-Bold"/>
                <a:sym typeface="Nunito Semi-Bold"/>
              </a:rPr>
              <a:t> produce a ranked list L</a:t>
            </a:r>
            <a:r>
              <a:rPr lang="en-US" sz="2100" b="true" baseline="-25000">
                <a:solidFill>
                  <a:srgbClr val="111111"/>
                </a:solidFill>
                <a:latin typeface="Nunito Semi-Bold"/>
                <a:ea typeface="Nunito Semi-Bold"/>
                <a:cs typeface="Nunito Semi-Bold"/>
                <a:sym typeface="Nunito Semi-Bold"/>
              </a:rPr>
              <a:t>u</a:t>
            </a:r>
            <a:r>
              <a:rPr lang="en-US" sz="2100" b="true">
                <a:solidFill>
                  <a:srgbClr val="111111"/>
                </a:solidFill>
                <a:latin typeface="Nunito Semi-Bold"/>
                <a:ea typeface="Nunito Semi-Bold"/>
                <a:cs typeface="Nunito Semi-Bold"/>
                <a:sym typeface="Nunito Semi-Bold"/>
              </a:rPr>
              <a:t> balancing relevance, diversity and contextual fit.</a:t>
            </a:r>
          </a:p>
        </p:txBody>
      </p:sp>
      <p:sp>
        <p:nvSpPr>
          <p:cNvPr id="29" name="TextBox 28"/>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30" name="Rounded Rectangle 29"/>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1" name="TextBox 30"/>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2" name="Oval 31"/>
          <p:cNvSpPr/>
          <p:nvPr/>
        </p:nvSpPr>
        <p:spPr>
          <a:xfrm>
            <a:off x="10165080" y="4598162"/>
            <a:ext cx="1737360" cy="1737360"/>
          </a:xfrm>
          <a:prstGeom prst="ellipse">
            <a:avLst/>
          </a:prstGeom>
          <a:solidFill>
            <a:srgbClr val="12494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3" name="Oval 32"/>
          <p:cNvSpPr/>
          <p:nvPr/>
        </p:nvSpPr>
        <p:spPr>
          <a:xfrm>
            <a:off x="12481560" y="4598162"/>
            <a:ext cx="1737360" cy="1737360"/>
          </a:xfrm>
          <a:prstGeom prst="ellipse">
            <a:avLst/>
          </a:prstGeom>
          <a:solidFill>
            <a:srgbClr val="1E5F58"/>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4" name="Oval 33"/>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5" name="Rounded Rectangle 34"/>
          <p:cNvSpPr/>
          <p:nvPr/>
        </p:nvSpPr>
        <p:spPr>
          <a:xfrm>
            <a:off x="9441180" y="7067042"/>
            <a:ext cx="7818120" cy="2241550"/>
          </a:xfrm>
          <a:prstGeom prst="roundRect">
            <a:avLst>
              <a:gd name="adj" fmla="val 10198"/>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6" name="Equation"/>
              <p:cNvSpPr txBox="1"/>
              <p:nvPr/>
            </p:nvSpPr>
            <p:spPr>
              <a:xfrm>
                <a:off x="9715500" y="7112762"/>
                <a:ext cx="1828800" cy="1120775"/>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8"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8" name="Equation"/>
              <p:cNvSpPr txBox="1"/>
              <p:nvPr/>
            </p:nvSpPr>
            <p:spPr>
              <a:xfrm>
                <a:off x="9715500" y="8142097"/>
                <a:ext cx="1828800" cy="11207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Coalition Value Aligned with the Objective</a:t>
            </a:r>
          </a:p>
        </p:txBody>
      </p:sp>
      <p:pic>
        <p:nvPicPr>
          <p:cNvPr id="23" name="Picture 22" descr="image.png"/>
          <p:cNvPicPr>
            <a:picLocks noChangeAspect="1"/>
          </p:cNvPicPr>
          <p:nvPr/>
        </p:nvPicPr>
        <p:blipFill>
          <a:blip r:embed="rId3"/>
          <a:stretch>
            <a:fillRect/>
          </a:stretch>
        </p:blipFill>
        <p:spPr>
          <a:xfrm>
            <a:off x="12053319"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600200"/>
          </a:xfrm>
          <a:prstGeom prst="roundRect">
            <a:avLst>
              <a:gd name="adj" fmla="val 17142"/>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394460" y="35008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400" i="1">
                          <a:solidFill>
                            <a:srgbClr val="FFFFFF"/>
                          </a:solidFill>
                          <a:latin typeface="Cambria Math" panose="02040503050406030204" pitchFamily="18" charset="0"/>
                        </a:rPr>
                        <m:t xml:space="preserve">v</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·NDCG@20(</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·Diversity(</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·ContextScore(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),  </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=1</m:t>
                      </m:r>
                    </m:oMath>
                  </m:oMathPara>
                </a14:m>
                <a:endParaRPr lang="en-US" sz="2400"/>
              </a:p>
            </p:txBody>
          </p:sp>
        </mc:Choice>
        <mc:Fallback>
          <p:sp>
            <p:nvSpPr>
              <p:cNvPr id="29" name="Equation"/>
              <p:cNvSpPr txBox="1"/>
              <p:nvPr/>
            </p:nvSpPr>
            <p:spPr>
              <a:xfrm>
                <a:off x="1394460" y="3500882"/>
                <a:ext cx="15499080" cy="6400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0" name="Equation"/>
              <p:cNvSpPr txBox="1"/>
              <p:nvPr/>
            </p:nvSpPr>
            <p:spPr>
              <a:xfrm>
                <a:off x="1394460" y="41866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v</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v</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λ</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 </m:t>
                      </m:r>
                      <m:nary>
                        <m:naryPr>
                          <m:chr m:val="∑"/>
                          <m:limLoc m:val="subSup"/>
                          <m:supHide m:val="1"/>
                          <m:ctrlPr>
                            <a:rPr lang="en-US" sz="2200" i="1">
                              <a:solidFill>
                                <a:srgbClr val="ECC665"/>
                              </a:solidFill>
                              <a:latin typeface="Cambria Math" panose="02040503050406030204" pitchFamily="18" charset="0"/>
                            </a:rPr>
                          </m:ctrlPr>
                        </m:naryPr>
                        <m: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sub>
                        <m:sup/>
                        <m:e>
                          <m:r>
                            <m:rPr>
                              <m:sty m:val="p"/>
                            </m:rPr>
                            <a:rPr lang="en-US" sz="2200">
                              <a:solidFill>
                                <a:srgbClr val="ECC665"/>
                              </a:solidFill>
                              <a:latin typeface="Cambria Math" panose="02040503050406030204" pitchFamily="18" charset="0"/>
                            </a:rPr>
                            <m:t xml:space="preserve">sim</m:t>
                          </m:r>
                        </m:e>
                      </m:nary>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oMath>
                  </m:oMathPara>
                </a14:m>
                <a:endParaRPr lang="en-US" sz="2200"/>
              </a:p>
            </p:txBody>
          </p:sp>
        </mc:Choice>
        <mc:Fallback>
          <p:sp>
            <p:nvSpPr>
              <p:cNvPr id="30" name="Equation"/>
              <p:cNvSpPr txBox="1"/>
              <p:nvPr/>
            </p:nvSpPr>
            <p:spPr>
              <a:xfrm>
                <a:off x="1394460" y="4186682"/>
                <a:ext cx="15499080" cy="640080"/>
              </a:xfrm>
              <a:prstGeom prst="rect">
                <a:avLst/>
              </a:prstGeom>
              <a:blipFill>
                <a:blip r:embed="rId6"/>
                <a:stretch>
                  <a:fillRect/>
                </a:stretch>
              </a:blipFill>
            </p:spPr>
            <p:txBody>
              <a:bodyPr/>
              <a:lstStyle/>
              <a:p>
                <a:endParaRPr lang="en-US"/>
              </a:p>
            </p:txBody>
          </p:sp>
        </mc:Fallback>
      </mc:AlternateContent>
      <p:sp>
        <p:nvSpPr>
          <p:cNvPr id="31" name="Rounded Rectangle 30"/>
          <p:cNvSpPr/>
          <p:nvPr/>
        </p:nvSpPr>
        <p:spPr>
          <a:xfrm>
            <a:off x="102870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16586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α</m:t>
                      </m:r>
                      <m:r>
                        <m:rPr>
                          <m:sty m:val="p"/>
                        </m:rPr>
                        <a:rPr lang="en-US" sz="2600">
                          <a:solidFill>
                            <a:srgbClr val="124944"/>
                          </a:solidFill>
                          <a:latin typeface="Cambria Math" panose="02040503050406030204" pitchFamily="18" charset="0"/>
                        </a:rPr>
                        <m:t xml:space="preserve">=0.60</m:t>
                      </m:r>
                    </m:oMath>
                  </m:oMathPara>
                </a14:m>
                <a:endParaRPr lang="en-US" sz="2600"/>
              </a:p>
            </p:txBody>
          </p:sp>
        </mc:Choice>
        <mc:Fallback>
          <p:sp>
            <p:nvSpPr>
              <p:cNvPr id="32" name="Equation"/>
              <p:cNvSpPr txBox="1"/>
              <p:nvPr/>
            </p:nvSpPr>
            <p:spPr>
              <a:xfrm>
                <a:off x="1165860" y="5311394"/>
                <a:ext cx="3577590" cy="621792"/>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ranking accuracy</a:t>
            </a:r>
          </a:p>
        </p:txBody>
      </p:sp>
      <p:sp>
        <p:nvSpPr>
          <p:cNvPr id="34" name="Rounded Rectangle 33"/>
          <p:cNvSpPr/>
          <p:nvPr/>
        </p:nvSpPr>
        <p:spPr>
          <a:xfrm>
            <a:off x="515493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529209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β</m:t>
                      </m:r>
                      <m:r>
                        <m:rPr>
                          <m:sty m:val="p"/>
                        </m:rPr>
                        <a:rPr lang="en-US" sz="2600">
                          <a:solidFill>
                            <a:srgbClr val="124944"/>
                          </a:solidFill>
                          <a:latin typeface="Cambria Math" panose="02040503050406030204" pitchFamily="18" charset="0"/>
                        </a:rPr>
                        <m:t xml:space="preserve">=0.25</m:t>
                      </m:r>
                    </m:oMath>
                  </m:oMathPara>
                </a14:m>
                <a:endParaRPr lang="en-US" sz="2600"/>
              </a:p>
            </p:txBody>
          </p:sp>
        </mc:Choice>
        <mc:Fallback>
          <p:sp>
            <p:nvSpPr>
              <p:cNvPr id="35" name="Equation"/>
              <p:cNvSpPr txBox="1"/>
              <p:nvPr/>
            </p:nvSpPr>
            <p:spPr>
              <a:xfrm>
                <a:off x="5292090" y="5311394"/>
                <a:ext cx="3577590" cy="621792"/>
              </a:xfrm>
              <a:prstGeom prst="rect">
                <a:avLst/>
              </a:prstGeom>
              <a:blipFill>
                <a:blip r:embed="rId8"/>
                <a:stretch>
                  <a:fillRect/>
                </a:stretch>
              </a:blipFill>
            </p:spPr>
            <p:txBody>
              <a:bodyPr/>
              <a:lstStyle/>
              <a:p>
                <a:endParaRPr lang="en-US"/>
              </a:p>
            </p:txBody>
          </p:sp>
        </mc:Fallback>
      </mc:AlternateContent>
      <p:sp>
        <p:nvSpPr>
          <p:cNvPr id="36" name="TextBox 35"/>
          <p:cNvSpPr txBox="1"/>
          <p:nvPr/>
        </p:nvSpPr>
        <p:spPr>
          <a:xfrm>
            <a:off x="515493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diversity</a:t>
            </a:r>
          </a:p>
        </p:txBody>
      </p:sp>
      <p:sp>
        <p:nvSpPr>
          <p:cNvPr id="37" name="Rounded Rectangle 36"/>
          <p:cNvSpPr/>
          <p:nvPr/>
        </p:nvSpPr>
        <p:spPr>
          <a:xfrm>
            <a:off x="928116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8" name="Equation"/>
              <p:cNvSpPr txBox="1"/>
              <p:nvPr/>
            </p:nvSpPr>
            <p:spPr>
              <a:xfrm>
                <a:off x="941832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γ</m:t>
                      </m:r>
                      <m:r>
                        <m:rPr>
                          <m:sty m:val="p"/>
                        </m:rPr>
                        <a:rPr lang="en-US" sz="2600">
                          <a:solidFill>
                            <a:srgbClr val="124944"/>
                          </a:solidFill>
                          <a:latin typeface="Cambria Math" panose="02040503050406030204" pitchFamily="18" charset="0"/>
                        </a:rPr>
                        <m:t xml:space="preserve">=0.15</m:t>
                      </m:r>
                    </m:oMath>
                  </m:oMathPara>
                </a14:m>
                <a:endParaRPr lang="en-US" sz="2600"/>
              </a:p>
            </p:txBody>
          </p:sp>
        </mc:Choice>
        <mc:Fallback>
          <p:sp>
            <p:nvSpPr>
              <p:cNvPr id="38" name="Equation"/>
              <p:cNvSpPr txBox="1"/>
              <p:nvPr/>
            </p:nvSpPr>
            <p:spPr>
              <a:xfrm>
                <a:off x="9418320" y="5311394"/>
                <a:ext cx="3577590" cy="621792"/>
              </a:xfrm>
              <a:prstGeom prst="rect">
                <a:avLst/>
              </a:prstGeom>
              <a:blipFill>
                <a:blip r:embed="rId9"/>
                <a:stretch>
                  <a:fillRect/>
                </a:stretch>
              </a:blipFill>
            </p:spPr>
            <p:txBody>
              <a:bodyPr/>
              <a:lstStyle/>
              <a:p>
                <a:endParaRPr lang="en-US"/>
              </a:p>
            </p:txBody>
          </p:sp>
        </mc:Fallback>
      </mc:AlternateContent>
      <p:sp>
        <p:nvSpPr>
          <p:cNvPr id="39" name="TextBox 38"/>
          <p:cNvSpPr txBox="1"/>
          <p:nvPr/>
        </p:nvSpPr>
        <p:spPr>
          <a:xfrm>
            <a:off x="928116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context</a:t>
            </a:r>
          </a:p>
        </p:txBody>
      </p:sp>
      <p:sp>
        <p:nvSpPr>
          <p:cNvPr id="40" name="Rounded Rectangle 39"/>
          <p:cNvSpPr/>
          <p:nvPr/>
        </p:nvSpPr>
        <p:spPr>
          <a:xfrm>
            <a:off x="1340739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1" name="Equation"/>
              <p:cNvSpPr txBox="1"/>
              <p:nvPr/>
            </p:nvSpPr>
            <p:spPr>
              <a:xfrm>
                <a:off x="1354455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500" i="1">
                              <a:solidFill>
                                <a:srgbClr val="DF8330"/>
                              </a:solidFill>
                              <a:latin typeface="Cambria Math" panose="02040503050406030204" pitchFamily="18" charset="0"/>
                            </a:rPr>
                          </m:ctrlPr>
                        </m:sSubPr>
                        <m:e>
                          <m:r>
                            <a:rPr lang="en-US" sz="2500" i="1">
                              <a:solidFill>
                                <a:srgbClr val="DF8330"/>
                              </a:solidFill>
                              <a:latin typeface="Cambria Math" panose="02040503050406030204" pitchFamily="18" charset="0"/>
                            </a:rPr>
                            <m:t xml:space="preserve">λ</m:t>
                          </m:r>
                        </m:e>
                        <m:sub>
                          <m:r>
                            <m:rPr>
                              <m:sty m:val="p"/>
                            </m:rPr>
                            <a:rPr lang="en-US" sz="2500">
                              <a:solidFill>
                                <a:srgbClr val="DF8330"/>
                              </a:solidFill>
                              <a:latin typeface="Cambria Math" panose="02040503050406030204" pitchFamily="18" charset="0"/>
                            </a:rPr>
                            <m:t xml:space="preserve">pref</m:t>
                          </m:r>
                        </m:sub>
                      </m:sSub>
                      <m:r>
                        <m:rPr>
                          <m:sty m:val="p"/>
                        </m:rPr>
                        <a:rPr lang="en-US" sz="2500">
                          <a:solidFill>
                            <a:srgbClr val="DF8330"/>
                          </a:solidFill>
                          <a:latin typeface="Cambria Math" panose="02040503050406030204" pitchFamily="18" charset="0"/>
                        </a:rPr>
                        <m:t xml:space="preserve">=0.20</m:t>
                      </m:r>
                    </m:oMath>
                  </m:oMathPara>
                </a14:m>
                <a:endParaRPr lang="en-US" sz="2500"/>
              </a:p>
            </p:txBody>
          </p:sp>
        </mc:Choice>
        <mc:Fallback>
          <p:sp>
            <p:nvSpPr>
              <p:cNvPr id="41" name="Equation"/>
              <p:cNvSpPr txBox="1"/>
              <p:nvPr/>
            </p:nvSpPr>
            <p:spPr>
              <a:xfrm>
                <a:off x="13544550" y="5311394"/>
                <a:ext cx="3577590" cy="621792"/>
              </a:xfrm>
              <a:prstGeom prst="rect">
                <a:avLst/>
              </a:prstGeom>
              <a:blipFill>
                <a:blip r:embed="rId10"/>
                <a:stretch>
                  <a:fillRect/>
                </a:stretch>
              </a:blipFill>
            </p:spPr>
            <p:txBody>
              <a:bodyPr/>
              <a:lstStyle/>
              <a:p>
                <a:endParaRPr lang="en-US"/>
              </a:p>
            </p:txBody>
          </p:sp>
        </mc:Fallback>
      </mc:AlternateContent>
      <p:sp>
        <p:nvSpPr>
          <p:cNvPr id="42" name="TextBox 41"/>
          <p:cNvSpPr txBox="1"/>
          <p:nvPr/>
        </p:nvSpPr>
        <p:spPr>
          <a:xfrm>
            <a:off x="1340739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preference weighting</a:t>
            </a:r>
          </a:p>
        </p:txBody>
      </p:sp>
      <p:sp>
        <p:nvSpPr>
          <p:cNvPr id="43" name="Rounded Rectangle 42"/>
          <p:cNvSpPr/>
          <p:nvPr/>
        </p:nvSpPr>
        <p:spPr>
          <a:xfrm>
            <a:off x="1028700" y="6884162"/>
            <a:ext cx="7932420" cy="2470150"/>
          </a:xfrm>
          <a:prstGeom prst="roundRect">
            <a:avLst>
              <a:gd name="adj" fmla="val 12586"/>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485900" y="6646418"/>
            <a:ext cx="343172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Alignment by design</a:t>
            </a:r>
          </a:p>
        </p:txBody>
      </p:sp>
      <p:sp>
        <p:nvSpPr>
          <p:cNvPr id="45" name="TextBox 44"/>
          <p:cNvSpPr txBox="1"/>
          <p:nvPr/>
        </p:nvSpPr>
        <p:spPr>
          <a:xfrm>
            <a:off x="153162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The </a:t>
            </a:r>
            <a:r>
              <a:rPr lang="en-US" sz="1880" b="true">
                <a:solidFill>
                  <a:srgbClr val="111111"/>
                </a:solidFill>
                <a:latin typeface="Nunito Bold"/>
                <a:ea typeface="Nunito Bold"/>
                <a:cs typeface="Nunito Bold"/>
                <a:sym typeface="Nunito Bold"/>
              </a:rPr>
              <a:t>same trade-off</a:t>
            </a:r>
            <a:r>
              <a:rPr lang="en-US" sz="1880" b="true">
                <a:solidFill>
                  <a:srgbClr val="111111"/>
                </a:solidFill>
                <a:latin typeface="Nunito Semi-Bold"/>
                <a:ea typeface="Nunito Semi-Bold"/>
                <a:cs typeface="Nunito Semi-Bold"/>
                <a:sym typeface="Nunito Semi-Bold"/>
              </a:rPr>
              <a:t> the recommender must satisfy is the one from which attribution is computed.</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Explanatory game and predictive objective are </a:t>
            </a:r>
            <a:r>
              <a:rPr lang="en-US" sz="1880" b="true">
                <a:solidFill>
                  <a:srgbClr val="111111"/>
                </a:solidFill>
                <a:latin typeface="Nunito Bold"/>
                <a:ea typeface="Nunito Bold"/>
                <a:cs typeface="Nunito Bold"/>
                <a:sym typeface="Nunito Bold"/>
              </a:rPr>
              <a:t>aligned by design</a:t>
            </a:r>
            <a:r>
              <a:rPr lang="en-US" sz="1880" b="true">
                <a:solidFill>
                  <a:srgbClr val="111111"/>
                </a:solidFill>
                <a:latin typeface="Nunito Semi-Bold"/>
                <a:ea typeface="Nunito Semi-Bold"/>
                <a:cs typeface="Nunito Semi-Bold"/>
                <a:sym typeface="Nunito Semi-Bold"/>
              </a:rPr>
              <a:t>.</a:t>
            </a:r>
          </a:p>
        </p:txBody>
      </p:sp>
      <p:sp>
        <p:nvSpPr>
          <p:cNvPr id="46" name="Rounded Rectangle 45"/>
          <p:cNvSpPr/>
          <p:nvPr/>
        </p:nvSpPr>
        <p:spPr>
          <a:xfrm>
            <a:off x="9326880" y="6884162"/>
            <a:ext cx="7932420" cy="2470150"/>
          </a:xfrm>
          <a:prstGeom prst="roundRect">
            <a:avLst>
              <a:gd name="adj" fmla="val 12586"/>
            </a:avLst>
          </a:prstGeom>
          <a:solidFill>
            <a:srgbClr val="124944"/>
          </a:solidFill>
          <a:ln>
            <a:noFill/>
          </a:ln>
        </p:spPr>
        <p:txBody>
          <a:bodyPr anchor="ctr" rtlCol="false" lIns="0" tIns="0" rIns="0" bIns="0" wrap="square"/>
          <a:lstStyle/>
          <a:p>
            <a:endParaRPr lang="en-US" sz="1800"/>
          </a:p>
        </p:txBody>
      </p:sp>
      <p:sp>
        <p:nvSpPr>
          <p:cNvPr id="47" name="Rounded Rectangle 46"/>
          <p:cNvSpPr/>
          <p:nvPr/>
        </p:nvSpPr>
        <p:spPr>
          <a:xfrm>
            <a:off x="9784080" y="6646418"/>
            <a:ext cx="272320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Tuning &amp; scope</a:t>
            </a:r>
          </a:p>
        </p:txBody>
      </p:sp>
      <p:sp>
        <p:nvSpPr>
          <p:cNvPr id="48" name="TextBox 47"/>
          <p:cNvSpPr txBox="1"/>
          <p:nvPr/>
        </p:nvSpPr>
        <p:spPr>
          <a:xfrm>
            <a:off x="982980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Weights </a:t>
            </a:r>
            <a:r>
              <a:rPr lang="en-US" sz="1880" b="true">
                <a:solidFill>
                  <a:srgbClr val="FFFFFF"/>
                </a:solidFill>
                <a:latin typeface="Nunito Bold"/>
                <a:ea typeface="Nunito Bold"/>
                <a:cs typeface="Nunito Bold"/>
                <a:sym typeface="Nunito Bold"/>
              </a:rPr>
              <a:t>grid-searched</a:t>
            </a:r>
            <a:r>
              <a:rPr lang="en-US" sz="1880" b="true">
                <a:solidFill>
                  <a:srgbClr val="FFFFFF"/>
                </a:solidFill>
                <a:latin typeface="Nunito Semi-Bold"/>
                <a:ea typeface="Nunito Semi-Bold"/>
                <a:cs typeface="Nunito Semi-Bold"/>
                <a:sym typeface="Nunito Semi-Bold"/>
              </a:rPr>
              <a:t>; stable, with </a:t>
            </a:r>
            <a:r>
              <a:rPr lang="en-US" sz="1880" b="true">
                <a:solidFill>
                  <a:srgbClr val="FFFFFF"/>
                </a:solidFill>
                <a:latin typeface="Nunito Bold"/>
                <a:ea typeface="Nunito Bold"/>
                <a:cs typeface="Nunito Bold"/>
                <a:sym typeface="Nunito Bold"/>
              </a:rPr>
              <a:t>&lt; 1.5 % variance</a:t>
            </a:r>
            <a:r>
              <a:rPr lang="en-US" sz="1880" b="true">
                <a:solidFill>
                  <a:srgbClr val="FFFFFF"/>
                </a:solidFill>
                <a:latin typeface="Nunito Semi-Bold"/>
                <a:ea typeface="Nunito Semi-Bold"/>
                <a:cs typeface="Nunito Semi-Bold"/>
                <a:sym typeface="Nunito Semi-Bold"/>
              </a:rPr>
              <a:t> in NDCG@20 around the optimum.</a:t>
            </a:r>
          </a:p>
          <a:p>
            <a:pPr algn="l" marL="274320" indent="-274320">
              <a:lnSpc>
                <a:spcPts val="2632"/>
              </a:lnSpc>
              <a:spcBef>
                <a:spcPts val="94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Coalition evaluation is limited to the </a:t>
            </a:r>
            <a:r>
              <a:rPr lang="en-US" sz="1880" b="true">
                <a:solidFill>
                  <a:srgbClr val="FFFFFF"/>
                </a:solidFill>
                <a:latin typeface="Nunito Bold"/>
                <a:ea typeface="Nunito Bold"/>
                <a:cs typeface="Nunito Bold"/>
                <a:sym typeface="Nunito Bold"/>
              </a:rPr>
              <a:t>interaction episode</a:t>
            </a:r>
            <a:r>
              <a:rPr lang="en-US" sz="1880" b="true">
                <a:solidFill>
                  <a:srgbClr val="FFFFFF"/>
                </a:solidFill>
                <a:latin typeface="Nunito Semi-Bold"/>
                <a:ea typeface="Nunito Semi-Bold"/>
                <a:cs typeface="Nunito Semi-Bold"/>
                <a:sym typeface="Nunito Semi-Bold"/>
              </a:rPr>
              <a:t> (a few dozen players), not the full catalogue.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124944"/>
                              </a:solidFill>
                              <a:latin typeface="Cambria Math" panose="02040503050406030204" pitchFamily="18" charset="0"/>
                            </a:rPr>
                          </m:ctrlPr>
                        </m:sSubPr>
                        <m:e>
                          <m:acc>
                            <m:accPr>
                              <m:chr m:val="̂"/>
                              <m:ctrlPr>
                                <a:rPr lang="en-US" sz="2350" i="1">
                                  <a:solidFill>
                                    <a:srgbClr val="124944"/>
                                  </a:solidFill>
                                  <a:latin typeface="Cambria Math" panose="02040503050406030204" pitchFamily="18" charset="0"/>
                                </a:rPr>
                              </m:ctrlPr>
                            </m:accPr>
                            <m:e>
                              <m:r>
                                <a:rPr lang="en-US" sz="2350" i="1">
                                  <a:solidFill>
                                    <a:srgbClr val="124944"/>
                                  </a:solidFill>
                                  <a:latin typeface="Cambria Math" panose="02040503050406030204" pitchFamily="18" charset="0"/>
                                </a:rPr>
                                <m:t xml:space="preserve">φ</m:t>
                              </m:r>
                            </m:e>
                          </m:acc>
                        </m:e>
                        <m:sub>
                          <m:r>
                            <a:rPr lang="en-US" sz="2350" i="1">
                              <a:solidFill>
                                <a:srgbClr val="124944"/>
                              </a:solidFill>
                              <a:latin typeface="Cambria Math" panose="02040503050406030204" pitchFamily="18" charset="0"/>
                            </a:rPr>
                            <m:t xml:space="preserve">j</m:t>
                          </m:r>
                        </m:sub>
                      </m:sSub>
                      <m:r>
                        <m:rPr>
                          <m:sty m:val="p"/>
                        </m:rPr>
                        <a:rPr lang="en-US" sz="2350">
                          <a:solidFill>
                            <a:srgbClr val="124944"/>
                          </a:solidFill>
                          <a:latin typeface="Cambria Math" panose="02040503050406030204" pitchFamily="18" charset="0"/>
                        </a:rPr>
                        <m:t xml:space="preserve">=</m:t>
                      </m:r>
                      <m:f>
                        <m:fPr>
                          <m:ctrlPr>
                            <a:rPr lang="en-US" sz="2350" i="1">
                              <a:solidFill>
                                <a:srgbClr val="124944"/>
                              </a:solidFill>
                              <a:latin typeface="Cambria Math" panose="02040503050406030204" pitchFamily="18" charset="0"/>
                            </a:rPr>
                          </m:ctrlPr>
                        </m:fPr>
                        <m:num>
                          <m:r>
                            <m:rPr>
                              <m:sty m:val="p"/>
                            </m:rPr>
                            <a:rPr lang="en-US" sz="2350">
                              <a:solidFill>
                                <a:srgbClr val="124944"/>
                              </a:solidFill>
                              <a:latin typeface="Cambria Math" panose="02040503050406030204" pitchFamily="18" charset="0"/>
                            </a:rPr>
                            <m:t xml:space="preserve">1</m:t>
                          </m:r>
                        </m:num>
                        <m:den>
                          <m:r>
                            <a:rPr lang="en-US" sz="2350" i="1">
                              <a:solidFill>
                                <a:srgbClr val="124944"/>
                              </a:solidFill>
                              <a:latin typeface="Cambria Math" panose="02040503050406030204" pitchFamily="18" charset="0"/>
                            </a:rPr>
                            <m:t xml:space="preserve">M</m:t>
                          </m:r>
                        </m:den>
                      </m:f>
                      <m:nary>
                        <m:naryPr>
                          <m:chr m:val="∑"/>
                          <m:limLoc m:val="undOvr"/>
                          <m:ctrlPr>
                            <a:rPr lang="en-US" sz="2350" i="1">
                              <a:solidFill>
                                <a:srgbClr val="124944"/>
                              </a:solidFill>
                              <a:latin typeface="Cambria Math" panose="02040503050406030204" pitchFamily="18" charset="0"/>
                            </a:rPr>
                          </m:ctrlPr>
                        </m:naryPr>
                        <m:sub>
                          <m:r>
                            <a:rPr lang="en-US" sz="2350" i="1">
                              <a:solidFill>
                                <a:srgbClr val="124944"/>
                              </a:solidFill>
                              <a:latin typeface="Cambria Math" panose="02040503050406030204" pitchFamily="18" charset="0"/>
                            </a:rPr>
                            <m:t xml:space="preserve">m</m:t>
                          </m:r>
                          <m:r>
                            <m:rPr>
                              <m:sty m:val="p"/>
                            </m:rPr>
                            <a:rPr lang="en-US" sz="2350">
                              <a:solidFill>
                                <a:srgbClr val="124944"/>
                              </a:solidFill>
                              <a:latin typeface="Cambria Math" panose="02040503050406030204" pitchFamily="18" charset="0"/>
                            </a:rPr>
                            <m:t xml:space="preserve">=1</m:t>
                          </m:r>
                        </m:sub>
                        <m:sup>
                          <m:r>
                            <a:rPr lang="en-US" sz="2350" i="1">
                              <a:solidFill>
                                <a:srgbClr val="124944"/>
                              </a:solidFill>
                              <a:latin typeface="Cambria Math" panose="02040503050406030204" pitchFamily="18" charset="0"/>
                            </a:rPr>
                            <m:t xml:space="preserve">M</m:t>
                          </m:r>
                        </m:sup>
                        <m:e>
                          <m:d>
                            <m:dPr>
                              <m:begChr m:val="["/>
                              <m:endChr m:val="]"/>
                              <m:ctrlPr>
                                <a:rPr lang="en-US" sz="2350" i="1">
                                  <a:solidFill>
                                    <a:srgbClr val="124944"/>
                                  </a:solidFill>
                                  <a:latin typeface="Cambria Math" panose="02040503050406030204" pitchFamily="18" charset="0"/>
                                </a:rPr>
                              </m:ctrlPr>
                            </m:dPr>
                            <m:e>
                              <m:r>
                                <m:rPr>
                                  <m:sty m:val="p"/>
                                </m:rPr>
                                <a:rPr lang="en-US" sz="2350">
                                  <a:solidFill>
                                    <a:srgbClr val="124944"/>
                                  </a:solidFill>
                                  <a:latin typeface="Cambria Math" panose="02040503050406030204" pitchFamily="18" charset="0"/>
                                </a:rPr>
                                <m:t xml:space="preserve"> </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j</m:t>
                              </m:r>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2"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2"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4" name="Table 33"/>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5" name="TextBox 34"/>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6" name="Rounded Rectangle 35"/>
          <p:cNvSpPr/>
          <p:nvPr/>
        </p:nvSpPr>
        <p:spPr>
          <a:xfrm>
            <a:off x="10172700" y="6362954"/>
            <a:ext cx="7086600" cy="2945638"/>
          </a:xfrm>
          <a:prstGeom prst="roundRect">
            <a:avLst>
              <a:gd name="adj" fmla="val 10554"/>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In the training loop</a:t>
            </a:r>
          </a:p>
        </p:txBody>
      </p:sp>
      <p:sp>
        <p:nvSpPr>
          <p:cNvPr id="38" name="TextBox 37"/>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9"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9"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011680"/>
          </a:xfrm>
          <a:prstGeom prst="roundRect">
            <a:avLst>
              <a:gd name="adj" fmla="val 1136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5541403" y="3500882"/>
            <a:ext cx="7205193" cy="1737360"/>
          </a:xfrm>
          <a:prstGeom prst="rect">
            <a:avLst/>
          </a:prstGeom>
        </p:spPr>
      </p:pic>
      <p:sp>
        <p:nvSpPr>
          <p:cNvPr id="30" name="Rounded Rectangle 29"/>
          <p:cNvSpPr/>
          <p:nvPr/>
        </p:nvSpPr>
        <p:spPr>
          <a:xfrm>
            <a:off x="1028700" y="5604002"/>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31" name="TextBox 30"/>
          <p:cNvSpPr txBox="1"/>
          <p:nvPr/>
        </p:nvSpPr>
        <p:spPr>
          <a:xfrm>
            <a:off x="1348740" y="5604002"/>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2" name="Equation"/>
              <p:cNvSpPr txBox="1"/>
              <p:nvPr/>
            </p:nvSpPr>
            <p:spPr>
              <a:xfrm>
                <a:off x="4686300" y="5604002"/>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2" name="Equation"/>
              <p:cNvSpPr txBox="1"/>
              <p:nvPr/>
            </p:nvSpPr>
            <p:spPr>
              <a:xfrm>
                <a:off x="4686300" y="5604002"/>
                <a:ext cx="12298680" cy="686054"/>
              </a:xfrm>
              <a:prstGeom prst="rect">
                <a:avLst/>
              </a:prstGeom>
              <a:blipFill>
                <a:blip r:embed="rId6"/>
                <a:stretch>
                  <a:fillRect/>
                </a:stretch>
              </a:blipFill>
            </p:spPr>
            <p:txBody>
              <a:bodyPr/>
              <a:lstStyle/>
              <a:p>
                <a:endParaRPr lang="en-US"/>
              </a:p>
            </p:txBody>
          </p:sp>
        </mc:Fallback>
      </mc:AlternateContent>
      <p:sp>
        <p:nvSpPr>
          <p:cNvPr id="33" name="Rounded Rectangle 32"/>
          <p:cNvSpPr/>
          <p:nvPr/>
        </p:nvSpPr>
        <p:spPr>
          <a:xfrm>
            <a:off x="1028700" y="6381496"/>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34" name="TextBox 33"/>
          <p:cNvSpPr txBox="1"/>
          <p:nvPr/>
        </p:nvSpPr>
        <p:spPr>
          <a:xfrm>
            <a:off x="1348740" y="6381496"/>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5" name="Equation"/>
              <p:cNvSpPr txBox="1"/>
              <p:nvPr/>
            </p:nvSpPr>
            <p:spPr>
              <a:xfrm>
                <a:off x="4686300" y="6381496"/>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+1)</m:t>
                          </m:r>
                        </m:sup>
                      </m:sSub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σ</m:t>
                      </m:r>
                      <m:d>
                        <m:dPr>
                          <m:ctrlPr>
                            <a:rPr lang="en-US" sz="1950" i="1">
                              <a:solidFill>
                                <a:srgbClr val="111111"/>
                              </a:solidFill>
                              <a:latin typeface="Cambria Math" panose="02040503050406030204" pitchFamily="18" charset="0"/>
                            </a:rPr>
                          </m:ctrlPr>
                        </m:dPr>
                        <m:e>
                          <m:sSup>
                            <m:sSupPr>
                              <m:ctrlPr>
                                <a:rPr lang="en-US" sz="1950" i="1">
                                  <a:solidFill>
                                    <a:srgbClr val="111111"/>
                                  </a:solidFill>
                                  <a:latin typeface="Cambria Math" panose="02040503050406030204" pitchFamily="18" charset="0"/>
                                </a:rPr>
                              </m:ctrlPr>
                            </m:sSupPr>
                            <m:e>
                              <m:r>
                                <a:rPr lang="en-US" sz="1950" i="1">
                                  <a:solidFill>
                                    <a:srgbClr val="111111"/>
                                  </a:solidFill>
                                  <a:latin typeface="Cambria Math" panose="02040503050406030204" pitchFamily="18" charset="0"/>
                                </a:rPr>
                                <m:t xml:space="preserve">W</m:t>
                              </m:r>
                            </m:e>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p>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r>
                            <m:rPr>
                              <m:sty m:val="p"/>
                            </m:rPr>
                            <a:rPr lang="en-US" sz="1950">
                              <a:solidFill>
                                <a:srgbClr val="111111"/>
                              </a:solidFill>
                              <a:latin typeface="Cambria Math" panose="02040503050406030204" pitchFamily="18" charset="0"/>
                            </a:rPr>
                            <m:t xml:space="preserve">+</m:t>
                          </m:r>
                          <m:nary>
                            <m:naryPr>
                              <m:chr m:val="∑"/>
                              <m:limLoc m:val="subSup"/>
                              <m:supHide m:val="1"/>
                              <m:ctrlPr>
                                <a:rPr lang="en-US" sz="1950" i="1">
                                  <a:solidFill>
                                    <a:srgbClr val="111111"/>
                                  </a:solidFill>
                                  <a:latin typeface="Cambria Math" panose="02040503050406030204" pitchFamily="18" charset="0"/>
                                </a:rPr>
                              </m:ctrlPr>
                            </m:naryPr>
                            <m:sub>
                              <m:r>
                                <a:rPr lang="en-US" sz="1950" i="1">
                                  <a:solidFill>
                                    <a:srgbClr val="111111"/>
                                  </a:solidFill>
                                  <a:latin typeface="Cambria Math" panose="02040503050406030204" pitchFamily="18" charset="0"/>
                                </a:rPr>
                                <m:t xml:space="preserve">k</m:t>
                              </m:r>
                              <m:r>
                                <m:rPr>
                                  <m:sty m:val="p"/>
                                </m:rPr>
                                <a:rPr lang="en-US" sz="1950">
                                  <a:solidFill>
                                    <a:srgbClr val="111111"/>
                                  </a:solidFill>
                                  <a:latin typeface="Cambria Math" panose="02040503050406030204" pitchFamily="18" charset="0"/>
                                </a:rPr>
                                <m:t xml:space="preserve">∈</m:t>
                              </m:r>
                              <m:r>
                                <m:rPr>
                                  <m:scr m:val="script"/>
                                  <m:sty m:val="p"/>
                                </m:rPr>
                                <a:rPr lang="en-US" sz="1950">
                                  <a:solidFill>
                                    <a:srgbClr val="111111"/>
                                  </a:solidFill>
                                  <a:latin typeface="Cambria Math" panose="02040503050406030204" pitchFamily="18" charset="0"/>
                                </a:rPr>
                                <m:t xml:space="preserve">N</m:t>
                              </m:r>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j</m:t>
                              </m:r>
                              <m:r>
                                <m:rPr>
                                  <m:sty m:val="p"/>
                                </m:rPr>
                                <a:rPr lang="en-US" sz="1950">
                                  <a:solidFill>
                                    <a:srgbClr val="111111"/>
                                  </a:solidFill>
                                  <a:latin typeface="Cambria Math" panose="02040503050406030204" pitchFamily="18" charset="0"/>
                                </a:rPr>
                                <m:t xml:space="preserve">)</m:t>
                              </m:r>
                            </m:sub>
                            <m:sup/>
                            <m:e>
                              <m:sSub>
                                <m:sSubPr>
                                  <m:ctrlPr>
                                    <a:rPr lang="en-US" sz="1950" i="1">
                                      <a:solidFill>
                                        <a:srgbClr val="111111"/>
                                      </a:solidFill>
                                      <a:latin typeface="Cambria Math" panose="02040503050406030204" pitchFamily="18" charset="0"/>
                                    </a:rPr>
                                  </m:ctrlPr>
                                </m:sSubPr>
                                <m:e>
                                  <m:r>
                                    <a:rPr lang="en-US" sz="1950" i="1">
                                      <a:solidFill>
                                        <a:srgbClr val="111111"/>
                                      </a:solidFill>
                                      <a:latin typeface="Cambria Math" panose="02040503050406030204" pitchFamily="18" charset="0"/>
                                    </a:rPr>
                                    <m:t xml:space="preserve">w</m:t>
                                  </m:r>
                                </m:e>
                                <m:sub>
                                  <m:r>
                                    <a:rPr lang="en-US" sz="1950" i="1">
                                      <a:solidFill>
                                        <a:srgbClr val="111111"/>
                                      </a:solidFill>
                                      <a:latin typeface="Cambria Math" panose="02040503050406030204" pitchFamily="18" charset="0"/>
                                    </a:rPr>
                                    <m:t xml:space="preserve">jk</m:t>
                                  </m:r>
                                </m:sub>
                              </m:sSub>
                            </m:e>
                          </m:nary>
                          <m:r>
                            <m:rPr>
                              <m:sty m:val="p"/>
                            </m:rPr>
                            <a:rPr lang="en-US" sz="1950">
                              <a:solidFill>
                                <a:srgbClr val="111111"/>
                              </a:solidFill>
                              <a:latin typeface="Cambria Math" panose="02040503050406030204" pitchFamily="18" charset="0"/>
                            </a:rPr>
                            <m:t xml:space="preserve"> </m:t>
                          </m:r>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k</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e>
                      </m:d>
                    </m:oMath>
                  </m:oMathPara>
                </a14:m>
                <a:endParaRPr lang="en-US" sz="1950"/>
              </a:p>
            </p:txBody>
          </p:sp>
        </mc:Choice>
        <mc:Fallback>
          <p:sp>
            <p:nvSpPr>
              <p:cNvPr id="35" name="Equation"/>
              <p:cNvSpPr txBox="1"/>
              <p:nvPr/>
            </p:nvSpPr>
            <p:spPr>
              <a:xfrm>
                <a:off x="4686300" y="6381496"/>
                <a:ext cx="12298680" cy="686054"/>
              </a:xfrm>
              <a:prstGeom prst="rect">
                <a:avLst/>
              </a:prstGeom>
              <a:blipFill>
                <a:blip r:embed="rId7"/>
                <a:stretch>
                  <a:fillRect/>
                </a:stretch>
              </a:blipFill>
            </p:spPr>
            <p:txBody>
              <a:bodyPr/>
              <a:lstStyle/>
              <a:p>
                <a:endParaRPr lang="en-US"/>
              </a:p>
            </p:txBody>
          </p:sp>
        </mc:Fallback>
      </mc:AlternateContent>
      <p:sp>
        <p:nvSpPr>
          <p:cNvPr id="36" name="Rounded Rectangle 35"/>
          <p:cNvSpPr/>
          <p:nvPr/>
        </p:nvSpPr>
        <p:spPr>
          <a:xfrm>
            <a:off x="1028700" y="7158990"/>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348740" y="7158990"/>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8" name="Equation"/>
              <p:cNvSpPr txBox="1"/>
              <p:nvPr/>
            </p:nvSpPr>
            <p:spPr>
              <a:xfrm>
                <a:off x="4686300" y="7158990"/>
                <a:ext cx="937260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 / </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e>
                      </m:nary>
                    </m:oMath>
                  </m:oMathPara>
                </a14:m>
                <a:endParaRPr lang="en-US" sz="2200"/>
              </a:p>
            </p:txBody>
          </p:sp>
        </mc:Choice>
        <mc:Fallback>
          <p:sp>
            <p:nvSpPr>
              <p:cNvPr id="38" name="Equation"/>
              <p:cNvSpPr txBox="1"/>
              <p:nvPr/>
            </p:nvSpPr>
            <p:spPr>
              <a:xfrm>
                <a:off x="4686300" y="7158990"/>
                <a:ext cx="9372600" cy="686054"/>
              </a:xfrm>
              <a:prstGeom prst="rect">
                <a:avLst/>
              </a:prstGeom>
              <a:blipFill>
                <a:blip r:embed="rId8"/>
                <a:stretch>
                  <a:fillRect/>
                </a:stretch>
              </a:blipFill>
            </p:spPr>
            <p:txBody>
              <a:bodyPr/>
              <a:lstStyle/>
              <a:p>
                <a:endParaRPr lang="en-US"/>
              </a:p>
            </p:txBody>
          </p:sp>
        </mc:Fallback>
      </mc:AlternateContent>
      <p:sp>
        <p:nvSpPr>
          <p:cNvPr id="39" name="TextBox 38"/>
          <p:cNvSpPr txBox="1"/>
          <p:nvPr/>
        </p:nvSpPr>
        <p:spPr>
          <a:xfrm>
            <a:off x="14241780" y="7158990"/>
            <a:ext cx="2743200" cy="686054"/>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40" name="Rounded Rectangle 39"/>
          <p:cNvSpPr/>
          <p:nvPr/>
        </p:nvSpPr>
        <p:spPr>
          <a:xfrm>
            <a:off x="1028700" y="7936484"/>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41" name="TextBox 40"/>
          <p:cNvSpPr txBox="1"/>
          <p:nvPr/>
        </p:nvSpPr>
        <p:spPr>
          <a:xfrm>
            <a:off x="1348740" y="7936484"/>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2" name="Equation"/>
              <p:cNvSpPr txBox="1"/>
              <p:nvPr/>
            </p:nvSpPr>
            <p:spPr>
              <a:xfrm>
                <a:off x="4686300" y="7936484"/>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2" name="Equation"/>
              <p:cNvSpPr txBox="1"/>
              <p:nvPr/>
            </p:nvSpPr>
            <p:spPr>
              <a:xfrm>
                <a:off x="4686300" y="7936484"/>
                <a:ext cx="12298680" cy="686054"/>
              </a:xfrm>
              <a:prstGeom prst="rect">
                <a:avLst/>
              </a:prstGeom>
              <a:blipFill>
                <a:blip r:embed="rId9"/>
                <a:stretch>
                  <a:fillRect/>
                </a:stretch>
              </a:blipFill>
            </p:spPr>
            <p:txBody>
              <a:bodyPr/>
              <a:lstStyle/>
              <a:p>
                <a:endParaRPr lang="en-US"/>
              </a:p>
            </p:txBody>
          </p:sp>
        </mc:Fallback>
      </mc:AlternateContent>
      <p:sp>
        <p:nvSpPr>
          <p:cNvPr id="43" name="Rounded Rectangle 42"/>
          <p:cNvSpPr/>
          <p:nvPr/>
        </p:nvSpPr>
        <p:spPr>
          <a:xfrm>
            <a:off x="1028700" y="8713978"/>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44" name="TextBox 43"/>
          <p:cNvSpPr txBox="1"/>
          <p:nvPr/>
        </p:nvSpPr>
        <p:spPr>
          <a:xfrm>
            <a:off x="1348740" y="8713978"/>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5" name="Equation"/>
              <p:cNvSpPr txBox="1"/>
              <p:nvPr/>
            </p:nvSpPr>
            <p:spPr>
              <a:xfrm>
                <a:off x="4686300" y="8713978"/>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5" name="Equation"/>
              <p:cNvSpPr txBox="1"/>
              <p:nvPr/>
            </p:nvSpPr>
            <p:spPr>
              <a:xfrm>
                <a:off x="4686300" y="8713978"/>
                <a:ext cx="12298680" cy="686054"/>
              </a:xfrm>
              <a:prstGeom prst="rect">
                <a:avLst/>
              </a:prstGeom>
              <a:blipFill>
                <a:blip r:embed="rId10"/>
                <a:stretch>
                  <a:fillRect/>
                </a:stretch>
              </a:blipFill>
            </p:spPr>
            <p:txBody>
              <a:bodyPr/>
              <a:lstStyle/>
              <a:p>
                <a:endParaRPr lang="en-US"/>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Multi-Objective Learning</a:t>
            </a:r>
          </a:p>
        </p:txBody>
      </p:sp>
      <p:pic>
        <p:nvPicPr>
          <p:cNvPr id="23" name="Picture 22" descr="image.png"/>
          <p:cNvPicPr>
            <a:picLocks noChangeAspect="1"/>
          </p:cNvPicPr>
          <p:nvPr/>
        </p:nvPicPr>
        <p:blipFill>
          <a:blip r:embed="rId3"/>
          <a:stretch>
            <a:fillRect/>
          </a:stretch>
        </p:blipFill>
        <p:spPr>
          <a:xfrm>
            <a:off x="769368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188720"/>
          </a:xfrm>
          <a:prstGeom prst="roundRect">
            <a:avLst>
              <a:gd name="adj" fmla="val 23076"/>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394460" y="3363722"/>
                <a:ext cx="1549908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cr m:val="script"/>
                          <m:sty m:val="p"/>
                        </m:rPr>
                        <a:rPr lang="en-US" sz="3000">
                          <a:solidFill>
                            <a:srgbClr val="FFFFFF"/>
                          </a:solidFill>
                          <a:latin typeface="Cambria Math" panose="02040503050406030204" pitchFamily="18" charset="0"/>
                        </a:rPr>
                        <m:t xml:space="preserve">L</m:t>
                      </m:r>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rec</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reg</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reg</m:t>
                          </m:r>
                        </m:sub>
                      </m:sSub>
                    </m:oMath>
                  </m:oMathPara>
                </a14:m>
                <a:endParaRPr lang="en-US" sz="3000"/>
              </a:p>
            </p:txBody>
          </p:sp>
        </mc:Choice>
        <mc:Fallback>
          <p:sp>
            <p:nvSpPr>
              <p:cNvPr id="29" name="Equation"/>
              <p:cNvSpPr txBox="1"/>
              <p:nvPr/>
            </p:nvSpPr>
            <p:spPr>
              <a:xfrm>
                <a:off x="1394460" y="3363722"/>
                <a:ext cx="15499080" cy="1188720"/>
              </a:xfrm>
              <a:prstGeom prst="rect">
                <a:avLst/>
              </a:prstGeom>
              <a:blipFill>
                <a:blip r:embed="rId5"/>
                <a:stretch>
                  <a:fillRect/>
                </a:stretch>
              </a:blipFill>
            </p:spPr>
            <p:txBody>
              <a:bodyPr/>
              <a:lstStyle/>
              <a:p>
                <a:endParaRPr lang="en-US"/>
              </a:p>
            </p:txBody>
          </p:sp>
        </mc:Fallback>
      </mc:AlternateContent>
      <p:sp>
        <p:nvSpPr>
          <p:cNvPr id="30" name="Rounded Rectangle 29"/>
          <p:cNvSpPr/>
          <p:nvPr/>
        </p:nvSpPr>
        <p:spPr>
          <a:xfrm>
            <a:off x="1028700" y="4918202"/>
            <a:ext cx="3851910" cy="3200400"/>
          </a:xfrm>
          <a:prstGeom prst="roundRect">
            <a:avLst>
              <a:gd name="adj" fmla="val 8571"/>
            </a:avLst>
          </a:prstGeom>
          <a:solidFill>
            <a:srgbClr val="124944"/>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Bayesian Personalised Ranking</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pairwise loss for implicit feedback</a:t>
            </a:r>
          </a:p>
        </p:txBody>
      </p:sp>
      <mc:AlternateContent xmlns:mc="http://schemas.openxmlformats.org/markup-compatibility/2006">
        <mc:Choice xmlns:a14="http://schemas.microsoft.com/office/drawing/2010/main" Requires="a14">
          <p:sp>
            <p:nvSpPr>
              <p:cNvPr id="31" name="Equation"/>
              <p:cNvSpPr txBox="1"/>
              <p:nvPr/>
            </p:nvSpPr>
            <p:spPr>
              <a:xfrm>
                <a:off x="139446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rec</m:t>
                          </m:r>
                        </m:sub>
                      </m:sSub>
                    </m:oMath>
                  </m:oMathPara>
                </a14:m>
                <a:endParaRPr lang="en-US" sz="3200"/>
              </a:p>
            </p:txBody>
          </p:sp>
        </mc:Choice>
        <mc:Fallback>
          <p:sp>
            <p:nvSpPr>
              <p:cNvPr id="31" name="Equation"/>
              <p:cNvSpPr txBox="1"/>
              <p:nvPr/>
            </p:nvSpPr>
            <p:spPr>
              <a:xfrm>
                <a:off x="1394460" y="5192522"/>
                <a:ext cx="1828800" cy="777240"/>
              </a:xfrm>
              <a:prstGeom prst="rect">
                <a:avLst/>
              </a:prstGeom>
              <a:blipFill>
                <a:blip r:embed="rId6"/>
                <a:stretch>
                  <a:fillRect/>
                </a:stretch>
              </a:blipFill>
            </p:spPr>
            <p:txBody>
              <a:bodyPr/>
              <a:lstStyle/>
              <a:p>
                <a:endParaRPr lang="en-US"/>
              </a:p>
            </p:txBody>
          </p:sp>
        </mc:Fallback>
      </mc:AlternateContent>
      <p:sp>
        <p:nvSpPr>
          <p:cNvPr id="32" name="Rounded Rectangle 31"/>
          <p:cNvSpPr/>
          <p:nvPr/>
        </p:nvSpPr>
        <p:spPr>
          <a:xfrm>
            <a:off x="5154930" y="4918202"/>
            <a:ext cx="3851910" cy="3200400"/>
          </a:xfrm>
          <a:prstGeom prst="roundRect">
            <a:avLst>
              <a:gd name="adj" fmla="val 8571"/>
            </a:avLst>
          </a:prstGeom>
          <a:solidFill>
            <a:srgbClr val="1E5F58"/>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Intra-List Diversity regulariser</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penalises redundant ranked lists</a:t>
            </a:r>
          </a:p>
        </p:txBody>
      </p:sp>
      <mc:AlternateContent xmlns:mc="http://schemas.openxmlformats.org/markup-compatibility/2006">
        <mc:Choice xmlns:a14="http://schemas.microsoft.com/office/drawing/2010/main" Requires="a14">
          <p:sp>
            <p:nvSpPr>
              <p:cNvPr id="33" name="Equation"/>
              <p:cNvSpPr txBox="1"/>
              <p:nvPr/>
            </p:nvSpPr>
            <p:spPr>
              <a:xfrm>
                <a:off x="552069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div</m:t>
                          </m:r>
                        </m:sub>
                      </m:sSub>
                    </m:oMath>
                  </m:oMathPara>
                </a14:m>
                <a:endParaRPr lang="en-US" sz="3200"/>
              </a:p>
            </p:txBody>
          </p:sp>
        </mc:Choice>
        <mc:Fallback>
          <p:sp>
            <p:nvSpPr>
              <p:cNvPr id="33" name="Equation"/>
              <p:cNvSpPr txBox="1"/>
              <p:nvPr/>
            </p:nvSpPr>
            <p:spPr>
              <a:xfrm>
                <a:off x="5520690" y="5192522"/>
                <a:ext cx="1828800" cy="777240"/>
              </a:xfrm>
              <a:prstGeom prst="rect">
                <a:avLst/>
              </a:prstGeom>
              <a:blipFill>
                <a:blip r:embed="rId7"/>
                <a:stretch>
                  <a:fillRect/>
                </a:stretch>
              </a:blipFill>
            </p:spPr>
            <p:txBody>
              <a:bodyPr/>
              <a:lstStyle/>
              <a:p>
                <a:endParaRPr lang="en-US"/>
              </a:p>
            </p:txBody>
          </p:sp>
        </mc:Fallback>
      </mc:AlternateContent>
      <p:sp>
        <p:nvSpPr>
          <p:cNvPr id="34" name="Rounded Rectangle 33"/>
          <p:cNvSpPr/>
          <p:nvPr/>
        </p:nvSpPr>
        <p:spPr>
          <a:xfrm>
            <a:off x="9281160" y="4918202"/>
            <a:ext cx="3851910" cy="3200400"/>
          </a:xfrm>
          <a:prstGeom prst="roundRect">
            <a:avLst>
              <a:gd name="adj" fmla="val 8571"/>
            </a:avLst>
          </a:prstGeom>
          <a:solidFill>
            <a:srgbClr val="DF8330"/>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Context alignment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match context embedding to context-node representation</a:t>
            </a:r>
          </a:p>
        </p:txBody>
      </p:sp>
      <mc:AlternateContent xmlns:mc="http://schemas.openxmlformats.org/markup-compatibility/2006">
        <mc:Choice xmlns:a14="http://schemas.microsoft.com/office/drawing/2010/main" Requires="a14">
          <p:sp>
            <p:nvSpPr>
              <p:cNvPr id="35" name="Equation"/>
              <p:cNvSpPr txBox="1"/>
              <p:nvPr/>
            </p:nvSpPr>
            <p:spPr>
              <a:xfrm>
                <a:off x="964692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FFFFFF"/>
                              </a:solidFill>
                              <a:latin typeface="Cambria Math" panose="02040503050406030204" pitchFamily="18" charset="0"/>
                            </a:rPr>
                          </m:ctrlPr>
                        </m:sSubPr>
                        <m:e>
                          <m:r>
                            <m:rPr>
                              <m:scr m:val="script"/>
                              <m:sty m:val="p"/>
                            </m:rPr>
                            <a:rPr lang="en-US" sz="3200">
                              <a:solidFill>
                                <a:srgbClr val="FFFFFF"/>
                              </a:solidFill>
                              <a:latin typeface="Cambria Math" panose="02040503050406030204" pitchFamily="18" charset="0"/>
                            </a:rPr>
                            <m:t xml:space="preserve">L</m:t>
                          </m:r>
                        </m:e>
                        <m:sub>
                          <m:r>
                            <m:rPr>
                              <m:sty m:val="p"/>
                            </m:rPr>
                            <a:rPr lang="en-US" sz="3200">
                              <a:solidFill>
                                <a:srgbClr val="FFFFFF"/>
                              </a:solidFill>
                              <a:latin typeface="Cambria Math" panose="02040503050406030204" pitchFamily="18" charset="0"/>
                            </a:rPr>
                            <m:t xml:space="preserve">ctx</m:t>
                          </m:r>
                        </m:sub>
                      </m:sSub>
                    </m:oMath>
                  </m:oMathPara>
                </a14:m>
                <a:endParaRPr lang="en-US" sz="3200"/>
              </a:p>
            </p:txBody>
          </p:sp>
        </mc:Choice>
        <mc:Fallback>
          <p:sp>
            <p:nvSpPr>
              <p:cNvPr id="35" name="Equation"/>
              <p:cNvSpPr txBox="1"/>
              <p:nvPr/>
            </p:nvSpPr>
            <p:spPr>
              <a:xfrm>
                <a:off x="9646920" y="5192522"/>
                <a:ext cx="1828800" cy="777240"/>
              </a:xfrm>
              <a:prstGeom prst="rect">
                <a:avLst/>
              </a:prstGeom>
              <a:blipFill>
                <a:blip r:embed="rId8"/>
                <a:stretch>
                  <a:fillRect/>
                </a:stretch>
              </a:blipFill>
            </p:spPr>
            <p:txBody>
              <a:bodyPr/>
              <a:lstStyle/>
              <a:p>
                <a:endParaRPr lang="en-US"/>
              </a:p>
            </p:txBody>
          </p:sp>
        </mc:Fallback>
      </mc:AlternateContent>
      <p:sp>
        <p:nvSpPr>
          <p:cNvPr id="36" name="Rounded Rectangle 35"/>
          <p:cNvSpPr/>
          <p:nvPr/>
        </p:nvSpPr>
        <p:spPr>
          <a:xfrm>
            <a:off x="13407390" y="4918202"/>
            <a:ext cx="3851910" cy="3200400"/>
          </a:xfrm>
          <a:prstGeom prst="roundRect">
            <a:avLst>
              <a:gd name="adj" fmla="val 8571"/>
            </a:avLst>
          </a:prstGeom>
          <a:solidFill>
            <a:srgbClr val="111111"/>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L2 weight decay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regularisation</a:t>
            </a:r>
          </a:p>
        </p:txBody>
      </p:sp>
      <mc:AlternateContent xmlns:mc="http://schemas.openxmlformats.org/markup-compatibility/2006">
        <mc:Choice xmlns:a14="http://schemas.microsoft.com/office/drawing/2010/main" Requires="a14">
          <p:sp>
            <p:nvSpPr>
              <p:cNvPr id="37" name="Equation"/>
              <p:cNvSpPr txBox="1"/>
              <p:nvPr/>
            </p:nvSpPr>
            <p:spPr>
              <a:xfrm>
                <a:off x="1377315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reg</m:t>
                          </m:r>
                        </m:sub>
                      </m:sSub>
                    </m:oMath>
                  </m:oMathPara>
                </a14:m>
                <a:endParaRPr lang="en-US" sz="3200"/>
              </a:p>
            </p:txBody>
          </p:sp>
        </mc:Choice>
        <mc:Fallback>
          <p:sp>
            <p:nvSpPr>
              <p:cNvPr id="37" name="Equation"/>
              <p:cNvSpPr txBox="1"/>
              <p:nvPr/>
            </p:nvSpPr>
            <p:spPr>
              <a:xfrm>
                <a:off x="13773150" y="5192522"/>
                <a:ext cx="1828800" cy="777240"/>
              </a:xfrm>
              <a:prstGeom prst="rect">
                <a:avLst/>
              </a:prstGeom>
              <a:blipFill>
                <a:blip r:embed="rId9"/>
                <a:stretch>
                  <a:fillRect/>
                </a:stretch>
              </a:blipFill>
            </p:spPr>
            <p:txBody>
              <a:bodyPr/>
              <a:lstStyle/>
              <a:p>
                <a:endParaRPr lang="en-US"/>
              </a:p>
            </p:txBody>
          </p:sp>
        </mc:Fallback>
      </mc:AlternateContent>
      <p:sp>
        <p:nvSpPr>
          <p:cNvPr id="38" name="Rounded Rectangle 37"/>
          <p:cNvSpPr/>
          <p:nvPr/>
        </p:nvSpPr>
        <p:spPr>
          <a:xfrm>
            <a:off x="1028700" y="8530082"/>
            <a:ext cx="16230600" cy="824230"/>
          </a:xfrm>
          <a:prstGeom prst="roundRect">
            <a:avLst>
              <a:gd name="adj" fmla="val 27734"/>
            </a:avLst>
          </a:prstGeom>
          <a:solidFill>
            <a:srgbClr val="F6ECDF"/>
          </a:solidFill>
          <a:ln>
            <a:noFill/>
          </a:ln>
        </p:spPr>
        <p:txBody>
          <a:bodyPr anchor="ctr" rtlCol="false" lIns="457200" tIns="91440" rIns="457200" bIns="91440" wrap="square"/>
          <a:lstStyle/>
          <a:p>
            <a:pPr algn="ctr">
              <a:lnSpc>
                <a:spcPts val="2800"/>
              </a:lnSpc>
              <a:spcBef>
                <a:spcPts val="0"/>
              </a:spcBef>
              <a:buNone/>
            </a:pPr>
            <a:r>
              <a:rPr lang="en-US" sz="2200" b="true">
                <a:solidFill>
                  <a:srgbClr val="111111"/>
                </a:solidFill>
                <a:latin typeface="Nunito Semi-Bold"/>
                <a:ea typeface="Nunito Semi-Bold"/>
                <a:cs typeface="Nunito Semi-Bold"/>
                <a:sym typeface="Nunito Semi-Bold"/>
              </a:rPr>
              <a:t>The learning objective and the coalition value are </a:t>
            </a:r>
            <a:r>
              <a:rPr lang="en-US" sz="2200" b="true">
                <a:solidFill>
                  <a:srgbClr val="111111"/>
                </a:solidFill>
                <a:latin typeface="Nunito Bold"/>
                <a:ea typeface="Nunito Bold"/>
                <a:cs typeface="Nunito Bold"/>
                <a:sym typeface="Nunito Bold"/>
              </a:rPr>
              <a:t>aligned</a:t>
            </a:r>
            <a:r>
              <a:rPr lang="en-US" sz="2200" b="true">
                <a:solidFill>
                  <a:srgbClr val="111111"/>
                </a:solidFill>
                <a:latin typeface="Nunito Semi-Bold"/>
                <a:ea typeface="Nunito Semi-Bold"/>
                <a:cs typeface="Nunito Semi-Bold"/>
                <a:sym typeface="Nunito Semi-Bold"/>
              </a:rPr>
              <a:t>: DyHuCoG trains to optimise the </a:t>
            </a:r>
            <a:r>
              <a:rPr lang="en-US" sz="2200" b="true">
                <a:solidFill>
                  <a:srgbClr val="111111"/>
                </a:solidFill>
                <a:latin typeface="Nunito Bold"/>
                <a:ea typeface="Nunito Bold"/>
                <a:cs typeface="Nunito Bold"/>
                <a:sym typeface="Nunito Bold"/>
              </a:rPr>
              <a:t>same balance</a:t>
            </a:r>
            <a:r>
              <a:rPr lang="en-US" sz="2200" b="true">
                <a:solidFill>
                  <a:srgbClr val="111111"/>
                </a:solidFill>
                <a:latin typeface="Nunito Semi-Bold"/>
                <a:ea typeface="Nunito Semi-Bold"/>
                <a:cs typeface="Nunito Semi-Bold"/>
                <a:sym typeface="Nunito Semi-Bold"/>
              </a:rPr>
              <a:t> that later determines attribution.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Ranking Quality Across All Baselines</a:t>
            </a:r>
          </a:p>
        </p:txBody>
      </p:sp>
      <p:pic>
        <p:nvPicPr>
          <p:cNvPr id="23" name="Picture 22" descr="image.png"/>
          <p:cNvPicPr>
            <a:picLocks noChangeAspect="1"/>
          </p:cNvPicPr>
          <p:nvPr/>
        </p:nvPicPr>
        <p:blipFill>
          <a:blip r:embed="rId3"/>
          <a:stretch>
            <a:fillRect/>
          </a:stretch>
        </p:blipFill>
        <p:spPr>
          <a:xfrm>
            <a:off x="10732087"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4572000"/>
          </a:xfrm>
          <a:prstGeom prst="roundRect">
            <a:avLst>
              <a:gd name="adj" fmla="val 5000"/>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7_2_ranking.png"/>
          <p:cNvPicPr>
            <a:picLocks noChangeAspect="1"/>
          </p:cNvPicPr>
          <p:nvPr/>
        </p:nvPicPr>
        <p:blipFill>
          <a:blip r:embed="rId5"/>
          <a:stretch>
            <a:fillRect/>
          </a:stretch>
        </p:blipFill>
        <p:spPr>
          <a:xfrm>
            <a:off x="2626199" y="3500882"/>
            <a:ext cx="13035600" cy="3886200"/>
          </a:xfrm>
          <a:prstGeom prst="rect">
            <a:avLst/>
          </a:prstGeom>
        </p:spPr>
      </p:pic>
      <p:sp>
        <p:nvSpPr>
          <p:cNvPr id="30" name="TextBox 29"/>
          <p:cNvSpPr txBox="1"/>
          <p:nvPr/>
        </p:nvSpPr>
        <p:spPr>
          <a:xfrm>
            <a:off x="1028700" y="747852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7.2 (thesis): NDCG@20 and Recall@20 of all models on MovieLens-1M and Amazon-Book</a:t>
            </a:r>
          </a:p>
        </p:txBody>
      </p:sp>
      <p:sp>
        <p:nvSpPr>
          <p:cNvPr id="31" name="Rounded Rectangle 30"/>
          <p:cNvSpPr/>
          <p:nvPr/>
        </p:nvSpPr>
        <p:spPr>
          <a:xfrm>
            <a:off x="1028700" y="8210042"/>
            <a:ext cx="7932420" cy="1007110"/>
          </a:xfrm>
          <a:prstGeom prst="roundRect">
            <a:avLst>
              <a:gd name="adj" fmla="val 22698"/>
            </a:avLst>
          </a:prstGeom>
          <a:solidFill>
            <a:srgbClr val="124944"/>
          </a:solidFill>
          <a:ln>
            <a:noFill/>
          </a:ln>
        </p:spPr>
        <p:txBody>
          <a:bodyPr anchor="ctr" rtlCol="false" lIns="365760" tIns="137160" rIns="365760" bIns="137160" wrap="square"/>
          <a:lstStyle/>
          <a:p>
            <a:pPr algn="l">
              <a:lnSpc>
                <a:spcPts val="1500"/>
              </a:lnSpc>
              <a:spcBef>
                <a:spcPts val="0"/>
              </a:spcBef>
              <a:buNone/>
            </a:pPr>
            <a:r>
              <a:rPr lang="en-US" sz="1200" b="true" spc="150">
                <a:solidFill>
                  <a:srgbClr val="ECC665"/>
                </a:solidFill>
                <a:latin typeface="Nunito Ultra-Bold"/>
                <a:ea typeface="Nunito Ultra-Bold"/>
                <a:cs typeface="Nunito Ultra-Bold"/>
                <a:sym typeface="Nunito Ultra-Bold"/>
              </a:rPr>
              <a:t>WHAT THE FIGURE SHOWS</a:t>
            </a:r>
          </a:p>
          <a:p>
            <a:pPr algn="l">
              <a:lnSpc>
                <a:spcPts val="2200"/>
              </a:lnSpc>
              <a:spcBef>
                <a:spcPts val="600"/>
              </a:spcBef>
              <a:buNone/>
            </a:pPr>
            <a:r>
              <a:rPr lang="en-US" sz="1700" b="true">
                <a:solidFill>
                  <a:srgbClr val="FFFFFF"/>
                </a:solidFill>
                <a:latin typeface="Nunito Semi-Bold"/>
                <a:ea typeface="Nunito Semi-Bold"/>
                <a:cs typeface="Nunito Semi-Bold"/>
                <a:sym typeface="Nunito Semi-Bold"/>
              </a:rPr>
              <a:t>A </a:t>
            </a:r>
            <a:r>
              <a:rPr lang="en-US" sz="1700" b="true">
                <a:solidFill>
                  <a:srgbClr val="FFFFFF"/>
                </a:solidFill>
                <a:latin typeface="Nunito Bold"/>
                <a:ea typeface="Nunito Bold"/>
                <a:cs typeface="Nunito Bold"/>
                <a:sym typeface="Nunito Bold"/>
              </a:rPr>
              <a:t>monotone ladder</a:t>
            </a:r>
            <a:r>
              <a:rPr lang="en-US" sz="1700" b="true">
                <a:solidFill>
                  <a:srgbClr val="FFFFFF"/>
                </a:solidFill>
                <a:latin typeface="Nunito Semi-Bold"/>
                <a:ea typeface="Nunito Semi-Bold"/>
                <a:cs typeface="Nunito Semi-Bold"/>
                <a:sym typeface="Nunito Semi-Bold"/>
              </a:rPr>
              <a:t>: classical &lt; neural &lt; graph &lt; hypergraph &lt; DyHuCoG, on both datasets; the gap to HPCF is largest on Amazon-Book.</a:t>
            </a:r>
          </a:p>
        </p:txBody>
      </p:sp>
      <p:sp>
        <p:nvSpPr>
          <p:cNvPr id="32" name="Rounded Rectangle 31"/>
          <p:cNvSpPr/>
          <p:nvPr/>
        </p:nvSpPr>
        <p:spPr>
          <a:xfrm>
            <a:off x="9326880" y="8210042"/>
            <a:ext cx="7932420" cy="1007110"/>
          </a:xfrm>
          <a:prstGeom prst="roundRect">
            <a:avLst>
              <a:gd name="adj" fmla="val 22698"/>
            </a:avLst>
          </a:prstGeom>
          <a:solidFill>
            <a:srgbClr val="F6ECDF"/>
          </a:solidFill>
          <a:ln>
            <a:noFill/>
          </a:ln>
        </p:spPr>
        <p:txBody>
          <a:bodyPr anchor="ctr" rtlCol="false" lIns="365760" tIns="137160" rIns="365760" bIns="137160" wrap="square"/>
          <a:lstStyle/>
          <a:p>
            <a:pPr algn="l">
              <a:lnSpc>
                <a:spcPts val="1500"/>
              </a:lnSpc>
              <a:spcBef>
                <a:spcPts val="0"/>
              </a:spcBef>
              <a:buNone/>
            </a:pPr>
            <a:r>
              <a:rPr lang="en-US" sz="1200" b="true" spc="150">
                <a:solidFill>
                  <a:srgbClr val="DF8330"/>
                </a:solidFill>
                <a:latin typeface="Nunito Ultra-Bold"/>
                <a:ea typeface="Nunito Ultra-Bold"/>
                <a:cs typeface="Nunito Ultra-Bold"/>
                <a:sym typeface="Nunito Ultra-Bold"/>
              </a:rPr>
              <a:t>WHY THE ORDER MAKES SENSE</a:t>
            </a:r>
          </a:p>
          <a:p>
            <a:pPr algn="l">
              <a:lnSpc>
                <a:spcPts val="2200"/>
              </a:lnSpc>
              <a:spcBef>
                <a:spcPts val="600"/>
              </a:spcBef>
              <a:buNone/>
            </a:pPr>
            <a:r>
              <a:rPr lang="en-US" sz="1700" b="true">
                <a:solidFill>
                  <a:srgbClr val="111111"/>
                </a:solidFill>
                <a:latin typeface="Nunito Semi-Bold"/>
                <a:ea typeface="Nunito Semi-Bold"/>
                <a:cs typeface="Nunito Semi-Bold"/>
                <a:sym typeface="Nunito Semi-Bold"/>
              </a:rPr>
              <a:t>Each family adds structure: pairwise graph, then hyperedges, then </a:t>
            </a:r>
            <a:r>
              <a:rPr lang="en-US" sz="1700" b="true">
                <a:solidFill>
                  <a:srgbClr val="111111"/>
                </a:solidFill>
                <a:latin typeface="Nunito Bold"/>
                <a:ea typeface="Nunito Bold"/>
                <a:cs typeface="Nunito Bold"/>
                <a:sym typeface="Nunito Bold"/>
              </a:rPr>
              <a:t>Shapley-weighted hyperedges with context</a:t>
            </a:r>
            <a:r>
              <a:rPr lang="en-US" sz="1700" b="true">
                <a:solidFill>
                  <a:srgbClr val="111111"/>
                </a:solidFill>
                <a:latin typeface="Nunito Semi-Bold"/>
                <a:ea typeface="Nunito Semi-Bold"/>
                <a:cs typeface="Nunito Semi-Bold"/>
                <a:sym typeface="Nunito Semi-Bold"/>
              </a:rPr>
              <a:t>. The improvement is </a:t>
            </a:r>
            <a:r>
              <a:rPr lang="en-US" sz="1700" b="true">
                <a:solidFill>
                  <a:srgbClr val="111111"/>
                </a:solidFill>
                <a:latin typeface="Nunito Bold"/>
                <a:ea typeface="Nunito Bold"/>
                <a:cs typeface="Nunito Bold"/>
                <a:sym typeface="Nunito Bold"/>
              </a:rPr>
              <a:t>cumulative and explainable</a:t>
            </a:r>
            <a:r>
              <a:rPr lang="en-US" sz="1700" b="true">
                <a:solidFill>
                  <a:srgbClr val="111111"/>
                </a:solidFill>
                <a:latin typeface="Nunito Semi-Bold"/>
                <a:ea typeface="Nunito Semi-Bold"/>
                <a:cs typeface="Nunito Semi-Bold"/>
                <a:sym typeface="Nunito Semi-Bold"/>
              </a:rPr>
              <a:t>, not a tuning artefact.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Coverage &amp; Diversity: No Accuracy Trade-Off</a:t>
            </a:r>
          </a:p>
        </p:txBody>
      </p:sp>
      <p:pic>
        <p:nvPicPr>
          <p:cNvPr id="23" name="Picture 22" descr="image.png"/>
          <p:cNvPicPr>
            <a:picLocks noChangeAspect="1"/>
          </p:cNvPicPr>
          <p:nvPr/>
        </p:nvPicPr>
        <p:blipFill>
          <a:blip r:embed="rId3"/>
          <a:stretch>
            <a:fillRect/>
          </a:stretch>
        </p:blipFill>
        <p:spPr>
          <a:xfrm>
            <a:off x="12985667"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8595360" cy="4664710"/>
          </a:xfrm>
          <a:prstGeom prst="roundRect">
            <a:avLst>
              <a:gd name="adj" fmla="val 4900"/>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7_3_coverage_ild.png"/>
          <p:cNvPicPr>
            <a:picLocks noChangeAspect="1"/>
          </p:cNvPicPr>
          <p:nvPr/>
        </p:nvPicPr>
        <p:blipFill>
          <a:blip r:embed="rId5"/>
          <a:stretch>
            <a:fillRect/>
          </a:stretch>
        </p:blipFill>
        <p:spPr>
          <a:xfrm>
            <a:off x="1165860" y="3712142"/>
            <a:ext cx="8321040" cy="3556389"/>
          </a:xfrm>
          <a:prstGeom prst="rect">
            <a:avLst/>
          </a:prstGeom>
        </p:spPr>
      </p:pic>
      <p:sp>
        <p:nvSpPr>
          <p:cNvPr id="30" name="TextBox 29"/>
          <p:cNvSpPr txBox="1"/>
          <p:nvPr/>
        </p:nvSpPr>
        <p:spPr>
          <a:xfrm>
            <a:off x="1028700" y="7571232"/>
            <a:ext cx="859536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7.3 (thesis): catalogue coverage and intra-list diversity, HPCF vs DyHuCoG</a:t>
            </a:r>
          </a:p>
        </p:txBody>
      </p:sp>
      <p:sp>
        <p:nvSpPr>
          <p:cNvPr id="31" name="Rounded Rectangle 30"/>
          <p:cNvSpPr/>
          <p:nvPr/>
        </p:nvSpPr>
        <p:spPr>
          <a:xfrm>
            <a:off x="10081260" y="3363722"/>
            <a:ext cx="3474720" cy="2218055"/>
          </a:xfrm>
          <a:prstGeom prst="roundRect">
            <a:avLst>
              <a:gd name="adj" fmla="val 10306"/>
            </a:avLst>
          </a:prstGeom>
          <a:solidFill>
            <a:srgbClr val="124944"/>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COVERAGE · MOVIELENS-1M</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+16.1 %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0.342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0.397</a:t>
            </a:r>
          </a:p>
        </p:txBody>
      </p:sp>
      <p:sp>
        <p:nvSpPr>
          <p:cNvPr id="32" name="Rounded Rectangle 31"/>
          <p:cNvSpPr/>
          <p:nvPr/>
        </p:nvSpPr>
        <p:spPr>
          <a:xfrm>
            <a:off x="13784580" y="3363722"/>
            <a:ext cx="3474720" cy="2218055"/>
          </a:xfrm>
          <a:prstGeom prst="roundRect">
            <a:avLst>
              <a:gd name="adj" fmla="val 10306"/>
            </a:avLst>
          </a:prstGeom>
          <a:solidFill>
            <a:srgbClr val="1E5F58"/>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ILD · MOVIELENS-1M</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+11.9 %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0.461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0.516</a:t>
            </a:r>
          </a:p>
        </p:txBody>
      </p:sp>
      <p:sp>
        <p:nvSpPr>
          <p:cNvPr id="33" name="Rounded Rectangle 32"/>
          <p:cNvSpPr/>
          <p:nvPr/>
        </p:nvSpPr>
        <p:spPr>
          <a:xfrm>
            <a:off x="10081260" y="5810377"/>
            <a:ext cx="3474720" cy="2218055"/>
          </a:xfrm>
          <a:prstGeom prst="roundRect">
            <a:avLst>
              <a:gd name="adj" fmla="val 10306"/>
            </a:avLst>
          </a:prstGeom>
          <a:solidFill>
            <a:srgbClr val="1E5F58"/>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COVERAGE · AMAZON-BOOK</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+29.7 %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0.259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0.336</a:t>
            </a:r>
          </a:p>
        </p:txBody>
      </p:sp>
      <p:sp>
        <p:nvSpPr>
          <p:cNvPr id="34" name="Rounded Rectangle 33"/>
          <p:cNvSpPr/>
          <p:nvPr/>
        </p:nvSpPr>
        <p:spPr>
          <a:xfrm>
            <a:off x="13784580" y="5810377"/>
            <a:ext cx="3474720" cy="2218055"/>
          </a:xfrm>
          <a:prstGeom prst="roundRect">
            <a:avLst>
              <a:gd name="adj" fmla="val 10306"/>
            </a:avLst>
          </a:prstGeom>
          <a:solidFill>
            <a:srgbClr val="124944"/>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ILD · AMAZON-BOOK</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+12.5 %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0.535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0.602</a:t>
            </a:r>
          </a:p>
        </p:txBody>
      </p:sp>
      <p:sp>
        <p:nvSpPr>
          <p:cNvPr id="35" name="Rounded Rectangle 34"/>
          <p:cNvSpPr/>
          <p:nvPr/>
        </p:nvSpPr>
        <p:spPr>
          <a:xfrm>
            <a:off x="1028700" y="8302752"/>
            <a:ext cx="16230600" cy="914400"/>
          </a:xfrm>
          <a:prstGeom prst="roundRect">
            <a:avLst>
              <a:gd name="adj" fmla="val 25000"/>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Smaller filter-bubble effect and more discovery for the user</a:t>
            </a:r>
            <a:r>
              <a:rPr lang="en-US" sz="2000" b="true">
                <a:solidFill>
                  <a:srgbClr val="FFFFFF"/>
                </a:solidFill>
                <a:latin typeface="Nunito Semi-Bold"/>
                <a:ea typeface="Nunito Semi-Bold"/>
                <a:cs typeface="Nunito Semi-Bold"/>
                <a:sym typeface="Nunito Semi-Bold"/>
              </a:rPr>
              <a:t>, while NDCG and Recall also improve: </a:t>
            </a:r>
            <a:r>
              <a:rPr lang="en-US" sz="2000" b="true">
                <a:solidFill>
                  <a:srgbClr val="FFFFFF"/>
                </a:solidFill>
                <a:latin typeface="Nunito Bold"/>
                <a:ea typeface="Nunito Bold"/>
                <a:cs typeface="Nunito Bold"/>
                <a:sym typeface="Nunito Bold"/>
              </a:rPr>
              <a:t>accuracy is not traded for diversity</a:t>
            </a:r>
            <a:r>
              <a:rPr lang="en-US" sz="20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Rounded Rectangle 31"/>
          <p:cNvSpPr/>
          <p:nvPr/>
        </p:nvSpPr>
        <p:spPr>
          <a:xfrm>
            <a:off x="1028700" y="6198362"/>
            <a:ext cx="7932420" cy="3155950"/>
          </a:xfrm>
          <a:prstGeom prst="roundRect">
            <a:avLst>
              <a:gd name="adj" fmla="val 9851"/>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5960618"/>
            <a:ext cx="218505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4" name="TextBox 33"/>
          <p:cNvSpPr txBox="1"/>
          <p:nvPr/>
        </p:nvSpPr>
        <p:spPr>
          <a:xfrm>
            <a:off x="1531620" y="6838442"/>
            <a:ext cx="6972300" cy="160147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5"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L</m:t>
                          </m:r>
                          <m:r>
                            <m:rPr>
                              <m:sty m:val="p"/>
                            </m:rPr>
                            <a:rPr lang="en-US" sz="2000">
                              <a:solidFill>
                                <a:srgbClr val="124944"/>
                              </a:solidFill>
                              <a:latin typeface="Cambria Math" panose="02040503050406030204" pitchFamily="18" charset="0"/>
                            </a:rPr>
                            <m:t xml:space="preserve">+1) </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d</m:t>
                          </m:r>
                        </m:e>
                      </m:d>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f</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m</m:t>
                          </m:r>
                        </m:e>
                      </m:d>
                    </m:oMath>
                  </m:oMathPara>
                </a14:m>
                <a:endParaRPr lang="en-US" sz="2000"/>
              </a:p>
            </p:txBody>
          </p:sp>
        </mc:Choice>
        <mc:Fallback>
          <p:sp>
            <p:nvSpPr>
              <p:cNvPr id="35"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6" name="Rounded Rectangle 35"/>
          <p:cNvSpPr/>
          <p:nvPr/>
        </p:nvSpPr>
        <p:spPr>
          <a:xfrm>
            <a:off x="9326880" y="6198362"/>
            <a:ext cx="7932420" cy="3155950"/>
          </a:xfrm>
          <a:prstGeom prst="roundRect">
            <a:avLst>
              <a:gd name="adj" fmla="val 9851"/>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9784080" y="596061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Convergence</a:t>
            </a:r>
          </a:p>
        </p:txBody>
      </p:sp>
      <p:sp>
        <p:nvSpPr>
          <p:cNvPr id="38" name="TextBox 37"/>
          <p:cNvSpPr txBox="1"/>
          <p:nvPr/>
        </p:nvSpPr>
        <p:spPr>
          <a:xfrm>
            <a:off x="9829800" y="6838442"/>
            <a:ext cx="6972300" cy="224155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1E5F58"/>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Rounded Rectangle 36"/>
          <p:cNvSpPr/>
          <p:nvPr/>
        </p:nvSpPr>
        <p:spPr>
          <a:xfrm>
            <a:off x="1028700" y="6289802"/>
            <a:ext cx="16230600" cy="3018790"/>
          </a:xfrm>
          <a:prstGeom prst="roundRect">
            <a:avLst>
              <a:gd name="adj" fmla="val 10298"/>
            </a:avLst>
          </a:prstGeom>
          <a:solidFill>
            <a:srgbClr val="F6ECDF"/>
          </a:solidFill>
          <a:ln>
            <a:noFill/>
          </a:ln>
        </p:spPr>
        <p:txBody>
          <a:bodyPr anchor="ctr" rtlCol="false" lIns="0" tIns="0" rIns="0" bIns="0" wrap="square"/>
          <a:lstStyle/>
          <a:p>
            <a:endParaRPr lang="en-US" sz="1800"/>
          </a:p>
        </p:txBody>
      </p:sp>
      <p:sp>
        <p:nvSpPr>
          <p:cNvPr id="38" name="Rounded Rectangle 37"/>
          <p:cNvSpPr/>
          <p:nvPr/>
        </p:nvSpPr>
        <p:spPr>
          <a:xfrm>
            <a:off x="1485900" y="6052058"/>
            <a:ext cx="179424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9" name="TextBox 38"/>
          <p:cNvSpPr txBox="1"/>
          <p:nvPr/>
        </p:nvSpPr>
        <p:spPr>
          <a:xfrm>
            <a:off x="1531620" y="6929882"/>
            <a:ext cx="15270480" cy="2104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Cold-Start, Cross-Dataset Robustness and Interpretability</a:t>
            </a:r>
          </a:p>
        </p:txBody>
      </p:sp>
      <p:pic>
        <p:nvPicPr>
          <p:cNvPr id="23" name="Picture 22" descr="image.png"/>
          <p:cNvPicPr>
            <a:picLocks noChangeAspect="1"/>
          </p:cNvPicPr>
          <p:nvPr/>
        </p:nvPicPr>
        <p:blipFill>
          <a:blip r:embed="rId3"/>
          <a:stretch>
            <a:fillRect/>
          </a:stretch>
        </p:blipFill>
        <p:spPr>
          <a:xfrm>
            <a:off x="16119690"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92322"/>
            <a:ext cx="7932420" cy="2926080"/>
          </a:xfrm>
          <a:prstGeom prst="roundRect">
            <a:avLst>
              <a:gd name="adj" fmla="val 10625"/>
            </a:avLst>
          </a:prstGeom>
          <a:solidFill>
            <a:srgbClr val="124944"/>
          </a:solidFill>
          <a:ln>
            <a:noFill/>
          </a:ln>
        </p:spPr>
        <p:txBody>
          <a:bodyPr anchor="ctr" rtlCol="false" lIns="0" tIns="0" rIns="0" bIns="0" wrap="square"/>
          <a:lstStyle/>
          <a:p>
            <a:endParaRPr lang="en-US" sz="1800"/>
          </a:p>
        </p:txBody>
      </p:sp>
      <p:sp>
        <p:nvSpPr>
          <p:cNvPr id="29" name="Rounded Rectangle 28"/>
          <p:cNvSpPr/>
          <p:nvPr/>
        </p:nvSpPr>
        <p:spPr>
          <a:xfrm>
            <a:off x="1485900" y="3354578"/>
            <a:ext cx="4398958"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Cold-start (≤ 5 interactions)</a:t>
            </a:r>
          </a:p>
        </p:txBody>
      </p:sp>
      <p:sp>
        <p:nvSpPr>
          <p:cNvPr id="30" name="TextBox 29"/>
          <p:cNvSpPr txBox="1"/>
          <p:nvPr/>
        </p:nvSpPr>
        <p:spPr>
          <a:xfrm>
            <a:off x="1531620" y="4232402"/>
            <a:ext cx="6972300" cy="201168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NDCG@20 ≈ </a:t>
            </a:r>
            <a:r>
              <a:rPr lang="en-US" sz="2000" b="true">
                <a:solidFill>
                  <a:srgbClr val="FFFFFF"/>
                </a:solidFill>
                <a:latin typeface="Nunito Bold"/>
                <a:ea typeface="Nunito Bold"/>
                <a:cs typeface="Nunito Bold"/>
                <a:sym typeface="Nunito Bold"/>
              </a:rPr>
              <a:t>0.061</a:t>
            </a:r>
            <a:r>
              <a:rPr lang="en-US" sz="2000" b="true">
                <a:solidFill>
                  <a:srgbClr val="FFFFFF"/>
                </a:solidFill>
                <a:latin typeface="Nunito Semi-Bold"/>
                <a:ea typeface="Nunito Semi-Bold"/>
                <a:cs typeface="Nunito Semi-Bold"/>
                <a:sym typeface="Nunito Semi-Bold"/>
              </a:rPr>
              <a:t> (user) and </a:t>
            </a:r>
            <a:r>
              <a:rPr lang="en-US" sz="2000" b="true">
                <a:solidFill>
                  <a:srgbClr val="FFFFFF"/>
                </a:solidFill>
                <a:latin typeface="Nunito Bold"/>
                <a:ea typeface="Nunito Bold"/>
                <a:cs typeface="Nunito Bold"/>
                <a:sym typeface="Nunito Bold"/>
              </a:rPr>
              <a:t>0.057</a:t>
            </a:r>
            <a:r>
              <a:rPr lang="en-US" sz="2000" b="true">
                <a:solidFill>
                  <a:srgbClr val="FFFFFF"/>
                </a:solidFill>
                <a:latin typeface="Nunito Semi-Bold"/>
                <a:ea typeface="Nunito Semi-Bold"/>
                <a:cs typeface="Nunito Semi-Bold"/>
                <a:sym typeface="Nunito Semi-Bold"/>
              </a:rPr>
              <a:t> (item).</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About </a:t>
            </a:r>
            <a:r>
              <a:rPr lang="en-US" sz="2000" b="true">
                <a:solidFill>
                  <a:srgbClr val="FFFFFF"/>
                </a:solidFill>
                <a:latin typeface="Nunito Bold"/>
                <a:ea typeface="Nunito Bold"/>
                <a:cs typeface="Nunito Bold"/>
                <a:sym typeface="Nunito Bold"/>
              </a:rPr>
              <a:t>10 % over HPCF</a:t>
            </a:r>
            <a:r>
              <a:rPr lang="en-US" sz="2000" b="true">
                <a:solidFill>
                  <a:srgbClr val="FFFFFF"/>
                </a:solidFill>
                <a:latin typeface="Nunito Semi-Bold"/>
                <a:ea typeface="Nunito Semi-Bold"/>
                <a:cs typeface="Nunito Semi-Bold"/>
                <a:sym typeface="Nunito Semi-Bold"/>
              </a:rPr>
              <a:t>: Shapley weighting helps exactly where the signal is weakest.</a:t>
            </a:r>
          </a:p>
        </p:txBody>
      </p:sp>
      <p:sp>
        <p:nvSpPr>
          <p:cNvPr id="31" name="Rounded Rectangle 30"/>
          <p:cNvSpPr/>
          <p:nvPr/>
        </p:nvSpPr>
        <p:spPr>
          <a:xfrm>
            <a:off x="9326880" y="3592322"/>
            <a:ext cx="7932420" cy="2926080"/>
          </a:xfrm>
          <a:prstGeom prst="roundRect">
            <a:avLst>
              <a:gd name="adj" fmla="val 10625"/>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3354578"/>
            <a:ext cx="4733073"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Cross-dataset NDCG@20 gain</a:t>
            </a:r>
          </a:p>
        </p:txBody>
      </p:sp>
      <p:sp>
        <p:nvSpPr>
          <p:cNvPr id="33" name="Rounded Rectangle 32"/>
          <p:cNvSpPr/>
          <p:nvPr/>
        </p:nvSpPr>
        <p:spPr>
          <a:xfrm>
            <a:off x="978408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+9.9 %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MovieLens-1M</a:t>
            </a:r>
          </a:p>
        </p:txBody>
      </p:sp>
      <p:sp>
        <p:nvSpPr>
          <p:cNvPr id="34" name="Rounded Rectangle 33"/>
          <p:cNvSpPr/>
          <p:nvPr/>
        </p:nvSpPr>
        <p:spPr>
          <a:xfrm>
            <a:off x="1219962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+14.8 %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Amazon-Book</a:t>
            </a:r>
          </a:p>
        </p:txBody>
      </p:sp>
      <p:sp>
        <p:nvSpPr>
          <p:cNvPr id="35" name="Rounded Rectangle 34"/>
          <p:cNvSpPr/>
          <p:nvPr/>
        </p:nvSpPr>
        <p:spPr>
          <a:xfrm>
            <a:off x="1461516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+11.8 %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Yelp2018</a:t>
            </a:r>
          </a:p>
        </p:txBody>
      </p:sp>
      <p:sp>
        <p:nvSpPr>
          <p:cNvPr id="36" name="Rounded Rectangle 35"/>
          <p:cNvSpPr/>
          <p:nvPr/>
        </p:nvSpPr>
        <p:spPr>
          <a:xfrm>
            <a:off x="1028700" y="6884162"/>
            <a:ext cx="6766560" cy="2332990"/>
          </a:xfrm>
          <a:prstGeom prst="roundRect">
            <a:avLst>
              <a:gd name="adj" fmla="val 9798"/>
            </a:avLst>
          </a:prstGeom>
          <a:solidFill>
            <a:srgbClr val="FFFFFF"/>
          </a:solidFill>
          <a:ln w="15875">
            <a:solidFill>
              <a:srgbClr val="E3D6C4"/>
            </a:solidFill>
          </a:ln>
        </p:spPr>
        <p:txBody>
          <a:bodyPr anchor="ctr" rtlCol="false" lIns="0" tIns="0" rIns="0" bIns="0" wrap="square"/>
          <a:lstStyle/>
          <a:p>
            <a:endParaRPr lang="en-US" sz="1800"/>
          </a:p>
        </p:txBody>
      </p:sp>
      <p:pic>
        <p:nvPicPr>
          <p:cNvPr id="37" name="Picture 36" descr="fig7_4_waterfall.png"/>
          <p:cNvPicPr>
            <a:picLocks noChangeAspect="1"/>
          </p:cNvPicPr>
          <p:nvPr/>
        </p:nvPicPr>
        <p:blipFill>
          <a:blip r:embed="rId5"/>
          <a:stretch>
            <a:fillRect/>
          </a:stretch>
        </p:blipFill>
        <p:spPr>
          <a:xfrm>
            <a:off x="2469892" y="6993890"/>
            <a:ext cx="3884174" cy="1702054"/>
          </a:xfrm>
          <a:prstGeom prst="rect">
            <a:avLst/>
          </a:prstGeom>
        </p:spPr>
      </p:pic>
      <p:sp>
        <p:nvSpPr>
          <p:cNvPr id="38" name="TextBox 37"/>
          <p:cNvSpPr txBox="1"/>
          <p:nvPr/>
        </p:nvSpPr>
        <p:spPr>
          <a:xfrm>
            <a:off x="1028700" y="8759952"/>
            <a:ext cx="676656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7.4 (thesis): SHAP waterfall for one recommendation</a:t>
            </a:r>
          </a:p>
        </p:txBody>
      </p:sp>
      <p:sp>
        <p:nvSpPr>
          <p:cNvPr id="39" name="Rounded Rectangle 38"/>
          <p:cNvSpPr/>
          <p:nvPr/>
        </p:nvSpPr>
        <p:spPr>
          <a:xfrm>
            <a:off x="8161020" y="7112762"/>
            <a:ext cx="9098280" cy="2104390"/>
          </a:xfrm>
          <a:prstGeom prst="roundRect">
            <a:avLst>
              <a:gd name="adj" fmla="val 14773"/>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8618220" y="6875018"/>
            <a:ext cx="503150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Interpretability &amp; popularity bias</a:t>
            </a:r>
          </a:p>
        </p:txBody>
      </p:sp>
      <p:sp>
        <p:nvSpPr>
          <p:cNvPr id="41" name="TextBox 40"/>
          <p:cNvSpPr txBox="1"/>
          <p:nvPr/>
        </p:nvSpPr>
        <p:spPr>
          <a:xfrm>
            <a:off x="8618220" y="7707122"/>
            <a:ext cx="8229600" cy="1281430"/>
          </a:xfrm>
          <a:prstGeom prst="rect">
            <a:avLst/>
          </a:prstGeom>
          <a:noFill/>
        </p:spPr>
        <p:txBody>
          <a:bodyPr anchor="t" rtlCol="false" lIns="0" tIns="0" rIns="0" bIns="0" wrap="square"/>
          <a:lstStyle/>
          <a:p>
            <a:pPr algn="l" marL="274320" indent="-274320">
              <a:lnSpc>
                <a:spcPts val="2218"/>
              </a:lnSpc>
              <a:spcBef>
                <a:spcPts val="0"/>
              </a:spcBef>
              <a:buClr>
                <a:srgbClr val="DF8330"/>
              </a:buClr>
              <a:buSzPct val="100000"/>
              <a:buFont typeface="Arial"/>
              <a:buChar char="•"/>
            </a:pPr>
            <a:r>
              <a:rPr lang="en-US" sz="1584" b="true">
                <a:solidFill>
                  <a:srgbClr val="111111"/>
                </a:solidFill>
                <a:latin typeface="Nunito Semi-Bold"/>
                <a:ea typeface="Nunito Semi-Bold"/>
                <a:cs typeface="Nunito Semi-Bold"/>
                <a:sym typeface="Nunito Semi-Bold"/>
              </a:rPr>
              <a:t>A </a:t>
            </a:r>
            <a:r>
              <a:rPr lang="en-US" sz="1584" b="true">
                <a:solidFill>
                  <a:srgbClr val="111111"/>
                </a:solidFill>
                <a:latin typeface="Nunito Bold"/>
                <a:ea typeface="Nunito Bold"/>
                <a:cs typeface="Nunito Bold"/>
                <a:sym typeface="Nunito Bold"/>
              </a:rPr>
              <a:t>SHAP waterfall</a:t>
            </a:r>
            <a:r>
              <a:rPr lang="en-US" sz="1584" b="true">
                <a:solidFill>
                  <a:srgbClr val="111111"/>
                </a:solidFill>
                <a:latin typeface="Nunito Semi-Bold"/>
                <a:ea typeface="Nunito Semi-Bold"/>
                <a:cs typeface="Nunito Semi-Bold"/>
                <a:sym typeface="Nunito Semi-Bold"/>
              </a:rPr>
              <a:t> breaks a recommendation down into ranking, diversity, context and preference contributions.</a:t>
            </a:r>
          </a:p>
          <a:p>
            <a:pPr algn="l" marL="274320" indent="-274320">
              <a:lnSpc>
                <a:spcPts val="2218"/>
              </a:lnSpc>
              <a:spcBef>
                <a:spcPts val="528"/>
              </a:spcBef>
              <a:buClr>
                <a:srgbClr val="DF8330"/>
              </a:buClr>
              <a:buSzPct val="100000"/>
              <a:buFont typeface="Arial"/>
              <a:buChar char="•"/>
            </a:pPr>
            <a:r>
              <a:rPr lang="en-US" sz="1584" b="true">
                <a:solidFill>
                  <a:srgbClr val="111111"/>
                </a:solidFill>
                <a:latin typeface="Nunito Semi-Bold"/>
                <a:ea typeface="Nunito Semi-Bold"/>
                <a:cs typeface="Nunito Semi-Bold"/>
                <a:sym typeface="Nunito Semi-Bold"/>
              </a:rPr>
              <a:t>Shapley measures </a:t>
            </a:r>
            <a:r>
              <a:rPr lang="en-US" sz="1584" b="true">
                <a:solidFill>
                  <a:srgbClr val="111111"/>
                </a:solidFill>
                <a:latin typeface="Nunito Bold"/>
                <a:ea typeface="Nunito Bold"/>
                <a:cs typeface="Nunito Bold"/>
                <a:sym typeface="Nunito Bold"/>
              </a:rPr>
              <a:t>marginal utility, not raw frequency</a:t>
            </a:r>
            <a:r>
              <a:rPr lang="en-US" sz="1584" b="true">
                <a:solidFill>
                  <a:srgbClr val="111111"/>
                </a:solidFill>
                <a:latin typeface="Nunito Semi-Bold"/>
                <a:ea typeface="Nunito Semi-Bold"/>
                <a:cs typeface="Nunito Semi-Bold"/>
                <a:sym typeface="Nunito Semi-Bold"/>
              </a:rPr>
              <a:t>: weak but informative interactions keep their influence, which counters popularity bias.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82</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12494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12494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1E5F58"/>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12494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DF8330"/>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F6ECDF"/>
          </a:solidFill>
          <a:ln w="25400">
            <a:solidFill>
              <a:srgbClr val="DF8330"/>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DF8330"/>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DF8330"/>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617115"/>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1E5F58"/>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539881"/>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F6ECDF"/>
          </a:solidFill>
          <a:ln w="25400">
            <a:solidFill>
              <a:srgbClr val="12494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373212"/>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427074"/>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90</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12494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12494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92</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Backup Slides</a:t>
            </a:r>
          </a:p>
        </p:txBody>
      </p:sp>
      <p:sp>
        <p:nvSpPr>
          <p:cNvPr id="8" name="Oval 7"/>
          <p:cNvSpPr/>
          <p:nvPr/>
        </p:nvSpPr>
        <p:spPr>
          <a:xfrm>
            <a:off x="1304818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818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B</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Full tables from Chapter 7, for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 7.1</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All baselines with mean ± standard deviation over five seeds.</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 7.6</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Paired t-tests against every baseline, Holm–Bonferroni thresholds, effect sizes.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Tables 7.3 &amp; 7.4</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Training time, inference latency, memory; Monte Carlo convergence.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399005"/>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446713"/>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52148"/>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657600"/>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457200">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4" name="Rounded Rectangle 13"/>
          <p:cNvSpPr/>
          <p:nvPr/>
        </p:nvSpPr>
        <p:spPr>
          <a:xfrm>
            <a:off x="1028700" y="7286498"/>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