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6.xml"/><Relationship Id="rId26" Type="http://schemas.openxmlformats.org/officeDocument/2006/relationships/notesMaster" Target="notesMasters/notesMaster1.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the opportunity to present my work today. My name is Mouad Louhichi, and the thesis I am defending, supervised by Professor Mohamed Lazaar, is entitled: "Cooperative Game Theory for Explainable AI in Recommendation Systems: A Shapley Framework for Actionable Insight." The main idea I want you to keep in mind is this: Shapley attribution is not only a method to explain a model after it has been trained. In this thesis I show how it can become one framework that explains black-box models, stays consistent across levels of detail, and finally guides how recommenders learn.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how I have organized the next forty minutes. I will start with the motivation behind this research and the concept of actionable insight, the central idea of this thesis. Then the research context, the limitations of existing approaches, and the research questions. After that, I will describe the common experimental protocol before presenting the three contributions. Each contribution follows the same structure: the research gap, the objectives, the methodology, the evaluation protocol, the results, and the main findings. Finally, I will conclude with the main outcomes of the thesis and the future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 The first question I want to address is: why has explainability become a core requirement for modern recommenders?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Recommenders now decide what we see, watch and buy. They are extremely accurate, but their reasoning is hard to understand. Three questions are behind this thesis. The first concerns scale: these models now shape the experience of billions of users. The second concerns transparency. Even state-of-the-art recommenders and clustering pipelines are often black boxes. We can observe their outputs, but understanding the reasons behind these outputs remains difficult. The third concerns trust. Instead of adding explanations after building complex models, can we integrate transparency directly into the model itself? This thesis starts from one idea: accuracy and interpretability are not competing objectives, but two goals to achieve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 An explanation is actionable when it points to something we can actually change, and when changing it clearly affects the model output. This factor should also be expressed in the language of the real-world domain, such as acidity in wine, pollution indicators in air quality, or user preferences in recommenders. In other words, a good explanation should not only describe what happened, but also help us decide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put this in context. The history of this field is also the history of the interpretability problem. Early similarity-based approaches were easier to explain because they relied on visible features. Then matrix factorization improved recommendation accuracy and scalability, but introduced latent factors whose meanings were hidden. Later, neural and graph approaches added modelling power through hidden representations and message passing. Finally, hypergraph models introduced richer relationships between users, items, and contexts. But at each step, we gained predictive power while losing transparency. This growing gap is exactly what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recommenders are not only theoretical models. They are already part of everyday applications. Platforms such as Netflix, Spotify, Amazon, and Yelp use recommendation algorithms to personalize the experience of millions of users. Their performance is impressive, but the reasoning behind their decisions remains hidden. The user receives a recommendation, but often does not know why this specific item was selected. This situation, where AI is everywhere but its reasoning remains hidden, is the main motivation of this 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 To understand where the difficulty comes from, I will briefly review the main recommendation approaches and explain their respective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 The principle is simple: the system recommends items according to their characteristics and the user's previous preferences. The main advantage of this approach is that it is naturally explainable. The recommendation can be linked to visible features that users and experts can understand. But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 Here, the system does not rely on item features, but instead learns from the behaviour and preferences of similar users. This idea has been extremely successful because it can discover hidden patterns from user-item interactions. But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 Hybrid systems combine different sources of information to reduce the limitations of individual methods. Matrix factorization became one of the most successful approaches because it provides accurate and scalable recommendations. But the learned user and item factors are latent representations. They improve prediction performance, but their meaning is usually unknown. 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most important for this thesis, is graph and hypergraph recommendation. These approaches represent users, items, and interactions as connected structures. Through message passing, information can propagate across multiple hops and capture more complex relationships. Hypergraph models go even further by representing higher-order relationships between several entities, such as a user, an item, and a context at the same time. But this additional modelling power introduces a new challenge: the importance of each message remains hidden. The model learns complex relationships, but it cannot explain which of them actually mattered.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evolution leaves four limitations. The first limitation is data sparsity. In practice, the user-item interaction matrix is almost empty, which makes learning difficult. The second is cold-start: new users and new items have no history. The third is popularity bias: popular items get more exposure, and relevant but less popular ones are ignored. And the one this thesis targets is the absence of interpretability. For clustering problems, the challenge is even harder because existing approaches usually provide either local explanations or global explanations, but rarely both in a consistent way.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observations lead to three main problems that shape this research. First, complex AI models are difficult to explain in a way that is both faithful and actionable. Second, explanations often do not scale to large datasets or multi-level structures. Third, explanations are usually generated after training, meaning that they only describe the model behaviour without influencing the learning process itself. The central idea of this thesis is that Shapley attribution can provide a common cooperative-game framework to address these three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research gap, five research questions are defined. The first question asks how Shapley values can explain black-box clustering faithfully at both instance and cluster levels. The second question investigates how this explanation can be extended to large-scale and multi-level clustering while remaining consistent. The third question moves beyond explanation and asks whether cooperative attribution can become part of how recommendation models learn. The fourth question investigates whether this approach can improve ranking quality while maintaining context and diversity. Finally, the fifth asks what we gain from reading both tasks through one cooperative-game 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main contributions. The first contribution introduces a Shapley-based framework for explaining black-box clustering. It is evaluated on the Wine Quality dataset and focuses on faithful feature attribution. The second contribution extends this idea to large-scale multi-level clustering using Beijing Air Quality data, with a formal approach to maintain consistency across levels. The third contribution, called DyHuCoG, moves beyond explanation and integrates cooperative attribution directly into hypergraph recommendation learning. Together, these three contributions follow a common progression: from explanation, to scalability, and finally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 The objective is to make the evaluation consistent and reproducible across all experiments. I will present the datasets, the baselines, the evaluation metrics, and the computational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covering both tasks: Wine Quality and Beijing Air Quality for clustering, MovieLens-1M and Amazon-Book for recommendation. The first dataset is the Portuguese White Wine Quality dataset. It contains 4,898 samples described by 11 physicochemical measurements, including acidity, density, sulphates, and alcohol. This dataset is particularly suitable for the first contribution because every variable has a clear meaning in the real domain. So when the explanation identifies an important factor, it can directly correspond to something a wine expert can understand and potentially influence.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It contains 383,585 hourly observations collected from monitoring stations, including pollutant measurements and weather variables. Compared with wine data, this dataset introduces several additional challenges: much larger scale, environmental complexity, and temporal variation. This makes it an appropriate test case for evaluating whether explanations can remain meaningful in large multi-level structures.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 The first one is MovieLens-1M, containing approximately one million ratings from more than six thousand users over thousands of movies. It is a standard benchmark widely used in recommendation research, allowing comparison with existing methods.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is Amazon-Book, which is much more sparse, with millions of interactions but a very low user-item density. 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the experimental design, reproducibility and prevention of data leakage are important considerations. For clustering experiments, cross-validation is used. For recommendation experiments, I use user-level time-ordered splits with validation-based early stopping. All experiments are repeated using multiple random seeds to ensure that the results are not dependent on a specific initialization.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approaches are compared with strong existing baselines. For clustering explanation, the main comparison is performed against LIME-based explanations, which represent one of the most common post-hoc explanation approaches. For recommendation, the comparison includes classical matrix factorization methods and recent graph and hypergraph recommenders, including HPCF.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evaluation metrics are used depending on the task. For recommendation, NDCG@20 is used as the main ranking metric. Also, coverage and intra-list diversity are evaluated because recommendation quality is not only about accuracy, but also about providing diverse and less biased results. For clustering, metrics such as Silhouette and Davies-Bouldin are used to evaluate the quality of the obtained partitions. These metrics allow us to evaluate both model performance and the quality of the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regarding the computational environment, clustering experiments were performed on a standard workstation, while recommendation experiments, especially DyHuCoG training, were performed using an RTX 4090 GPU. These configurations allow us to evaluate not only the performance of the proposed approaches, but also their practical computational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 The objective here is to answer the following question: can we explain the decisions of a black-box clustering model using a principled attribution method?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 Unlike supervised learning, clustering does not have a predefined target variable. The model discovers groups directly from the data, which makes understanding the reason behind each cluster more challenging. Existing explanation approaches usually focus either on individual instances or on global cluster descriptions, but they rarely provide a unified explanation at both levels. So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main objectives. The first objective is to provide explanations at both cluster level and individual sample level. The second objective is to keep the explanations in the original feature space, because explanations are only useful when domain experts can understand them. The third objective is to rely on a theoretically grounded attribution method based on cooperative game theory.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let me introduce the mathematical foundation of this work: cooperative game theory. In a cooperative game, we have a set of players, possible coalitions between these players, and a value function that measures the contribution of each coalition. The main question is how to fairly distribute the total contribution among the different players. The Shapley value provides this solution by calculating the average marginal contribution of each player across all possible orders of participation. In this thesis, the players are the input features, and the Shapley value measures how much each feature contributes to the clustering result.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apply Shapley values to clustering, the clustering problem is reformulated as a cooperative game. The players correspond to the features, and the value function represents the quality of the clustering obtained using a subset of features. In this work, the Silhouette score is used to measure this quality. But evaluating every possible feature coalition is computationally expensive. So a surrogate model is introduced to approximate the clustering decisions and make Shapley computation practical.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pipeline contains four main steps. First, K-Means is applied to create the initial clusters. Second, a LightGBM classifier is trained to reproduce these cluster assignments. Third, TreeSHAP is applied to this surrogate model to compute feature contributions. Finally, the obtained explanations are compared with LIME. The key point is that the surrogate model must faithfully represent the original clustering behaviour.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From a purely geometric perspective, two clusters provide the best separation according to the clustering metrics. But three clusters are selected because they provide more meaningful chemical interpretations. This choice illustrates an important principle of this thesis: the goal is not only to optimize mathematical criteria, but also to obtain explanations that can support human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show that several variables play a major role in explaining the wine clusters. The most important factors include density, pH, acidity, sulfur dioxide variables, and alcohol content. These variables are meaningful because they correspond to real physicochemical properties of wine. More importantly, the explanation is not limited to a global ranking. It also shows that different clusters are characterized by different combinations of important variables.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first research question. Shapley values can explain black-box clustering when the surrogate model provides sufficient fidelity. They provide both global and local explanations while keeping the attribution connected to the original features. Compared with approaches such as LIME, the main advantage is that Shapley values are based on a formal cooperative-game foundation with desirable properties such as fairness and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 The approach provides explanations at different levels while maintaining the meaning of the original variables. So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this first contribution also presents some limitations. First, the quality of the explanation depends on the fidelity of the surrogate model. Second, the evaluation is performed on tabular data, so the generalization to other data types remains open. Finally, the explanation remains single-level. It explains one clustering structure, but does not explain how feature importance changes across different levels of organization. 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 is that Shapley attribution provides a principled way to understand an unsupervised model. But real-world datasets are often much larger and may contain hierarchical structures. So the next question is whether the same explanation principle can remain meaningful when moving from one level of analysis to several levels.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 The objective is to extend Shapley-based explanation from single-level clustering to large-scale and multi-level clustering. This contribution addresses the second research question.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challenge in this case is not only scale, but also consistency across levels. When a large cluster is divided into smaller sub-clusters, the explanation should help us understand both the global structure and the specific characteristics of each sub-group. But existing approaches do not provide a formal relationship between the explanation of a parent cluster and the explanations of its children. This is the main research gap addressed in this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First, to design a multi-level explanation framework where each level has its own surrogate model. Second, to establish a formal relationship between explanations at different levels of the hierarchy. Third, to evaluate whether this framework remains practical and meaningful on a large environmental dataset.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 follows a recursive strategy. First, the complete dataset is partitioned into coarse clusters. Then, each cluster can be further divided into smaller sub-clusters. At every level, a surrogate model is trained and SHAP values are computed using the same original feature space. This allows the importance of variables to be compared across different levels while preserving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theoretical contribution of this work is Proposition 6.1. This proposition establishes a relationship between the explanation of a parent cluster and the explanations of its child clusters. The parent attribution can be expressed as a size-weighted combination of child attributions, plus a residual term. This residual mainly reflects the difference introduced by surrogate approximation. So changes in importance across levels are not considered inconsistencies, but rather structured variations that can be interpreted.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experimental protocol follows the same general principles as the first contribution. The Beijing Air Quality dataset is first clustered at a global level. Then, each cluster is further divided to create a multi-level structure. At each level, a dedicated surrogate model is trained and SHAP explanations are computed. Finally, the proposed relationship is evaluated through aggregation and sensitivity analysis.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The selected solution achieves a Silhouette score of approximately 0.63 and a Davies-Bouldin score around 0.55. The stability analysis also shows that the conclusions remain consistent under changes in modelling parameters such as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reveals an interesting environmental interpretation. The most important variables are temperature, dew point, and pressure, followed by pollutants such as carbon monoxide, nitrogen dioxide, and particulate matter. This shows that pollution patterns are not determined only by pollutant concentrations themselves.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moving from the global level to individual clusters, the explanation changes. At the global level, variables such as temperature and dew point explain the main environmental regimes. But inside each regime, different variables become important. For example, one cluster may be characterized by warmer conditions and ozone-related behaviour, while another may correspond to winter pollution involving particulate matter and other pollutants. These differences are not contradictions. They provide a more detailed understanding of the data structure.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 Shapley explanations can be extended to large-scale and multi-level clustering when the hierarchy is explicitly defined and the approximation process is transparent. 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 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some limitations remain. The clustering process is still static, even though the air-quality data have a temporal dimension. The explanations continue to depend on surrogate models and approximation techniques. Most importantly, attribution is still post-hoc: it explains what the model has already learned, but it does not participate in the learning process itself. This observation leads naturally to the third contribution, where explanation becomes part of model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II is that Shapley attribution stays consistent across levels of detail once the hierarchy is explicit. The explanation therefore becomes interpretable at scale. It still describes a partition that was computed in advance, which raises the question behind the third contribution: can attribution become part of the learning itself?</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 This contribution represents the main transition of the thesis. In the first two contributions, Shapley values were used to explain models after they were trained. Here, the objective is different: can attribution become part of the learning process itself?</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limitation of existing hypergraph recommendation models is that they usually treat the different relationships in the graph structure in a similar way. But in real recommendation scenarios, not every interaction contributes equally to the final prediction. Some user-item-context relationships are more informative than others. The idea behind DyHuCoG is therefore to use cooperative attribution during training, so that the model can learn which relationships provide the most valuable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main research questions. The first question is whether cooperative attribution can move beyond post-hoc explanation and become part of the recommendation learning process. The second question is whether this integration can improve recommendation quality while maintaining contextual relevance and diversity. To answer these questions, DyHuCoG combines hypergraph learning with Shapley-based attribution. The first objective is to model recommendation as a cooperative game involving users, items, and contextual information. The second objective is to introduce a preference-aware Monte Carlo Shapley estimation mechanism inside hypergraph message passing. The third objective is to optimize several objectives together: ranking accuracy, diversity, and contextual relevance. The main idea is that the same mechanism used to explain importance can also guide the learning process.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this idea, recommendation is represented as a cooperative game. The players are the different elements involved in the recommendation process: users, items, and contextual information. Their interactions are represented through hyperedges, which allow modelling higher-order relationships. The contribution of each element is estimated through Shapley values. So instead of learning only from the existence of a relationship, the model also considers the contribution of this relationship to the final objective.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computationally impossible for large recommenders. The number of possible coalitions grows exponentially with the number of players. So DyHuCoG uses Monte Carlo approximation. Instead of evaluating all possible coalitions, we sample a limited number of permutations and estimate the average marginal contribution. This provides a practical approximation while preserving the main properties of Shapley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 The model starts from a hypergraph recommendation structure where information is propagated through message passing. The main modification is the introduction of Shapley-based weights inside this propagation process. Important relationships receive stronger influence, while less informative relationships contribute less. An attention mechanism is also introduced to stabilize the learning process. 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evaluation is performed on two recommendation benchmarks: MovieLens-1M and Amazon-Book. The proposed method is compared with several baseline approaches, including recent graph and hypergraph recommenders. The evaluation considers ranking quality using NDCG and Recall, but also evaluates coverage and diversity. This is important because a recommendation system should not only be accurate, but should also provide varied and meaningful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 Compared with the strongest baseline, HPCF, the NDCG score improves from 0.2528 to 0.2775, representing an improvement of approximately 9.8 percent. Recall also improves, while coverage and diversity remain higher. This shows that the proposed approach does not improve accuracy by simply recommending the most popular items, but also maintains recommendation variety.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which represents a much more challenging sparse recommendation scenario. Despite the higher difficulty, DyHuCoG continues to outperform the baselines. The improvement compared with HPCF reaches approximately 13.3 percent in NDCG. This result is important because it shows that cooperative attribution remains useful even when the available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contribution of each component, an ablation study is performed. The results show that each component plays an important role. Removing contextual information produces a significant degradation, which confirms the importance of context-aware recommendation. Removing Shapley weighting also reduces performance, demonstrating that cooperative attribution contributes directly to the learning process. So the improvement comes from the combination of hypergraph modelling, context information, and cooperative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 DyHuCoG requires more training time than traditional hypergraph recommenders because attribution is computed during learning. But inference remains practical, with recommendation latency at a reasonable level. So the additional computational complexity is a trade-off for obtaining a more accurate and interpretable model.</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also performed. The comparison is conducted using user-level recommendation results. The statistical tests confirm that the improvements over the baseline are significant. The effect size also shows that the improvement is not only statistically detectable, but also practically meaningful.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allow us to answer the third and fourth research questions. For the third question, the answer is yes: Shapley attribution can move beyond post-hoc explanation and become part of the learning process. For the fourth question, the answer is also yes: DyHuCoG improves recommendation quality while maintaining diversity and contextual relevance. So attribution becomes not only an explanation mechanism, but also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Instead of generating explanations after training, the model uses attribution information while learning. This creates a direct connection between what the model optimizes and what the explanation reveals.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this contribution also has limitations. First, the integration of Shapley estimation increases computational cost. Second, the effectiveness of the approach depends on the availability of meaningful contextual information. Third, Monte Carlo estimation can still be improved through more advanced sampling strategies. 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 Explanation is no longer only an observation after the model is built. 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now summarize the main outcomes of this thesis and present the future perspectives. The objective is to connect the three contributions and highlight the common idea that links them together.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follow a common progression: explain, scale, and guide. The first contribution explains black-box clustering using Shapley attribution and meaningful domain variables. The second contribution extends this idea to large-scale and multi-level structures while maintaining consistency between explanations. The third contribution moves beyond explanation and uses attribution to guide the learning process of recommenders. Together, these contributions show how cooperative game theory can provide a unified perspective for explainable AI.</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 These publications correspond to the three main stages of the thesis: explainable clustering, multi-level explainability, and cooperative recommendation learning. 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 First, exact Shapley computation remains expensive, requiring approximation methods. Second, surrogate-based explanations depend on the quality of the approximation. Third, the current experiments are mainly offline and based on benchmark datasets. 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limitations naturally define several future research directions. The first direction is improving Shapley estimation through more efficient and adaptive sampling strategies. The second direction is extending the framework to dynamic and online recommenders where preferences evolve over time. The third direction is conducting user-centered evaluations to measure trust and usefulness. Finally, the framework could be extended toward other trustworthy AI objectives such as fairness.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thesis shows that cooperative game theory gives one common framework for explainable AI across clustering and recommendation. The main contributions demonstrate four important points. First, Shapley attribution provides a principled way to measure contribution. Second, it can explain black-box clustering using meaningful variables. Third, it can remain interpretable when moving to large-scale and multi-level structures. Finally, it can become part of the learning process itself through DyHuCoG. The main message is that explanation need not stay a description of what happened. It can become a way to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 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second half of the reference list, including the datasets, the statistical tests, and the related article with the team.</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that brings me to the end of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 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Table 7.1: every baseline, both datasets, with mean and standard deviation over five seeds. Two points, if useful. The standard deviations are about one tenth of the gap between DyHuCoG and HPCF on every metric, so the ordering doesn't depend on the seed. The improvement is also consistent across all four metrics, not concentrated on one.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Table 7.6: paired t-tests of DyHuCoG against every baseline on per-user NDCG, on MovieLens-1M, over six thousand and forty users. Holm-Bonferroni gives each of the six p-values its own threshold, and every p-value is many orders of magnitude below it. Cohen's d is 1.33 against HPCF and larger against the weaker baselines, and above 0.8 is normally counted as large. Wilcoxon agrees.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finally, the cost figures. Table 7.3 gives training time, inference latency and memory for every model on both datasets: DyHuCoG trains in about two thousand seconds against eleven hundred for HPCF, and inference stays under two milliseconds per query. Table 7.4 is the Monte Carlo convergence study, where ten permutations give about ninety-five percent accuracy and fifty give ninety-nine. Fifty, then, is the knee of the curve.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image" Target="../media/image26.png"/><Relationship Id="rId6" Type="http://schemas.openxmlformats.org/officeDocument/2006/relationships/image" Target="../media/image11.png"/><Relationship Id="rId7"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11.xml"/><Relationship Id="rId5" Type="http://schemas.openxmlformats.org/officeDocument/2006/relationships/image" Target="../media/image5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4.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29.xml"/><Relationship Id="rId5" Type="http://schemas.openxmlformats.org/officeDocument/2006/relationships/image" Target="../media/image64.png"/><Relationship Id="rId6" Type="http://schemas.openxmlformats.org/officeDocument/2006/relationships/image" Target="../media/image6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3.xml"/><Relationship Id="rId5" Type="http://schemas.openxmlformats.org/officeDocument/2006/relationships/image" Target="../media/image66.png"/><Relationship Id="rId6" Type="http://schemas.openxmlformats.org/officeDocument/2006/relationships/image" Target="../media/image6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3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1.xml"/><Relationship Id="rId5" Type="http://schemas.openxmlformats.org/officeDocument/2006/relationships/image" Target="../media/image68.png"/><Relationship Id="rId6" Type="http://schemas.openxmlformats.org/officeDocument/2006/relationships/image" Target="../media/image6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2.xml"/><Relationship Id="rId5" Type="http://schemas.openxmlformats.org/officeDocument/2006/relationships/image" Target="../media/image70.png"/><Relationship Id="rId6" Type="http://schemas.openxmlformats.org/officeDocument/2006/relationships/image" Target="../media/image71.png"/><Relationship Id="rId7" Type="http://schemas.openxmlformats.org/officeDocument/2006/relationships/image" Target="../media/image7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 Id="rId5" Type="http://schemas.openxmlformats.org/officeDocument/2006/relationships/image" Target="../media/image7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 Id="rId5" Type="http://schemas.openxmlformats.org/officeDocument/2006/relationships/image" Target="../media/image7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4.xml"/><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81.png"/><Relationship Id="rId8" Type="http://schemas.openxmlformats.org/officeDocument/2006/relationships/image" Target="../media/image8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 Id="rId9" Type="http://schemas.openxmlformats.org/officeDocument/2006/relationships/image" Target="../media/image87.png"/><Relationship Id="rId10" Type="http://schemas.openxmlformats.org/officeDocument/2006/relationships/image" Target="../media/image88.png"/><Relationship Id="rId11" Type="http://schemas.openxmlformats.org/officeDocument/2006/relationships/image" Target="../media/image8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61.xml"/><Relationship Id="rId5" Type="http://schemas.openxmlformats.org/officeDocument/2006/relationships/image" Target="../media/image9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62.xml"/><Relationship Id="rId5" Type="http://schemas.openxmlformats.org/officeDocument/2006/relationships/image" Target="../media/image91.png"/><Relationship Id="rId6" Type="http://schemas.openxmlformats.org/officeDocument/2006/relationships/image" Target="../media/image92.png"/><Relationship Id="rId7" Type="http://schemas.openxmlformats.org/officeDocument/2006/relationships/image" Target="../media/image9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6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6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6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6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6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7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7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7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image" Target="../media/image26.png"/><Relationship Id="rId6" Type="http://schemas.openxmlformats.org/officeDocument/2006/relationships/image" Target="../media/image11.png"/><Relationship Id="rId7" Type="http://schemas.openxmlformats.org/officeDocument/2006/relationships/notesSlide" Target="../notesSlides/notesSlide7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DF8330"/>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124944"/>
                </a:solidFill>
                <a:latin typeface="Nunito Bold"/>
                <a:ea typeface="Nunito Bold"/>
                <a:cs typeface="Nunito Bold"/>
                <a:sym typeface="Nunito Bold"/>
              </a:rPr>
              <a:t>A Shapley Framework for Actionable Insight</a:t>
            </a:r>
          </a:p>
        </p:txBody>
      </p:sp>
      <p:pic>
        <p:nvPicPr>
          <p:cNvPr id="9" name="Picture 8" descr="image.png"/>
          <p:cNvPicPr>
            <a:picLocks noChangeAspect="1"/>
          </p:cNvPicPr>
          <p:nvPr/>
        </p:nvPicPr>
        <p:blipFill>
          <a:blip r:embed="rId5"/>
          <a:stretch>
            <a:fillRect/>
          </a:stretch>
        </p:blipFill>
        <p:spPr>
          <a:xfrm>
            <a:off x="15979140" y="2194560"/>
            <a:ext cx="502920" cy="456772"/>
          </a:xfrm>
          <a:prstGeom prst="rect">
            <a:avLst/>
          </a:prstGeom>
        </p:spPr>
      </p:pic>
      <p:pic>
        <p:nvPicPr>
          <p:cNvPr id="10" name="Picture 9" descr="image.png"/>
          <p:cNvPicPr>
            <a:picLocks noChangeAspect="1"/>
          </p:cNvPicPr>
          <p:nvPr/>
        </p:nvPicPr>
        <p:blipFill>
          <a:blip r:embed="rId6"/>
          <a:stretch>
            <a:fillRect/>
          </a:stretch>
        </p:blipFill>
        <p:spPr>
          <a:xfrm rot="1200000">
            <a:off x="1120140" y="3703320"/>
            <a:ext cx="411480" cy="225885"/>
          </a:xfrm>
          <a:prstGeom prst="rect">
            <a:avLst/>
          </a:prstGeom>
        </p:spPr>
      </p:pic>
      <p:sp>
        <p:nvSpPr>
          <p:cNvPr id="11" name="Rounded Rectangle 10"/>
          <p:cNvSpPr/>
          <p:nvPr/>
        </p:nvSpPr>
        <p:spPr>
          <a:xfrm>
            <a:off x="2926080" y="4526280"/>
            <a:ext cx="6035040" cy="786384"/>
          </a:xfrm>
          <a:prstGeom prst="roundRect">
            <a:avLst>
              <a:gd name="adj" fmla="val 27906"/>
            </a:avLst>
          </a:prstGeom>
          <a:solidFill>
            <a:srgbClr val="12494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2" name="Rounded Rectangle 11"/>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DF8330"/>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3" name="TextBox 12"/>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4" name="Table 13"/>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5" name="TextBox 14"/>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124944"/>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124944"/>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124944"/>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pic>
        <p:nvPicPr>
          <p:cNvPr id="23" name="Picture 22" descr="image.png"/>
          <p:cNvPicPr>
            <a:picLocks noChangeAspect="1"/>
          </p:cNvPicPr>
          <p:nvPr/>
        </p:nvPicPr>
        <p:blipFill>
          <a:blip r:embed="rId3"/>
          <a:stretch>
            <a:fillRect/>
          </a:stretch>
        </p:blipFill>
        <p:spPr>
          <a:xfrm>
            <a:off x="8592285" y="1673352"/>
            <a:ext cx="457200" cy="250983"/>
          </a:xfrm>
          <a:prstGeom prst="rect">
            <a:avLst/>
          </a:prstGeom>
        </p:spPr>
      </p:pic>
      <p:sp>
        <p:nvSpPr>
          <p:cNvPr id="24" name="Rounded Rectangle 23"/>
          <p:cNvSpPr/>
          <p:nvPr/>
        </p:nvSpPr>
        <p:spPr>
          <a:xfrm>
            <a:off x="1028700" y="2559050"/>
            <a:ext cx="1715805"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Research Context</a:t>
            </a:r>
          </a:p>
        </p:txBody>
      </p:sp>
      <p:sp>
        <p:nvSpPr>
          <p:cNvPr id="27" name="Rounded Rectangle 26"/>
          <p:cNvSpPr/>
          <p:nvPr/>
        </p:nvSpPr>
        <p:spPr>
          <a:xfrm>
            <a:off x="1028700" y="3592322"/>
            <a:ext cx="5196840" cy="4206240"/>
          </a:xfrm>
          <a:prstGeom prst="roundRect">
            <a:avLst>
              <a:gd name="adj" fmla="val 7391"/>
            </a:avLst>
          </a:prstGeom>
          <a:solidFill>
            <a:srgbClr val="124944"/>
          </a:solidFill>
          <a:ln>
            <a:noFill/>
          </a:ln>
        </p:spPr>
        <p:txBody>
          <a:bodyPr anchor="ctr" rtlCol="false" lIns="0" tIns="0" rIns="0" bIns="0" wrap="square"/>
          <a:lstStyle/>
          <a:p>
            <a:endParaRPr lang="en-US" sz="1800"/>
          </a:p>
        </p:txBody>
      </p:sp>
      <p:sp>
        <p:nvSpPr>
          <p:cNvPr id="28" name="Rounded Rectangle 27"/>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124944"/>
                </a:solidFill>
                <a:latin typeface="Nunito Bold"/>
                <a:ea typeface="Nunito Bold"/>
                <a:cs typeface="Nunito Bold"/>
                <a:sym typeface="Nunito Bold"/>
              </a:rPr>
              <a:t>Everywhere</a:t>
            </a:r>
          </a:p>
        </p:txBody>
      </p:sp>
      <p:sp>
        <p:nvSpPr>
          <p:cNvPr id="29" name="TextBox 28"/>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CFDAD6"/>
                </a:solidFill>
                <a:latin typeface="Nunito Semi-Bold"/>
                <a:ea typeface="Nunito Semi-Bold"/>
                <a:cs typeface="Nunito Semi-Bold"/>
                <a:sym typeface="Nunito Semi-Bold"/>
              </a:rPr>
              <a:t>Recommenders shape news, study, health and credit decisions; market &gt; $15B by 2029.</a:t>
            </a:r>
          </a:p>
        </p:txBody>
      </p:sp>
      <p:sp>
        <p:nvSpPr>
          <p:cNvPr id="30" name="Rounded Rectangle 29"/>
          <p:cNvSpPr/>
          <p:nvPr/>
        </p:nvSpPr>
        <p:spPr>
          <a:xfrm>
            <a:off x="6545580" y="3592322"/>
            <a:ext cx="5196840" cy="4206240"/>
          </a:xfrm>
          <a:prstGeom prst="roundRect">
            <a:avLst>
              <a:gd name="adj" fmla="val 7391"/>
            </a:avLst>
          </a:prstGeom>
          <a:solidFill>
            <a:srgbClr val="124944"/>
          </a:solidFill>
          <a:ln>
            <a:noFill/>
          </a:ln>
        </p:spPr>
        <p:txBody>
          <a:bodyPr anchor="ctr" rtlCol="false" lIns="0" tIns="0" rIns="0" bIns="0" wrap="square"/>
          <a:lstStyle/>
          <a:p>
            <a:endParaRPr lang="en-US" sz="1800"/>
          </a:p>
        </p:txBody>
      </p:sp>
      <p:sp>
        <p:nvSpPr>
          <p:cNvPr id="31" name="Rounded Rectangle 30"/>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124944"/>
                </a:solidFill>
                <a:latin typeface="Nunito Bold"/>
                <a:ea typeface="Nunito Bold"/>
                <a:cs typeface="Nunito Bold"/>
                <a:sym typeface="Nunito Bold"/>
              </a:rPr>
              <a:t>The Black Box</a:t>
            </a:r>
          </a:p>
        </p:txBody>
      </p:sp>
      <p:sp>
        <p:nvSpPr>
          <p:cNvPr id="32" name="TextBox 31"/>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CFDAD6"/>
                </a:solidFill>
                <a:latin typeface="Nunito Semi-Bold"/>
                <a:ea typeface="Nunito Semi-Bold"/>
                <a:cs typeface="Nunito Semi-Bold"/>
                <a:sym typeface="Nunito Semi-Bold"/>
              </a:rPr>
              <a:t>Deep &amp; graph models: hidden logic, hard to audit. EU AI Act: high-risk </a:t>
            </a:r>
            <a:r>
              <a:rPr lang="en-US" sz="1800" b="true">
                <a:solidFill>
                  <a:srgbClr val="CFDAD6"/>
                </a:solidFill>
                <a:latin typeface="Calibri"/>
                <a:ea typeface="Calibri"/>
                <a:cs typeface="Calibri"/>
                <a:sym typeface="Calibri"/>
              </a:rPr>
              <a:t>→ </a:t>
            </a:r>
            <a:r>
              <a:rPr lang="en-US" sz="1800" b="true">
                <a:solidFill>
                  <a:srgbClr val="CFDAD6"/>
                </a:solidFill>
                <a:latin typeface="Nunito Semi-Bold"/>
                <a:ea typeface="Nunito Semi-Bold"/>
                <a:cs typeface="Nunito Semi-Bold"/>
                <a:sym typeface="Nunito Semi-Bold"/>
              </a:rPr>
              <a:t>must explain.</a:t>
            </a:r>
          </a:p>
        </p:txBody>
      </p:sp>
      <p:sp>
        <p:nvSpPr>
          <p:cNvPr id="33" name="Rounded Rectangle 32"/>
          <p:cNvSpPr/>
          <p:nvPr/>
        </p:nvSpPr>
        <p:spPr>
          <a:xfrm>
            <a:off x="12062460" y="3592322"/>
            <a:ext cx="5196840" cy="4206240"/>
          </a:xfrm>
          <a:prstGeom prst="roundRect">
            <a:avLst>
              <a:gd name="adj" fmla="val 7391"/>
            </a:avLst>
          </a:prstGeom>
          <a:solidFill>
            <a:srgbClr val="124944"/>
          </a:solidFill>
          <a:ln>
            <a:noFill/>
          </a:ln>
        </p:spPr>
        <p:txBody>
          <a:bodyPr anchor="ctr" rtlCol="false" lIns="0" tIns="0" rIns="0" bIns="0" wrap="square"/>
          <a:lstStyle/>
          <a:p>
            <a:endParaRPr lang="en-US" sz="1800"/>
          </a:p>
        </p:txBody>
      </p:sp>
      <p:sp>
        <p:nvSpPr>
          <p:cNvPr id="34" name="Rounded Rectangle 33"/>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124944"/>
                </a:solidFill>
                <a:latin typeface="Nunito Bold"/>
                <a:ea typeface="Nunito Bold"/>
                <a:cs typeface="Nunito Bold"/>
                <a:sym typeface="Nunito Bold"/>
              </a:rPr>
              <a:t>Toward Trust</a:t>
            </a:r>
          </a:p>
        </p:txBody>
      </p:sp>
      <p:sp>
        <p:nvSpPr>
          <p:cNvPr id="35" name="TextBox 34"/>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CFDAD6"/>
                </a:solidFill>
                <a:latin typeface="Nunito Semi-Bold"/>
                <a:ea typeface="Nunito Semi-Bold"/>
                <a:cs typeface="Nunito Semi-Bold"/>
                <a:sym typeface="Nunito Semi-Bold"/>
              </a:rPr>
              <a:t>Insight that is accountable, auditable and actionable, not just accurate.</a:t>
            </a:r>
          </a:p>
        </p:txBody>
      </p:sp>
      <p:sp>
        <p:nvSpPr>
          <p:cNvPr id="36" name="Rounded Rectangle 35"/>
          <p:cNvSpPr/>
          <p:nvPr/>
        </p:nvSpPr>
        <p:spPr>
          <a:xfrm>
            <a:off x="1028700" y="8118602"/>
            <a:ext cx="16230600" cy="868680"/>
          </a:xfrm>
          <a:prstGeom prst="roundRect">
            <a:avLst>
              <a:gd name="adj" fmla="val 26315"/>
            </a:avLst>
          </a:prstGeom>
          <a:solidFill>
            <a:srgbClr val="F6ECDF"/>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3" name="Picture 22" descr="image.png"/>
          <p:cNvPicPr>
            <a:picLocks noChangeAspect="1"/>
          </p:cNvPicPr>
          <p:nvPr/>
        </p:nvPicPr>
        <p:blipFill>
          <a:blip r:embed="rId3"/>
          <a:stretch>
            <a:fillRect/>
          </a:stretch>
        </p:blipFill>
        <p:spPr>
          <a:xfrm>
            <a:off x="9706798" y="1673352"/>
            <a:ext cx="457200" cy="415247"/>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Research Context</a:t>
            </a:r>
          </a:p>
        </p:txBody>
      </p:sp>
      <p:sp>
        <p:nvSpPr>
          <p:cNvPr id="27" name="TextBox 26"/>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12494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at least one factor that can be changed</a:t>
            </a:r>
            <a:r>
              <a:rPr lang="en-US" sz="2100" b="true">
                <a:solidFill>
                  <a:srgbClr val="111111"/>
                </a:solidFill>
                <a:latin typeface="Nunito Semi-Bold"/>
                <a:ea typeface="Nunito Semi-Bold"/>
                <a:cs typeface="Nunito Semi-Bold"/>
                <a:sym typeface="Nunito Semi-Bold"/>
              </a:rPr>
              <a:t>, and that change leads to a </a:t>
            </a:r>
            <a:r>
              <a:rPr lang="en-US" sz="2100" b="true">
                <a:solidFill>
                  <a:srgbClr val="111111"/>
                </a:solidFill>
                <a:latin typeface="Nunito Bold"/>
                <a:ea typeface="Nunito Bold"/>
                <a:cs typeface="Nunito Bold"/>
                <a:sym typeface="Nunito Bold"/>
              </a:rPr>
              <a:t>clear change in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 and that factor is </a:t>
            </a:r>
            <a:r>
              <a:rPr lang="en-US" sz="2100" b="true">
                <a:solidFill>
                  <a:srgbClr val="111111"/>
                </a:solidFill>
                <a:latin typeface="Nunito Bold"/>
                <a:ea typeface="Nunito Bold"/>
                <a:cs typeface="Nunito Bold"/>
                <a:sym typeface="Nunito Bold"/>
              </a:rPr>
              <a:t>stated in the domain's own terms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The domain's own terms: a chemical variable (wine), a pollution indicator (air quality), a preference signal (recommendation), </a:t>
            </a:r>
            <a:r>
              <a:rPr lang="en-US" sz="2100" b="true">
                <a:solidFill>
                  <a:srgbClr val="111111"/>
                </a:solidFill>
                <a:latin typeface="Nunito Bold"/>
                <a:ea typeface="Nunito Bold"/>
                <a:cs typeface="Nunito Bold"/>
                <a:sym typeface="Nunito Bold"/>
              </a:rPr>
              <a:t>not a hidden latent code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an explanation that names a changeable driver supports </a:t>
            </a:r>
            <a:r>
              <a:rPr lang="en-US" sz="2100" b="true">
                <a:solidFill>
                  <a:srgbClr val="111111"/>
                </a:solidFill>
                <a:latin typeface="Nunito Bold"/>
                <a:ea typeface="Nunito Bold"/>
                <a:cs typeface="Nunito Bold"/>
                <a:sym typeface="Nunito Bold"/>
              </a:rPr>
              <a:t>action</a:t>
            </a:r>
            <a:r>
              <a:rPr lang="en-US" sz="2100" b="true">
                <a:solidFill>
                  <a:srgbClr val="111111"/>
                </a:solidFill>
                <a:latin typeface="Nunito Semi-Bold"/>
                <a:ea typeface="Nunito Semi-Bold"/>
                <a:cs typeface="Nunito Semi-Bold"/>
                <a:sym typeface="Nunito Semi-Bold"/>
              </a:rPr>
              <a:t>, not only description.</a:t>
            </a:r>
          </a:p>
        </p:txBody>
      </p:sp>
      <p:sp>
        <p:nvSpPr>
          <p:cNvPr id="28" name="TextBox 27"/>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DF8330"/>
                </a:solidFill>
                <a:latin typeface="Nunito Ultra-Bold"/>
                <a:ea typeface="Nunito Ultra-Bold"/>
                <a:cs typeface="Nunito Ultra-Bold"/>
                <a:sym typeface="Nunito Ultra-Bold"/>
              </a:rPr>
              <a:t>FROM EXPLANATION TO ACTION</a:t>
            </a:r>
          </a:p>
        </p:txBody>
      </p:sp>
      <p:sp>
        <p:nvSpPr>
          <p:cNvPr id="29" name="Rounded Rectangle 28"/>
          <p:cNvSpPr/>
          <p:nvPr/>
        </p:nvSpPr>
        <p:spPr>
          <a:xfrm>
            <a:off x="9441180" y="4643882"/>
            <a:ext cx="1600200" cy="1417320"/>
          </a:xfrm>
          <a:prstGeom prst="roundRect">
            <a:avLst>
              <a:gd name="adj" fmla="val 12903"/>
            </a:avLst>
          </a:prstGeom>
          <a:solidFill>
            <a:srgbClr val="12494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Modifiable factor</a:t>
            </a:r>
          </a:p>
        </p:txBody>
      </p:sp>
      <p:cxnSp>
        <p:nvCxnSpPr>
          <p:cNvPr id="30" name="Connector 29"/>
          <p:cNvCxnSpPr/>
          <p:nvPr/>
        </p:nvCxnSpPr>
        <p:spPr>
          <a:xfrm>
            <a:off x="11087100" y="5352542"/>
            <a:ext cx="381000" cy="0"/>
          </a:xfrm>
          <a:prstGeom prst="line">
            <a:avLst/>
          </a:prstGeom>
          <a:ln w="28575">
            <a:solidFill>
              <a:srgbClr val="124944"/>
            </a:solidFill>
            <a:tailEnd type="triangle" w="med" len="med"/>
          </a:ln>
        </p:spPr>
      </p:cxnSp>
      <p:sp>
        <p:nvSpPr>
          <p:cNvPr id="31" name="Rounded Rectangle 30"/>
          <p:cNvSpPr/>
          <p:nvPr/>
        </p:nvSpPr>
        <p:spPr>
          <a:xfrm>
            <a:off x="11513820" y="4643882"/>
            <a:ext cx="1600200" cy="1417320"/>
          </a:xfrm>
          <a:prstGeom prst="roundRect">
            <a:avLst>
              <a:gd name="adj" fmla="val 12903"/>
            </a:avLst>
          </a:prstGeom>
          <a:solidFill>
            <a:srgbClr val="12494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Change in model output</a:t>
            </a:r>
          </a:p>
        </p:txBody>
      </p:sp>
      <p:cxnSp>
        <p:nvCxnSpPr>
          <p:cNvPr id="32" name="Connector 31"/>
          <p:cNvCxnSpPr/>
          <p:nvPr/>
        </p:nvCxnSpPr>
        <p:spPr>
          <a:xfrm>
            <a:off x="13159740" y="5352542"/>
            <a:ext cx="381000" cy="0"/>
          </a:xfrm>
          <a:prstGeom prst="line">
            <a:avLst/>
          </a:prstGeom>
          <a:ln w="28575">
            <a:solidFill>
              <a:srgbClr val="124944"/>
            </a:solidFill>
            <a:tailEnd type="triangle" w="med" len="med"/>
          </a:ln>
        </p:spPr>
      </p:cxnSp>
      <p:sp>
        <p:nvSpPr>
          <p:cNvPr id="33" name="Rounded Rectangle 32"/>
          <p:cNvSpPr/>
          <p:nvPr/>
        </p:nvSpPr>
        <p:spPr>
          <a:xfrm>
            <a:off x="13586460" y="4643882"/>
            <a:ext cx="1600200" cy="1417320"/>
          </a:xfrm>
          <a:prstGeom prst="roundRect">
            <a:avLst>
              <a:gd name="adj" fmla="val 12903"/>
            </a:avLst>
          </a:prstGeom>
          <a:solidFill>
            <a:srgbClr val="111111"/>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Is it actionable?</a:t>
            </a:r>
          </a:p>
        </p:txBody>
      </p:sp>
      <p:cxnSp>
        <p:nvCxnSpPr>
          <p:cNvPr id="34" name="Connector 33"/>
          <p:cNvCxnSpPr/>
          <p:nvPr/>
        </p:nvCxnSpPr>
        <p:spPr>
          <a:xfrm>
            <a:off x="15232380" y="5352542"/>
            <a:ext cx="381000" cy="0"/>
          </a:xfrm>
          <a:prstGeom prst="line">
            <a:avLst/>
          </a:prstGeom>
          <a:ln w="28575">
            <a:solidFill>
              <a:srgbClr val="124944"/>
            </a:solidFill>
            <a:tailEnd type="triangle" w="med" len="med"/>
          </a:ln>
        </p:spPr>
      </p:cxnSp>
      <p:sp>
        <p:nvSpPr>
          <p:cNvPr id="35" name="Rounded Rectangle 34"/>
          <p:cNvSpPr/>
          <p:nvPr/>
        </p:nvSpPr>
        <p:spPr>
          <a:xfrm>
            <a:off x="15659100" y="4643882"/>
            <a:ext cx="1600200" cy="1417320"/>
          </a:xfrm>
          <a:prstGeom prst="roundRect">
            <a:avLst>
              <a:gd name="adj" fmla="val 12903"/>
            </a:avLst>
          </a:prstGeom>
          <a:solidFill>
            <a:srgbClr val="DF8330"/>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Action lever</a:t>
            </a:r>
          </a:p>
        </p:txBody>
      </p:sp>
      <p:cxnSp>
        <p:nvCxnSpPr>
          <p:cNvPr id="36" name="Connector 35"/>
          <p:cNvCxnSpPr/>
          <p:nvPr/>
        </p:nvCxnSpPr>
        <p:spPr>
          <a:xfrm>
            <a:off x="10241280" y="6106922"/>
            <a:ext cx="0" cy="365760"/>
          </a:xfrm>
          <a:prstGeom prst="line">
            <a:avLst/>
          </a:prstGeom>
          <a:ln w="28575">
            <a:solidFill>
              <a:srgbClr val="DF8330"/>
            </a:solidFill>
          </a:ln>
        </p:spPr>
      </p:cxnSp>
      <p:cxnSp>
        <p:nvCxnSpPr>
          <p:cNvPr id="37" name="Connector 36"/>
          <p:cNvCxnSpPr/>
          <p:nvPr/>
        </p:nvCxnSpPr>
        <p:spPr>
          <a:xfrm>
            <a:off x="10241280" y="6472682"/>
            <a:ext cx="6217920" cy="0"/>
          </a:xfrm>
          <a:prstGeom prst="line">
            <a:avLst/>
          </a:prstGeom>
          <a:ln w="28575">
            <a:solidFill>
              <a:srgbClr val="DF8330"/>
            </a:solidFill>
            <a:prstDash val="dash"/>
          </a:ln>
        </p:spPr>
      </p:cxnSp>
      <p:cxnSp>
        <p:nvCxnSpPr>
          <p:cNvPr id="38" name="Connector 37"/>
          <p:cNvCxnSpPr/>
          <p:nvPr/>
        </p:nvCxnSpPr>
        <p:spPr>
          <a:xfrm>
            <a:off x="16459200" y="6106922"/>
            <a:ext cx="0" cy="365760"/>
          </a:xfrm>
          <a:prstGeom prst="line">
            <a:avLst/>
          </a:prstGeom>
          <a:ln w="28575">
            <a:solidFill>
              <a:srgbClr val="DF8330"/>
            </a:solidFill>
          </a:ln>
        </p:spPr>
      </p:cxnSp>
      <p:sp>
        <p:nvSpPr>
          <p:cNvPr id="39" name="TextBox 38"/>
          <p:cNvSpPr txBox="1"/>
          <p:nvPr/>
        </p:nvSpPr>
        <p:spPr>
          <a:xfrm>
            <a:off x="9441180" y="6655562"/>
            <a:ext cx="7818120" cy="73152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DF8330"/>
                </a:solidFill>
                <a:latin typeface="Nunito Bold"/>
                <a:ea typeface="Nunito Bold"/>
                <a:cs typeface="Nunito Bold"/>
                <a:sym typeface="Nunito Bold"/>
              </a:rPr>
              <a:t>Actionable</a:t>
            </a:r>
            <a:r>
              <a:rPr lang="en-US" sz="1800" b="true">
                <a:solidFill>
                  <a:srgbClr val="DF8330"/>
                </a:solidFill>
                <a:latin typeface="Nunito Semi-Bold"/>
                <a:ea typeface="Nunito Semi-Bold"/>
                <a:cs typeface="Nunito Semi-Bold"/>
                <a:sym typeface="Nunito Semi-Bold"/>
              </a:rPr>
              <a:t> = a real-world lever you can pull to change the outcome</a:t>
            </a:r>
          </a:p>
        </p:txBody>
      </p:sp>
      <p:sp>
        <p:nvSpPr>
          <p:cNvPr id="40" name="Rounded Rectangle 39"/>
          <p:cNvSpPr/>
          <p:nvPr/>
        </p:nvSpPr>
        <p:spPr>
          <a:xfrm>
            <a:off x="9441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Wine</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density · pH · acidity</a:t>
            </a:r>
          </a:p>
        </p:txBody>
      </p:sp>
      <p:sp>
        <p:nvSpPr>
          <p:cNvPr id="41" name="Rounded Rectangle 40"/>
          <p:cNvSpPr/>
          <p:nvPr/>
        </p:nvSpPr>
        <p:spPr>
          <a:xfrm>
            <a:off x="12108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Air quality</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PM2.5 · CO · temperature</a:t>
            </a:r>
          </a:p>
        </p:txBody>
      </p:sp>
      <p:sp>
        <p:nvSpPr>
          <p:cNvPr id="42" name="Rounded Rectangle 41"/>
          <p:cNvSpPr/>
          <p:nvPr/>
        </p:nvSpPr>
        <p:spPr>
          <a:xfrm>
            <a:off x="14775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Recommendation</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preference · context · diversity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3" name="Picture 22" descr="image.png"/>
          <p:cNvPicPr>
            <a:picLocks noChangeAspect="1"/>
          </p:cNvPicPr>
          <p:nvPr/>
        </p:nvPicPr>
        <p:blipFill>
          <a:blip r:embed="rId3"/>
          <a:stretch>
            <a:fillRect/>
          </a:stretch>
        </p:blipFill>
        <p:spPr>
          <a:xfrm>
            <a:off x="5880294" y="1673352"/>
            <a:ext cx="457200" cy="452148"/>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7" name="TextBox 26"/>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DF8330"/>
                </a:solidFill>
                <a:latin typeface="Nunito Ultra-Bold"/>
                <a:ea typeface="Nunito Ultra-Bold"/>
                <a:cs typeface="Nunito Ultra-Bold"/>
                <a:sym typeface="Nunito Ultra-Bold"/>
              </a:rPr>
              <a:t>EVOLUTION OF RECOMMENDER SYSTEMS</a:t>
            </a:r>
          </a:p>
        </p:txBody>
      </p:sp>
      <p:sp>
        <p:nvSpPr>
          <p:cNvPr id="28" name="Rounded Rectangle 27"/>
          <p:cNvSpPr/>
          <p:nvPr/>
        </p:nvSpPr>
        <p:spPr>
          <a:xfrm>
            <a:off x="102870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29" name="Connector 28"/>
          <p:cNvCxnSpPr/>
          <p:nvPr/>
        </p:nvCxnSpPr>
        <p:spPr>
          <a:xfrm>
            <a:off x="3415284" y="4438142"/>
            <a:ext cx="1033272" cy="0"/>
          </a:xfrm>
          <a:prstGeom prst="line">
            <a:avLst/>
          </a:prstGeom>
          <a:ln w="28575">
            <a:solidFill>
              <a:srgbClr val="124944"/>
            </a:solidFill>
            <a:tailEnd type="triangle" w="med" len="med"/>
          </a:ln>
        </p:spPr>
      </p:cxnSp>
      <p:sp>
        <p:nvSpPr>
          <p:cNvPr id="30" name="Rounded Rectangle 29"/>
          <p:cNvSpPr/>
          <p:nvPr/>
        </p:nvSpPr>
        <p:spPr>
          <a:xfrm>
            <a:off x="450342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1" name="Connector 30"/>
          <p:cNvCxnSpPr/>
          <p:nvPr/>
        </p:nvCxnSpPr>
        <p:spPr>
          <a:xfrm>
            <a:off x="6890004" y="4438142"/>
            <a:ext cx="1033272" cy="0"/>
          </a:xfrm>
          <a:prstGeom prst="line">
            <a:avLst/>
          </a:prstGeom>
          <a:ln w="28575">
            <a:solidFill>
              <a:srgbClr val="124944"/>
            </a:solidFill>
            <a:tailEnd type="triangle" w="med" len="med"/>
          </a:ln>
        </p:spPr>
      </p:cxnSp>
      <p:sp>
        <p:nvSpPr>
          <p:cNvPr id="32" name="Rounded Rectangle 31"/>
          <p:cNvSpPr/>
          <p:nvPr/>
        </p:nvSpPr>
        <p:spPr>
          <a:xfrm>
            <a:off x="797814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3" name="Connector 32"/>
          <p:cNvCxnSpPr/>
          <p:nvPr/>
        </p:nvCxnSpPr>
        <p:spPr>
          <a:xfrm>
            <a:off x="10364724" y="4438142"/>
            <a:ext cx="1033272" cy="0"/>
          </a:xfrm>
          <a:prstGeom prst="line">
            <a:avLst/>
          </a:prstGeom>
          <a:ln w="28575">
            <a:solidFill>
              <a:srgbClr val="124944"/>
            </a:solidFill>
            <a:tailEnd type="triangle" w="med" len="med"/>
          </a:ln>
        </p:spPr>
      </p:cxnSp>
      <p:sp>
        <p:nvSpPr>
          <p:cNvPr id="34" name="Rounded Rectangle 33"/>
          <p:cNvSpPr/>
          <p:nvPr/>
        </p:nvSpPr>
        <p:spPr>
          <a:xfrm>
            <a:off x="1145286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5" name="Connector 34"/>
          <p:cNvCxnSpPr/>
          <p:nvPr/>
        </p:nvCxnSpPr>
        <p:spPr>
          <a:xfrm>
            <a:off x="13839444" y="4438142"/>
            <a:ext cx="1033272" cy="0"/>
          </a:xfrm>
          <a:prstGeom prst="line">
            <a:avLst/>
          </a:prstGeom>
          <a:ln w="28575">
            <a:solidFill>
              <a:srgbClr val="124944"/>
            </a:solidFill>
            <a:tailEnd type="triangle" w="med" len="med"/>
          </a:ln>
        </p:spPr>
      </p:cxnSp>
      <p:sp>
        <p:nvSpPr>
          <p:cNvPr id="36" name="Rounded Rectangle 35"/>
          <p:cNvSpPr/>
          <p:nvPr/>
        </p:nvSpPr>
        <p:spPr>
          <a:xfrm>
            <a:off x="14927580" y="3866642"/>
            <a:ext cx="2331720" cy="1143000"/>
          </a:xfrm>
          <a:prstGeom prst="roundRect">
            <a:avLst>
              <a:gd name="adj" fmla="val 16000"/>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7" name="Connector 36"/>
          <p:cNvCxnSpPr/>
          <p:nvPr/>
        </p:nvCxnSpPr>
        <p:spPr>
          <a:xfrm>
            <a:off x="1028700" y="5283962"/>
            <a:ext cx="16230600" cy="0"/>
          </a:xfrm>
          <a:prstGeom prst="line">
            <a:avLst/>
          </a:prstGeom>
          <a:ln w="50800">
            <a:solidFill>
              <a:srgbClr val="DF8330"/>
            </a:solidFill>
            <a:tailEnd type="triangle" w="med" len="med"/>
          </a:ln>
        </p:spPr>
      </p:cxnSp>
      <p:sp>
        <p:nvSpPr>
          <p:cNvPr id="38" name="TextBox 37"/>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DF8330"/>
                </a:solidFill>
                <a:latin typeface="Nunito Bold"/>
                <a:ea typeface="Nunito Bold"/>
                <a:cs typeface="Nunito Bold"/>
                <a:sym typeface="Nunito Bold"/>
              </a:rPr>
              <a:t>The interpretability gap grows:</a:t>
            </a:r>
            <a:r>
              <a:rPr lang="en-US" sz="1800" b="true">
                <a:solidFill>
                  <a:srgbClr val="DF8330"/>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39" name="Rounded Rectangle 38"/>
          <p:cNvSpPr/>
          <p:nvPr/>
        </p:nvSpPr>
        <p:spPr>
          <a:xfrm>
            <a:off x="1028700" y="6289802"/>
            <a:ext cx="7932420" cy="3110230"/>
          </a:xfrm>
          <a:prstGeom prst="roundRect">
            <a:avLst>
              <a:gd name="adj" fmla="val 9995"/>
            </a:avLst>
          </a:prstGeom>
          <a:solidFill>
            <a:srgbClr val="124944"/>
          </a:solidFill>
          <a:ln>
            <a:noFill/>
          </a:ln>
        </p:spPr>
        <p:txBody>
          <a:bodyPr anchor="ctr" rtlCol="false" lIns="0" tIns="0" rIns="0" bIns="0" wrap="square"/>
          <a:lstStyle/>
          <a:p>
            <a:endParaRPr lang="en-US" sz="1800"/>
          </a:p>
        </p:txBody>
      </p:sp>
      <p:sp>
        <p:nvSpPr>
          <p:cNvPr id="40" name="Rounded Rectangle 39"/>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Why the gap matters</a:t>
            </a:r>
          </a:p>
        </p:txBody>
      </p:sp>
      <p:sp>
        <p:nvSpPr>
          <p:cNvPr id="41" name="TextBox 40"/>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Weakens user trust:</a:t>
            </a:r>
            <a:r>
              <a:rPr lang="en-US" sz="1843" b="true">
                <a:solidFill>
                  <a:srgbClr val="FFFFFF"/>
                </a:solidFill>
                <a:latin typeface="Nunito Semi-Bold"/>
                <a:ea typeface="Nunito Semi-Bold"/>
                <a:cs typeface="Nunito Semi-Bold"/>
                <a:sym typeface="Nunito Semi-Bold"/>
              </a:rPr>
              <a:t> users see outputs without knowing why.</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Limits debugging</a:t>
            </a:r>
            <a:r>
              <a:rPr lang="en-US" sz="1843" b="true">
                <a:solidFill>
                  <a:srgbClr val="FFFFFF"/>
                </a:solidFill>
                <a:latin typeface="Nunito Semi-Bold"/>
                <a:ea typeface="Nunito Semi-Bold"/>
                <a:cs typeface="Nunito Semi-Bold"/>
                <a:sym typeface="Nunito Semi-Bold"/>
              </a:rPr>
              <a:t> and scientific learning.</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Conflicts with regulation:</a:t>
            </a:r>
            <a:r>
              <a:rPr lang="en-US" sz="1843" b="true">
                <a:solidFill>
                  <a:srgbClr val="FFFFFF"/>
                </a:solidFill>
                <a:latin typeface="Nunito Semi-Bold"/>
                <a:ea typeface="Nunito Semi-Bold"/>
                <a:cs typeface="Nunito Semi-Bold"/>
                <a:sym typeface="Nunito Semi-Bold"/>
              </a:rPr>
              <a:t> EU AI Act, OECD principles, GDPR.</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Semi-Bold"/>
                <a:ea typeface="Nunito Semi-Bold"/>
                <a:cs typeface="Nunito Semi-Bold"/>
                <a:sym typeface="Nunito Semi-Bold"/>
              </a:rPr>
              <a:t>EU AI Act (Art. 13): high-risk systems must provide explanations </a:t>
            </a:r>
            <a:r>
              <a:rPr lang="en-US" sz="1843" b="true">
                <a:solidFill>
                  <a:srgbClr val="FFFFFF"/>
                </a:solidFill>
                <a:latin typeface="Nunito Bold"/>
                <a:ea typeface="Nunito Bold"/>
                <a:cs typeface="Nunito Bold"/>
                <a:sym typeface="Nunito Bold"/>
              </a:rPr>
              <a:t>in human-understandable terms</a:t>
            </a:r>
            <a:r>
              <a:rPr lang="en-US" sz="1843" b="true">
                <a:solidFill>
                  <a:srgbClr val="FFFFFF"/>
                </a:solidFill>
                <a:latin typeface="Nunito Semi-Bold"/>
                <a:ea typeface="Nunito Semi-Bold"/>
                <a:cs typeface="Nunito Semi-Bold"/>
                <a:sym typeface="Nunito Semi-Bold"/>
              </a:rPr>
              <a:t>.</a:t>
            </a:r>
          </a:p>
        </p:txBody>
      </p:sp>
      <p:sp>
        <p:nvSpPr>
          <p:cNvPr id="42" name="Rounded Rectangle 41"/>
          <p:cNvSpPr/>
          <p:nvPr/>
        </p:nvSpPr>
        <p:spPr>
          <a:xfrm>
            <a:off x="9326880" y="628980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43" name="Rounded Rectangle 42"/>
          <p:cNvSpPr/>
          <p:nvPr/>
        </p:nvSpPr>
        <p:spPr>
          <a:xfrm>
            <a:off x="9784080" y="6052058"/>
            <a:ext cx="383778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4" name="TextBox 43"/>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Recommenders moved from similarity filters to </a:t>
            </a:r>
            <a:r>
              <a:rPr lang="en-US" sz="1786" b="true">
                <a:solidFill>
                  <a:srgbClr val="111111"/>
                </a:solidFill>
                <a:latin typeface="Nunito Bold"/>
                <a:ea typeface="Nunito Bold"/>
                <a:cs typeface="Nunito Bold"/>
                <a:sym typeface="Nunito Bold"/>
              </a:rPr>
              <a:t>representation learning on sparse, high-dimensional, changing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every message matters equally</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A well-founded attribution method is needed, and it should be </a:t>
            </a:r>
            <a:r>
              <a:rPr lang="en-US" sz="1786" b="true">
                <a:solidFill>
                  <a:srgbClr val="111111"/>
                </a:solidFill>
                <a:latin typeface="Nunito Bold"/>
                <a:ea typeface="Nunito Bold"/>
                <a:cs typeface="Nunito Bold"/>
                <a:sym typeface="Nunito Bold"/>
              </a:rPr>
              <a:t>part of the model itself</a:t>
            </a:r>
            <a:r>
              <a:rPr lang="en-US" sz="1786" b="true">
                <a:solidFill>
                  <a:srgbClr val="111111"/>
                </a:solidFill>
                <a:latin typeface="Nunito Semi-Bold"/>
                <a:ea typeface="Nunito Semi-Bold"/>
                <a:cs typeface="Nunito Semi-Bold"/>
                <a:sym typeface="Nunito Semi-Bold"/>
              </a:rPr>
              <a:t>, not an add-on.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3" name="Picture 22" descr="image.png"/>
          <p:cNvPicPr>
            <a:picLocks noChangeAspect="1"/>
          </p:cNvPicPr>
          <p:nvPr/>
        </p:nvPicPr>
        <p:blipFill>
          <a:blip r:embed="rId3"/>
          <a:stretch>
            <a:fillRect/>
          </a:stretch>
        </p:blipFill>
        <p:spPr>
          <a:xfrm>
            <a:off x="12921990" y="1673352"/>
            <a:ext cx="457200" cy="617115"/>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7" name="Rounded Rectangle 26"/>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28" name="Rounded Rectangle 27"/>
          <p:cNvSpPr/>
          <p:nvPr/>
        </p:nvSpPr>
        <p:spPr>
          <a:xfrm>
            <a:off x="148590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Netflix</a:t>
            </a:r>
          </a:p>
        </p:txBody>
      </p:sp>
      <p:sp>
        <p:nvSpPr>
          <p:cNvPr id="29" name="TextBox 28"/>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0" name="TextBox 29"/>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1" name="Rounded Rectangle 30"/>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2" name="Rounded Rectangle 31"/>
          <p:cNvSpPr/>
          <p:nvPr/>
        </p:nvSpPr>
        <p:spPr>
          <a:xfrm>
            <a:off x="562356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Spotify</a:t>
            </a:r>
          </a:p>
        </p:txBody>
      </p:sp>
      <p:sp>
        <p:nvSpPr>
          <p:cNvPr id="33" name="TextBox 32"/>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4" name="TextBox 33"/>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5" name="Rounded Rectangle 34"/>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6" name="Rounded Rectangle 35"/>
          <p:cNvSpPr/>
          <p:nvPr/>
        </p:nvSpPr>
        <p:spPr>
          <a:xfrm>
            <a:off x="976122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Yelp</a:t>
            </a:r>
          </a:p>
        </p:txBody>
      </p:sp>
      <p:sp>
        <p:nvSpPr>
          <p:cNvPr id="37" name="TextBox 36"/>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38" name="TextBox 37"/>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39" name="Rounded Rectangle 38"/>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40" name="Rounded Rectangle 39"/>
          <p:cNvSpPr/>
          <p:nvPr/>
        </p:nvSpPr>
        <p:spPr>
          <a:xfrm>
            <a:off x="1389888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Amazon</a:t>
            </a:r>
          </a:p>
        </p:txBody>
      </p:sp>
      <p:sp>
        <p:nvSpPr>
          <p:cNvPr id="41" name="TextBox 40"/>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2" name="TextBox 41"/>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3" name="Rounded Rectangle 42"/>
          <p:cNvSpPr/>
          <p:nvPr/>
        </p:nvSpPr>
        <p:spPr>
          <a:xfrm>
            <a:off x="1028700" y="8301482"/>
            <a:ext cx="16230600" cy="869950"/>
          </a:xfrm>
          <a:prstGeom prst="roundRect">
            <a:avLst>
              <a:gd name="adj" fmla="val 31532"/>
            </a:avLst>
          </a:prstGeom>
          <a:solidFill>
            <a:srgbClr val="F6ECDF"/>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3" name="Picture 22" descr="image.png"/>
          <p:cNvPicPr>
            <a:picLocks noChangeAspect="1"/>
          </p:cNvPicPr>
          <p:nvPr/>
        </p:nvPicPr>
        <p:blipFill>
          <a:blip r:embed="rId3"/>
          <a:stretch>
            <a:fillRect/>
          </a:stretch>
        </p:blipFill>
        <p:spPr>
          <a:xfrm>
            <a:off x="7401574" y="1673352"/>
            <a:ext cx="457200" cy="250983"/>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CONTENT-BASED FILTERING</a:t>
            </a:r>
          </a:p>
        </p:txBody>
      </p:sp>
      <p:sp>
        <p:nvSpPr>
          <p:cNvPr id="32" name="Rounded Rectangle 31"/>
          <p:cNvSpPr/>
          <p:nvPr/>
        </p:nvSpPr>
        <p:spPr>
          <a:xfrm>
            <a:off x="9258300" y="3958082"/>
            <a:ext cx="1572768" cy="1188720"/>
          </a:xfrm>
          <a:prstGeom prst="roundRect">
            <a:avLst>
              <a:gd name="adj" fmla="val 1538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User taste profile</a:t>
            </a:r>
          </a:p>
        </p:txBody>
      </p:sp>
      <p:cxnSp>
        <p:nvCxnSpPr>
          <p:cNvPr id="33" name="Connector 32"/>
          <p:cNvCxnSpPr/>
          <p:nvPr/>
        </p:nvCxnSpPr>
        <p:spPr>
          <a:xfrm>
            <a:off x="10876788" y="4552442"/>
            <a:ext cx="478536" cy="0"/>
          </a:xfrm>
          <a:prstGeom prst="line">
            <a:avLst/>
          </a:prstGeom>
          <a:ln w="28575">
            <a:solidFill>
              <a:srgbClr val="124944"/>
            </a:solidFill>
            <a:tailEnd type="triangle" w="med" len="med"/>
          </a:ln>
        </p:spPr>
      </p:cxnSp>
      <p:sp>
        <p:nvSpPr>
          <p:cNvPr id="34" name="Rounded Rectangle 33"/>
          <p:cNvSpPr/>
          <p:nvPr/>
        </p:nvSpPr>
        <p:spPr>
          <a:xfrm>
            <a:off x="11401044" y="3958082"/>
            <a:ext cx="1572768" cy="1188720"/>
          </a:xfrm>
          <a:prstGeom prst="roundRect">
            <a:avLst>
              <a:gd name="adj" fmla="val 1538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Item feature vectors</a:t>
            </a:r>
          </a:p>
        </p:txBody>
      </p:sp>
      <p:cxnSp>
        <p:nvCxnSpPr>
          <p:cNvPr id="35" name="Connector 34"/>
          <p:cNvCxnSpPr/>
          <p:nvPr/>
        </p:nvCxnSpPr>
        <p:spPr>
          <a:xfrm>
            <a:off x="13019532" y="4552442"/>
            <a:ext cx="478536" cy="0"/>
          </a:xfrm>
          <a:prstGeom prst="line">
            <a:avLst/>
          </a:prstGeom>
          <a:ln w="28575">
            <a:solidFill>
              <a:srgbClr val="124944"/>
            </a:solidFill>
            <a:tailEnd type="triangle" w="med" len="med"/>
          </a:ln>
        </p:spPr>
      </p:cxnSp>
      <p:sp>
        <p:nvSpPr>
          <p:cNvPr id="36" name="Rounded Rectangle 35"/>
          <p:cNvSpPr/>
          <p:nvPr/>
        </p:nvSpPr>
        <p:spPr>
          <a:xfrm>
            <a:off x="13543788" y="3958082"/>
            <a:ext cx="1572768" cy="1188720"/>
          </a:xfrm>
          <a:prstGeom prst="roundRect">
            <a:avLst>
              <a:gd name="adj" fmla="val 15384"/>
            </a:avLst>
          </a:prstGeom>
          <a:solidFill>
            <a:srgbClr val="111111"/>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Similarity score</a:t>
            </a:r>
          </a:p>
        </p:txBody>
      </p:sp>
      <p:cxnSp>
        <p:nvCxnSpPr>
          <p:cNvPr id="37" name="Connector 36"/>
          <p:cNvCxnSpPr/>
          <p:nvPr/>
        </p:nvCxnSpPr>
        <p:spPr>
          <a:xfrm>
            <a:off x="15162276" y="4552442"/>
            <a:ext cx="478536" cy="0"/>
          </a:xfrm>
          <a:prstGeom prst="line">
            <a:avLst/>
          </a:prstGeom>
          <a:ln w="28575">
            <a:solidFill>
              <a:srgbClr val="124944"/>
            </a:solidFill>
            <a:tailEnd type="triangle" w="med" len="med"/>
          </a:ln>
        </p:spPr>
      </p:cxnSp>
      <p:sp>
        <p:nvSpPr>
          <p:cNvPr id="38" name="Rounded Rectangle 37"/>
          <p:cNvSpPr/>
          <p:nvPr/>
        </p:nvSpPr>
        <p:spPr>
          <a:xfrm>
            <a:off x="15686532" y="3958082"/>
            <a:ext cx="1572768" cy="1188720"/>
          </a:xfrm>
          <a:prstGeom prst="roundRect">
            <a:avLst>
              <a:gd name="adj" fmla="val 15384"/>
            </a:avLst>
          </a:prstGeom>
          <a:solidFill>
            <a:srgbClr val="DF8330"/>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Top-N recommend</a:t>
            </a:r>
          </a:p>
        </p:txBody>
      </p:sp>
      <p:sp>
        <p:nvSpPr>
          <p:cNvPr id="39" name="TextBox 38"/>
          <p:cNvSpPr txBox="1"/>
          <p:nvPr/>
        </p:nvSpPr>
        <p:spPr>
          <a:xfrm>
            <a:off x="9258300" y="5512562"/>
            <a:ext cx="8001000" cy="45720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111111"/>
                </a:solidFill>
                <a:latin typeface="Nunito Bold"/>
                <a:ea typeface="Nunito Bold"/>
                <a:cs typeface="Nunito Bold"/>
                <a:sym typeface="Nunito Bold"/>
              </a:rPr>
              <a:t>Example:</a:t>
            </a:r>
            <a:r>
              <a:rPr lang="en-US" sz="1700" b="true">
                <a:solidFill>
                  <a:srgbClr val="111111"/>
                </a:solidFill>
                <a:latin typeface="Nunito Semi-Bold"/>
                <a:ea typeface="Nunito Semi-Bold"/>
                <a:cs typeface="Nunito Semi-Bold"/>
                <a:sym typeface="Nunito Semi-Bold"/>
              </a:rPr>
              <a:t> liked sci-fi + Nolan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suggest films with a similar genre, cast or keywords</a:t>
            </a:r>
          </a:p>
        </p:txBody>
      </p:sp>
      <p:sp>
        <p:nvSpPr>
          <p:cNvPr id="40" name="Rounded Rectangle 39"/>
          <p:cNvSpPr/>
          <p:nvPr/>
        </p:nvSpPr>
        <p:spPr>
          <a:xfrm>
            <a:off x="9258300" y="6198362"/>
            <a:ext cx="3863340" cy="1737360"/>
          </a:xfrm>
          <a:prstGeom prst="roundRect">
            <a:avLst>
              <a:gd name="adj" fmla="val 17894"/>
            </a:avLst>
          </a:prstGeom>
          <a:solidFill>
            <a:srgbClr val="F6ECDF"/>
          </a:solidFill>
          <a:ln>
            <a:noFill/>
          </a:ln>
        </p:spPr>
        <p:txBody>
          <a:bodyPr anchor="ctr" rtlCol="false" lIns="0" tIns="0" rIns="0" bIns="0" wrap="square"/>
          <a:lstStyle/>
          <a:p>
            <a:endParaRPr lang="en-US" sz="1800"/>
          </a:p>
        </p:txBody>
      </p:sp>
      <p:sp>
        <p:nvSpPr>
          <p:cNvPr id="41" name="Rounded Rectangle 40"/>
          <p:cNvSpPr/>
          <p:nvPr/>
        </p:nvSpPr>
        <p:spPr>
          <a:xfrm>
            <a:off x="9715500" y="5960618"/>
            <a:ext cx="2851659"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Candidate item features</a:t>
            </a:r>
          </a:p>
        </p:txBody>
      </p:sp>
      <p:sp>
        <p:nvSpPr>
          <p:cNvPr id="42" name="TextBox 41"/>
          <p:cNvSpPr txBox="1"/>
          <p:nvPr/>
        </p:nvSpPr>
        <p:spPr>
          <a:xfrm>
            <a:off x="9532620" y="6701282"/>
            <a:ext cx="3314700" cy="1051560"/>
          </a:xfrm>
          <a:prstGeom prst="rect">
            <a:avLst/>
          </a:prstGeom>
          <a:noFill/>
        </p:spPr>
        <p:txBody>
          <a:bodyPr anchor="t" rtlCol="false" lIns="0" tIns="0" rIns="0" bIns="0" wrap="square"/>
          <a:lstStyle/>
          <a:p>
            <a:pPr algn="l">
              <a:lnSpc>
                <a:spcPts val="2100"/>
              </a:lnSpc>
              <a:spcBef>
                <a:spcPts val="0"/>
              </a:spcBef>
              <a:buNone/>
            </a:pPr>
            <a:r>
              <a:rPr lang="en-US" sz="1500" b="true">
                <a:solidFill>
                  <a:srgbClr val="111111"/>
                </a:solidFill>
                <a:latin typeface="Nunito Semi-Bold"/>
                <a:ea typeface="Nunito Semi-Bold"/>
                <a:cs typeface="Nunito Semi-Bold"/>
                <a:sym typeface="Nunito Semi-Bold"/>
              </a:rPr>
              <a:t>genre = Sci-Fi · director = Nolan
cast = … · year = 2010 · rating = 8.6</a:t>
            </a:r>
          </a:p>
        </p:txBody>
      </p:sp>
      <p:sp>
        <p:nvSpPr>
          <p:cNvPr id="43" name="Rounded Rectangle 42"/>
          <p:cNvSpPr/>
          <p:nvPr/>
        </p:nvSpPr>
        <p:spPr>
          <a:xfrm>
            <a:off x="13395960" y="6198362"/>
            <a:ext cx="3863340" cy="1737360"/>
          </a:xfrm>
          <a:prstGeom prst="roundRect">
            <a:avLst>
              <a:gd name="adj" fmla="val 17894"/>
            </a:avLst>
          </a:prstGeom>
          <a:solidFill>
            <a:srgbClr val="F6ECDF"/>
          </a:solidFill>
          <a:ln>
            <a:noFill/>
          </a:ln>
        </p:spPr>
        <p:txBody>
          <a:bodyPr anchor="ctr" rtlCol="false" lIns="0" tIns="0" rIns="0" bIns="0" wrap="square"/>
          <a:lstStyle/>
          <a:p>
            <a:endParaRPr lang="en-US" sz="1800"/>
          </a:p>
        </p:txBody>
      </p:sp>
      <p:sp>
        <p:nvSpPr>
          <p:cNvPr id="44" name="Rounded Rectangle 43"/>
          <p:cNvSpPr/>
          <p:nvPr/>
        </p:nvSpPr>
        <p:spPr>
          <a:xfrm>
            <a:off x="13853160" y="5960618"/>
            <a:ext cx="244392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Why recommended</a:t>
            </a:r>
          </a:p>
        </p:txBody>
      </p:sp>
      <p:sp>
        <p:nvSpPr>
          <p:cNvPr id="45" name="TextBox 44"/>
          <p:cNvSpPr txBox="1"/>
          <p:nvPr/>
        </p:nvSpPr>
        <p:spPr>
          <a:xfrm>
            <a:off x="13670280" y="6701282"/>
            <a:ext cx="3314700" cy="1051560"/>
          </a:xfrm>
          <a:prstGeom prst="rect">
            <a:avLst/>
          </a:prstGeom>
          <a:noFill/>
        </p:spPr>
        <p:txBody>
          <a:bodyPr anchor="t" rtlCol="false" lIns="0" tIns="0" rIns="0" bIns="0" wrap="square"/>
          <a:lstStyle/>
          <a:p>
            <a:pPr algn="l">
              <a:lnSpc>
                <a:spcPts val="2100"/>
              </a:lnSpc>
              <a:spcBef>
                <a:spcPts val="0"/>
              </a:spcBef>
              <a:buNone/>
            </a:pPr>
            <a:r>
              <a:rPr lang="en-US" sz="1500" b="true">
                <a:solidFill>
                  <a:srgbClr val="111111"/>
                </a:solidFill>
                <a:latin typeface="Nunito Semi-Bold"/>
                <a:ea typeface="Nunito Semi-Bold"/>
                <a:cs typeface="Nunito Semi-Bold"/>
                <a:sym typeface="Nunito Semi-Bold"/>
              </a:rPr>
              <a:t>high cosine similarity to your profile
</a:t>
            </a:r>
            <a:r>
              <a:rPr lang="en-US" sz="1500" b="true">
                <a:solidFill>
                  <a:srgbClr val="111111"/>
                </a:solidFill>
                <a:latin typeface="Nunito Bold"/>
                <a:ea typeface="Nunito Bold"/>
                <a:cs typeface="Nunito Bold"/>
                <a:sym typeface="Nunito Bold"/>
              </a:rPr>
              <a:t>sim = cos(f</a:t>
            </a:r>
            <a:r>
              <a:rPr lang="en-US" sz="1500" b="true" baseline="-25000">
                <a:solidFill>
                  <a:srgbClr val="111111"/>
                </a:solidFill>
                <a:latin typeface="Nunito Bold"/>
                <a:ea typeface="Nunito Bold"/>
                <a:cs typeface="Nunito Bold"/>
                <a:sym typeface="Nunito Bold"/>
              </a:rPr>
              <a:t>user</a:t>
            </a:r>
            <a:r>
              <a:rPr lang="en-US" sz="1500" b="true">
                <a:solidFill>
                  <a:srgbClr val="111111"/>
                </a:solidFill>
                <a:latin typeface="Nunito Bold"/>
                <a:ea typeface="Nunito Bold"/>
                <a:cs typeface="Nunito Bold"/>
                <a:sym typeface="Nunito Bold"/>
              </a:rPr>
              <a:t>, f</a:t>
            </a:r>
            <a:r>
              <a:rPr lang="en-US" sz="1500" b="true" baseline="-25000">
                <a:solidFill>
                  <a:srgbClr val="111111"/>
                </a:solidFill>
                <a:latin typeface="Nunito Bold"/>
                <a:ea typeface="Nunito Bold"/>
                <a:cs typeface="Nunito Bold"/>
                <a:sym typeface="Nunito Bold"/>
              </a:rPr>
              <a:t>item</a:t>
            </a:r>
            <a:r>
              <a:rPr lang="en-US" sz="1500" b="true">
                <a:solidFill>
                  <a:srgbClr val="111111"/>
                </a:solidFill>
                <a:latin typeface="Nunito Bold"/>
                <a:ea typeface="Nunito Bold"/>
                <a:cs typeface="Nunito Bold"/>
                <a:sym typeface="Nunito Bold"/>
              </a:rPr>
              <a:t>)</a:t>
            </a:r>
          </a:p>
        </p:txBody>
      </p:sp>
      <p:sp>
        <p:nvSpPr>
          <p:cNvPr id="46" name="Rounded Rectangle 45"/>
          <p:cNvSpPr/>
          <p:nvPr/>
        </p:nvSpPr>
        <p:spPr>
          <a:xfrm>
            <a:off x="9258300" y="8210042"/>
            <a:ext cx="8001000" cy="1007110"/>
          </a:xfrm>
          <a:prstGeom prst="roundRect">
            <a:avLst>
              <a:gd name="adj" fmla="val 22698"/>
            </a:avLst>
          </a:prstGeom>
          <a:solidFill>
            <a:srgbClr val="124944"/>
          </a:solidFill>
          <a:ln>
            <a:noFill/>
          </a:ln>
        </p:spPr>
        <p:txBody>
          <a:bodyPr anchor="ctr" rtlCol="false" lIns="320040" tIns="91440" rIns="320040" bIns="91440" wrap="square"/>
          <a:lstStyle/>
          <a:p>
            <a:pPr algn="ctr">
              <a:lnSpc>
                <a:spcPts val="2100"/>
              </a:lnSpc>
              <a:spcBef>
                <a:spcPts val="0"/>
              </a:spcBef>
              <a:buNone/>
            </a:pPr>
            <a:r>
              <a:rPr lang="en-US" sz="1600" b="true">
                <a:solidFill>
                  <a:srgbClr val="FFFFFF"/>
                </a:solidFill>
                <a:latin typeface="Nunito Semi-Bold"/>
                <a:ea typeface="Nunito Semi-Bold"/>
                <a:cs typeface="Nunito Semi-Bold"/>
                <a:sym typeface="Nunito Semi-Bold"/>
              </a:rPr>
              <a:t>Explainable because the factors are </a:t>
            </a:r>
            <a:r>
              <a:rPr lang="en-US" sz="1600" b="true">
                <a:solidFill>
                  <a:srgbClr val="FFFFFF"/>
                </a:solidFill>
                <a:latin typeface="Nunito Bold"/>
                <a:ea typeface="Nunito Bold"/>
                <a:cs typeface="Nunito Bold"/>
                <a:sym typeface="Nunito Bold"/>
              </a:rPr>
              <a:t>domain-level and can be changed</a:t>
            </a:r>
            <a:r>
              <a:rPr lang="en-US" sz="1600" b="true">
                <a:solidFill>
                  <a:srgbClr val="FFFFFF"/>
                </a:solidFill>
                <a:latin typeface="Nunito Semi-Bold"/>
                <a:ea typeface="Nunito Semi-Bold"/>
                <a:cs typeface="Nunito Semi-Bold"/>
                <a:sym typeface="Nunito Semi-Bold"/>
              </a:rPr>
              <a:t>: exactly what is lost when latent factors and message passing take over.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3" name="Picture 22" descr="image.png"/>
          <p:cNvPicPr>
            <a:picLocks noChangeAspect="1"/>
          </p:cNvPicPr>
          <p:nvPr/>
        </p:nvPicPr>
        <p:blipFill>
          <a:blip r:embed="rId3"/>
          <a:stretch>
            <a:fillRect/>
          </a:stretch>
        </p:blipFill>
        <p:spPr>
          <a:xfrm>
            <a:off x="7040539" y="1673352"/>
            <a:ext cx="457200" cy="539881"/>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USER-BASED  ·  ITEM-BASED</a:t>
            </a:r>
          </a:p>
        </p:txBody>
      </p:sp>
      <p:sp>
        <p:nvSpPr>
          <p:cNvPr id="32" name="Oval 31"/>
          <p:cNvSpPr/>
          <p:nvPr/>
        </p:nvSpPr>
        <p:spPr>
          <a:xfrm>
            <a:off x="10081260" y="4278122"/>
            <a:ext cx="685800" cy="685800"/>
          </a:xfrm>
          <a:prstGeom prst="ellipse">
            <a:avLst/>
          </a:prstGeom>
          <a:solidFill>
            <a:srgbClr val="12494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u1</a:t>
            </a:r>
          </a:p>
        </p:txBody>
      </p:sp>
      <p:sp>
        <p:nvSpPr>
          <p:cNvPr id="33" name="Oval 32"/>
          <p:cNvSpPr/>
          <p:nvPr/>
        </p:nvSpPr>
        <p:spPr>
          <a:xfrm>
            <a:off x="10081260" y="5329682"/>
            <a:ext cx="685800" cy="685800"/>
          </a:xfrm>
          <a:prstGeom prst="ellipse">
            <a:avLst/>
          </a:prstGeom>
          <a:solidFill>
            <a:srgbClr val="12494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u2</a:t>
            </a:r>
          </a:p>
        </p:txBody>
      </p:sp>
      <p:sp>
        <p:nvSpPr>
          <p:cNvPr id="34" name="Oval 33"/>
          <p:cNvSpPr/>
          <p:nvPr/>
        </p:nvSpPr>
        <p:spPr>
          <a:xfrm>
            <a:off x="10081260" y="6381242"/>
            <a:ext cx="685800" cy="685800"/>
          </a:xfrm>
          <a:prstGeom prst="ellipse">
            <a:avLst/>
          </a:prstGeom>
          <a:solidFill>
            <a:srgbClr val="12494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u3</a:t>
            </a:r>
          </a:p>
        </p:txBody>
      </p:sp>
      <p:sp>
        <p:nvSpPr>
          <p:cNvPr id="35" name="Rounded Rectangle 34"/>
          <p:cNvSpPr/>
          <p:nvPr/>
        </p:nvSpPr>
        <p:spPr>
          <a:xfrm>
            <a:off x="16162020" y="400380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36" name="TextBox 35"/>
          <p:cNvSpPr txBox="1"/>
          <p:nvPr/>
        </p:nvSpPr>
        <p:spPr>
          <a:xfrm>
            <a:off x="16162020" y="400380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i1</a:t>
            </a:r>
          </a:p>
        </p:txBody>
      </p:sp>
      <p:sp>
        <p:nvSpPr>
          <p:cNvPr id="37" name="Rounded Rectangle 36"/>
          <p:cNvSpPr/>
          <p:nvPr/>
        </p:nvSpPr>
        <p:spPr>
          <a:xfrm>
            <a:off x="16162020" y="482676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38" name="TextBox 37"/>
          <p:cNvSpPr txBox="1"/>
          <p:nvPr/>
        </p:nvSpPr>
        <p:spPr>
          <a:xfrm>
            <a:off x="16162020" y="482676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i2</a:t>
            </a:r>
          </a:p>
        </p:txBody>
      </p:sp>
      <p:sp>
        <p:nvSpPr>
          <p:cNvPr id="39" name="Rounded Rectangle 38"/>
          <p:cNvSpPr/>
          <p:nvPr/>
        </p:nvSpPr>
        <p:spPr>
          <a:xfrm>
            <a:off x="16162020" y="564972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40" name="TextBox 39"/>
          <p:cNvSpPr txBox="1"/>
          <p:nvPr/>
        </p:nvSpPr>
        <p:spPr>
          <a:xfrm>
            <a:off x="16162020" y="564972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i3</a:t>
            </a:r>
          </a:p>
        </p:txBody>
      </p:sp>
      <p:sp>
        <p:nvSpPr>
          <p:cNvPr id="41" name="Rounded Rectangle 40"/>
          <p:cNvSpPr/>
          <p:nvPr/>
        </p:nvSpPr>
        <p:spPr>
          <a:xfrm>
            <a:off x="16162020" y="647268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42" name="TextBox 41"/>
          <p:cNvSpPr txBox="1"/>
          <p:nvPr/>
        </p:nvSpPr>
        <p:spPr>
          <a:xfrm>
            <a:off x="16162020" y="647268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i4</a:t>
            </a:r>
          </a:p>
        </p:txBody>
      </p:sp>
      <p:cxnSp>
        <p:nvCxnSpPr>
          <p:cNvPr id="43" name="Connector 42"/>
          <p:cNvCxnSpPr/>
          <p:nvPr/>
        </p:nvCxnSpPr>
        <p:spPr>
          <a:xfrm flipV="1">
            <a:off x="10767060" y="4323842"/>
            <a:ext cx="5394960" cy="297180"/>
          </a:xfrm>
          <a:prstGeom prst="line">
            <a:avLst/>
          </a:prstGeom>
          <a:ln w="22225">
            <a:solidFill>
              <a:srgbClr val="124944"/>
            </a:solidFill>
          </a:ln>
        </p:spPr>
      </p:cxnSp>
      <p:cxnSp>
        <p:nvCxnSpPr>
          <p:cNvPr id="44" name="Connector 43"/>
          <p:cNvCxnSpPr/>
          <p:nvPr/>
        </p:nvCxnSpPr>
        <p:spPr>
          <a:xfrm>
            <a:off x="10767060" y="4621022"/>
            <a:ext cx="5394960" cy="525780"/>
          </a:xfrm>
          <a:prstGeom prst="line">
            <a:avLst/>
          </a:prstGeom>
          <a:ln w="22225">
            <a:solidFill>
              <a:srgbClr val="124944"/>
            </a:solidFill>
          </a:ln>
        </p:spPr>
      </p:cxnSp>
      <p:cxnSp>
        <p:nvCxnSpPr>
          <p:cNvPr id="45" name="Connector 44"/>
          <p:cNvCxnSpPr/>
          <p:nvPr/>
        </p:nvCxnSpPr>
        <p:spPr>
          <a:xfrm flipV="1">
            <a:off x="10767060" y="4323842"/>
            <a:ext cx="5394960" cy="1348740"/>
          </a:xfrm>
          <a:prstGeom prst="line">
            <a:avLst/>
          </a:prstGeom>
          <a:ln w="22225">
            <a:solidFill>
              <a:srgbClr val="124944"/>
            </a:solidFill>
          </a:ln>
        </p:spPr>
      </p:cxnSp>
      <p:cxnSp>
        <p:nvCxnSpPr>
          <p:cNvPr id="46" name="Connector 45"/>
          <p:cNvCxnSpPr/>
          <p:nvPr/>
        </p:nvCxnSpPr>
        <p:spPr>
          <a:xfrm flipV="1">
            <a:off x="10767060" y="5146802"/>
            <a:ext cx="5394960" cy="525780"/>
          </a:xfrm>
          <a:prstGeom prst="line">
            <a:avLst/>
          </a:prstGeom>
          <a:ln w="22225">
            <a:solidFill>
              <a:srgbClr val="124944"/>
            </a:solidFill>
          </a:ln>
        </p:spPr>
      </p:cxnSp>
      <p:cxnSp>
        <p:nvCxnSpPr>
          <p:cNvPr id="47" name="Connector 46"/>
          <p:cNvCxnSpPr/>
          <p:nvPr/>
        </p:nvCxnSpPr>
        <p:spPr>
          <a:xfrm>
            <a:off x="10767060" y="5672582"/>
            <a:ext cx="5394960" cy="297180"/>
          </a:xfrm>
          <a:prstGeom prst="line">
            <a:avLst/>
          </a:prstGeom>
          <a:ln w="22225">
            <a:solidFill>
              <a:srgbClr val="124944"/>
            </a:solidFill>
          </a:ln>
        </p:spPr>
      </p:cxnSp>
      <p:cxnSp>
        <p:nvCxnSpPr>
          <p:cNvPr id="48" name="Connector 47"/>
          <p:cNvCxnSpPr/>
          <p:nvPr/>
        </p:nvCxnSpPr>
        <p:spPr>
          <a:xfrm flipV="1">
            <a:off x="10767060" y="5969762"/>
            <a:ext cx="5394960" cy="754380"/>
          </a:xfrm>
          <a:prstGeom prst="line">
            <a:avLst/>
          </a:prstGeom>
          <a:ln w="22225">
            <a:solidFill>
              <a:srgbClr val="124944"/>
            </a:solidFill>
          </a:ln>
        </p:spPr>
      </p:cxnSp>
      <p:cxnSp>
        <p:nvCxnSpPr>
          <p:cNvPr id="49" name="Connector 48"/>
          <p:cNvCxnSpPr/>
          <p:nvPr/>
        </p:nvCxnSpPr>
        <p:spPr>
          <a:xfrm>
            <a:off x="10767060" y="6724142"/>
            <a:ext cx="5394960" cy="68580"/>
          </a:xfrm>
          <a:prstGeom prst="line">
            <a:avLst/>
          </a:prstGeom>
          <a:ln w="22225">
            <a:solidFill>
              <a:srgbClr val="124944"/>
            </a:solidFill>
          </a:ln>
        </p:spPr>
      </p:cxnSp>
      <p:cxnSp>
        <p:nvCxnSpPr>
          <p:cNvPr id="50" name="Connector 49"/>
          <p:cNvCxnSpPr/>
          <p:nvPr/>
        </p:nvCxnSpPr>
        <p:spPr>
          <a:xfrm>
            <a:off x="10767060" y="4621022"/>
            <a:ext cx="5394960" cy="1348740"/>
          </a:xfrm>
          <a:prstGeom prst="line">
            <a:avLst/>
          </a:prstGeom>
          <a:ln w="31750">
            <a:solidFill>
              <a:srgbClr val="DF8330"/>
            </a:solidFill>
            <a:prstDash val="dash"/>
          </a:ln>
        </p:spPr>
      </p:cxnSp>
      <p:sp>
        <p:nvSpPr>
          <p:cNvPr id="51" name="TextBox 50"/>
          <p:cNvSpPr txBox="1"/>
          <p:nvPr/>
        </p:nvSpPr>
        <p:spPr>
          <a:xfrm>
            <a:off x="9258300" y="7432802"/>
            <a:ext cx="8001000" cy="41148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Semi-Bold"/>
                <a:ea typeface="Nunito Semi-Bold"/>
                <a:cs typeface="Nunito Semi-Bold"/>
                <a:sym typeface="Nunito Semi-Bold"/>
              </a:rPr>
              <a:t>u1 behaves like u2  </a:t>
            </a:r>
            <a:r>
              <a:rPr lang="en-US" sz="1600" b="true">
                <a:solidFill>
                  <a:srgbClr val="111111"/>
                </a:solidFill>
                <a:latin typeface="Calibri"/>
                <a:ea typeface="Calibri"/>
                <a:cs typeface="Calibri"/>
                <a:sym typeface="Calibri"/>
              </a:rPr>
              <a:t>→  </a:t>
            </a:r>
            <a:r>
              <a:rPr lang="en-US" sz="1600" b="true">
                <a:solidFill>
                  <a:srgbClr val="111111"/>
                </a:solidFill>
                <a:latin typeface="Nunito Bold"/>
                <a:ea typeface="Nunito Bold"/>
                <a:cs typeface="Nunito Bold"/>
                <a:sym typeface="Nunito Bold"/>
              </a:rPr>
              <a:t>recommend i3 to u1</a:t>
            </a:r>
            <a:r>
              <a:rPr lang="en-US" sz="1600" b="true">
                <a:solidFill>
                  <a:srgbClr val="111111"/>
                </a:solidFill>
                <a:latin typeface="Nunito Semi-Bold"/>
                <a:ea typeface="Nunito Semi-Bold"/>
                <a:cs typeface="Nunito Semi-Bold"/>
                <a:sym typeface="Nunito Semi-Bold"/>
              </a:rPr>
              <a:t> (dashed)</a:t>
            </a:r>
          </a:p>
        </p:txBody>
      </p:sp>
      <p:sp>
        <p:nvSpPr>
          <p:cNvPr id="52" name="Rounded Rectangle 51"/>
          <p:cNvSpPr/>
          <p:nvPr/>
        </p:nvSpPr>
        <p:spPr>
          <a:xfrm>
            <a:off x="9258300" y="8164322"/>
            <a:ext cx="3863340" cy="1052830"/>
          </a:xfrm>
          <a:prstGeom prst="roundRect">
            <a:avLst>
              <a:gd name="adj" fmla="val 29529"/>
            </a:avLst>
          </a:prstGeom>
          <a:solidFill>
            <a:srgbClr val="F6ECDF"/>
          </a:solidFill>
          <a:ln>
            <a:noFill/>
          </a:ln>
        </p:spPr>
        <p:txBody>
          <a:bodyPr anchor="ctr" rtlCol="false" lIns="0" tIns="0" rIns="0" bIns="0" wrap="square"/>
          <a:lstStyle/>
          <a:p>
            <a:endParaRPr lang="en-US" sz="1800"/>
          </a:p>
        </p:txBody>
      </p:sp>
      <p:sp>
        <p:nvSpPr>
          <p:cNvPr id="53" name="Rounded Rectangle 52"/>
          <p:cNvSpPr/>
          <p:nvPr/>
        </p:nvSpPr>
        <p:spPr>
          <a:xfrm>
            <a:off x="9715500" y="7926578"/>
            <a:ext cx="1641980"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User-based</a:t>
            </a:r>
          </a:p>
        </p:txBody>
      </p:sp>
      <p:sp>
        <p:nvSpPr>
          <p:cNvPr id="54" name="TextBox 53"/>
          <p:cNvSpPr txBox="1"/>
          <p:nvPr/>
        </p:nvSpPr>
        <p:spPr>
          <a:xfrm>
            <a:off x="9486900" y="8621522"/>
            <a:ext cx="3406140" cy="458470"/>
          </a:xfrm>
          <a:prstGeom prst="rect">
            <a:avLst/>
          </a:prstGeom>
          <a:noFill/>
        </p:spPr>
        <p:txBody>
          <a:bodyPr anchor="t"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similar users </a:t>
            </a:r>
            <a:r>
              <a:rPr lang="en-US" sz="1400" b="true">
                <a:solidFill>
                  <a:srgbClr val="111111"/>
                </a:solidFill>
                <a:latin typeface="Calibri"/>
                <a:ea typeface="Calibri"/>
                <a:cs typeface="Calibri"/>
                <a:sym typeface="Calibri"/>
              </a:rPr>
              <a:t>→ </a:t>
            </a:r>
            <a:r>
              <a:rPr lang="en-US" sz="1400" b="true">
                <a:solidFill>
                  <a:srgbClr val="111111"/>
                </a:solidFill>
                <a:latin typeface="Nunito Semi-Bold"/>
                <a:ea typeface="Nunito Semi-Bold"/>
                <a:cs typeface="Nunito Semi-Bold"/>
                <a:sym typeface="Nunito Semi-Bold"/>
              </a:rPr>
              <a:t>their liked items</a:t>
            </a:r>
          </a:p>
        </p:txBody>
      </p:sp>
      <p:sp>
        <p:nvSpPr>
          <p:cNvPr id="55" name="Rounded Rectangle 54"/>
          <p:cNvSpPr/>
          <p:nvPr/>
        </p:nvSpPr>
        <p:spPr>
          <a:xfrm>
            <a:off x="13395960" y="8164322"/>
            <a:ext cx="3863340" cy="1052830"/>
          </a:xfrm>
          <a:prstGeom prst="roundRect">
            <a:avLst>
              <a:gd name="adj" fmla="val 29529"/>
            </a:avLst>
          </a:prstGeom>
          <a:solidFill>
            <a:srgbClr val="F6ECDF"/>
          </a:solidFill>
          <a:ln>
            <a:noFill/>
          </a:ln>
        </p:spPr>
        <p:txBody>
          <a:bodyPr anchor="ctr" rtlCol="false" lIns="0" tIns="0" rIns="0" bIns="0" wrap="square"/>
          <a:lstStyle/>
          <a:p>
            <a:endParaRPr lang="en-US" sz="1800"/>
          </a:p>
        </p:txBody>
      </p:sp>
      <p:sp>
        <p:nvSpPr>
          <p:cNvPr id="56" name="Rounded Rectangle 55"/>
          <p:cNvSpPr/>
          <p:nvPr/>
        </p:nvSpPr>
        <p:spPr>
          <a:xfrm>
            <a:off x="13853160" y="7926578"/>
            <a:ext cx="162824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Item-based</a:t>
            </a:r>
          </a:p>
        </p:txBody>
      </p:sp>
      <p:sp>
        <p:nvSpPr>
          <p:cNvPr id="57" name="TextBox 56"/>
          <p:cNvSpPr txBox="1"/>
          <p:nvPr/>
        </p:nvSpPr>
        <p:spPr>
          <a:xfrm>
            <a:off x="13624560" y="8621522"/>
            <a:ext cx="3406140" cy="458470"/>
          </a:xfrm>
          <a:prstGeom prst="rect">
            <a:avLst/>
          </a:prstGeom>
          <a:noFill/>
        </p:spPr>
        <p:txBody>
          <a:bodyPr anchor="t"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items co-liked with the user's items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3" name="Picture 22" descr="image.png"/>
          <p:cNvPicPr>
            <a:picLocks noChangeAspect="1"/>
          </p:cNvPicPr>
          <p:nvPr/>
        </p:nvPicPr>
        <p:blipFill>
          <a:blip r:embed="rId3"/>
          <a:stretch>
            <a:fillRect/>
          </a:stretch>
        </p:blipFill>
        <p:spPr>
          <a:xfrm>
            <a:off x="12801265" y="1673352"/>
            <a:ext cx="457200" cy="373212"/>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HYBRID  ·  MATRIX FACTORISATION</a:t>
            </a:r>
          </a:p>
        </p:txBody>
      </p:sp>
      <p:sp>
        <p:nvSpPr>
          <p:cNvPr id="32" name="Rounded Rectangle 31"/>
          <p:cNvSpPr/>
          <p:nvPr/>
        </p:nvSpPr>
        <p:spPr>
          <a:xfrm>
            <a:off x="9258300" y="3958082"/>
            <a:ext cx="3863340" cy="914400"/>
          </a:xfrm>
          <a:prstGeom prst="roundRect">
            <a:avLst>
              <a:gd name="adj" fmla="val 22000"/>
            </a:avLst>
          </a:prstGeom>
          <a:solidFill>
            <a:srgbClr val="12494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Content signals</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features · metadata</a:t>
            </a:r>
          </a:p>
        </p:txBody>
      </p:sp>
      <p:sp>
        <p:nvSpPr>
          <p:cNvPr id="33" name="Rounded Rectangle 32"/>
          <p:cNvSpPr/>
          <p:nvPr/>
        </p:nvSpPr>
        <p:spPr>
          <a:xfrm>
            <a:off x="13395960" y="3958082"/>
            <a:ext cx="3863340" cy="914400"/>
          </a:xfrm>
          <a:prstGeom prst="roundRect">
            <a:avLst>
              <a:gd name="adj" fmla="val 22000"/>
            </a:avLst>
          </a:prstGeom>
          <a:solidFill>
            <a:srgbClr val="1E5F58"/>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Collaborative signals</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ratings · clicks</a:t>
            </a:r>
          </a:p>
        </p:txBody>
      </p:sp>
      <p:cxnSp>
        <p:nvCxnSpPr>
          <p:cNvPr id="34" name="Connector 33"/>
          <p:cNvCxnSpPr/>
          <p:nvPr/>
        </p:nvCxnSpPr>
        <p:spPr>
          <a:xfrm>
            <a:off x="11189970" y="4872482"/>
            <a:ext cx="1794510" cy="411480"/>
          </a:xfrm>
          <a:prstGeom prst="line">
            <a:avLst/>
          </a:prstGeom>
          <a:ln w="31750">
            <a:solidFill>
              <a:srgbClr val="124944"/>
            </a:solidFill>
            <a:tailEnd type="triangle" w="med" len="med"/>
          </a:ln>
        </p:spPr>
      </p:cxnSp>
      <p:cxnSp>
        <p:nvCxnSpPr>
          <p:cNvPr id="35" name="Connector 34"/>
          <p:cNvCxnSpPr/>
          <p:nvPr/>
        </p:nvCxnSpPr>
        <p:spPr>
          <a:xfrm flipH="1">
            <a:off x="13533120" y="4872482"/>
            <a:ext cx="1794510" cy="411480"/>
          </a:xfrm>
          <a:prstGeom prst="line">
            <a:avLst/>
          </a:prstGeom>
          <a:ln w="31750">
            <a:solidFill>
              <a:srgbClr val="124944"/>
            </a:solidFill>
            <a:tailEnd type="triangle" w="med" len="med"/>
          </a:ln>
        </p:spPr>
      </p:cxnSp>
      <p:sp>
        <p:nvSpPr>
          <p:cNvPr id="36" name="Rounded Rectangle 35"/>
          <p:cNvSpPr/>
          <p:nvPr/>
        </p:nvSpPr>
        <p:spPr>
          <a:xfrm>
            <a:off x="11430000" y="5283962"/>
            <a:ext cx="3657600" cy="868680"/>
          </a:xfrm>
          <a:prstGeom prst="roundRect">
            <a:avLst>
              <a:gd name="adj" fmla="val 23157"/>
            </a:avLst>
          </a:prstGeom>
          <a:solidFill>
            <a:srgbClr val="DF8330"/>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Hybrid recommender</a:t>
            </a:r>
          </a:p>
        </p:txBody>
      </p:sp>
      <p:sp>
        <p:nvSpPr>
          <p:cNvPr id="37" name="TextBox 36"/>
          <p:cNvSpPr txBox="1"/>
          <p:nvPr/>
        </p:nvSpPr>
        <p:spPr>
          <a:xfrm>
            <a:off x="9258300" y="6609842"/>
            <a:ext cx="8001000" cy="365760"/>
          </a:xfrm>
          <a:prstGeom prst="rect">
            <a:avLst/>
          </a:prstGeom>
          <a:noFill/>
        </p:spPr>
        <p:txBody>
          <a:bodyPr anchor="t" rtlCol="false" lIns="0" tIns="0" rIns="0" bIns="0" wrap="square"/>
          <a:lstStyle/>
          <a:p>
            <a:pPr algn="ctr">
              <a:lnSpc>
                <a:spcPts val="1600"/>
              </a:lnSpc>
              <a:spcBef>
                <a:spcPts val="0"/>
              </a:spcBef>
              <a:buNone/>
            </a:pPr>
            <a:r>
              <a:rPr lang="en-US" sz="1300" b="true" spc="140">
                <a:solidFill>
                  <a:srgbClr val="124944"/>
                </a:solidFill>
                <a:latin typeface="Nunito Ultra-Bold"/>
                <a:ea typeface="Nunito Ultra-Bold"/>
                <a:cs typeface="Nunito Ultra-Bold"/>
                <a:sym typeface="Nunito Ultra-Bold"/>
              </a:rPr>
              <a:t>MATRIX FACTORISATION</a:t>
            </a:r>
          </a:p>
        </p:txBody>
      </p:sp>
      <mc:AlternateContent xmlns:mc="http://schemas.openxmlformats.org/markup-compatibility/2006">
        <mc:Choice xmlns:a14="http://schemas.microsoft.com/office/drawing/2010/main" Requires="a14">
          <p:sp>
            <p:nvSpPr>
              <p:cNvPr id="38" name="Equation"/>
              <p:cNvSpPr txBox="1"/>
              <p:nvPr/>
            </p:nvSpPr>
            <p:spPr>
              <a:xfrm>
                <a:off x="9258300" y="6975602"/>
                <a:ext cx="8001000" cy="8229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R</m:t>
                          </m:r>
                        </m:e>
                        <m:sub>
                          <m:r>
                            <a:rPr lang="en-US" sz="2200" i="1">
                              <a:solidFill>
                                <a:srgbClr val="111111"/>
                              </a:solidFill>
                              <a:latin typeface="Cambria Math" panose="02040503050406030204" pitchFamily="18" charset="0"/>
                            </a:rPr>
                            <m:t xml:space="preserve">m</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n</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P</m:t>
                          </m:r>
                        </m:e>
                        <m:sub>
                          <m:r>
                            <a:rPr lang="en-US" sz="2200" i="1">
                              <a:solidFill>
                                <a:srgbClr val="111111"/>
                              </a:solidFill>
                              <a:latin typeface="Cambria Math" panose="02040503050406030204" pitchFamily="18" charset="0"/>
                            </a:rPr>
                            <m:t xml:space="preserve">m</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k</m:t>
                          </m:r>
                        </m:sub>
                      </m:sSub>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Q</m:t>
                          </m:r>
                        </m:e>
                        <m:sub>
                          <m:r>
                            <a:rPr lang="en-US" sz="2200" i="1">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acc>
                            <m:accPr>
                              <m:chr m:val="̂"/>
                              <m:ctrlPr>
                                <a:rPr lang="en-US" sz="2200" i="1">
                                  <a:solidFill>
                                    <a:srgbClr val="111111"/>
                                  </a:solidFill>
                                  <a:latin typeface="Cambria Math" panose="02040503050406030204" pitchFamily="18" charset="0"/>
                                </a:rPr>
                              </m:ctrlPr>
                            </m:accPr>
                            <m:e>
                              <m:r>
                                <a:rPr lang="en-US" sz="2200" i="1">
                                  <a:solidFill>
                                    <a:srgbClr val="111111"/>
                                  </a:solidFill>
                                  <a:latin typeface="Cambria Math" panose="02040503050406030204" pitchFamily="18" charset="0"/>
                                </a:rPr>
                                <m:t xml:space="preserve">r</m:t>
                              </m:r>
                            </m:e>
                          </m:acc>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p</m:t>
                          </m:r>
                        </m:e>
                        <m:sub>
                          <m:r>
                            <a:rPr lang="en-US" sz="2200" i="1">
                              <a:solidFill>
                                <a:srgbClr val="111111"/>
                              </a:solidFill>
                              <a:latin typeface="Cambria Math" panose="02040503050406030204" pitchFamily="18" charset="0"/>
                            </a:rPr>
                            <m:t xml:space="preserve">u</m:t>
                          </m:r>
                        </m:sub>
                        <m:sup>
                          <m:r>
                            <m:rPr>
                              <m:sty m:val="p"/>
                            </m:rPr>
                            <a:rPr lang="en-US" sz="2200">
                              <a:solidFill>
                                <a:srgbClr val="111111"/>
                              </a:solidFill>
                              <a:latin typeface="Cambria Math" panose="02040503050406030204" pitchFamily="18" charset="0"/>
                            </a:rPr>
                            <m:t xml:space="preserve">⊤</m:t>
                          </m:r>
                        </m:sup>
                      </m:sSubSup>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q</m:t>
                          </m:r>
                        </m:e>
                        <m:sub>
                          <m:r>
                            <a:rPr lang="en-US" sz="2200" i="1">
                              <a:solidFill>
                                <a:srgbClr val="111111"/>
                              </a:solidFill>
                              <a:latin typeface="Cambria Math" panose="02040503050406030204" pitchFamily="18" charset="0"/>
                            </a:rPr>
                            <m:t xml:space="preserve">i</m:t>
                          </m:r>
                        </m:sub>
                      </m:sSub>
                    </m:oMath>
                  </m:oMathPara>
                </a14:m>
                <a:endParaRPr lang="en-US" sz="2200"/>
              </a:p>
            </p:txBody>
          </p:sp>
        </mc:Choice>
        <mc:Fallback>
          <p:sp>
            <p:nvSpPr>
              <p:cNvPr id="38" name="Equation"/>
              <p:cNvSpPr txBox="1"/>
              <p:nvPr/>
            </p:nvSpPr>
            <p:spPr>
              <a:xfrm>
                <a:off x="9258300" y="6975602"/>
                <a:ext cx="8001000" cy="822960"/>
              </a:xfrm>
              <a:prstGeom prst="rect">
                <a:avLst/>
              </a:prstGeom>
              <a:blipFill>
                <a:blip r:embed="rId5"/>
                <a:stretch>
                  <a:fillRect/>
                </a:stretch>
              </a:blipFill>
            </p:spPr>
            <p:txBody>
              <a:bodyPr/>
              <a:lstStyle/>
              <a:p>
                <a:endParaRPr lang="en-US"/>
              </a:p>
            </p:txBody>
          </p:sp>
        </mc:Fallback>
      </mc:AlternateContent>
      <p:sp>
        <p:nvSpPr>
          <p:cNvPr id="39" name="Rounded Rectangle 38"/>
          <p:cNvSpPr/>
          <p:nvPr/>
        </p:nvSpPr>
        <p:spPr>
          <a:xfrm>
            <a:off x="9258300" y="7935722"/>
            <a:ext cx="8001000" cy="1281430"/>
          </a:xfrm>
          <a:prstGeom prst="roundRect">
            <a:avLst>
              <a:gd name="adj" fmla="val 17839"/>
            </a:avLst>
          </a:prstGeom>
          <a:solidFill>
            <a:srgbClr val="F6ECDF"/>
          </a:solidFill>
          <a:ln>
            <a:noFill/>
          </a:ln>
        </p:spPr>
        <p:txBody>
          <a:bodyPr anchor="ctr" rtlCol="false" lIns="320040" tIns="91440" rIns="320040" bIns="91440" wrap="square"/>
          <a:lstStyle/>
          <a:p>
            <a:pPr algn="ctr">
              <a:lnSpc>
                <a:spcPts val="2100"/>
              </a:lnSpc>
              <a:spcBef>
                <a:spcPts val="0"/>
              </a:spcBef>
              <a:buNone/>
            </a:pPr>
            <a:r>
              <a:rPr lang="en-US" sz="1600" b="true">
                <a:solidFill>
                  <a:srgbClr val="111111"/>
                </a:solidFill>
                <a:latin typeface="Nunito Semi-Bold"/>
                <a:ea typeface="Nunito Semi-Bold"/>
                <a:cs typeface="Nunito Semi-Bold"/>
                <a:sym typeface="Nunito Semi-Bold"/>
              </a:rPr>
              <a:t>Compact and effective, but the </a:t>
            </a:r>
            <a:r>
              <a:rPr lang="en-US" sz="1600" b="true">
                <a:solidFill>
                  <a:srgbClr val="111111"/>
                </a:solidFill>
                <a:latin typeface="Nunito Bold"/>
                <a:ea typeface="Nunito Bold"/>
                <a:cs typeface="Nunito Bold"/>
                <a:sym typeface="Nunito Bold"/>
              </a:rPr>
              <a:t>k latent factors have no readable meaning</a:t>
            </a:r>
            <a:r>
              <a:rPr lang="en-US" sz="1600" b="true">
                <a:solidFill>
                  <a:srgbClr val="111111"/>
                </a:solidFill>
                <a:latin typeface="Nunito Semi-Bold"/>
                <a:ea typeface="Nunito Semi-Bold"/>
                <a:cs typeface="Nunito Semi-Bold"/>
                <a:sym typeface="Nunito Semi-Bold"/>
              </a:rPr>
              <a:t>: this is where the interpretability gap starts.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3" name="Picture 22" descr="image.png"/>
          <p:cNvPicPr>
            <a:picLocks noChangeAspect="1"/>
          </p:cNvPicPr>
          <p:nvPr/>
        </p:nvPicPr>
        <p:blipFill>
          <a:blip r:embed="rId3"/>
          <a:stretch>
            <a:fillRect/>
          </a:stretch>
        </p:blipFill>
        <p:spPr>
          <a:xfrm>
            <a:off x="13302882" y="1673352"/>
            <a:ext cx="457200" cy="427074"/>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GRAPH  ·  HYPERGRAPH</a:t>
            </a:r>
          </a:p>
        </p:txBody>
      </p:sp>
      <p:sp>
        <p:nvSpPr>
          <p:cNvPr id="32" name="Rounded Rectangle 31"/>
          <p:cNvSpPr/>
          <p:nvPr/>
        </p:nvSpPr>
        <p:spPr>
          <a:xfrm>
            <a:off x="9258300" y="4140962"/>
            <a:ext cx="3863340" cy="3566160"/>
          </a:xfrm>
          <a:prstGeom prst="roundRect">
            <a:avLst>
              <a:gd name="adj" fmla="val 8717"/>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9715500" y="3903218"/>
            <a:ext cx="2690762"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Graph: pairwise edges</a:t>
            </a:r>
          </a:p>
        </p:txBody>
      </p:sp>
      <p:cxnSp>
        <p:nvCxnSpPr>
          <p:cNvPr id="34" name="Connector 33"/>
          <p:cNvCxnSpPr/>
          <p:nvPr/>
        </p:nvCxnSpPr>
        <p:spPr>
          <a:xfrm flipV="1">
            <a:off x="10367010" y="4735322"/>
            <a:ext cx="1645920" cy="274320"/>
          </a:xfrm>
          <a:prstGeom prst="line">
            <a:avLst/>
          </a:prstGeom>
          <a:ln w="22225">
            <a:solidFill>
              <a:srgbClr val="124944"/>
            </a:solidFill>
          </a:ln>
        </p:spPr>
      </p:cxnSp>
      <p:cxnSp>
        <p:nvCxnSpPr>
          <p:cNvPr id="35" name="Connector 34"/>
          <p:cNvCxnSpPr/>
          <p:nvPr/>
        </p:nvCxnSpPr>
        <p:spPr>
          <a:xfrm>
            <a:off x="10367010" y="5009642"/>
            <a:ext cx="1645920" cy="822960"/>
          </a:xfrm>
          <a:prstGeom prst="line">
            <a:avLst/>
          </a:prstGeom>
          <a:ln w="22225">
            <a:solidFill>
              <a:srgbClr val="124944"/>
            </a:solidFill>
          </a:ln>
        </p:spPr>
      </p:cxnSp>
      <p:cxnSp>
        <p:nvCxnSpPr>
          <p:cNvPr id="36" name="Connector 35"/>
          <p:cNvCxnSpPr/>
          <p:nvPr/>
        </p:nvCxnSpPr>
        <p:spPr>
          <a:xfrm flipV="1">
            <a:off x="10367010" y="5832602"/>
            <a:ext cx="1645920" cy="548640"/>
          </a:xfrm>
          <a:prstGeom prst="line">
            <a:avLst/>
          </a:prstGeom>
          <a:ln w="22225">
            <a:solidFill>
              <a:srgbClr val="124944"/>
            </a:solidFill>
          </a:ln>
        </p:spPr>
      </p:cxnSp>
      <p:cxnSp>
        <p:nvCxnSpPr>
          <p:cNvPr id="37" name="Connector 36"/>
          <p:cNvCxnSpPr/>
          <p:nvPr/>
        </p:nvCxnSpPr>
        <p:spPr>
          <a:xfrm>
            <a:off x="10367010" y="6381242"/>
            <a:ext cx="1645920" cy="548640"/>
          </a:xfrm>
          <a:prstGeom prst="line">
            <a:avLst/>
          </a:prstGeom>
          <a:ln w="22225">
            <a:solidFill>
              <a:srgbClr val="124944"/>
            </a:solidFill>
          </a:ln>
        </p:spPr>
      </p:cxnSp>
      <p:sp>
        <p:nvSpPr>
          <p:cNvPr id="38" name="Oval 37"/>
          <p:cNvSpPr/>
          <p:nvPr/>
        </p:nvSpPr>
        <p:spPr>
          <a:xfrm>
            <a:off x="10110978" y="4753610"/>
            <a:ext cx="512064" cy="512064"/>
          </a:xfrm>
          <a:prstGeom prst="ellipse">
            <a:avLst/>
          </a:prstGeom>
          <a:solidFill>
            <a:srgbClr val="12494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a:t>
            </a:r>
          </a:p>
        </p:txBody>
      </p:sp>
      <p:sp>
        <p:nvSpPr>
          <p:cNvPr id="39" name="Oval 38"/>
          <p:cNvSpPr/>
          <p:nvPr/>
        </p:nvSpPr>
        <p:spPr>
          <a:xfrm>
            <a:off x="11756898" y="447929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i1</a:t>
            </a:r>
          </a:p>
        </p:txBody>
      </p:sp>
      <p:sp>
        <p:nvSpPr>
          <p:cNvPr id="40" name="Oval 39"/>
          <p:cNvSpPr/>
          <p:nvPr/>
        </p:nvSpPr>
        <p:spPr>
          <a:xfrm>
            <a:off x="11756898" y="557657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i2</a:t>
            </a:r>
          </a:p>
        </p:txBody>
      </p:sp>
      <p:sp>
        <p:nvSpPr>
          <p:cNvPr id="41" name="Oval 40"/>
          <p:cNvSpPr/>
          <p:nvPr/>
        </p:nvSpPr>
        <p:spPr>
          <a:xfrm>
            <a:off x="10110978" y="6125210"/>
            <a:ext cx="512064" cy="512064"/>
          </a:xfrm>
          <a:prstGeom prst="ellipse">
            <a:avLst/>
          </a:prstGeom>
          <a:solidFill>
            <a:srgbClr val="12494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u2</a:t>
            </a:r>
          </a:p>
        </p:txBody>
      </p:sp>
      <p:sp>
        <p:nvSpPr>
          <p:cNvPr id="42" name="Oval 41"/>
          <p:cNvSpPr/>
          <p:nvPr/>
        </p:nvSpPr>
        <p:spPr>
          <a:xfrm>
            <a:off x="11756898" y="667385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i3</a:t>
            </a:r>
          </a:p>
        </p:txBody>
      </p:sp>
      <p:sp>
        <p:nvSpPr>
          <p:cNvPr id="43" name="Rounded Rectangle 42"/>
          <p:cNvSpPr/>
          <p:nvPr/>
        </p:nvSpPr>
        <p:spPr>
          <a:xfrm>
            <a:off x="13395960" y="4140962"/>
            <a:ext cx="3863340" cy="3566160"/>
          </a:xfrm>
          <a:prstGeom prst="roundRect">
            <a:avLst>
              <a:gd name="adj" fmla="val 8717"/>
            </a:avLst>
          </a:prstGeom>
          <a:solidFill>
            <a:srgbClr val="F6ECDF"/>
          </a:solidFill>
          <a:ln>
            <a:noFill/>
          </a:ln>
        </p:spPr>
        <p:txBody>
          <a:bodyPr anchor="ctr" rtlCol="false" lIns="0" tIns="0" rIns="0" bIns="0" wrap="square"/>
          <a:lstStyle/>
          <a:p>
            <a:endParaRPr lang="en-US" sz="1800"/>
          </a:p>
        </p:txBody>
      </p:sp>
      <p:sp>
        <p:nvSpPr>
          <p:cNvPr id="44" name="Rounded Rectangle 43"/>
          <p:cNvSpPr/>
          <p:nvPr/>
        </p:nvSpPr>
        <p:spPr>
          <a:xfrm>
            <a:off x="13853160" y="3903218"/>
            <a:ext cx="388767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Hypergraph: one edge, many nodes</a:t>
            </a:r>
          </a:p>
        </p:txBody>
      </p:sp>
      <p:sp>
        <p:nvSpPr>
          <p:cNvPr id="45" name="Oval 44"/>
          <p:cNvSpPr/>
          <p:nvPr/>
        </p:nvSpPr>
        <p:spPr>
          <a:xfrm>
            <a:off x="13910310" y="4689602"/>
            <a:ext cx="2834640" cy="1737360"/>
          </a:xfrm>
          <a:prstGeom prst="ellipse">
            <a:avLst/>
          </a:prstGeom>
          <a:solidFill>
            <a:srgbClr val="E6EEEA"/>
          </a:solidFill>
          <a:ln w="28575">
            <a:solidFill>
              <a:srgbClr val="124944"/>
            </a:solidFill>
          </a:ln>
        </p:spPr>
        <p:txBody>
          <a:bodyPr anchor="ctr" rtlCol="false" lIns="0" tIns="0" rIns="0" bIns="0" wrap="square"/>
          <a:lstStyle/>
          <a:p>
            <a:endParaRPr lang="en-US" sz="1800"/>
          </a:p>
        </p:txBody>
      </p:sp>
      <p:sp>
        <p:nvSpPr>
          <p:cNvPr id="46" name="Oval 45"/>
          <p:cNvSpPr/>
          <p:nvPr/>
        </p:nvSpPr>
        <p:spPr>
          <a:xfrm>
            <a:off x="14248638" y="5027930"/>
            <a:ext cx="512064" cy="512064"/>
          </a:xfrm>
          <a:prstGeom prst="ellipse">
            <a:avLst/>
          </a:prstGeom>
          <a:solidFill>
            <a:srgbClr val="12494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a:t>
            </a:r>
          </a:p>
        </p:txBody>
      </p:sp>
      <p:sp>
        <p:nvSpPr>
          <p:cNvPr id="47" name="Oval 46"/>
          <p:cNvSpPr/>
          <p:nvPr/>
        </p:nvSpPr>
        <p:spPr>
          <a:xfrm>
            <a:off x="15163038" y="479933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a:t>
            </a:r>
          </a:p>
        </p:txBody>
      </p:sp>
      <p:sp>
        <p:nvSpPr>
          <p:cNvPr id="48" name="Oval 47"/>
          <p:cNvSpPr/>
          <p:nvPr/>
        </p:nvSpPr>
        <p:spPr>
          <a:xfrm>
            <a:off x="15894558" y="5485130"/>
            <a:ext cx="512064" cy="512064"/>
          </a:xfrm>
          <a:prstGeom prst="ellipse">
            <a:avLst/>
          </a:prstGeom>
          <a:solidFill>
            <a:srgbClr val="111111"/>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c</a:t>
            </a:r>
          </a:p>
        </p:txBody>
      </p:sp>
      <p:sp>
        <p:nvSpPr>
          <p:cNvPr id="49" name="TextBox 48"/>
          <p:cNvSpPr txBox="1"/>
          <p:nvPr/>
        </p:nvSpPr>
        <p:spPr>
          <a:xfrm>
            <a:off x="13578840" y="6609842"/>
            <a:ext cx="3497580" cy="914400"/>
          </a:xfrm>
          <a:prstGeom prst="rect">
            <a:avLst/>
          </a:prstGeom>
          <a:noFill/>
        </p:spPr>
        <p:txBody>
          <a:bodyPr anchor="t" rtlCol="false" lIns="0" tIns="0" rIns="0" bIns="0" wrap="square"/>
          <a:lstStyle/>
          <a:p>
            <a:pPr algn="ctr">
              <a:lnSpc>
                <a:spcPts val="1800"/>
              </a:lnSpc>
              <a:spcBef>
                <a:spcPts val="0"/>
              </a:spcBef>
              <a:buNone/>
            </a:pPr>
            <a:r>
              <a:rPr lang="en-US" sz="1400" b="true">
                <a:solidFill>
                  <a:srgbClr val="111111"/>
                </a:solidFill>
                <a:latin typeface="Nunito Semi-Bold"/>
                <a:ea typeface="Nunito Semi-Bold"/>
                <a:cs typeface="Nunito Semi-Bold"/>
                <a:sym typeface="Nunito Semi-Bold"/>
              </a:rPr>
              <a:t>e = {user, item, context}
</a:t>
            </a:r>
            <a:r>
              <a:rPr lang="en-US" sz="1400" b="true">
                <a:solidFill>
                  <a:srgbClr val="111111"/>
                </a:solidFill>
                <a:latin typeface="Nunito Bold"/>
                <a:ea typeface="Nunito Bold"/>
                <a:cs typeface="Nunito Bold"/>
                <a:sym typeface="Nunito Bold"/>
              </a:rPr>
              <a:t>uniform weight</a:t>
            </a:r>
            <a:r>
              <a:rPr lang="en-US" sz="1400" b="true">
                <a:solidFill>
                  <a:srgbClr val="111111"/>
                </a:solidFill>
                <a:latin typeface="Nunito Semi-Bold"/>
                <a:ea typeface="Nunito Semi-Bold"/>
                <a:cs typeface="Nunito Semi-Bold"/>
                <a:sym typeface="Nunito Semi-Bold"/>
              </a:rPr>
              <a:t> in standard models</a:t>
            </a:r>
          </a:p>
        </p:txBody>
      </p:sp>
      <p:sp>
        <p:nvSpPr>
          <p:cNvPr id="50" name="Rounded Rectangle 49"/>
          <p:cNvSpPr/>
          <p:nvPr/>
        </p:nvSpPr>
        <p:spPr>
          <a:xfrm>
            <a:off x="9258300" y="7981442"/>
            <a:ext cx="8001000" cy="1235710"/>
          </a:xfrm>
          <a:prstGeom prst="roundRect">
            <a:avLst>
              <a:gd name="adj" fmla="val 18499"/>
            </a:avLst>
          </a:prstGeom>
          <a:solidFill>
            <a:srgbClr val="124944"/>
          </a:solidFill>
          <a:ln>
            <a:noFill/>
          </a:ln>
        </p:spPr>
        <p:txBody>
          <a:bodyPr anchor="ctr" rtlCol="false" lIns="320040" tIns="91440" rIns="320040" bIns="91440" wrap="square"/>
          <a:lstStyle/>
          <a:p>
            <a:pPr algn="ctr">
              <a:lnSpc>
                <a:spcPts val="2100"/>
              </a:lnSpc>
              <a:spcBef>
                <a:spcPts val="0"/>
              </a:spcBef>
              <a:buNone/>
            </a:pPr>
            <a:r>
              <a:rPr lang="en-US" sz="1600" b="true">
                <a:solidFill>
                  <a:srgbClr val="FFFFFF"/>
                </a:solidFill>
                <a:latin typeface="Nunito Semi-Bold"/>
                <a:ea typeface="Nunito Semi-Bold"/>
                <a:cs typeface="Nunito Semi-Bold"/>
                <a:sym typeface="Nunito Semi-Bold"/>
              </a:rPr>
              <a:t>Multi-hop and higher-order relations improve ranking, but </a:t>
            </a:r>
            <a:r>
              <a:rPr lang="en-US" sz="1600" b="true">
                <a:solidFill>
                  <a:srgbClr val="FFFFFF"/>
                </a:solidFill>
                <a:latin typeface="Nunito Bold"/>
                <a:ea typeface="Nunito Bold"/>
                <a:cs typeface="Nunito Bold"/>
                <a:sym typeface="Nunito Bold"/>
              </a:rPr>
              <a:t>message importance stays implicit or uniform</a:t>
            </a:r>
            <a:r>
              <a:rPr lang="en-US" sz="1600" b="true">
                <a:solidFill>
                  <a:srgbClr val="FFFFFF"/>
                </a:solidFill>
                <a:latin typeface="Nunito Semi-Bold"/>
                <a:ea typeface="Nunito Semi-Bold"/>
                <a:cs typeface="Nunito Semi-Bold"/>
                <a:sym typeface="Nunito Semi-Bold"/>
              </a:rPr>
              <a:t>: the assumption DyHuCoG challenges.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3" name="Picture 22" descr="image.png"/>
          <p:cNvPicPr>
            <a:picLocks noChangeAspect="1"/>
          </p:cNvPicPr>
          <p:nvPr/>
        </p:nvPicPr>
        <p:blipFill>
          <a:blip r:embed="rId3"/>
          <a:stretch>
            <a:fillRect/>
          </a:stretch>
        </p:blipFill>
        <p:spPr>
          <a:xfrm>
            <a:off x="16315229" y="1673352"/>
            <a:ext cx="457200" cy="399005"/>
          </a:xfrm>
          <a:prstGeom prst="rect">
            <a:avLst/>
          </a:prstGeom>
        </p:spPr>
      </p:pic>
      <p:sp>
        <p:nvSpPr>
          <p:cNvPr id="24" name="Rounded Rectangle 23"/>
          <p:cNvSpPr/>
          <p:nvPr/>
        </p:nvSpPr>
        <p:spPr>
          <a:xfrm>
            <a:off x="1028700" y="24955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495550"/>
            <a:ext cx="187097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4955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Rounded Rectangle 26"/>
          <p:cNvSpPr/>
          <p:nvPr/>
        </p:nvSpPr>
        <p:spPr>
          <a:xfrm>
            <a:off x="1028700" y="3391662"/>
            <a:ext cx="3851910" cy="3017520"/>
          </a:xfrm>
          <a:prstGeom prst="roundRect">
            <a:avLst>
              <a:gd name="adj" fmla="val 9090"/>
            </a:avLst>
          </a:prstGeom>
          <a:solidFill>
            <a:srgbClr val="12494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28" name="Rounded Rectangle 27"/>
          <p:cNvSpPr/>
          <p:nvPr/>
        </p:nvSpPr>
        <p:spPr>
          <a:xfrm>
            <a:off x="5154930" y="3391662"/>
            <a:ext cx="3851910" cy="3017520"/>
          </a:xfrm>
          <a:prstGeom prst="roundRect">
            <a:avLst>
              <a:gd name="adj" fmla="val 9090"/>
            </a:avLst>
          </a:prstGeom>
          <a:solidFill>
            <a:srgbClr val="12494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29" name="Rounded Rectangle 28"/>
          <p:cNvSpPr/>
          <p:nvPr/>
        </p:nvSpPr>
        <p:spPr>
          <a:xfrm>
            <a:off x="9281160" y="3391662"/>
            <a:ext cx="3851910" cy="3017520"/>
          </a:xfrm>
          <a:prstGeom prst="roundRect">
            <a:avLst>
              <a:gd name="adj" fmla="val 9090"/>
            </a:avLst>
          </a:prstGeom>
          <a:solidFill>
            <a:srgbClr val="12494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0" name="Rounded Rectangle 29"/>
          <p:cNvSpPr/>
          <p:nvPr/>
        </p:nvSpPr>
        <p:spPr>
          <a:xfrm>
            <a:off x="13407390" y="3391662"/>
            <a:ext cx="3851910" cy="3017520"/>
          </a:xfrm>
          <a:prstGeom prst="roundRect">
            <a:avLst>
              <a:gd name="adj" fmla="val 9090"/>
            </a:avLst>
          </a:prstGeom>
          <a:solidFill>
            <a:srgbClr val="DF8330"/>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1" name="Rounded Rectangle 30"/>
          <p:cNvSpPr/>
          <p:nvPr/>
        </p:nvSpPr>
        <p:spPr>
          <a:xfrm>
            <a:off x="1028700" y="7049262"/>
            <a:ext cx="16230600" cy="2259330"/>
          </a:xfrm>
          <a:prstGeom prst="roundRect">
            <a:avLst>
              <a:gd name="adj" fmla="val 13760"/>
            </a:avLst>
          </a:prstGeom>
          <a:solidFill>
            <a:srgbClr val="F6ECDF"/>
          </a:solidFill>
          <a:ln>
            <a:noFill/>
          </a:ln>
        </p:spPr>
        <p:txBody>
          <a:bodyPr anchor="ctr" rtlCol="false" lIns="0" tIns="0" rIns="0" bIns="0" wrap="square"/>
          <a:lstStyle/>
          <a:p>
            <a:endParaRPr lang="en-US" sz="1800"/>
          </a:p>
        </p:txBody>
      </p:sp>
      <p:sp>
        <p:nvSpPr>
          <p:cNvPr id="32" name="Rounded Rectangle 31"/>
          <p:cNvSpPr/>
          <p:nvPr/>
        </p:nvSpPr>
        <p:spPr>
          <a:xfrm>
            <a:off x="1485900" y="6811518"/>
            <a:ext cx="785723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3" name="TextBox 32"/>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DF8330"/>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DF8330"/>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DF8330"/>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3" name="Picture 22" descr="image.png"/>
          <p:cNvPicPr>
            <a:picLocks noChangeAspect="1"/>
          </p:cNvPicPr>
          <p:nvPr/>
        </p:nvPicPr>
        <p:blipFill>
          <a:blip r:embed="rId3"/>
          <a:stretch>
            <a:fillRect/>
          </a:stretch>
        </p:blipFill>
        <p:spPr>
          <a:xfrm>
            <a:off x="12569927" y="1673352"/>
            <a:ext cx="457200" cy="446713"/>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Rounded Rectangle 26"/>
          <p:cNvSpPr/>
          <p:nvPr/>
        </p:nvSpPr>
        <p:spPr>
          <a:xfrm>
            <a:off x="1028700" y="3455162"/>
            <a:ext cx="5196840" cy="3566160"/>
          </a:xfrm>
          <a:prstGeom prst="roundRect">
            <a:avLst>
              <a:gd name="adj" fmla="val 8205"/>
            </a:avLst>
          </a:prstGeom>
          <a:solidFill>
            <a:srgbClr val="124944"/>
          </a:solidFill>
          <a:ln>
            <a:noFill/>
          </a:ln>
        </p:spPr>
        <p:txBody>
          <a:bodyPr anchor="ctr" rtlCol="false" lIns="0" tIns="0" rIns="0" bIns="0" wrap="square"/>
          <a:lstStyle/>
          <a:p>
            <a:endParaRPr lang="en-US" sz="1800"/>
          </a:p>
        </p:txBody>
      </p:sp>
      <p:sp>
        <p:nvSpPr>
          <p:cNvPr id="28" name="Oval 27"/>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29" name="TextBox 28"/>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0" name="Rounded Rectangle 29"/>
          <p:cNvSpPr/>
          <p:nvPr/>
        </p:nvSpPr>
        <p:spPr>
          <a:xfrm>
            <a:off x="6545580" y="3455162"/>
            <a:ext cx="5196840" cy="3566160"/>
          </a:xfrm>
          <a:prstGeom prst="roundRect">
            <a:avLst>
              <a:gd name="adj" fmla="val 8205"/>
            </a:avLst>
          </a:prstGeom>
          <a:solidFill>
            <a:srgbClr val="124944"/>
          </a:solidFill>
          <a:ln>
            <a:noFill/>
          </a:ln>
        </p:spPr>
        <p:txBody>
          <a:bodyPr anchor="ctr" rtlCol="false" lIns="0" tIns="0" rIns="0" bIns="0" wrap="square"/>
          <a:lstStyle/>
          <a:p>
            <a:endParaRPr lang="en-US" sz="1800"/>
          </a:p>
        </p:txBody>
      </p:sp>
      <p:sp>
        <p:nvSpPr>
          <p:cNvPr id="31" name="Oval 30"/>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2" name="TextBox 31"/>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3" name="Rounded Rectangle 32"/>
          <p:cNvSpPr/>
          <p:nvPr/>
        </p:nvSpPr>
        <p:spPr>
          <a:xfrm>
            <a:off x="12062460" y="3455162"/>
            <a:ext cx="5196840" cy="3566160"/>
          </a:xfrm>
          <a:prstGeom prst="roundRect">
            <a:avLst>
              <a:gd name="adj" fmla="val 8205"/>
            </a:avLst>
          </a:prstGeom>
          <a:solidFill>
            <a:srgbClr val="124944"/>
          </a:solidFill>
          <a:ln>
            <a:noFill/>
          </a:ln>
        </p:spPr>
        <p:txBody>
          <a:bodyPr anchor="ctr" rtlCol="false" lIns="0" tIns="0" rIns="0" bIns="0" wrap="square"/>
          <a:lstStyle/>
          <a:p>
            <a:endParaRPr lang="en-US" sz="1800"/>
          </a:p>
        </p:txBody>
      </p:sp>
      <p:sp>
        <p:nvSpPr>
          <p:cNvPr id="34" name="Oval 33"/>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5" name="TextBox 34"/>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6" name="Rounded Rectangle 35"/>
          <p:cNvSpPr/>
          <p:nvPr/>
        </p:nvSpPr>
        <p:spPr>
          <a:xfrm>
            <a:off x="1028700" y="7387082"/>
            <a:ext cx="16230600" cy="1967230"/>
          </a:xfrm>
          <a:prstGeom prst="roundRect">
            <a:avLst>
              <a:gd name="adj" fmla="val 13944"/>
            </a:avLst>
          </a:prstGeom>
          <a:noFill/>
          <a:ln w="31750">
            <a:solidFill>
              <a:srgbClr val="DF8330"/>
            </a:solidFill>
          </a:ln>
        </p:spPr>
        <p:txBody>
          <a:bodyPr anchor="ctr" rtlCol="false" lIns="0" tIns="0" rIns="0" bIns="0" wrap="square"/>
          <a:lstStyle/>
          <a:p>
            <a:endParaRPr lang="en-US" sz="1800"/>
          </a:p>
        </p:txBody>
      </p:sp>
      <p:sp>
        <p:nvSpPr>
          <p:cNvPr id="37" name="TextBox 36"/>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DF8330"/>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12494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12494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2494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1E5F58"/>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E5F58"/>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DF8330"/>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DF8330"/>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3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F6ECDF"/>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3" name="Picture 22" descr="image.png"/>
          <p:cNvPicPr>
            <a:picLocks noChangeAspect="1"/>
          </p:cNvPicPr>
          <p:nvPr/>
        </p:nvPicPr>
        <p:blipFill>
          <a:blip r:embed="rId3"/>
          <a:stretch>
            <a:fillRect/>
          </a:stretch>
        </p:blipFill>
        <p:spPr>
          <a:xfrm>
            <a:off x="11227909" y="1673352"/>
            <a:ext cx="457200" cy="250983"/>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500"/>
              </a:lnSpc>
              <a:spcBef>
                <a:spcPts val="0"/>
              </a:spcBef>
              <a:buClr>
                <a:srgbClr val="DF8330"/>
              </a:buClr>
              <a:buSzPct val="100000"/>
              <a:buFont typeface="Arial"/>
              <a:buChar char="•"/>
            </a:pPr>
            <a:r>
              <a:rPr lang="en-US" sz="1786" b="true">
                <a:solidFill>
                  <a:srgbClr val="111111"/>
                </a:solidFill>
                <a:latin typeface="Nunito Bold"/>
                <a:ea typeface="Nunito Bold"/>
                <a:cs typeface="Nunito Bold"/>
                <a:sym typeface="Nunito Bold"/>
              </a:rPr>
              <a:t>4,898 white-wine samples</a:t>
            </a:r>
            <a:r>
              <a:rPr lang="en-US" sz="1786" b="true">
                <a:solidFill>
                  <a:srgbClr val="111111"/>
                </a:solidFill>
                <a:latin typeface="Nunito Semi-Bold"/>
                <a:ea typeface="Nunito Semi-Bold"/>
                <a:cs typeface="Nunito Semi-Bold"/>
                <a:sym typeface="Nunito Semi-Bold"/>
              </a:rPr>
              <a:t> described by </a:t>
            </a:r>
            <a:r>
              <a:rPr lang="en-US" sz="1786" b="true">
                <a:solidFill>
                  <a:srgbClr val="111111"/>
                </a:solidFill>
                <a:latin typeface="Nunito Bold"/>
                <a:ea typeface="Nunito Bold"/>
                <a:cs typeface="Nunito Bold"/>
                <a:sym typeface="Nunito Bold"/>
              </a:rPr>
              <a:t>11 physicochemical measurements</a:t>
            </a:r>
            <a:r>
              <a:rPr lang="en-US" sz="1786"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500"/>
              </a:lnSpc>
              <a:spcBef>
                <a:spcPts val="752"/>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1786" b="true">
                <a:solidFill>
                  <a:srgbClr val="111111"/>
                </a:solidFill>
                <a:latin typeface="Nunito Bold"/>
                <a:ea typeface="Nunito Bold"/>
                <a:cs typeface="Nunito Bold"/>
                <a:sym typeface="Nunito Bold"/>
              </a:rPr>
              <a:t>variables a wine expert understands</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752"/>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Used for </a:t>
            </a:r>
            <a:r>
              <a:rPr lang="en-US" sz="1786" b="true">
                <a:solidFill>
                  <a:srgbClr val="111111"/>
                </a:solidFill>
                <a:latin typeface="Nunito Bold"/>
                <a:ea typeface="Nunito Bold"/>
                <a:cs typeface="Nunito Bold"/>
                <a:sym typeface="Nunito Bold"/>
              </a:rPr>
              <a:t>Contribution I</a:t>
            </a:r>
            <a:r>
              <a:rPr lang="en-US" sz="1786"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first rows of the public file</a:t>
            </a:r>
          </a:p>
        </p:txBody>
      </p:sp>
      <p:graphicFrame>
        <p:nvGraphicFramePr>
          <p:cNvPr id="30" name="Table 29"/>
          <p:cNvGraphicFramePr>
            <a:graphicFrameLocks noGrp="1"/>
          </p:cNvGraphicFramePr>
          <p:nvPr/>
        </p:nvGraphicFramePr>
        <p:xfrm>
          <a:off x="1028700" y="7260082"/>
          <a:ext cx="16230600" cy="1705864"/>
        </p:xfrm>
        <a:graphic>
          <a:graphicData uri="http://schemas.openxmlformats.org/drawingml/2006/table">
            <a:tbl>
              <a:tblPr firstRow="0" bandRow="0" firstCol="0" lastRow="0" lastCol="0" bandCol="0">
                <a:tableStyleId>{2D5ABB26-0587-4C30-8999-92F81FD0307C}</a:tableStyleId>
              </a:tblPr>
              <a:tblGrid>
                <a:gridCol w="1586992"/>
                <a:gridCol w="1731264"/>
                <a:gridCol w="1442720"/>
                <a:gridCol w="1659128"/>
                <a:gridCol w="1442720"/>
                <a:gridCol w="1298448"/>
                <a:gridCol w="1298448"/>
                <a:gridCol w="1298448"/>
                <a:gridCol w="1009904"/>
                <a:gridCol w="1298448"/>
                <a:gridCol w="1154176"/>
                <a:gridCol w="1009904"/>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fixed acidity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volatile acidity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citric acid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residual sugar</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chlorides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free SO₂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total SO₂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density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pH</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sulphates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alcohol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quality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0.9951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3" name="Picture 22" descr="image.png"/>
          <p:cNvPicPr>
            <a:picLocks noChangeAspect="1"/>
          </p:cNvPicPr>
          <p:nvPr/>
        </p:nvPicPr>
        <p:blipFill>
          <a:blip r:embed="rId3"/>
          <a:stretch>
            <a:fillRect/>
          </a:stretch>
        </p:blipFill>
        <p:spPr>
          <a:xfrm>
            <a:off x="8588295" y="1673352"/>
            <a:ext cx="457200" cy="415247"/>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383,585 hourly records</a:t>
            </a:r>
            <a:r>
              <a:rPr lang="en-US" sz="19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11 modelling variables:</a:t>
            </a:r>
            <a:r>
              <a:rPr lang="en-US" sz="1900" b="true">
                <a:solidFill>
                  <a:srgbClr val="111111"/>
                </a:solidFill>
                <a:latin typeface="Nunito Semi-Bold"/>
                <a:ea typeface="Nunito Semi-Bold"/>
                <a:cs typeface="Nunito Semi-Bold"/>
                <a:sym typeface="Nunito Semi-Bold"/>
              </a:rPr>
              <a:t> six pollutants (PM2.5, PM10, SO₂, NO₂, CO, O₃) and weather (temperature, pressure, dew point, rain, wind speed).</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Large, noisy, varies with season and weather: the stress test for </a:t>
            </a:r>
            <a:r>
              <a:rPr lang="en-US" sz="1900" b="true">
                <a:solidFill>
                  <a:srgbClr val="111111"/>
                </a:solidFill>
                <a:latin typeface="Nunito Bold"/>
                <a:ea typeface="Nunito Bold"/>
                <a:cs typeface="Nunito Bold"/>
                <a:sym typeface="Nunito Bold"/>
              </a:rPr>
              <a:t>Contribution II</a:t>
            </a:r>
            <a:r>
              <a:rPr lang="en-US" sz="1900" b="true">
                <a:solidFill>
                  <a:srgbClr val="111111"/>
                </a:solidFill>
                <a:latin typeface="Nunito Semi-Bold"/>
                <a:ea typeface="Nunito Semi-Bold"/>
                <a:cs typeface="Nunito Semi-Bold"/>
                <a:sym typeface="Nunito Semi-Bold"/>
              </a:rPr>
              <a:t> (scale + multi-level structure).</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coarse regimes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9 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first rows of the Aotizhongxin station file</a:t>
            </a:r>
          </a:p>
        </p:txBody>
      </p:sp>
      <p:graphicFrame>
        <p:nvGraphicFramePr>
          <p:cNvPr id="30" name="Table 29"/>
          <p:cNvGraphicFramePr>
            <a:graphicFrameLocks noGrp="1"/>
          </p:cNvGraphicFramePr>
          <p:nvPr/>
        </p:nvGraphicFramePr>
        <p:xfrm>
          <a:off x="1028700" y="7260082"/>
          <a:ext cx="16230594" cy="1705864"/>
        </p:xfrm>
        <a:graphic>
          <a:graphicData uri="http://schemas.openxmlformats.org/drawingml/2006/table">
            <a:tbl>
              <a:tblPr firstRow="0" bandRow="0" firstCol="0" lastRow="0" lastCol="0" bandCol="0">
                <a:tableStyleId>{2D5ABB26-0587-4C30-8999-92F81FD0307C}</a:tableStyleId>
              </a:tblPr>
              <a:tblGrid>
                <a:gridCol w="2233568"/>
                <a:gridCol w="2531377"/>
                <a:gridCol w="1191236"/>
                <a:gridCol w="1191236"/>
                <a:gridCol w="1042332"/>
                <a:gridCol w="1042332"/>
                <a:gridCol w="1042332"/>
                <a:gridCol w="1042332"/>
                <a:gridCol w="1191236"/>
                <a:gridCol w="1340141"/>
                <a:gridCol w="1191236"/>
                <a:gridCol w="1191236"/>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station</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date · hour</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PM2.5</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PM10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NO₂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CO</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O₃</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TEMP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PRES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DEWP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WSPM</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00h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01h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02h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3" name="Picture 22" descr="image.png"/>
          <p:cNvPicPr>
            <a:picLocks noChangeAspect="1"/>
          </p:cNvPicPr>
          <p:nvPr/>
        </p:nvPicPr>
        <p:blipFill>
          <a:blip r:embed="rId3"/>
          <a:stretch>
            <a:fillRect/>
          </a:stretch>
        </p:blipFill>
        <p:spPr>
          <a:xfrm>
            <a:off x="4963971" y="1673352"/>
            <a:ext cx="457200" cy="452148"/>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About 1 million ratings</a:t>
            </a:r>
            <a:r>
              <a:rPr lang="en-US" sz="1900" b="true">
                <a:solidFill>
                  <a:srgbClr val="111111"/>
                </a:solidFill>
                <a:latin typeface="Nunito Semi-Bold"/>
                <a:ea typeface="Nunito Semi-Bold"/>
                <a:cs typeface="Nunito Semi-Bold"/>
                <a:sym typeface="Nunito Semi-Bold"/>
              </a:rPr>
              <a:t> from </a:t>
            </a:r>
            <a:r>
              <a:rPr lang="en-US" sz="1900" b="true">
                <a:solidFill>
                  <a:srgbClr val="111111"/>
                </a:solidFill>
                <a:latin typeface="Nunito Bold"/>
                <a:ea typeface="Nunito Bold"/>
                <a:cs typeface="Nunito Bold"/>
                <a:sym typeface="Nunito Bold"/>
              </a:rPr>
              <a:t>6,040 users</a:t>
            </a:r>
            <a:r>
              <a:rPr lang="en-US" sz="1900" b="true">
                <a:solidFill>
                  <a:srgbClr val="111111"/>
                </a:solidFill>
                <a:latin typeface="Nunito Semi-Bold"/>
                <a:ea typeface="Nunito Semi-Bold"/>
                <a:cs typeface="Nunito Semi-Bold"/>
                <a:sym typeface="Nunito Semi-Bold"/>
              </a:rPr>
              <a:t> on </a:t>
            </a:r>
            <a:r>
              <a:rPr lang="en-US" sz="1900" b="true">
                <a:solidFill>
                  <a:srgbClr val="111111"/>
                </a:solidFill>
                <a:latin typeface="Nunito Bold"/>
                <a:ea typeface="Nunito Bold"/>
                <a:cs typeface="Nunito Bold"/>
                <a:sym typeface="Nunito Bold"/>
              </a:rPr>
              <a:t>3,706 movies</a:t>
            </a:r>
            <a:r>
              <a:rPr lang="en-US" sz="1900" b="true">
                <a:solidFill>
                  <a:srgbClr val="111111"/>
                </a:solidFill>
                <a:latin typeface="Nunito Semi-Bold"/>
                <a:ea typeface="Nunito Semi-Bold"/>
                <a:cs typeface="Nunito Semi-Bold"/>
                <a:sym typeface="Nunito Semi-Bold"/>
              </a:rPr>
              <a:t> (GroupLens, 2000).</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Comparatively </a:t>
            </a:r>
            <a:r>
              <a:rPr lang="en-US" sz="1900" b="true">
                <a:solidFill>
                  <a:srgbClr val="111111"/>
                </a:solidFill>
                <a:latin typeface="Nunito Bold"/>
                <a:ea typeface="Nunito Bold"/>
                <a:cs typeface="Nunito Bold"/>
                <a:sym typeface="Nunito Bold"/>
              </a:rPr>
              <a:t>dense</a:t>
            </a:r>
            <a:r>
              <a:rPr lang="en-US" sz="19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first rows of ratings.dat joined with movies.dat</a:t>
            </a:r>
          </a:p>
        </p:txBody>
      </p:sp>
      <p:graphicFrame>
        <p:nvGraphicFramePr>
          <p:cNvPr id="30" name="Table 29"/>
          <p:cNvGraphicFramePr>
            <a:graphicFrameLocks noGrp="1"/>
          </p:cNvGraphicFramePr>
          <p:nvPr/>
        </p:nvGraphicFramePr>
        <p:xfrm>
          <a:off x="1028700" y="7260082"/>
          <a:ext cx="16230597" cy="2132330"/>
        </p:xfrm>
        <a:graphic>
          <a:graphicData uri="http://schemas.openxmlformats.org/drawingml/2006/table">
            <a:tbl>
              <a:tblPr firstRow="0" bandRow="0" firstCol="0" lastRow="0" lastCol="0" bandCol="0">
                <a:tableStyleId>{2D5ABB26-0587-4C30-8999-92F81FD0307C}</a:tableStyleId>
              </a:tblPr>
              <a:tblGrid>
                <a:gridCol w="1363915"/>
                <a:gridCol w="1363915"/>
                <a:gridCol w="5728447"/>
                <a:gridCol w="4637314"/>
                <a:gridCol w="1227524"/>
                <a:gridCol w="1909482"/>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MovieID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Genres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Timestamp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One Flew Over the Cuckoo's Nest (1975)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978300760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James and the Giant Peach (1996)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Animation · Children's · Musical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978302109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My Fair Lady (1964)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Musical · Romance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978301968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3408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Erin Brockovich (2000)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978300275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3" name="Picture 22" descr="image.png"/>
          <p:cNvPicPr>
            <a:picLocks noChangeAspect="1"/>
          </p:cNvPicPr>
          <p:nvPr/>
        </p:nvPicPr>
        <p:blipFill>
          <a:blip r:embed="rId3"/>
          <a:stretch>
            <a:fillRect/>
          </a:stretch>
        </p:blipFill>
        <p:spPr>
          <a:xfrm>
            <a:off x="5002206" y="1673352"/>
            <a:ext cx="457200" cy="617115"/>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52,643 users</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91,599 books</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2,984,108 interactions</a:t>
            </a:r>
            <a:r>
              <a:rPr lang="en-US" sz="19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Extremely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Included to test whether Shapley-guided weighting </a:t>
            </a:r>
            <a:r>
              <a:rPr lang="en-US" sz="1900" b="true">
                <a:solidFill>
                  <a:srgbClr val="111111"/>
                </a:solidFill>
                <a:latin typeface="Nunito Bold"/>
                <a:ea typeface="Nunito Bold"/>
                <a:cs typeface="Nunito Bold"/>
                <a:sym typeface="Nunito Bold"/>
              </a:rPr>
              <a:t>helps most when the signal is weakest</a:t>
            </a:r>
            <a:r>
              <a:rPr lang="en-US" sz="19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illustrative rows in the format of the public file</a:t>
            </a:r>
          </a:p>
        </p:txBody>
      </p:sp>
      <p:graphicFrame>
        <p:nvGraphicFramePr>
          <p:cNvPr id="30" name="Table 29"/>
          <p:cNvGraphicFramePr>
            <a:graphicFrameLocks noGrp="1"/>
          </p:cNvGraphicFramePr>
          <p:nvPr/>
        </p:nvGraphicFramePr>
        <p:xfrm>
          <a:off x="1028700" y="7260082"/>
          <a:ext cx="16230598" cy="1705864"/>
        </p:xfrm>
        <a:graphic>
          <a:graphicData uri="http://schemas.openxmlformats.org/drawingml/2006/table">
            <a:tbl>
              <a:tblPr firstRow="0" bandRow="0" firstCol="0" lastRow="0" lastCol="0" bandCol="0">
                <a:tableStyleId>{2D5ABB26-0587-4C30-8999-92F81FD0307C}</a:tableStyleId>
              </a:tblPr>
              <a:tblGrid>
                <a:gridCol w="2264734"/>
                <a:gridCol w="3019646"/>
                <a:gridCol w="3774558"/>
                <a:gridCol w="1509823"/>
                <a:gridCol w="5661837"/>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user_id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item_id (ASIN)</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category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review summary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A1B2C3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B000123XYZ</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Literature &amp; Fiction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Could not put it down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A4D5E6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B000456ABC</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Science &amp; Math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Clear and well written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A7F8G9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B000789DEF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History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Good but slow in the middle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3" name="Picture 22" descr="image.png"/>
          <p:cNvPicPr>
            <a:picLocks noChangeAspect="1"/>
          </p:cNvPicPr>
          <p:nvPr/>
        </p:nvPicPr>
        <p:blipFill>
          <a:blip r:embed="rId3"/>
          <a:stretch>
            <a:fillRect/>
          </a:stretch>
        </p:blipFill>
        <p:spPr>
          <a:xfrm>
            <a:off x="9239964" y="1673352"/>
            <a:ext cx="457200" cy="250983"/>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Rounded Rectangle 26"/>
          <p:cNvSpPr/>
          <p:nvPr/>
        </p:nvSpPr>
        <p:spPr>
          <a:xfrm>
            <a:off x="1028700" y="3592322"/>
            <a:ext cx="7932420" cy="5716270"/>
          </a:xfrm>
          <a:prstGeom prst="roundRect">
            <a:avLst>
              <a:gd name="adj" fmla="val 5438"/>
            </a:avLst>
          </a:prstGeom>
          <a:solidFill>
            <a:srgbClr val="124944"/>
          </a:solidFill>
          <a:ln>
            <a:noFill/>
          </a:ln>
        </p:spPr>
        <p:txBody>
          <a:bodyPr anchor="ctr" rtlCol="false" lIns="0" tIns="0" rIns="0" bIns="0" wrap="square"/>
          <a:lstStyle/>
          <a:p>
            <a:endParaRPr lang="en-US" sz="1800"/>
          </a:p>
        </p:txBody>
      </p:sp>
      <p:sp>
        <p:nvSpPr>
          <p:cNvPr id="28" name="Rounded Rectangle 27"/>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Clustering (C1, C2)</a:t>
            </a:r>
          </a:p>
        </p:txBody>
      </p:sp>
      <p:sp>
        <p:nvSpPr>
          <p:cNvPr id="29" name="TextBox 28"/>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0" name="Rounded Rectangle 29"/>
          <p:cNvSpPr/>
          <p:nvPr/>
        </p:nvSpPr>
        <p:spPr>
          <a:xfrm>
            <a:off x="9326880" y="3592322"/>
            <a:ext cx="7932420" cy="5716270"/>
          </a:xfrm>
          <a:prstGeom prst="roundRect">
            <a:avLst>
              <a:gd name="adj" fmla="val 5438"/>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9784080" y="3354578"/>
            <a:ext cx="364295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2" name="TextBox 31"/>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020"/>
              </a:lnSpc>
              <a:spcBef>
                <a:spcPts val="0"/>
              </a:spcBef>
              <a:buNone/>
            </a:pPr>
            <a:r>
              <a:rPr lang="en-US" sz="85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[10] Koren, Y., Bell, R. &amp; Volinsky, C. Matrix Factorization Techniques for Recommender Systems. Computer 42(8), 30–37 (2009).   [11] He, X. et al. Neural Collaborative Filtering. WWW, 173–182 (2017).   [12]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[15] Zhang, D. et al. RecDCL: Dual Contrastive Learning for Recommendation. The Web Conference, 3655–3666 (2024).</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3" name="Picture 22" descr="image.png"/>
          <p:cNvPicPr>
            <a:picLocks noChangeAspect="1"/>
          </p:cNvPicPr>
          <p:nvPr/>
        </p:nvPicPr>
        <p:blipFill>
          <a:blip r:embed="rId3"/>
          <a:stretch>
            <a:fillRect/>
          </a:stretch>
        </p:blipFill>
        <p:spPr>
          <a:xfrm>
            <a:off x="3729007" y="1673352"/>
            <a:ext cx="457200" cy="539881"/>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Rounded Rectangle 27"/>
          <p:cNvSpPr/>
          <p:nvPr/>
        </p:nvSpPr>
        <p:spPr>
          <a:xfrm>
            <a:off x="1028700" y="8155178"/>
            <a:ext cx="16230600" cy="1016254"/>
          </a:xfrm>
          <a:prstGeom prst="roundRect">
            <a:avLst>
              <a:gd name="adj" fmla="val 19795"/>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7963154"/>
            <a:ext cx="1867571"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0" name="TextBox 29"/>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3" name="Picture 22" descr="image.png"/>
          <p:cNvPicPr>
            <a:picLocks noChangeAspect="1"/>
          </p:cNvPicPr>
          <p:nvPr/>
        </p:nvPicPr>
        <p:blipFill>
          <a:blip r:embed="rId3"/>
          <a:stretch>
            <a:fillRect/>
          </a:stretch>
        </p:blipFill>
        <p:spPr>
          <a:xfrm>
            <a:off x="6134170" y="1673352"/>
            <a:ext cx="457200" cy="373212"/>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Rectangle 26"/>
          <p:cNvSpPr/>
          <p:nvPr/>
        </p:nvSpPr>
        <p:spPr>
          <a:xfrm>
            <a:off x="1028700" y="3363722"/>
            <a:ext cx="16230600" cy="384048"/>
          </a:xfrm>
          <a:prstGeom prst="rect">
            <a:avLst/>
          </a:prstGeom>
          <a:solidFill>
            <a:srgbClr val="124944"/>
          </a:solidFill>
          <a:ln>
            <a:noFill/>
          </a:ln>
        </p:spPr>
        <p:txBody>
          <a:bodyPr anchor="ctr" rtlCol="false" lIns="0" tIns="0" rIns="0" bIns="0" wrap="square"/>
          <a:lstStyle/>
          <a:p>
            <a:endParaRPr lang="en-US" sz="1800"/>
          </a:p>
        </p:txBody>
      </p:sp>
      <p:sp>
        <p:nvSpPr>
          <p:cNvPr id="28" name="TextBox 27"/>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29" name="TextBox 28"/>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0" name="TextBox 29"/>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1" name="Rectangle 30"/>
          <p:cNvSpPr/>
          <p:nvPr/>
        </p:nvSpPr>
        <p:spPr>
          <a:xfrm>
            <a:off x="1028700" y="3747770"/>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32" name="TextBox 31"/>
          <p:cNvSpPr txBox="1"/>
          <p:nvPr/>
        </p:nvSpPr>
        <p:spPr>
          <a:xfrm>
            <a:off x="1165860" y="3747770"/>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3" name="Equation"/>
              <p:cNvSpPr txBox="1"/>
              <p:nvPr/>
            </p:nvSpPr>
            <p:spPr>
              <a:xfrm>
                <a:off x="3771900" y="3775202"/>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NDCG@</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m:rPr>
                              <m:sty m:val="p"/>
                            </m:rPr>
                            <a:rPr lang="en-US" sz="1150">
                              <a:solidFill>
                                <a:srgbClr val="111111"/>
                              </a:solidFill>
                              <a:latin typeface="Cambria Math" panose="02040503050406030204" pitchFamily="18" charset="0"/>
                            </a:rPr>
                            <m:t xml:space="preserve">IDCG@</m:t>
                          </m:r>
                          <m:r>
                            <a:rPr lang="en-US" sz="1150" i="1">
                              <a:solidFill>
                                <a:srgbClr val="111111"/>
                              </a:solidFill>
                              <a:latin typeface="Cambria Math" panose="02040503050406030204" pitchFamily="18" charset="0"/>
                            </a:rPr>
                            <m:t xml:space="preserve">K</m:t>
                          </m:r>
                        </m:den>
                      </m:f>
                      <m:r>
                        <m:rPr>
                          <m:sty m:val="p"/>
                        </m:rPr>
                        <a:rPr lang="en-US" sz="1150">
                          <a:solidFill>
                            <a:srgbClr val="111111"/>
                          </a:solidFill>
                          <a:latin typeface="Cambria Math" panose="02040503050406030204" pitchFamily="18" charset="0"/>
                        </a:rPr>
                        <m:t xml:space="preserve"> </m:t>
                      </m:r>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rel</m:t>
                                  </m:r>
                                </m:e>
                                <m:sub>
                                  <m:r>
                                    <a:rPr lang="en-US" sz="1150" i="1">
                                      <a:solidFill>
                                        <a:srgbClr val="111111"/>
                                      </a:solidFill>
                                      <a:latin typeface="Cambria Math" panose="02040503050406030204" pitchFamily="18" charset="0"/>
                                    </a:rPr>
                                    <m:t xml:space="preserve">i</m:t>
                                  </m:r>
                                </m:sub>
                              </m:sSub>
                            </m:num>
                            <m:den>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log</m:t>
                                  </m:r>
                                </m:e>
                                <m:sub>
                                  <m:r>
                                    <m:rPr>
                                      <m:sty m:val="p"/>
                                    </m:rPr>
                                    <a:rPr lang="en-US" sz="1150">
                                      <a:solidFill>
                                        <a:srgbClr val="111111"/>
                                      </a:solidFill>
                                      <a:latin typeface="Cambria Math" panose="02040503050406030204" pitchFamily="18" charset="0"/>
                                    </a:rPr>
                                    <m:t xml:space="preserve">2</m:t>
                                  </m:r>
                                </m:sub>
                              </m:sSub>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den>
                          </m:f>
                        </m:e>
                      </m:nary>
                    </m:oMath>
                  </m:oMathPara>
                </a14:m>
                <a:endParaRPr lang="en-US" sz="1150"/>
              </a:p>
            </p:txBody>
          </p:sp>
        </mc:Choice>
        <mc:Fallback>
          <p:sp>
            <p:nvSpPr>
              <p:cNvPr id="33" name="Equation"/>
              <p:cNvSpPr txBox="1"/>
              <p:nvPr/>
            </p:nvSpPr>
            <p:spPr>
              <a:xfrm>
                <a:off x="3771900" y="3775202"/>
                <a:ext cx="6309360" cy="684675"/>
              </a:xfrm>
              <a:prstGeom prst="rect">
                <a:avLst/>
              </a:prstGeom>
              <a:blipFill>
                <a:blip r:embed="rId5"/>
                <a:stretch>
                  <a:fillRect/>
                </a:stretch>
              </a:blipFill>
            </p:spPr>
            <p:txBody>
              <a:bodyPr/>
              <a:lstStyle/>
              <a:p>
                <a:endParaRPr lang="en-US"/>
              </a:p>
            </p:txBody>
          </p:sp>
        </mc:Fallback>
      </mc:AlternateContent>
      <p:sp>
        <p:nvSpPr>
          <p:cNvPr id="34" name="TextBox 33"/>
          <p:cNvSpPr txBox="1"/>
          <p:nvPr/>
        </p:nvSpPr>
        <p:spPr>
          <a:xfrm>
            <a:off x="10309860" y="3747770"/>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5" name="Connector 34"/>
          <p:cNvCxnSpPr/>
          <p:nvPr/>
        </p:nvCxnSpPr>
        <p:spPr>
          <a:xfrm>
            <a:off x="1028700" y="4487309"/>
            <a:ext cx="16230600" cy="0"/>
          </a:xfrm>
          <a:prstGeom prst="line">
            <a:avLst/>
          </a:prstGeom>
          <a:ln w="12700">
            <a:solidFill>
              <a:srgbClr val="E3D6C4"/>
            </a:solidFill>
          </a:ln>
        </p:spPr>
      </p:cxnSp>
      <p:sp>
        <p:nvSpPr>
          <p:cNvPr id="36" name="Rectangle 35"/>
          <p:cNvSpPr/>
          <p:nvPr/>
        </p:nvSpPr>
        <p:spPr>
          <a:xfrm>
            <a:off x="1028700" y="4487309"/>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37" name="TextBox 36"/>
          <p:cNvSpPr txBox="1"/>
          <p:nvPr/>
        </p:nvSpPr>
        <p:spPr>
          <a:xfrm>
            <a:off x="1165860" y="4487309"/>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38" name="Equation"/>
              <p:cNvSpPr txBox="1"/>
              <p:nvPr/>
            </p:nvSpPr>
            <p:spPr>
              <a:xfrm>
                <a:off x="3771900" y="4514741"/>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00">
                          <a:solidFill>
                            <a:srgbClr val="111111"/>
                          </a:solidFill>
                          <a:latin typeface="Cambria Math" panose="02040503050406030204" pitchFamily="18" charset="0"/>
                        </a:rPr>
                        <m:t xml:space="preserve">Recall@</m:t>
                      </m:r>
                      <m:r>
                        <a:rPr lang="en-US" sz="1100" i="1">
                          <a:solidFill>
                            <a:srgbClr val="111111"/>
                          </a:solidFill>
                          <a:latin typeface="Cambria Math" panose="02040503050406030204" pitchFamily="18" charset="0"/>
                        </a:rPr>
                        <m:t xml:space="preserve">K</m:t>
                      </m:r>
                      <m:r>
                        <m:rPr>
                          <m:sty m:val="p"/>
                        </m:rPr>
                        <a:rPr lang="en-US" sz="1100">
                          <a:solidFill>
                            <a:srgbClr val="111111"/>
                          </a:solidFill>
                          <a:latin typeface="Cambria Math" panose="02040503050406030204" pitchFamily="18" charset="0"/>
                        </a:rPr>
                        <m:t xml:space="preserve">=</m:t>
                      </m:r>
                      <m:f>
                        <m:fPr>
                          <m:ctrlPr>
                            <a:rPr lang="en-US" sz="1100" i="1">
                              <a:solidFill>
                                <a:srgbClr val="111111"/>
                              </a:solidFill>
                              <a:latin typeface="Cambria Math" panose="02040503050406030204" pitchFamily="18" charset="0"/>
                            </a:rPr>
                          </m:ctrlPr>
                        </m:fPr>
                        <m:num>
                          <m:r>
                            <m:rPr>
                              <m:sty m:val="p"/>
                            </m:rPr>
                            <a:rPr lang="en-US" sz="1100">
                              <a:solidFill>
                                <a:srgbClr val="111111"/>
                              </a:solidFill>
                              <a:latin typeface="Cambria Math" panose="02040503050406030204" pitchFamily="18" charset="0"/>
                            </a:rPr>
                            <m:t xml:space="preserve">| </m:t>
                          </m:r>
                          <m:sSubSup>
                            <m:sSubSupPr>
                              <m:ctrlPr>
                                <a:rPr lang="en-US" sz="1100" i="1">
                                  <a:solidFill>
                                    <a:srgbClr val="111111"/>
                                  </a:solidFill>
                                  <a:latin typeface="Cambria Math" panose="02040503050406030204" pitchFamily="18" charset="0"/>
                                </a:rPr>
                              </m:ctrlPr>
                            </m:sSubSupPr>
                            <m:e>
                              <m:r>
                                <a:rPr lang="en-US" sz="1100" i="1">
                                  <a:solidFill>
                                    <a:srgbClr val="111111"/>
                                  </a:solidFill>
                                  <a:latin typeface="Cambria Math" panose="02040503050406030204" pitchFamily="18" charset="0"/>
                                </a:rPr>
                                <m:t xml:space="preserve">L</m:t>
                              </m:r>
                            </m:e>
                            <m:sub>
                              <m:r>
                                <a:rPr lang="en-US" sz="1100" i="1">
                                  <a:solidFill>
                                    <a:srgbClr val="111111"/>
                                  </a:solidFill>
                                  <a:latin typeface="Cambria Math" panose="02040503050406030204" pitchFamily="18" charset="0"/>
                                </a:rPr>
                                <m:t xml:space="preserve">u</m:t>
                              </m:r>
                            </m:sub>
                            <m:sup>
                              <m:r>
                                <a:rPr lang="en-US" sz="1100" i="1">
                                  <a:solidFill>
                                    <a:srgbClr val="111111"/>
                                  </a:solidFill>
                                  <a:latin typeface="Cambria Math" panose="02040503050406030204" pitchFamily="18" charset="0"/>
                                </a:rPr>
                                <m:t xml:space="preserve">K</m:t>
                              </m:r>
                            </m:sup>
                          </m:sSubSup>
                          <m:r>
                            <m:rPr>
                              <m:sty m:val="p"/>
                            </m:rPr>
                            <a:rPr lang="en-US" sz="1100">
                              <a:solidFill>
                                <a:srgbClr val="111111"/>
                              </a:solidFill>
                              <a:latin typeface="Cambria Math" panose="02040503050406030204" pitchFamily="18" charset="0"/>
                            </a:rPr>
                            <m:t xml:space="preserve">∩</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num>
                        <m:den>
                          <m:r>
                            <m:rPr>
                              <m:sty m:val="p"/>
                            </m:rPr>
                            <a:rPr lang="en-US" sz="1100">
                              <a:solidFill>
                                <a:srgbClr val="111111"/>
                              </a:solidFill>
                              <a:latin typeface="Cambria Math" panose="02040503050406030204" pitchFamily="18" charset="0"/>
                            </a:rPr>
                            <m:t xml:space="preserve">| </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den>
                      </m:f>
                    </m:oMath>
                  </m:oMathPara>
                </a14:m>
                <a:endParaRPr lang="en-US" sz="1100"/>
              </a:p>
            </p:txBody>
          </p:sp>
        </mc:Choice>
        <mc:Fallback>
          <p:sp>
            <p:nvSpPr>
              <p:cNvPr id="38" name="Equation"/>
              <p:cNvSpPr txBox="1"/>
              <p:nvPr/>
            </p:nvSpPr>
            <p:spPr>
              <a:xfrm>
                <a:off x="3771900" y="4514741"/>
                <a:ext cx="6309360" cy="684675"/>
              </a:xfrm>
              <a:prstGeom prst="rect">
                <a:avLst/>
              </a:prstGeom>
              <a:blipFill>
                <a:blip r:embed="rId6"/>
                <a:stretch>
                  <a:fillRect/>
                </a:stretch>
              </a:blipFill>
            </p:spPr>
            <p:txBody>
              <a:bodyPr/>
              <a:lstStyle/>
              <a:p>
                <a:endParaRPr lang="en-US"/>
              </a:p>
            </p:txBody>
          </p:sp>
        </mc:Fallback>
      </mc:AlternateContent>
      <p:sp>
        <p:nvSpPr>
          <p:cNvPr id="39" name="TextBox 38"/>
          <p:cNvSpPr txBox="1"/>
          <p:nvPr/>
        </p:nvSpPr>
        <p:spPr>
          <a:xfrm>
            <a:off x="10309860" y="4487309"/>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0" name="Connector 39"/>
          <p:cNvCxnSpPr/>
          <p:nvPr/>
        </p:nvCxnSpPr>
        <p:spPr>
          <a:xfrm>
            <a:off x="1028700" y="5226848"/>
            <a:ext cx="16230600" cy="0"/>
          </a:xfrm>
          <a:prstGeom prst="line">
            <a:avLst/>
          </a:prstGeom>
          <a:ln w="12700">
            <a:solidFill>
              <a:srgbClr val="E3D6C4"/>
            </a:solidFill>
          </a:ln>
        </p:spPr>
      </p:cxnSp>
      <p:sp>
        <p:nvSpPr>
          <p:cNvPr id="41" name="Rectangle 40"/>
          <p:cNvSpPr/>
          <p:nvPr/>
        </p:nvSpPr>
        <p:spPr>
          <a:xfrm>
            <a:off x="1028700" y="5226848"/>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42" name="TextBox 41"/>
          <p:cNvSpPr txBox="1"/>
          <p:nvPr/>
        </p:nvSpPr>
        <p:spPr>
          <a:xfrm>
            <a:off x="1165860" y="5226848"/>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Precision@K</a:t>
            </a:r>
          </a:p>
        </p:txBody>
      </p:sp>
      <mc:AlternateContent xmlns:mc="http://schemas.openxmlformats.org/markup-compatibility/2006">
        <mc:Choice xmlns:a14="http://schemas.microsoft.com/office/drawing/2010/main" Requires="a14">
          <p:sp>
            <p:nvSpPr>
              <p:cNvPr id="43" name="Equation"/>
              <p:cNvSpPr txBox="1"/>
              <p:nvPr/>
            </p:nvSpPr>
            <p:spPr>
              <a:xfrm>
                <a:off x="3771900" y="5254280"/>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Precision@</m:t>
                      </m:r>
                      <m:r>
                        <a:rPr lang="en-US" sz="1250" i="1">
                          <a:solidFill>
                            <a:srgbClr val="111111"/>
                          </a:solidFill>
                          <a:latin typeface="Cambria Math" panose="02040503050406030204" pitchFamily="18" charset="0"/>
                        </a:rPr>
                        <m:t xml:space="preserve">K</m:t>
                      </m:r>
                      <m:r>
                        <m:rPr>
                          <m:sty m:val="p"/>
                        </m:rPr>
                        <a:rPr lang="en-US" sz="1250">
                          <a:solidFill>
                            <a:srgbClr val="111111"/>
                          </a:solidFill>
                          <a:latin typeface="Cambria Math" panose="02040503050406030204" pitchFamily="18" charset="0"/>
                        </a:rPr>
                        <m:t xml:space="preserve">=</m:t>
                      </m:r>
                      <m:f>
                        <m:fPr>
                          <m:ctrlPr>
                            <a:rPr lang="en-US" sz="1250" i="1">
                              <a:solidFill>
                                <a:srgbClr val="111111"/>
                              </a:solidFill>
                              <a:latin typeface="Cambria Math" panose="02040503050406030204" pitchFamily="18" charset="0"/>
                            </a:rPr>
                          </m:ctrlPr>
                        </m:fPr>
                        <m:num>
                          <m:r>
                            <m:rPr>
                              <m:sty m:val="p"/>
                            </m:rPr>
                            <a:rPr lang="en-US" sz="1250">
                              <a:solidFill>
                                <a:srgbClr val="111111"/>
                              </a:solidFill>
                              <a:latin typeface="Cambria Math" panose="02040503050406030204" pitchFamily="18" charset="0"/>
                            </a:rPr>
                            <m:t xml:space="preserve">| </m:t>
                          </m:r>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r>
                            <m:rPr>
                              <m:sty m:val="p"/>
                            </m:rPr>
                            <a:rPr lang="en-US" sz="1250">
                              <a:solidFill>
                                <a:srgbClr val="111111"/>
                              </a:solidFill>
                              <a:latin typeface="Cambria Math" panose="02040503050406030204" pitchFamily="18" charset="0"/>
                            </a:rPr>
                            <m:t xml:space="preserve">∩</m:t>
                          </m:r>
                          <m:sSub>
                            <m:sSubPr>
                              <m:ctrlPr>
                                <a:rPr lang="en-US" sz="1250" i="1">
                                  <a:solidFill>
                                    <a:srgbClr val="111111"/>
                                  </a:solidFill>
                                  <a:latin typeface="Cambria Math" panose="02040503050406030204" pitchFamily="18" charset="0"/>
                                </a:rPr>
                              </m:ctrlPr>
                            </m:sSubPr>
                            <m:e>
                              <m:r>
                                <m:rPr>
                                  <m:scr m:val="script"/>
                                  <m:sty m:val="p"/>
                                </m:rPr>
                                <a:rPr lang="en-US" sz="1250">
                                  <a:solidFill>
                                    <a:srgbClr val="111111"/>
                                  </a:solidFill>
                                  <a:latin typeface="Cambria Math" panose="02040503050406030204" pitchFamily="18" charset="0"/>
                                </a:rPr>
                                <m:t xml:space="preserve">R</m:t>
                              </m:r>
                            </m:e>
                            <m:sub>
                              <m:r>
                                <a:rPr lang="en-US" sz="1250" i="1">
                                  <a:solidFill>
                                    <a:srgbClr val="111111"/>
                                  </a:solidFill>
                                  <a:latin typeface="Cambria Math" panose="02040503050406030204" pitchFamily="18" charset="0"/>
                                </a:rPr>
                                <m:t xml:space="preserve">u</m:t>
                              </m:r>
                            </m:sub>
                          </m:sSub>
                          <m:r>
                            <m:rPr>
                              <m:sty m:val="p"/>
                            </m:rPr>
                            <a:rPr lang="en-US" sz="1250">
                              <a:solidFill>
                                <a:srgbClr val="111111"/>
                              </a:solidFill>
                              <a:latin typeface="Cambria Math" panose="02040503050406030204" pitchFamily="18" charset="0"/>
                            </a:rPr>
                            <m:t xml:space="preserve"> |</m:t>
                          </m:r>
                        </m:num>
                        <m:den>
                          <m:r>
                            <a:rPr lang="en-US" sz="1250" i="1">
                              <a:solidFill>
                                <a:srgbClr val="111111"/>
                              </a:solidFill>
                              <a:latin typeface="Cambria Math" panose="02040503050406030204" pitchFamily="18" charset="0"/>
                            </a:rPr>
                            <m:t xml:space="preserve">K</m:t>
                          </m:r>
                        </m:den>
                      </m:f>
                    </m:oMath>
                  </m:oMathPara>
                </a14:m>
                <a:endParaRPr lang="en-US" sz="1250"/>
              </a:p>
            </p:txBody>
          </p:sp>
        </mc:Choice>
        <mc:Fallback>
          <p:sp>
            <p:nvSpPr>
              <p:cNvPr id="43" name="Equation"/>
              <p:cNvSpPr txBox="1"/>
              <p:nvPr/>
            </p:nvSpPr>
            <p:spPr>
              <a:xfrm>
                <a:off x="3771900" y="5254280"/>
                <a:ext cx="6309360" cy="684675"/>
              </a:xfrm>
              <a:prstGeom prst="rect">
                <a:avLst/>
              </a:prstGeom>
              <a:blipFill>
                <a:blip r:embed="rId7"/>
                <a:stretch>
                  <a:fillRect/>
                </a:stretch>
              </a:blipFill>
            </p:spPr>
            <p:txBody>
              <a:bodyPr/>
              <a:lstStyle/>
              <a:p>
                <a:endParaRPr lang="en-US"/>
              </a:p>
            </p:txBody>
          </p:sp>
        </mc:Fallback>
      </mc:AlternateContent>
      <p:sp>
        <p:nvSpPr>
          <p:cNvPr id="44" name="TextBox 43"/>
          <p:cNvSpPr txBox="1"/>
          <p:nvPr/>
        </p:nvSpPr>
        <p:spPr>
          <a:xfrm>
            <a:off x="10309860" y="5226848"/>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top-K list that is relevant.</a:t>
            </a:r>
          </a:p>
        </p:txBody>
      </p:sp>
      <p:cxnSp>
        <p:nvCxnSpPr>
          <p:cNvPr id="45" name="Connector 44"/>
          <p:cNvCxnSpPr/>
          <p:nvPr/>
        </p:nvCxnSpPr>
        <p:spPr>
          <a:xfrm>
            <a:off x="1028700" y="5966387"/>
            <a:ext cx="16230600" cy="0"/>
          </a:xfrm>
          <a:prstGeom prst="line">
            <a:avLst/>
          </a:prstGeom>
          <a:ln w="12700">
            <a:solidFill>
              <a:srgbClr val="E3D6C4"/>
            </a:solidFill>
          </a:ln>
        </p:spPr>
      </p:cxnSp>
      <p:sp>
        <p:nvSpPr>
          <p:cNvPr id="46" name="Rectangle 45"/>
          <p:cNvSpPr/>
          <p:nvPr/>
        </p:nvSpPr>
        <p:spPr>
          <a:xfrm>
            <a:off x="1028700" y="5966387"/>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47" name="TextBox 46"/>
          <p:cNvSpPr txBox="1"/>
          <p:nvPr/>
        </p:nvSpPr>
        <p:spPr>
          <a:xfrm>
            <a:off x="1165860" y="5966387"/>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8" name="Equation"/>
              <p:cNvSpPr txBox="1"/>
              <p:nvPr/>
            </p:nvSpPr>
            <p:spPr>
              <a:xfrm>
                <a:off x="3771900" y="5993819"/>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Cov=</m:t>
                      </m:r>
                      <m:f>
                        <m:fPr>
                          <m:ctrlPr>
                            <a:rPr lang="en-US" sz="1250" i="1">
                              <a:solidFill>
                                <a:srgbClr val="111111"/>
                              </a:solidFill>
                              <a:latin typeface="Cambria Math" panose="02040503050406030204" pitchFamily="18" charset="0"/>
                            </a:rPr>
                          </m:ctrlPr>
                        </m:fPr>
                        <m:num>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nary>
                                <m:naryPr>
                                  <m:chr m:val="⋃"/>
                                  <m:limLoc m:val="subSup"/>
                                  <m:supHide m:val="1"/>
                                  <m:ctrlPr>
                                    <a:rPr lang="en-US" sz="1250" i="1">
                                      <a:solidFill>
                                        <a:srgbClr val="111111"/>
                                      </a:solidFill>
                                      <a:latin typeface="Cambria Math" panose="02040503050406030204" pitchFamily="18" charset="0"/>
                                    </a:rPr>
                                  </m:ctrlPr>
                                </m:naryPr>
                                <m:sub>
                                  <m:r>
                                    <a:rPr lang="en-US" sz="1250" i="1">
                                      <a:solidFill>
                                        <a:srgbClr val="111111"/>
                                      </a:solidFill>
                                      <a:latin typeface="Cambria Math" panose="02040503050406030204" pitchFamily="18" charset="0"/>
                                    </a:rPr>
                                    <m:t xml:space="preserve">u</m:t>
                                  </m:r>
                                </m:sub>
                                <m:sup/>
                                <m:e>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e>
                              </m:nary>
                              <m:r>
                                <m:rPr>
                                  <m:sty m:val="p"/>
                                </m:rPr>
                                <a:rPr lang="en-US" sz="1250">
                                  <a:solidFill>
                                    <a:srgbClr val="111111"/>
                                  </a:solidFill>
                                  <a:latin typeface="Cambria Math" panose="02040503050406030204" pitchFamily="18" charset="0"/>
                                </a:rPr>
                                <m:t xml:space="preserve"> </m:t>
                              </m:r>
                            </m:e>
                          </m:d>
                        </m:num>
                        <m:den>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r>
                                <a:rPr lang="en-US" sz="1250" i="1">
                                  <a:solidFill>
                                    <a:srgbClr val="111111"/>
                                  </a:solidFill>
                                  <a:latin typeface="Cambria Math" panose="02040503050406030204" pitchFamily="18" charset="0"/>
                                </a:rPr>
                                <m:t xml:space="preserve">I</m:t>
                              </m:r>
                              <m:r>
                                <m:rPr>
                                  <m:sty m:val="p"/>
                                </m:rPr>
                                <a:rPr lang="en-US" sz="1250">
                                  <a:solidFill>
                                    <a:srgbClr val="111111"/>
                                  </a:solidFill>
                                  <a:latin typeface="Cambria Math" panose="02040503050406030204" pitchFamily="18" charset="0"/>
                                </a:rPr>
                                <m:t xml:space="preserve"> </m:t>
                              </m:r>
                            </m:e>
                          </m:d>
                        </m:den>
                      </m:f>
                    </m:oMath>
                  </m:oMathPara>
                </a14:m>
                <a:endParaRPr lang="en-US" sz="1250"/>
              </a:p>
            </p:txBody>
          </p:sp>
        </mc:Choice>
        <mc:Fallback>
          <p:sp>
            <p:nvSpPr>
              <p:cNvPr id="48" name="Equation"/>
              <p:cNvSpPr txBox="1"/>
              <p:nvPr/>
            </p:nvSpPr>
            <p:spPr>
              <a:xfrm>
                <a:off x="3771900" y="5993819"/>
                <a:ext cx="6309360" cy="684675"/>
              </a:xfrm>
              <a:prstGeom prst="rect">
                <a:avLst/>
              </a:prstGeom>
              <a:blipFill>
                <a:blip r:embed="rId8"/>
                <a:stretch>
                  <a:fillRect/>
                </a:stretch>
              </a:blipFill>
            </p:spPr>
            <p:txBody>
              <a:bodyPr/>
              <a:lstStyle/>
              <a:p>
                <a:endParaRPr lang="en-US"/>
              </a:p>
            </p:txBody>
          </p:sp>
        </mc:Fallback>
      </mc:AlternateContent>
      <p:sp>
        <p:nvSpPr>
          <p:cNvPr id="49" name="TextBox 48"/>
          <p:cNvSpPr txBox="1"/>
          <p:nvPr/>
        </p:nvSpPr>
        <p:spPr>
          <a:xfrm>
            <a:off x="10309860" y="5966387"/>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50" name="Connector 49"/>
          <p:cNvCxnSpPr/>
          <p:nvPr/>
        </p:nvCxnSpPr>
        <p:spPr>
          <a:xfrm>
            <a:off x="1028700" y="6705926"/>
            <a:ext cx="16230600" cy="0"/>
          </a:xfrm>
          <a:prstGeom prst="line">
            <a:avLst/>
          </a:prstGeom>
          <a:ln w="12700">
            <a:solidFill>
              <a:srgbClr val="E3D6C4"/>
            </a:solidFill>
          </a:ln>
        </p:spPr>
      </p:cxnSp>
      <p:sp>
        <p:nvSpPr>
          <p:cNvPr id="51" name="Rectangle 50"/>
          <p:cNvSpPr/>
          <p:nvPr/>
        </p:nvSpPr>
        <p:spPr>
          <a:xfrm>
            <a:off x="1028700" y="6705926"/>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52" name="TextBox 51"/>
          <p:cNvSpPr txBox="1"/>
          <p:nvPr/>
        </p:nvSpPr>
        <p:spPr>
          <a:xfrm>
            <a:off x="1165860" y="6705926"/>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3" name="Equation"/>
              <p:cNvSpPr txBox="1"/>
              <p:nvPr/>
            </p:nvSpPr>
            <p:spPr>
              <a:xfrm>
                <a:off x="3771900" y="6733358"/>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ILD(</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L</m:t>
                          </m:r>
                        </m:e>
                        <m:sub>
                          <m:r>
                            <a:rPr lang="en-US" sz="1150" i="1">
                              <a:solidFill>
                                <a:srgbClr val="111111"/>
                              </a:solidFill>
                              <a:latin typeface="Cambria Math" panose="02040503050406030204" pitchFamily="18" charset="0"/>
                            </a:rPr>
                            <m:t xml:space="preserve">u</m:t>
                          </m:r>
                        </m:sub>
                      </m:sSub>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2</m:t>
                          </m:r>
                        </m:num>
                        <m:den>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−1)</m:t>
                          </m:r>
                        </m:den>
                      </m:f>
                      <m:nary>
                        <m:naryPr>
                          <m:chr m:val="∑"/>
                          <m:limLoc m:val="subSup"/>
                          <m:supHide m:val="1"/>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&lt;</m:t>
                          </m:r>
                          <m:r>
                            <a:rPr lang="en-US" sz="1150" i="1">
                              <a:solidFill>
                                <a:srgbClr val="111111"/>
                              </a:solidFill>
                              <a:latin typeface="Cambria Math" panose="02040503050406030204" pitchFamily="18" charset="0"/>
                            </a:rPr>
                            <m:t xml:space="preserve">j</m:t>
                          </m:r>
                        </m:sub>
                        <m:sup/>
                        <m:e>
                          <m:d>
                            <m:dPr>
                              <m:ctrlPr>
                                <a:rPr lang="en-US" sz="1150" i="1">
                                  <a:solidFill>
                                    <a:srgbClr val="111111"/>
                                  </a:solidFill>
                                  <a:latin typeface="Cambria Math" panose="02040503050406030204" pitchFamily="18" charset="0"/>
                                </a:rPr>
                              </m:ctrlPr>
                            </m:dPr>
                            <m:e>
                              <m:r>
                                <m:rPr>
                                  <m:sty m:val="p"/>
                                </m:rPr>
                                <a:rPr lang="en-US" sz="1150">
                                  <a:solidFill>
                                    <a:srgbClr val="111111"/>
                                  </a:solidFill>
                                  <a:latin typeface="Cambria Math" panose="02040503050406030204" pitchFamily="18" charset="0"/>
                                </a:rPr>
                                <m:t xml:space="preserve">1−sim(</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j</m:t>
                              </m:r>
                              <m:r>
                                <m:rPr>
                                  <m:sty m:val="p"/>
                                </m:rPr>
                                <a:rPr lang="en-US" sz="1150">
                                  <a:solidFill>
                                    <a:srgbClr val="111111"/>
                                  </a:solidFill>
                                  <a:latin typeface="Cambria Math" panose="02040503050406030204" pitchFamily="18" charset="0"/>
                                </a:rPr>
                                <m:t xml:space="preserve">)</m:t>
                              </m:r>
                            </m:e>
                          </m:d>
                        </m:e>
                      </m:nary>
                    </m:oMath>
                  </m:oMathPara>
                </a14:m>
                <a:endParaRPr lang="en-US" sz="1150"/>
              </a:p>
            </p:txBody>
          </p:sp>
        </mc:Choice>
        <mc:Fallback>
          <p:sp>
            <p:nvSpPr>
              <p:cNvPr id="53" name="Equation"/>
              <p:cNvSpPr txBox="1"/>
              <p:nvPr/>
            </p:nvSpPr>
            <p:spPr>
              <a:xfrm>
                <a:off x="3771900" y="6733358"/>
                <a:ext cx="6309360" cy="684675"/>
              </a:xfrm>
              <a:prstGeom prst="rect">
                <a:avLst/>
              </a:prstGeom>
              <a:blipFill>
                <a:blip r:embed="rId9"/>
                <a:stretch>
                  <a:fillRect/>
                </a:stretch>
              </a:blipFill>
            </p:spPr>
            <p:txBody>
              <a:bodyPr/>
              <a:lstStyle/>
              <a:p>
                <a:endParaRPr lang="en-US"/>
              </a:p>
            </p:txBody>
          </p:sp>
        </mc:Fallback>
      </mc:AlternateContent>
      <p:sp>
        <p:nvSpPr>
          <p:cNvPr id="54" name="TextBox 53"/>
          <p:cNvSpPr txBox="1"/>
          <p:nvPr/>
        </p:nvSpPr>
        <p:spPr>
          <a:xfrm>
            <a:off x="10309860" y="6705926"/>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5" name="Connector 54"/>
          <p:cNvCxnSpPr/>
          <p:nvPr/>
        </p:nvCxnSpPr>
        <p:spPr>
          <a:xfrm>
            <a:off x="1028700" y="7445465"/>
            <a:ext cx="16230600" cy="0"/>
          </a:xfrm>
          <a:prstGeom prst="line">
            <a:avLst/>
          </a:prstGeom>
          <a:ln w="12700">
            <a:solidFill>
              <a:srgbClr val="E3D6C4"/>
            </a:solidFill>
          </a:ln>
        </p:spPr>
      </p:cxnSp>
      <p:sp>
        <p:nvSpPr>
          <p:cNvPr id="56" name="Rectangle 55"/>
          <p:cNvSpPr/>
          <p:nvPr/>
        </p:nvSpPr>
        <p:spPr>
          <a:xfrm>
            <a:off x="1028700" y="7445465"/>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57" name="TextBox 56"/>
          <p:cNvSpPr txBox="1"/>
          <p:nvPr/>
        </p:nvSpPr>
        <p:spPr>
          <a:xfrm>
            <a:off x="1165860" y="7445465"/>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8" name="Equation"/>
              <p:cNvSpPr txBox="1"/>
              <p:nvPr/>
            </p:nvSpPr>
            <p:spPr>
              <a:xfrm>
                <a:off x="3771900" y="7472897"/>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num>
                        <m:den>
                          <m:r>
                            <m:rPr>
                              <m:sty m:val="p"/>
                            </m:rPr>
                            <a:rPr lang="en-US" sz="1150">
                              <a:solidFill>
                                <a:srgbClr val="111111"/>
                              </a:solidFill>
                              <a:latin typeface="Cambria Math" panose="02040503050406030204" pitchFamily="18" charset="0"/>
                            </a:rPr>
                            <m:t xml:space="preserve">max{</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den>
                      </m:f>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∈[−1,1]</m:t>
                      </m:r>
                    </m:oMath>
                  </m:oMathPara>
                </a14:m>
                <a:endParaRPr lang="en-US" sz="1150"/>
              </a:p>
            </p:txBody>
          </p:sp>
        </mc:Choice>
        <mc:Fallback>
          <p:sp>
            <p:nvSpPr>
              <p:cNvPr id="58" name="Equation"/>
              <p:cNvSpPr txBox="1"/>
              <p:nvPr/>
            </p:nvSpPr>
            <p:spPr>
              <a:xfrm>
                <a:off x="3771900" y="7472897"/>
                <a:ext cx="6309360" cy="684675"/>
              </a:xfrm>
              <a:prstGeom prst="rect">
                <a:avLst/>
              </a:prstGeom>
              <a:blipFill>
                <a:blip r:embed="rId10"/>
                <a:stretch>
                  <a:fillRect/>
                </a:stretch>
              </a:blipFill>
            </p:spPr>
            <p:txBody>
              <a:bodyPr/>
              <a:lstStyle/>
              <a:p>
                <a:endParaRPr lang="en-US"/>
              </a:p>
            </p:txBody>
          </p:sp>
        </mc:Fallback>
      </mc:AlternateContent>
      <p:sp>
        <p:nvSpPr>
          <p:cNvPr id="59" name="TextBox 58"/>
          <p:cNvSpPr txBox="1"/>
          <p:nvPr/>
        </p:nvSpPr>
        <p:spPr>
          <a:xfrm>
            <a:off x="10309860" y="7445465"/>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60" name="Connector 59"/>
          <p:cNvCxnSpPr/>
          <p:nvPr/>
        </p:nvCxnSpPr>
        <p:spPr>
          <a:xfrm>
            <a:off x="1028700" y="8185004"/>
            <a:ext cx="16230600" cy="0"/>
          </a:xfrm>
          <a:prstGeom prst="line">
            <a:avLst/>
          </a:prstGeom>
          <a:ln w="12700">
            <a:solidFill>
              <a:srgbClr val="E3D6C4"/>
            </a:solidFill>
          </a:ln>
        </p:spPr>
      </p:cxnSp>
      <p:sp>
        <p:nvSpPr>
          <p:cNvPr id="61" name="Rectangle 60"/>
          <p:cNvSpPr/>
          <p:nvPr/>
        </p:nvSpPr>
        <p:spPr>
          <a:xfrm>
            <a:off x="1028700" y="8185004"/>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62" name="TextBox 61"/>
          <p:cNvSpPr txBox="1"/>
          <p:nvPr/>
        </p:nvSpPr>
        <p:spPr>
          <a:xfrm>
            <a:off x="1165860" y="8185004"/>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3" name="Equation"/>
              <p:cNvSpPr txBox="1"/>
              <p:nvPr/>
            </p:nvSpPr>
            <p:spPr>
              <a:xfrm>
                <a:off x="3771900" y="8212436"/>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DB=</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a:rPr lang="en-US" sz="1150" i="1">
                              <a:solidFill>
                                <a:srgbClr val="111111"/>
                              </a:solidFill>
                              <a:latin typeface="Cambria Math" panose="02040503050406030204" pitchFamily="18" charset="0"/>
                            </a:rPr>
                            <m:t xml:space="preserve">k</m:t>
                          </m:r>
                        </m:den>
                      </m:f>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max</m:t>
                              </m:r>
                            </m:e>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c</m:t>
                              </m:r>
                            </m:sub>
                          </m:sSub>
                        </m:e>
                      </m:nary>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num>
                        <m:den>
                          <m:r>
                            <a:rPr lang="en-US" sz="1150" i="1">
                              <a:solidFill>
                                <a:srgbClr val="111111"/>
                              </a:solidFill>
                              <a:latin typeface="Cambria Math" panose="02040503050406030204" pitchFamily="18" charset="0"/>
                            </a:rPr>
                            <m:t xml:space="preserve">d</m:t>
                          </m:r>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den>
                      </m:f>
                    </m:oMath>
                  </m:oMathPara>
                </a14:m>
                <a:endParaRPr lang="en-US" sz="1150"/>
              </a:p>
            </p:txBody>
          </p:sp>
        </mc:Choice>
        <mc:Fallback>
          <p:sp>
            <p:nvSpPr>
              <p:cNvPr id="63" name="Equation"/>
              <p:cNvSpPr txBox="1"/>
              <p:nvPr/>
            </p:nvSpPr>
            <p:spPr>
              <a:xfrm>
                <a:off x="3771900" y="8212436"/>
                <a:ext cx="6309360" cy="684675"/>
              </a:xfrm>
              <a:prstGeom prst="rect">
                <a:avLst/>
              </a:prstGeom>
              <a:blipFill>
                <a:blip r:embed="rId11"/>
                <a:stretch>
                  <a:fillRect/>
                </a:stretch>
              </a:blipFill>
            </p:spPr>
            <p:txBody>
              <a:bodyPr/>
              <a:lstStyle/>
              <a:p>
                <a:endParaRPr lang="en-US"/>
              </a:p>
            </p:txBody>
          </p:sp>
        </mc:Fallback>
      </mc:AlternateContent>
      <p:sp>
        <p:nvSpPr>
          <p:cNvPr id="64" name="TextBox 63"/>
          <p:cNvSpPr txBox="1"/>
          <p:nvPr/>
        </p:nvSpPr>
        <p:spPr>
          <a:xfrm>
            <a:off x="10309860" y="8185004"/>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5" name="Connector 64"/>
          <p:cNvCxnSpPr/>
          <p:nvPr/>
        </p:nvCxnSpPr>
        <p:spPr>
          <a:xfrm>
            <a:off x="1028700" y="8924544"/>
            <a:ext cx="16230600" cy="0"/>
          </a:xfrm>
          <a:prstGeom prst="line">
            <a:avLst/>
          </a:prstGeom>
          <a:ln w="12700">
            <a:solidFill>
              <a:srgbClr val="E3D6C4"/>
            </a:solidFill>
          </a:ln>
        </p:spPr>
      </p:cxnSp>
      <p:sp>
        <p:nvSpPr>
          <p:cNvPr id="66" name="TextBox 65"/>
          <p:cNvSpPr txBox="1"/>
          <p:nvPr/>
        </p:nvSpPr>
        <p:spPr>
          <a:xfrm>
            <a:off x="1028700" y="8997696"/>
            <a:ext cx="1623060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Notation:</a:t>
            </a:r>
            <a:r>
              <a:rPr lang="en-US" sz="1300" b="true">
                <a:solidFill>
                  <a:srgbClr val="8A8378"/>
                </a:solidFill>
                <a:latin typeface="Nunito Semi-Bold"/>
                <a:ea typeface="Nunito Semi-Bold"/>
                <a:cs typeface="Nunito Semi-Bold"/>
                <a:sym typeface="Nunito Semi-Bold"/>
              </a:rPr>
              <a:t> L</a:t>
            </a:r>
            <a:r>
              <a:rPr lang="en-US" sz="1300" b="true" baseline="-25000">
                <a:solidFill>
                  <a:srgbClr val="8A8378"/>
                </a:solidFill>
                <a:latin typeface="Nunito Semi-Bold"/>
                <a:ea typeface="Nunito Semi-Bold"/>
                <a:cs typeface="Nunito Semi-Bold"/>
                <a:sym typeface="Nunito Semi-Bold"/>
              </a:rPr>
              <a:t>u</a:t>
            </a:r>
            <a:r>
              <a:rPr lang="en-US" sz="1300" b="true" baseline="30000">
                <a:solidFill>
                  <a:srgbClr val="8A8378"/>
                </a:solidFill>
                <a:latin typeface="Nunito Semi-Bold"/>
                <a:ea typeface="Nunito Semi-Bold"/>
                <a:cs typeface="Nunito Semi-Bold"/>
                <a:sym typeface="Nunito Semi-Bold"/>
              </a:rPr>
              <a:t>K</a:t>
            </a:r>
            <a:r>
              <a:rPr lang="en-US" sz="1300" b="true">
                <a:solidFill>
                  <a:srgbClr val="8A8378"/>
                </a:solidFill>
                <a:latin typeface="Nunito Semi-Bold"/>
                <a:ea typeface="Nunito Semi-Bold"/>
                <a:cs typeface="Nunito Semi-Bold"/>
                <a:sym typeface="Nunito Semi-Bold"/>
              </a:rPr>
              <a:t> = top-K list of user u; </a:t>
            </a:r>
            <a:r>
              <a:rPr lang="en-US" sz="1300" b="true">
                <a:solidFill>
                  <a:srgbClr val="8A8378"/>
                </a:solidFill>
                <a:latin typeface="Cambria Math"/>
                <a:ea typeface="Cambria Math"/>
                <a:cs typeface="Cambria Math"/>
                <a:sym typeface="Cambria Math"/>
              </a:rPr>
              <a:t>ℛ</a:t>
            </a:r>
            <a:r>
              <a:rPr lang="en-US" sz="1300" b="true" baseline="-25000">
                <a:solidFill>
                  <a:srgbClr val="8A8378"/>
                </a:solidFill>
                <a:latin typeface="Nunito Semi-Bold"/>
                <a:ea typeface="Nunito Semi-Bold"/>
                <a:cs typeface="Nunito Semi-Bold"/>
                <a:sym typeface="Nunito Semi-Bold"/>
              </a:rPr>
              <a:t>u</a:t>
            </a:r>
            <a:r>
              <a:rPr lang="en-US" sz="1300" b="true">
                <a:solidFill>
                  <a:srgbClr val="8A8378"/>
                </a:solidFill>
                <a:latin typeface="Nunito Semi-Bold"/>
                <a:ea typeface="Nunito Semi-Bold"/>
                <a:cs typeface="Nunito Semi-Bold"/>
                <a:sym typeface="Nunito Semi-Bold"/>
              </a:rPr>
              <a:t> = relevant (held-out) items of u; rel</a:t>
            </a:r>
            <a:r>
              <a:rPr lang="en-US" sz="1300" b="true" baseline="-25000">
                <a:solidFill>
                  <a:srgbClr val="8A8378"/>
                </a:solidFill>
                <a:latin typeface="Nunito Semi-Bold"/>
                <a:ea typeface="Nunito Semi-Bold"/>
                <a:cs typeface="Nunito Semi-Bold"/>
                <a:sym typeface="Nunito Semi-Bold"/>
              </a:rPr>
              <a:t>i</a:t>
            </a:r>
            <a:r>
              <a:rPr lang="en-US" sz="1300" b="true">
                <a:solidFill>
                  <a:srgbClr val="8A8378"/>
                </a:solidFill>
                <a:latin typeface="Cambria Math"/>
                <a:ea typeface="Cambria Math"/>
                <a:cs typeface="Cambria Math"/>
                <a:sym typeface="Cambria Math"/>
              </a:rPr>
              <a:t> ∈ </a:t>
            </a:r>
            <a:r>
              <a:rPr lang="en-US" sz="1300" b="true">
                <a:solidFill>
                  <a:srgbClr val="8A8378"/>
                </a:solidFill>
                <a:latin typeface="Nunito Semi-Bold"/>
                <a:ea typeface="Nunito Semi-Bold"/>
                <a:cs typeface="Nunito Semi-Bold"/>
                <a:sym typeface="Nunito Semi-Bold"/>
              </a:rPr>
              <a:t>{0,1}; a(x), b(x) = mean intra- and nearest-cluster distance; </a:t>
            </a:r>
            <a:r>
              <a:rPr lang="en-US" sz="1300" b="true">
                <a:solidFill>
                  <a:srgbClr val="8A8378"/>
                </a:solidFill>
                <a:latin typeface="Calibri"/>
                <a:ea typeface="Calibri"/>
                <a:cs typeface="Calibri"/>
                <a:sym typeface="Calibri"/>
              </a:rPr>
              <a:t>σ</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μ</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 spread and centroid of cluster c. Reported at K </a:t>
            </a:r>
            <a:r>
              <a:rPr lang="en-US" sz="1300" b="true">
                <a:solidFill>
                  <a:srgbClr val="8A8378"/>
                </a:solidFill>
                <a:latin typeface="Cambria Math"/>
                <a:ea typeface="Cambria Math"/>
                <a:cs typeface="Cambria Math"/>
                <a:sym typeface="Cambria Math"/>
              </a:rPr>
              <a:t>∈ </a:t>
            </a:r>
            <a:r>
              <a:rPr lang="en-US" sz="1300" b="true">
                <a:solidFill>
                  <a:srgbClr val="8A8378"/>
                </a:solidFill>
                <a:latin typeface="Nunito Semi-Bold"/>
                <a:ea typeface="Nunito Semi-Bold"/>
                <a:cs typeface="Nunito Semi-Bold"/>
                <a:sym typeface="Nunito Semi-Bold"/>
              </a:rPr>
              <a:t>{5, 10, 20}; NDCG@20 is the main measure.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DF8330"/>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DF8330"/>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29" name="Rounded Rectangle 28"/>
          <p:cNvSpPr/>
          <p:nvPr/>
        </p:nvSpPr>
        <p:spPr>
          <a:xfrm>
            <a:off x="1028700" y="761695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3" name="Picture 22" descr="image.png"/>
          <p:cNvPicPr>
            <a:picLocks noChangeAspect="1"/>
          </p:cNvPicPr>
          <p:nvPr/>
        </p:nvPicPr>
        <p:blipFill>
          <a:blip r:embed="rId3"/>
          <a:stretch>
            <a:fillRect/>
          </a:stretch>
        </p:blipFill>
        <p:spPr>
          <a:xfrm>
            <a:off x="12978774"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12494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DF8330"/>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DF8330"/>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DF8330"/>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29" name="Rounded Rectangle 28"/>
          <p:cNvSpPr/>
          <p:nvPr/>
        </p:nvSpPr>
        <p:spPr>
          <a:xfrm>
            <a:off x="1028700" y="5741162"/>
            <a:ext cx="7680960" cy="868680"/>
          </a:xfrm>
          <a:prstGeom prst="roundRect">
            <a:avLst>
              <a:gd name="adj" fmla="val 23157"/>
            </a:avLst>
          </a:prstGeom>
          <a:solidFill>
            <a:srgbClr val="124944"/>
          </a:solidFill>
          <a:ln>
            <a:noFill/>
          </a:ln>
        </p:spPr>
        <p:txBody>
          <a:bodyPr anchor="ctr" rtlCol="false" lIns="0" tIns="0" rIns="0" bIns="0" wrap="square"/>
          <a:lstStyle/>
          <a:p>
            <a:endParaRPr lang="en-US" sz="1800"/>
          </a:p>
        </p:txBody>
      </p:sp>
      <p:sp>
        <p:nvSpPr>
          <p:cNvPr id="30" name="TextBox 29"/>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2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1"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1" name="Equation"/>
              <p:cNvSpPr txBox="1"/>
              <p:nvPr/>
            </p:nvSpPr>
            <p:spPr>
              <a:xfrm>
                <a:off x="1211580" y="6015482"/>
                <a:ext cx="7315200" cy="548640"/>
              </a:xfrm>
              <a:prstGeom prst="rect">
                <a:avLst/>
              </a:prstGeom>
              <a:blipFill>
                <a:blip r:embed="rId5"/>
                <a:stretch>
                  <a:fillRect/>
                </a:stretch>
              </a:blipFill>
            </p:spPr>
            <p:txBody>
              <a:bodyPr/>
              <a:lstStyle/>
              <a:p>
                <a:endParaRPr lang="en-US"/>
              </a:p>
            </p:txBody>
          </p:sp>
        </mc:Fallback>
      </mc:AlternateContent>
      <p:sp>
        <p:nvSpPr>
          <p:cNvPr id="32" name="Rounded Rectangle 31"/>
          <p:cNvSpPr/>
          <p:nvPr/>
        </p:nvSpPr>
        <p:spPr>
          <a:xfrm>
            <a:off x="1028700" y="6792722"/>
            <a:ext cx="7680960" cy="1371600"/>
          </a:xfrm>
          <a:prstGeom prst="roundRect">
            <a:avLst>
              <a:gd name="adj" fmla="val 14666"/>
            </a:avLst>
          </a:prstGeom>
          <a:solidFill>
            <a:srgbClr val="F6ECDF"/>
          </a:solidFill>
          <a:ln w="25400">
            <a:solidFill>
              <a:srgbClr val="DF8330"/>
            </a:solidFill>
          </a:ln>
        </p:spPr>
        <p:txBody>
          <a:bodyPr anchor="ctr" rtlCol="false" lIns="0" tIns="0" rIns="0" bIns="0" wrap="square"/>
          <a:lstStyle/>
          <a:p>
            <a:endParaRPr lang="en-US" sz="1800"/>
          </a:p>
        </p:txBody>
      </p:sp>
      <p:sp>
        <p:nvSpPr>
          <p:cNvPr id="33" name="Rounded Rectangle 32"/>
          <p:cNvSpPr/>
          <p:nvPr/>
        </p:nvSpPr>
        <p:spPr>
          <a:xfrm>
            <a:off x="1348740" y="6600698"/>
            <a:ext cx="38908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TOY EXAMPLE: A THREE-PIECE BAND</a:t>
            </a:r>
          </a:p>
        </p:txBody>
      </p:sp>
      <p:sp>
        <p:nvSpPr>
          <p:cNvPr id="34" name="TextBox 33"/>
          <p:cNvSpPr txBox="1"/>
          <p:nvPr/>
        </p:nvSpPr>
        <p:spPr>
          <a:xfrm>
            <a:off x="1394460" y="7067042"/>
            <a:ext cx="6949440" cy="960120"/>
          </a:xfrm>
          <a:prstGeom prst="rect">
            <a:avLst/>
          </a:prstGeom>
          <a:noFill/>
        </p:spPr>
        <p:txBody>
          <a:bodyPr anchor="ctr" rtlCol="false" lIns="0" tIns="0" rIns="0" bIns="0" wrap="square"/>
          <a:lstStyle/>
          <a:p>
            <a:pPr algn="l">
              <a:lnSpc>
                <a:spcPts val="2309"/>
              </a:lnSpc>
              <a:spcBef>
                <a:spcPts val="0"/>
              </a:spcBef>
              <a:buNone/>
            </a:pPr>
            <a:r>
              <a:rPr lang="en-US" sz="1649" b="true">
                <a:solidFill>
                  <a:srgbClr val="111111"/>
                </a:solidFill>
                <a:latin typeface="Nunito Semi-Bold"/>
                <a:ea typeface="Nunito Semi-Bold"/>
                <a:cs typeface="Nunito Semi-Bold"/>
                <a:sym typeface="Nunito Semi-Bold"/>
              </a:rPr>
              <a:t>Guitar, Voice and Drums are paid for a gig. Alone they earn </a:t>
            </a:r>
            <a:r>
              <a:rPr lang="en-US" sz="1649" b="true">
                <a:solidFill>
                  <a:srgbClr val="111111"/>
                </a:solidFill>
                <a:latin typeface="Nunito Bold"/>
                <a:ea typeface="Nunito Bold"/>
                <a:cs typeface="Nunito Bold"/>
                <a:sym typeface="Nunito Bold"/>
              </a:rPr>
              <a:t>60, 40 and 20</a:t>
            </a:r>
            <a:r>
              <a:rPr lang="en-US" sz="1649" b="true">
                <a:solidFill>
                  <a:srgbClr val="111111"/>
                </a:solidFill>
                <a:latin typeface="Nunito Semi-Bold"/>
                <a:ea typeface="Nunito Semi-Bold"/>
                <a:cs typeface="Nunito Semi-Bold"/>
                <a:sym typeface="Nunito Semi-Bold"/>
              </a:rPr>
              <a:t>; Guitar and Voice together earn </a:t>
            </a:r>
            <a:r>
              <a:rPr lang="en-US" sz="1649" b="true">
                <a:solidFill>
                  <a:srgbClr val="111111"/>
                </a:solidFill>
                <a:latin typeface="Nunito Bold"/>
                <a:ea typeface="Nunito Bold"/>
                <a:cs typeface="Nunito Bold"/>
                <a:sym typeface="Nunito Bold"/>
              </a:rPr>
              <a:t>140</a:t>
            </a:r>
            <a:r>
              <a:rPr lang="en-US" sz="1649" b="true">
                <a:solidFill>
                  <a:srgbClr val="111111"/>
                </a:solidFill>
                <a:latin typeface="Nunito Semi-Bold"/>
                <a:ea typeface="Nunito Semi-Bold"/>
                <a:cs typeface="Nunito Semi-Bold"/>
                <a:sym typeface="Nunito Semi-Bold"/>
              </a:rPr>
              <a:t>, more than their sum; all three earn </a:t>
            </a:r>
            <a:r>
              <a:rPr lang="en-US" sz="1649" b="true">
                <a:solidFill>
                  <a:srgbClr val="111111"/>
                </a:solidFill>
                <a:latin typeface="Nunito Bold"/>
                <a:ea typeface="Nunito Bold"/>
                <a:cs typeface="Nunito Bold"/>
                <a:sym typeface="Nunito Bold"/>
              </a:rPr>
              <a:t>200</a:t>
            </a:r>
            <a:r>
              <a:rPr lang="en-US" sz="1649" b="true">
                <a:solidFill>
                  <a:srgbClr val="111111"/>
                </a:solidFill>
                <a:latin typeface="Nunito Semi-Bold"/>
                <a:ea typeface="Nunito Semi-Bold"/>
                <a:cs typeface="Nunito Semi-Bold"/>
                <a:sym typeface="Nunito Semi-Bold"/>
              </a:rPr>
              <a:t>. A fair split must credit what a player </a:t>
            </a:r>
            <a:r>
              <a:rPr lang="en-US" sz="1649" b="true">
                <a:solidFill>
                  <a:srgbClr val="111111"/>
                </a:solidFill>
                <a:latin typeface="Nunito Bold"/>
                <a:ea typeface="Nunito Bold"/>
                <a:cs typeface="Nunito Bold"/>
                <a:sym typeface="Nunito Bold"/>
              </a:rPr>
              <a:t>adds to the others</a:t>
            </a:r>
            <a:r>
              <a:rPr lang="en-US" sz="1649" b="true">
                <a:solidFill>
                  <a:srgbClr val="111111"/>
                </a:solidFill>
                <a:latin typeface="Nunito Semi-Bold"/>
                <a:ea typeface="Nunito Semi-Bold"/>
                <a:cs typeface="Nunito Semi-Bold"/>
                <a:sym typeface="Nunito Semi-Bold"/>
              </a:rPr>
              <a:t>.</a:t>
            </a:r>
          </a:p>
        </p:txBody>
      </p:sp>
      <p:sp>
        <p:nvSpPr>
          <p:cNvPr id="35" name="Rounded Rectangle 34"/>
          <p:cNvSpPr/>
          <p:nvPr/>
        </p:nvSpPr>
        <p:spPr>
          <a:xfrm>
            <a:off x="1028700" y="8347202"/>
            <a:ext cx="7680960" cy="1965960"/>
          </a:xfrm>
          <a:prstGeom prst="roundRect">
            <a:avLst>
              <a:gd name="adj" fmla="val 13023"/>
            </a:avLst>
          </a:prstGeom>
          <a:solidFill>
            <a:srgbClr val="111111"/>
          </a:solidFill>
          <a:ln>
            <a:noFill/>
          </a:ln>
        </p:spPr>
        <p:txBody>
          <a:bodyPr anchor="ctr" rtlCol="false" lIns="0" tIns="0" rIns="0" bIns="0" wrap="square"/>
          <a:lstStyle/>
          <a:p>
            <a:endParaRPr lang="en-US" sz="1800"/>
          </a:p>
        </p:txBody>
      </p:sp>
      <p:sp>
        <p:nvSpPr>
          <p:cNvPr id="36" name="TextBox 35"/>
          <p:cNvSpPr txBox="1"/>
          <p:nvPr/>
        </p:nvSpPr>
        <p:spPr>
          <a:xfrm>
            <a:off x="1028700" y="8475218"/>
            <a:ext cx="7680960" cy="256032"/>
          </a:xfrm>
          <a:prstGeom prst="rect">
            <a:avLst/>
          </a:prstGeom>
          <a:noFill/>
        </p:spPr>
        <p:txBody>
          <a:bodyPr anchor="t" rtlCol="false" lIns="0" tIns="0" rIns="0" bIns="0" wrap="square"/>
          <a:lstStyle/>
          <a:p>
            <a:pPr algn="ctr">
              <a:lnSpc>
                <a:spcPts val="1500"/>
              </a:lnSpc>
              <a:spcBef>
                <a:spcPts val="0"/>
              </a:spcBef>
              <a:buNone/>
            </a:pPr>
            <a:r>
              <a:rPr lang="en-US" sz="12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7" name="Equation"/>
              <p:cNvSpPr txBox="1"/>
              <p:nvPr/>
            </p:nvSpPr>
            <p:spPr>
              <a:xfrm>
                <a:off x="1211580" y="8749538"/>
                <a:ext cx="7315200" cy="10972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800" i="1">
                              <a:solidFill>
                                <a:srgbClr val="FFFFFF"/>
                              </a:solidFill>
                              <a:latin typeface="Cambria Math" panose="02040503050406030204" pitchFamily="18" charset="0"/>
                            </a:rPr>
                          </m:ctrlPr>
                        </m:sSubPr>
                        <m:e>
                          <m:r>
                            <a:rPr lang="en-US" sz="1800" i="1">
                              <a:solidFill>
                                <a:srgbClr val="FFFFFF"/>
                              </a:solidFill>
                              <a:latin typeface="Cambria Math" panose="02040503050406030204" pitchFamily="18" charset="0"/>
                            </a:rPr>
                            <m:t xml:space="preserve">φ</m:t>
                          </m:r>
                        </m:e>
                        <m:sub>
                          <m:r>
                            <a:rPr lang="en-US" sz="1800" i="1">
                              <a:solidFill>
                                <a:srgbClr val="FFFFFF"/>
                              </a:solidFill>
                              <a:latin typeface="Cambria Math" panose="02040503050406030204" pitchFamily="18" charset="0"/>
                            </a:rPr>
                            <m:t xml:space="preserve">j</m:t>
                          </m:r>
                        </m:sub>
                      </m:sSub>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nary>
                        <m:naryPr>
                          <m:chr m:val="∑"/>
                          <m:limLoc m:val="undOvr"/>
                          <m:supHide m:val="1"/>
                          <m:ctrlPr>
                            <a:rPr lang="en-US" sz="1800" i="1">
                              <a:solidFill>
                                <a:srgbClr val="FFFFFF"/>
                              </a:solidFill>
                              <a:latin typeface="Cambria Math" panose="02040503050406030204" pitchFamily="18" charset="0"/>
                            </a:rPr>
                          </m:ctrlPr>
                        </m:naryPr>
                        <m:sub>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j</m:t>
                          </m:r>
                          <m:r>
                            <m:rPr>
                              <m:sty m:val="p"/>
                            </m:rPr>
                            <a:rPr lang="en-US" sz="1800">
                              <a:solidFill>
                                <a:srgbClr val="FFFFFF"/>
                              </a:solidFill>
                              <a:latin typeface="Cambria Math" panose="02040503050406030204" pitchFamily="18" charset="0"/>
                            </a:rPr>
                            <m:t xml:space="preserve">}</m:t>
                          </m:r>
                        </m:sub>
                        <m:sup/>
                        <m:e>
                          <m:f>
                            <m:fPr>
                              <m:ctrlPr>
                                <a:rPr lang="en-US" sz="1800" i="1">
                                  <a:solidFill>
                                    <a:srgbClr val="FFFFFF"/>
                                  </a:solidFill>
                                  <a:latin typeface="Cambria Math" panose="02040503050406030204" pitchFamily="18" charset="0"/>
                                </a:rPr>
                              </m:ctrlPr>
                            </m:fPr>
                            <m:num>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 (</m:t>
                              </m:r>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|−1)!</m:t>
                              </m:r>
                            </m:num>
                            <m:den>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den>
                          </m:f>
                        </m:e>
                      </m:nary>
                      <m:r>
                        <m:rPr>
                          <m:sty m:val="p"/>
                        </m:rPr>
                        <a:rPr lang="en-US" sz="1800">
                          <a:solidFill>
                            <a:srgbClr val="FFFFFF"/>
                          </a:solidFill>
                          <a:latin typeface="Cambria Math" panose="02040503050406030204" pitchFamily="18" charset="0"/>
                        </a:rPr>
                        <m:t xml:space="preserve"> </m:t>
                      </m:r>
                      <m:d>
                        <m:dPr>
                          <m:begChr m:val="["/>
                          <m:endChr m:val="]"/>
                          <m:ctrlPr>
                            <a:rPr lang="en-US" sz="1800" i="1">
                              <a:solidFill>
                                <a:srgbClr val="FFFFFF"/>
                              </a:solidFill>
                              <a:latin typeface="Cambria Math" panose="02040503050406030204" pitchFamily="18" charset="0"/>
                            </a:rPr>
                          </m:ctrlPr>
                        </m:dPr>
                        <m:e>
                          <m:r>
                            <m:rPr>
                              <m:sty m:val="p"/>
                            </m:rPr>
                            <a:rPr lang="en-US" sz="1800">
                              <a:solidFill>
                                <a:srgbClr val="FFFFFF"/>
                              </a:solidFill>
                              <a:latin typeface="Cambria Math" panose="02040503050406030204" pitchFamily="18" charset="0"/>
                            </a:rPr>
                            <m:t xml:space="preserve"> </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j</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 </m:t>
                          </m:r>
                        </m:e>
                      </m:d>
                    </m:oMath>
                  </m:oMathPara>
                </a14:m>
                <a:endParaRPr lang="en-US" sz="1800"/>
              </a:p>
            </p:txBody>
          </p:sp>
        </mc:Choice>
        <mc:Fallback>
          <p:sp>
            <p:nvSpPr>
              <p:cNvPr id="37" name="Equation"/>
              <p:cNvSpPr txBox="1"/>
              <p:nvPr/>
            </p:nvSpPr>
            <p:spPr>
              <a:xfrm>
                <a:off x="1211580" y="8749538"/>
                <a:ext cx="7315200" cy="1097280"/>
              </a:xfrm>
              <a:prstGeom prst="rect">
                <a:avLst/>
              </a:prstGeom>
              <a:blipFill>
                <a:blip r:embed="rId6"/>
                <a:stretch>
                  <a:fillRect/>
                </a:stretch>
              </a:blipFill>
            </p:spPr>
            <p:txBody>
              <a:bodyPr/>
              <a:lstStyle/>
              <a:p>
                <a:endParaRPr lang="en-US"/>
              </a:p>
            </p:txBody>
          </p:sp>
        </mc:Fallback>
      </mc:AlternateContent>
      <p:sp>
        <p:nvSpPr>
          <p:cNvPr id="38" name="TextBox 37"/>
          <p:cNvSpPr txBox="1"/>
          <p:nvPr/>
        </p:nvSpPr>
        <p:spPr>
          <a:xfrm>
            <a:off x="1028700" y="9883394"/>
            <a:ext cx="7680960" cy="310896"/>
          </a:xfrm>
          <a:prstGeom prst="rect">
            <a:avLst/>
          </a:prstGeom>
          <a:noFill/>
        </p:spPr>
        <p:txBody>
          <a:bodyPr anchor="t" rtlCol="false" lIns="0" tIns="0" rIns="0" bIns="0" wrap="square"/>
          <a:lstStyle/>
          <a:p>
            <a:pPr algn="ctr">
              <a:lnSpc>
                <a:spcPts val="1800"/>
              </a:lnSpc>
              <a:spcBef>
                <a:spcPts val="0"/>
              </a:spcBef>
              <a:buNone/>
            </a:pPr>
            <a:r>
              <a:rPr lang="en-US" sz="1500" b="true">
                <a:solidFill>
                  <a:srgbClr val="DCE7E3"/>
                </a:solidFill>
                <a:latin typeface="Nunito Semi-Bold"/>
                <a:ea typeface="Nunito Semi-Bold"/>
                <a:cs typeface="Nunito Semi-Bold"/>
                <a:sym typeface="Nunito Semi-Bold"/>
              </a:rPr>
              <a:t>average marginal contribution over every arrival order</a:t>
            </a:r>
          </a:p>
        </p:txBody>
      </p:sp>
      <p:sp>
        <p:nvSpPr>
          <p:cNvPr id="39" name="TextBox 38"/>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CHARACTERISTIC FUNCTION v(S) OF THE BAND</a:t>
            </a:r>
          </a:p>
        </p:txBody>
      </p:sp>
      <p:graphicFrame>
        <p:nvGraphicFramePr>
          <p:cNvPr id="40" name="Table 39"/>
          <p:cNvGraphicFramePr>
            <a:graphicFrameLocks noGrp="1"/>
          </p:cNvGraphicFramePr>
          <p:nvPr/>
        </p:nvGraphicFramePr>
        <p:xfrm>
          <a:off x="9166860" y="3656330"/>
          <a:ext cx="8092439" cy="4150868"/>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nobody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41" name="Rounded Rectangle 40"/>
          <p:cNvSpPr/>
          <p:nvPr/>
        </p:nvSpPr>
        <p:spPr>
          <a:xfrm>
            <a:off x="9166860" y="8008366"/>
            <a:ext cx="8092440" cy="1143000"/>
          </a:xfrm>
          <a:prstGeom prst="roundRect">
            <a:avLst>
              <a:gd name="adj" fmla="val 16000"/>
            </a:avLst>
          </a:prstGeom>
          <a:solidFill>
            <a:srgbClr val="F6ECDF"/>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42" name="Rounded Rectangle 41"/>
          <p:cNvSpPr/>
          <p:nvPr/>
        </p:nvSpPr>
        <p:spPr>
          <a:xfrm>
            <a:off x="9166860" y="933424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Efficiency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the shares add up to v(N)</a:t>
            </a:r>
          </a:p>
        </p:txBody>
      </p:sp>
      <p:sp>
        <p:nvSpPr>
          <p:cNvPr id="43" name="Rounded Rectangle 42"/>
          <p:cNvSpPr/>
          <p:nvPr/>
        </p:nvSpPr>
        <p:spPr>
          <a:xfrm>
            <a:off x="13313664" y="933424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Symmetry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equal contributors, equal credit</a:t>
            </a:r>
          </a:p>
        </p:txBody>
      </p:sp>
      <p:sp>
        <p:nvSpPr>
          <p:cNvPr id="44" name="Rounded Rectangle 43"/>
          <p:cNvSpPr/>
          <p:nvPr/>
        </p:nvSpPr>
        <p:spPr>
          <a:xfrm>
            <a:off x="9166860" y="1011148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Null player</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adds nothing </a:t>
            </a:r>
            <a:r>
              <a:rPr lang="en-US" sz="1200" b="true">
                <a:solidFill>
                  <a:srgbClr val="8A8378"/>
                </a:solidFill>
                <a:latin typeface="Calibri"/>
                <a:ea typeface="Calibri"/>
                <a:cs typeface="Calibri"/>
                <a:sym typeface="Calibri"/>
              </a:rPr>
              <a:t>→ </a:t>
            </a:r>
            <a:r>
              <a:rPr lang="en-US" sz="1200" b="true">
                <a:solidFill>
                  <a:srgbClr val="8A8378"/>
                </a:solidFill>
                <a:latin typeface="Nunito Semi-Bold"/>
                <a:ea typeface="Nunito Semi-Bold"/>
                <a:cs typeface="Nunito Semi-Bold"/>
                <a:sym typeface="Nunito Semi-Bold"/>
              </a:rPr>
              <a:t>gets nothing</a:t>
            </a:r>
          </a:p>
        </p:txBody>
      </p:sp>
      <p:sp>
        <p:nvSpPr>
          <p:cNvPr id="45" name="Rounded Rectangle 44"/>
          <p:cNvSpPr/>
          <p:nvPr/>
        </p:nvSpPr>
        <p:spPr>
          <a:xfrm>
            <a:off x="13313664" y="1011148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Additivity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linear across games</a:t>
            </a:r>
          </a:p>
        </p:txBody>
      </p:sp>
      <p:sp>
        <p:nvSpPr>
          <p:cNvPr id="46" name="Rounded Rectangle 45"/>
          <p:cNvSpPr/>
          <p:nvPr/>
        </p:nvSpPr>
        <p:spPr>
          <a:xfrm>
            <a:off x="9166860" y="10934446"/>
            <a:ext cx="8092440" cy="-1671574"/>
          </a:xfrm>
          <a:prstGeom prst="roundRect">
            <a:avLst>
              <a:gd name="adj" fmla="val 0"/>
            </a:avLst>
          </a:prstGeom>
          <a:solidFill>
            <a:srgbClr val="DF8330"/>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Shapley proved it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12494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12494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12494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12494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12494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DF8330"/>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12494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F6ECDF"/>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LIME-based surrogate explanation on the same 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12494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DF8330"/>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3" name="Picture 22" descr="image.png"/>
          <p:cNvPicPr>
            <a:picLocks noChangeAspect="1"/>
          </p:cNvPicPr>
          <p:nvPr/>
        </p:nvPicPr>
        <p:blipFill>
          <a:blip r:embed="rId3"/>
          <a:stretch>
            <a:fillRect/>
          </a:stretch>
        </p:blipFill>
        <p:spPr>
          <a:xfrm>
            <a:off x="10549542"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12494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29" name="Rounded Rectangle 28"/>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5_1_wine_global.png"/>
          <p:cNvPicPr>
            <a:picLocks noChangeAspect="1"/>
          </p:cNvPicPr>
          <p:nvPr/>
        </p:nvPicPr>
        <p:blipFill>
          <a:blip r:embed="rId5"/>
          <a:stretch>
            <a:fillRect/>
          </a:stretch>
        </p:blipFill>
        <p:spPr>
          <a:xfrm>
            <a:off x="9984489" y="3546602"/>
            <a:ext cx="5359901" cy="3320160"/>
          </a:xfrm>
          <a:prstGeom prst="rect">
            <a:avLst/>
          </a:prstGeom>
        </p:spPr>
      </p:pic>
      <p:sp>
        <p:nvSpPr>
          <p:cNvPr id="31" name="TextBox 30"/>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2" name="Rounded Rectangle 31"/>
          <p:cNvSpPr/>
          <p:nvPr/>
        </p:nvSpPr>
        <p:spPr>
          <a:xfrm>
            <a:off x="8069580" y="7625715"/>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3" name="Picture 32" descr="fig5_2_wine_clusters.png"/>
          <p:cNvPicPr>
            <a:picLocks noChangeAspect="1"/>
          </p:cNvPicPr>
          <p:nvPr/>
        </p:nvPicPr>
        <p:blipFill>
          <a:blip r:embed="rId6"/>
          <a:stretch>
            <a:fillRect/>
          </a:stretch>
        </p:blipFill>
        <p:spPr>
          <a:xfrm>
            <a:off x="10379599" y="7808595"/>
            <a:ext cx="4569680" cy="814197"/>
          </a:xfrm>
          <a:prstGeom prst="rect">
            <a:avLst/>
          </a:prstGeom>
        </p:spPr>
      </p:pic>
      <p:sp>
        <p:nvSpPr>
          <p:cNvPr id="34" name="TextBox 33"/>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higher stability and cross-cluster comparability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4" name="Rounded Rectangle 33"/>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DF8330"/>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DF8330"/>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12494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29" name="Rounded Rectangle 28"/>
          <p:cNvSpPr/>
          <p:nvPr/>
        </p:nvSpPr>
        <p:spPr>
          <a:xfrm>
            <a:off x="1028700" y="761695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12494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12494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12494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1E5F58"/>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12494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12494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12494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12494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12494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12494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12494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400" i="1">
                              <a:solidFill>
                                <a:srgbClr val="DCE7E3"/>
                              </a:solidFill>
                              <a:latin typeface="Cambria Math" panose="02040503050406030204" pitchFamily="18" charset="0"/>
                            </a:rPr>
                          </m:ctrlPr>
                        </m:sSubPr>
                        <m:e>
                          <m:r>
                            <a:rPr lang="en-US" sz="1400" i="1">
                              <a:solidFill>
                                <a:srgbClr val="DCE7E3"/>
                              </a:solidFill>
                              <a:latin typeface="Cambria Math" panose="02040503050406030204" pitchFamily="18" charset="0"/>
                            </a:rPr>
                            <m:t xml:space="preserve">w</m:t>
                          </m:r>
                        </m:e>
                        <m:sub>
                          <m:r>
                            <a:rPr lang="en-US" sz="1400" i="1">
                              <a:solidFill>
                                <a:srgbClr val="DCE7E3"/>
                              </a:solidFill>
                              <a:latin typeface="Cambria Math" panose="02040503050406030204" pitchFamily="18" charset="0"/>
                            </a:rPr>
                            <m:t xml:space="preserve">c′</m:t>
                          </m:r>
                        </m:sub>
                      </m:sSub>
                      <m:r>
                        <m:rPr>
                          <m:sty m:val="p"/>
                        </m:rPr>
                        <a:rPr lang="en-US" sz="1400">
                          <a:solidFill>
                            <a:srgbClr val="DCE7E3"/>
                          </a:solidFill>
                          <a:latin typeface="Cambria Math" panose="02040503050406030204" pitchFamily="18" charset="0"/>
                        </a:rPr>
                        <m:t xml:space="preserve">=|</m:t>
                      </m:r>
                      <m:r>
                        <a:rPr lang="en-US" sz="1400" i="1">
                          <a:solidFill>
                            <a:srgbClr val="DCE7E3"/>
                          </a:solidFill>
                          <a:latin typeface="Cambria Math" panose="02040503050406030204" pitchFamily="18" charset="0"/>
                        </a:rPr>
                        <m:t xml:space="preserve">c′</m:t>
                      </m:r>
                      <m:r>
                        <m:rPr>
                          <m:sty m:val="p"/>
                        </m:rPr>
                        <a:rPr lang="en-US" sz="1400">
                          <a:solidFill>
                            <a:srgbClr val="DCE7E3"/>
                          </a:solidFill>
                          <a:latin typeface="Cambria Math" panose="02040503050406030204" pitchFamily="18" charset="0"/>
                        </a:rPr>
                        <m:t xml:space="preserve">| / |</m:t>
                      </m:r>
                      <m:r>
                        <a:rPr lang="en-US" sz="1400" i="1">
                          <a:solidFill>
                            <a:srgbClr val="DCE7E3"/>
                          </a:solidFill>
                          <a:latin typeface="Cambria Math" panose="02040503050406030204" pitchFamily="18" charset="0"/>
                        </a:rPr>
                        <m:t xml:space="preserve">c</m:t>
                      </m:r>
                      <m:r>
                        <m:rPr>
                          <m:sty m:val="p"/>
                        </m:rPr>
                        <a:rPr lang="en-US" sz="1400">
                          <a:solidFill>
                            <a:srgbClr val="DCE7E3"/>
                          </a:solidFill>
                          <a:latin typeface="Cambria Math" panose="02040503050406030204" pitchFamily="18" charset="0"/>
                        </a:rPr>
                        <m:t xml:space="preserve">|,  </m:t>
                      </m:r>
                      <m:sSub>
                        <m:sSubPr>
                          <m:ctrlPr>
                            <a:rPr lang="en-US" sz="1400" i="1">
                              <a:solidFill>
                                <a:srgbClr val="DCE7E3"/>
                              </a:solidFill>
                              <a:latin typeface="Cambria Math" panose="02040503050406030204" pitchFamily="18" charset="0"/>
                            </a:rPr>
                          </m:ctrlPr>
                        </m:sSubPr>
                        <m:e>
                          <m:r>
                            <a:rPr lang="en-US" sz="1400" i="1">
                              <a:solidFill>
                                <a:srgbClr val="DCE7E3"/>
                              </a:solidFill>
                              <a:latin typeface="Cambria Math" panose="02040503050406030204" pitchFamily="18" charset="0"/>
                            </a:rPr>
                            <m:t xml:space="preserve">ε</m:t>
                          </m:r>
                        </m:e>
                        <m:sub>
                          <m:r>
                            <a:rPr lang="en-US" sz="1400" i="1">
                              <a:solidFill>
                                <a:srgbClr val="DCE7E3"/>
                              </a:solidFill>
                              <a:latin typeface="Cambria Math" panose="02040503050406030204" pitchFamily="18" charset="0"/>
                            </a:rPr>
                            <m:t xml:space="preserve">j</m:t>
                          </m:r>
                        </m:sub>
                      </m:sSub>
                      <m:r>
                        <m:rPr>
                          <m:sty m:val="p"/>
                        </m:rPr>
                        <a:rPr lang="en-US" sz="1400">
                          <a:solidFill>
                            <a:srgbClr val="DCE7E3"/>
                          </a:solidFill>
                          <a:latin typeface="Cambria Math" panose="02040503050406030204" pitchFamily="18" charset="0"/>
                        </a:rPr>
                        <m:t xml:space="preserve">→0</m:t>
                      </m:r>
                      <m:r>
                        <m:rPr>
                          <m:nor/>
                        </m:rPr>
                        <a:rPr lang="en-US" sz="1400">
                          <a:solidFill>
                            <a:srgbClr val="DCE7E3"/>
                          </a:solidFill>
                          <a:latin typeface="Cambria Math" panose="02040503050406030204" pitchFamily="18" charset="0"/>
                        </a:rPr>
                        <m:t xml:space="preserve">  under perfect surrogate fidelity</m:t>
                      </m:r>
                    </m:oMath>
                  </m:oMathPara>
                </a14:m>
                <a:endParaRPr lang="en-US" sz="14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DF8330"/>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124944"/>
                              </a:solidFill>
                              <a:latin typeface="Cambria Math" panose="02040503050406030204" pitchFamily="18" charset="0"/>
                            </a:rPr>
                          </m:ctrlPr>
                        </m:sSubSupPr>
                        <m:e>
                          <m:r>
                            <a:rPr lang="en-US" sz="1800" i="1">
                              <a:solidFill>
                                <a:srgbClr val="124944"/>
                              </a:solidFill>
                              <a:latin typeface="Cambria Math" panose="02040503050406030204" pitchFamily="18" charset="0"/>
                            </a:rPr>
                            <m:t xml:space="preserve">Φ</m:t>
                          </m:r>
                        </m:e>
                        <m:sub>
                          <m:r>
                            <a:rPr lang="en-US" sz="1800" i="1">
                              <a:solidFill>
                                <a:srgbClr val="124944"/>
                              </a:solidFill>
                              <a:latin typeface="Cambria Math" panose="02040503050406030204" pitchFamily="18" charset="0"/>
                            </a:rPr>
                            <m:t xml:space="preserve">j</m:t>
                          </m:r>
                        </m:sub>
                        <m:sup>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l</m:t>
                          </m:r>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c</m:t>
                          </m:r>
                          <m:r>
                            <m:rPr>
                              <m:sty m:val="p"/>
                            </m:rPr>
                            <a:rPr lang="en-US" sz="1800">
                              <a:solidFill>
                                <a:srgbClr val="124944"/>
                              </a:solidFill>
                              <a:latin typeface="Cambria Math" panose="02040503050406030204" pitchFamily="18" charset="0"/>
                            </a:rPr>
                            <m:t xml:space="preserve">)</m:t>
                          </m:r>
                        </m:sup>
                      </m:sSubSup>
                      <m:r>
                        <m:rPr>
                          <m:sty m:val="p"/>
                        </m:rPr>
                        <a:rPr lang="en-US" sz="1800">
                          <a:solidFill>
                            <a:srgbClr val="124944"/>
                          </a:solidFill>
                          <a:latin typeface="Cambria Math" panose="02040503050406030204" pitchFamily="18" charset="0"/>
                        </a:rPr>
                        <m:t xml:space="preserve">=</m:t>
                      </m:r>
                      <m:sSub>
                        <m:sSubPr>
                          <m:ctrlPr>
                            <a:rPr lang="en-US" sz="1800" i="1">
                              <a:solidFill>
                                <a:srgbClr val="124944"/>
                              </a:solidFill>
                              <a:latin typeface="Cambria Math" panose="02040503050406030204" pitchFamily="18" charset="0"/>
                            </a:rPr>
                          </m:ctrlPr>
                        </m:sSubPr>
                        <m:e>
                          <m:r>
                            <m:rPr>
                              <m:scr m:val="double-struck"/>
                              <m:sty m:val="p"/>
                            </m:rPr>
                            <a:rPr lang="en-US" sz="1800">
                              <a:solidFill>
                                <a:srgbClr val="124944"/>
                              </a:solidFill>
                              <a:latin typeface="Cambria Math" panose="02040503050406030204" pitchFamily="18" charset="0"/>
                            </a:rPr>
                            <m:t xml:space="preserve">E</m:t>
                          </m:r>
                        </m:e>
                        <m:sub>
                          <m:r>
                            <a:rPr lang="en-US" sz="1800" i="1">
                              <a:solidFill>
                                <a:srgbClr val="124944"/>
                              </a:solidFill>
                              <a:latin typeface="Cambria Math" panose="02040503050406030204" pitchFamily="18" charset="0"/>
                            </a:rPr>
                            <m:t xml:space="preserve">x</m:t>
                          </m:r>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c</m:t>
                          </m:r>
                        </m:sub>
                      </m:sSub>
                      <m:d>
                        <m:dPr>
                          <m:begChr m:val="["/>
                          <m:endChr m:val="]"/>
                          <m:ctrlPr>
                            <a:rPr lang="en-US" sz="1800" i="1">
                              <a:solidFill>
                                <a:srgbClr val="124944"/>
                              </a:solidFill>
                              <a:latin typeface="Cambria Math" panose="02040503050406030204" pitchFamily="18" charset="0"/>
                            </a:rPr>
                          </m:ctrlPr>
                        </m:dPr>
                        <m:e>
                          <m:r>
                            <m:rPr>
                              <m:sty m:val="p"/>
                            </m:rPr>
                            <a:rPr lang="en-US" sz="1800">
                              <a:solidFill>
                                <a:srgbClr val="124944"/>
                              </a:solidFill>
                              <a:latin typeface="Cambria Math" panose="02040503050406030204" pitchFamily="18" charset="0"/>
                            </a:rPr>
                            <m:t xml:space="preserve"> </m:t>
                          </m:r>
                          <m:d>
                            <m:dPr>
                              <m:begChr m:val="|"/>
                              <m:endChr m:val="|"/>
                              <m:ctrlPr>
                                <a:rPr lang="en-US" sz="1800" i="1">
                                  <a:solidFill>
                                    <a:srgbClr val="124944"/>
                                  </a:solidFill>
                                  <a:latin typeface="Cambria Math" panose="02040503050406030204" pitchFamily="18" charset="0"/>
                                </a:rPr>
                              </m:ctrlPr>
                            </m:dPr>
                            <m:e>
                              <m:sSubSup>
                                <m:sSubSupPr>
                                  <m:ctrlPr>
                                    <a:rPr lang="en-US" sz="1800" i="1">
                                      <a:solidFill>
                                        <a:srgbClr val="124944"/>
                                      </a:solidFill>
                                      <a:latin typeface="Cambria Math" panose="02040503050406030204" pitchFamily="18" charset="0"/>
                                    </a:rPr>
                                  </m:ctrlPr>
                                </m:sSubSupPr>
                                <m:e>
                                  <m:r>
                                    <a:rPr lang="en-US" sz="1800" i="1">
                                      <a:solidFill>
                                        <a:srgbClr val="124944"/>
                                      </a:solidFill>
                                      <a:latin typeface="Cambria Math" panose="02040503050406030204" pitchFamily="18" charset="0"/>
                                    </a:rPr>
                                    <m:t xml:space="preserve">φ</m:t>
                                  </m:r>
                                </m:e>
                                <m:sub>
                                  <m:r>
                                    <a:rPr lang="en-US" sz="1800" i="1">
                                      <a:solidFill>
                                        <a:srgbClr val="124944"/>
                                      </a:solidFill>
                                      <a:latin typeface="Cambria Math" panose="02040503050406030204" pitchFamily="18" charset="0"/>
                                    </a:rPr>
                                    <m:t xml:space="preserve">j</m:t>
                                  </m:r>
                                </m:sub>
                                <m:sup>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l</m:t>
                                  </m:r>
                                  <m:r>
                                    <m:rPr>
                                      <m:sty m:val="p"/>
                                    </m:rPr>
                                    <a:rPr lang="en-US" sz="1800">
                                      <a:solidFill>
                                        <a:srgbClr val="124944"/>
                                      </a:solidFill>
                                      <a:latin typeface="Cambria Math" panose="02040503050406030204" pitchFamily="18" charset="0"/>
                                    </a:rPr>
                                    <m:t xml:space="preserve">)</m:t>
                                  </m:r>
                                </m:sup>
                              </m:sSubSup>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x</m:t>
                              </m:r>
                              <m:r>
                                <m:rPr>
                                  <m:sty m:val="p"/>
                                </m:rPr>
                                <a:rPr lang="en-US" sz="1800">
                                  <a:solidFill>
                                    <a:srgbClr val="124944"/>
                                  </a:solidFill>
                                  <a:latin typeface="Cambria Math" panose="02040503050406030204" pitchFamily="18" charset="0"/>
                                </a:rPr>
                                <m:t xml:space="preserve">)</m:t>
                              </m:r>
                            </m:e>
                          </m:d>
                          <m:r>
                            <m:rPr>
                              <m:sty m:val="p"/>
                            </m:rPr>
                            <a:rPr lang="en-US" sz="1800">
                              <a:solidFill>
                                <a:srgbClr val="12494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DF8330"/>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124944"/>
                              </a:solidFill>
                              <a:latin typeface="Cambria Math" panose="02040503050406030204" pitchFamily="18" charset="0"/>
                            </a:rPr>
                          </m:ctrlPr>
                        </m:sSubPr>
                        <m:e>
                          <m:r>
                            <a:rPr lang="en-US" sz="2100" i="1">
                              <a:solidFill>
                                <a:srgbClr val="124944"/>
                              </a:solidFill>
                              <a:latin typeface="Cambria Math" panose="02040503050406030204" pitchFamily="18" charset="0"/>
                            </a:rPr>
                            <m:t xml:space="preserve">w</m:t>
                          </m:r>
                        </m:e>
                        <m:sub>
                          <m:r>
                            <a:rPr lang="en-US" sz="2100" i="1">
                              <a:solidFill>
                                <a:srgbClr val="124944"/>
                              </a:solidFill>
                              <a:latin typeface="Cambria Math" panose="02040503050406030204" pitchFamily="18" charset="0"/>
                            </a:rPr>
                            <m:t xml:space="preserve">c′</m:t>
                          </m:r>
                        </m:sub>
                      </m:sSub>
                      <m:r>
                        <m:rPr>
                          <m:sty m:val="p"/>
                        </m:rPr>
                        <a:rPr lang="en-US" sz="2100">
                          <a:solidFill>
                            <a:srgbClr val="124944"/>
                          </a:solidFill>
                          <a:latin typeface="Cambria Math" panose="02040503050406030204" pitchFamily="18" charset="0"/>
                        </a:rPr>
                        <m:t xml:space="preserve">=|</m:t>
                      </m:r>
                      <m:r>
                        <a:rPr lang="en-US" sz="2100" i="1">
                          <a:solidFill>
                            <a:srgbClr val="124944"/>
                          </a:solidFill>
                          <a:latin typeface="Cambria Math" panose="02040503050406030204" pitchFamily="18" charset="0"/>
                        </a:rPr>
                        <m:t xml:space="preserve">c′</m:t>
                      </m:r>
                      <m:r>
                        <m:rPr>
                          <m:sty m:val="p"/>
                        </m:rPr>
                        <a:rPr lang="en-US" sz="2100">
                          <a:solidFill>
                            <a:srgbClr val="124944"/>
                          </a:solidFill>
                          <a:latin typeface="Cambria Math" panose="02040503050406030204" pitchFamily="18" charset="0"/>
                        </a:rPr>
                        <m:t xml:space="preserve">| / |</m:t>
                      </m:r>
                      <m:r>
                        <a:rPr lang="en-US" sz="2100" i="1">
                          <a:solidFill>
                            <a:srgbClr val="124944"/>
                          </a:solidFill>
                          <a:latin typeface="Cambria Math" panose="02040503050406030204" pitchFamily="18" charset="0"/>
                        </a:rPr>
                        <m:t xml:space="preserve">c</m:t>
                      </m:r>
                      <m:r>
                        <m:rPr>
                          <m:sty m:val="p"/>
                        </m:rPr>
                        <a:rPr lang="en-US" sz="2100">
                          <a:solidFill>
                            <a:srgbClr val="12494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E6EEEA"/>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124944"/>
                              </a:solidFill>
                              <a:latin typeface="Cambria Math" panose="02040503050406030204" pitchFamily="18" charset="0"/>
                            </a:rPr>
                          </m:ctrlPr>
                        </m:sSubSupPr>
                        <m:e>
                          <m:r>
                            <a:rPr lang="en-US" sz="2550" i="1">
                              <a:solidFill>
                                <a:srgbClr val="124944"/>
                              </a:solidFill>
                              <a:latin typeface="Cambria Math" panose="02040503050406030204" pitchFamily="18" charset="0"/>
                            </a:rPr>
                            <m:t xml:space="preserve">Φ</m:t>
                          </m:r>
                        </m:e>
                        <m:sub>
                          <m:r>
                            <a:rPr lang="en-US" sz="2550" i="1">
                              <a:solidFill>
                                <a:srgbClr val="124944"/>
                              </a:solidFill>
                              <a:latin typeface="Cambria Math" panose="02040503050406030204" pitchFamily="18" charset="0"/>
                            </a:rPr>
                            <m:t xml:space="preserve">j</m:t>
                          </m:r>
                        </m:sub>
                        <m:sup>
                          <m:r>
                            <m:rPr>
                              <m:sty m:val="p"/>
                            </m:rPr>
                            <a:rPr lang="en-US" sz="2550">
                              <a:solidFill>
                                <a:srgbClr val="124944"/>
                              </a:solidFill>
                              <a:latin typeface="Cambria Math" panose="02040503050406030204" pitchFamily="18" charset="0"/>
                            </a:rPr>
                            <m:t xml:space="preserve">(</m:t>
                          </m:r>
                          <m:r>
                            <a:rPr lang="en-US" sz="2550" i="1">
                              <a:solidFill>
                                <a:srgbClr val="124944"/>
                              </a:solidFill>
                              <a:latin typeface="Cambria Math" panose="02040503050406030204" pitchFamily="18" charset="0"/>
                            </a:rPr>
                            <m:t xml:space="preserve">l</m:t>
                          </m:r>
                          <m:r>
                            <m:rPr>
                              <m:sty m:val="p"/>
                            </m:rPr>
                            <a:rPr lang="en-US" sz="2550">
                              <a:solidFill>
                                <a:srgbClr val="124944"/>
                              </a:solidFill>
                              <a:latin typeface="Cambria Math" panose="02040503050406030204" pitchFamily="18" charset="0"/>
                            </a:rPr>
                            <m:t xml:space="preserve">,</m:t>
                          </m:r>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m:t>
                          </m:r>
                        </m:sup>
                      </m:sSubSup>
                      <m:r>
                        <m:rPr>
                          <m:sty m:val="p"/>
                        </m:rPr>
                        <a:rPr lang="en-US" sz="2550">
                          <a:solidFill>
                            <a:srgbClr val="124944"/>
                          </a:solidFill>
                          <a:latin typeface="Cambria Math" panose="02040503050406030204" pitchFamily="18" charset="0"/>
                        </a:rPr>
                        <m:t xml:space="preserve">=</m:t>
                      </m:r>
                      <m:nary>
                        <m:naryPr>
                          <m:chr m:val="∑"/>
                          <m:limLoc m:val="undOvr"/>
                          <m:supHide m:val="1"/>
                          <m:ctrlPr>
                            <a:rPr lang="en-US" sz="2550" i="1">
                              <a:solidFill>
                                <a:srgbClr val="124944"/>
                              </a:solidFill>
                              <a:latin typeface="Cambria Math" panose="02040503050406030204" pitchFamily="18" charset="0"/>
                            </a:rPr>
                          </m:ctrlPr>
                        </m:naryPr>
                        <m:sub>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∈child(</m:t>
                          </m:r>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m:t>
                          </m:r>
                        </m:sub>
                        <m:sup/>
                        <m:e>
                          <m:sSub>
                            <m:sSubPr>
                              <m:ctrlPr>
                                <a:rPr lang="en-US" sz="2550" i="1">
                                  <a:solidFill>
                                    <a:srgbClr val="124944"/>
                                  </a:solidFill>
                                  <a:latin typeface="Cambria Math" panose="02040503050406030204" pitchFamily="18" charset="0"/>
                                </a:rPr>
                              </m:ctrlPr>
                            </m:sSubPr>
                            <m:e>
                              <m:r>
                                <a:rPr lang="en-US" sz="2550" i="1">
                                  <a:solidFill>
                                    <a:srgbClr val="124944"/>
                                  </a:solidFill>
                                  <a:latin typeface="Cambria Math" panose="02040503050406030204" pitchFamily="18" charset="0"/>
                                </a:rPr>
                                <m:t xml:space="preserve">w</m:t>
                              </m:r>
                            </m:e>
                            <m:sub>
                              <m:r>
                                <a:rPr lang="en-US" sz="2550" i="1">
                                  <a:solidFill>
                                    <a:srgbClr val="124944"/>
                                  </a:solidFill>
                                  <a:latin typeface="Cambria Math" panose="02040503050406030204" pitchFamily="18" charset="0"/>
                                </a:rPr>
                                <m:t xml:space="preserve">c′</m:t>
                              </m:r>
                            </m:sub>
                          </m:sSub>
                        </m:e>
                      </m:nary>
                      <m:r>
                        <m:rPr>
                          <m:sty m:val="p"/>
                        </m:rPr>
                        <a:rPr lang="en-US" sz="2550">
                          <a:solidFill>
                            <a:srgbClr val="124944"/>
                          </a:solidFill>
                          <a:latin typeface="Cambria Math" panose="02040503050406030204" pitchFamily="18" charset="0"/>
                        </a:rPr>
                        <m:t xml:space="preserve"> </m:t>
                      </m:r>
                      <m:sSubSup>
                        <m:sSubSupPr>
                          <m:ctrlPr>
                            <a:rPr lang="en-US" sz="2550" i="1">
                              <a:solidFill>
                                <a:srgbClr val="124944"/>
                              </a:solidFill>
                              <a:latin typeface="Cambria Math" panose="02040503050406030204" pitchFamily="18" charset="0"/>
                            </a:rPr>
                          </m:ctrlPr>
                        </m:sSubSupPr>
                        <m:e>
                          <m:r>
                            <a:rPr lang="en-US" sz="2550" i="1">
                              <a:solidFill>
                                <a:srgbClr val="124944"/>
                              </a:solidFill>
                              <a:latin typeface="Cambria Math" panose="02040503050406030204" pitchFamily="18" charset="0"/>
                            </a:rPr>
                            <m:t xml:space="preserve">Φ</m:t>
                          </m:r>
                        </m:e>
                        <m:sub>
                          <m:r>
                            <a:rPr lang="en-US" sz="2550" i="1">
                              <a:solidFill>
                                <a:srgbClr val="124944"/>
                              </a:solidFill>
                              <a:latin typeface="Cambria Math" panose="02040503050406030204" pitchFamily="18" charset="0"/>
                            </a:rPr>
                            <m:t xml:space="preserve">j</m:t>
                          </m:r>
                        </m:sub>
                        <m:sup>
                          <m:r>
                            <m:rPr>
                              <m:sty m:val="p"/>
                            </m:rPr>
                            <a:rPr lang="en-US" sz="2550">
                              <a:solidFill>
                                <a:srgbClr val="124944"/>
                              </a:solidFill>
                              <a:latin typeface="Cambria Math" panose="02040503050406030204" pitchFamily="18" charset="0"/>
                            </a:rPr>
                            <m:t xml:space="preserve">(</m:t>
                          </m:r>
                          <m:r>
                            <a:rPr lang="en-US" sz="2550" i="1">
                              <a:solidFill>
                                <a:srgbClr val="124944"/>
                              </a:solidFill>
                              <a:latin typeface="Cambria Math" panose="02040503050406030204" pitchFamily="18" charset="0"/>
                            </a:rPr>
                            <m:t xml:space="preserve">l</m:t>
                          </m:r>
                          <m:r>
                            <m:rPr>
                              <m:sty m:val="p"/>
                            </m:rPr>
                            <a:rPr lang="en-US" sz="2550">
                              <a:solidFill>
                                <a:srgbClr val="124944"/>
                              </a:solidFill>
                              <a:latin typeface="Cambria Math" panose="02040503050406030204" pitchFamily="18" charset="0"/>
                            </a:rPr>
                            <m:t xml:space="preserve">+1, </m:t>
                          </m:r>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m:t>
                          </m:r>
                        </m:sup>
                      </m:sSubSup>
                      <m:r>
                        <m:rPr>
                          <m:sty m:val="p"/>
                        </m:rPr>
                        <a:rPr lang="en-US" sz="2550">
                          <a:solidFill>
                            <a:srgbClr val="124944"/>
                          </a:solidFill>
                          <a:latin typeface="Cambria Math" panose="02040503050406030204" pitchFamily="18" charset="0"/>
                        </a:rPr>
                        <m:t xml:space="preserve">+</m:t>
                      </m:r>
                      <m:sSub>
                        <m:sSubPr>
                          <m:ctrlPr>
                            <a:rPr lang="en-US" sz="2550" i="1">
                              <a:solidFill>
                                <a:srgbClr val="124944"/>
                              </a:solidFill>
                              <a:latin typeface="Cambria Math" panose="02040503050406030204" pitchFamily="18" charset="0"/>
                            </a:rPr>
                          </m:ctrlPr>
                        </m:sSubPr>
                        <m:e>
                          <m:r>
                            <a:rPr lang="en-US" sz="2550" i="1">
                              <a:solidFill>
                                <a:srgbClr val="124944"/>
                              </a:solidFill>
                              <a:latin typeface="Cambria Math" panose="02040503050406030204" pitchFamily="18" charset="0"/>
                            </a:rPr>
                            <m:t xml:space="preserve">ε</m:t>
                          </m:r>
                        </m:e>
                        <m:sub>
                          <m:r>
                            <a:rPr lang="en-US" sz="2550" i="1">
                              <a:solidFill>
                                <a:srgbClr val="12494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DF8330"/>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12494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12494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DF8330"/>
                </a:solidFill>
                <a:latin typeface="Nunito Ultra-Bold"/>
                <a:ea typeface="Nunito Ultra-Bold"/>
                <a:cs typeface="Nunito Ultra-Bold"/>
                <a:sym typeface="Nunito Ultra-Bold"/>
              </a:rPr>
              <a:t>3 </a:t>
            </a:r>
            <a:r>
              <a:rPr lang="en-US" sz="3400" b="true">
                <a:solidFill>
                  <a:srgbClr val="DF8330"/>
                </a:solidFill>
                <a:latin typeface="Calibri"/>
                <a:ea typeface="Calibri"/>
                <a:cs typeface="Calibri"/>
                <a:sym typeface="Calibri"/>
              </a:rPr>
              <a:t>→ </a:t>
            </a:r>
            <a:r>
              <a:rPr lang="en-US" sz="3400" b="true">
                <a:solidFill>
                  <a:srgbClr val="DF8330"/>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12494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1E5F58"/>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DF8330"/>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12494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3" name="Picture 22" descr="image.png"/>
          <p:cNvPicPr>
            <a:picLocks noChangeAspect="1"/>
          </p:cNvPicPr>
          <p:nvPr/>
        </p:nvPicPr>
        <p:blipFill>
          <a:blip r:embed="rId3"/>
          <a:stretch>
            <a:fillRect/>
          </a:stretch>
        </p:blipFill>
        <p:spPr>
          <a:xfrm>
            <a:off x="15043687"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12494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29" name="Rounded Rectangle 28"/>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6_1_beijing_global.png"/>
          <p:cNvPicPr>
            <a:picLocks noChangeAspect="1"/>
          </p:cNvPicPr>
          <p:nvPr/>
        </p:nvPicPr>
        <p:blipFill>
          <a:blip r:embed="rId5"/>
          <a:stretch>
            <a:fillRect/>
          </a:stretch>
        </p:blipFill>
        <p:spPr>
          <a:xfrm>
            <a:off x="9013665" y="3546602"/>
            <a:ext cx="7484428" cy="5076190"/>
          </a:xfrm>
          <a:prstGeom prst="rect">
            <a:avLst/>
          </a:prstGeom>
        </p:spPr>
      </p:pic>
      <p:sp>
        <p:nvSpPr>
          <p:cNvPr id="31" name="TextBox 30"/>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3" name="Picture 22" descr="image.png"/>
          <p:cNvPicPr>
            <a:picLocks noChangeAspect="1"/>
          </p:cNvPicPr>
          <p:nvPr/>
        </p:nvPicPr>
        <p:blipFill>
          <a:blip r:embed="rId3"/>
          <a:stretch>
            <a:fillRect/>
          </a:stretch>
        </p:blipFill>
        <p:spPr>
          <a:xfrm>
            <a:off x="1165934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fig6_3_beijing_multilevel.png"/>
          <p:cNvPicPr>
            <a:picLocks noChangeAspect="1"/>
          </p:cNvPicPr>
          <p:nvPr/>
        </p:nvPicPr>
        <p:blipFill>
          <a:blip r:embed="rId5"/>
          <a:stretch>
            <a:fillRect/>
          </a:stretch>
        </p:blipFill>
        <p:spPr>
          <a:xfrm>
            <a:off x="6273209" y="3500882"/>
            <a:ext cx="5741581" cy="1645920"/>
          </a:xfrm>
          <a:prstGeom prst="rect">
            <a:avLst/>
          </a:prstGeom>
        </p:spPr>
      </p:pic>
      <p:sp>
        <p:nvSpPr>
          <p:cNvPr id="30" name="TextBox 29"/>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SHAP importance per sub-cluster, level 2 of the hierarchy</a:t>
            </a:r>
          </a:p>
        </p:txBody>
      </p:sp>
      <p:sp>
        <p:nvSpPr>
          <p:cNvPr id="31" name="Rounded Rectangle 30"/>
          <p:cNvSpPr/>
          <p:nvPr/>
        </p:nvSpPr>
        <p:spPr>
          <a:xfrm>
            <a:off x="1028700" y="6198362"/>
            <a:ext cx="7932420" cy="2148840"/>
          </a:xfrm>
          <a:prstGeom prst="roundRect">
            <a:avLst>
              <a:gd name="adj" fmla="val 14468"/>
            </a:avLst>
          </a:prstGeom>
          <a:solidFill>
            <a:srgbClr val="124944"/>
          </a:solidFill>
          <a:ln>
            <a:noFill/>
          </a:ln>
        </p:spPr>
        <p:txBody>
          <a:bodyPr anchor="ctr" rtlCol="false" lIns="0" tIns="0" rIns="0" bIns="0" wrap="square"/>
          <a:lstStyle/>
          <a:p>
            <a:endParaRPr lang="en-US" sz="1800"/>
          </a:p>
        </p:txBody>
      </p:sp>
      <p:sp>
        <p:nvSpPr>
          <p:cNvPr id="32" name="Rounded Rectangle 31"/>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Coarse level · regime selection</a:t>
            </a:r>
          </a:p>
        </p:txBody>
      </p:sp>
      <p:sp>
        <p:nvSpPr>
          <p:cNvPr id="33" name="TextBox 32"/>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4" name="Rounded Rectangle 33"/>
          <p:cNvSpPr/>
          <p:nvPr/>
        </p:nvSpPr>
        <p:spPr>
          <a:xfrm>
            <a:off x="9326880" y="6198362"/>
            <a:ext cx="7932420" cy="2148840"/>
          </a:xfrm>
          <a:prstGeom prst="roundRect">
            <a:avLst>
              <a:gd name="adj" fmla="val 14468"/>
            </a:avLst>
          </a:prstGeom>
          <a:solidFill>
            <a:srgbClr val="F6ECDF"/>
          </a:solidFill>
          <a:ln>
            <a:noFill/>
          </a:ln>
        </p:spPr>
        <p:txBody>
          <a:bodyPr anchor="ctr" rtlCol="false" lIns="0" tIns="0" rIns="0" bIns="0" wrap="square"/>
          <a:lstStyle/>
          <a:p>
            <a:endParaRPr lang="en-US" sz="1800"/>
          </a:p>
        </p:txBody>
      </p:sp>
      <p:sp>
        <p:nvSpPr>
          <p:cNvPr id="35" name="Rounded Rectangle 34"/>
          <p:cNvSpPr/>
          <p:nvPr/>
        </p:nvSpPr>
        <p:spPr>
          <a:xfrm>
            <a:off x="9784080" y="5960618"/>
            <a:ext cx="620306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6" name="TextBox 35"/>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DF8330"/>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DF8330"/>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7" name="Rounded Rectangle 36"/>
          <p:cNvSpPr/>
          <p:nvPr/>
        </p:nvSpPr>
        <p:spPr>
          <a:xfrm>
            <a:off x="1028700" y="8621522"/>
            <a:ext cx="16230600" cy="595630"/>
          </a:xfrm>
          <a:prstGeom prst="roundRect">
            <a:avLst>
              <a:gd name="adj" fmla="val 46055"/>
            </a:avLst>
          </a:prstGeom>
          <a:noFill/>
          <a:ln w="31750">
            <a:solidFill>
              <a:srgbClr val="DF8330"/>
            </a:solidFill>
          </a:ln>
        </p:spPr>
        <p:txBody>
          <a:bodyPr anchor="ctr" rtlCol="false" lIns="0" tIns="0" rIns="0" bIns="0" wrap="square"/>
          <a:lstStyle/>
          <a:p>
            <a:endParaRPr lang="en-US" sz="1800"/>
          </a:p>
        </p:txBody>
      </p:sp>
      <p:sp>
        <p:nvSpPr>
          <p:cNvPr id="38" name="TextBox 37"/>
          <p:cNvSpPr txBox="1"/>
          <p:nvPr/>
        </p:nvSpPr>
        <p:spPr>
          <a:xfrm>
            <a:off x="1485900" y="8731250"/>
            <a:ext cx="15316200" cy="376174"/>
          </a:xfrm>
          <a:prstGeom prst="rect">
            <a:avLst/>
          </a:prstGeom>
          <a:noFill/>
        </p:spPr>
        <p:txBody>
          <a:bodyPr anchor="ctr" rtlCol="false" lIns="0" tIns="0" rIns="0" bIns="0" wrap="square"/>
          <a:lstStyle/>
          <a:p>
            <a:pPr algn="l">
              <a:lnSpc>
                <a:spcPts val="1764"/>
              </a:lnSpc>
              <a:spcBef>
                <a:spcPts val="0"/>
              </a:spcBef>
              <a:buNone/>
            </a:pPr>
            <a:r>
              <a:rPr lang="en-US" sz="1260" b="true">
                <a:solidFill>
                  <a:srgbClr val="111111"/>
                </a:solidFill>
                <a:latin typeface="Nunito Bold"/>
                <a:ea typeface="Nunito Bold"/>
                <a:cs typeface="Nunito Bold"/>
                <a:sym typeface="Nunito Bold"/>
              </a:rPr>
              <a:t>This change is NOT a contradiction. It is exactly what a multi-level explanation should reveal.</a:t>
            </a:r>
            <a:r>
              <a:rPr lang="en-US" sz="1260" b="true">
                <a:solidFill>
                  <a:srgbClr val="111111"/>
                </a:solidFill>
                <a:latin typeface="Nunito Semi-Bold"/>
                <a:ea typeface="Nunito Semi-Bold"/>
                <a:cs typeface="Nunito Semi-Bold"/>
                <a:sym typeface="Nunito Semi-Bold"/>
              </a:rPr>
              <a:t> A variable can be </a:t>
            </a:r>
            <a:r>
              <a:rPr lang="en-US" sz="1260" b="true">
                <a:solidFill>
                  <a:srgbClr val="111111"/>
                </a:solidFill>
                <a:latin typeface="Nunito Bold"/>
                <a:ea typeface="Nunito Bold"/>
                <a:cs typeface="Nunito Bold"/>
                <a:sym typeface="Nunito Bold"/>
              </a:rPr>
              <a:t>globally important yet locally uninformative</a:t>
            </a:r>
            <a:r>
              <a:rPr lang="en-US" sz="1260" b="true">
                <a:solidFill>
                  <a:srgbClr val="111111"/>
                </a:solidFill>
                <a:latin typeface="Nunito Semi-Bold"/>
                <a:ea typeface="Nunito Semi-Bold"/>
                <a:cs typeface="Nunito Semi-Bold"/>
                <a:sym typeface="Nunito Semi-Bold"/>
              </a:rPr>
              <a:t> inside a sub-cluster; Proposition 6.1 guarantees the two readings agree, up to the surrogate residual.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4" name="Rounded Rectangle 33"/>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DF8330"/>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DF8330"/>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12494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29" name="Rounded Rectangle 28"/>
          <p:cNvSpPr/>
          <p:nvPr/>
        </p:nvSpPr>
        <p:spPr>
          <a:xfrm>
            <a:off x="1028700" y="761695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F6ECDF"/>
          </a:solidFill>
          <a:ln w="25400">
            <a:solidFill>
              <a:srgbClr val="12494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DF8330"/>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DF8330"/>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DF8330"/>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DF8330"/>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F6ECDF"/>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12494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1E5F58"/>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DF8330"/>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E6EEEA"/>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124944"/>
                              </a:solidFill>
                              <a:latin typeface="Cambria Math" panose="02040503050406030204" pitchFamily="18" charset="0"/>
                            </a:rPr>
                          </m:ctrlPr>
                        </m:sSubPr>
                        <m:e>
                          <m:acc>
                            <m:accPr>
                              <m:chr m:val="̂"/>
                              <m:ctrlPr>
                                <a:rPr lang="en-US" sz="2350" i="1">
                                  <a:solidFill>
                                    <a:srgbClr val="124944"/>
                                  </a:solidFill>
                                  <a:latin typeface="Cambria Math" panose="02040503050406030204" pitchFamily="18" charset="0"/>
                                </a:rPr>
                              </m:ctrlPr>
                            </m:accPr>
                            <m:e>
                              <m:r>
                                <a:rPr lang="en-US" sz="2350" i="1">
                                  <a:solidFill>
                                    <a:srgbClr val="124944"/>
                                  </a:solidFill>
                                  <a:latin typeface="Cambria Math" panose="02040503050406030204" pitchFamily="18" charset="0"/>
                                </a:rPr>
                                <m:t xml:space="preserve">φ</m:t>
                              </m:r>
                            </m:e>
                          </m:acc>
                        </m:e>
                        <m:sub>
                          <m:r>
                            <a:rPr lang="en-US" sz="2350" i="1">
                              <a:solidFill>
                                <a:srgbClr val="124944"/>
                              </a:solidFill>
                              <a:latin typeface="Cambria Math" panose="02040503050406030204" pitchFamily="18" charset="0"/>
                            </a:rPr>
                            <m:t xml:space="preserve">j</m:t>
                          </m:r>
                        </m:sub>
                      </m:sSub>
                      <m:r>
                        <m:rPr>
                          <m:sty m:val="p"/>
                        </m:rPr>
                        <a:rPr lang="en-US" sz="2350">
                          <a:solidFill>
                            <a:srgbClr val="124944"/>
                          </a:solidFill>
                          <a:latin typeface="Cambria Math" panose="02040503050406030204" pitchFamily="18" charset="0"/>
                        </a:rPr>
                        <m:t xml:space="preserve">=</m:t>
                      </m:r>
                      <m:f>
                        <m:fPr>
                          <m:ctrlPr>
                            <a:rPr lang="en-US" sz="2350" i="1">
                              <a:solidFill>
                                <a:srgbClr val="124944"/>
                              </a:solidFill>
                              <a:latin typeface="Cambria Math" panose="02040503050406030204" pitchFamily="18" charset="0"/>
                            </a:rPr>
                          </m:ctrlPr>
                        </m:fPr>
                        <m:num>
                          <m:r>
                            <m:rPr>
                              <m:sty m:val="p"/>
                            </m:rPr>
                            <a:rPr lang="en-US" sz="2350">
                              <a:solidFill>
                                <a:srgbClr val="124944"/>
                              </a:solidFill>
                              <a:latin typeface="Cambria Math" panose="02040503050406030204" pitchFamily="18" charset="0"/>
                            </a:rPr>
                            <m:t xml:space="preserve">1</m:t>
                          </m:r>
                        </m:num>
                        <m:den>
                          <m:r>
                            <a:rPr lang="en-US" sz="2350" i="1">
                              <a:solidFill>
                                <a:srgbClr val="124944"/>
                              </a:solidFill>
                              <a:latin typeface="Cambria Math" panose="02040503050406030204" pitchFamily="18" charset="0"/>
                            </a:rPr>
                            <m:t xml:space="preserve">M</m:t>
                          </m:r>
                        </m:den>
                      </m:f>
                      <m:nary>
                        <m:naryPr>
                          <m:chr m:val="∑"/>
                          <m:limLoc m:val="undOvr"/>
                          <m:ctrlPr>
                            <a:rPr lang="en-US" sz="2350" i="1">
                              <a:solidFill>
                                <a:srgbClr val="124944"/>
                              </a:solidFill>
                              <a:latin typeface="Cambria Math" panose="02040503050406030204" pitchFamily="18" charset="0"/>
                            </a:rPr>
                          </m:ctrlPr>
                        </m:naryPr>
                        <m:sub>
                          <m:r>
                            <a:rPr lang="en-US" sz="2350" i="1">
                              <a:solidFill>
                                <a:srgbClr val="124944"/>
                              </a:solidFill>
                              <a:latin typeface="Cambria Math" panose="02040503050406030204" pitchFamily="18" charset="0"/>
                            </a:rPr>
                            <m:t xml:space="preserve">m</m:t>
                          </m:r>
                          <m:r>
                            <m:rPr>
                              <m:sty m:val="p"/>
                            </m:rPr>
                            <a:rPr lang="en-US" sz="2350">
                              <a:solidFill>
                                <a:srgbClr val="124944"/>
                              </a:solidFill>
                              <a:latin typeface="Cambria Math" panose="02040503050406030204" pitchFamily="18" charset="0"/>
                            </a:rPr>
                            <m:t xml:space="preserve">=1</m:t>
                          </m:r>
                        </m:sub>
                        <m:sup>
                          <m:r>
                            <a:rPr lang="en-US" sz="2350" i="1">
                              <a:solidFill>
                                <a:srgbClr val="124944"/>
                              </a:solidFill>
                              <a:latin typeface="Cambria Math" panose="02040503050406030204" pitchFamily="18" charset="0"/>
                            </a:rPr>
                            <m:t xml:space="preserve">M</m:t>
                          </m:r>
                        </m:sup>
                        <m:e>
                          <m:d>
                            <m:dPr>
                              <m:begChr m:val="["/>
                              <m:endChr m:val="]"/>
                              <m:ctrlPr>
                                <a:rPr lang="en-US" sz="2350" i="1">
                                  <a:solidFill>
                                    <a:srgbClr val="124944"/>
                                  </a:solidFill>
                                  <a:latin typeface="Cambria Math" panose="02040503050406030204" pitchFamily="18" charset="0"/>
                                </a:rPr>
                              </m:ctrlPr>
                            </m:dPr>
                            <m:e>
                              <m:r>
                                <m:rPr>
                                  <m:sty m:val="p"/>
                                </m:rPr>
                                <a:rPr lang="en-US" sz="2350">
                                  <a:solidFill>
                                    <a:srgbClr val="124944"/>
                                  </a:solidFill>
                                  <a:latin typeface="Cambria Math" panose="02040503050406030204" pitchFamily="18" charset="0"/>
                                </a:rPr>
                                <m:t xml:space="preserve"> </m:t>
                              </m:r>
                              <m:r>
                                <a:rPr lang="en-US" sz="2350" i="1">
                                  <a:solidFill>
                                    <a:srgbClr val="124944"/>
                                  </a:solidFill>
                                  <a:latin typeface="Cambria Math" panose="02040503050406030204" pitchFamily="18" charset="0"/>
                                </a:rPr>
                                <m:t xml:space="preserve">v</m:t>
                              </m:r>
                              <m:r>
                                <m:rPr>
                                  <m:sty m:val="p"/>
                                </m:rPr>
                                <a:rPr lang="en-US" sz="2350">
                                  <a:solidFill>
                                    <a:srgbClr val="124944"/>
                                  </a:solidFill>
                                  <a:latin typeface="Cambria Math" panose="02040503050406030204" pitchFamily="18" charset="0"/>
                                </a:rPr>
                                <m:t xml:space="preserve">(</m:t>
                              </m:r>
                              <m:sSub>
                                <m:sSubPr>
                                  <m:ctrlPr>
                                    <a:rPr lang="en-US" sz="2350" i="1">
                                      <a:solidFill>
                                        <a:srgbClr val="124944"/>
                                      </a:solidFill>
                                      <a:latin typeface="Cambria Math" panose="02040503050406030204" pitchFamily="18" charset="0"/>
                                    </a:rPr>
                                  </m:ctrlPr>
                                </m:sSubPr>
                                <m:e>
                                  <m:r>
                                    <a:rPr lang="en-US" sz="2350" i="1">
                                      <a:solidFill>
                                        <a:srgbClr val="124944"/>
                                      </a:solidFill>
                                      <a:latin typeface="Cambria Math" panose="02040503050406030204" pitchFamily="18" charset="0"/>
                                    </a:rPr>
                                    <m:t xml:space="preserve">S</m:t>
                                  </m:r>
                                </m:e>
                                <m:sub>
                                  <m:r>
                                    <a:rPr lang="en-US" sz="2350" i="1">
                                      <a:solidFill>
                                        <a:srgbClr val="124944"/>
                                      </a:solidFill>
                                      <a:latin typeface="Cambria Math" panose="02040503050406030204" pitchFamily="18" charset="0"/>
                                    </a:rPr>
                                    <m:t xml:space="preserve">m</m:t>
                                  </m:r>
                                </m:sub>
                              </m:sSub>
                              <m:r>
                                <m:rPr>
                                  <m:sty m:val="p"/>
                                </m:rPr>
                                <a:rPr lang="en-US" sz="2350">
                                  <a:solidFill>
                                    <a:srgbClr val="124944"/>
                                  </a:solidFill>
                                  <a:latin typeface="Cambria Math" panose="02040503050406030204" pitchFamily="18" charset="0"/>
                                </a:rPr>
                                <m:t xml:space="preserve">∪{</m:t>
                              </m:r>
                              <m:r>
                                <a:rPr lang="en-US" sz="2350" i="1">
                                  <a:solidFill>
                                    <a:srgbClr val="124944"/>
                                  </a:solidFill>
                                  <a:latin typeface="Cambria Math" panose="02040503050406030204" pitchFamily="18" charset="0"/>
                                </a:rPr>
                                <m:t xml:space="preserve">j</m:t>
                              </m:r>
                              <m:r>
                                <m:rPr>
                                  <m:sty m:val="p"/>
                                </m:rPr>
                                <a:rPr lang="en-US" sz="2350">
                                  <a:solidFill>
                                    <a:srgbClr val="124944"/>
                                  </a:solidFill>
                                  <a:latin typeface="Cambria Math" panose="02040503050406030204" pitchFamily="18" charset="0"/>
                                </a:rPr>
                                <m:t xml:space="preserve">})−</m:t>
                              </m:r>
                              <m:r>
                                <a:rPr lang="en-US" sz="2350" i="1">
                                  <a:solidFill>
                                    <a:srgbClr val="124944"/>
                                  </a:solidFill>
                                  <a:latin typeface="Cambria Math" panose="02040503050406030204" pitchFamily="18" charset="0"/>
                                </a:rPr>
                                <m:t xml:space="preserve">v</m:t>
                              </m:r>
                              <m:r>
                                <m:rPr>
                                  <m:sty m:val="p"/>
                                </m:rPr>
                                <a:rPr lang="en-US" sz="2350">
                                  <a:solidFill>
                                    <a:srgbClr val="124944"/>
                                  </a:solidFill>
                                  <a:latin typeface="Cambria Math" panose="02040503050406030204" pitchFamily="18" charset="0"/>
                                </a:rPr>
                                <m:t xml:space="preserve">(</m:t>
                              </m:r>
                              <m:sSub>
                                <m:sSubPr>
                                  <m:ctrlPr>
                                    <a:rPr lang="en-US" sz="2350" i="1">
                                      <a:solidFill>
                                        <a:srgbClr val="124944"/>
                                      </a:solidFill>
                                      <a:latin typeface="Cambria Math" panose="02040503050406030204" pitchFamily="18" charset="0"/>
                                    </a:rPr>
                                  </m:ctrlPr>
                                </m:sSubPr>
                                <m:e>
                                  <m:r>
                                    <a:rPr lang="en-US" sz="2350" i="1">
                                      <a:solidFill>
                                        <a:srgbClr val="124944"/>
                                      </a:solidFill>
                                      <a:latin typeface="Cambria Math" panose="02040503050406030204" pitchFamily="18" charset="0"/>
                                    </a:rPr>
                                    <m:t xml:space="preserve">S</m:t>
                                  </m:r>
                                </m:e>
                                <m:sub>
                                  <m:r>
                                    <a:rPr lang="en-US" sz="2350" i="1">
                                      <a:solidFill>
                                        <a:srgbClr val="124944"/>
                                      </a:solidFill>
                                      <a:latin typeface="Cambria Math" panose="02040503050406030204" pitchFamily="18" charset="0"/>
                                    </a:rPr>
                                    <m:t xml:space="preserve">m</m:t>
                                  </m:r>
                                </m:sub>
                              </m:sSub>
                              <m:r>
                                <m:rPr>
                                  <m:sty m:val="p"/>
                                </m:rPr>
                                <a:rPr lang="en-US" sz="2350">
                                  <a:solidFill>
                                    <a:srgbClr val="12494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DF8330"/>
                              </a:solidFill>
                              <a:latin typeface="Cambria Math" panose="02040503050406030204" pitchFamily="18" charset="0"/>
                            </a:rPr>
                          </m:ctrlPr>
                        </m:sSubSupPr>
                        <m:e>
                          <m:acc>
                            <m:accPr>
                              <m:chr m:val="̂"/>
                              <m:ctrlPr>
                                <a:rPr lang="en-US" sz="2350" i="1">
                                  <a:solidFill>
                                    <a:srgbClr val="DF8330"/>
                                  </a:solidFill>
                                  <a:latin typeface="Cambria Math" panose="02040503050406030204" pitchFamily="18" charset="0"/>
                                </a:rPr>
                              </m:ctrlPr>
                            </m:accPr>
                            <m:e>
                              <m:r>
                                <a:rPr lang="en-US" sz="2350" i="1">
                                  <a:solidFill>
                                    <a:srgbClr val="DF8330"/>
                                  </a:solidFill>
                                  <a:latin typeface="Cambria Math" panose="02040503050406030204" pitchFamily="18" charset="0"/>
                                </a:rPr>
                                <m:t xml:space="preserve">φ</m:t>
                              </m:r>
                            </m:e>
                          </m:acc>
                        </m:e>
                        <m:sub>
                          <m:r>
                            <a:rPr lang="en-US" sz="2350" i="1">
                              <a:solidFill>
                                <a:srgbClr val="DF8330"/>
                              </a:solidFill>
                              <a:latin typeface="Cambria Math" panose="02040503050406030204" pitchFamily="18" charset="0"/>
                            </a:rPr>
                            <m:t xml:space="preserve">j</m:t>
                          </m:r>
                        </m:sub>
                        <m:sup>
                          <m:r>
                            <m:rPr>
                              <m:sty m:val="p"/>
                            </m:rPr>
                            <a:rPr lang="en-US" sz="2350">
                              <a:solidFill>
                                <a:srgbClr val="DF8330"/>
                              </a:solidFill>
                              <a:latin typeface="Cambria Math" panose="02040503050406030204" pitchFamily="18" charset="0"/>
                            </a:rPr>
                            <m:t xml:space="preserve"> pref</m:t>
                          </m:r>
                        </m:sup>
                      </m:sSubSup>
                      <m:r>
                        <m:rPr>
                          <m:sty m:val="p"/>
                        </m:rPr>
                        <a:rPr lang="en-US" sz="2350">
                          <a:solidFill>
                            <a:srgbClr val="DF8330"/>
                          </a:solidFill>
                          <a:latin typeface="Cambria Math" panose="02040503050406030204" pitchFamily="18" charset="0"/>
                        </a:rPr>
                        <m:t xml:space="preserve">=</m:t>
                      </m:r>
                      <m:f>
                        <m:fPr>
                          <m:ctrlPr>
                            <a:rPr lang="en-US" sz="2350" i="1">
                              <a:solidFill>
                                <a:srgbClr val="DF8330"/>
                              </a:solidFill>
                              <a:latin typeface="Cambria Math" panose="02040503050406030204" pitchFamily="18" charset="0"/>
                            </a:rPr>
                          </m:ctrlPr>
                        </m:fPr>
                        <m:num>
                          <m:r>
                            <m:rPr>
                              <m:sty m:val="p"/>
                            </m:rPr>
                            <a:rPr lang="en-US" sz="2350">
                              <a:solidFill>
                                <a:srgbClr val="DF8330"/>
                              </a:solidFill>
                              <a:latin typeface="Cambria Math" panose="02040503050406030204" pitchFamily="18" charset="0"/>
                            </a:rPr>
                            <m:t xml:space="preserve">1</m:t>
                          </m:r>
                        </m:num>
                        <m:den>
                          <m:r>
                            <a:rPr lang="en-US" sz="2350" i="1">
                              <a:solidFill>
                                <a:srgbClr val="DF8330"/>
                              </a:solidFill>
                              <a:latin typeface="Cambria Math" panose="02040503050406030204" pitchFamily="18" charset="0"/>
                            </a:rPr>
                            <m:t xml:space="preserve">M</m:t>
                          </m:r>
                        </m:den>
                      </m:f>
                      <m:nary>
                        <m:naryPr>
                          <m:chr m:val="∑"/>
                          <m:limLoc m:val="undOvr"/>
                          <m:ctrlPr>
                            <a:rPr lang="en-US" sz="2350" i="1">
                              <a:solidFill>
                                <a:srgbClr val="DF8330"/>
                              </a:solidFill>
                              <a:latin typeface="Cambria Math" panose="02040503050406030204" pitchFamily="18" charset="0"/>
                            </a:rPr>
                          </m:ctrlPr>
                        </m:naryPr>
                        <m:sub>
                          <m:r>
                            <a:rPr lang="en-US" sz="2350" i="1">
                              <a:solidFill>
                                <a:srgbClr val="DF8330"/>
                              </a:solidFill>
                              <a:latin typeface="Cambria Math" panose="02040503050406030204" pitchFamily="18" charset="0"/>
                            </a:rPr>
                            <m:t xml:space="preserve">m</m:t>
                          </m:r>
                          <m:r>
                            <m:rPr>
                              <m:sty m:val="p"/>
                            </m:rPr>
                            <a:rPr lang="en-US" sz="2350">
                              <a:solidFill>
                                <a:srgbClr val="DF8330"/>
                              </a:solidFill>
                              <a:latin typeface="Cambria Math" panose="02040503050406030204" pitchFamily="18" charset="0"/>
                            </a:rPr>
                            <m:t xml:space="preserve">=1</m:t>
                          </m:r>
                        </m:sub>
                        <m:sup>
                          <m:r>
                            <a:rPr lang="en-US" sz="2350" i="1">
                              <a:solidFill>
                                <a:srgbClr val="DF8330"/>
                              </a:solidFill>
                              <a:latin typeface="Cambria Math" panose="02040503050406030204" pitchFamily="18" charset="0"/>
                            </a:rPr>
                            <m:t xml:space="preserve">M</m:t>
                          </m:r>
                        </m:sup>
                        <m:e>
                          <m:d>
                            <m:dPr>
                              <m:begChr m:val="["/>
                              <m:endChr m:val="]"/>
                              <m:ctrlPr>
                                <a:rPr lang="en-US" sz="2350" i="1">
                                  <a:solidFill>
                                    <a:srgbClr val="DF8330"/>
                                  </a:solidFill>
                                  <a:latin typeface="Cambria Math" panose="02040503050406030204" pitchFamily="18" charset="0"/>
                                </a:rPr>
                              </m:ctrlPr>
                            </m:dPr>
                            <m:e>
                              <m:r>
                                <m:rPr>
                                  <m:sty m:val="p"/>
                                </m:rPr>
                                <a:rPr lang="en-US" sz="2350">
                                  <a:solidFill>
                                    <a:srgbClr val="DF8330"/>
                                  </a:solidFill>
                                  <a:latin typeface="Cambria Math" panose="02040503050406030204" pitchFamily="18" charset="0"/>
                                </a:rPr>
                                <m:t xml:space="preserve"> </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v</m:t>
                                  </m:r>
                                </m:e>
                                <m:sub>
                                  <m:r>
                                    <m:rPr>
                                      <m:sty m:val="p"/>
                                    </m:rPr>
                                    <a:rPr lang="en-US" sz="2350">
                                      <a:solidFill>
                                        <a:srgbClr val="DF8330"/>
                                      </a:solidFill>
                                      <a:latin typeface="Cambria Math" panose="02040503050406030204" pitchFamily="18" charset="0"/>
                                    </a:rPr>
                                    <m:t xml:space="preserve">pref</m:t>
                                  </m:r>
                                </m:sub>
                              </m:sSub>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S</m:t>
                                  </m:r>
                                </m:e>
                                <m:sub>
                                  <m:r>
                                    <a:rPr lang="en-US" sz="2350" i="1">
                                      <a:solidFill>
                                        <a:srgbClr val="DF8330"/>
                                      </a:solidFill>
                                      <a:latin typeface="Cambria Math" panose="02040503050406030204" pitchFamily="18" charset="0"/>
                                    </a:rPr>
                                    <m:t xml:space="preserve">m</m:t>
                                  </m:r>
                                </m:sub>
                              </m:sSub>
                              <m:r>
                                <m:rPr>
                                  <m:sty m:val="p"/>
                                </m:rPr>
                                <a:rPr lang="en-US" sz="2350">
                                  <a:solidFill>
                                    <a:srgbClr val="DF8330"/>
                                  </a:solidFill>
                                  <a:latin typeface="Cambria Math" panose="02040503050406030204" pitchFamily="18" charset="0"/>
                                </a:rPr>
                                <m:t xml:space="preserve">∪{</m:t>
                              </m:r>
                              <m:r>
                                <a:rPr lang="en-US" sz="2350" i="1">
                                  <a:solidFill>
                                    <a:srgbClr val="DF8330"/>
                                  </a:solidFill>
                                  <a:latin typeface="Cambria Math" panose="02040503050406030204" pitchFamily="18" charset="0"/>
                                </a:rPr>
                                <m:t xml:space="preserve">j</m:t>
                              </m:r>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v</m:t>
                                  </m:r>
                                </m:e>
                                <m:sub>
                                  <m:r>
                                    <m:rPr>
                                      <m:sty m:val="p"/>
                                    </m:rPr>
                                    <a:rPr lang="en-US" sz="2350">
                                      <a:solidFill>
                                        <a:srgbClr val="DF8330"/>
                                      </a:solidFill>
                                      <a:latin typeface="Cambria Math" panose="02040503050406030204" pitchFamily="18" charset="0"/>
                                    </a:rPr>
                                    <m:t xml:space="preserve">pref</m:t>
                                  </m:r>
                                </m:sub>
                              </m:sSub>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S</m:t>
                                  </m:r>
                                </m:e>
                                <m:sub>
                                  <m:r>
                                    <a:rPr lang="en-US" sz="2350" i="1">
                                      <a:solidFill>
                                        <a:srgbClr val="DF8330"/>
                                      </a:solidFill>
                                      <a:latin typeface="Cambria Math" panose="02040503050406030204" pitchFamily="18" charset="0"/>
                                    </a:rPr>
                                    <m:t xml:space="preserve">m</m:t>
                                  </m:r>
                                </m:sub>
                              </m:sSub>
                              <m:r>
                                <m:rPr>
                                  <m:sty m:val="p"/>
                                </m:rPr>
                                <a:rPr lang="en-US" sz="2350">
                                  <a:solidFill>
                                    <a:srgbClr val="DF8330"/>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2" name="Equation"/>
              <p:cNvSpPr txBox="1"/>
              <p:nvPr/>
            </p:nvSpPr>
            <p:spPr>
              <a:xfrm>
                <a:off x="1211580" y="6838442"/>
                <a:ext cx="82296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600">
                          <a:solidFill>
                            <a:srgbClr val="111111"/>
                          </a:solidFill>
                          <a:latin typeface="Cambria Math" panose="02040503050406030204" pitchFamily="18" charset="0"/>
                        </a:rPr>
                        <m:t xml:space="preserve">Var</m:t>
                      </m:r>
                      <m:d>
                        <m:dPr>
                          <m:begChr m:val="["/>
                          <m:endChr m:val="]"/>
                          <m:ctrlPr>
                            <a:rPr lang="en-US" sz="1600" i="1">
                              <a:solidFill>
                                <a:srgbClr val="111111"/>
                              </a:solidFill>
                              <a:latin typeface="Cambria Math" panose="02040503050406030204" pitchFamily="18" charset="0"/>
                            </a:rPr>
                          </m:ctrlPr>
                        </m:dPr>
                        <m:e>
                          <m:sSub>
                            <m:sSubPr>
                              <m:ctrlPr>
                                <a:rPr lang="en-US" sz="1600" i="1">
                                  <a:solidFill>
                                    <a:srgbClr val="111111"/>
                                  </a:solidFill>
                                  <a:latin typeface="Cambria Math" panose="02040503050406030204" pitchFamily="18" charset="0"/>
                                </a:rPr>
                              </m:ctrlPr>
                            </m:sSubPr>
                            <m:e>
                              <m:acc>
                                <m:accPr>
                                  <m:chr m:val="̂"/>
                                  <m:ctrlPr>
                                    <a:rPr lang="en-US" sz="1600" i="1">
                                      <a:solidFill>
                                        <a:srgbClr val="111111"/>
                                      </a:solidFill>
                                      <a:latin typeface="Cambria Math" panose="02040503050406030204" pitchFamily="18" charset="0"/>
                                    </a:rPr>
                                  </m:ctrlPr>
                                </m:accPr>
                                <m:e>
                                  <m:r>
                                    <a:rPr lang="en-US" sz="1600" i="1">
                                      <a:solidFill>
                                        <a:srgbClr val="111111"/>
                                      </a:solidFill>
                                      <a:latin typeface="Cambria Math" panose="02040503050406030204" pitchFamily="18" charset="0"/>
                                    </a:rPr>
                                    <m:t xml:space="preserve">φ</m:t>
                                  </m:r>
                                </m:e>
                              </m:acc>
                            </m:e>
                            <m:sub>
                              <m:r>
                                <a:rPr lang="en-US" sz="1600" i="1">
                                  <a:solidFill>
                                    <a:srgbClr val="111111"/>
                                  </a:solidFill>
                                  <a:latin typeface="Cambria Math" panose="02040503050406030204" pitchFamily="18" charset="0"/>
                                </a:rPr>
                                <m:t xml:space="preserve">j</m:t>
                              </m:r>
                            </m:sub>
                          </m:sSub>
                        </m:e>
                      </m:d>
                      <m:r>
                        <m:rPr>
                          <m:sty m:val="p"/>
                        </m:rPr>
                        <a:rPr lang="en-US" sz="1600">
                          <a:solidFill>
                            <a:srgbClr val="111111"/>
                          </a:solidFill>
                          <a:latin typeface="Cambria Math" panose="02040503050406030204" pitchFamily="18" charset="0"/>
                        </a:rPr>
                        <m:t xml:space="preserve">=</m:t>
                      </m:r>
                      <m:sSup>
                        <m:sSupPr>
                          <m:ctrlPr>
                            <a:rPr lang="en-US" sz="1600" i="1">
                              <a:solidFill>
                                <a:srgbClr val="111111"/>
                              </a:solidFill>
                              <a:latin typeface="Cambria Math" panose="02040503050406030204" pitchFamily="18" charset="0"/>
                            </a:rPr>
                          </m:ctrlPr>
                        </m:sSupPr>
                        <m:e>
                          <m:r>
                            <a:rPr lang="en-US" sz="1600" i="1">
                              <a:solidFill>
                                <a:srgbClr val="111111"/>
                              </a:solidFill>
                              <a:latin typeface="Cambria Math" panose="02040503050406030204" pitchFamily="18" charset="0"/>
                            </a:rPr>
                            <m:t xml:space="preserve">σ</m:t>
                          </m:r>
                        </m:e>
                        <m:sup>
                          <m:r>
                            <m:rPr>
                              <m:sty m:val="p"/>
                            </m:rPr>
                            <a:rPr lang="en-US" sz="1600">
                              <a:solidFill>
                                <a:srgbClr val="111111"/>
                              </a:solidFill>
                              <a:latin typeface="Cambria Math" panose="02040503050406030204" pitchFamily="18" charset="0"/>
                            </a:rPr>
                            <m:t xml:space="preserve">2</m:t>
                          </m:r>
                        </m:sup>
                      </m:sSup>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  ⇒  MSE=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m:t>
                      </m:r>
                      <m:r>
                        <m:rPr>
                          <m:nor/>
                        </m:rPr>
                        <a:rPr lang="en-US" sz="1600">
                          <a:solidFill>
                            <a:srgbClr val="111111"/>
                          </a:solidFill>
                          <a:latin typeface="Cambria Math" panose="02040503050406030204" pitchFamily="18" charset="0"/>
                        </a:rPr>
                        <m:t xml:space="preserve">error</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ad>
                        <m:radPr>
                          <m:degHide m:val="1"/>
                          <m:ctrlPr>
                            <a:rPr lang="en-US" sz="1600" i="1">
                              <a:solidFill>
                                <a:srgbClr val="111111"/>
                              </a:solidFill>
                              <a:latin typeface="Cambria Math" panose="02040503050406030204" pitchFamily="18" charset="0"/>
                            </a:rPr>
                          </m:ctrlPr>
                        </m:radPr>
                        <m:deg/>
                        <m:e>
                          <m:r>
                            <a:rPr lang="en-US" sz="1600" i="1">
                              <a:solidFill>
                                <a:srgbClr val="111111"/>
                              </a:solidFill>
                              <a:latin typeface="Cambria Math" panose="02040503050406030204" pitchFamily="18" charset="0"/>
                            </a:rPr>
                            <m:t xml:space="preserve">M</m:t>
                          </m:r>
                        </m:e>
                      </m:rad>
                      <m:r>
                        <m:rPr>
                          <m:sty m:val="p"/>
                        </m:rPr>
                        <a:rPr lang="en-US" sz="1600">
                          <a:solidFill>
                            <a:srgbClr val="111111"/>
                          </a:solidFill>
                          <a:latin typeface="Cambria Math" panose="02040503050406030204" pitchFamily="18" charset="0"/>
                        </a:rPr>
                        <m:t xml:space="preserve">)</m:t>
                      </m:r>
                    </m:oMath>
                  </m:oMathPara>
                </a14:m>
                <a:endParaRPr lang="en-US" sz="1600"/>
              </a:p>
            </p:txBody>
          </p:sp>
        </mc:Choice>
        <mc:Fallback>
          <p:sp>
            <p:nvSpPr>
              <p:cNvPr id="32" name="Equation"/>
              <p:cNvSpPr txBox="1"/>
              <p:nvPr/>
            </p:nvSpPr>
            <p:spPr>
              <a:xfrm>
                <a:off x="1211580" y="6838442"/>
                <a:ext cx="8229600" cy="548640"/>
              </a:xfrm>
              <a:prstGeom prst="rect">
                <a:avLst/>
              </a:prstGeom>
              <a:blipFill>
                <a:blip r:embed="rId7"/>
                <a:stretch>
                  <a:fillRect/>
                </a:stretch>
              </a:blipFill>
            </p:spPr>
            <p:txBody>
              <a:bodyPr/>
              <a:lstStyle/>
              <a:p>
                <a:endParaRPr lang="en-US"/>
              </a:p>
            </p:txBody>
          </p:sp>
        </mc:Fallback>
      </mc:AlternateContent>
      <p:sp>
        <p:nvSpPr>
          <p:cNvPr id="33" name="TextBox 32"/>
          <p:cNvSpPr txBox="1"/>
          <p:nvPr/>
        </p:nvSpPr>
        <p:spPr>
          <a:xfrm>
            <a:off x="1028700" y="7478522"/>
            <a:ext cx="8595360" cy="1830070"/>
          </a:xfrm>
          <a:prstGeom prst="rect">
            <a:avLst/>
          </a:prstGeom>
          <a:noFill/>
        </p:spPr>
        <p:txBody>
          <a:bodyPr anchor="t" rtlCol="false" lIns="0" tIns="0" rIns="0" bIns="0" wrap="square"/>
          <a:lstStyle/>
          <a:p>
            <a:pPr algn="l" marL="274320" indent="-274320">
              <a:lnSpc>
                <a:spcPts val="2341"/>
              </a:lnSpc>
              <a:spcBef>
                <a:spcPts val="0"/>
              </a:spcBef>
              <a:buClr>
                <a:srgbClr val="DF8330"/>
              </a:buClr>
              <a:buSzPct val="100000"/>
              <a:buFont typeface="Arial"/>
              <a:buChar char="•"/>
            </a:pPr>
            <a:r>
              <a:rPr lang="en-US" sz="1672" b="true">
                <a:solidFill>
                  <a:srgbClr val="111111"/>
                </a:solidFill>
                <a:latin typeface="Nunito Bold"/>
                <a:ea typeface="Nunito Bold"/>
                <a:cs typeface="Nunito Bold"/>
                <a:sym typeface="Nunito Bold"/>
              </a:rPr>
              <a:t>Unbiased estimator:</a:t>
            </a:r>
            <a:r>
              <a:rPr lang="en-US" sz="1672" b="true">
                <a:solidFill>
                  <a:srgbClr val="111111"/>
                </a:solidFill>
                <a:latin typeface="Nunito Semi-Bold"/>
                <a:ea typeface="Nunito Semi-Bold"/>
                <a:cs typeface="Nunito Semi-Bold"/>
                <a:sym typeface="Nunito Semi-Bold"/>
              </a:rPr>
              <a:t> error shrinks as the number of permutations M grows.</a:t>
            </a:r>
          </a:p>
          <a:p>
            <a:pPr algn="l" marL="274320" indent="-274320">
              <a:lnSpc>
                <a:spcPts val="2475"/>
              </a:lnSpc>
              <a:spcBef>
                <a:spcPts val="704"/>
              </a:spcBef>
              <a:buClr>
                <a:srgbClr val="DF8330"/>
              </a:buClr>
              <a:buSzPct val="100000"/>
              <a:buFont typeface="Arial"/>
              <a:buChar char="•"/>
            </a:pPr>
            <a:r>
              <a:rPr lang="en-US" sz="1672" b="true">
                <a:solidFill>
                  <a:srgbClr val="111111"/>
                </a:solidFill>
                <a:latin typeface="Nunito Bold"/>
                <a:ea typeface="Nunito Bold"/>
                <a:cs typeface="Nunito Bold"/>
                <a:sym typeface="Nunito Bold"/>
              </a:rPr>
              <a:t>M = 50 selected:</a:t>
            </a:r>
            <a:r>
              <a:rPr lang="en-US" sz="1672" b="true">
                <a:solidFill>
                  <a:srgbClr val="111111"/>
                </a:solidFill>
                <a:latin typeface="Nunito Semi-Bold"/>
                <a:ea typeface="Nunito Semi-Bold"/>
                <a:cs typeface="Nunito Semi-Bold"/>
                <a:sym typeface="Nunito Semi-Bold"/>
              </a:rPr>
              <a:t> MSE ≈ 1.4×10</a:t>
            </a:r>
            <a:r>
              <a:rPr lang="en-US" sz="1672" b="true" baseline="30000">
                <a:solidFill>
                  <a:srgbClr val="111111"/>
                </a:solidFill>
                <a:latin typeface="Nunito Semi-Bold"/>
                <a:ea typeface="Nunito Semi-Bold"/>
                <a:cs typeface="Nunito Semi-Bold"/>
                <a:sym typeface="Nunito Semi-Bold"/>
              </a:rPr>
              <a:t>−5</a:t>
            </a:r>
            <a:r>
              <a:rPr lang="en-US" sz="1672" b="true">
                <a:solidFill>
                  <a:srgbClr val="111111"/>
                </a:solidFill>
                <a:latin typeface="Nunito Semi-Bold"/>
                <a:ea typeface="Nunito Semi-Bold"/>
                <a:cs typeface="Nunito Semi-Bold"/>
                <a:sym typeface="Nunito Semi-Bold"/>
              </a:rPr>
              <a:t>, ≈ 99 % accuracy on MovieLens-1M; M = 100 </a:t>
            </a:r>
            <a:r>
              <a:rPr lang="en-US" sz="1672" b="true">
                <a:solidFill>
                  <a:srgbClr val="111111"/>
                </a:solidFill>
                <a:latin typeface="Calibri"/>
                <a:ea typeface="Calibri"/>
                <a:cs typeface="Calibri"/>
                <a:sym typeface="Calibri"/>
              </a:rPr>
              <a:t>→ </a:t>
            </a:r>
            <a:r>
              <a:rPr lang="en-US" sz="1672" b="true">
                <a:solidFill>
                  <a:srgbClr val="111111"/>
                </a:solidFill>
                <a:latin typeface="Nunito Semi-Bold"/>
                <a:ea typeface="Nunito Semi-Bold"/>
                <a:cs typeface="Nunito Semi-Bold"/>
                <a:sym typeface="Nunito Semi-Bold"/>
              </a:rPr>
              <a:t>MSE 3.5×10</a:t>
            </a:r>
            <a:r>
              <a:rPr lang="en-US" sz="1672" b="true" baseline="30000">
                <a:solidFill>
                  <a:srgbClr val="111111"/>
                </a:solidFill>
                <a:latin typeface="Nunito Semi-Bold"/>
                <a:ea typeface="Nunito Semi-Bold"/>
                <a:cs typeface="Nunito Semi-Bold"/>
                <a:sym typeface="Nunito Semi-Bold"/>
              </a:rPr>
              <a:t>−6</a:t>
            </a:r>
            <a:r>
              <a:rPr lang="en-US" sz="1672" b="true">
                <a:solidFill>
                  <a:srgbClr val="111111"/>
                </a:solidFill>
                <a:latin typeface="Nunito Semi-Bold"/>
                <a:ea typeface="Nunito Semi-Bold"/>
                <a:cs typeface="Nunito Semi-Bold"/>
                <a:sym typeface="Nunito Semi-Bold"/>
              </a:rPr>
              <a:t> (diminishing returns).</a:t>
            </a:r>
          </a:p>
          <a:p>
            <a:pPr algn="l" marL="274320" indent="-274320">
              <a:lnSpc>
                <a:spcPts val="2341"/>
              </a:lnSpc>
              <a:spcBef>
                <a:spcPts val="704"/>
              </a:spcBef>
              <a:buClr>
                <a:srgbClr val="DF8330"/>
              </a:buClr>
              <a:buSzPct val="100000"/>
              <a:buFont typeface="Arial"/>
              <a:buChar char="•"/>
            </a:pPr>
            <a:r>
              <a:rPr lang="en-US" sz="1672" b="true">
                <a:solidFill>
                  <a:srgbClr val="111111"/>
                </a:solidFill>
                <a:latin typeface="Nunito Semi-Bold"/>
                <a:ea typeface="Nunito Semi-Bold"/>
                <a:cs typeface="Nunito Semi-Bold"/>
                <a:sym typeface="Nunito Semi-Bold"/>
              </a:rPr>
              <a:t>Refreshed </a:t>
            </a:r>
            <a:r>
              <a:rPr lang="en-US" sz="1672" b="true">
                <a:solidFill>
                  <a:srgbClr val="111111"/>
                </a:solidFill>
                <a:latin typeface="Nunito Bold"/>
                <a:ea typeface="Nunito Bold"/>
                <a:cs typeface="Nunito Bold"/>
                <a:sym typeface="Nunito Bold"/>
              </a:rPr>
              <a:t>every 10 batches</a:t>
            </a:r>
            <a:r>
              <a:rPr lang="en-US" sz="1672" b="true">
                <a:solidFill>
                  <a:srgbClr val="111111"/>
                </a:solidFill>
                <a:latin typeface="Nunito Semi-Bold"/>
                <a:ea typeface="Nunito Semi-Bold"/>
                <a:cs typeface="Nunito Semi-Bold"/>
                <a:sym typeface="Nunito Semi-Bold"/>
              </a:rPr>
              <a:t> (≈ 49 updates / epoch), smoothed by an </a:t>
            </a:r>
            <a:r>
              <a:rPr lang="en-US" sz="1672" b="true">
                <a:solidFill>
                  <a:srgbClr val="111111"/>
                </a:solidFill>
                <a:latin typeface="Nunito Bold"/>
                <a:ea typeface="Nunito Bold"/>
                <a:cs typeface="Nunito Bold"/>
                <a:sym typeface="Nunito Bold"/>
              </a:rPr>
              <a:t>exponential moving average</a:t>
            </a:r>
            <a:r>
              <a:rPr lang="en-US" sz="1672" b="true">
                <a:solidFill>
                  <a:srgbClr val="111111"/>
                </a:solidFill>
                <a:latin typeface="Nunito Semi-Bold"/>
                <a:ea typeface="Nunito Semi-Bold"/>
                <a:cs typeface="Nunito Semi-Bold"/>
                <a:sym typeface="Nunito Semi-Bold"/>
              </a:rPr>
              <a:t>.</a:t>
            </a:r>
          </a:p>
        </p:txBody>
      </p:sp>
      <p:graphicFrame>
        <p:nvGraphicFramePr>
          <p:cNvPr id="34" name="Table 33"/>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5" name="TextBox 34"/>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M = 50 balances estimator quality against per-epoch cost; rows 25/100 show the O(1/M) trend.</a:t>
            </a:r>
          </a:p>
        </p:txBody>
      </p:sp>
      <p:sp>
        <p:nvSpPr>
          <p:cNvPr id="36" name="Rounded Rectangle 35"/>
          <p:cNvSpPr/>
          <p:nvPr/>
        </p:nvSpPr>
        <p:spPr>
          <a:xfrm>
            <a:off x="10172700" y="6362954"/>
            <a:ext cx="7086600" cy="2945638"/>
          </a:xfrm>
          <a:prstGeom prst="roundRect">
            <a:avLst>
              <a:gd name="adj" fmla="val 10554"/>
            </a:avLst>
          </a:prstGeom>
          <a:solidFill>
            <a:srgbClr val="124944"/>
          </a:solidFill>
          <a:ln>
            <a:noFill/>
          </a:ln>
        </p:spPr>
        <p:txBody>
          <a:bodyPr anchor="ctr" rtlCol="false" lIns="0" tIns="0" rIns="0" bIns="0" wrap="square"/>
          <a:lstStyle/>
          <a:p>
            <a:endParaRPr lang="en-US" sz="1800"/>
          </a:p>
        </p:txBody>
      </p:sp>
      <p:sp>
        <p:nvSpPr>
          <p:cNvPr id="37" name="Rounded Rectangle 36"/>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In the training loop</a:t>
            </a:r>
          </a:p>
        </p:txBody>
      </p:sp>
      <p:sp>
        <p:nvSpPr>
          <p:cNvPr id="38" name="TextBox 37"/>
          <p:cNvSpPr txBox="1"/>
          <p:nvPr/>
        </p:nvSpPr>
        <p:spPr>
          <a:xfrm>
            <a:off x="10629900" y="6957314"/>
            <a:ext cx="6217920" cy="1574038"/>
          </a:xfrm>
          <a:prstGeom prst="rect">
            <a:avLst/>
          </a:prstGeom>
          <a:noFill/>
        </p:spPr>
        <p:txBody>
          <a:bodyPr anchor="t" rtlCol="false" lIns="0" tIns="0" rIns="0" bIns="0" wrap="square"/>
          <a:lstStyle/>
          <a:p>
            <a:pPr algn="l" marL="274320" indent="-274320">
              <a:lnSpc>
                <a:spcPts val="2369"/>
              </a:lnSpc>
              <a:spcBef>
                <a:spcPts val="0"/>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Sample M permutations per refresh </a:t>
            </a:r>
            <a:r>
              <a:rPr lang="en-US" sz="1692" b="true">
                <a:solidFill>
                  <a:srgbClr val="FFFFFF"/>
                </a:solidFill>
                <a:latin typeface="Calibri"/>
                <a:ea typeface="Calibri"/>
                <a:cs typeface="Calibri"/>
                <a:sym typeface="Calibri"/>
              </a:rPr>
              <a:t>→ </a:t>
            </a:r>
            <a:r>
              <a:rPr lang="en-US" sz="1692" b="true">
                <a:solidFill>
                  <a:srgbClr val="FFFFFF"/>
                </a:solidFill>
                <a:latin typeface="Nunito Semi-Bold"/>
                <a:ea typeface="Nunito Semi-Bold"/>
                <a:cs typeface="Nunito Semi-Bold"/>
                <a:sym typeface="Nunito Semi-Bold"/>
              </a:rPr>
              <a:t>estimate </a:t>
            </a:r>
            <a:r>
              <a:rPr lang="en-US" sz="1692" b="true">
                <a:solidFill>
                  <a:srgbClr val="FFFFFF"/>
                </a:solidFill>
                <a:latin typeface="Cambria Math"/>
                <a:ea typeface="Cambria Math"/>
                <a:cs typeface="Cambria Math"/>
                <a:sym typeface="Cambria Math"/>
              </a:rPr>
              <a:t>φ̂ </a:t>
            </a:r>
            <a:r>
              <a:rPr lang="en-US" sz="1692" b="true">
                <a:solidFill>
                  <a:srgbClr val="FFFFFF"/>
                </a:solidFill>
                <a:latin typeface="Nunito Semi-Bold"/>
                <a:ea typeface="Nunito Semi-Bold"/>
                <a:cs typeface="Nunito Semi-Bold"/>
                <a:sym typeface="Nunito Semi-Bold"/>
              </a:rPr>
              <a:t>for the players in the episode.</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Clip, EMA-smooth, normalise </a:t>
            </a:r>
            <a:r>
              <a:rPr lang="en-US" sz="1692" b="true">
                <a:solidFill>
                  <a:srgbClr val="FFFFFF"/>
                </a:solidFill>
                <a:latin typeface="Calibri"/>
                <a:ea typeface="Calibri"/>
                <a:cs typeface="Calibri"/>
                <a:sym typeface="Calibri"/>
              </a:rPr>
              <a:t>→ </a:t>
            </a:r>
            <a:r>
              <a:rPr lang="en-US" sz="1692" b="true">
                <a:solidFill>
                  <a:srgbClr val="FFFFFF"/>
                </a:solidFill>
                <a:latin typeface="Nunito Bold"/>
                <a:ea typeface="Nunito Bold"/>
                <a:cs typeface="Nunito Bold"/>
                <a:sym typeface="Nunito Bold"/>
              </a:rPr>
              <a:t>hypergraph edge weights</a:t>
            </a:r>
            <a:r>
              <a:rPr lang="en-US" sz="1692" b="true">
                <a:solidFill>
                  <a:srgbClr val="FFFFFF"/>
                </a:solidFill>
                <a:latin typeface="Nunito Semi-Bold"/>
                <a:ea typeface="Nunito Semi-Bold"/>
                <a:cs typeface="Nunito Semi-Bold"/>
                <a:sym typeface="Nunito Semi-Bold"/>
              </a:rPr>
              <a:t>.</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Cost per epoch:</a:t>
            </a:r>
          </a:p>
        </p:txBody>
      </p:sp>
      <mc:AlternateContent xmlns:mc="http://schemas.openxmlformats.org/markup-compatibility/2006">
        <mc:Choice xmlns:a14="http://schemas.microsoft.com/office/drawing/2010/main" Requires="a14">
          <p:sp>
            <p:nvSpPr>
              <p:cNvPr id="39" name="Equation"/>
              <p:cNvSpPr txBox="1"/>
              <p:nvPr/>
            </p:nvSpPr>
            <p:spPr>
              <a:xfrm>
                <a:off x="10629900" y="8531352"/>
                <a:ext cx="6172200" cy="5943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L</m:t>
                          </m:r>
                          <m:r>
                            <m:rPr>
                              <m:sty m:val="p"/>
                            </m:rPr>
                            <a:rPr lang="en-US" sz="1900">
                              <a:solidFill>
                                <a:srgbClr val="ECC665"/>
                              </a:solidFill>
                              <a:latin typeface="Cambria Math" panose="02040503050406030204" pitchFamily="18" charset="0"/>
                            </a:rPr>
                            <m:t xml:space="preserve">+1) </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d</m:t>
                          </m:r>
                        </m:e>
                      </m:d>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f</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m</m:t>
                          </m:r>
                        </m:e>
                      </m:d>
                    </m:oMath>
                  </m:oMathPara>
                </a14:m>
                <a:endParaRPr lang="en-US" sz="1900"/>
              </a:p>
            </p:txBody>
          </p:sp>
        </mc:Choice>
        <mc:Fallback>
          <p:sp>
            <p:nvSpPr>
              <p:cNvPr id="39" name="Equation"/>
              <p:cNvSpPr txBox="1"/>
              <p:nvPr/>
            </p:nvSpPr>
            <p:spPr>
              <a:xfrm>
                <a:off x="10629900" y="8531352"/>
                <a:ext cx="6172200" cy="594360"/>
              </a:xfrm>
              <a:prstGeom prst="rect">
                <a:avLst/>
              </a:prstGeom>
              <a:blipFill>
                <a:blip r:embed="rId8"/>
                <a:stretch>
                  <a:fillRect/>
                </a:stretch>
              </a:blipFill>
            </p:spPr>
            <p:txBody>
              <a:bodyPr/>
              <a:lstStyle/>
              <a:p>
                <a:endParaRPr lang="en-US"/>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1691640"/>
          </a:xfrm>
          <a:prstGeom prst="roundRect">
            <a:avLst>
              <a:gd name="adj" fmla="val 13513"/>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6205039" y="3500882"/>
            <a:ext cx="5877921" cy="1417320"/>
          </a:xfrm>
          <a:prstGeom prst="rect">
            <a:avLst/>
          </a:prstGeom>
        </p:spPr>
      </p:pic>
      <p:sp>
        <p:nvSpPr>
          <p:cNvPr id="30" name="TextBox 29"/>
          <p:cNvSpPr txBox="1"/>
          <p:nvPr/>
        </p:nvSpPr>
        <p:spPr>
          <a:xfrm>
            <a:off x="1211580" y="4671314"/>
            <a:ext cx="15864840" cy="411480"/>
          </a:xfrm>
          <a:prstGeom prst="rect">
            <a:avLst/>
          </a:prstGeom>
          <a:noFill/>
        </p:spPr>
        <p:txBody>
          <a:bodyPr anchor="t" rtlCol="false" lIns="0" tIns="0" rIns="0" bIns="0" wrap="square"/>
          <a:lstStyle/>
          <a:p>
            <a:pPr algn="r">
              <a:lnSpc>
                <a:spcPts val="1600"/>
              </a:lnSpc>
              <a:spcBef>
                <a:spcPts val="0"/>
              </a:spcBef>
              <a:buNone/>
            </a:pPr>
            <a:r>
              <a:rPr lang="en-US" sz="12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5283962"/>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32" name="TextBox 31"/>
          <p:cNvSpPr txBox="1"/>
          <p:nvPr/>
        </p:nvSpPr>
        <p:spPr>
          <a:xfrm>
            <a:off x="1348740" y="5283962"/>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Base propagation</a:t>
            </a:r>
          </a:p>
        </p:txBody>
      </p:sp>
      <mc:AlternateContent xmlns:mc="http://schemas.openxmlformats.org/markup-compatibility/2006">
        <mc:Choice xmlns:a14="http://schemas.microsoft.com/office/drawing/2010/main" Requires="a14">
          <p:sp>
            <p:nvSpPr>
              <p:cNvPr id="33" name="Equation"/>
              <p:cNvSpPr txBox="1"/>
              <p:nvPr/>
            </p:nvSpPr>
            <p:spPr>
              <a:xfrm>
                <a:off x="4686300" y="5283962"/>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a:rPr lang="en-US" sz="2200" i="1">
                              <a:solidFill>
                                <a:srgbClr val="111111"/>
                              </a:solidFill>
                              <a:latin typeface="Cambria Math" panose="02040503050406030204" pitchFamily="18" charset="0"/>
                            </a:rPr>
                            <m:t xml:space="preserve">A</m:t>
                          </m:r>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e>
                      </m:d>
                    </m:oMath>
                  </m:oMathPara>
                </a14:m>
                <a:endParaRPr lang="en-US" sz="2200"/>
              </a:p>
            </p:txBody>
          </p:sp>
        </mc:Choice>
        <mc:Fallback>
          <p:sp>
            <p:nvSpPr>
              <p:cNvPr id="33" name="Equation"/>
              <p:cNvSpPr txBox="1"/>
              <p:nvPr/>
            </p:nvSpPr>
            <p:spPr>
              <a:xfrm>
                <a:off x="4686300" y="5283962"/>
                <a:ext cx="12298680" cy="609811"/>
              </a:xfrm>
              <a:prstGeom prst="rect">
                <a:avLst/>
              </a:prstGeom>
              <a:blipFill>
                <a:blip r:embed="rId6"/>
                <a:stretch>
                  <a:fillRect/>
                </a:stretch>
              </a:blipFill>
            </p:spPr>
            <p:txBody>
              <a:bodyPr/>
              <a:lstStyle/>
              <a:p>
                <a:endParaRPr lang="en-US"/>
              </a:p>
            </p:txBody>
          </p:sp>
        </mc:Fallback>
      </mc:AlternateContent>
      <p:sp>
        <p:nvSpPr>
          <p:cNvPr id="34" name="Rounded Rectangle 33"/>
          <p:cNvSpPr/>
          <p:nvPr/>
        </p:nvSpPr>
        <p:spPr>
          <a:xfrm>
            <a:off x="1028700" y="5985213"/>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35" name="TextBox 34"/>
          <p:cNvSpPr txBox="1"/>
          <p:nvPr/>
        </p:nvSpPr>
        <p:spPr>
          <a:xfrm>
            <a:off x="1348740" y="5985213"/>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6" name="Equation"/>
              <p:cNvSpPr txBox="1"/>
              <p:nvPr/>
            </p:nvSpPr>
            <p:spPr>
              <a:xfrm>
                <a:off x="4686300" y="5985213"/>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j</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+1)</m:t>
                          </m:r>
                        </m:sup>
                      </m:sSub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σ</m:t>
                      </m:r>
                      <m:d>
                        <m:dPr>
                          <m:ctrlPr>
                            <a:rPr lang="en-US" sz="1750" i="1">
                              <a:solidFill>
                                <a:srgbClr val="111111"/>
                              </a:solidFill>
                              <a:latin typeface="Cambria Math" panose="02040503050406030204" pitchFamily="18" charset="0"/>
                            </a:rPr>
                          </m:ctrlPr>
                        </m:dPr>
                        <m:e>
                          <m:sSup>
                            <m:sSupPr>
                              <m:ctrlPr>
                                <a:rPr lang="en-US" sz="1750" i="1">
                                  <a:solidFill>
                                    <a:srgbClr val="111111"/>
                                  </a:solidFill>
                                  <a:latin typeface="Cambria Math" panose="02040503050406030204" pitchFamily="18" charset="0"/>
                                </a:rPr>
                              </m:ctrlPr>
                            </m:sSupPr>
                            <m:e>
                              <m:r>
                                <a:rPr lang="en-US" sz="1750" i="1">
                                  <a:solidFill>
                                    <a:srgbClr val="111111"/>
                                  </a:solidFill>
                                  <a:latin typeface="Cambria Math" panose="02040503050406030204" pitchFamily="18" charset="0"/>
                                </a:rPr>
                                <m:t xml:space="preserve">W</m:t>
                              </m:r>
                            </m:e>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p>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j</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bSup>
                          <m:r>
                            <m:rPr>
                              <m:sty m:val="p"/>
                            </m:rPr>
                            <a:rPr lang="en-US" sz="1750">
                              <a:solidFill>
                                <a:srgbClr val="111111"/>
                              </a:solidFill>
                              <a:latin typeface="Cambria Math" panose="02040503050406030204" pitchFamily="18" charset="0"/>
                            </a:rPr>
                            <m:t xml:space="preserve">+</m:t>
                          </m:r>
                          <m:nary>
                            <m:naryPr>
                              <m:chr m:val="∑"/>
                              <m:limLoc m:val="subSup"/>
                              <m:supHide m:val="1"/>
                              <m:ctrlPr>
                                <a:rPr lang="en-US" sz="1750" i="1">
                                  <a:solidFill>
                                    <a:srgbClr val="111111"/>
                                  </a:solidFill>
                                  <a:latin typeface="Cambria Math" panose="02040503050406030204" pitchFamily="18" charset="0"/>
                                </a:rPr>
                              </m:ctrlPr>
                            </m:naryPr>
                            <m:sub>
                              <m:r>
                                <a:rPr lang="en-US" sz="1750" i="1">
                                  <a:solidFill>
                                    <a:srgbClr val="111111"/>
                                  </a:solidFill>
                                  <a:latin typeface="Cambria Math" panose="02040503050406030204" pitchFamily="18" charset="0"/>
                                </a:rPr>
                                <m:t xml:space="preserve">k</m:t>
                              </m:r>
                              <m:r>
                                <m:rPr>
                                  <m:sty m:val="p"/>
                                </m:rPr>
                                <a:rPr lang="en-US" sz="1750">
                                  <a:solidFill>
                                    <a:srgbClr val="111111"/>
                                  </a:solidFill>
                                  <a:latin typeface="Cambria Math" panose="02040503050406030204" pitchFamily="18" charset="0"/>
                                </a:rPr>
                                <m:t xml:space="preserve">∈</m:t>
                              </m:r>
                              <m:r>
                                <m:rPr>
                                  <m:scr m:val="script"/>
                                  <m:sty m:val="p"/>
                                </m:rPr>
                                <a:rPr lang="en-US" sz="1750">
                                  <a:solidFill>
                                    <a:srgbClr val="111111"/>
                                  </a:solidFill>
                                  <a:latin typeface="Cambria Math" panose="02040503050406030204" pitchFamily="18" charset="0"/>
                                </a:rPr>
                                <m:t xml:space="preserve">N</m:t>
                              </m:r>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j</m:t>
                              </m:r>
                              <m:r>
                                <m:rPr>
                                  <m:sty m:val="p"/>
                                </m:rPr>
                                <a:rPr lang="en-US" sz="1750">
                                  <a:solidFill>
                                    <a:srgbClr val="111111"/>
                                  </a:solidFill>
                                  <a:latin typeface="Cambria Math" panose="02040503050406030204" pitchFamily="18" charset="0"/>
                                </a:rPr>
                                <m:t xml:space="preserve">)</m:t>
                              </m:r>
                            </m:sub>
                            <m:sup/>
                            <m:e>
                              <m:sSub>
                                <m:sSubPr>
                                  <m:ctrlPr>
                                    <a:rPr lang="en-US" sz="1750" i="1">
                                      <a:solidFill>
                                        <a:srgbClr val="111111"/>
                                      </a:solidFill>
                                      <a:latin typeface="Cambria Math" panose="02040503050406030204" pitchFamily="18" charset="0"/>
                                    </a:rPr>
                                  </m:ctrlPr>
                                </m:sSubPr>
                                <m:e>
                                  <m:r>
                                    <a:rPr lang="en-US" sz="1750" i="1">
                                      <a:solidFill>
                                        <a:srgbClr val="111111"/>
                                      </a:solidFill>
                                      <a:latin typeface="Cambria Math" panose="02040503050406030204" pitchFamily="18" charset="0"/>
                                    </a:rPr>
                                    <m:t xml:space="preserve">w</m:t>
                                  </m:r>
                                </m:e>
                                <m:sub>
                                  <m:r>
                                    <a:rPr lang="en-US" sz="1750" i="1">
                                      <a:solidFill>
                                        <a:srgbClr val="111111"/>
                                      </a:solidFill>
                                      <a:latin typeface="Cambria Math" panose="02040503050406030204" pitchFamily="18" charset="0"/>
                                    </a:rPr>
                                    <m:t xml:space="preserve">jk</m:t>
                                  </m:r>
                                </m:sub>
                              </m:sSub>
                            </m:e>
                          </m:nary>
                          <m:r>
                            <m:rPr>
                              <m:sty m:val="p"/>
                            </m:rPr>
                            <a:rPr lang="en-US" sz="1750">
                              <a:solidFill>
                                <a:srgbClr val="111111"/>
                              </a:solidFill>
                              <a:latin typeface="Cambria Math" panose="02040503050406030204" pitchFamily="18" charset="0"/>
                            </a:rPr>
                            <m:t xml:space="preserve"> </m:t>
                          </m:r>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k</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bSup>
                        </m:e>
                      </m:d>
                    </m:oMath>
                  </m:oMathPara>
                </a14:m>
                <a:endParaRPr lang="en-US" sz="1750"/>
              </a:p>
            </p:txBody>
          </p:sp>
        </mc:Choice>
        <mc:Fallback>
          <p:sp>
            <p:nvSpPr>
              <p:cNvPr id="36" name="Equation"/>
              <p:cNvSpPr txBox="1"/>
              <p:nvPr/>
            </p:nvSpPr>
            <p:spPr>
              <a:xfrm>
                <a:off x="4686300" y="5985213"/>
                <a:ext cx="12298680" cy="609811"/>
              </a:xfrm>
              <a:prstGeom prst="rect">
                <a:avLst/>
              </a:prstGeom>
              <a:blipFill>
                <a:blip r:embed="rId7"/>
                <a:stretch>
                  <a:fillRect/>
                </a:stretch>
              </a:blipFill>
            </p:spPr>
            <p:txBody>
              <a:bodyPr/>
              <a:lstStyle/>
              <a:p>
                <a:endParaRPr lang="en-US"/>
              </a:p>
            </p:txBody>
          </p:sp>
        </mc:Fallback>
      </mc:AlternateContent>
      <p:sp>
        <p:nvSpPr>
          <p:cNvPr id="37" name="Rounded Rectangle 36"/>
          <p:cNvSpPr/>
          <p:nvPr/>
        </p:nvSpPr>
        <p:spPr>
          <a:xfrm>
            <a:off x="1028700" y="6686465"/>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38" name="TextBox 37"/>
          <p:cNvSpPr txBox="1"/>
          <p:nvPr/>
        </p:nvSpPr>
        <p:spPr>
          <a:xfrm>
            <a:off x="1348740" y="6686465"/>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Normalised weights</a:t>
            </a:r>
          </a:p>
        </p:txBody>
      </p:sp>
      <mc:AlternateContent xmlns:mc="http://schemas.openxmlformats.org/markup-compatibility/2006">
        <mc:Choice xmlns:a14="http://schemas.microsoft.com/office/drawing/2010/main" Requires="a14">
          <p:sp>
            <p:nvSpPr>
              <p:cNvPr id="39" name="Equation"/>
              <p:cNvSpPr txBox="1"/>
              <p:nvPr/>
            </p:nvSpPr>
            <p:spPr>
              <a:xfrm>
                <a:off x="4686300" y="6686465"/>
                <a:ext cx="937260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050" i="1">
                              <a:solidFill>
                                <a:srgbClr val="111111"/>
                              </a:solidFill>
                              <a:latin typeface="Cambria Math" panose="02040503050406030204" pitchFamily="18" charset="0"/>
                            </a:rPr>
                          </m:ctrlPr>
                        </m:sSubPr>
                        <m:e>
                          <m:r>
                            <a:rPr lang="en-US" sz="2050" i="1">
                              <a:solidFill>
                                <a:srgbClr val="111111"/>
                              </a:solidFill>
                              <a:latin typeface="Cambria Math" panose="02040503050406030204" pitchFamily="18" charset="0"/>
                            </a:rPr>
                            <m:t xml:space="preserve">w</m:t>
                          </m:r>
                        </m:e>
                        <m:sub>
                          <m:r>
                            <a:rPr lang="en-US" sz="2050" i="1">
                              <a:solidFill>
                                <a:srgbClr val="111111"/>
                              </a:solidFill>
                              <a:latin typeface="Cambria Math" panose="02040503050406030204" pitchFamily="18" charset="0"/>
                            </a:rPr>
                            <m:t xml:space="preserve">jk</m:t>
                          </m:r>
                        </m:sub>
                      </m:sSub>
                      <m:r>
                        <m:rPr>
                          <m:sty m:val="p"/>
                        </m:rPr>
                        <a:rPr lang="en-US" sz="2050">
                          <a:solidFill>
                            <a:srgbClr val="111111"/>
                          </a:solidFill>
                          <a:latin typeface="Cambria Math" panose="02040503050406030204" pitchFamily="18" charset="0"/>
                        </a:rPr>
                        <m:t xml:space="preserve">=</m:t>
                      </m:r>
                      <m:sSub>
                        <m:sSubPr>
                          <m:ctrlPr>
                            <a:rPr lang="en-US" sz="2050" i="1">
                              <a:solidFill>
                                <a:srgbClr val="111111"/>
                              </a:solidFill>
                              <a:latin typeface="Cambria Math" panose="02040503050406030204" pitchFamily="18" charset="0"/>
                            </a:rPr>
                          </m:ctrlPr>
                        </m:sSubPr>
                        <m:e>
                          <m:acc>
                            <m:accPr>
                              <m:chr m:val="̂"/>
                              <m:ctrlPr>
                                <a:rPr lang="en-US" sz="2050" i="1">
                                  <a:solidFill>
                                    <a:srgbClr val="111111"/>
                                  </a:solidFill>
                                  <a:latin typeface="Cambria Math" panose="02040503050406030204" pitchFamily="18" charset="0"/>
                                </a:rPr>
                              </m:ctrlPr>
                            </m:accPr>
                            <m:e>
                              <m:r>
                                <a:rPr lang="en-US" sz="2050" i="1">
                                  <a:solidFill>
                                    <a:srgbClr val="111111"/>
                                  </a:solidFill>
                                  <a:latin typeface="Cambria Math" panose="02040503050406030204" pitchFamily="18" charset="0"/>
                                </a:rPr>
                                <m:t xml:space="preserve">φ</m:t>
                              </m:r>
                            </m:e>
                          </m:acc>
                        </m:e>
                        <m:sub>
                          <m:r>
                            <a:rPr lang="en-US" sz="2050" i="1">
                              <a:solidFill>
                                <a:srgbClr val="111111"/>
                              </a:solidFill>
                              <a:latin typeface="Cambria Math" panose="02040503050406030204" pitchFamily="18" charset="0"/>
                            </a:rPr>
                            <m:t xml:space="preserve">jk</m:t>
                          </m:r>
                        </m:sub>
                      </m:sSub>
                      <m:r>
                        <m:rPr>
                          <m:sty m:val="p"/>
                        </m:rPr>
                        <a:rPr lang="en-US" sz="2050">
                          <a:solidFill>
                            <a:srgbClr val="111111"/>
                          </a:solidFill>
                          <a:latin typeface="Cambria Math" panose="02040503050406030204" pitchFamily="18" charset="0"/>
                        </a:rPr>
                        <m:t xml:space="preserve"> / </m:t>
                      </m:r>
                      <m:nary>
                        <m:naryPr>
                          <m:chr m:val="∑"/>
                          <m:limLoc m:val="subSup"/>
                          <m:supHide m:val="1"/>
                          <m:ctrlPr>
                            <a:rPr lang="en-US" sz="2050" i="1">
                              <a:solidFill>
                                <a:srgbClr val="111111"/>
                              </a:solidFill>
                              <a:latin typeface="Cambria Math" panose="02040503050406030204" pitchFamily="18" charset="0"/>
                            </a:rPr>
                          </m:ctrlPr>
                        </m:naryPr>
                        <m:sub>
                          <m:r>
                            <a:rPr lang="en-US" sz="2050" i="1">
                              <a:solidFill>
                                <a:srgbClr val="111111"/>
                              </a:solidFill>
                              <a:latin typeface="Cambria Math" panose="02040503050406030204" pitchFamily="18" charset="0"/>
                            </a:rPr>
                            <m:t xml:space="preserve">k′</m:t>
                          </m:r>
                          <m:r>
                            <m:rPr>
                              <m:sty m:val="p"/>
                            </m:rPr>
                            <a:rPr lang="en-US" sz="2050">
                              <a:solidFill>
                                <a:srgbClr val="111111"/>
                              </a:solidFill>
                              <a:latin typeface="Cambria Math" panose="02040503050406030204" pitchFamily="18" charset="0"/>
                            </a:rPr>
                            <m:t xml:space="preserve">∈</m:t>
                          </m:r>
                          <m:r>
                            <m:rPr>
                              <m:scr m:val="script"/>
                              <m:sty m:val="p"/>
                            </m:rPr>
                            <a:rPr lang="en-US" sz="2050">
                              <a:solidFill>
                                <a:srgbClr val="111111"/>
                              </a:solidFill>
                              <a:latin typeface="Cambria Math" panose="02040503050406030204" pitchFamily="18" charset="0"/>
                            </a:rPr>
                            <m:t xml:space="preserve">N</m:t>
                          </m:r>
                          <m:r>
                            <m:rPr>
                              <m:sty m:val="p"/>
                            </m:rPr>
                            <a:rPr lang="en-US" sz="2050">
                              <a:solidFill>
                                <a:srgbClr val="111111"/>
                              </a:solidFill>
                              <a:latin typeface="Cambria Math" panose="02040503050406030204" pitchFamily="18" charset="0"/>
                            </a:rPr>
                            <m:t xml:space="preserve">(</m:t>
                          </m:r>
                          <m:r>
                            <a:rPr lang="en-US" sz="2050" i="1">
                              <a:solidFill>
                                <a:srgbClr val="111111"/>
                              </a:solidFill>
                              <a:latin typeface="Cambria Math" panose="02040503050406030204" pitchFamily="18" charset="0"/>
                            </a:rPr>
                            <m:t xml:space="preserve">j</m:t>
                          </m:r>
                          <m:r>
                            <m:rPr>
                              <m:sty m:val="p"/>
                            </m:rPr>
                            <a:rPr lang="en-US" sz="2050">
                              <a:solidFill>
                                <a:srgbClr val="111111"/>
                              </a:solidFill>
                              <a:latin typeface="Cambria Math" panose="02040503050406030204" pitchFamily="18" charset="0"/>
                            </a:rPr>
                            <m:t xml:space="preserve">)</m:t>
                          </m:r>
                        </m:sub>
                        <m:sup/>
                        <m:e>
                          <m:sSub>
                            <m:sSubPr>
                              <m:ctrlPr>
                                <a:rPr lang="en-US" sz="2050" i="1">
                                  <a:solidFill>
                                    <a:srgbClr val="111111"/>
                                  </a:solidFill>
                                  <a:latin typeface="Cambria Math" panose="02040503050406030204" pitchFamily="18" charset="0"/>
                                </a:rPr>
                              </m:ctrlPr>
                            </m:sSubPr>
                            <m:e>
                              <m:acc>
                                <m:accPr>
                                  <m:chr m:val="̂"/>
                                  <m:ctrlPr>
                                    <a:rPr lang="en-US" sz="2050" i="1">
                                      <a:solidFill>
                                        <a:srgbClr val="111111"/>
                                      </a:solidFill>
                                      <a:latin typeface="Cambria Math" panose="02040503050406030204" pitchFamily="18" charset="0"/>
                                    </a:rPr>
                                  </m:ctrlPr>
                                </m:accPr>
                                <m:e>
                                  <m:r>
                                    <a:rPr lang="en-US" sz="2050" i="1">
                                      <a:solidFill>
                                        <a:srgbClr val="111111"/>
                                      </a:solidFill>
                                      <a:latin typeface="Cambria Math" panose="02040503050406030204" pitchFamily="18" charset="0"/>
                                    </a:rPr>
                                    <m:t xml:space="preserve">φ</m:t>
                                  </m:r>
                                </m:e>
                              </m:acc>
                            </m:e>
                            <m:sub>
                              <m:r>
                                <a:rPr lang="en-US" sz="2050" i="1">
                                  <a:solidFill>
                                    <a:srgbClr val="111111"/>
                                  </a:solidFill>
                                  <a:latin typeface="Cambria Math" panose="02040503050406030204" pitchFamily="18" charset="0"/>
                                </a:rPr>
                                <m:t xml:space="preserve">jk′</m:t>
                              </m:r>
                            </m:sub>
                          </m:sSub>
                        </m:e>
                      </m:nary>
                    </m:oMath>
                  </m:oMathPara>
                </a14:m>
                <a:endParaRPr lang="en-US" sz="2050"/>
              </a:p>
            </p:txBody>
          </p:sp>
        </mc:Choice>
        <mc:Fallback>
          <p:sp>
            <p:nvSpPr>
              <p:cNvPr id="39" name="Equation"/>
              <p:cNvSpPr txBox="1"/>
              <p:nvPr/>
            </p:nvSpPr>
            <p:spPr>
              <a:xfrm>
                <a:off x="4686300" y="6686465"/>
                <a:ext cx="9372600" cy="609811"/>
              </a:xfrm>
              <a:prstGeom prst="rect">
                <a:avLst/>
              </a:prstGeom>
              <a:blipFill>
                <a:blip r:embed="rId8"/>
                <a:stretch>
                  <a:fillRect/>
                </a:stretch>
              </a:blipFill>
            </p:spPr>
            <p:txBody>
              <a:bodyPr/>
              <a:lstStyle/>
              <a:p>
                <a:endParaRPr lang="en-US"/>
              </a:p>
            </p:txBody>
          </p:sp>
        </mc:Fallback>
      </mc:AlternateContent>
      <p:sp>
        <p:nvSpPr>
          <p:cNvPr id="40" name="TextBox 39"/>
          <p:cNvSpPr txBox="1"/>
          <p:nvPr/>
        </p:nvSpPr>
        <p:spPr>
          <a:xfrm>
            <a:off x="14241780" y="6686465"/>
            <a:ext cx="2743200" cy="609811"/>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clipped + EMA-smoothed</a:t>
            </a:r>
          </a:p>
        </p:txBody>
      </p:sp>
      <p:sp>
        <p:nvSpPr>
          <p:cNvPr id="41" name="Rounded Rectangle 40"/>
          <p:cNvSpPr/>
          <p:nvPr/>
        </p:nvSpPr>
        <p:spPr>
          <a:xfrm>
            <a:off x="1028700" y="7387717"/>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42" name="TextBox 41"/>
          <p:cNvSpPr txBox="1"/>
          <p:nvPr/>
        </p:nvSpPr>
        <p:spPr>
          <a:xfrm>
            <a:off x="1348740" y="7387717"/>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43" name="Equation"/>
              <p:cNvSpPr txBox="1"/>
              <p:nvPr/>
            </p:nvSpPr>
            <p:spPr>
              <a:xfrm>
                <a:off x="4686300" y="7387717"/>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a</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l</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 ]</m:t>
                          </m:r>
                        </m:e>
                      </m:d>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=(1+</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3" name="Equation"/>
              <p:cNvSpPr txBox="1"/>
              <p:nvPr/>
            </p:nvSpPr>
            <p:spPr>
              <a:xfrm>
                <a:off x="4686300" y="7387717"/>
                <a:ext cx="12298680" cy="609811"/>
              </a:xfrm>
              <a:prstGeom prst="rect">
                <a:avLst/>
              </a:prstGeom>
              <a:blipFill>
                <a:blip r:embed="rId9"/>
                <a:stretch>
                  <a:fillRect/>
                </a:stretch>
              </a:blipFill>
            </p:spPr>
            <p:txBody>
              <a:bodyPr/>
              <a:lstStyle/>
              <a:p>
                <a:endParaRPr lang="en-US"/>
              </a:p>
            </p:txBody>
          </p:sp>
        </mc:Fallback>
      </mc:AlternateContent>
      <p:sp>
        <p:nvSpPr>
          <p:cNvPr id="44" name="Rounded Rectangle 43"/>
          <p:cNvSpPr/>
          <p:nvPr/>
        </p:nvSpPr>
        <p:spPr>
          <a:xfrm>
            <a:off x="1028700" y="8088968"/>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45" name="TextBox 44"/>
          <p:cNvSpPr txBox="1"/>
          <p:nvPr/>
        </p:nvSpPr>
        <p:spPr>
          <a:xfrm>
            <a:off x="1348740" y="8088968"/>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6" name="Equation"/>
              <p:cNvSpPr txBox="1"/>
              <p:nvPr/>
            </p:nvSpPr>
            <p:spPr>
              <a:xfrm>
                <a:off x="4686300" y="8088968"/>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200" i="1">
                          <a:solidFill>
                            <a:srgbClr val="111111"/>
                          </a:solidFill>
                          <a:latin typeface="Cambria Math" panose="02040503050406030204" pitchFamily="18" charset="0"/>
                        </a:rPr>
                        <m:t xml:space="preserve">f</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u</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i</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c</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a:rPr lang="en-US" sz="2200" i="1">
                              <a:solidFill>
                                <a:srgbClr val="111111"/>
                              </a:solidFill>
                              <a:latin typeface="Cambria Math" panose="02040503050406030204" pitchFamily="18" charset="0"/>
                            </a:rPr>
                            <m:t xml:space="preserve">c</m:t>
                          </m:r>
                        </m:sub>
                      </m:sSub>
                      <m:r>
                        <m:rPr>
                          <m:sty m:val="p"/>
                        </m:rPr>
                        <a:rPr lang="en-US" sz="2200">
                          <a:solidFill>
                            <a:srgbClr val="111111"/>
                          </a:solidFill>
                          <a:latin typeface="Cambria Math" panose="02040503050406030204" pitchFamily="18" charset="0"/>
                        </a:rPr>
                        <m:t xml:space="preserve"> ⟨ </m:t>
                      </m:r>
                      <m:r>
                        <a:rPr lang="en-US" sz="2200" i="1">
                          <a:solidFill>
                            <a:srgbClr val="111111"/>
                          </a:solidFill>
                          <a:latin typeface="Cambria Math" panose="02040503050406030204" pitchFamily="18" charset="0"/>
                        </a:rPr>
                        <m:t xml:space="preserve">g</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6" name="Equation"/>
              <p:cNvSpPr txBox="1"/>
              <p:nvPr/>
            </p:nvSpPr>
            <p:spPr>
              <a:xfrm>
                <a:off x="4686300" y="8088968"/>
                <a:ext cx="12298680" cy="609811"/>
              </a:xfrm>
              <a:prstGeom prst="rect">
                <a:avLst/>
              </a:prstGeom>
              <a:blipFill>
                <a:blip r:embed="rId10"/>
                <a:stretch>
                  <a:fillRect/>
                </a:stretch>
              </a:blipFill>
            </p:spPr>
            <p:txBody>
              <a:bodyPr/>
              <a:lstStyle/>
              <a:p>
                <a:endParaRPr lang="en-US"/>
              </a:p>
            </p:txBody>
          </p:sp>
        </mc:Fallback>
      </mc:AlternateContent>
      <p:sp>
        <p:nvSpPr>
          <p:cNvPr id="47" name="Rounded Rectangle 46"/>
          <p:cNvSpPr/>
          <p:nvPr/>
        </p:nvSpPr>
        <p:spPr>
          <a:xfrm>
            <a:off x="1028700" y="8790220"/>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48" name="TextBox 47"/>
          <p:cNvSpPr txBox="1"/>
          <p:nvPr/>
        </p:nvSpPr>
        <p:spPr>
          <a:xfrm>
            <a:off x="1348740" y="8790220"/>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Training loss</a:t>
            </a:r>
          </a:p>
        </p:txBody>
      </p:sp>
      <mc:AlternateContent xmlns:mc="http://schemas.openxmlformats.org/markup-compatibility/2006">
        <mc:Choice xmlns:a14="http://schemas.microsoft.com/office/drawing/2010/main" Requires="a14">
          <p:sp>
            <p:nvSpPr>
              <p:cNvPr id="49" name="Equation"/>
              <p:cNvSpPr txBox="1"/>
              <p:nvPr/>
            </p:nvSpPr>
            <p:spPr>
              <a:xfrm>
                <a:off x="4686300" y="8790220"/>
                <a:ext cx="9372600" cy="609811"/>
              </a:xfrm>
              <a:prstGeom prst="rect">
                <a:avLst/>
              </a:prstGeom>
              <a:noFill/>
            </p:spPr>
            <p:txBody>
              <a:bodyPr wrap="none" rtlCol="0" anchor="ctr" lIns="0" tIns="0" rIns="0" bIns="0"/>
              <a:lstStyle/>
              <a:p>
                <a:pPr algn="l"/>
                <a14:m xmlns:m="http://schemas.openxmlformats.org/officeDocument/2006/math">
                  <m:oMathPara>
                    <m:oMathParaPr>
                      <m:jc m:val="left"/>
                    </m:oMathParaPr>
                    <m:oMath>
                      <m:r>
                        <m:rPr>
                          <m:scr m:val="script"/>
                          <m:sty m:val="p"/>
                        </m:rPr>
                        <a:rPr lang="en-US" sz="2200">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rec</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div</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div</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ctx</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ctx</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reg</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reg</m:t>
                          </m:r>
                        </m:sub>
                      </m:sSub>
                    </m:oMath>
                  </m:oMathPara>
                </a14:m>
                <a:endParaRPr lang="en-US" sz="2200"/>
              </a:p>
            </p:txBody>
          </p:sp>
        </mc:Choice>
        <mc:Fallback>
          <p:sp>
            <p:nvSpPr>
              <p:cNvPr id="49" name="Equation"/>
              <p:cNvSpPr txBox="1"/>
              <p:nvPr/>
            </p:nvSpPr>
            <p:spPr>
              <a:xfrm>
                <a:off x="4686300" y="8790220"/>
                <a:ext cx="9372600" cy="609811"/>
              </a:xfrm>
              <a:prstGeom prst="rect">
                <a:avLst/>
              </a:prstGeom>
              <a:blipFill>
                <a:blip r:embed="rId11"/>
                <a:stretch>
                  <a:fillRect/>
                </a:stretch>
              </a:blipFill>
            </p:spPr>
            <p:txBody>
              <a:bodyPr/>
              <a:lstStyle/>
              <a:p>
                <a:endParaRPr lang="en-US"/>
              </a:p>
            </p:txBody>
          </p:sp>
        </mc:Fallback>
      </mc:AlternateContent>
      <p:sp>
        <p:nvSpPr>
          <p:cNvPr id="50" name="TextBox 49"/>
          <p:cNvSpPr txBox="1"/>
          <p:nvPr/>
        </p:nvSpPr>
        <p:spPr>
          <a:xfrm>
            <a:off x="14241780" y="8790220"/>
            <a:ext cx="2743200" cy="609811"/>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BPR + diversity + context + L2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with p &lt; 0.05 after correction.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3" name="Picture 22" descr="image.png"/>
          <p:cNvPicPr>
            <a:picLocks noChangeAspect="1"/>
          </p:cNvPicPr>
          <p:nvPr/>
        </p:nvPicPr>
        <p:blipFill>
          <a:blip r:embed="rId3"/>
          <a:stretch>
            <a:fillRect/>
          </a:stretch>
        </p:blipFill>
        <p:spPr>
          <a:xfrm>
            <a:off x="9149156"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29" name="Rounded Rectangle 28"/>
          <p:cNvSpPr/>
          <p:nvPr/>
        </p:nvSpPr>
        <p:spPr>
          <a:xfrm>
            <a:off x="1028700" y="8119872"/>
            <a:ext cx="6035040" cy="1097280"/>
          </a:xfrm>
          <a:prstGeom prst="roundRect">
            <a:avLst>
              <a:gd name="adj" fmla="val 25000"/>
            </a:avLst>
          </a:prstGeom>
          <a:solidFill>
            <a:srgbClr val="12494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0" name="Table 29"/>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31" name="TextBox 30"/>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3" name="Picture 22" descr="image.png"/>
          <p:cNvPicPr>
            <a:picLocks noChangeAspect="1"/>
          </p:cNvPicPr>
          <p:nvPr/>
        </p:nvPicPr>
        <p:blipFill>
          <a:blip r:embed="rId3"/>
          <a:stretch>
            <a:fillRect/>
          </a:stretch>
        </p:blipFill>
        <p:spPr>
          <a:xfrm>
            <a:off x="9187392"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29" name="Rounded Rectangle 28"/>
          <p:cNvSpPr/>
          <p:nvPr/>
        </p:nvSpPr>
        <p:spPr>
          <a:xfrm>
            <a:off x="1028700" y="8119872"/>
            <a:ext cx="6035040" cy="1097280"/>
          </a:xfrm>
          <a:prstGeom prst="roundRect">
            <a:avLst>
              <a:gd name="adj" fmla="val 25000"/>
            </a:avLst>
          </a:prstGeom>
          <a:solidFill>
            <a:srgbClr val="12494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0" name="Table 29"/>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31" name="TextBox 30"/>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3" name="Picture 22" descr="image.png"/>
          <p:cNvPicPr>
            <a:picLocks noChangeAspect="1"/>
          </p:cNvPicPr>
          <p:nvPr/>
        </p:nvPicPr>
        <p:blipFill>
          <a:blip r:embed="rId3"/>
          <a:stretch>
            <a:fillRect/>
          </a:stretch>
        </p:blipFill>
        <p:spPr>
          <a:xfrm>
            <a:off x="11596440"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TABLE 7.2  ·  MOVIELENS-1M</a:t>
            </a:r>
          </a:p>
        </p:txBody>
      </p:sp>
      <p:graphicFrame>
        <p:nvGraphicFramePr>
          <p:cNvPr id="29" name="Table 28"/>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DF8330"/>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0" name="TextBox 29"/>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AMAZON-BOOK</a:t>
            </a:r>
          </a:p>
        </p:txBody>
      </p:sp>
      <p:graphicFrame>
        <p:nvGraphicFramePr>
          <p:cNvPr id="31" name="Table 30"/>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DF8330"/>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2" name="Rounded Rectangle 31"/>
          <p:cNvSpPr/>
          <p:nvPr/>
        </p:nvSpPr>
        <p:spPr>
          <a:xfrm>
            <a:off x="1028700" y="7537958"/>
            <a:ext cx="16230600" cy="1724914"/>
          </a:xfrm>
          <a:prstGeom prst="roundRect">
            <a:avLst>
              <a:gd name="adj" fmla="val 18023"/>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1485900" y="7300214"/>
            <a:ext cx="1757407"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4" name="TextBox 33"/>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DF8330"/>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DF8330"/>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DF8330"/>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3" name="Picture 22" descr="image.png"/>
          <p:cNvPicPr>
            <a:picLocks noChangeAspect="1"/>
          </p:cNvPicPr>
          <p:nvPr/>
        </p:nvPicPr>
        <p:blipFill>
          <a:blip r:embed="rId3"/>
          <a:stretch>
            <a:fillRect/>
          </a:stretch>
        </p:blipFill>
        <p:spPr>
          <a:xfrm>
            <a:off x="106460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3851910" cy="2103120"/>
          </a:xfrm>
          <a:prstGeom prst="roundRect">
            <a:avLst>
              <a:gd name="adj" fmla="val 13043"/>
            </a:avLst>
          </a:prstGeom>
          <a:solidFill>
            <a:srgbClr val="12494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29" name="Rounded Rectangle 28"/>
          <p:cNvSpPr/>
          <p:nvPr/>
        </p:nvSpPr>
        <p:spPr>
          <a:xfrm>
            <a:off x="5154930" y="3455162"/>
            <a:ext cx="3851910" cy="2103120"/>
          </a:xfrm>
          <a:prstGeom prst="roundRect">
            <a:avLst>
              <a:gd name="adj" fmla="val 13043"/>
            </a:avLst>
          </a:prstGeom>
          <a:solidFill>
            <a:srgbClr val="1E5F58"/>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0" name="Rounded Rectangle 29"/>
          <p:cNvSpPr/>
          <p:nvPr/>
        </p:nvSpPr>
        <p:spPr>
          <a:xfrm>
            <a:off x="9281160" y="3455162"/>
            <a:ext cx="3851910" cy="2103120"/>
          </a:xfrm>
          <a:prstGeom prst="roundRect">
            <a:avLst>
              <a:gd name="adj" fmla="val 13043"/>
            </a:avLst>
          </a:prstGeom>
          <a:solidFill>
            <a:srgbClr val="DF8330"/>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1" name="Rounded Rectangle 30"/>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2" name="TextBox 31"/>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3" name="Rounded Rectangle 32"/>
          <p:cNvSpPr/>
          <p:nvPr/>
        </p:nvSpPr>
        <p:spPr>
          <a:xfrm>
            <a:off x="1028700" y="624408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34" name="Rounded Rectangle 33"/>
          <p:cNvSpPr/>
          <p:nvPr/>
        </p:nvSpPr>
        <p:spPr>
          <a:xfrm>
            <a:off x="1485900" y="6006338"/>
            <a:ext cx="2185051"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5" name="TextBox 34"/>
          <p:cNvSpPr txBox="1"/>
          <p:nvPr/>
        </p:nvSpPr>
        <p:spPr>
          <a:xfrm>
            <a:off x="1531620" y="6884162"/>
            <a:ext cx="6972300" cy="1555750"/>
          </a:xfrm>
          <a:prstGeom prst="rect">
            <a:avLst/>
          </a:prstGeom>
          <a:noFill/>
        </p:spPr>
        <p:txBody>
          <a:bodyPr anchor="t" rtlCol="false" lIns="0" tIns="0" rIns="0" bIns="0" wrap="square"/>
          <a:lstStyle/>
          <a:p>
            <a:pPr algn="l" marL="274320" indent="-274320">
              <a:lnSpc>
                <a:spcPts val="2548"/>
              </a:lnSpc>
              <a:spcBef>
                <a:spcPts val="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Per-epoch cost: propagation plus periodic Shapley refresh:</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Inference latency is </a:t>
            </a:r>
            <a:r>
              <a:rPr lang="en-US" sz="1820" b="true">
                <a:solidFill>
                  <a:srgbClr val="111111"/>
                </a:solidFill>
                <a:latin typeface="Nunito Bold"/>
                <a:ea typeface="Nunito Bold"/>
                <a:cs typeface="Nunito Bold"/>
                <a:sym typeface="Nunito Bold"/>
              </a:rPr>
              <a:t>suitable for real-time use</a:t>
            </a:r>
            <a:r>
              <a:rPr lang="en-US" sz="1820" b="true">
                <a:solidFill>
                  <a:srgbClr val="111111"/>
                </a:solidFill>
                <a:latin typeface="Nunito Semi-Bold"/>
                <a:ea typeface="Nunito Semi-Bold"/>
                <a:cs typeface="Nunito Semi-Bold"/>
                <a:sym typeface="Nunito Semi-Bold"/>
              </a:rPr>
              <a:t>.</a:t>
            </a:r>
          </a:p>
        </p:txBody>
      </p:sp>
      <mc:AlternateContent xmlns:mc="http://schemas.openxmlformats.org/markup-compatibility/2006">
        <mc:Choice xmlns:a14="http://schemas.microsoft.com/office/drawing/2010/main" Requires="a14">
          <p:sp>
            <p:nvSpPr>
              <p:cNvPr id="36" name="Equation"/>
              <p:cNvSpPr txBox="1"/>
              <p:nvPr/>
            </p:nvSpPr>
            <p:spPr>
              <a:xfrm>
                <a:off x="1531620" y="8485632"/>
                <a:ext cx="69265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000" i="1">
                          <a:solidFill>
                            <a:srgbClr val="124944"/>
                          </a:solidFill>
                          <a:latin typeface="Cambria Math" panose="02040503050406030204" pitchFamily="18" charset="0"/>
                        </a:rPr>
                        <m:t xml:space="preserve">O</m:t>
                      </m:r>
                      <m:d>
                        <m:dPr>
                          <m:ctrlPr>
                            <a:rPr lang="en-US" sz="2000" i="1">
                              <a:solidFill>
                                <a:srgbClr val="124944"/>
                              </a:solidFill>
                              <a:latin typeface="Cambria Math" panose="02040503050406030204" pitchFamily="18" charset="0"/>
                            </a:rPr>
                          </m:ctrlPr>
                        </m:dPr>
                        <m:e>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L</m:t>
                          </m:r>
                          <m:r>
                            <m:rPr>
                              <m:sty m:val="p"/>
                            </m:rPr>
                            <a:rPr lang="en-US" sz="2000">
                              <a:solidFill>
                                <a:srgbClr val="124944"/>
                              </a:solidFill>
                              <a:latin typeface="Cambria Math" panose="02040503050406030204" pitchFamily="18" charset="0"/>
                            </a:rPr>
                            <m:t xml:space="preserve">+1) </m:t>
                          </m:r>
                          <m:r>
                            <a:rPr lang="en-US" sz="2000" i="1">
                              <a:solidFill>
                                <a:srgbClr val="124944"/>
                              </a:solidFill>
                              <a:latin typeface="Cambria Math" panose="02040503050406030204" pitchFamily="18" charset="0"/>
                            </a:rPr>
                            <m:t xml:space="preserve">m</m:t>
                          </m:r>
                          <m:r>
                            <m:rPr>
                              <m:sty m:val="p"/>
                            </m:rPr>
                            <a:rPr lang="en-US" sz="2000">
                              <a:solidFill>
                                <a:srgbClr val="124944"/>
                              </a:solidFill>
                              <a:latin typeface="Cambria Math" panose="02040503050406030204" pitchFamily="18" charset="0"/>
                            </a:rPr>
                            <m:t xml:space="preserve"> </m:t>
                          </m:r>
                          <m:r>
                            <a:rPr lang="en-US" sz="2000" i="1">
                              <a:solidFill>
                                <a:srgbClr val="124944"/>
                              </a:solidFill>
                              <a:latin typeface="Cambria Math" panose="02040503050406030204" pitchFamily="18" charset="0"/>
                            </a:rPr>
                            <m:t xml:space="preserve">d</m:t>
                          </m:r>
                        </m:e>
                      </m:d>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O</m:t>
                      </m:r>
                      <m:d>
                        <m:dPr>
                          <m:ctrlPr>
                            <a:rPr lang="en-US" sz="2000" i="1">
                              <a:solidFill>
                                <a:srgbClr val="124944"/>
                              </a:solidFill>
                              <a:latin typeface="Cambria Math" panose="02040503050406030204" pitchFamily="18" charset="0"/>
                            </a:rPr>
                          </m:ctrlPr>
                        </m:dPr>
                        <m:e>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M</m:t>
                          </m:r>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f</m:t>
                          </m:r>
                          <m:r>
                            <m:rPr>
                              <m:sty m:val="p"/>
                            </m:rPr>
                            <a:rPr lang="en-US" sz="2000">
                              <a:solidFill>
                                <a:srgbClr val="124944"/>
                              </a:solidFill>
                              <a:latin typeface="Cambria Math" panose="02040503050406030204" pitchFamily="18" charset="0"/>
                            </a:rPr>
                            <m:t xml:space="preserve">) </m:t>
                          </m:r>
                          <m:r>
                            <a:rPr lang="en-US" sz="2000" i="1">
                              <a:solidFill>
                                <a:srgbClr val="124944"/>
                              </a:solidFill>
                              <a:latin typeface="Cambria Math" panose="02040503050406030204" pitchFamily="18" charset="0"/>
                            </a:rPr>
                            <m:t xml:space="preserve">m</m:t>
                          </m:r>
                        </m:e>
                      </m:d>
                    </m:oMath>
                  </m:oMathPara>
                </a14:m>
                <a:endParaRPr lang="en-US" sz="2000"/>
              </a:p>
            </p:txBody>
          </p:sp>
        </mc:Choice>
        <mc:Fallback>
          <p:sp>
            <p:nvSpPr>
              <p:cNvPr id="36" name="Equation"/>
              <p:cNvSpPr txBox="1"/>
              <p:nvPr/>
            </p:nvSpPr>
            <p:spPr>
              <a:xfrm>
                <a:off x="1531620" y="8485632"/>
                <a:ext cx="6926580" cy="640080"/>
              </a:xfrm>
              <a:prstGeom prst="rect">
                <a:avLst/>
              </a:prstGeom>
              <a:blipFill>
                <a:blip r:embed="rId5"/>
                <a:stretch>
                  <a:fillRect/>
                </a:stretch>
              </a:blipFill>
            </p:spPr>
            <p:txBody>
              <a:bodyPr/>
              <a:lstStyle/>
              <a:p>
                <a:endParaRPr lang="en-US"/>
              </a:p>
            </p:txBody>
          </p:sp>
        </mc:Fallback>
      </mc:AlternateContent>
      <p:sp>
        <p:nvSpPr>
          <p:cNvPr id="37" name="Rounded Rectangle 36"/>
          <p:cNvSpPr/>
          <p:nvPr/>
        </p:nvSpPr>
        <p:spPr>
          <a:xfrm>
            <a:off x="9326880" y="6244082"/>
            <a:ext cx="7932420" cy="3110230"/>
          </a:xfrm>
          <a:prstGeom prst="roundRect">
            <a:avLst>
              <a:gd name="adj" fmla="val 9995"/>
            </a:avLst>
          </a:prstGeom>
          <a:solidFill>
            <a:srgbClr val="124944"/>
          </a:solidFill>
          <a:ln>
            <a:noFill/>
          </a:ln>
        </p:spPr>
        <p:txBody>
          <a:bodyPr anchor="ctr" rtlCol="false" lIns="0" tIns="0" rIns="0" bIns="0" wrap="square"/>
          <a:lstStyle/>
          <a:p>
            <a:endParaRPr lang="en-US" sz="1800"/>
          </a:p>
        </p:txBody>
      </p:sp>
      <p:sp>
        <p:nvSpPr>
          <p:cNvPr id="38" name="Rounded Rectangle 37"/>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Convergence</a:t>
            </a:r>
          </a:p>
        </p:txBody>
      </p:sp>
      <p:sp>
        <p:nvSpPr>
          <p:cNvPr id="39" name="TextBox 38"/>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3" name="Picture 22" descr="image.png"/>
          <p:cNvPicPr>
            <a:picLocks noChangeAspect="1"/>
          </p:cNvPicPr>
          <p:nvPr/>
        </p:nvPicPr>
        <p:blipFill>
          <a:blip r:embed="rId3"/>
          <a:stretch>
            <a:fillRect/>
          </a:stretch>
        </p:blipFill>
        <p:spPr>
          <a:xfrm>
            <a:off x="7141903"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5196840" cy="2194560"/>
          </a:xfrm>
          <a:prstGeom prst="roundRect">
            <a:avLst>
              <a:gd name="adj" fmla="val 12500"/>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29"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1" name="Rounded Rectangle 30"/>
          <p:cNvSpPr/>
          <p:nvPr/>
        </p:nvSpPr>
        <p:spPr>
          <a:xfrm>
            <a:off x="6545580" y="3455162"/>
            <a:ext cx="5196840" cy="2194560"/>
          </a:xfrm>
          <a:prstGeom prst="roundRect">
            <a:avLst>
              <a:gd name="adj" fmla="val 12500"/>
            </a:avLst>
          </a:prstGeom>
          <a:solidFill>
            <a:srgbClr val="1E5F58"/>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2"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2"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4" name="Rounded Rectangle 33"/>
          <p:cNvSpPr/>
          <p:nvPr/>
        </p:nvSpPr>
        <p:spPr>
          <a:xfrm>
            <a:off x="12062460" y="3455162"/>
            <a:ext cx="5196840" cy="2194560"/>
          </a:xfrm>
          <a:prstGeom prst="roundRect">
            <a:avLst>
              <a:gd name="adj" fmla="val 12500"/>
            </a:avLst>
          </a:prstGeom>
          <a:solidFill>
            <a:srgbClr val="DF8330"/>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5"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5"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6" name="TextBox 35"/>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7" name="TextBox 36"/>
          <p:cNvSpPr txBox="1"/>
          <p:nvPr/>
        </p:nvSpPr>
        <p:spPr>
          <a:xfrm>
            <a:off x="1028700" y="569544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38" name="Rounded Rectangle 37"/>
          <p:cNvSpPr/>
          <p:nvPr/>
        </p:nvSpPr>
        <p:spPr>
          <a:xfrm>
            <a:off x="1028700" y="6335522"/>
            <a:ext cx="16230600" cy="2973070"/>
          </a:xfrm>
          <a:prstGeom prst="roundRect">
            <a:avLst>
              <a:gd name="adj" fmla="val 10457"/>
            </a:avLst>
          </a:prstGeom>
          <a:solidFill>
            <a:srgbClr val="F6ECDF"/>
          </a:solidFill>
          <a:ln>
            <a:noFill/>
          </a:ln>
        </p:spPr>
        <p:txBody>
          <a:bodyPr anchor="ctr" rtlCol="false" lIns="0" tIns="0" rIns="0" bIns="0" wrap="square"/>
          <a:lstStyle/>
          <a:p>
            <a:endParaRPr lang="en-US" sz="1800"/>
          </a:p>
        </p:txBody>
      </p:sp>
      <p:sp>
        <p:nvSpPr>
          <p:cNvPr id="39" name="Rounded Rectangle 38"/>
          <p:cNvSpPr/>
          <p:nvPr/>
        </p:nvSpPr>
        <p:spPr>
          <a:xfrm>
            <a:off x="1485900" y="6097778"/>
            <a:ext cx="179424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0" name="TextBox 39"/>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F6ECDF"/>
          </a:solidFill>
          <a:ln w="25400">
            <a:solidFill>
              <a:srgbClr val="12494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4" name="Rounded Rectangle 33"/>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DF8330"/>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DF8330"/>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12494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3" name="Picture 22" descr="image.png"/>
          <p:cNvPicPr>
            <a:picLocks noChangeAspect="1"/>
          </p:cNvPicPr>
          <p:nvPr/>
        </p:nvPicPr>
        <p:blipFill>
          <a:blip r:embed="rId3"/>
          <a:stretch>
            <a:fillRect/>
          </a:stretch>
        </p:blipFill>
        <p:spPr>
          <a:xfrm>
            <a:off x="10723663" y="1673352"/>
            <a:ext cx="457200" cy="452148"/>
          </a:xfrm>
          <a:prstGeom prst="rect">
            <a:avLst/>
          </a:prstGeom>
        </p:spPr>
      </p:pic>
      <p:sp>
        <p:nvSpPr>
          <p:cNvPr id="24" name="Rounded Rectangle 23"/>
          <p:cNvSpPr/>
          <p:nvPr/>
        </p:nvSpPr>
        <p:spPr>
          <a:xfrm>
            <a:off x="1028700" y="2559050"/>
            <a:ext cx="160443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E5F58"/>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F8330"/>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6314186"/>
            <a:ext cx="4023360" cy="822960"/>
          </a:xfrm>
          <a:prstGeom prst="roundRect">
            <a:avLst>
              <a:gd name="adj" fmla="val 27777"/>
            </a:avLst>
          </a:prstGeom>
          <a:solidFill>
            <a:srgbClr val="12494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single level</a:t>
            </a:r>
          </a:p>
        </p:txBody>
      </p:sp>
      <p:cxnSp>
        <p:nvCxnSpPr>
          <p:cNvPr id="31" name="Connector 30"/>
          <p:cNvCxnSpPr/>
          <p:nvPr/>
        </p:nvCxnSpPr>
        <p:spPr>
          <a:xfrm>
            <a:off x="5143500" y="6725666"/>
            <a:ext cx="1897380" cy="0"/>
          </a:xfrm>
          <a:prstGeom prst="line">
            <a:avLst/>
          </a:prstGeom>
          <a:ln w="38100">
            <a:solidFill>
              <a:srgbClr val="124944"/>
            </a:solidFill>
            <a:tailEnd type="triangle" w="med" len="med"/>
          </a:ln>
        </p:spPr>
      </p:cxnSp>
      <p:sp>
        <p:nvSpPr>
          <p:cNvPr id="32" name="Rounded Rectangle 31"/>
          <p:cNvSpPr/>
          <p:nvPr/>
        </p:nvSpPr>
        <p:spPr>
          <a:xfrm>
            <a:off x="7132320" y="6314186"/>
            <a:ext cx="4023360" cy="822960"/>
          </a:xfrm>
          <a:prstGeom prst="roundRect">
            <a:avLst>
              <a:gd name="adj" fmla="val 27777"/>
            </a:avLst>
          </a:prstGeom>
          <a:solidFill>
            <a:srgbClr val="1E5F58"/>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hierarchical</a:t>
            </a:r>
          </a:p>
        </p:txBody>
      </p:sp>
      <p:cxnSp>
        <p:nvCxnSpPr>
          <p:cNvPr id="33" name="Connector 32"/>
          <p:cNvCxnSpPr/>
          <p:nvPr/>
        </p:nvCxnSpPr>
        <p:spPr>
          <a:xfrm>
            <a:off x="11247120" y="6725666"/>
            <a:ext cx="1897380" cy="0"/>
          </a:xfrm>
          <a:prstGeom prst="line">
            <a:avLst/>
          </a:prstGeom>
          <a:ln w="38100">
            <a:solidFill>
              <a:srgbClr val="124944"/>
            </a:solidFill>
            <a:tailEnd type="triangle" w="med" len="med"/>
          </a:ln>
        </p:spPr>
      </p:cxnSp>
      <p:sp>
        <p:nvSpPr>
          <p:cNvPr id="34" name="Rounded Rectangle 33"/>
          <p:cNvSpPr/>
          <p:nvPr/>
        </p:nvSpPr>
        <p:spPr>
          <a:xfrm>
            <a:off x="13235940" y="6314186"/>
            <a:ext cx="4023360" cy="822960"/>
          </a:xfrm>
          <a:prstGeom prst="roundRect">
            <a:avLst>
              <a:gd name="adj" fmla="val 27777"/>
            </a:avLst>
          </a:prstGeom>
          <a:solidFill>
            <a:srgbClr val="DF8330"/>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in-training signal</a:t>
            </a:r>
          </a:p>
        </p:txBody>
      </p:sp>
      <p:sp>
        <p:nvSpPr>
          <p:cNvPr id="35" name="Rounded Rectangle 34"/>
          <p:cNvSpPr/>
          <p:nvPr/>
        </p:nvSpPr>
        <p:spPr>
          <a:xfrm>
            <a:off x="1028700" y="7640066"/>
            <a:ext cx="16230600" cy="1577086"/>
          </a:xfrm>
          <a:prstGeom prst="roundRect">
            <a:avLst>
              <a:gd name="adj" fmla="val 12755"/>
            </a:avLst>
          </a:prstGeom>
          <a:solidFill>
            <a:srgbClr val="F6ECDF"/>
          </a:solidFill>
          <a:ln w="25400">
            <a:solidFill>
              <a:srgbClr val="DF8330"/>
            </a:solidFill>
          </a:ln>
        </p:spPr>
        <p:txBody>
          <a:bodyPr anchor="ctr" rtlCol="false" lIns="0" tIns="0" rIns="0" bIns="0" wrap="square"/>
          <a:lstStyle/>
          <a:p>
            <a:endParaRPr lang="en-US" sz="1800"/>
          </a:p>
        </p:txBody>
      </p:sp>
      <p:sp>
        <p:nvSpPr>
          <p:cNvPr id="36" name="Rounded Rectangle 35"/>
          <p:cNvSpPr/>
          <p:nvPr/>
        </p:nvSpPr>
        <p:spPr>
          <a:xfrm>
            <a:off x="1348740" y="7448042"/>
            <a:ext cx="2510554"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7" name="TextBox 36"/>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12494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E5F58"/>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1">
                          <a:solidFill>
                            <a:srgbClr val="12494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F8330"/>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12494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DF8330"/>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DF8330"/>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12494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12494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1E5F58"/>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DF8330"/>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12494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DF8330"/>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DF8330"/>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12494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3" name="Picture 22" descr="image.png"/>
          <p:cNvPicPr>
            <a:picLocks noChangeAspect="1"/>
          </p:cNvPicPr>
          <p:nvPr/>
        </p:nvPicPr>
        <p:blipFill>
          <a:blip r:embed="rId3"/>
          <a:stretch>
            <a:fillRect/>
          </a:stretch>
        </p:blipFill>
        <p:spPr>
          <a:xfrm>
            <a:off x="4224502" y="1673352"/>
            <a:ext cx="457200" cy="452148"/>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29" name="Rounded Rectangle 28"/>
          <p:cNvSpPr/>
          <p:nvPr/>
        </p:nvSpPr>
        <p:spPr>
          <a:xfrm>
            <a:off x="1028700" y="3546602"/>
            <a:ext cx="16230600" cy="1554480"/>
          </a:xfrm>
          <a:prstGeom prst="roundRect">
            <a:avLst>
              <a:gd name="adj" fmla="val 12941"/>
            </a:avLst>
          </a:prstGeom>
          <a:solidFill>
            <a:srgbClr val="F6ECDF"/>
          </a:solidFill>
          <a:ln w="25400">
            <a:solidFill>
              <a:srgbClr val="124944"/>
            </a:solidFill>
          </a:ln>
        </p:spPr>
        <p:txBody>
          <a:bodyPr anchor="ctr" rtlCol="false" lIns="0" tIns="0" rIns="0" bIns="0" wrap="square"/>
          <a:lstStyle/>
          <a:p>
            <a:endParaRPr lang="en-US" sz="1800"/>
          </a:p>
        </p:txBody>
      </p:sp>
      <p:sp>
        <p:nvSpPr>
          <p:cNvPr id="30" name="Rounded Rectangle 29"/>
          <p:cNvSpPr/>
          <p:nvPr/>
        </p:nvSpPr>
        <p:spPr>
          <a:xfrm>
            <a:off x="1348740" y="3354578"/>
            <a:ext cx="207323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1" name="TextBox 30"/>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2" name="TextBox 31"/>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DF8330"/>
                </a:solidFill>
                <a:latin typeface="Nunito Ultra-Bold"/>
                <a:ea typeface="Nunito Ultra-Bold"/>
                <a:cs typeface="Nunito Ultra-Bold"/>
                <a:sym typeface="Nunito Ultra-Bold"/>
              </a:rPr>
              <a:t>KEY OUTCOMES</a:t>
            </a:r>
          </a:p>
        </p:txBody>
      </p:sp>
      <p:sp>
        <p:nvSpPr>
          <p:cNvPr id="33" name="Rounded Rectangle 32"/>
          <p:cNvSpPr/>
          <p:nvPr/>
        </p:nvSpPr>
        <p:spPr>
          <a:xfrm>
            <a:off x="102870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34" name="Oval 33"/>
          <p:cNvSpPr/>
          <p:nvPr/>
        </p:nvSpPr>
        <p:spPr>
          <a:xfrm>
            <a:off x="134874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5" name="TextBox 34"/>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6" name="Rounded Rectangle 35"/>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7" name="Oval 36"/>
          <p:cNvSpPr/>
          <p:nvPr/>
        </p:nvSpPr>
        <p:spPr>
          <a:xfrm>
            <a:off x="547497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38" name="TextBox 37"/>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39" name="Rounded Rectangle 38"/>
          <p:cNvSpPr/>
          <p:nvPr/>
        </p:nvSpPr>
        <p:spPr>
          <a:xfrm>
            <a:off x="928116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40" name="Oval 39"/>
          <p:cNvSpPr/>
          <p:nvPr/>
        </p:nvSpPr>
        <p:spPr>
          <a:xfrm>
            <a:off x="960120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1" name="TextBox 40"/>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2" name="Rounded Rectangle 41"/>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3" name="Oval 42"/>
          <p:cNvSpPr/>
          <p:nvPr/>
        </p:nvSpPr>
        <p:spPr>
          <a:xfrm>
            <a:off x="1372743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4" name="TextBox 43"/>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2494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2494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2494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Cortez, P. et al. Wine Quality. UCI Machine Learning Repository (2009).  ·  Dua, D. &amp; Taniskidou, E. Beijing Multi-Site Air Quality Data.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765"/>
              </a:lnSpc>
              <a:spcBef>
                <a:spcPts val="0"/>
              </a:spcBef>
              <a:buNone/>
            </a:pPr>
            <a:r>
              <a:rPr lang="en-US" sz="1261"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602"/>
              </a:lnSpc>
              <a:spcBef>
                <a:spcPts val="0"/>
              </a:spcBef>
              <a:buNone/>
            </a:pPr>
            <a:r>
              <a:rPr lang="en-US" sz="1144"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 241–257 (2025).</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12494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12494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DF8330"/>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124944"/>
                </a:solidFill>
                <a:latin typeface="Nunito Bold"/>
                <a:ea typeface="Nunito Bold"/>
                <a:cs typeface="Nunito Bold"/>
                <a:sym typeface="Nunito Bold"/>
              </a:rPr>
              <a:t>A Shapley Framework for Actionable Insight</a:t>
            </a:r>
          </a:p>
        </p:txBody>
      </p:sp>
      <p:pic>
        <p:nvPicPr>
          <p:cNvPr id="9" name="Picture 8" descr="image.png"/>
          <p:cNvPicPr>
            <a:picLocks noChangeAspect="1"/>
          </p:cNvPicPr>
          <p:nvPr/>
        </p:nvPicPr>
        <p:blipFill>
          <a:blip r:embed="rId5"/>
          <a:stretch>
            <a:fillRect/>
          </a:stretch>
        </p:blipFill>
        <p:spPr>
          <a:xfrm>
            <a:off x="15979140" y="2194560"/>
            <a:ext cx="502920" cy="456772"/>
          </a:xfrm>
          <a:prstGeom prst="rect">
            <a:avLst/>
          </a:prstGeom>
        </p:spPr>
      </p:pic>
      <p:pic>
        <p:nvPicPr>
          <p:cNvPr id="10" name="Picture 9" descr="image.png"/>
          <p:cNvPicPr>
            <a:picLocks noChangeAspect="1"/>
          </p:cNvPicPr>
          <p:nvPr/>
        </p:nvPicPr>
        <p:blipFill>
          <a:blip r:embed="rId6"/>
          <a:stretch>
            <a:fillRect/>
          </a:stretch>
        </p:blipFill>
        <p:spPr>
          <a:xfrm rot="1200000">
            <a:off x="1120140" y="3703320"/>
            <a:ext cx="411480" cy="225885"/>
          </a:xfrm>
          <a:prstGeom prst="rect">
            <a:avLst/>
          </a:prstGeom>
        </p:spPr>
      </p:pic>
      <p:sp>
        <p:nvSpPr>
          <p:cNvPr id="11" name="Rounded Rectangle 10"/>
          <p:cNvSpPr/>
          <p:nvPr/>
        </p:nvSpPr>
        <p:spPr>
          <a:xfrm>
            <a:off x="2926080" y="4526280"/>
            <a:ext cx="6035040" cy="786384"/>
          </a:xfrm>
          <a:prstGeom prst="roundRect">
            <a:avLst>
              <a:gd name="adj" fmla="val 27906"/>
            </a:avLst>
          </a:prstGeom>
          <a:solidFill>
            <a:srgbClr val="12494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2" name="Rounded Rectangle 11"/>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DF8330"/>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3" name="TextBox 12"/>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4" name="Table 13"/>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5" name="TextBox 14"/>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9" name="Picture 8" descr="image.png"/>
          <p:cNvPicPr>
            <a:picLocks noChangeAspect="1"/>
          </p:cNvPicPr>
          <p:nvPr/>
        </p:nvPicPr>
        <p:blipFill>
          <a:blip r:embed="rId3"/>
          <a:stretch>
            <a:fillRect/>
          </a:stretch>
        </p:blipFill>
        <p:spPr>
          <a:xfrm>
            <a:off x="14357876" y="1673352"/>
            <a:ext cx="457200" cy="539881"/>
          </a:xfrm>
          <a:prstGeom prst="rect">
            <a:avLst/>
          </a:prstGeom>
        </p:spPr>
      </p:pic>
      <p:sp>
        <p:nvSpPr>
          <p:cNvPr id="10" name="TextBox 9"/>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MOVIELENS-1M</a:t>
            </a:r>
          </a:p>
        </p:txBody>
      </p:sp>
      <p:graphicFrame>
        <p:nvGraphicFramePr>
          <p:cNvPr id="11" name="Table 10"/>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12" name="TextBox 11"/>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AMAZON-BOOK</a:t>
            </a:r>
          </a:p>
        </p:txBody>
      </p:sp>
      <p:graphicFrame>
        <p:nvGraphicFramePr>
          <p:cNvPr id="13" name="Table 12"/>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14" name="Rounded Rectangle 13"/>
          <p:cNvSpPr/>
          <p:nvPr/>
        </p:nvSpPr>
        <p:spPr>
          <a:xfrm>
            <a:off x="1028700" y="7387082"/>
            <a:ext cx="16230600" cy="822960"/>
          </a:xfrm>
          <a:prstGeom prst="roundRect">
            <a:avLst>
              <a:gd name="adj" fmla="val 24444"/>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Standard deviations are roughly </a:t>
            </a:r>
            <a:r>
              <a:rPr lang="en-US" sz="1700" b="true">
                <a:solidFill>
                  <a:srgbClr val="111111"/>
                </a:solidFill>
                <a:latin typeface="Nunito Bold"/>
                <a:ea typeface="Nunito Bold"/>
                <a:cs typeface="Nunito Bold"/>
                <a:sym typeface="Nunito Bold"/>
              </a:rPr>
              <a:t>one tenth of the gap</a:t>
            </a:r>
            <a:r>
              <a:rPr lang="en-US" sz="1700" b="true">
                <a:solidFill>
                  <a:srgbClr val="111111"/>
                </a:solidFill>
                <a:latin typeface="Nunito Semi-Bold"/>
                <a:ea typeface="Nunito Semi-Bold"/>
                <a:cs typeface="Nunito Semi-Bold"/>
                <a:sym typeface="Nunito Semi-Bold"/>
              </a:rPr>
              <a:t> between DyHuCoG and HPCF on every metric, so the ordering is stable across seeds.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9" name="Picture 8"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0" name="Table 9"/>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11" name="Rounded Rectangle 10"/>
          <p:cNvSpPr/>
          <p:nvPr/>
        </p:nvSpPr>
        <p:spPr>
          <a:xfrm>
            <a:off x="1028700" y="7551674"/>
            <a:ext cx="7932420" cy="1665478"/>
          </a:xfrm>
          <a:prstGeom prst="roundRect">
            <a:avLst>
              <a:gd name="adj" fmla="val 18667"/>
            </a:avLst>
          </a:prstGeom>
          <a:solidFill>
            <a:srgbClr val="F6ECDF"/>
          </a:solidFill>
          <a:ln>
            <a:noFill/>
          </a:ln>
        </p:spPr>
        <p:txBody>
          <a:bodyPr anchor="ctr" rtlCol="false" lIns="0" tIns="0" rIns="0" bIns="0" wrap="square"/>
          <a:lstStyle/>
          <a:p>
            <a:endParaRPr lang="en-US" sz="1800"/>
          </a:p>
        </p:txBody>
      </p:sp>
      <p:sp>
        <p:nvSpPr>
          <p:cNvPr id="12" name="Rounded Rectangle 11"/>
          <p:cNvSpPr/>
          <p:nvPr/>
        </p:nvSpPr>
        <p:spPr>
          <a:xfrm>
            <a:off x="1485900" y="7313930"/>
            <a:ext cx="2585068"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3" name="TextBox 12"/>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DF8330"/>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DF8330"/>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4" name="Rounded Rectangle 13"/>
          <p:cNvSpPr/>
          <p:nvPr/>
        </p:nvSpPr>
        <p:spPr>
          <a:xfrm>
            <a:off x="9326880" y="7551674"/>
            <a:ext cx="7932420" cy="1665478"/>
          </a:xfrm>
          <a:prstGeom prst="roundRect">
            <a:avLst>
              <a:gd name="adj" fmla="val 18667"/>
            </a:avLst>
          </a:prstGeom>
          <a:solidFill>
            <a:srgbClr val="124944"/>
          </a:solidFill>
          <a:ln>
            <a:noFill/>
          </a:ln>
        </p:spPr>
        <p:txBody>
          <a:bodyPr anchor="ctr" rtlCol="false" lIns="0" tIns="0" rIns="0" bIns="0" wrap="square"/>
          <a:lstStyle/>
          <a:p>
            <a:endParaRPr lang="en-US" sz="1800"/>
          </a:p>
        </p:txBody>
      </p:sp>
      <p:sp>
        <p:nvSpPr>
          <p:cNvPr id="15" name="Rounded Rectangle 14"/>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Effect size</a:t>
            </a:r>
          </a:p>
        </p:txBody>
      </p:sp>
      <p:sp>
        <p:nvSpPr>
          <p:cNvPr id="16" name="TextBox 15"/>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9" name="Picture 8" descr="image.png"/>
          <p:cNvPicPr>
            <a:picLocks noChangeAspect="1"/>
          </p:cNvPicPr>
          <p:nvPr/>
        </p:nvPicPr>
        <p:blipFill>
          <a:blip r:embed="rId3"/>
          <a:stretch>
            <a:fillRect/>
          </a:stretch>
        </p:blipFill>
        <p:spPr>
          <a:xfrm>
            <a:off x="13929945" y="1673352"/>
            <a:ext cx="457200" cy="427074"/>
          </a:xfrm>
          <a:prstGeom prst="rect">
            <a:avLst/>
          </a:prstGeom>
        </p:spPr>
      </p:pic>
      <p:sp>
        <p:nvSpPr>
          <p:cNvPr id="10" name="TextBox 9"/>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TABLE 7.3  ·  RUNTIME AND MEMORY</a:t>
            </a:r>
          </a:p>
        </p:txBody>
      </p:sp>
      <p:graphicFrame>
        <p:nvGraphicFramePr>
          <p:cNvPr id="11" name="Table 10"/>
          <p:cNvGraphicFramePr>
            <a:graphicFrameLocks noGrp="1"/>
          </p:cNvGraphicFramePr>
          <p:nvPr/>
        </p:nvGraphicFramePr>
        <p:xfrm>
          <a:off x="1028700" y="3263138"/>
          <a:ext cx="10241276" cy="379018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589788">
                <a:tc>
                  <a:txBody>
                    <a:bodyPr anchor="ctr" rtlCol="false" lIns="0" tIns="0" rIns="0" bIns="0" wrap="square"/>
                    <a:lstStyle/>
                    <a:p>
                      <a:pPr algn="l">
                        <a:lnSpc>
                          <a:spcPts val="1690"/>
                        </a:lnSpc>
                        <a:spcBef>
                          <a:spcPts val="0"/>
                        </a:spcBef>
                        <a:buNone/>
                      </a:pPr>
                      <a:r>
                        <a:rPr lang="en-US" sz="13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12" name="TextBox 11"/>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TABLE 7.4  ·  MONTE CARLO SHAPLEY</a:t>
            </a:r>
          </a:p>
        </p:txBody>
      </p:sp>
      <p:graphicFrame>
        <p:nvGraphicFramePr>
          <p:cNvPr id="13" name="Table 12"/>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14" name="Rounded Rectangle 13"/>
          <p:cNvSpPr/>
          <p:nvPr/>
        </p:nvSpPr>
        <p:spPr>
          <a:xfrm>
            <a:off x="1028700" y="7419086"/>
            <a:ext cx="16230600" cy="1005840"/>
          </a:xfrm>
          <a:prstGeom prst="roundRect">
            <a:avLst>
              <a:gd name="adj" fmla="val 20000"/>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