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four limits appear: data sparsity, cold-start, popularity bias, and above all the absence of interpretability. For clustering specifically, methods give a local or a global explanation, not both, and rarely stay consistent across levels of detail. Three structural limitations follow: complex models are hard to explain faithfully and actionably; local explanations do not scale to multi-level structures; and most explanations stay post-hoc, so they never shape how the model learns. The gap bar closes the slide: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a:p>
            <a:r>
              <a:t>The figure walks through one prediction: similarity is computed on the columns two users both rated, and the missing cell is filled by a similarity-weighted average of the neighbours' ratings, 5.85 over 1.37, so 4.3 out of 5. The strip below recalls how sparse the real matrices are: 4.47% and 0.06% observed.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a:p>
            <a:r>
              <a:t>The figure now contrasts the two structures directly: on the left, the bipartite user-item graph with a two-hop message highlighted, every edge carrying the same weight; on the right, hyperedges that join users, an item and a context at once, with weights that DyHuCoG re-learns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1</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1520"/>
          </a:xfrm>
          <a:prstGeom prst="rect">
            <a:avLst/>
          </a:prstGeom>
          <a:noFill/>
        </p:spPr>
        <p:txBody>
          <a:bodyPr anchor="t" rtlCol="false" lIns="0" tIns="0" rIns="0" bIns="0" wrap="square"/>
          <a:lstStyle/>
          <a:p>
            <a:pPr algn="l">
              <a:lnSpc>
                <a:spcPts val="4620"/>
              </a:lnSpc>
              <a:spcBef>
                <a:spcPts val="0"/>
              </a:spcBef>
              <a:buNone/>
            </a:pPr>
            <a:r>
              <a:rPr lang="en-US" sz="4600" b="true" spc="-210">
                <a:solidFill>
                  <a:srgbClr val="111111"/>
                </a:solidFill>
                <a:latin typeface="Roca Two Bold"/>
                <a:ea typeface="Roca Two Bold"/>
                <a:cs typeface="Roca Two Bold"/>
                <a:sym typeface="Roca Two Bold"/>
              </a:rPr>
              <a:t>Limitations &amp; Problem Statement</a:t>
            </a:r>
          </a:p>
        </p:txBody>
      </p:sp>
      <p:pic>
        <p:nvPicPr>
          <p:cNvPr id="25" name="Picture 24" descr="image.png"/>
          <p:cNvPicPr>
            <a:picLocks noChangeAspect="1"/>
          </p:cNvPicPr>
          <p:nvPr/>
        </p:nvPicPr>
        <p:blipFill>
          <a:blip r:embed="rId3"/>
          <a:stretch>
            <a:fillRect/>
          </a:stretch>
        </p:blipFill>
        <p:spPr>
          <a:xfrm>
            <a:off x="10588752"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5" name="Rounded Rectangle 4"/>
          <p:cNvSpPr/>
          <p:nvPr/>
        </p:nvSpPr>
        <p:spPr>
          <a:xfrm>
            <a:off x="1024128" y="8897112"/>
            <a:ext cx="16239744" cy="777240"/>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3688"/>
            <a:ext cx="16239744" cy="704088"/>
          </a:xfrm>
          <a:prstGeom prst="rect">
            <a:avLst/>
          </a:prstGeom>
          <a:noFill/>
        </p:spPr>
        <p:txBody>
          <a:bodyPr anchor="ctr" rtlCol="false" lIns="0" tIns="0" rIns="0" bIns="0" wrap="square"/>
          <a:lstStyle/>
          <a:p>
            <a:pPr algn="l">
              <a:lnSpc>
                <a:spcPts val="1700"/>
              </a:lnSpc>
              <a:spcBef>
                <a:spcPts val="0"/>
              </a:spcBef>
              <a:buNone/>
            </a:pPr>
            <a:r>
              <a:rPr sz="1400" b="1">
                <a:solidFill>
                  <a:srgbClr val="8A8378"/>
                </a:solidFill>
                <a:latin typeface="Nunito Semi-Bold"/>
              </a:rPr>
              <a:t>[21]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   [24] Arrieta, A. B. et al. Explainable Artificial Intelligence (XAI): Concepts, Taxonomies, Opportunities and Challenges. Information Fusion 58, 82–115 (2020).</a:t>
            </a:r>
          </a:p>
        </p:txBody>
      </p:sp>
      <p:sp>
        <p:nvSpPr>
          <p:cNvPr id="29" name="Rounded Rectangle 28"/>
          <p:cNvSpPr/>
          <p:nvPr/>
        </p:nvSpPr>
        <p:spPr>
          <a:xfrm>
            <a:off x="1024128" y="3017520"/>
            <a:ext cx="3849624" cy="2011680"/>
          </a:xfrm>
          <a:prstGeom prst="roundRect">
            <a:avLst>
              <a:gd name="adj" fmla="val 6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000" b="1">
                <a:solidFill>
                  <a:srgbClr val="ECC665"/>
                </a:solidFill>
                <a:latin typeface="Nunito Ultra-Bold"/>
              </a:rPr>
              <a:t>01</a:t>
            </a:r>
          </a:p>
          <a:p>
            <a:r>
              <a:rPr sz="1700" b="1">
                <a:solidFill>
                  <a:srgbClr val="FFFFFF"/>
                </a:solidFill>
                <a:latin typeface="Nunito Ultra-Bold"/>
              </a:rPr>
              <a:t>Data sparsity &amp; scalability</a:t>
            </a:r>
          </a:p>
          <a:p>
            <a:r>
              <a:rPr sz="1600" b="0">
                <a:solidFill>
                  <a:srgbClr val="F1EDE6"/>
                </a:solidFill>
                <a:latin typeface="Nunito Semi-Bold"/>
              </a:rPr>
              <a:t>The user-item matrix is almost empty, so there is very little signal to learn from.</a:t>
            </a:r>
          </a:p>
        </p:txBody>
      </p:sp>
      <p:sp>
        <p:nvSpPr>
          <p:cNvPr id="30" name="Rounded Rectangle 29"/>
          <p:cNvSpPr/>
          <p:nvPr/>
        </p:nvSpPr>
        <p:spPr>
          <a:xfrm>
            <a:off x="5157216" y="3017520"/>
            <a:ext cx="3849624" cy="2011680"/>
          </a:xfrm>
          <a:prstGeom prst="roundRect">
            <a:avLst>
              <a:gd name="adj" fmla="val 6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000" b="1">
                <a:solidFill>
                  <a:srgbClr val="ECC665"/>
                </a:solidFill>
                <a:latin typeface="Nunito Ultra-Bold"/>
              </a:rPr>
              <a:t>02</a:t>
            </a:r>
          </a:p>
          <a:p>
            <a:r>
              <a:rPr sz="1700" b="1">
                <a:solidFill>
                  <a:srgbClr val="FFFFFF"/>
                </a:solidFill>
                <a:latin typeface="Nunito Ultra-Bold"/>
              </a:rPr>
              <a:t>Cold-start</a:t>
            </a:r>
          </a:p>
          <a:p>
            <a:r>
              <a:rPr sz="1600" b="0">
                <a:solidFill>
                  <a:srgbClr val="F1EDE6"/>
                </a:solidFill>
                <a:latin typeface="Nunito Semi-Bold"/>
              </a:rPr>
              <a:t>New users and items are at a disadvantage: no history to learn from.</a:t>
            </a:r>
          </a:p>
        </p:txBody>
      </p:sp>
      <p:sp>
        <p:nvSpPr>
          <p:cNvPr id="31" name="Rounded Rectangle 30"/>
          <p:cNvSpPr/>
          <p:nvPr/>
        </p:nvSpPr>
        <p:spPr>
          <a:xfrm>
            <a:off x="9290304" y="3017520"/>
            <a:ext cx="3849624" cy="2011680"/>
          </a:xfrm>
          <a:prstGeom prst="roundRect">
            <a:avLst>
              <a:gd name="adj" fmla="val 6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000" b="1">
                <a:solidFill>
                  <a:srgbClr val="ECC665"/>
                </a:solidFill>
                <a:latin typeface="Nunito Ultra-Bold"/>
              </a:rPr>
              <a:t>03</a:t>
            </a:r>
          </a:p>
          <a:p>
            <a:r>
              <a:rPr sz="1700" b="1">
                <a:solidFill>
                  <a:srgbClr val="FFFFFF"/>
                </a:solidFill>
                <a:latin typeface="Nunito Ultra-Bold"/>
              </a:rPr>
              <a:t>Popularity bias &amp; lack of diversity</a:t>
            </a:r>
          </a:p>
          <a:p>
            <a:r>
              <a:rPr sz="1600" b="0">
                <a:solidFill>
                  <a:srgbClr val="F1EDE6"/>
                </a:solidFill>
                <a:latin typeface="Nunito Semi-Bold"/>
              </a:rPr>
              <a:t>Exposure leads to interaction, which leads to more exposure: a filter-bubble loop.</a:t>
            </a:r>
          </a:p>
        </p:txBody>
      </p:sp>
      <p:sp>
        <p:nvSpPr>
          <p:cNvPr id="32" name="Rounded Rectangle 31"/>
          <p:cNvSpPr/>
          <p:nvPr/>
        </p:nvSpPr>
        <p:spPr>
          <a:xfrm>
            <a:off x="13423392" y="3017520"/>
            <a:ext cx="3849624" cy="2011680"/>
          </a:xfrm>
          <a:prstGeom prst="roundRect">
            <a:avLst>
              <a:gd name="adj" fmla="val 6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164592" tIns="128016" wrap="square"/>
          <a:lstStyle/>
          <a:p>
            <a:pPr algn="ctr"/>
            <a:r>
              <a:rPr sz="2000" b="1">
                <a:solidFill>
                  <a:srgbClr val="FFFFFF"/>
                </a:solidFill>
                <a:latin typeface="Nunito Ultra-Bold"/>
              </a:rPr>
              <a:t>04</a:t>
            </a:r>
          </a:p>
          <a:p>
            <a:r>
              <a:rPr sz="1700" b="1">
                <a:solidFill>
                  <a:srgbClr val="FFFFFF"/>
                </a:solidFill>
                <a:latin typeface="Nunito Ultra-Bold"/>
              </a:rPr>
              <a:t>Absence of interpretability</a:t>
            </a:r>
          </a:p>
          <a:p>
            <a:r>
              <a:rPr sz="1600" b="0">
                <a:solidFill>
                  <a:srgbClr val="F1EDE6"/>
                </a:solidFill>
                <a:latin typeface="Nunito Semi-Bold"/>
              </a:rPr>
              <a:t>The most basic limit, and the one this thesis targets.</a:t>
            </a:r>
          </a:p>
        </p:txBody>
      </p:sp>
      <p:sp>
        <p:nvSpPr>
          <p:cNvPr id="33" name="Rounded Rectangle 32"/>
          <p:cNvSpPr/>
          <p:nvPr/>
        </p:nvSpPr>
        <p:spPr>
          <a:xfrm>
            <a:off x="1024128" y="5303520"/>
            <a:ext cx="5193792" cy="210312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44168" y="555955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11111"/>
                </a:solidFill>
                <a:latin typeface="Nunito Ultra-Bold"/>
              </a:rPr>
              <a:t>1</a:t>
            </a:r>
          </a:p>
        </p:txBody>
      </p:sp>
      <p:sp>
        <p:nvSpPr>
          <p:cNvPr id="35" name="TextBox 34"/>
          <p:cNvSpPr txBox="1"/>
          <p:nvPr/>
        </p:nvSpPr>
        <p:spPr>
          <a:xfrm>
            <a:off x="2048256" y="5614416"/>
            <a:ext cx="4023360" cy="457200"/>
          </a:xfrm>
          <a:prstGeom prst="rect">
            <a:avLst/>
          </a:prstGeom>
          <a:noFill/>
        </p:spPr>
        <p:txBody>
          <a:bodyPr wrap="square">
            <a:spAutoFit/>
          </a:bodyPr>
          <a:lstStyle/>
          <a:p>
            <a:r>
              <a:rPr sz="1900" b="1">
                <a:solidFill>
                  <a:srgbClr val="FFFFFF"/>
                </a:solidFill>
                <a:latin typeface="Nunito Ultra-Bold"/>
              </a:rPr>
              <a:t>Lack of explainability</a:t>
            </a:r>
          </a:p>
        </p:txBody>
      </p:sp>
      <p:sp>
        <p:nvSpPr>
          <p:cNvPr id="36" name="TextBox 35"/>
          <p:cNvSpPr txBox="1"/>
          <p:nvPr/>
        </p:nvSpPr>
        <p:spPr>
          <a:xfrm>
            <a:off x="1344168" y="6236208"/>
            <a:ext cx="4572000" cy="1051560"/>
          </a:xfrm>
          <a:prstGeom prst="rect">
            <a:avLst/>
          </a:prstGeom>
          <a:noFill/>
        </p:spPr>
        <p:txBody>
          <a:bodyPr wrap="square">
            <a:spAutoFit/>
          </a:bodyPr>
          <a:lstStyle/>
          <a:p>
            <a:r>
              <a:rPr sz="1600" b="0">
                <a:solidFill>
                  <a:srgbClr val="F1EDE6"/>
                </a:solidFill>
                <a:latin typeface="Nunito Semi-Bold"/>
              </a:rPr>
              <a:t>Complex models are still hard to explain in a way that is </a:t>
            </a:r>
            <a:r>
              <a:rPr sz="1600" b="1">
                <a:solidFill>
                  <a:srgbClr val="F1EDE6"/>
                </a:solidFill>
                <a:latin typeface="Nunito Semi-Bold"/>
              </a:rPr>
              <a:t>faithful and actionable</a:t>
            </a:r>
            <a:r>
              <a:rPr sz="1600" b="0">
                <a:solidFill>
                  <a:srgbClr val="F1EDE6"/>
                </a:solidFill>
                <a:latin typeface="Nunito Semi-Bold"/>
              </a:rPr>
              <a:t>.</a:t>
            </a:r>
          </a:p>
        </p:txBody>
      </p:sp>
      <p:sp>
        <p:nvSpPr>
          <p:cNvPr id="37" name="Rounded Rectangle 36"/>
          <p:cNvSpPr/>
          <p:nvPr/>
        </p:nvSpPr>
        <p:spPr>
          <a:xfrm>
            <a:off x="6542532" y="5303520"/>
            <a:ext cx="5193792" cy="210312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62572" y="555955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11111"/>
                </a:solidFill>
                <a:latin typeface="Nunito Ultra-Bold"/>
              </a:rPr>
              <a:t>2</a:t>
            </a:r>
          </a:p>
        </p:txBody>
      </p:sp>
      <p:sp>
        <p:nvSpPr>
          <p:cNvPr id="39" name="TextBox 38"/>
          <p:cNvSpPr txBox="1"/>
          <p:nvPr/>
        </p:nvSpPr>
        <p:spPr>
          <a:xfrm>
            <a:off x="7566660" y="5614416"/>
            <a:ext cx="4023360" cy="457200"/>
          </a:xfrm>
          <a:prstGeom prst="rect">
            <a:avLst/>
          </a:prstGeom>
          <a:noFill/>
        </p:spPr>
        <p:txBody>
          <a:bodyPr wrap="square">
            <a:spAutoFit/>
          </a:bodyPr>
          <a:lstStyle/>
          <a:p>
            <a:r>
              <a:rPr sz="1900" b="1">
                <a:solidFill>
                  <a:srgbClr val="FFFFFF"/>
                </a:solidFill>
                <a:latin typeface="Nunito Ultra-Bold"/>
              </a:rPr>
              <a:t>Difficulty of scaling</a:t>
            </a:r>
          </a:p>
        </p:txBody>
      </p:sp>
      <p:sp>
        <p:nvSpPr>
          <p:cNvPr id="40" name="TextBox 39"/>
          <p:cNvSpPr txBox="1"/>
          <p:nvPr/>
        </p:nvSpPr>
        <p:spPr>
          <a:xfrm>
            <a:off x="6862572" y="6236208"/>
            <a:ext cx="4572000" cy="1051560"/>
          </a:xfrm>
          <a:prstGeom prst="rect">
            <a:avLst/>
          </a:prstGeom>
          <a:noFill/>
        </p:spPr>
        <p:txBody>
          <a:bodyPr wrap="square">
            <a:spAutoFit/>
          </a:bodyPr>
          <a:lstStyle/>
          <a:p>
            <a:r>
              <a:rPr sz="1600" b="0">
                <a:solidFill>
                  <a:srgbClr val="F1EDE6"/>
                </a:solidFill>
                <a:latin typeface="Nunito Semi-Bold"/>
              </a:rPr>
              <a:t>Local explanations do not carry over to </a:t>
            </a:r>
            <a:r>
              <a:rPr sz="1600" b="1">
                <a:solidFill>
                  <a:srgbClr val="F1EDE6"/>
                </a:solidFill>
                <a:latin typeface="Nunito Semi-Bold"/>
              </a:rPr>
              <a:t>multi-level structures or large datasets</a:t>
            </a:r>
            <a:r>
              <a:rPr sz="1600" b="0">
                <a:solidFill>
                  <a:srgbClr val="F1EDE6"/>
                </a:solidFill>
                <a:latin typeface="Nunito Semi-Bold"/>
              </a:rPr>
              <a:t>: a method that works on a toy partition may break on hundreds of thousands of nested records.</a:t>
            </a:r>
          </a:p>
        </p:txBody>
      </p:sp>
      <p:sp>
        <p:nvSpPr>
          <p:cNvPr id="41" name="Rounded Rectangle 40"/>
          <p:cNvSpPr/>
          <p:nvPr/>
        </p:nvSpPr>
        <p:spPr>
          <a:xfrm>
            <a:off x="12060936" y="5303520"/>
            <a:ext cx="5193792" cy="210312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380976" y="555955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11111"/>
                </a:solidFill>
                <a:latin typeface="Nunito Ultra-Bold"/>
              </a:rPr>
              <a:t>3</a:t>
            </a:r>
          </a:p>
        </p:txBody>
      </p:sp>
      <p:sp>
        <p:nvSpPr>
          <p:cNvPr id="43" name="TextBox 42"/>
          <p:cNvSpPr txBox="1"/>
          <p:nvPr/>
        </p:nvSpPr>
        <p:spPr>
          <a:xfrm>
            <a:off x="13085064" y="5614416"/>
            <a:ext cx="4023360" cy="457200"/>
          </a:xfrm>
          <a:prstGeom prst="rect">
            <a:avLst/>
          </a:prstGeom>
          <a:noFill/>
        </p:spPr>
        <p:txBody>
          <a:bodyPr wrap="square">
            <a:spAutoFit/>
          </a:bodyPr>
          <a:lstStyle/>
          <a:p>
            <a:r>
              <a:rPr sz="1900" b="1">
                <a:solidFill>
                  <a:srgbClr val="FFFFFF"/>
                </a:solidFill>
                <a:latin typeface="Nunito Ultra-Bold"/>
              </a:rPr>
              <a:t>Weak integration into learning</a:t>
            </a:r>
          </a:p>
        </p:txBody>
      </p:sp>
      <p:sp>
        <p:nvSpPr>
          <p:cNvPr id="44" name="TextBox 43"/>
          <p:cNvSpPr txBox="1"/>
          <p:nvPr/>
        </p:nvSpPr>
        <p:spPr>
          <a:xfrm>
            <a:off x="12380976" y="6236208"/>
            <a:ext cx="4572000" cy="1051560"/>
          </a:xfrm>
          <a:prstGeom prst="rect">
            <a:avLst/>
          </a:prstGeom>
          <a:noFill/>
        </p:spPr>
        <p:txBody>
          <a:bodyPr wrap="square">
            <a:spAutoFit/>
          </a:bodyPr>
          <a:lstStyle/>
          <a:p>
            <a:r>
              <a:rPr sz="1600" b="0">
                <a:solidFill>
                  <a:srgbClr val="F1EDE6"/>
                </a:solidFill>
                <a:latin typeface="Nunito Semi-Bold"/>
              </a:rPr>
              <a:t>Most explanations stay </a:t>
            </a:r>
            <a:r>
              <a:rPr sz="1600" b="1">
                <a:solidFill>
                  <a:srgbClr val="F1EDE6"/>
                </a:solidFill>
                <a:latin typeface="Nunito Semi-Bold"/>
              </a:rPr>
              <a:t>post-hoc</a:t>
            </a:r>
            <a:r>
              <a:rPr sz="1600" b="0">
                <a:solidFill>
                  <a:srgbClr val="F1EDE6"/>
                </a:solidFill>
                <a:latin typeface="Nunito Semi-Bold"/>
              </a:rPr>
              <a:t>: they do not shape how the model learns, nor the </a:t>
            </a:r>
            <a:r>
              <a:rPr sz="1600" b="1">
                <a:solidFill>
                  <a:srgbClr val="F1EDE6"/>
                </a:solidFill>
                <a:latin typeface="Nunito Semi-Bold"/>
              </a:rPr>
              <a:t>accuracy / diversity / context trade-off</a:t>
            </a:r>
            <a:r>
              <a:rPr sz="1600" b="0">
                <a:solidFill>
                  <a:srgbClr val="F1EDE6"/>
                </a:solidFill>
                <a:latin typeface="Nunito Semi-Bold"/>
              </a:rPr>
              <a:t>.</a:t>
            </a:r>
          </a:p>
        </p:txBody>
      </p:sp>
      <p:sp>
        <p:nvSpPr>
          <p:cNvPr id="45" name="Rounded Rectangle 44"/>
          <p:cNvSpPr/>
          <p:nvPr/>
        </p:nvSpPr>
        <p:spPr>
          <a:xfrm>
            <a:off x="1024128" y="7635240"/>
            <a:ext cx="16230600" cy="1216152"/>
          </a:xfrm>
          <a:prstGeom prst="roundRect">
            <a:avLst>
              <a:gd name="adj" fmla="val 10000"/>
            </a:avLst>
          </a:prstGeom>
          <a:solidFill>
            <a:srgbClr val="E7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481328" y="7424927"/>
            <a:ext cx="2331720" cy="438912"/>
          </a:xfrm>
          <a:prstGeom prst="roundRect">
            <a:avLst>
              <a:gd name="adj" fmla="val 3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Nunito Ultra-Bold"/>
              </a:rPr>
              <a:t>THESIS GAP</a:t>
            </a:r>
          </a:p>
        </p:txBody>
      </p:sp>
      <p:sp>
        <p:nvSpPr>
          <p:cNvPr id="47" name="TextBox 46"/>
          <p:cNvSpPr txBox="1"/>
          <p:nvPr/>
        </p:nvSpPr>
        <p:spPr>
          <a:xfrm>
            <a:off x="1536192" y="7918704"/>
            <a:ext cx="15270480" cy="868680"/>
          </a:xfrm>
          <a:prstGeom prst="rect">
            <a:avLst/>
          </a:prstGeom>
          <a:noFill/>
        </p:spPr>
        <p:txBody>
          <a:bodyPr wrap="square">
            <a:spAutoFit/>
          </a:bodyPr>
          <a:lstStyle/>
          <a:p>
            <a:r>
              <a:rPr sz="1600" b="0">
                <a:solidFill>
                  <a:srgbClr val="111111"/>
                </a:solidFill>
                <a:latin typeface="Nunito Semi-Bold"/>
              </a:rPr>
              <a:t>The literature still lacks </a:t>
            </a:r>
            <a:r>
              <a:rPr sz="1600" b="1">
                <a:solidFill>
                  <a:srgbClr val="111111"/>
                </a:solidFill>
                <a:latin typeface="Nunito Semi-Bold"/>
              </a:rPr>
              <a:t>one cooperative-attribution framework</a:t>
            </a:r>
            <a:r>
              <a:rPr sz="1600" b="0">
                <a:solidFill>
                  <a:srgbClr val="111111"/>
                </a:solidFill>
                <a:latin typeface="Nunito Semi-Bold"/>
              </a:rPr>
              <a:t> that explains clustering faithfully, stays consistent across levels, and then works as an </a:t>
            </a:r>
            <a:r>
              <a:rPr sz="1600" b="1">
                <a:solidFill>
                  <a:srgbClr val="111111"/>
                </a:solidFill>
                <a:latin typeface="Nunito Semi-Bold"/>
              </a:rPr>
              <a:t>in-training signal</a:t>
            </a:r>
            <a:r>
              <a:rPr sz="1600" b="0">
                <a:solidFill>
                  <a:srgbClr val="111111"/>
                </a:solidFill>
                <a:latin typeface="Nunito Semi-Bold"/>
              </a:rPr>
              <a:t> in recommendation. </a:t>
            </a:r>
            <a:r>
              <a:rPr sz="1600" b="1">
                <a:solidFill>
                  <a:srgbClr val="111111"/>
                </a:solidFill>
                <a:latin typeface="Nunito Semi-Bold"/>
              </a:rPr>
              <a:t>Claim:</a:t>
            </a:r>
            <a:r>
              <a:rPr sz="1600" b="0">
                <a:solidFill>
                  <a:srgbClr val="111111"/>
                </a:solidFill>
                <a:latin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75</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