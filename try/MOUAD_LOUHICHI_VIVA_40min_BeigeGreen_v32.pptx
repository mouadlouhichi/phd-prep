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matters.</a:t>
            </a:r>
          </a:p>
          <a:p/>
          <a:p>
            <a:r>
              <a:t>Recommenders are everywhere: they already decide much of what billions of people see, buy and watch, from news to health and credit. And the reasoning behind those decisions is hidden, in latent factors or in message passing, so nothing can be audited or acted on.</a:t>
            </a:r>
          </a:p>
          <a:p/>
          <a:p>
            <a:r>
              <a:t>Users, designers and regulators all ask for reasons now. So transparency has to be built into the model, not added afterwards. This thesis treats accuracy and interpretability as goals to be met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limits appear. Data sparsity, because the interaction matrix is almost empty. Cold-start, when new users or items have no history. Popularity bias, where exposure follows exposure. And above all, the absence of interpretability, which for clustering is even harder, because local and global explanations rarely 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structural limitations are on this slide, and they are what this thesis works on.</a:t>
            </a:r>
          </a:p>
          <a:p/>
          <a:p>
            <a:r>
              <a:t>Lack of explainability: complex models are still hard to explain faithfully and actionably.</a:t>
            </a:r>
          </a:p>
          <a:p/>
          <a:p>
            <a:r>
              <a:t>Difficulty of scaling: a local explanation does not carry over to a multi-level structure, or to hundreds of thousands of records.</a:t>
            </a:r>
          </a:p>
          <a:p/>
          <a:p>
            <a:r>
              <a:t>Weak integration into learning: most explanations stay post-hoc, so they never shape how the model learns, nor how it handles the accuracy, diversity and context trade-off.</a:t>
            </a:r>
          </a:p>
          <a:p/>
          <a:p>
            <a:r>
              <a:t>The gap is the orange box: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thesis is three contributions that build on each other.</a:t>
            </a:r>
          </a:p>
          <a:p/>
          <a:p>
            <a:r>
              <a:t>C1 explains a black-box partition: the features are the players, the Silhouette of the clustering is the value function, and a LightGBM surrogate with TreeSHAP brings the attribution back to the original variables.</a:t>
            </a:r>
          </a:p>
          <a:p/>
          <a:p>
            <a:r>
              <a:t>C2 keeps that explanation consistent across levels and at scale, through the cross-level aggregation of Proposition 6.1.</a:t>
            </a:r>
          </a:p>
          <a:p/>
          <a:p>
            <a:r>
              <a:t>C3, DyHuCoG, moves attribution inside the model: preference-aware Monte Carlo Shapley becomes an in-training signal on a hypergraph.</a:t>
            </a:r>
          </a:p>
          <a:p/>
          <a:p>
            <a:r>
              <a:t>Explanation, then scalability, then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Why Explainability Matters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Recommenders decide at scale.</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They shape what billions of users see, buy and watch every day: news, study, health and credit decisions.</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The reasoning behind those decisions is hidden.</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Matrix factorisation hid it in latent factors; deep and graph models hide it in message passing. Neither can be audited or acted on.</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Transparency is now expected.</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Users, designers and regulators now ask for reasons. It has to be built into the model, not added afterwards.</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1" name="Rounded Rectangle 40"/>
          <p:cNvSpPr/>
          <p:nvPr/>
        </p:nvSpPr>
        <p:spPr>
          <a:xfrm>
            <a:off x="1024128" y="5833872"/>
            <a:ext cx="16239744" cy="3072384"/>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1328" y="559612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1328"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Users get outputs without reasons:</a:t>
            </a:r>
            <a:r>
              <a:rPr lang="en-US" sz="2200" b="true">
                <a:solidFill>
                  <a:srgbClr val="FFFFFF"/>
                </a:solidFill>
                <a:latin typeface="Nunito Semi-Bold"/>
                <a:ea typeface="Nunito Semi-Bold"/>
                <a:cs typeface="Nunito Semi-Bold"/>
                <a:sym typeface="Nunito Semi-Bold"/>
              </a:rPr>
              <a:t> trust drops.</a:t>
            </a:r>
          </a:p>
        </p:txBody>
      </p:sp>
      <p:sp>
        <p:nvSpPr>
          <p:cNvPr id="43" name="TextBox 42"/>
          <p:cNvSpPr txBox="1"/>
          <p:nvPr/>
        </p:nvSpPr>
        <p:spPr>
          <a:xfrm>
            <a:off x="6711696"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Designers cannot debug</a:t>
            </a:r>
            <a:r>
              <a:rPr lang="en-US" sz="2200" b="true">
                <a:solidFill>
                  <a:srgbClr val="FFFFFF"/>
                </a:solidFill>
                <a:latin typeface="Nunito Semi-Bold"/>
                <a:ea typeface="Nunito Semi-Bold"/>
                <a:cs typeface="Nunito Semi-Bold"/>
                <a:sym typeface="Nunito Semi-Bold"/>
              </a:rPr>
              <a:t> what they cannot inspect.</a:t>
            </a:r>
          </a:p>
        </p:txBody>
      </p:sp>
      <p:sp>
        <p:nvSpPr>
          <p:cNvPr id="43" name="TextBox 42"/>
          <p:cNvSpPr txBox="1"/>
          <p:nvPr/>
        </p:nvSpPr>
        <p:spPr>
          <a:xfrm>
            <a:off x="11942064"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Regulation now asks for transparency:</a:t>
            </a:r>
            <a:r>
              <a:rPr lang="en-US" sz="2200" b="true">
                <a:solidFill>
                  <a:srgbClr val="FFFFFF"/>
                </a:solidFill>
                <a:latin typeface="Nunito Semi-Bold"/>
                <a:ea typeface="Nunito Semi-Bold"/>
                <a:cs typeface="Nunito Semi-Bold"/>
                <a:sym typeface="Nunito Semi-Bold"/>
              </a:rPr>
              <a:t> EU AI Act, GDPR.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6864350"/>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626606"/>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504429"/>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156450"/>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3650"/>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