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President and Professors, for the time you are giving me to present and discuss my thesis. My name is Mouad Louhichi. My thesis is titled Cooperative Game Theory for Explainable AI in Recommendation Systems: A Shapley Framework for Actionable Insight, supervised by Professor Mohamed Lazaar. It defends one idea: that Shapley-value attribution is not only a post-hoc explanation, but one formal method that can explain black-box clustering, stay consistent across levels and at scale, and finally act as an in-training signal inside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five parts: introduction, context and problematic, the shared experimental protocol, then my three contributions, and finally the conclusion and perspectives. Each contribution follows the same structure: objectives, methodology, results, and findings.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begin with the introduction. I will spend a few minutes on why explainability is not a nice-to-have but a core requirement for recommender systems, and I will define carefully what I mean by an actionable insight.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whole work. First, these systems are everywhere: black-box systems shape what billions of people see, buy and watch every day, not only on streaming platforms but in e-commerce, news feeds and search. Second, the black box: even strong recommenders and clustering pipelines are hard to question. We see their outputs without knowing why a given item was chosen. Third, trust: transparency should be built into the model, not added after the fact. The core tension of the thesis is that as models gain power, they lose the transparency needed for trustworthy use. Throughout this work I treat accuracy and interpretability as two goals to meet together, not to trade against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the whole thesis around actionable insight. An explanation is actionable when it points to at least one factor that can be changed, when that change leads to a clear change in the model output, and when that factor is stated in the domain's own terms: a chemical variable for wine, a pollution indicator for air quality, a preference signal for recommendation. The key constraint is that it must not be a hidden latent code. This is what separates explanations that let a designer act from those that only describe what happened. By this definition, a good explanation is judged by whether it supports a real decision, not by whether it looks plausible.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move from simple to hypergraph recommenders. Matrix factorisation showed that latent factors could capture preferences, but those factors had no readable meaning. Graph and graph-neural-network models improved ranking by using connectivity, yet they replaced a hidden latent code with a hidden message-passing mechanism. Finally, hypergraph models added higher-order user-item-context relations, but they usually assume that every message counts the same. Each step added modelling power and removed transparency. This gap matters for trust, debugging and regulation: the EU AI Act, the OECD principles and the GDPR all ask for meaningful explanation. That is why a well-founded attribution method is needed, and why I will argue it should be part of the model itself rather than an add-on.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is not a niche technique; it is infrastructure for everyday decisions. Streaming platforms decide what you watch next, music services what you hear, e-commerce what you buy, and social feeds what you read. Each system is very accurate, yet its reasoning is hidden from the user. Everywhere, and hidden: that is exactly what makes explainability a core requirement, and what motivates the three contributions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look more closely at the problem this thesis addresses. I will quickly go over the main approaches, then point out the main limitations and the five research questions, and finally map the three contributions to those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tour of the approaches we build on. Collaborative filtering works on the idea that similar users will like similar items, computed from the user side or the item side. Content-based filtering recommends items whose features match a profile, and hybrid methods combine both. Matrix factorisation splits the interaction matrix into latent factors: compact and effective, but hidden. Graph-based methods, including LightGCN and hypergraph extensions, pass information over an interaction structure and capture multi-hop or higher-order relations. Each one makes the model stronger, but each one makes interpretation harder in its own way: matrix factorisation hid the meaning of the latent dimensions; graph models left importance implicit; hypergraph models added higher-order relations but assumed all messages matter equally. That equal-messages assumption is one of the things I will challenge.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Data sparsity and scalability are the most cited: the user-item matrix is almost empty, so there is very little signal to learn from. Cold-start follows from that, because a new user or item has no history to learn from. Popularity bias and the resulting lack of diversity create a filter-bubble loop, where exposure leads to interaction, which leads to more exposure. And the most basic limitation, the one this thesis targets, is the lack of interpretability. For clustering the situation is even harder: methods give a local explanation or a global one but not both, they struggle to scale, and their explanations rarely stay consistent across levels of detail. That combination, no faithful local and global explanation, poor scaling, and no consistency across levels, is exactly the gap I work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main problems. First, lack of explainability: complex models are still hard to explain in a faithful and actionable way. Second, difficulty of scaling: local explanations do not carry over to multi-level structures or large datasets, so a method that works on a toy partition may break on hundreds of thousands of nested records. Third, weak link with learning: most explanations are post-hoc; they do not shape how the model learns, and they take no part in the accuracy-diversity-context trade-off the model is trying to satisfy. The thesis gap follows directly: the literature still lacks one cooperative-attribution framework that explains clustering faithfully, stays consistent across levels, and then works as an in-training signal in recommendation. My claim is that Shapley-value attribution can be that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aim is to develop, justify and evaluate a cooperative-game view of explainable AI for clustering and recommendation, using Shapley attribution both as an explanation method and as an in-training signal. Five research questions form the backbone. RQ1 asks how Shapley values can explain black-box clustering faithfully at instance and cluster level. RQ2 asks how that extends to large-scale, multi-level clustering while staying feasible and consistent. RQ3 asks whether cooperative attribution can move beyond post-hoc analysis and become part of how graph recommenders learn. RQ4 asks whether a recommender can improve ranking accuracy, context and diversity at the same time when importance comes from a cooperative-game utility. RQ5 is the thesis-level question: what do we gain when clustering explanation and recommendation learning are read as two stages of one shared 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sets up Shapley-based explanation for black-box clustering through a PCA, K-Means, LightGBM, TreeSHAP pipeline, and validates it on the wine quality dataset. C2 scales it to multi-level and large data, with cross-level SHAP aggregation, validated on the Beijing air-quality dataset. C3 is the strongest claim: DyHuCoG replaces post-hoc attribution with an in-training signal inside a hypergraph recommender, validated on MovieLens-1M and Amazon-Book. Each contribution answers its own research question, but they are designed to be read together as one argument that builds step by step. The thesis claim is that cooperative game theory works as one shared attribution view for explanation, optimisation and action, not that these are three unrelated papers.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thesis is a single claim: that Shapley-value attribution can work as one shared, explainable view across clustering and recommendation. The three contributions are not separate fixes but one argument that builds up: each applies the same cooperative-game logic at a different stage, from faithful clustering explanation to an in-training signal inside a recommender. That is what makes explanation part of the model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let me briefly cover the shared experimental setup. The purpose of this section is to show that my comparisons are fair: the datasets, the splitting and preprocessing, the baselines, the evaluation metrics, and the hardware.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clustering datasets and two recommendation datasets. For clustering I chose, on purpose, datasets with features that have a clear meaning, because the whole point of the method is to return attribution to the original variables. Wine Quality is a small, dense, chemically correlated dataset of almost five thousand samples with eleven features. Beijing Multi-Site Air Quality is a large, noisy dataset of over three hundred and eighty thousand hourly records, which varies with time and weather. For recommendation I used standard benchmark datasets with well-known baselines: MovieLens-1M, with roughly a million interactions and a density of 0.0447, and Amazon-Book, which is far sparser at 0.0006. The sparsity contrast is on purpose, because it stress-tests whether a Shapley-guided model helps most exactly when interaction data are weak.</a:t>
            </a:r>
          </a:p>
          <a:p/>
          <a:p>
            <a:r>
              <a:t>Beyond scale, each dataset was chosen so that attribution lands in terms a domain expert can act on. Wine and Beijing give features with a clear meaning (chemistry, pollution); the two recommendation datasets give a density contrast that shows whether cooperative attribution helps most when interaction data are scarce. That is why the same explanatory logic can be validated across tabular clustering and recommendation without changing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is designed against leakage, because recommendation metrics are very sensitive to how you split. For clustering I use five-fold cross-validation to test the stability of the surrogate and the attribution. For recommendation I use a user-level, time-ordered holdout: interactions sorted by time per user, split seventy percent train, ten percent validation, twenty percent test. Evaluation uses leave-one-out, where the latest test positive per user is the target, ranked against sampled negatives. Because MovieLens-1M contains explicit ratings, I convert ratings greater than three into positive implicit feedback. Negatives are drawn from a popularity-aware distribution to produce harder negatives. Results are reported across five seeds, with early stopping on validation NDCG at twenty.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cover classical, neural, graph and hypergraph methods, exactly so that I can isolate the effect of cooperative attribution rather than a lucky model choice. For recommendation I compare against matrix factorisation, NCF, LightGCN, RecDCL, HCCF and HPCF, with HPCF as the strongest reference. For clustering interpretability I compare against a LIME-based surrogate pipeline. Ranking is measured with Precision at K, Recall at K, and NDCG at twenty as the main measure. On the diversity side I measure system-level catalogue coverage, and list-level intra-list diversity, defined as the average pairwise dissimilarity inside a ranked list. I want to stress that ILD is not there for show: it is built into the DyHuCoG coalition utility on purpose. Clustering quality is measured with Silhouette and Davies-Bouldin.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matters mainly because it explains some runtime figures I will quote later. All clustering, preprocessing and data loading run on an Intel Core i9-14900K with twenty-four cores. DyHuCoG training and inference run on an NVIDIA RTX 4090 with twenty-four gigabytes, with forty-eight gigabytes of RAM and a two-terabyte SSD. The software stack is Python 3.8, with scikit-learn for PCA and K-Means, LightGBM for the surrogate, SHAP for TreeSHAP, and PyTorch 2.0.1 for the recommendation model. I use Altair for interactive SHAP visualisation and report metrics at K equal to five, ten and twenty. Everything runs on standard academic hardware; nothing here needs industrial-scale compute.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move to the first contribution: explaining black-box clustering with Shapley values. This contribution answers RQ1, and I will present it in four steps: objectives, methodology, results, findings.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Here the model creates its own structure, so the meaning of a cluster must be worked out after the fact. That makes clustering the hardest and most natural test bed for attribution. The gap is that explainable clustering is fragmented: methods favour a local or a global explanation, rarely both; they often fail to scale; and they rarely stay consistent across clusters. And since Shapley explanation is well established in supervised problems, its near absence from unsupervised clustering is striking. Our objectives are three: build a pipeline that gives a cluster-level explanation while keeping feature-level attribution; keep the meaning of the original feature space rather than a transformed latent space; and justify why Shapley is the right concept rather than an ad-hoc surrogate such as LIME.</a:t>
            </a:r>
          </a:p>
          <a:p/>
          <a:p>
            <a:r>
              <a:t>RQ1 asks how Shapley values can explain black-box clustering faithfully at both instance and cluster level, and it breaks down into three objectives. O1 is a pipeline that produces a cluster-level explanation while keeping feature-level attribution, so the explanation is consistent rather than a single summary number. O2 requires that attribution stays in the original feature space: density, pH, acidity, sulfur dioxide, alcohol, because that is what makes it actionable for a domain expert. O3 is about justification: we must show why Shapley is the right allocation rule rather than an ad-hoc surrogate such as LIME. The next methodology slide shows how these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clustering as a cooperative game where the features are the players. The value function measures how well the data cluster when we use only the features in a given coalition: concretely, the value of coalition S is the Silhouette of K-Means run on the feature subset X_S, with a fixed k. I choose Silhouette because it is bounded, normalised and easy to interpret; Davies-Bouldin or Calinski-Harabasz would also be defensible. A feature then receives a high Shapley value when adding it improves separation, on average over all coalitions. The problem is that computing the Silhouette for every subset is combinatorial and not feasible even for a modest number of features, which is exactly why we need a bridge between the unsupervised partition and a practical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heart of the method. TreeSHAP explains tree models; it cannot explain K-Means centroids. And explaining the PCA representation would move attribution away from the variables we care about. So we turn an unsupervised partition into a supervised task: once K-Means produces cluster labels, we train a LightGBM multiclass classifier to predict them from the original features, then apply TreeSHAP to that surrogate. This keeps attribution in the original feature space, which is what makes the explanation actionable. The key validity condition is surrogate fidelity: if the surrogate does not reproduce the partition well, the attribution is not faithful. We require a macro-F1 of around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Stage one is feature standardisation. Stage two is PCA, which I want to stress is used only as a computational and visual check; on purpose, it is not the explanatory space, because explaining principal components would defeat the purpose of actionable attribution. Stage three is K-Means-plus-plus with multi-criteria k selection, using the elbow method, Silhouette and Davies-Bouldin. Stage four is the LightGBM surrogate trained on the original features to predict the cluster labels. Stage five is TreeSHAP attribution in the original feature space, aggregated into global importance, cluster-specific profiles, and local force plots. The cost is dominated by PCA and repeated K-Means; TreeSHAP scales with tree count and depth rather than exponentially in the number of features, which is what makes the approach practical.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and important point. We evaluate k from two to ten, and we select k equal to three on purpose, even though it is not the best geometry. With k equal to two we get a stronger Silhouette of 0.214 and a Davies-Bouldin of 1.775; with k equal to three the Silhouette drops to 0.144 and the Davies-Bouldin rises to 2.097. On raw geometry, two is the better partition. We choose three anyway, because three clusters support three distinct, chemically meaningful wine stories, far more actionable than a two-way split. I select the partition a domain expert would find useful, not the one that maximises a separation index. And to avoid a common confusion: the 0.63 Silhouette belongs to the Beijing dataset in Contribution II, not to this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SHAP ranking is led by density, followed by pH, fixed acidity, sulfur-dioxide-related variables and alcohol. These are exactly the variables a wine expert would point to as controlling structure, preservation and sensory balance. The important point is that this is not a random side effect of the classifier. Because the surrogate was trained to reproduce the partition from the original variables, and because TreeSHAP attributes in that original space, the recovered ranking matches a chemically meaningful structure. This is the strongest evidence that the pipeline is faithful: it recovers domain knowledge without being told to. It also shows the value of keeping attribution in the original feature space rather than in a reduced or latent space.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cluster-specific profiles show that the solution is not only interpretable overall but also different from one cluster to the next. Each cluster has its own signature. Cluster zero is driven mainly by density and sulfur-dioxide-related variables; cluster one by acidity and pH effects; cluster two by a different balance of acidity, alcohol and related chemical attributes. The key point is that the same small set of variables comes back in all three clusters, but with different relative weights in each. This is the actionable insight: a cluster is not just a label, it is a distinct, domain-meaningful combination of drivers. It also shows the method supports both a global reading, which variable matters most overall, and a local, per-cluster reading, where the practical value lies.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sums up why we prefer Shapley over LIME. SHAP bases attribution on a cooperative-game allocation rule and satisfies four axioms: efficiency, so the whole explanation mass is allocated; symmetry, so equal contributors get equal credit; the null-player property, so a player with zero marginal effect gets zero; and additivity, so explanations add up across games. LIME fits a local surrogate and has no equivalent guarantee; it is sensitive to the perturbation design. SHAP supports both local and global explanation, whereas LIME is mainly local, and SHAP is much stronger for comparing clusters, which is central here. One caveat: in this surrogate pipeline, efficiency holds with respect to the LightGBM output, not directly to the Silhouette-based game. That is exactly why surrogate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RQ1 directly: yes. Shapley values explain a black-box partition faithfully, provided the surrogate has high fidelity, and consistently at cluster level. Each objective is met. O1 is met because the pipeline gives both a global reading, density, pH, acidity, sulfur dioxide, alcohol, and a per-cluster reading where the same drivers get different weights. O2 is met because attribution is returned to the original chemical variables, which is what makes it actionable. O3 is met because Shapley satisfies efficiency, symmetry, the null-player property and additivity, whereas LIME has no equivalent guarantee. The honest caveat is that efficiency holds with respect to the surrogate output, not directly to the Silhouette-based game, which is why surrogate fidelity is the critical validity condition.</a:t>
            </a:r>
          </a:p>
          <a:p/>
          <a:p>
            <a:r>
              <a:t>C1 answers RQ1 with a yes. The key findings are four. Shapley values explain the black-box partition at both cluster level and instance level, tying each cluster's meaning to single feature contributions. They return attribution to the original chemical variables, density, pH, fixed acidity, sulfur dioxide, alcohol, rather than to a reduced or latent space, which is what makes the explanation actionable. Because the surrogate reproduces the partition from the original variables, the recovered ranking is chemically meaningful and faithful. And the approach has a solid theoretical basis: SHAP satisfies efficiency, symmetry, the null-player property and additivity, which LIME does not.</a:t>
            </a:r>
          </a:p>
          <a:p/>
          <a:p>
            <a:r>
              <a:t>Let me be clear about the scope. First, the explanation depends on the fidelity of the LightGBM surrogate; it is not a direct mechanism of the K-Means geometry. Second, the approach is limited to tabular data. Third, and most important for what follows, it is single-level: it cannot yet handle consistency across levels, meaning it cannot explain how feature importance changes between a partition and its sub-partitions. And the surrogate plus representative-instance reporting smooths out some variation between single observations. These limits are the starting point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works as one well-founded lens for explaining an unsupervised partition, and that keeping attribution in the original feature space is what makes it actionable. But real data are rarely single-level: broad groups contain nested sub-groups, and a variable can be globally important yet locally uninformative. That flat limitation directly motivates Contribution II: can the explanation logic be scaled to multi-level, large-scale clustering without losing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the second contribution: scaling the explanation logic to multi-level, large-scale clustering. It answers RQ2, and the central concern is not only scale but several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asks whether the C1 logic survives scale and hierarchy. Large real-world data contain structure at more than one level of detail: broad groups at the top, nested sub-groups inside them. A variable can be globally important yet locally uninformative, or the reverse, so a flat explanation is true but incomplete: it cannot show how importance changes as you zoom in. The chapter adds three things. First, a truly multi-level workflow, not a rerun of the single-level pipeline. Second, a formal cross-level consistency argument, Proposition 6.1, so that differences across levels can be interpreted rather than ruled out as inconsistency. Third, validation on a very different large-scale dataset, Beijing air quality, to test whether the method generalises beyond the small, correlated wine dataset.</a:t>
            </a:r>
          </a:p>
          <a:p/>
          <a:p>
            <a:r>
              <a:t>RQ2 asks whether the C1 logic survives scale and hierarchy while staying feasible and consistent, and it breaks down into three objectives. O1 is a truly multi-level workflow: coarse clustering at the top and nested sub-groups inside, so that attribution stays readable inside a cluster, across sub-clusters, and across the levels. O2 is a formal cross-level consistency argument, Proposition 6.1, so that differences across levels can be interpreted rather than ruled out as inconsistency. O3 is an empirical check on generality: validation on a very different large-scale dataset, Beijing air quality, rather than the small, chemically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multi-level architecture works recursively: we learn a coarse clustering on the full dataset, then split each cluster again where it makes sense, which gives a nested structure. For each level we train a level-specific surrogate and compute SHAP values in the same original feature space. The cross-level aggregation is, on purpose, not a naive average: it respects cluster size and nesting structure. A parent-level attribution is an expectation over the explanations of its children, so a coarse-level importance reflects the size-weighted contributions of the clusters it contains. One methodological point: the hierarchy here is a practical analysis tool. I am not claiming the data have a true, natural hierarchy of levels; the nested structure is a computational and interpretive tool, and Proposition 6.1 is stated with that in mind.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6.1 is the mathematical heart of the contribution. Let Phi at level l, in cluster c, for feature j, be the expected absolute SHAP importance over the examples in that cluster, and let w sub c-prime be the relative size of a child cluster within its parent. For a strict nested hierarchy on a consistent feature space, the parent's expected absolute importance equals the sum over its children of the child's relative size times the child's expected absolute importance, plus a residual epsilon that comes from surrogate mismatch and vanishes under perfect fidelity. The derivation uses the law of total expectation and the fact that the children partition the parent. The key point: it does not claim explanations are identical across levels; it says differences can be interpreted rather than ruled out as inconsistency. That makes a multi-level explanation self-consistent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k-selection criteria agree much more strongly than on wine, and this is worth stressing. The full dataset clusters cleanly into k equal to three, with a Silhouette of about 0.63 and a Davies-Bouldin of about 0.55. Recall that this is where the 0.63 figure comes from: it belongs to Beijing, not to the wine partition, whose Silhouette is 0.144. The low Davies-Bouldin means the clusters rarely overlap. The PCA projection, using two components, is used only for visual inspection. I also tested sensitivity: the conclusions are robust to small changes in k, in the number of projection dimensions, and in the surrogate depth; only low-ranked variables shift. So the finding is not a side effect of one parameter choice.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is rich. The dominant features are temperature, dew point and pressure, followed by carbon monoxide, nitrogen dioxide, PM10 and PM2.5. It is striking that it is not only the pollutant concentrations that dominate. Weather variables play a central role in the structure, because temperature, dew point and pressure control dispersion, trapping and sunlight-driven chemistry. In other words, they set the atmospheric conditions under which pollution builds up. This is exactly the kind of insight that flat summaries often miss: a naive ranking of pollutant concentrations would overlook the fact that the weather is what sets the regime. It is a good example of why attribution in the original variable space is valuable.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force plots reveal three representative regimes, and this is where the interpretation becomes concrete. Regime A is a warm, sunlight-driven regime, where ozone, temperature and dew point stand out; this is typical of summer photochemical smog. Regime B is a wintertime smog regime, dominated by carbon monoxide, sulfur dioxide and particulate matter, with low wind speed limiting dispersion. Regime C is a comparatively clean-air regime, linked to favourable weather and weak pollutant signals. The value is not only in showing that these regimes exist; it is in showing which combinations of variables define each one. That is the actionable insight: an air-quality analyst can see the specific drivers of a given pollution episode and act on them.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payoff of the chapter, and the reason a flat explanation is not enough. At the coarse level, temperature and dew point dominate, because they separate the broad atmospheric regimes. Inside single clusters, the informative variables shift to carbon monoxide, sulfur dioxide, PM10, wind speed, pressure or ozone. This change is not a contradiction. It is exactly what a multi-level explanation should reveal. The parent-level story is regime selection; the cluster-level story is variation within a regime. A variable can be globally important yet locally uninformative inside a sub-cluster. Proposition 6.1 lets us read these shifts as meaningful structure rather than noise; a flat, single-level explanation would present them as a conflict, whereas our framework makes them consistent.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works on both a small, dense, chemically correlated dataset and a large, noisy, environmental one, which supports the generality of the approach. It is not tied to one special property of wine chemistry. I also compared against the SHAP-based clustering literature: our Beijing partition reaches a Silhouette of about 0.63, whereas Gramegna and Giudici, working on credit-risk data, report around 0.37. Against LIME, we see weaker consistency across levels and less stable local stories for multi-level reasoning. I want to be careful here: these are comparative observations rather than a full benchmark, but they support the claim that a cooperative-attribution approach produces more structured, more consistent explanations for multi-level clustering.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RQ2 directly: yes, within bounds. Shapley-based clustering explanation can scale to multi-level, large-scale settings without losing consistency, provided the hierarchy is modelled explicitly and the approximation is transparent. O1 is met: we obtain a multi-level explanation that does not collapse into a single flat summary. O2 is met: Proposition 6.1 gives a formal cross-level consistency argument, so the regime-level and cluster-level stories do not conflict. O3 is met: the approach validates on Beijing air quality, a large, noisy dataset that varies over time, which supports generality. The honest bound is that the model is still an explanation of a pre-computed partition; it does not yet influence learning itself. That is the bridge to Contribution III.</a:t>
            </a:r>
          </a:p>
          <a:p/>
          <a:p>
            <a:r>
              <a:t>C2 answers RQ2 with a yes. The key findings are four. The explanation scales to a multi-level structure without collapsing into a single flat summary, because the hierarchy is modelled explicitly rather than flattened. Proposition 6.1 provides a formal cross-level consistency argument, so that differences across levels can be read as meaningful structure rather than ruled out as noise. The approach generalises to a very different large-scale dataset, Beijing air quality, which is far noisier and changes far more over time than the small correlated wine data. And the method produces parent-level regime-selection stories together with cluster-level, within-regime variation.</a:t>
            </a:r>
          </a:p>
          <a:p/>
          <a:p>
            <a:r>
              <a:t>The limitations are just as clear. The clustering stays static even though the Beijing data are temporal, so the dynamics are not used. The surrogate-based SHAP plus representative-instance reporting smooths out variation between single observations, so some richness is lost. The whole approach is limited to tabular data. And, most important for what follows, the model is still an explanation of a pre-computed partition: it does not yet influence learning itself. This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stays consistent across levels of detail, provided the hierarchy is made explicit. Explanations become interpretable at scale, not only for a single flat partition, which is exactly where the literature was weakest. But the attribution is still post-hoc: it explains a partition that was already computed, and it never influences how the model learns. That is the limit that motivates Contribution III: can cooperative attribution move beyond explanation and become part of how a recommender learns?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main contribution introduces DyHuCoG, a Dynamic Hypergraph Cooperative Game, where Shapley attribution becomes an in-training signal inside a hypergraph recommender rather than a post-hoc explanation. It answers RQ3 and RQ4.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is the flagship contribution and the conceptual shift of the whole thesis. The gap is that graph and hypergraph recommenders treat message importance as either uniform or attention-weighted, with no well-founded account of marginal contribution. Diversity is usually a secondary goal or a re-ranking heuristic, not part of the core learning problem; and interpretability is added after prediction rather than built into the objective. Our objectives are three: formulate recommendation as a cooperative game in which users, items and contexts are players; embed preference-aware Monte Carlo Shapley estimates into hypergraph message passing so that attribution directly shapes how information flows; and improve ranking accuracy, coverage and intra-list diversity together. The strongest claim is not that we explain a recommender; it is that attribution becomes an in-training signal.</a:t>
            </a:r>
          </a:p>
          <a:p/>
          <a:p>
            <a:r>
              <a:t>C3 answers RQ3 and RQ4 together, and it is the conceptual shift of the thesis. RQ3 asks whether cooperative attribution can move beyond post-hoc explanation and become part of how a graph recommender learns. RQ4 asks whether a recommender can improve ranking accuracy, context and diversity at the same time when importance is estimated by a cooperative-game utility. Both map to three objectives. O1 is to formulate recommendation as a cooperative game in which users, items and contexts are players. O2 is to embed preference-aware Monte Carlo Shapley estimates into hypergraph message passing, so attribution directly shapes how information flows. O3 is to improve ranking, coverage and intra-list diversity together, not one at the expense of another.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model recommendation as a cooperative game whose players are users, items and contexts. The hypergraph has vertices drawn from this same set, and hyperedges encode user-item-context interactions, with dynamic edge weights derived from Shapley estimates. A coalition is the set of entities taking part in a recommendation episode, and the coalition value measures the quality of the recommendation that this coalition can achieve. The task is top-N recommendation: we produce a ranked list for a user that balances relevance, diversity and contextual fit. This mirrors the clustering formulation, but with a value function built for recommendation. That parallel is intended, and it is one of the thesis-level contributions: the same cooperative-game logic applies to both tasks.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coalition utility combines ranking quality, diversity and context: a weighted sum of NDCG at twenty, a diversity term and a context score, with weights summing to one. The key point is that this is the same trade-off the recommender must satisfy and also the trade-off from which attribution is computed, so the explanatory game and the predictive objective are aligned by design. We add a preference-consistency bonus proportional to the sum of user-item similarities in the coalition. Alpha, beta and gamma were grid-searched to 0.60, 0.25 and 0.15, with the preference coefficient at 0.20, and NDCG varies by under one and a half percent around that point. One honest boundary: coalition evaluation is limited to the interaction episode, a few dozen players, not the full catalogue.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computation is combinatorial and not feasible for a real recommender, so we use a Monte Carlo estimator that averages, over M sampled coalitions, the difference between the value with a player and the value without it; the preference-aware variant applies the same estimator to the preference-weighted utility. It is unbiased, with variance decaying as sigma squared over M, so the mean squared error goes as one over M and the absolute error as one over root M. We chose M equal to fifty: mean squared error about one point four times ten to the minus five, and roughly ninety-nine percent accuracy. Because preferences change, the estimates are refreshed every ten batches, about forty-nine updates per epoch, and smoothed with an exponential moving average, so attribution adapts without making training too sensitive to a single estimate.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The base propagation is standard hypergraph message passing; the Shapley-weighted version weights each message by a normalised Shapley coefficient, dividing by the sum of coefficients over the neighbourhood. I clip and exponentially smooth the estimates before normalising, which keeps the sparse setting stable. Layer fusion combines embeddings across layers with learned coefficients. On top of that, an interaction-level attention gate blends the Shapley-weighted score with the standard inner-product score, acting as a stabiliser; a context-aware score then adds a context term. The essential point is that the model is told not only who is connected to whom, but how much each coalition is worth, and that worth directly controls how information flows. That is what sets it apart from a post-hoc explainer.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composite loss combines four terms. The recommendation loss is Bayesian Personalised Ranking, a pairwise objective suited to implicit feedback. The diversity loss is an intra-list diversity regulariser that penalises redundant ranked lists. The context loss aligns the context embedding with the context-node representation. And the regularisation term is weight decay. Negatives are drawn from a popularity-aware distribution, with periodic hard-negative refresh, and optimisation uses Adam. The main point I want to make is alignment: the model is trained to optimise the same accuracy-diversity-context balance that later determines cooperative attribution. So the explanation is not a separate check; it is a direct read-out of the objective the model is already optimising. This is what makes the explanation faithful by design.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 would ask you to read it carefully because it shows ranking and diversity improving together. On MovieLens-1M, the strongest baseline HPCF reaches an NDCG at twenty of 0.2528 and a recall of 0.2098; DyHuCoG improves these to 0.2775 and 0.2362, plus nine point seven seven percent in NDCG and plus twelve point five eight percent in recall. At the same time, coverage rises from 0.342 to 0.397 and intra-list diversity from 0.461 to 0.516. On Amazon-Book, which is much sparser, the relative gains are larger: plus thirteen point three three percent NDCG and plus sixteen point one six percent recall, with coverage up by nearly thirty percent. The sparser the data, the larger the gain: exactly the pattern you would expect if Shapley-driven weighting is most valuable when the signal is weak.</a:t>
            </a:r>
          </a:p>
          <a:p/>
          <a:p>
            <a:r>
              <a:t>This slide sums up the relative gains over the strongest baseline, and the key message is that DyHuCoG improves ranking accuracy, coverage and diversity at the same time: it does not give up one for the others. The largest relative gains appear on the sparser Amazon-Book dataset, in line with the hypothesis that Shapley-guided weighting helps most exactly when interaction data are weak. Together these results are evidence that the accuracy-diversity trade-off, often treated as fixed by nature, can in fact be moved if attribution is handled as a first-class part of the learning objective. NDCG up, recall up, coverage up, diversity up: that combination is the core empirical claim of the third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levels of diversity improve. On MovieLens-1M, catalogue coverage rises from 0.342 to 0.397, a sixteen percent improvement, and intra-list diversity from 0.461 to 0.516, an eleven point nine percent improvement. On Amazon-Book, coverage rises from 0.259 to 0.336, nearly thirty percent, and intra-list diversity from 0.535 to 0.602. In practice this means a smaller filter-bubble effect and more discovery for the user. The point I want to stress: both diversity metrics improve while NDCG and recall also improve, so we are not trading accuracy for diversity. The model shows more of the catalogue, recommends less redundant lists, and ranks better at the same time. That is the strongest evidence that diversity is a real objective here, not a post-hoc re-ranking heuristic.</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ablation isolates each component, and every component contributes. The full model reaches 0.2775 NDCG at twenty on MovieLens-1M. Removing the Shapley value drops it to 0.2647, a four point six percent loss. Removing the hypergraph structure drops it to 0.2586, a six point eight percent loss. Removing the attention gate costs three point five percent. Removing context causes the largest single loss at eight point two percent, in line with context providing the basis on which Shapley weighting operates. Removing diversity costs five point eight percent. The same pattern holds on Amazon-Book, with context removal again the largest. The four to six percent drop when Shapley is removed supports the argument that marginal-contribution estimation is essential, not there for show.</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attribution cost is reasonable, and I report it openly because it matters for real use. On MovieLens-1M, DyHuCoG takes about two thousand seconds to train versus roughly eleven hundred for HPCF, about one point seven eight times. Inference is one point eight four milliseconds per query on MovieLens and eight point five two on Amazon, well within real-time requirements. Memory is slightly higher, four point four gigabytes versus four point one. The per-epoch cost scales with the number of layers, the embedding dimension and the Monte Carlo budget. On Shapley convergence, M equal to fifty gives ninety-nine percent accuracy, while M equal to one hundred gives ninety-nine point five with diminishing returns. So fifty is the right operating point, balancing accuracy against cost.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also checked that the improvements are statistically significant and large enough to matter. I ran paired t-tests on per-user NDCG at twenty across six thousand and forty users, comparing DyHuCoG against every baseline, with Holm-Bonferroni correction. Against HPCF, the t-statistic is 46.38, Cohen's d is 1.33, and the p-value is on the order of ten to the minus two hundred and seventy. The Wilcoxon signed-rank test is also significant at p less than 0.001. The effect sizes are large, and that matters: with six thousand users, even a tiny difference can look significant, so reporting the effect size shows the improvement is not only a large-sample effect. I should be careful about scope: these tabulated paired tests apply only to MovieLens-1M; the Amazon-Book results remain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DyHuCoG also improves the settings where recommenders are at their weakest: cold-start. For users with five or fewer interactions, NDCG at twenty is about 0.061, roughly ten percent over HPCF; for cold-start items about 0.057, a gain of roughly nine point six percent. Across datasets the improvement holds at plus nine point nine percent on MovieLens, plus fourteen point eight on Amazon, and plus eleven point eight on Yelp2018, which I use only as an extra robustness check. On interpretability, the model produces a SHAP waterfall that breaks a recommendation down into the same ranking, diversity, context and preference components used during training, so the explanation is faithful by design rather than an outside approximation. And Shapley measures marginal utility rather than raw frequency, so weak but informative interactions keep their influence, which reduces popularity bias.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RQ3 and RQ4 directly: yes. RQ3 gets a yes because attribution is no longer a post-hoc check but an in-training signal that directly shapes message passing. RQ4 gets a yes because ranking, coverage and diversity improve together rather than trading against each other. Each objective is met. O1: recommendation is formulated as a cooperative game with users, items and contexts as players. O2: preference-aware Monte Carlo Shapley is embedded into hypergraph message passing. O3: we gain about nine point nine percent on MovieLens and fourteen point eight percent on Amazon, with higher coverage and diversity. The strongest claim is that the explanation is faithful by design, because it reads out the same components the model already optimises. Within the stated limits, compute overhead, dependence on context, and the early-2026 baseline set, the claim stands.</a:t>
            </a:r>
          </a:p>
          <a:p/>
          <a:p>
            <a:r>
              <a:t>C3 answers RQ3 and RQ4, and makes the strongest claim of the thesis. Cooperative attribution can move beyond post-hoc analysis and become part of how a recommender learns, letting it balance accuracy, diversity and context more effectively. The key findings are that ranking, coverage and diversity improve together, NDCG, recall, coverage and intra-list diversity all rise on both datasets, so the accuracy-diversity trade-off is not fixed by nature. The largest gains appear on the sparsest data, Amazon-Book, exactly the setting where Shapley-driven weighting is most valuable, and the improvement is statistically large against the strongest baseline.</a:t>
            </a:r>
          </a:p>
          <a:p/>
          <a:p>
            <a:r>
              <a:t>The limitations must be stated honestly. There is a measurable compute overhead, roughly one point seven eight times the training time of the strongest baseline, HPCF. The method depends on having meaningful context available. The Monte Carlo Shapley estimator could be improved by variance reduction. The ablation removes one component at a time, so it does not test combinations. And the baselines were fixed in early 2026, so I claim superiority only against the tested baselines. Within those bounds,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the conceptual shift of the thesis. Attribution is a first-class part of the learning objective, not a post-hoc check, and the explanation is a direct read-out of the objective the model already optimises. That is what makes it faithful by design rather than an outside approximation. And because Shapley values rest on four clear axioms, this view fits well with the transparency and accountability requirements of new AI regulation. This is the central claim worth defending: explanation should be part of the model itself.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bring everything together. I will present a synthesis of the three contributions, the published papers, the honest limitations, the future directions, and finally a clear statement of the thesis answer.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The synthesis table shows how each contribution builds on the previous one. C1 makes hidden structure easy to understand: it introduces a Shapley-based pipeline that explains black-box clustering faithfully, with faithful, chemistry-consistent cluster attribution on wine. C2 keeps that explanation consistent at scale and across levels: it introduces cross-level SHAP aggregation and Proposition 6.1, and shows that differences between levels can be interpreted rather than ruled out as inconsistency. C3 carries the same attribution logic inside the learning of a recommender, using preference-aware Shapley as an in-training signal, so that accuracy, coverage and diversity improve together. The common thread is that cooperative attribution is a single mechanism used for explanation, for interpretation and for optimisation, not three unrelated tools.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brings together three peer-reviewed publications, and it is worth mapping them to the chapters. Paper I, on Shapley values for explaining the black-box nature of machine-learning model clustering, is published in Procedia Computer Science in 2023 and corresponds to Chapter five. Paper II, on game theory meeting explainable AI for understanding black-box models, is published in IJACSA in 2025 and corresponds to Chapter six. Paper III, DyHuCoG, is published in IJIES in 2026 and corresponds to Chapter seven. What the thesis adds on top of the three papers is the multi-level formalisation, the cross-chapter comparisons, and the explicit mapping to the five research questions. In other words, the thesis is one argument that builds up, not only a bound collection of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state the limitations honestly. On computation, exact Shapley is not feasible, so every contribution relies on approximation, surrogates, or limited reporting. On method, the clustering chapters depend on surrogate fidelity, and the recommendation results depend on stable approximate contributions and meaningful context. On experiments, the clustering work is limited to tabular data and the recommendation work is offline: no multimodal, sequential or online setting, and no dedicated user study of actionability. And on the claim itself, I want to be exact. I am not claiming one fully unified framework that removes all tension between accuracy and interpretability; I am claiming a shared view, a common attribution language, that is consistent and productive across the three tasks. That is the honest boundary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 limitations into a concrete agenda. First, scalable cooperative attribution: lower-variance Shapley estimators, learned proposal distributions, and adaptive refresh rules, to close the compute gap. Second, online and streaming recommendation: truly incremental settings with graphs that keep changing and delayed feedback, which would also address the static-graph limitation. Third, richer user-centred evaluation: I would like to test whether these explanations measurably improve analyst judgement, user trust, quality of action, or perceived fairness, which is the natural test of the actionable part of my definition. Fourth, broader trustworthy-AI and fairness evaluation: exposure fairness, transparency requirements, and auditing for governance, which connects the work to the EU AI Act, the OECD principles and the GDPR.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thesis answer is that cooperative game theory can serve as a shared methodological view for actionable explanation across clustering and recommendation. The key outcomes are four. Shapley attribution provides a common formal language for assigning importance to features, interactions and contexts. It gives faithful clustering explanation, consistent multi-level explanation, and contribution-aware recommendation learning. And most important, it moves explanation from a comment added later to a method: from post-hoc description to in-training guidance. Because Shapley values rest on four clear axioms, this view fits well with the transparency and accountability requirements of new AI regulation. I believe this is the central claim worth defending: that explanation should be part of the model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behind the thesis: my three peer-reviewed papers (R1 to R3), the SHAP and Shapley foundations (R4 to R6), the closest clustering-explanation and hypergraph-learning literature (R7 and R8), and the regulation that motivates actionable explanation (R9). I kept the list short and solid rather than exhaustive, so each entry is one I can defend in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now happy to take your questions and comments; I will do my best to answer them directly, and I am happy to go deeper into any part of the methodology, the mathematics, or the experimental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1.png"/><Relationship Id="rId4"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2.xml"/><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 Id="rId4" Type="http://schemas.openxmlformats.org/officeDocument/2006/relationships/image" Target="../media/image5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 Id="rId4"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3.xml"/><Relationship Id="rId4" Type="http://schemas.openxmlformats.org/officeDocument/2006/relationships/image" Target="../media/image59.png"/><Relationship Id="rId5" Type="http://schemas.openxmlformats.org/officeDocument/2006/relationships/image" Target="../media/image6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4.xml"/><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1.xml"/><Relationship Id="rId4" Type="http://schemas.openxmlformats.org/officeDocument/2006/relationships/image" Target="../media/image3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4.xml"/><Relationship Id="rId4" Type="http://schemas.openxmlformats.org/officeDocument/2006/relationships/image" Target="../media/image64.png"/><Relationship Id="rId5" Type="http://schemas.openxmlformats.org/officeDocument/2006/relationships/image" Target="../media/image6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5.xml"/><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image" Target="../media/image69.png"/><Relationship Id="rId8" Type="http://schemas.openxmlformats.org/officeDocument/2006/relationships/image" Target="../media/image70.png"/><Relationship Id="rId9" Type="http://schemas.openxmlformats.org/officeDocument/2006/relationships/image" Target="../media/image7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6.xml"/><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7.xml"/><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 Id="rId9" Type="http://schemas.openxmlformats.org/officeDocument/2006/relationships/image" Target="../media/image8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8.xml"/><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2.xml"/><Relationship Id="rId4" Type="http://schemas.openxmlformats.org/officeDocument/2006/relationships/image" Target="../media/image8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 Id="rId4" Type="http://schemas.openxmlformats.org/officeDocument/2006/relationships/image" Target="../media/image88.png"/><Relationship Id="rId5" Type="http://schemas.openxmlformats.org/officeDocument/2006/relationships/image" Target="../media/image89.png"/><Relationship Id="rId6" Type="http://schemas.openxmlformats.org/officeDocument/2006/relationships/image" Target="../media/image9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6.png"/><Relationship Id="rId4" Type="http://schemas.openxmlformats.org/officeDocument/2006/relationships/image" Target="../media/image33.png"/><Relationship Id="rId5" Type="http://schemas.openxmlformats.org/officeDocument/2006/relationships/notesSlide" Target="../notesSlides/notesSlide64.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502920"/>
            <a:ext cx="1318393" cy="960120"/>
          </a:xfrm>
          <a:prstGeom prst="rect">
            <a:avLst/>
          </a:prstGeom>
        </p:spPr>
      </p:pic>
      <p:pic>
        <p:nvPicPr>
          <p:cNvPr id="3" name="Picture 2" descr="ministry_logo.png"/>
          <p:cNvPicPr>
            <a:picLocks noChangeAspect="1"/>
          </p:cNvPicPr>
          <p:nvPr/>
        </p:nvPicPr>
        <p:blipFill>
          <a:blip r:embed="rId3"/>
          <a:stretch>
            <a:fillRect/>
          </a:stretch>
        </p:blipFill>
        <p:spPr>
          <a:xfrm>
            <a:off x="7955280" y="411480"/>
            <a:ext cx="2253893" cy="1188720"/>
          </a:xfrm>
          <a:prstGeom prst="rect">
            <a:avLst/>
          </a:prstGeom>
        </p:spPr>
      </p:pic>
      <p:pic>
        <p:nvPicPr>
          <p:cNvPr id="4" name="Picture 3" descr="ensias_logo.jpg"/>
          <p:cNvPicPr>
            <a:picLocks noChangeAspect="1"/>
          </p:cNvPicPr>
          <p:nvPr/>
        </p:nvPicPr>
        <p:blipFill>
          <a:blip r:embed="rId4"/>
          <a:stretch>
            <a:fillRect/>
          </a:stretch>
        </p:blipFill>
        <p:spPr>
          <a:xfrm>
            <a:off x="15750540" y="457200"/>
            <a:ext cx="1486688" cy="1051560"/>
          </a:xfrm>
          <a:prstGeom prst="rect">
            <a:avLst/>
          </a:prstGeom>
        </p:spPr>
      </p:pic>
      <p:sp>
        <p:nvSpPr>
          <p:cNvPr id="5" name="TextBox 4"/>
          <p:cNvSpPr txBox="1"/>
          <p:nvPr/>
        </p:nvSpPr>
        <p:spPr>
          <a:xfrm>
            <a:off x="1028700" y="1691640"/>
            <a:ext cx="16230600" cy="3657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2286000"/>
            <a:ext cx="16230600" cy="365760"/>
          </a:xfrm>
          <a:prstGeom prst="rect">
            <a:avLst/>
          </a:prstGeom>
          <a:noFill/>
        </p:spPr>
        <p:txBody>
          <a:bodyPr anchor="t" rtlCol="false" lIns="0" tIns="0" rIns="0" bIns="0" wrap="square"/>
          <a:lstStyle/>
          <a:p>
            <a:pPr algn="ctr">
              <a:lnSpc>
                <a:spcPts val="2200"/>
              </a:lnSpc>
              <a:spcBef>
                <a:spcPts val="0"/>
              </a:spcBef>
              <a:buNone/>
            </a:pPr>
            <a:r>
              <a:rPr lang="en-US" sz="1600" b="true" spc="200">
                <a:solidFill>
                  <a:srgbClr val="DF8330"/>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697480"/>
            <a:ext cx="16230600" cy="2377440"/>
          </a:xfrm>
          <a:prstGeom prst="rect">
            <a:avLst/>
          </a:prstGeom>
          <a:noFill/>
        </p:spPr>
        <p:txBody>
          <a:bodyPr anchor="t" rtlCol="false" lIns="0" tIns="0" rIns="0" bIns="0" wrap="square"/>
          <a:lstStyle/>
          <a:p>
            <a:pPr algn="ctr">
              <a:lnSpc>
                <a:spcPts val="7000"/>
              </a:lnSpc>
              <a:spcBef>
                <a:spcPts val="0"/>
              </a:spcBef>
              <a:buNone/>
            </a:pPr>
            <a:r>
              <a:rPr lang="en-US" sz="6400" b="true" spc="-350">
                <a:solidFill>
                  <a:srgbClr val="111111"/>
                </a:solidFill>
                <a:latin typeface="Roca Two Bold"/>
                <a:ea typeface="Roca Two Bold"/>
                <a:cs typeface="Roca Two Bold"/>
                <a:sym typeface="Roca Two Bold"/>
              </a:rPr>
              <a:t>Cooperative Game Theory for</a:t>
            </a:r>
          </a:p>
          <a:p>
            <a:pPr algn="ctr">
              <a:lnSpc>
                <a:spcPts val="7000"/>
              </a:lnSpc>
              <a:spcBef>
                <a:spcPts val="0"/>
              </a:spcBef>
              <a:buNone/>
            </a:pPr>
            <a:r>
              <a:rPr lang="en-US" sz="6400" b="true" spc="-35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4800600"/>
            <a:ext cx="16230600" cy="548640"/>
          </a:xfrm>
          <a:prstGeom prst="rect">
            <a:avLst/>
          </a:prstGeom>
          <a:noFill/>
        </p:spPr>
        <p:txBody>
          <a:bodyPr anchor="t" rtlCol="false" lIns="0" tIns="0" rIns="0" bIns="0" wrap="square"/>
          <a:lstStyle/>
          <a:p>
            <a:pPr algn="ctr">
              <a:lnSpc>
                <a:spcPts val="3600"/>
              </a:lnSpc>
              <a:spcBef>
                <a:spcPts val="0"/>
              </a:spcBef>
              <a:buNone/>
            </a:pPr>
            <a:r>
              <a:rPr lang="en-US" sz="3000" b="true" spc="-12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33420" y="2560320"/>
            <a:ext cx="640080" cy="581346"/>
          </a:xfrm>
          <a:prstGeom prst="rect">
            <a:avLst/>
          </a:prstGeom>
        </p:spPr>
      </p:pic>
      <p:pic>
        <p:nvPicPr>
          <p:cNvPr id="10" name="Picture 9" descr="image.png"/>
          <p:cNvPicPr>
            <a:picLocks noChangeAspect="1"/>
          </p:cNvPicPr>
          <p:nvPr/>
        </p:nvPicPr>
        <p:blipFill>
          <a:blip r:embed="rId6"/>
          <a:stretch>
            <a:fillRect/>
          </a:stretch>
        </p:blipFill>
        <p:spPr>
          <a:xfrm rot="1200000">
            <a:off x="1120140" y="4480560"/>
            <a:ext cx="502920" cy="276082"/>
          </a:xfrm>
          <a:prstGeom prst="rect">
            <a:avLst/>
          </a:prstGeom>
        </p:spPr>
      </p:pic>
      <p:sp>
        <p:nvSpPr>
          <p:cNvPr id="11" name="Rounded Rectangle 10"/>
          <p:cNvSpPr/>
          <p:nvPr/>
        </p:nvSpPr>
        <p:spPr>
          <a:xfrm>
            <a:off x="2377440" y="5715000"/>
            <a:ext cx="6583680" cy="1051560"/>
          </a:xfrm>
          <a:prstGeom prst="roundRect">
            <a:avLst>
              <a:gd name="adj" fmla="val 26086"/>
            </a:avLst>
          </a:prstGeom>
          <a:solidFill>
            <a:srgbClr val="124944"/>
          </a:solidFill>
          <a:ln>
            <a:noFill/>
          </a:ln>
        </p:spPr>
        <p:txBody>
          <a:bodyPr anchor="ctr" rtlCol="false" lIns="91440" tIns="45720" rIns="91440" bIns="45720" wrap="square"/>
          <a:lstStyle/>
          <a:p>
            <a:pPr algn="ctr">
              <a:lnSpc>
                <a:spcPts val="1600"/>
              </a:lnSpc>
              <a:spcBef>
                <a:spcPts val="0"/>
              </a:spcBef>
              <a:buNone/>
            </a:pPr>
            <a:r>
              <a:rPr lang="en-US" sz="1300" b="true" spc="150">
                <a:solidFill>
                  <a:srgbClr val="ECC665"/>
                </a:solidFill>
                <a:latin typeface="Nunito Ultra-Bold"/>
                <a:ea typeface="Nunito Ultra-Bold"/>
                <a:cs typeface="Nunito Ultra-Bold"/>
                <a:sym typeface="Nunito Ultra-Bold"/>
              </a:rPr>
              <a:t>PRESENTED BY</a:t>
            </a:r>
          </a:p>
          <a:p>
            <a:pPr algn="ctr">
              <a:lnSpc>
                <a:spcPts val="3200"/>
              </a:lnSpc>
              <a:spcBef>
                <a:spcPts val="300"/>
              </a:spcBef>
              <a:buNone/>
            </a:pPr>
            <a:r>
              <a:rPr lang="en-US" sz="27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5715000"/>
            <a:ext cx="6583680" cy="1051560"/>
          </a:xfrm>
          <a:prstGeom prst="roundRect">
            <a:avLst>
              <a:gd name="adj" fmla="val 26086"/>
            </a:avLst>
          </a:prstGeom>
          <a:solidFill>
            <a:srgbClr val="F6ECDF"/>
          </a:solidFill>
          <a:ln>
            <a:no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SUPERVISED BY</a:t>
            </a:r>
          </a:p>
          <a:p>
            <a:pPr algn="ctr">
              <a:lnSpc>
                <a:spcPts val="2800"/>
              </a:lnSpc>
              <a:spcBef>
                <a:spcPts val="300"/>
              </a:spcBef>
              <a:buNone/>
            </a:pPr>
            <a:r>
              <a:rPr lang="en-US" sz="23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7086600"/>
            <a:ext cx="16230600" cy="320040"/>
          </a:xfrm>
          <a:prstGeom prst="rect">
            <a:avLst/>
          </a:prstGeom>
          <a:noFill/>
        </p:spPr>
        <p:txBody>
          <a:bodyPr anchor="t" rtlCol="false" lIns="0" tIns="0" rIns="0" bIns="0" wrap="square"/>
          <a:lstStyle/>
          <a:p>
            <a:pPr algn="ctr">
              <a:lnSpc>
                <a:spcPts val="1800"/>
              </a:lnSpc>
              <a:spcBef>
                <a:spcPts val="0"/>
              </a:spcBef>
              <a:buNone/>
            </a:pPr>
            <a:r>
              <a:rPr lang="en-US" sz="1400" b="true" spc="200">
                <a:solidFill>
                  <a:srgbClr val="8A8378"/>
                </a:solidFill>
                <a:latin typeface="Nunito Ultra-Bold"/>
                <a:ea typeface="Nunito Ultra-Bold"/>
                <a:cs typeface="Nunito Ultra-Bold"/>
                <a:sym typeface="Nunito Ultra-Bold"/>
              </a:rPr>
              <a:t>JURY MEMBERS</a:t>
            </a:r>
          </a:p>
        </p:txBody>
      </p:sp>
      <p:sp>
        <p:nvSpPr>
          <p:cNvPr id="14" name="Rounded Rectangle 13"/>
          <p:cNvSpPr/>
          <p:nvPr/>
        </p:nvSpPr>
        <p:spPr>
          <a:xfrm>
            <a:off x="1028700" y="7452360"/>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PRESIDENT</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15" name="Rounded Rectangle 14"/>
          <p:cNvSpPr/>
          <p:nvPr/>
        </p:nvSpPr>
        <p:spPr>
          <a:xfrm>
            <a:off x="6499860" y="7452360"/>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REVIEWER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16" name="Rounded Rectangle 15"/>
          <p:cNvSpPr/>
          <p:nvPr/>
        </p:nvSpPr>
        <p:spPr>
          <a:xfrm>
            <a:off x="11971020" y="7452360"/>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REVIEWER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17" name="Rounded Rectangle 16"/>
          <p:cNvSpPr/>
          <p:nvPr/>
        </p:nvSpPr>
        <p:spPr>
          <a:xfrm>
            <a:off x="1028700" y="8119872"/>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REVIEWER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18" name="Rounded Rectangle 17"/>
          <p:cNvSpPr/>
          <p:nvPr/>
        </p:nvSpPr>
        <p:spPr>
          <a:xfrm>
            <a:off x="6499860" y="8119872"/>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EXAMINER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19" name="Rounded Rectangle 18"/>
          <p:cNvSpPr/>
          <p:nvPr/>
        </p:nvSpPr>
        <p:spPr>
          <a:xfrm>
            <a:off x="11971020" y="8119872"/>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EXAMINER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20" name="Rounded Rectangle 19"/>
          <p:cNvSpPr/>
          <p:nvPr/>
        </p:nvSpPr>
        <p:spPr>
          <a:xfrm>
            <a:off x="1028700" y="8787384"/>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EXAMINER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21" name="Rounded Rectangle 20"/>
          <p:cNvSpPr/>
          <p:nvPr/>
        </p:nvSpPr>
        <p:spPr>
          <a:xfrm>
            <a:off x="6499860" y="8787384"/>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GUEST</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22" name="Rounded Rectangle 21"/>
          <p:cNvSpPr/>
          <p:nvPr/>
        </p:nvSpPr>
        <p:spPr>
          <a:xfrm>
            <a:off x="11971020" y="8787384"/>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SUPERVISOR</a:t>
            </a:r>
          </a:p>
          <a:p>
            <a:pPr algn="l">
              <a:lnSpc>
                <a:spcPts val="1900"/>
              </a:lnSpc>
              <a:spcBef>
                <a:spcPts val="100"/>
              </a:spcBef>
              <a:buNone/>
            </a:pPr>
            <a:r>
              <a:rPr lang="en-US" sz="1600" b="true">
                <a:solidFill>
                  <a:srgbClr val="111111"/>
                </a:solidFill>
                <a:latin typeface="Nunito Bold"/>
                <a:ea typeface="Nunito Bold"/>
                <a:cs typeface="Nunito Bold"/>
                <a:sym typeface="Nunito Bold"/>
              </a:rPr>
              <a:t>Pr. Mohamed LAZAAR</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PES, ENSIAS · UM5 Rabat</a:t>
            </a:r>
          </a:p>
        </p:txBody>
      </p:sp>
      <p:sp>
        <p:nvSpPr>
          <p:cNvPr id="23" name="TextBox 22"/>
          <p:cNvSpPr txBox="1"/>
          <p:nvPr/>
        </p:nvSpPr>
        <p:spPr>
          <a:xfrm>
            <a:off x="1028700" y="9646920"/>
            <a:ext cx="16230600" cy="32004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6" name="TextBox 5"/>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7" name="Picture 6" descr="image.png"/>
          <p:cNvPicPr>
            <a:picLocks noChangeAspect="1"/>
          </p:cNvPicPr>
          <p:nvPr/>
        </p:nvPicPr>
        <p:blipFill>
          <a:blip r:embed="rId2"/>
          <a:stretch>
            <a:fillRect/>
          </a:stretch>
        </p:blipFill>
        <p:spPr>
          <a:xfrm>
            <a:off x="11612880" y="1554480"/>
            <a:ext cx="548640" cy="301180"/>
          </a:xfrm>
          <a:prstGeom prst="rect">
            <a:avLst/>
          </a:prstGeom>
        </p:spPr>
      </p:pic>
      <p:pic>
        <p:nvPicPr>
          <p:cNvPr id="8" name="Picture 7" descr="image.png"/>
          <p:cNvPicPr>
            <a:picLocks noChangeAspect="1"/>
          </p:cNvPicPr>
          <p:nvPr/>
        </p:nvPicPr>
        <p:blipFill>
          <a:blip r:embed="rId3"/>
          <a:stretch>
            <a:fillRect/>
          </a:stretch>
        </p:blipFill>
        <p:spPr>
          <a:xfrm rot="10800000">
            <a:off x="5943600" y="2651760"/>
            <a:ext cx="502920" cy="276082"/>
          </a:xfrm>
          <a:prstGeom prst="rect">
            <a:avLst/>
          </a:prstGeom>
        </p:spPr>
      </p:pic>
      <p:sp>
        <p:nvSpPr>
          <p:cNvPr id="9" name="TextBox 8"/>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Five parts  ·  each contribution follows the same structure: 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10" name="Rounded Rectangle 9"/>
          <p:cNvSpPr/>
          <p:nvPr/>
        </p:nvSpPr>
        <p:spPr>
          <a:xfrm>
            <a:off x="102870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Motivation · Actionable insight · Why XAI matters</a:t>
            </a:r>
          </a:p>
        </p:txBody>
      </p:sp>
      <p:sp>
        <p:nvSpPr>
          <p:cNvPr id="11" name="Rounded Rectangle 10"/>
          <p:cNvSpPr/>
          <p:nvPr/>
        </p:nvSpPr>
        <p:spPr>
          <a:xfrm>
            <a:off x="515493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Approaches · Limitations · Research questions</a:t>
            </a:r>
          </a:p>
        </p:txBody>
      </p:sp>
      <p:sp>
        <p:nvSpPr>
          <p:cNvPr id="12" name="Rounded Rectangle 11"/>
          <p:cNvSpPr/>
          <p:nvPr/>
        </p:nvSpPr>
        <p:spPr>
          <a:xfrm>
            <a:off x="928116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Datasets · Baselines · Metrics · Hardware</a:t>
            </a:r>
          </a:p>
        </p:txBody>
      </p:sp>
      <p:sp>
        <p:nvSpPr>
          <p:cNvPr id="13" name="Rounded Rectangle 12"/>
          <p:cNvSpPr/>
          <p:nvPr/>
        </p:nvSpPr>
        <p:spPr>
          <a:xfrm>
            <a:off x="1340739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Explainable black-box clustering (Wine)</a:t>
            </a:r>
          </a:p>
        </p:txBody>
      </p:sp>
      <p:sp>
        <p:nvSpPr>
          <p:cNvPr id="14" name="Rounded Rectangle 13"/>
          <p:cNvSpPr/>
          <p:nvPr/>
        </p:nvSpPr>
        <p:spPr>
          <a:xfrm>
            <a:off x="102870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Multi-level XAI for large-scale clustering (Beijing)</a:t>
            </a:r>
          </a:p>
        </p:txBody>
      </p:sp>
      <p:sp>
        <p:nvSpPr>
          <p:cNvPr id="15" name="Rounded Rectangle 14"/>
          <p:cNvSpPr/>
          <p:nvPr/>
        </p:nvSpPr>
        <p:spPr>
          <a:xfrm>
            <a:off x="5154930" y="667512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6" name="Rounded Rectangle 15"/>
          <p:cNvSpPr/>
          <p:nvPr/>
        </p:nvSpPr>
        <p:spPr>
          <a:xfrm>
            <a:off x="928116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Synthesis · Limitations · Future work</a:t>
            </a:r>
          </a:p>
        </p:txBody>
      </p:sp>
      <p:sp>
        <p:nvSpPr>
          <p:cNvPr id="17" name="Rounded Rectangle 16"/>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200"/>
              </a:lnSpc>
              <a:spcBef>
                <a:spcPts val="600"/>
              </a:spcBef>
              <a:buNone/>
            </a:pPr>
            <a:r>
              <a:rPr lang="en-US" sz="1800" b="true">
                <a:solidFill>
                  <a:srgbClr val="111111"/>
                </a:solidFill>
                <a:latin typeface="Nunito Bold"/>
                <a:ea typeface="Nunito Bold"/>
                <a:cs typeface="Nunito Bold"/>
                <a:sym typeface="Nunito Bold"/>
              </a:rPr>
              <a:t>Discussion with the jury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6" name="TextBox 5"/>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7" name="Oval 6"/>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9" name="TextBox 8"/>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Why explainability is a core requirement for recommender systems</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pic>
        <p:nvPicPr>
          <p:cNvPr id="8" name="Picture 7" descr="image.png"/>
          <p:cNvPicPr>
            <a:picLocks noChangeAspect="1"/>
          </p:cNvPicPr>
          <p:nvPr/>
        </p:nvPicPr>
        <p:blipFill>
          <a:blip r:embed="rId2"/>
          <a:stretch>
            <a:fillRect/>
          </a:stretch>
        </p:blipFill>
        <p:spPr>
          <a:xfrm>
            <a:off x="8592285" y="1673352"/>
            <a:ext cx="457200" cy="250983"/>
          </a:xfrm>
          <a:prstGeom prst="rect">
            <a:avLst/>
          </a:prstGeom>
        </p:spPr>
      </p:pic>
      <p:sp>
        <p:nvSpPr>
          <p:cNvPr id="9" name="Rounded Rectangle 8"/>
          <p:cNvSpPr/>
          <p:nvPr/>
        </p:nvSpPr>
        <p:spPr>
          <a:xfrm>
            <a:off x="1028700" y="2559050"/>
            <a:ext cx="171580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10" name="Rounded Rectangle 9"/>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11" name="Rounded Rectangle 10"/>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12" name="Rounded Rectangle 11"/>
          <p:cNvSpPr/>
          <p:nvPr/>
        </p:nvSpPr>
        <p:spPr>
          <a:xfrm>
            <a:off x="102870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13" name="Rounded Rectangle 12"/>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Everywhere</a:t>
            </a:r>
          </a:p>
        </p:txBody>
      </p:sp>
      <p:sp>
        <p:nvSpPr>
          <p:cNvPr id="14" name="TextBox 13"/>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Recommenders shape news, study, health and credit decisions; market &gt; $15B by 2029.</a:t>
            </a:r>
          </a:p>
        </p:txBody>
      </p:sp>
      <p:sp>
        <p:nvSpPr>
          <p:cNvPr id="15" name="Rounded Rectangle 14"/>
          <p:cNvSpPr/>
          <p:nvPr/>
        </p:nvSpPr>
        <p:spPr>
          <a:xfrm>
            <a:off x="654558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16" name="Rounded Rectangle 15"/>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The Black Box</a:t>
            </a:r>
          </a:p>
        </p:txBody>
      </p:sp>
      <p:sp>
        <p:nvSpPr>
          <p:cNvPr id="17" name="TextBox 16"/>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Deep &amp; graph models: hidden logic, hard to audit. EU AI Act: high-risk </a:t>
            </a:r>
            <a:r>
              <a:rPr lang="en-US" sz="1800" b="true">
                <a:solidFill>
                  <a:srgbClr val="CFDAD6"/>
                </a:solidFill>
                <a:latin typeface="Calibri"/>
                <a:ea typeface="Calibri"/>
                <a:cs typeface="Calibri"/>
                <a:sym typeface="Calibri"/>
              </a:rPr>
              <a:t>→ </a:t>
            </a:r>
            <a:r>
              <a:rPr lang="en-US" sz="1800" b="true">
                <a:solidFill>
                  <a:srgbClr val="CFDAD6"/>
                </a:solidFill>
                <a:latin typeface="Nunito Semi-Bold"/>
                <a:ea typeface="Nunito Semi-Bold"/>
                <a:cs typeface="Nunito Semi-Bold"/>
                <a:sym typeface="Nunito Semi-Bold"/>
              </a:rPr>
              <a:t>must explain.</a:t>
            </a:r>
          </a:p>
        </p:txBody>
      </p:sp>
      <p:sp>
        <p:nvSpPr>
          <p:cNvPr id="18" name="Rounded Rectangle 17"/>
          <p:cNvSpPr/>
          <p:nvPr/>
        </p:nvSpPr>
        <p:spPr>
          <a:xfrm>
            <a:off x="1206246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19" name="Rounded Rectangle 18"/>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Toward Trust</a:t>
            </a:r>
          </a:p>
        </p:txBody>
      </p:sp>
      <p:sp>
        <p:nvSpPr>
          <p:cNvPr id="20" name="TextBox 19"/>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Insight that is accountable, auditable and actionable, not just accurate.</a:t>
            </a:r>
          </a:p>
        </p:txBody>
      </p:sp>
      <p:sp>
        <p:nvSpPr>
          <p:cNvPr id="21" name="Rounded Rectangle 20"/>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pic>
        <p:nvPicPr>
          <p:cNvPr id="8" name="Picture 7" descr="image.png"/>
          <p:cNvPicPr>
            <a:picLocks noChangeAspect="1"/>
          </p:cNvPicPr>
          <p:nvPr/>
        </p:nvPicPr>
        <p:blipFill>
          <a:blip r:embed="rId2"/>
          <a:stretch>
            <a:fillRect/>
          </a:stretch>
        </p:blipFill>
        <p:spPr>
          <a:xfrm>
            <a:off x="9706798" y="1673352"/>
            <a:ext cx="457200" cy="415247"/>
          </a:xfrm>
          <a:prstGeom prst="rect">
            <a:avLst/>
          </a:prstGeom>
        </p:spPr>
      </p:pic>
      <p:sp>
        <p:nvSpPr>
          <p:cNvPr id="9" name="Rounded Rectangle 8"/>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10" name="Rounded Rectangle 9"/>
          <p:cNvSpPr/>
          <p:nvPr/>
        </p:nvSpPr>
        <p:spPr>
          <a:xfrm>
            <a:off x="2872521" y="2559050"/>
            <a:ext cx="254485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11" name="Rounded Rectangle 10"/>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12" name="TextBox 11"/>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sp>
        <p:nvSpPr>
          <p:cNvPr id="13" name="TextBox 12"/>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FROM EXPLANATION TO ACTION</a:t>
            </a:r>
          </a:p>
        </p:txBody>
      </p:sp>
      <p:sp>
        <p:nvSpPr>
          <p:cNvPr id="14" name="Rounded Rectangle 13"/>
          <p:cNvSpPr/>
          <p:nvPr/>
        </p:nvSpPr>
        <p:spPr>
          <a:xfrm>
            <a:off x="944118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15" name="Connector 14"/>
          <p:cNvCxnSpPr/>
          <p:nvPr/>
        </p:nvCxnSpPr>
        <p:spPr>
          <a:xfrm>
            <a:off x="11087100" y="5352542"/>
            <a:ext cx="381000" cy="0"/>
          </a:xfrm>
          <a:prstGeom prst="line">
            <a:avLst/>
          </a:prstGeom>
          <a:ln w="28575">
            <a:solidFill>
              <a:srgbClr val="124944"/>
            </a:solidFill>
            <a:tailEnd type="triangle" w="med" len="med"/>
          </a:ln>
        </p:spPr>
      </p:cxnSp>
      <p:sp>
        <p:nvSpPr>
          <p:cNvPr id="16" name="Rounded Rectangle 15"/>
          <p:cNvSpPr/>
          <p:nvPr/>
        </p:nvSpPr>
        <p:spPr>
          <a:xfrm>
            <a:off x="1151382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17" name="Connector 16"/>
          <p:cNvCxnSpPr/>
          <p:nvPr/>
        </p:nvCxnSpPr>
        <p:spPr>
          <a:xfrm>
            <a:off x="13159740" y="5352542"/>
            <a:ext cx="381000" cy="0"/>
          </a:xfrm>
          <a:prstGeom prst="line">
            <a:avLst/>
          </a:prstGeom>
          <a:ln w="28575">
            <a:solidFill>
              <a:srgbClr val="124944"/>
            </a:solidFill>
            <a:tailEnd type="triangle" w="med" len="med"/>
          </a:ln>
        </p:spPr>
      </p:cxnSp>
      <p:sp>
        <p:nvSpPr>
          <p:cNvPr id="18" name="Rounded Rectangle 17"/>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19" name="Connector 18"/>
          <p:cNvCxnSpPr/>
          <p:nvPr/>
        </p:nvCxnSpPr>
        <p:spPr>
          <a:xfrm>
            <a:off x="15232380" y="5352542"/>
            <a:ext cx="381000" cy="0"/>
          </a:xfrm>
          <a:prstGeom prst="line">
            <a:avLst/>
          </a:prstGeom>
          <a:ln w="28575">
            <a:solidFill>
              <a:srgbClr val="124944"/>
            </a:solidFill>
            <a:tailEnd type="triangle" w="med" len="med"/>
          </a:ln>
        </p:spPr>
      </p:cxnSp>
      <p:sp>
        <p:nvSpPr>
          <p:cNvPr id="20" name="Rounded Rectangle 19"/>
          <p:cNvSpPr/>
          <p:nvPr/>
        </p:nvSpPr>
        <p:spPr>
          <a:xfrm>
            <a:off x="15659100" y="4643882"/>
            <a:ext cx="1600200" cy="1417320"/>
          </a:xfrm>
          <a:prstGeom prst="roundRect">
            <a:avLst>
              <a:gd name="adj" fmla="val 12903"/>
            </a:avLst>
          </a:prstGeom>
          <a:solidFill>
            <a:srgbClr val="DF8330"/>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Action lever</a:t>
            </a:r>
          </a:p>
        </p:txBody>
      </p:sp>
      <p:cxnSp>
        <p:nvCxnSpPr>
          <p:cNvPr id="21" name="Connector 20"/>
          <p:cNvCxnSpPr/>
          <p:nvPr/>
        </p:nvCxnSpPr>
        <p:spPr>
          <a:xfrm>
            <a:off x="10241280" y="6106922"/>
            <a:ext cx="0" cy="365760"/>
          </a:xfrm>
          <a:prstGeom prst="line">
            <a:avLst/>
          </a:prstGeom>
          <a:ln w="28575">
            <a:solidFill>
              <a:srgbClr val="DF8330"/>
            </a:solidFill>
          </a:ln>
        </p:spPr>
      </p:cxnSp>
      <p:cxnSp>
        <p:nvCxnSpPr>
          <p:cNvPr id="22" name="Connector 21"/>
          <p:cNvCxnSpPr/>
          <p:nvPr/>
        </p:nvCxnSpPr>
        <p:spPr>
          <a:xfrm>
            <a:off x="10241280" y="6472682"/>
            <a:ext cx="6217920" cy="0"/>
          </a:xfrm>
          <a:prstGeom prst="line">
            <a:avLst/>
          </a:prstGeom>
          <a:ln w="28575">
            <a:solidFill>
              <a:srgbClr val="DF8330"/>
            </a:solidFill>
            <a:prstDash val="dash"/>
          </a:ln>
        </p:spPr>
      </p:cxnSp>
      <p:cxnSp>
        <p:nvCxnSpPr>
          <p:cNvPr id="23" name="Connector 22"/>
          <p:cNvCxnSpPr/>
          <p:nvPr/>
        </p:nvCxnSpPr>
        <p:spPr>
          <a:xfrm>
            <a:off x="16459200" y="6106922"/>
            <a:ext cx="0" cy="365760"/>
          </a:xfrm>
          <a:prstGeom prst="line">
            <a:avLst/>
          </a:prstGeom>
          <a:ln w="28575">
            <a:solidFill>
              <a:srgbClr val="DF8330"/>
            </a:solidFill>
          </a:ln>
        </p:spPr>
      </p:cxnSp>
      <p:sp>
        <p:nvSpPr>
          <p:cNvPr id="24" name="TextBox 23"/>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Actionable</a:t>
            </a:r>
            <a:r>
              <a:rPr lang="en-US" sz="1800" b="true">
                <a:solidFill>
                  <a:srgbClr val="DF8330"/>
                </a:solidFill>
                <a:latin typeface="Nunito Semi-Bold"/>
                <a:ea typeface="Nunito Semi-Bold"/>
                <a:cs typeface="Nunito Semi-Bold"/>
                <a:sym typeface="Nunito Semi-Bold"/>
              </a:rPr>
              <a:t> = a real-world lever you can pull to change the outcome</a:t>
            </a:r>
          </a:p>
        </p:txBody>
      </p:sp>
      <p:sp>
        <p:nvSpPr>
          <p:cNvPr id="25" name="Rounded Rectangle 24"/>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26" name="Rounded Rectangle 25"/>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27" name="Rounded Rectangle 26"/>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pic>
        <p:nvPicPr>
          <p:cNvPr id="8" name="Picture 7" descr="image.png"/>
          <p:cNvPicPr>
            <a:picLocks noChangeAspect="1"/>
          </p:cNvPicPr>
          <p:nvPr/>
        </p:nvPicPr>
        <p:blipFill>
          <a:blip r:embed="rId2"/>
          <a:stretch>
            <a:fillRect/>
          </a:stretch>
        </p:blipFill>
        <p:spPr>
          <a:xfrm>
            <a:off x="5880294" y="1673352"/>
            <a:ext cx="457200" cy="452148"/>
          </a:xfrm>
          <a:prstGeom prst="rect">
            <a:avLst/>
          </a:prstGeom>
        </p:spPr>
      </p:pic>
      <p:sp>
        <p:nvSpPr>
          <p:cNvPr id="9" name="Rounded Rectangle 8"/>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10" name="Rounded Rectangle 9"/>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11" name="Rounded Rectangle 10"/>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12" name="TextBox 11"/>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EVOLUTION OF RECOMMENDER SYSTEMS</a:t>
            </a:r>
          </a:p>
        </p:txBody>
      </p:sp>
      <p:sp>
        <p:nvSpPr>
          <p:cNvPr id="13" name="Rounded Rectangle 12"/>
          <p:cNvSpPr/>
          <p:nvPr/>
        </p:nvSpPr>
        <p:spPr>
          <a:xfrm>
            <a:off x="102870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14" name="Connector 13"/>
          <p:cNvCxnSpPr/>
          <p:nvPr/>
        </p:nvCxnSpPr>
        <p:spPr>
          <a:xfrm>
            <a:off x="3415284" y="4438142"/>
            <a:ext cx="1033272" cy="0"/>
          </a:xfrm>
          <a:prstGeom prst="line">
            <a:avLst/>
          </a:prstGeom>
          <a:ln w="28575">
            <a:solidFill>
              <a:srgbClr val="124944"/>
            </a:solidFill>
            <a:tailEnd type="triangle" w="med" len="med"/>
          </a:ln>
        </p:spPr>
      </p:cxnSp>
      <p:sp>
        <p:nvSpPr>
          <p:cNvPr id="15" name="Rounded Rectangle 14"/>
          <p:cNvSpPr/>
          <p:nvPr/>
        </p:nvSpPr>
        <p:spPr>
          <a:xfrm>
            <a:off x="450342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16" name="Connector 15"/>
          <p:cNvCxnSpPr/>
          <p:nvPr/>
        </p:nvCxnSpPr>
        <p:spPr>
          <a:xfrm>
            <a:off x="6890004" y="4438142"/>
            <a:ext cx="1033272" cy="0"/>
          </a:xfrm>
          <a:prstGeom prst="line">
            <a:avLst/>
          </a:prstGeom>
          <a:ln w="28575">
            <a:solidFill>
              <a:srgbClr val="124944"/>
            </a:solidFill>
            <a:tailEnd type="triangle" w="med" len="med"/>
          </a:ln>
        </p:spPr>
      </p:cxnSp>
      <p:sp>
        <p:nvSpPr>
          <p:cNvPr id="17" name="Rounded Rectangle 16"/>
          <p:cNvSpPr/>
          <p:nvPr/>
        </p:nvSpPr>
        <p:spPr>
          <a:xfrm>
            <a:off x="797814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18" name="Connector 17"/>
          <p:cNvCxnSpPr/>
          <p:nvPr/>
        </p:nvCxnSpPr>
        <p:spPr>
          <a:xfrm>
            <a:off x="10364724" y="4438142"/>
            <a:ext cx="1033272" cy="0"/>
          </a:xfrm>
          <a:prstGeom prst="line">
            <a:avLst/>
          </a:prstGeom>
          <a:ln w="28575">
            <a:solidFill>
              <a:srgbClr val="124944"/>
            </a:solidFill>
            <a:tailEnd type="triangle" w="med" len="med"/>
          </a:ln>
        </p:spPr>
      </p:cxnSp>
      <p:sp>
        <p:nvSpPr>
          <p:cNvPr id="19" name="Rounded Rectangle 18"/>
          <p:cNvSpPr/>
          <p:nvPr/>
        </p:nvSpPr>
        <p:spPr>
          <a:xfrm>
            <a:off x="1145286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20" name="Connector 19"/>
          <p:cNvCxnSpPr/>
          <p:nvPr/>
        </p:nvCxnSpPr>
        <p:spPr>
          <a:xfrm>
            <a:off x="13839444" y="4438142"/>
            <a:ext cx="1033272" cy="0"/>
          </a:xfrm>
          <a:prstGeom prst="line">
            <a:avLst/>
          </a:prstGeom>
          <a:ln w="28575">
            <a:solidFill>
              <a:srgbClr val="124944"/>
            </a:solidFill>
            <a:tailEnd type="triangle" w="med" len="med"/>
          </a:ln>
        </p:spPr>
      </p:cxnSp>
      <p:sp>
        <p:nvSpPr>
          <p:cNvPr id="21" name="Rounded Rectangle 20"/>
          <p:cNvSpPr/>
          <p:nvPr/>
        </p:nvSpPr>
        <p:spPr>
          <a:xfrm>
            <a:off x="14927580" y="3866642"/>
            <a:ext cx="2331720" cy="1143000"/>
          </a:xfrm>
          <a:prstGeom prst="roundRect">
            <a:avLst>
              <a:gd name="adj" fmla="val 16000"/>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22" name="Connector 21"/>
          <p:cNvCxnSpPr/>
          <p:nvPr/>
        </p:nvCxnSpPr>
        <p:spPr>
          <a:xfrm>
            <a:off x="1028700" y="5283962"/>
            <a:ext cx="16230600" cy="0"/>
          </a:xfrm>
          <a:prstGeom prst="line">
            <a:avLst/>
          </a:prstGeom>
          <a:ln w="50800">
            <a:solidFill>
              <a:srgbClr val="DF8330"/>
            </a:solidFill>
            <a:tailEnd type="triangle" w="med" len="med"/>
          </a:ln>
        </p:spPr>
      </p:cxnSp>
      <p:sp>
        <p:nvSpPr>
          <p:cNvPr id="23" name="TextBox 22"/>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The interpretability gap grows:</a:t>
            </a:r>
            <a:r>
              <a:rPr lang="en-US" sz="1800" b="true">
                <a:solidFill>
                  <a:srgbClr val="DF8330"/>
                </a:solidFill>
                <a:latin typeface="Nunito Semi-Bold"/>
                <a:ea typeface="Nunito Semi-Bold"/>
                <a:cs typeface="Nunito Semi-Bold"/>
                <a:sym typeface="Nunito Semi-Bold"/>
              </a:rPr>
              <a:t> each step improved ranking, but replaced a hidden latent code with a hidden message-passing mechanism. Neither can be acted on.</a:t>
            </a:r>
          </a:p>
        </p:txBody>
      </p:sp>
      <p:sp>
        <p:nvSpPr>
          <p:cNvPr id="24" name="Rounded Rectangle 23"/>
          <p:cNvSpPr/>
          <p:nvPr/>
        </p:nvSpPr>
        <p:spPr>
          <a:xfrm>
            <a:off x="1028700" y="628980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25" name="Rounded Rectangle 24"/>
          <p:cNvSpPr/>
          <p:nvPr/>
        </p:nvSpPr>
        <p:spPr>
          <a:xfrm>
            <a:off x="1485900" y="6052058"/>
            <a:ext cx="351115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the gap matters</a:t>
            </a:r>
          </a:p>
        </p:txBody>
      </p:sp>
      <p:sp>
        <p:nvSpPr>
          <p:cNvPr id="26" name="TextBox 25"/>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580"/>
              </a:lnSpc>
              <a:spcBef>
                <a:spcPts val="0"/>
              </a:spcBef>
              <a:buClr>
                <a:srgbClr val="ECC665"/>
              </a:buClr>
              <a:buSzPct val="100000"/>
              <a:buFont typeface="Arial"/>
              <a:buChar char="•"/>
            </a:pPr>
            <a:r>
              <a:rPr lang="en-US" sz="1843" b="true">
                <a:solidFill>
                  <a:srgbClr val="FFFFFF"/>
                </a:solidFill>
                <a:latin typeface="Nunito Bold"/>
                <a:ea typeface="Nunito Bold"/>
                <a:cs typeface="Nunito Bold"/>
                <a:sym typeface="Nunito Bold"/>
              </a:rPr>
              <a:t>Weakens user trust:</a:t>
            </a:r>
            <a:r>
              <a:rPr lang="en-US" sz="1843" b="true">
                <a:solidFill>
                  <a:srgbClr val="FFFFFF"/>
                </a:solidFill>
                <a:latin typeface="Nunito Semi-Bold"/>
                <a:ea typeface="Nunito Semi-Bold"/>
                <a:cs typeface="Nunito Semi-Bold"/>
                <a:sym typeface="Nunito Semi-Bold"/>
              </a:rPr>
              <a:t> users see outputs without knowing why.</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Limits debugging</a:t>
            </a:r>
            <a:r>
              <a:rPr lang="en-US" sz="1843" b="true">
                <a:solidFill>
                  <a:srgbClr val="FFFFFF"/>
                </a:solidFill>
                <a:latin typeface="Nunito Semi-Bold"/>
                <a:ea typeface="Nunito Semi-Bold"/>
                <a:cs typeface="Nunito Semi-Bold"/>
                <a:sym typeface="Nunito Semi-Bold"/>
              </a:rPr>
              <a:t> and scientific learning.</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Conflicts with regulation:</a:t>
            </a:r>
            <a:r>
              <a:rPr lang="en-US" sz="1843" b="true">
                <a:solidFill>
                  <a:srgbClr val="FFFFFF"/>
                </a:solidFill>
                <a:latin typeface="Nunito Semi-Bold"/>
                <a:ea typeface="Nunito Semi-Bold"/>
                <a:cs typeface="Nunito Semi-Bold"/>
                <a:sym typeface="Nunito Semi-Bold"/>
              </a:rPr>
              <a:t> EU AI Act, OECD principles, GDPR.</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Semi-Bold"/>
                <a:ea typeface="Nunito Semi-Bold"/>
                <a:cs typeface="Nunito Semi-Bold"/>
                <a:sym typeface="Nunito Semi-Bold"/>
              </a:rPr>
              <a:t>EU AI Act (Art. 13): high-risk systems must provide explanations </a:t>
            </a:r>
            <a:r>
              <a:rPr lang="en-US" sz="1843" b="true">
                <a:solidFill>
                  <a:srgbClr val="FFFFFF"/>
                </a:solidFill>
                <a:latin typeface="Nunito Bold"/>
                <a:ea typeface="Nunito Bold"/>
                <a:cs typeface="Nunito Bold"/>
                <a:sym typeface="Nunito Bold"/>
              </a:rPr>
              <a:t>in human-understandable terms</a:t>
            </a:r>
            <a:r>
              <a:rPr lang="en-US" sz="1843" b="true">
                <a:solidFill>
                  <a:srgbClr val="FFFFFF"/>
                </a:solidFill>
                <a:latin typeface="Nunito Semi-Bold"/>
                <a:ea typeface="Nunito Semi-Bold"/>
                <a:cs typeface="Nunito Semi-Bold"/>
                <a:sym typeface="Nunito Semi-Bold"/>
              </a:rPr>
              <a:t>.</a:t>
            </a:r>
          </a:p>
        </p:txBody>
      </p:sp>
      <p:sp>
        <p:nvSpPr>
          <p:cNvPr id="27" name="Rounded Rectangle 26"/>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9784080" y="6052058"/>
            <a:ext cx="383778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29" name="TextBox 28"/>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Recommenders moved from similarity filters to </a:t>
            </a:r>
            <a:r>
              <a:rPr lang="en-US" sz="1786" b="true">
                <a:solidFill>
                  <a:srgbClr val="111111"/>
                </a:solidFill>
                <a:latin typeface="Nunito Bold"/>
                <a:ea typeface="Nunito Bold"/>
                <a:cs typeface="Nunito Bold"/>
                <a:sym typeface="Nunito Bold"/>
              </a:rPr>
              <a:t>representation learning on sparse, high-dimensional, changing data</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every message matters equally</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A well-founded attribution method is needed, and it should be </a:t>
            </a:r>
            <a:r>
              <a:rPr lang="en-US" sz="1786" b="true">
                <a:solidFill>
                  <a:srgbClr val="111111"/>
                </a:solidFill>
                <a:latin typeface="Nunito Bold"/>
                <a:ea typeface="Nunito Bold"/>
                <a:cs typeface="Nunito Bold"/>
                <a:sym typeface="Nunito Bold"/>
              </a:rPr>
              <a:t>part of the model itself</a:t>
            </a:r>
            <a:r>
              <a:rPr lang="en-US" sz="1786" b="true">
                <a:solidFill>
                  <a:srgbClr val="111111"/>
                </a:solidFill>
                <a:latin typeface="Nunito Semi-Bold"/>
                <a:ea typeface="Nunito Semi-Bold"/>
                <a:cs typeface="Nunito Semi-Bold"/>
                <a:sym typeface="Nunito Semi-Bold"/>
              </a:rPr>
              <a:t>, not an add-on.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pic>
        <p:nvPicPr>
          <p:cNvPr id="8" name="Picture 7" descr="image.png"/>
          <p:cNvPicPr>
            <a:picLocks noChangeAspect="1"/>
          </p:cNvPicPr>
          <p:nvPr/>
        </p:nvPicPr>
        <p:blipFill>
          <a:blip r:embed="rId2"/>
          <a:stretch>
            <a:fillRect/>
          </a:stretch>
        </p:blipFill>
        <p:spPr>
          <a:xfrm>
            <a:off x="12921990" y="1673352"/>
            <a:ext cx="457200" cy="617115"/>
          </a:xfrm>
          <a:prstGeom prst="rect">
            <a:avLst/>
          </a:prstGeom>
        </p:spPr>
      </p:pic>
      <p:sp>
        <p:nvSpPr>
          <p:cNvPr id="9" name="Rounded Rectangle 8"/>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10" name="Rounded Rectangle 9"/>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11" name="Rounded Rectangle 10"/>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12" name="Rounded Rectangle 11"/>
          <p:cNvSpPr/>
          <p:nvPr/>
        </p:nvSpPr>
        <p:spPr>
          <a:xfrm>
            <a:off x="1028700" y="3455162"/>
            <a:ext cx="5227320" cy="1874520"/>
          </a:xfrm>
          <a:prstGeom prst="roundRect">
            <a:avLst>
              <a:gd name="adj" fmla="val 14634"/>
            </a:avLst>
          </a:prstGeom>
          <a:solidFill>
            <a:srgbClr val="124944"/>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Streaming &amp; Video</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Netflix · Prime Video · YouTube</a:t>
            </a:r>
          </a:p>
        </p:txBody>
      </p:sp>
      <p:sp>
        <p:nvSpPr>
          <p:cNvPr id="13" name="Rounded Rectangle 12"/>
          <p:cNvSpPr/>
          <p:nvPr/>
        </p:nvSpPr>
        <p:spPr>
          <a:xfrm>
            <a:off x="6530340" y="3455162"/>
            <a:ext cx="5227320" cy="1874520"/>
          </a:xfrm>
          <a:prstGeom prst="roundRect">
            <a:avLst>
              <a:gd name="adj" fmla="val 14634"/>
            </a:avLst>
          </a:prstGeom>
          <a:solidFill>
            <a:srgbClr val="1E5F58"/>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Music</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Spotify · YouTube Music · Deezer</a:t>
            </a:r>
          </a:p>
        </p:txBody>
      </p:sp>
      <p:sp>
        <p:nvSpPr>
          <p:cNvPr id="14" name="Rounded Rectangle 13"/>
          <p:cNvSpPr/>
          <p:nvPr/>
        </p:nvSpPr>
        <p:spPr>
          <a:xfrm>
            <a:off x="12031980" y="3455162"/>
            <a:ext cx="5227320" cy="1874520"/>
          </a:xfrm>
          <a:prstGeom prst="roundRect">
            <a:avLst>
              <a:gd name="adj" fmla="val 14634"/>
            </a:avLst>
          </a:prstGeom>
          <a:solidFill>
            <a:srgbClr val="DF8330"/>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Shopping &amp; E-commerce</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Amazon · AliExpress · Noon</a:t>
            </a:r>
          </a:p>
        </p:txBody>
      </p:sp>
      <p:sp>
        <p:nvSpPr>
          <p:cNvPr id="15" name="Rounded Rectangle 14"/>
          <p:cNvSpPr/>
          <p:nvPr/>
        </p:nvSpPr>
        <p:spPr>
          <a:xfrm>
            <a:off x="1028700" y="5604002"/>
            <a:ext cx="5227320" cy="1874520"/>
          </a:xfrm>
          <a:prstGeom prst="roundRect">
            <a:avLst>
              <a:gd name="adj" fmla="val 14634"/>
            </a:avLst>
          </a:prstGeom>
          <a:solidFill>
            <a:srgbClr val="1E5F58"/>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Social &amp; Feeds</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TikTok · Instagram · LinkedIn</a:t>
            </a:r>
          </a:p>
        </p:txBody>
      </p:sp>
      <p:sp>
        <p:nvSpPr>
          <p:cNvPr id="16" name="Rounded Rectangle 15"/>
          <p:cNvSpPr/>
          <p:nvPr/>
        </p:nvSpPr>
        <p:spPr>
          <a:xfrm>
            <a:off x="6530340" y="5604002"/>
            <a:ext cx="5227320" cy="1874520"/>
          </a:xfrm>
          <a:prstGeom prst="roundRect">
            <a:avLst>
              <a:gd name="adj" fmla="val 14634"/>
            </a:avLst>
          </a:prstGeom>
          <a:solidFill>
            <a:srgbClr val="124944"/>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Maps &amp; Mobility</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Google Maps · Uber · Booking</a:t>
            </a:r>
          </a:p>
        </p:txBody>
      </p:sp>
      <p:sp>
        <p:nvSpPr>
          <p:cNvPr id="17" name="Rounded Rectangle 16"/>
          <p:cNvSpPr/>
          <p:nvPr/>
        </p:nvSpPr>
        <p:spPr>
          <a:xfrm>
            <a:off x="12031980" y="5604002"/>
            <a:ext cx="5227320" cy="1874520"/>
          </a:xfrm>
          <a:prstGeom prst="roundRect">
            <a:avLst>
              <a:gd name="adj" fmla="val 14634"/>
            </a:avLst>
          </a:prstGeom>
          <a:solidFill>
            <a:srgbClr val="DF8330"/>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Ads &amp; Search</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Google Ads · Bing · Meta</a:t>
            </a:r>
          </a:p>
        </p:txBody>
      </p:sp>
      <p:sp>
        <p:nvSpPr>
          <p:cNvPr id="18" name="Rounded Rectangle 17"/>
          <p:cNvSpPr/>
          <p:nvPr/>
        </p:nvSpPr>
        <p:spPr>
          <a:xfrm>
            <a:off x="1028700" y="7844282"/>
            <a:ext cx="16230600" cy="1555750"/>
          </a:xfrm>
          <a:prstGeom prst="roundRect">
            <a:avLst>
              <a:gd name="adj" fmla="val 17632"/>
            </a:avLst>
          </a:prstGeom>
          <a:solidFill>
            <a:srgbClr val="F6ECDF"/>
          </a:solidFill>
          <a:ln>
            <a:noFill/>
          </a:ln>
        </p:spPr>
        <p:txBody>
          <a:bodyPr anchor="ctr" rtlCol="false" lIns="548640" tIns="91440" rIns="548640" bIns="91440" wrap="square"/>
          <a:lstStyle/>
          <a:p>
            <a:pPr algn="ctr">
              <a:lnSpc>
                <a:spcPts val="2900"/>
              </a:lnSpc>
              <a:spcBef>
                <a:spcPts val="0"/>
              </a:spcBef>
              <a:buNone/>
            </a:pPr>
            <a:r>
              <a:rPr lang="en-US" sz="2200" b="true">
                <a:solidFill>
                  <a:srgbClr val="111111"/>
                </a:solidFill>
                <a:latin typeface="Nunito Semi-Bold"/>
                <a:ea typeface="Nunito Semi-Bold"/>
                <a:cs typeface="Nunito Semi-Bold"/>
                <a:sym typeface="Nunito Semi-Bold"/>
              </a:rPr>
              <a:t>AI recommendation shapes what </a:t>
            </a:r>
            <a:r>
              <a:rPr lang="en-US" sz="2200" b="true">
                <a:solidFill>
                  <a:srgbClr val="111111"/>
                </a:solidFill>
                <a:latin typeface="Nunito Bold"/>
                <a:ea typeface="Nunito Bold"/>
                <a:cs typeface="Nunito Bold"/>
                <a:sym typeface="Nunito Bold"/>
              </a:rPr>
              <a:t>billions</a:t>
            </a:r>
            <a:r>
              <a:rPr lang="en-US" sz="2200" b="true">
                <a:solidFill>
                  <a:srgbClr val="111111"/>
                </a:solidFill>
                <a:latin typeface="Nunito Semi-Bold"/>
                <a:ea typeface="Nunito Semi-Bold"/>
                <a:cs typeface="Nunito Semi-Bold"/>
                <a:sym typeface="Nunito Semi-Bold"/>
              </a:rPr>
              <a:t> see, buy and listen to every day. Each system is very </a:t>
            </a:r>
            <a:r>
              <a:rPr lang="en-US" sz="2200" b="true">
                <a:solidFill>
                  <a:srgbClr val="111111"/>
                </a:solidFill>
                <a:latin typeface="Nunito Bold"/>
                <a:ea typeface="Nunito Bold"/>
                <a:cs typeface="Nunito Bold"/>
                <a:sym typeface="Nunito Bold"/>
              </a:rPr>
              <a:t>accurate, yet a black box</a:t>
            </a:r>
            <a:r>
              <a:rPr lang="en-US" sz="2200" b="true">
                <a:solidFill>
                  <a:srgbClr val="111111"/>
                </a:solidFill>
                <a:latin typeface="Nunito Semi-Bold"/>
                <a:ea typeface="Nunito Semi-Bold"/>
                <a:cs typeface="Nunito Semi-Bold"/>
                <a:sym typeface="Nunito Semi-Bold"/>
              </a:rPr>
              <a:t>: its reasoning is hidden from the user. Everywhere, and hidden: that is </a:t>
            </a:r>
            <a:r>
              <a:rPr lang="en-US" sz="2200" b="true">
                <a:solidFill>
                  <a:srgbClr val="111111"/>
                </a:solidFill>
                <a:latin typeface="Nunito Bold"/>
                <a:ea typeface="Nunito Bold"/>
                <a:cs typeface="Nunito Bold"/>
                <a:sym typeface="Nunito Bold"/>
              </a:rPr>
              <a:t>exactly the gap this thesis targets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6" name="TextBox 5"/>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7" name="Oval 6"/>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9" name="TextBox 8"/>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The main approaches, their limitations and the five research questions</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&amp; Clustering Approaches</a:t>
            </a:r>
          </a:p>
        </p:txBody>
      </p:sp>
      <p:pic>
        <p:nvPicPr>
          <p:cNvPr id="8" name="Picture 7" descr="image.png"/>
          <p:cNvPicPr>
            <a:picLocks noChangeAspect="1"/>
          </p:cNvPicPr>
          <p:nvPr/>
        </p:nvPicPr>
        <p:blipFill>
          <a:blip r:embed="rId2"/>
          <a:stretch>
            <a:fillRect/>
          </a:stretch>
        </p:blipFill>
        <p:spPr>
          <a:xfrm>
            <a:off x="12587155" y="1673352"/>
            <a:ext cx="457200" cy="250983"/>
          </a:xfrm>
          <a:prstGeom prst="rect">
            <a:avLst/>
          </a:prstGeom>
        </p:spPr>
      </p:pic>
      <p:sp>
        <p:nvSpPr>
          <p:cNvPr id="9" name="Rounded Rectangle 8"/>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10" name="Rounded Rectangle 9"/>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11" name="Rounded Rectangle 10"/>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12" name="TextBox 11"/>
          <p:cNvSpPr txBox="1"/>
          <p:nvPr/>
        </p:nvSpPr>
        <p:spPr>
          <a:xfrm>
            <a:off x="1028700" y="3363722"/>
            <a:ext cx="795528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Collaborative filtering:</a:t>
            </a:r>
            <a:r>
              <a:rPr lang="en-US" sz="2100" b="true">
                <a:solidFill>
                  <a:srgbClr val="111111"/>
                </a:solidFill>
                <a:latin typeface="Nunito Semi-Bold"/>
                <a:ea typeface="Nunito Semi-Bold"/>
                <a:cs typeface="Nunito Semi-Bold"/>
                <a:sym typeface="Nunito Semi-Bold"/>
              </a:rPr>
              <a:t> users who behaved alike will like similar items (user- or item-based).</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Content-based:</a:t>
            </a:r>
            <a:r>
              <a:rPr lang="en-US" sz="2100" b="true">
                <a:solidFill>
                  <a:srgbClr val="111111"/>
                </a:solidFill>
                <a:latin typeface="Nunito Semi-Bold"/>
                <a:ea typeface="Nunito Semi-Bold"/>
                <a:cs typeface="Nunito Semi-Bold"/>
                <a:sym typeface="Nunito Semi-Bold"/>
              </a:rPr>
              <a:t> recommends items whose features match the user profile.</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both kinds of signal.</a:t>
            </a:r>
          </a:p>
          <a:p>
            <a:pPr algn="l" marL="274320" indent="-274320">
              <a:lnSpc>
                <a:spcPts val="3108"/>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Matrix factorisation:</a:t>
            </a:r>
            <a:r>
              <a:rPr lang="en-US" sz="2100" b="true">
                <a:solidFill>
                  <a:srgbClr val="111111"/>
                </a:solidFill>
                <a:latin typeface="Nunito Semi-Bold"/>
                <a:ea typeface="Nunito Semi-Bold"/>
                <a:cs typeface="Nunito Semi-Bold"/>
                <a:sym typeface="Nunito Semi-Bold"/>
              </a:rPr>
              <a:t> R ≈ PQ</a:t>
            </a:r>
            <a:r>
              <a:rPr lang="en-US" sz="2100" b="true" baseline="30000">
                <a:solidFill>
                  <a:srgbClr val="111111"/>
                </a:solidFill>
                <a:latin typeface="Nunito Semi-Bold"/>
                <a:ea typeface="Nunito Semi-Bold"/>
                <a:cs typeface="Nunito Semi-Bold"/>
                <a:sym typeface="Nunito Semi-Bold"/>
              </a:rPr>
              <a:t>T</a:t>
            </a:r>
            <a:r>
              <a:rPr lang="en-US" sz="2100" b="true">
                <a:solidFill>
                  <a:srgbClr val="111111"/>
                </a:solidFill>
                <a:latin typeface="Nunito Semi-Bold"/>
                <a:ea typeface="Nunito Semi-Bold"/>
                <a:cs typeface="Nunito Semi-Bold"/>
                <a:sym typeface="Nunito Semi-Bold"/>
              </a:rPr>
              <a:t>, compact but hidden latent factors.</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Graph-based:</a:t>
            </a:r>
            <a:r>
              <a:rPr lang="en-US" sz="2100" b="true">
                <a:solidFill>
                  <a:srgbClr val="111111"/>
                </a:solidFill>
                <a:latin typeface="Nunito Semi-Bold"/>
                <a:ea typeface="Nunito Semi-Bold"/>
                <a:cs typeface="Nunito Semi-Bold"/>
                <a:sym typeface="Nunito Semi-Bold"/>
              </a:rPr>
              <a:t> an interaction graph with neighbourhood propagation (LightGCN, hypergraph).</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Each step makes the model stronger but harder to read: MF hid the meaning of latent factors; graph models left importance implicit; hypergraphs assumed </a:t>
            </a:r>
            <a:r>
              <a:rPr lang="en-US" sz="2100" b="true">
                <a:solidFill>
                  <a:srgbClr val="111111"/>
                </a:solidFill>
                <a:latin typeface="Nunito Bold"/>
                <a:ea typeface="Nunito Bold"/>
                <a:cs typeface="Nunito Bold"/>
                <a:sym typeface="Nunito Bold"/>
              </a:rPr>
              <a:t>all messages matter equally</a:t>
            </a:r>
            <a:r>
              <a:rPr lang="en-US" sz="2100" b="true">
                <a:solidFill>
                  <a:srgbClr val="111111"/>
                </a:solidFill>
                <a:latin typeface="Nunito Semi-Bold"/>
                <a:ea typeface="Nunito Semi-Bold"/>
                <a:cs typeface="Nunito Semi-Bold"/>
                <a:sym typeface="Nunito Semi-Bold"/>
              </a:rPr>
              <a:t>.</a:t>
            </a:r>
          </a:p>
        </p:txBody>
      </p:sp>
      <p:sp>
        <p:nvSpPr>
          <p:cNvPr id="13" name="TextBox 12"/>
          <p:cNvSpPr txBox="1"/>
          <p:nvPr/>
        </p:nvSpPr>
        <p:spPr>
          <a:xfrm>
            <a:off x="9532620" y="3363722"/>
            <a:ext cx="772668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CONTENT-BASED FILTERING  ·  AN EXPLAINABLE EXAMPLE</a:t>
            </a:r>
          </a:p>
        </p:txBody>
      </p:sp>
      <p:sp>
        <p:nvSpPr>
          <p:cNvPr id="14" name="Rounded Rectangle 13"/>
          <p:cNvSpPr/>
          <p:nvPr/>
        </p:nvSpPr>
        <p:spPr>
          <a:xfrm>
            <a:off x="9532620"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User taste profile</a:t>
            </a:r>
          </a:p>
        </p:txBody>
      </p:sp>
      <p:cxnSp>
        <p:nvCxnSpPr>
          <p:cNvPr id="15" name="Connector 14"/>
          <p:cNvCxnSpPr/>
          <p:nvPr/>
        </p:nvCxnSpPr>
        <p:spPr>
          <a:xfrm>
            <a:off x="11151108" y="4552442"/>
            <a:ext cx="387096" cy="0"/>
          </a:xfrm>
          <a:prstGeom prst="line">
            <a:avLst/>
          </a:prstGeom>
          <a:ln w="28575">
            <a:solidFill>
              <a:srgbClr val="124944"/>
            </a:solidFill>
            <a:tailEnd type="triangle" w="med" len="med"/>
          </a:ln>
        </p:spPr>
      </p:cxnSp>
      <p:sp>
        <p:nvSpPr>
          <p:cNvPr id="16" name="Rounded Rectangle 15"/>
          <p:cNvSpPr/>
          <p:nvPr/>
        </p:nvSpPr>
        <p:spPr>
          <a:xfrm>
            <a:off x="11583924"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Item feature vectors</a:t>
            </a:r>
          </a:p>
        </p:txBody>
      </p:sp>
      <p:cxnSp>
        <p:nvCxnSpPr>
          <p:cNvPr id="17" name="Connector 16"/>
          <p:cNvCxnSpPr/>
          <p:nvPr/>
        </p:nvCxnSpPr>
        <p:spPr>
          <a:xfrm>
            <a:off x="13202412" y="4552442"/>
            <a:ext cx="387096" cy="0"/>
          </a:xfrm>
          <a:prstGeom prst="line">
            <a:avLst/>
          </a:prstGeom>
          <a:ln w="28575">
            <a:solidFill>
              <a:srgbClr val="124944"/>
            </a:solidFill>
            <a:tailEnd type="triangle" w="med" len="med"/>
          </a:ln>
        </p:spPr>
      </p:cxnSp>
      <p:sp>
        <p:nvSpPr>
          <p:cNvPr id="18" name="Rounded Rectangle 17"/>
          <p:cNvSpPr/>
          <p:nvPr/>
        </p:nvSpPr>
        <p:spPr>
          <a:xfrm>
            <a:off x="13635228" y="3958082"/>
            <a:ext cx="1572768" cy="1188720"/>
          </a:xfrm>
          <a:prstGeom prst="roundRect">
            <a:avLst>
              <a:gd name="adj" fmla="val 15384"/>
            </a:avLst>
          </a:prstGeom>
          <a:solidFill>
            <a:srgbClr val="111111"/>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Similarity score</a:t>
            </a:r>
          </a:p>
        </p:txBody>
      </p:sp>
      <p:cxnSp>
        <p:nvCxnSpPr>
          <p:cNvPr id="19" name="Connector 18"/>
          <p:cNvCxnSpPr/>
          <p:nvPr/>
        </p:nvCxnSpPr>
        <p:spPr>
          <a:xfrm>
            <a:off x="15253716" y="4552442"/>
            <a:ext cx="387096" cy="0"/>
          </a:xfrm>
          <a:prstGeom prst="line">
            <a:avLst/>
          </a:prstGeom>
          <a:ln w="28575">
            <a:solidFill>
              <a:srgbClr val="124944"/>
            </a:solidFill>
            <a:tailEnd type="triangle" w="med" len="med"/>
          </a:ln>
        </p:spPr>
      </p:cxnSp>
      <p:sp>
        <p:nvSpPr>
          <p:cNvPr id="20" name="Rounded Rectangle 19"/>
          <p:cNvSpPr/>
          <p:nvPr/>
        </p:nvSpPr>
        <p:spPr>
          <a:xfrm>
            <a:off x="15686532" y="3958082"/>
            <a:ext cx="1572768" cy="1188720"/>
          </a:xfrm>
          <a:prstGeom prst="roundRect">
            <a:avLst>
              <a:gd name="adj" fmla="val 15384"/>
            </a:avLst>
          </a:prstGeom>
          <a:solidFill>
            <a:srgbClr val="DF8330"/>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Top-N recommend</a:t>
            </a:r>
          </a:p>
        </p:txBody>
      </p:sp>
      <p:sp>
        <p:nvSpPr>
          <p:cNvPr id="21" name="TextBox 20"/>
          <p:cNvSpPr txBox="1"/>
          <p:nvPr/>
        </p:nvSpPr>
        <p:spPr>
          <a:xfrm>
            <a:off x="9532620" y="5512562"/>
            <a:ext cx="7726680" cy="45720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Example:</a:t>
            </a:r>
            <a:r>
              <a:rPr lang="en-US" sz="1700" b="true">
                <a:solidFill>
                  <a:srgbClr val="111111"/>
                </a:solidFill>
                <a:latin typeface="Nunito Semi-Bold"/>
                <a:ea typeface="Nunito Semi-Bold"/>
                <a:cs typeface="Nunito Semi-Bold"/>
                <a:sym typeface="Nunito Semi-Bold"/>
              </a:rPr>
              <a:t> liked sci-fi + Nolan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suggest films with a similar genre, cast or keywords</a:t>
            </a:r>
          </a:p>
        </p:txBody>
      </p:sp>
      <p:sp>
        <p:nvSpPr>
          <p:cNvPr id="22" name="Rounded Rectangle 21"/>
          <p:cNvSpPr/>
          <p:nvPr/>
        </p:nvSpPr>
        <p:spPr>
          <a:xfrm>
            <a:off x="9532620" y="6198362"/>
            <a:ext cx="372618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23" name="Rounded Rectangle 22"/>
          <p:cNvSpPr/>
          <p:nvPr/>
        </p:nvSpPr>
        <p:spPr>
          <a:xfrm>
            <a:off x="9989820" y="5960618"/>
            <a:ext cx="285165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Candidate item features</a:t>
            </a:r>
          </a:p>
        </p:txBody>
      </p:sp>
      <p:sp>
        <p:nvSpPr>
          <p:cNvPr id="24" name="TextBox 23"/>
          <p:cNvSpPr txBox="1"/>
          <p:nvPr/>
        </p:nvSpPr>
        <p:spPr>
          <a:xfrm>
            <a:off x="9806940" y="6701282"/>
            <a:ext cx="317754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genre = Sci-Fi · director = Nolan
cast = … · year = 2010 · rating = 8.6</a:t>
            </a:r>
          </a:p>
        </p:txBody>
      </p:sp>
      <p:sp>
        <p:nvSpPr>
          <p:cNvPr id="25" name="Rounded Rectangle 24"/>
          <p:cNvSpPr/>
          <p:nvPr/>
        </p:nvSpPr>
        <p:spPr>
          <a:xfrm>
            <a:off x="13533120" y="6198362"/>
            <a:ext cx="372618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26" name="Rounded Rectangle 25"/>
          <p:cNvSpPr/>
          <p:nvPr/>
        </p:nvSpPr>
        <p:spPr>
          <a:xfrm>
            <a:off x="13990320" y="5960618"/>
            <a:ext cx="244392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Why recommended</a:t>
            </a:r>
          </a:p>
        </p:txBody>
      </p:sp>
      <p:sp>
        <p:nvSpPr>
          <p:cNvPr id="27" name="TextBox 26"/>
          <p:cNvSpPr txBox="1"/>
          <p:nvPr/>
        </p:nvSpPr>
        <p:spPr>
          <a:xfrm>
            <a:off x="13807440" y="6701282"/>
            <a:ext cx="317754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high cosine similarity to your profile
</a:t>
            </a:r>
            <a:r>
              <a:rPr lang="en-US" sz="1500" b="true">
                <a:solidFill>
                  <a:srgbClr val="111111"/>
                </a:solidFill>
                <a:latin typeface="Nunito Bold"/>
                <a:ea typeface="Nunito Bold"/>
                <a:cs typeface="Nunito Bold"/>
                <a:sym typeface="Nunito Bold"/>
              </a:rPr>
              <a:t>sim = cos(f_user, f_item)</a:t>
            </a:r>
          </a:p>
        </p:txBody>
      </p:sp>
      <p:sp>
        <p:nvSpPr>
          <p:cNvPr id="28" name="Rounded Rectangle 27"/>
          <p:cNvSpPr/>
          <p:nvPr/>
        </p:nvSpPr>
        <p:spPr>
          <a:xfrm>
            <a:off x="9532620" y="8210042"/>
            <a:ext cx="7726680" cy="1098550"/>
          </a:xfrm>
          <a:prstGeom prst="roundRect">
            <a:avLst>
              <a:gd name="adj" fmla="val 20809"/>
            </a:avLst>
          </a:prstGeom>
          <a:solidFill>
            <a:srgbClr val="124944"/>
          </a:solidFill>
          <a:ln>
            <a:noFill/>
          </a:ln>
        </p:spPr>
        <p:txBody>
          <a:bodyPr anchor="ctr" rtlCol="false" lIns="320040" tIns="91440" rIns="320040" bIns="9144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Explainable because the factors are </a:t>
            </a:r>
            <a:r>
              <a:rPr lang="en-US" sz="1700" b="true">
                <a:solidFill>
                  <a:srgbClr val="FFFFFF"/>
                </a:solidFill>
                <a:latin typeface="Nunito Bold"/>
                <a:ea typeface="Nunito Bold"/>
                <a:cs typeface="Nunito Bold"/>
                <a:sym typeface="Nunito Bold"/>
              </a:rPr>
              <a:t>domain-level and can be changed</a:t>
            </a:r>
            <a:r>
              <a:rPr lang="en-US" sz="1700" b="true">
                <a:solidFill>
                  <a:srgbClr val="FFFFFF"/>
                </a:solidFill>
                <a:latin typeface="Nunito Semi-Bold"/>
                <a:ea typeface="Nunito Semi-Bold"/>
                <a:cs typeface="Nunito Semi-Bold"/>
                <a:sym typeface="Nunito Semi-Bold"/>
              </a:rPr>
              <a:t>: exactly what is lost when latent factors and message passing take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pic>
        <p:nvPicPr>
          <p:cNvPr id="8" name="Picture 7" descr="image.png"/>
          <p:cNvPicPr>
            <a:picLocks noChangeAspect="1"/>
          </p:cNvPicPr>
          <p:nvPr/>
        </p:nvPicPr>
        <p:blipFill>
          <a:blip r:embed="rId2"/>
          <a:stretch>
            <a:fillRect/>
          </a:stretch>
        </p:blipFill>
        <p:spPr>
          <a:xfrm>
            <a:off x="16315229" y="1673352"/>
            <a:ext cx="457200" cy="539881"/>
          </a:xfrm>
          <a:prstGeom prst="rect">
            <a:avLst/>
          </a:prstGeom>
        </p:spPr>
      </p:pic>
      <p:sp>
        <p:nvSpPr>
          <p:cNvPr id="9" name="Rounded Rectangle 8"/>
          <p:cNvSpPr/>
          <p:nvPr/>
        </p:nvSpPr>
        <p:spPr>
          <a:xfrm>
            <a:off x="1028700" y="24955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10" name="Rounded Rectangle 9"/>
          <p:cNvSpPr/>
          <p:nvPr/>
        </p:nvSpPr>
        <p:spPr>
          <a:xfrm>
            <a:off x="3011206" y="24955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11" name="Rounded Rectangle 10"/>
          <p:cNvSpPr/>
          <p:nvPr/>
        </p:nvSpPr>
        <p:spPr>
          <a:xfrm>
            <a:off x="5010194" y="24955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12" name="Rounded Rectangle 11"/>
          <p:cNvSpPr/>
          <p:nvPr/>
        </p:nvSpPr>
        <p:spPr>
          <a:xfrm>
            <a:off x="102870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13" name="Rounded Rectangle 12"/>
          <p:cNvSpPr/>
          <p:nvPr/>
        </p:nvSpPr>
        <p:spPr>
          <a:xfrm>
            <a:off x="515493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14" name="Rounded Rectangle 13"/>
          <p:cNvSpPr/>
          <p:nvPr/>
        </p:nvSpPr>
        <p:spPr>
          <a:xfrm>
            <a:off x="928116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15" name="Rounded Rectangle 14"/>
          <p:cNvSpPr/>
          <p:nvPr/>
        </p:nvSpPr>
        <p:spPr>
          <a:xfrm>
            <a:off x="13407390" y="3391662"/>
            <a:ext cx="3851910" cy="3017520"/>
          </a:xfrm>
          <a:prstGeom prst="roundRect">
            <a:avLst>
              <a:gd name="adj" fmla="val 9090"/>
            </a:avLst>
          </a:prstGeom>
          <a:solidFill>
            <a:srgbClr val="DF8330"/>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16" name="Rounded Rectangle 15"/>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1485900" y="6811518"/>
            <a:ext cx="785723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18" name="TextBox 17"/>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pic>
        <p:nvPicPr>
          <p:cNvPr id="8" name="Picture 7" descr="image.png"/>
          <p:cNvPicPr>
            <a:picLocks noChangeAspect="1"/>
          </p:cNvPicPr>
          <p:nvPr/>
        </p:nvPicPr>
        <p:blipFill>
          <a:blip r:embed="rId2"/>
          <a:stretch>
            <a:fillRect/>
          </a:stretch>
        </p:blipFill>
        <p:spPr>
          <a:xfrm>
            <a:off x="12569927" y="1673352"/>
            <a:ext cx="457200" cy="373212"/>
          </a:xfrm>
          <a:prstGeom prst="rect">
            <a:avLst/>
          </a:prstGeom>
        </p:spPr>
      </p:pic>
      <p:sp>
        <p:nvSpPr>
          <p:cNvPr id="9" name="Rounded Rectangle 8"/>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10" name="Rounded Rectangle 9"/>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11" name="Rounded Rectangle 10"/>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12" name="Rounded Rectangle 11"/>
          <p:cNvSpPr/>
          <p:nvPr/>
        </p:nvSpPr>
        <p:spPr>
          <a:xfrm>
            <a:off x="102870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13" name="Oval 12"/>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14" name="TextBox 13"/>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15" name="Rounded Rectangle 14"/>
          <p:cNvSpPr/>
          <p:nvPr/>
        </p:nvSpPr>
        <p:spPr>
          <a:xfrm>
            <a:off x="654558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16" name="Oval 15"/>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17" name="TextBox 16"/>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18" name="Rounded Rectangle 17"/>
          <p:cNvSpPr/>
          <p:nvPr/>
        </p:nvSpPr>
        <p:spPr>
          <a:xfrm>
            <a:off x="1206246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19" name="Oval 18"/>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20" name="TextBox 19"/>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21" name="Rounded Rectangle 20"/>
          <p:cNvSpPr/>
          <p:nvPr/>
        </p:nvSpPr>
        <p:spPr>
          <a:xfrm>
            <a:off x="1028700" y="7387082"/>
            <a:ext cx="16230600" cy="1967230"/>
          </a:xfrm>
          <a:prstGeom prst="roundRect">
            <a:avLst>
              <a:gd name="adj" fmla="val 13944"/>
            </a:avLst>
          </a:prstGeom>
          <a:noFill/>
          <a:ln w="31750">
            <a:solidFill>
              <a:srgbClr val="DF8330"/>
            </a:solidFill>
          </a:ln>
        </p:spPr>
        <p:txBody>
          <a:bodyPr anchor="ctr" rtlCol="false" lIns="0" tIns="0" rIns="0" bIns="0" wrap="square"/>
          <a:lstStyle/>
          <a:p>
            <a:endParaRPr lang="en-US" sz="1800"/>
          </a:p>
        </p:txBody>
      </p:sp>
      <p:sp>
        <p:nvSpPr>
          <p:cNvPr id="22" name="TextBox 21"/>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DF8330"/>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pic>
        <p:nvPicPr>
          <p:cNvPr id="8" name="Picture 7" descr="image.png"/>
          <p:cNvPicPr>
            <a:picLocks noChangeAspect="1"/>
          </p:cNvPicPr>
          <p:nvPr/>
        </p:nvPicPr>
        <p:blipFill>
          <a:blip r:embed="rId2"/>
          <a:stretch>
            <a:fillRect/>
          </a:stretch>
        </p:blipFill>
        <p:spPr>
          <a:xfrm>
            <a:off x="13647239" y="1673352"/>
            <a:ext cx="457200" cy="427074"/>
          </a:xfrm>
          <a:prstGeom prst="rect">
            <a:avLst/>
          </a:prstGeom>
        </p:spPr>
      </p:pic>
      <p:sp>
        <p:nvSpPr>
          <p:cNvPr id="9" name="Rounded Rectangle 8"/>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10" name="Rounded Rectangle 9"/>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11" name="Rounded Rectangle 10"/>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12" name="Rounded Rectangle 11"/>
          <p:cNvSpPr/>
          <p:nvPr/>
        </p:nvSpPr>
        <p:spPr>
          <a:xfrm>
            <a:off x="1028700" y="3363722"/>
            <a:ext cx="16230600" cy="868680"/>
          </a:xfrm>
          <a:prstGeom prst="roundRect">
            <a:avLst>
              <a:gd name="adj" fmla="val 26315"/>
            </a:avLst>
          </a:prstGeom>
          <a:solidFill>
            <a:srgbClr val="12494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13" name="Rounded Rectangle 12"/>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14" name="Rounded Rectangle 13"/>
          <p:cNvSpPr/>
          <p:nvPr/>
        </p:nvSpPr>
        <p:spPr>
          <a:xfrm>
            <a:off x="1211580" y="458901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15" name="TextBox 14"/>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16" name="Rounded Rectangle 15"/>
          <p:cNvSpPr/>
          <p:nvPr/>
        </p:nvSpPr>
        <p:spPr>
          <a:xfrm>
            <a:off x="15339060" y="458901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17" name="Rounded Rectangle 16"/>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18" name="Rounded Rectangle 17"/>
          <p:cNvSpPr/>
          <p:nvPr/>
        </p:nvSpPr>
        <p:spPr>
          <a:xfrm>
            <a:off x="1211580" y="559328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19" name="TextBox 18"/>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20" name="Rounded Rectangle 19"/>
          <p:cNvSpPr/>
          <p:nvPr/>
        </p:nvSpPr>
        <p:spPr>
          <a:xfrm>
            <a:off x="15339060" y="559328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21" name="Rounded Rectangle 20"/>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2" name="Rounded Rectangle 21"/>
          <p:cNvSpPr/>
          <p:nvPr/>
        </p:nvSpPr>
        <p:spPr>
          <a:xfrm>
            <a:off x="1211580" y="659754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23" name="TextBox 22"/>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24" name="Rounded Rectangle 23"/>
          <p:cNvSpPr/>
          <p:nvPr/>
        </p:nvSpPr>
        <p:spPr>
          <a:xfrm>
            <a:off x="15339060" y="659754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25" name="Rounded Rectangle 24"/>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26" name="Rounded Rectangle 25"/>
          <p:cNvSpPr/>
          <p:nvPr/>
        </p:nvSpPr>
        <p:spPr>
          <a:xfrm>
            <a:off x="1211580" y="760181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27" name="TextBox 26"/>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28" name="Rounded Rectangle 27"/>
          <p:cNvSpPr/>
          <p:nvPr/>
        </p:nvSpPr>
        <p:spPr>
          <a:xfrm>
            <a:off x="15339060" y="760181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29" name="Rounded Rectangle 28"/>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0" name="Rounded Rectangle 29"/>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31" name="TextBox 30"/>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32" name="Rounded Rectangle 31"/>
          <p:cNvSpPr/>
          <p:nvPr/>
        </p:nvSpPr>
        <p:spPr>
          <a:xfrm>
            <a:off x="15339060" y="860607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pic>
        <p:nvPicPr>
          <p:cNvPr id="8" name="Picture 7" descr="image.png"/>
          <p:cNvPicPr>
            <a:picLocks noChangeAspect="1"/>
          </p:cNvPicPr>
          <p:nvPr/>
        </p:nvPicPr>
        <p:blipFill>
          <a:blip r:embed="rId2"/>
          <a:stretch>
            <a:fillRect/>
          </a:stretch>
        </p:blipFill>
        <p:spPr>
          <a:xfrm>
            <a:off x="7638654" y="1673352"/>
            <a:ext cx="457200" cy="399005"/>
          </a:xfrm>
          <a:prstGeom prst="rect">
            <a:avLst/>
          </a:prstGeom>
        </p:spPr>
      </p:pic>
      <p:sp>
        <p:nvSpPr>
          <p:cNvPr id="9" name="Rounded Rectangle 8"/>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10" name="Rounded Rectangle 9"/>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11" name="Rounded Rectangle 10"/>
          <p:cNvSpPr/>
          <p:nvPr/>
        </p:nvSpPr>
        <p:spPr>
          <a:xfrm>
            <a:off x="5010194"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12" name="Rounded Rectangle 11"/>
          <p:cNvSpPr/>
          <p:nvPr/>
        </p:nvSpPr>
        <p:spPr>
          <a:xfrm>
            <a:off x="1028700" y="3455162"/>
            <a:ext cx="5196840" cy="4480560"/>
          </a:xfrm>
          <a:prstGeom prst="roundRect">
            <a:avLst>
              <a:gd name="adj" fmla="val 6530"/>
            </a:avLst>
          </a:prstGeom>
          <a:solidFill>
            <a:srgbClr val="124944"/>
          </a:solidFill>
          <a:ln>
            <a:noFill/>
          </a:ln>
        </p:spPr>
        <p:txBody>
          <a:bodyPr anchor="ctr" rtlCol="false" lIns="0" tIns="0" rIns="0" bIns="0" wrap="square"/>
          <a:lstStyle/>
          <a:p>
            <a:endParaRPr lang="en-US" sz="1800"/>
          </a:p>
        </p:txBody>
      </p:sp>
      <p:sp>
        <p:nvSpPr>
          <p:cNvPr id="13" name="TextBox 12"/>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14" name="Rounded Rectangle 13"/>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24944"/>
                </a:solidFill>
                <a:latin typeface="Nunito Bold"/>
                <a:ea typeface="Nunito Bold"/>
                <a:cs typeface="Nunito Bold"/>
                <a:sym typeface="Nunito Bold"/>
              </a:rPr>
              <a:t>RQ1</a:t>
            </a:r>
          </a:p>
        </p:txBody>
      </p:sp>
      <p:sp>
        <p:nvSpPr>
          <p:cNvPr id="15" name="TextBox 14"/>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16" name="Rounded Rectangle 15"/>
          <p:cNvSpPr/>
          <p:nvPr/>
        </p:nvSpPr>
        <p:spPr>
          <a:xfrm>
            <a:off x="6545580" y="3455162"/>
            <a:ext cx="5196840" cy="4480560"/>
          </a:xfrm>
          <a:prstGeom prst="roundRect">
            <a:avLst>
              <a:gd name="adj" fmla="val 6530"/>
            </a:avLst>
          </a:prstGeom>
          <a:solidFill>
            <a:srgbClr val="1E5F58"/>
          </a:solidFill>
          <a:ln>
            <a:noFill/>
          </a:ln>
        </p:spPr>
        <p:txBody>
          <a:bodyPr anchor="ctr" rtlCol="false" lIns="0" tIns="0" rIns="0" bIns="0" wrap="square"/>
          <a:lstStyle/>
          <a:p>
            <a:endParaRPr lang="en-US" sz="1800"/>
          </a:p>
        </p:txBody>
      </p:sp>
      <p:sp>
        <p:nvSpPr>
          <p:cNvPr id="17" name="TextBox 16"/>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18" name="Rounded Rectangle 17"/>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E5F58"/>
                </a:solidFill>
                <a:latin typeface="Nunito Bold"/>
                <a:ea typeface="Nunito Bold"/>
                <a:cs typeface="Nunito Bold"/>
                <a:sym typeface="Nunito Bold"/>
              </a:rPr>
              <a:t>RQ2</a:t>
            </a:r>
          </a:p>
        </p:txBody>
      </p:sp>
      <p:sp>
        <p:nvSpPr>
          <p:cNvPr id="19" name="TextBox 18"/>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20" name="Rounded Rectangle 19"/>
          <p:cNvSpPr/>
          <p:nvPr/>
        </p:nvSpPr>
        <p:spPr>
          <a:xfrm>
            <a:off x="12062460" y="3455162"/>
            <a:ext cx="5196840" cy="4480560"/>
          </a:xfrm>
          <a:prstGeom prst="roundRect">
            <a:avLst>
              <a:gd name="adj" fmla="val 6530"/>
            </a:avLst>
          </a:prstGeom>
          <a:solidFill>
            <a:srgbClr val="DF8330"/>
          </a:solidFill>
          <a:ln>
            <a:noFill/>
          </a:ln>
        </p:spPr>
        <p:txBody>
          <a:bodyPr anchor="ctr" rtlCol="false" lIns="0" tIns="0" rIns="0" bIns="0" wrap="square"/>
          <a:lstStyle/>
          <a:p>
            <a:endParaRPr lang="en-US" sz="1800"/>
          </a:p>
        </p:txBody>
      </p:sp>
      <p:sp>
        <p:nvSpPr>
          <p:cNvPr id="21" name="TextBox 20"/>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22" name="Rounded Rectangle 21"/>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DF8330"/>
                </a:solidFill>
                <a:latin typeface="Nunito Bold"/>
                <a:ea typeface="Nunito Bold"/>
                <a:cs typeface="Nunito Bold"/>
                <a:sym typeface="Nunito Bold"/>
              </a:rPr>
              <a:t>RQ3 · RQ4</a:t>
            </a:r>
          </a:p>
        </p:txBody>
      </p:sp>
      <p:sp>
        <p:nvSpPr>
          <p:cNvPr id="23" name="TextBox 22"/>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24" name="Rounded Rectangle 23"/>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Our Thesis in One View</a:t>
            </a:r>
          </a:p>
        </p:txBody>
      </p:sp>
      <p:pic>
        <p:nvPicPr>
          <p:cNvPr id="8" name="Picture 7" descr="image.png"/>
          <p:cNvPicPr>
            <a:picLocks noChangeAspect="1"/>
          </p:cNvPicPr>
          <p:nvPr/>
        </p:nvPicPr>
        <p:blipFill>
          <a:blip r:embed="rId2"/>
          <a:stretch>
            <a:fillRect/>
          </a:stretch>
        </p:blipFill>
        <p:spPr>
          <a:xfrm>
            <a:off x="7298405" y="1673352"/>
            <a:ext cx="457200" cy="446713"/>
          </a:xfrm>
          <a:prstGeom prst="rect">
            <a:avLst/>
          </a:prstGeom>
        </p:spPr>
      </p:pic>
      <p:sp>
        <p:nvSpPr>
          <p:cNvPr id="9" name="Rounded Rectangle 8"/>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10" name="Rounded Rectangle 9"/>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11" name="Rounded Rectangle 10"/>
          <p:cNvSpPr/>
          <p:nvPr/>
        </p:nvSpPr>
        <p:spPr>
          <a:xfrm>
            <a:off x="5010194"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12" name="TextBox 11"/>
          <p:cNvSpPr txBox="1"/>
          <p:nvPr/>
        </p:nvSpPr>
        <p:spPr>
          <a:xfrm>
            <a:off x="1028700" y="3363722"/>
            <a:ext cx="69494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Thesis</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Cooperative game theory (Shapley) is </a:t>
            </a:r>
            <a:r>
              <a:rPr lang="en-US" sz="2100" b="true">
                <a:solidFill>
                  <a:srgbClr val="111111"/>
                </a:solidFill>
                <a:latin typeface="Nunito Bold"/>
                <a:ea typeface="Nunito Bold"/>
                <a:cs typeface="Nunito Bold"/>
                <a:sym typeface="Nunito Bold"/>
              </a:rPr>
              <a:t>one shared, explainable way to attribute importance</a:t>
            </a:r>
            <a:r>
              <a:rPr lang="en-US" sz="2100" b="true">
                <a:solidFill>
                  <a:srgbClr val="111111"/>
                </a:solidFill>
                <a:latin typeface="Nunito Semi-Bold"/>
                <a:ea typeface="Nunito Semi-Bold"/>
                <a:cs typeface="Nunito Semi-Bold"/>
                <a:sym typeface="Nunito Semi-Bold"/>
              </a:rPr>
              <a:t>.</a:t>
            </a:r>
          </a:p>
          <a:p>
            <a:pPr algn="l">
              <a:lnSpc>
                <a:spcPts val="2750"/>
              </a:lnSpc>
              <a:spcBef>
                <a:spcPts val="1800"/>
              </a:spcBef>
              <a:buNone/>
            </a:pPr>
            <a:r>
              <a:rPr lang="en-US" sz="2200" b="true">
                <a:solidFill>
                  <a:srgbClr val="124944"/>
                </a:solidFill>
                <a:latin typeface="Nunito Ultra-Bold"/>
                <a:ea typeface="Nunito Ultra-Bold"/>
                <a:cs typeface="Nunito Ultra-Bold"/>
                <a:sym typeface="Nunito Ultra-Bold"/>
              </a:rPr>
              <a:t>The same logic spans clustering and recommendation</a:t>
            </a:r>
          </a:p>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C1:</a:t>
            </a:r>
            <a:r>
              <a:rPr lang="en-US" sz="2000" b="true">
                <a:solidFill>
                  <a:srgbClr val="111111"/>
                </a:solidFill>
                <a:latin typeface="Nunito Semi-Bold"/>
                <a:ea typeface="Nunito Semi-Bold"/>
                <a:cs typeface="Nunito Semi-Bold"/>
                <a:sym typeface="Nunito Semi-Bold"/>
              </a:rPr>
              <a:t> explains black-box clustering faithfully (wine).</a:t>
            </a:r>
          </a:p>
          <a:p>
            <a:pPr algn="l" marL="274320" indent="-274320">
              <a:lnSpc>
                <a:spcPts val="2800"/>
              </a:lnSpc>
              <a:spcBef>
                <a:spcPts val="6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C2:</a:t>
            </a:r>
            <a:r>
              <a:rPr lang="en-US" sz="2000" b="true">
                <a:solidFill>
                  <a:srgbClr val="111111"/>
                </a:solidFill>
                <a:latin typeface="Nunito Semi-Bold"/>
                <a:ea typeface="Nunito Semi-Bold"/>
                <a:cs typeface="Nunito Semi-Bold"/>
                <a:sym typeface="Nunito Semi-Bold"/>
              </a:rPr>
              <a:t> keeps the explanation consistent at scale and across levels (Beijing).</a:t>
            </a:r>
          </a:p>
          <a:p>
            <a:pPr algn="l" marL="274320" indent="-274320">
              <a:lnSpc>
                <a:spcPts val="2800"/>
              </a:lnSpc>
              <a:spcBef>
                <a:spcPts val="6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C3:</a:t>
            </a:r>
            <a:r>
              <a:rPr lang="en-US" sz="2000" b="true">
                <a:solidFill>
                  <a:srgbClr val="111111"/>
                </a:solidFill>
                <a:latin typeface="Nunito Semi-Bold"/>
                <a:ea typeface="Nunito Semi-Bold"/>
                <a:cs typeface="Nunito Semi-Bold"/>
                <a:sym typeface="Nunito Semi-Bold"/>
              </a:rPr>
              <a:t> DyHuCoG turns attribution into an </a:t>
            </a:r>
            <a:r>
              <a:rPr lang="en-US" sz="2000" b="true">
                <a:solidFill>
                  <a:srgbClr val="111111"/>
                </a:solidFill>
                <a:latin typeface="Nunito Bold"/>
                <a:ea typeface="Nunito Bold"/>
                <a:cs typeface="Nunito Bold"/>
                <a:sym typeface="Nunito Bold"/>
              </a:rPr>
              <a:t>in-training signal</a:t>
            </a:r>
            <a:r>
              <a:rPr lang="en-US" sz="2000" b="true">
                <a:solidFill>
                  <a:srgbClr val="111111"/>
                </a:solidFill>
                <a:latin typeface="Nunito Semi-Bold"/>
                <a:ea typeface="Nunito Semi-Bold"/>
                <a:cs typeface="Nunito Semi-Bold"/>
                <a:sym typeface="Nunito Semi-Bold"/>
              </a:rPr>
              <a:t>.</a:t>
            </a:r>
          </a:p>
          <a:p>
            <a:pPr algn="l">
              <a:lnSpc>
                <a:spcPts val="3080"/>
              </a:lnSpc>
              <a:spcBef>
                <a:spcPts val="1800"/>
              </a:spcBef>
              <a:buNone/>
            </a:pPr>
            <a:r>
              <a:rPr lang="en-US" sz="2200" b="true">
                <a:solidFill>
                  <a:srgbClr val="DF8330"/>
                </a:solidFill>
                <a:latin typeface="Nunito Bold"/>
                <a:ea typeface="Nunito Bold"/>
                <a:cs typeface="Nunito Bold"/>
                <a:sym typeface="Nunito Bold"/>
              </a:rPr>
              <a:t>From post-hoc description to in-training guidance.</a:t>
            </a:r>
          </a:p>
        </p:txBody>
      </p:sp>
      <p:sp>
        <p:nvSpPr>
          <p:cNvPr id="13" name="Rounded Rectangle 12"/>
          <p:cNvSpPr/>
          <p:nvPr/>
        </p:nvSpPr>
        <p:spPr>
          <a:xfrm>
            <a:off x="9914382" y="3409442"/>
            <a:ext cx="6048756" cy="914400"/>
          </a:xfrm>
          <a:prstGeom prst="roundRect">
            <a:avLst>
              <a:gd name="adj" fmla="val 20000"/>
            </a:avLst>
          </a:prstGeom>
          <a:solidFill>
            <a:srgbClr val="124944"/>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Everyday AI recommenders are powerful but not transparent</a:t>
            </a:r>
          </a:p>
        </p:txBody>
      </p:sp>
      <p:sp>
        <p:nvSpPr>
          <p:cNvPr id="14" name="Rounded Rectangle 13"/>
          <p:cNvSpPr/>
          <p:nvPr/>
        </p:nvSpPr>
        <p:spPr>
          <a:xfrm>
            <a:off x="9309506" y="4872482"/>
            <a:ext cx="7258507" cy="1097280"/>
          </a:xfrm>
          <a:prstGeom prst="roundRect">
            <a:avLst>
              <a:gd name="adj" fmla="val 16666"/>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Our thesis: cooperative game theory (Shapley) as one shared, explainable attribution method</a:t>
            </a:r>
          </a:p>
        </p:txBody>
      </p:sp>
      <p:cxnSp>
        <p:nvCxnSpPr>
          <p:cNvPr id="15" name="Connector 14"/>
          <p:cNvCxnSpPr/>
          <p:nvPr/>
        </p:nvCxnSpPr>
        <p:spPr>
          <a:xfrm>
            <a:off x="12938760" y="4351274"/>
            <a:ext cx="0" cy="475488"/>
          </a:xfrm>
          <a:prstGeom prst="line">
            <a:avLst/>
          </a:prstGeom>
          <a:ln w="31750">
            <a:solidFill>
              <a:srgbClr val="124944"/>
            </a:solidFill>
            <a:tailEnd type="triangle" w="med" len="med"/>
          </a:ln>
        </p:spPr>
      </p:cxnSp>
      <p:sp>
        <p:nvSpPr>
          <p:cNvPr id="16" name="Rounded Rectangle 15"/>
          <p:cNvSpPr/>
          <p:nvPr/>
        </p:nvSpPr>
        <p:spPr>
          <a:xfrm>
            <a:off x="8618220" y="6792722"/>
            <a:ext cx="2697480" cy="1554480"/>
          </a:xfrm>
          <a:prstGeom prst="roundRect">
            <a:avLst>
              <a:gd name="adj" fmla="val 11764"/>
            </a:avLst>
          </a:prstGeom>
          <a:solidFill>
            <a:srgbClr val="124944"/>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C1</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Explainable clustering</a:t>
            </a:r>
          </a:p>
        </p:txBody>
      </p:sp>
      <p:cxnSp>
        <p:nvCxnSpPr>
          <p:cNvPr id="17" name="Connector 16"/>
          <p:cNvCxnSpPr/>
          <p:nvPr/>
        </p:nvCxnSpPr>
        <p:spPr>
          <a:xfrm flipH="1">
            <a:off x="9966960" y="6015482"/>
            <a:ext cx="2971800" cy="731520"/>
          </a:xfrm>
          <a:prstGeom prst="line">
            <a:avLst/>
          </a:prstGeom>
          <a:ln w="25400">
            <a:solidFill>
              <a:srgbClr val="124944"/>
            </a:solidFill>
            <a:tailEnd type="triangle" w="med" len="med"/>
          </a:ln>
        </p:spPr>
      </p:cxnSp>
      <p:sp>
        <p:nvSpPr>
          <p:cNvPr id="18" name="Rounded Rectangle 17"/>
          <p:cNvSpPr/>
          <p:nvPr/>
        </p:nvSpPr>
        <p:spPr>
          <a:xfrm>
            <a:off x="11590020" y="6792722"/>
            <a:ext cx="2697480" cy="1554480"/>
          </a:xfrm>
          <a:prstGeom prst="roundRect">
            <a:avLst>
              <a:gd name="adj" fmla="val 11764"/>
            </a:avLst>
          </a:prstGeom>
          <a:solidFill>
            <a:srgbClr val="1E5F58"/>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C2</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Multi-level XAI</a:t>
            </a:r>
          </a:p>
        </p:txBody>
      </p:sp>
      <p:cxnSp>
        <p:nvCxnSpPr>
          <p:cNvPr id="19" name="Connector 18"/>
          <p:cNvCxnSpPr/>
          <p:nvPr/>
        </p:nvCxnSpPr>
        <p:spPr>
          <a:xfrm>
            <a:off x="12938760" y="6015482"/>
            <a:ext cx="0" cy="731520"/>
          </a:xfrm>
          <a:prstGeom prst="line">
            <a:avLst/>
          </a:prstGeom>
          <a:ln w="25400">
            <a:solidFill>
              <a:srgbClr val="124944"/>
            </a:solidFill>
            <a:tailEnd type="triangle" w="med" len="med"/>
          </a:ln>
        </p:spPr>
      </p:cxnSp>
      <p:sp>
        <p:nvSpPr>
          <p:cNvPr id="20" name="Rounded Rectangle 19"/>
          <p:cNvSpPr/>
          <p:nvPr/>
        </p:nvSpPr>
        <p:spPr>
          <a:xfrm>
            <a:off x="14561820" y="6792722"/>
            <a:ext cx="2697480" cy="1554480"/>
          </a:xfrm>
          <a:prstGeom prst="roundRect">
            <a:avLst>
              <a:gd name="adj" fmla="val 11764"/>
            </a:avLst>
          </a:prstGeom>
          <a:solidFill>
            <a:srgbClr val="DF8330"/>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C3</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DyHuCoG recommender</a:t>
            </a:r>
          </a:p>
        </p:txBody>
      </p:sp>
      <p:cxnSp>
        <p:nvCxnSpPr>
          <p:cNvPr id="21" name="Connector 20"/>
          <p:cNvCxnSpPr/>
          <p:nvPr/>
        </p:nvCxnSpPr>
        <p:spPr>
          <a:xfrm>
            <a:off x="12938760" y="6015482"/>
            <a:ext cx="2971800" cy="731520"/>
          </a:xfrm>
          <a:prstGeom prst="line">
            <a:avLst/>
          </a:prstGeom>
          <a:ln w="25400">
            <a:solidFill>
              <a:srgbClr val="124944"/>
            </a:solidFill>
            <a:tailEnd type="triangle" w="med" len="med"/>
          </a:ln>
        </p:spPr>
      </p:cxnSp>
      <p:sp>
        <p:nvSpPr>
          <p:cNvPr id="22" name="Rounded Rectangle 21"/>
          <p:cNvSpPr/>
          <p:nvPr/>
        </p:nvSpPr>
        <p:spPr>
          <a:xfrm>
            <a:off x="8618220" y="8667242"/>
            <a:ext cx="8641080" cy="641350"/>
          </a:xfrm>
          <a:prstGeom prst="roundRect">
            <a:avLst>
              <a:gd name="adj" fmla="val 35643"/>
            </a:avLst>
          </a:prstGeom>
          <a:solidFill>
            <a:srgbClr val="F6ECDF"/>
          </a:solidFill>
          <a:ln>
            <a:noFill/>
          </a:ln>
        </p:spPr>
        <p:txBody>
          <a:bodyPr anchor="ctr" rtlCol="false" lIns="274320" tIns="91440" rIns="274320" bIns="9144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Same axioms · same terms · same value-function logic: </a:t>
            </a:r>
            <a:r>
              <a:rPr lang="en-US" sz="1700" b="true">
                <a:solidFill>
                  <a:srgbClr val="111111"/>
                </a:solidFill>
                <a:latin typeface="Nunito Bold"/>
                <a:ea typeface="Nunito Bold"/>
                <a:cs typeface="Nunito Bold"/>
                <a:sym typeface="Nunito Bold"/>
              </a:rPr>
              <a:t>explanation as part of the method, not a comment added later.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6" name="TextBox 5"/>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7" name="Oval 6"/>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9" name="TextBox 8"/>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One shared protocol so that the three contributions can be read together</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Datasets Used Throughout the Thesis</a:t>
            </a:r>
          </a:p>
        </p:txBody>
      </p:sp>
      <p:pic>
        <p:nvPicPr>
          <p:cNvPr id="8" name="Picture 7" descr="image.png"/>
          <p:cNvPicPr>
            <a:picLocks noChangeAspect="1"/>
          </p:cNvPicPr>
          <p:nvPr/>
        </p:nvPicPr>
        <p:blipFill>
          <a:blip r:embed="rId2"/>
          <a:stretch>
            <a:fillRect/>
          </a:stretch>
        </p:blipFill>
        <p:spPr>
          <a:xfrm>
            <a:off x="10935196" y="1673352"/>
            <a:ext cx="457200" cy="452148"/>
          </a:xfrm>
          <a:prstGeom prst="rect">
            <a:avLst/>
          </a:prstGeom>
        </p:spPr>
      </p:pic>
      <p:sp>
        <p:nvSpPr>
          <p:cNvPr id="9" name="Rounded Rectangle 8"/>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10" name="Rounded Rectangle 9"/>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11" name="Rounded Rectangle 10"/>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graphicFrame>
        <p:nvGraphicFramePr>
          <p:cNvPr id="12" name="Table 11"/>
          <p:cNvGraphicFramePr>
            <a:graphicFrameLocks noGrp="1"/>
          </p:cNvGraphicFramePr>
          <p:nvPr/>
        </p:nvGraphicFramePr>
        <p:xfrm>
          <a:off x="1028700" y="3363722"/>
          <a:ext cx="16230597" cy="4532122"/>
        </p:xfrm>
        <a:graphic>
          <a:graphicData uri="http://schemas.openxmlformats.org/drawingml/2006/table">
            <a:tbl>
              <a:tblPr firstRow="0" bandRow="0" firstCol="0" lastRow="0" lastCol="0" bandCol="0">
                <a:tableStyleId>{2D5ABB26-0587-4C30-8999-92F81FD0307C}</a:tableStyleId>
              </a:tblPr>
              <a:tblGrid>
                <a:gridCol w="2870718"/>
                <a:gridCol w="2649893"/>
                <a:gridCol w="2539481"/>
                <a:gridCol w="2429069"/>
                <a:gridCol w="5741436"/>
              </a:tblGrid>
              <a:tr h="86868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Dataset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Scale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Type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Role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Why it was chosen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105740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Wine Quality (vinho verde)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4,898 × 11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Tabular, numeric</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C1: single-level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11 interpretable chemical features; small, dense, strongly correlated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attribution in a feature space experts trust.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6868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Beijing Multi-Site Air Quality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383,585 × 11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Tabular, pollutants + weather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C2: multi-level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Hourly records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tests scale, noise, and time / weather structure.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6868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MovieLens-1M</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6,040 u / 3,706 i / 1.0 M int.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Implicit feedback (density 0.0447)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C3: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Standard benchmark with well-known 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6868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Amazon-Book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52,643 u / 91,599 i / 3.0 M int.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Implicit feedback (density 0.0006)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C3: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Very sparse, on purpose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stress-tests Shapley weighting when the signal is weak.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3" name="Rounded Rectangle 12"/>
          <p:cNvSpPr/>
          <p:nvPr/>
        </p:nvSpPr>
        <p:spPr>
          <a:xfrm>
            <a:off x="1028700" y="8261604"/>
            <a:ext cx="16230600" cy="914400"/>
          </a:xfrm>
          <a:prstGeom prst="roundRect">
            <a:avLst>
              <a:gd name="adj" fmla="val 25000"/>
            </a:avLst>
          </a:prstGeom>
          <a:solidFill>
            <a:srgbClr val="124944"/>
          </a:solidFill>
          <a:ln>
            <a:noFill/>
          </a:ln>
        </p:spPr>
        <p:txBody>
          <a:bodyPr anchor="ctr" rtlCol="false" lIns="457200" tIns="91440" rIns="457200" bIns="91440" wrap="square"/>
          <a:lstStyle/>
          <a:p>
            <a:pPr algn="ctr">
              <a:lnSpc>
                <a:spcPts val="2700"/>
              </a:lnSpc>
              <a:spcBef>
                <a:spcPts val="0"/>
              </a:spcBef>
              <a:buNone/>
            </a:pPr>
            <a:r>
              <a:rPr lang="en-US" sz="2100" b="true">
                <a:solidFill>
                  <a:srgbClr val="FFFFFF"/>
                </a:solidFill>
                <a:latin typeface="Nunito Semi-Bold"/>
                <a:ea typeface="Nunito Semi-Bold"/>
                <a:cs typeface="Nunito Semi-Bold"/>
                <a:sym typeface="Nunito Semi-Bold"/>
              </a:rPr>
              <a:t>The </a:t>
            </a:r>
            <a:r>
              <a:rPr lang="en-US" sz="2100" b="true">
                <a:solidFill>
                  <a:srgbClr val="FFFFFF"/>
                </a:solidFill>
                <a:latin typeface="Nunito Bold"/>
                <a:ea typeface="Nunito Bold"/>
                <a:cs typeface="Nunito Bold"/>
                <a:sym typeface="Nunito Bold"/>
              </a:rPr>
              <a:t>0.0447 vs 0.0006</a:t>
            </a:r>
            <a:r>
              <a:rPr lang="en-US" sz="2100" b="true">
                <a:solidFill>
                  <a:srgbClr val="FFFFFF"/>
                </a:solidFill>
                <a:latin typeface="Nunito Semi-Bold"/>
                <a:ea typeface="Nunito Semi-Bold"/>
                <a:cs typeface="Nunito Semi-Bold"/>
                <a:sym typeface="Nunito Semi-Bold"/>
              </a:rPr>
              <a:t> density contrast is on purpose: the claim is that </a:t>
            </a:r>
            <a:r>
              <a:rPr lang="en-US" sz="2100" b="true">
                <a:solidFill>
                  <a:srgbClr val="FFFFFF"/>
                </a:solidFill>
                <a:latin typeface="Nunito Bold"/>
                <a:ea typeface="Nunito Bold"/>
                <a:cs typeface="Nunito Bold"/>
                <a:sym typeface="Nunito Bold"/>
              </a:rPr>
              <a:t>gains are largest where data are weakest</a:t>
            </a:r>
            <a:r>
              <a:rPr lang="en-US" sz="210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pic>
        <p:nvPicPr>
          <p:cNvPr id="8" name="Picture 7" descr="image.png"/>
          <p:cNvPicPr>
            <a:picLocks noChangeAspect="1"/>
          </p:cNvPicPr>
          <p:nvPr/>
        </p:nvPicPr>
        <p:blipFill>
          <a:blip r:embed="rId2"/>
          <a:stretch>
            <a:fillRect/>
          </a:stretch>
        </p:blipFill>
        <p:spPr>
          <a:xfrm>
            <a:off x="9239964" y="1673352"/>
            <a:ext cx="457200" cy="415247"/>
          </a:xfrm>
          <a:prstGeom prst="rect">
            <a:avLst/>
          </a:prstGeom>
        </p:spPr>
      </p:pic>
      <p:sp>
        <p:nvSpPr>
          <p:cNvPr id="9" name="Rounded Rectangle 8"/>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10" name="Rounded Rectangle 9"/>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11" name="Rounded Rectangle 10"/>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12" name="Rounded Rectangle 11"/>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3" name="Rounded Rectangle 12"/>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Clustering (C1, C2)</a:t>
            </a:r>
          </a:p>
        </p:txBody>
      </p:sp>
      <p:sp>
        <p:nvSpPr>
          <p:cNvPr id="14" name="TextBox 13"/>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15" name="Rounded Rectangle 14"/>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6" name="Rounded Rectangle 15"/>
          <p:cNvSpPr/>
          <p:nvPr/>
        </p:nvSpPr>
        <p:spPr>
          <a:xfrm>
            <a:off x="9784080" y="3354578"/>
            <a:ext cx="364295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17" name="TextBox 16"/>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 &amp; Evaluation Metrics</a:t>
            </a:r>
          </a:p>
        </p:txBody>
      </p:sp>
      <p:pic>
        <p:nvPicPr>
          <p:cNvPr id="8" name="Picture 7" descr="image.png"/>
          <p:cNvPicPr>
            <a:picLocks noChangeAspect="1"/>
          </p:cNvPicPr>
          <p:nvPr/>
        </p:nvPicPr>
        <p:blipFill>
          <a:blip r:embed="rId2"/>
          <a:stretch>
            <a:fillRect/>
          </a:stretch>
        </p:blipFill>
        <p:spPr>
          <a:xfrm>
            <a:off x="9253804" y="1673352"/>
            <a:ext cx="457200" cy="250983"/>
          </a:xfrm>
          <a:prstGeom prst="rect">
            <a:avLst/>
          </a:prstGeom>
        </p:spPr>
      </p:pic>
      <p:sp>
        <p:nvSpPr>
          <p:cNvPr id="9" name="Rounded Rectangle 8"/>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10" name="Rounded Rectangle 9"/>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11" name="Rounded Rectangle 10"/>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12" name="TextBox 11"/>
          <p:cNvSpPr txBox="1"/>
          <p:nvPr/>
        </p:nvSpPr>
        <p:spPr>
          <a:xfrm>
            <a:off x="1028700" y="3363722"/>
            <a:ext cx="6766560" cy="5944870"/>
          </a:xfrm>
          <a:prstGeom prst="rect">
            <a:avLst/>
          </a:prstGeom>
          <a:noFill/>
        </p:spPr>
        <p:txBody>
          <a:bodyPr anchor="t" rtlCol="false" lIns="0" tIns="0" rIns="0" bIns="0" wrap="square"/>
          <a:lstStyle/>
          <a:p>
            <a:pPr algn="l">
              <a:lnSpc>
                <a:spcPts val="2910"/>
              </a:lnSpc>
              <a:spcBef>
                <a:spcPts val="0"/>
              </a:spcBef>
              <a:buNone/>
            </a:pPr>
            <a:r>
              <a:rPr lang="en-US" sz="2328" b="true">
                <a:solidFill>
                  <a:srgbClr val="124944"/>
                </a:solidFill>
                <a:latin typeface="Nunito Ultra-Bold"/>
                <a:ea typeface="Nunito Ultra-Bold"/>
                <a:cs typeface="Nunito Ultra-Bold"/>
                <a:sym typeface="Nunito Ultra-Bold"/>
              </a:rPr>
              <a:t>Baselines</a:t>
            </a:r>
          </a:p>
          <a:p>
            <a:pPr algn="l" marL="274320" indent="-274320">
              <a:lnSpc>
                <a:spcPts val="2716"/>
              </a:lnSpc>
              <a:spcBef>
                <a:spcPts val="0"/>
              </a:spcBef>
              <a:buClr>
                <a:srgbClr val="DF8330"/>
              </a:buClr>
              <a:buSzPct val="100000"/>
              <a:buFont typeface="Arial"/>
              <a:buChar char="•"/>
            </a:pPr>
            <a:r>
              <a:rPr lang="en-US" sz="1940" b="true">
                <a:solidFill>
                  <a:srgbClr val="111111"/>
                </a:solidFill>
                <a:latin typeface="Nunito Bold"/>
                <a:ea typeface="Nunito Bold"/>
                <a:cs typeface="Nunito Bold"/>
                <a:sym typeface="Nunito Bold"/>
              </a:rPr>
              <a:t>Clustering benchmark:</a:t>
            </a:r>
            <a:r>
              <a:rPr lang="en-US" sz="1940" b="true">
                <a:solidFill>
                  <a:srgbClr val="111111"/>
                </a:solidFill>
                <a:latin typeface="Nunito Semi-Bold"/>
                <a:ea typeface="Nunito Semi-Bold"/>
                <a:cs typeface="Nunito Semi-Bold"/>
                <a:sym typeface="Nunito Semi-Bold"/>
              </a:rPr>
              <a:t> LIME-based surrogate explanation pipeline.</a:t>
            </a:r>
          </a:p>
          <a:p>
            <a:pPr algn="l" marL="274320" indent="-274320">
              <a:lnSpc>
                <a:spcPts val="2716"/>
              </a:lnSpc>
              <a:spcBef>
                <a:spcPts val="776"/>
              </a:spcBef>
              <a:buClr>
                <a:srgbClr val="DF8330"/>
              </a:buClr>
              <a:buSzPct val="100000"/>
              <a:buFont typeface="Arial"/>
              <a:buChar char="•"/>
            </a:pPr>
            <a:r>
              <a:rPr lang="en-US" sz="1940" b="true">
                <a:solidFill>
                  <a:srgbClr val="111111"/>
                </a:solidFill>
                <a:latin typeface="Nunito Bold"/>
                <a:ea typeface="Nunito Bold"/>
                <a:cs typeface="Nunito Bold"/>
                <a:sym typeface="Nunito Bold"/>
              </a:rPr>
              <a:t>Recommendation:</a:t>
            </a:r>
            <a:r>
              <a:rPr lang="en-US" sz="1940" b="true">
                <a:solidFill>
                  <a:srgbClr val="111111"/>
                </a:solidFill>
                <a:latin typeface="Nunito Semi-Bold"/>
                <a:ea typeface="Nunito Semi-Bold"/>
                <a:cs typeface="Nunito Semi-Bold"/>
                <a:sym typeface="Nunito Semi-Bold"/>
              </a:rPr>
              <a:t> MF, NCF, LightGCN, RecDCL, HCCF, </a:t>
            </a:r>
            <a:r>
              <a:rPr lang="en-US" sz="1940" b="true">
                <a:solidFill>
                  <a:srgbClr val="111111"/>
                </a:solidFill>
                <a:latin typeface="Nunito Bold"/>
                <a:ea typeface="Nunito Bold"/>
                <a:cs typeface="Nunito Bold"/>
                <a:sym typeface="Nunito Bold"/>
              </a:rPr>
              <a:t>HPCF (strongest reference)</a:t>
            </a:r>
            <a:r>
              <a:rPr lang="en-US" sz="1940" b="true">
                <a:solidFill>
                  <a:srgbClr val="111111"/>
                </a:solidFill>
                <a:latin typeface="Nunito Semi-Bold"/>
                <a:ea typeface="Nunito Semi-Bold"/>
                <a:cs typeface="Nunito Semi-Bold"/>
                <a:sym typeface="Nunito Semi-Bold"/>
              </a:rPr>
              <a:t>: classical, neural, graph and hypergraph families, so the effect of cooperative attribution is not confused with a lucky model choice.</a:t>
            </a:r>
          </a:p>
          <a:p>
            <a:pPr algn="l">
              <a:lnSpc>
                <a:spcPts val="2910"/>
              </a:lnSpc>
              <a:spcBef>
                <a:spcPts val="1552"/>
              </a:spcBef>
              <a:buNone/>
            </a:pPr>
            <a:r>
              <a:rPr lang="en-US" sz="2328" b="true">
                <a:solidFill>
                  <a:srgbClr val="124944"/>
                </a:solidFill>
                <a:latin typeface="Nunito Ultra-Bold"/>
                <a:ea typeface="Nunito Ultra-Bold"/>
                <a:cs typeface="Nunito Ultra-Bold"/>
                <a:sym typeface="Nunito Ultra-Bold"/>
              </a:rPr>
              <a:t>Metrics</a:t>
            </a:r>
          </a:p>
          <a:p>
            <a:pPr algn="l" marL="274320" indent="-274320">
              <a:lnSpc>
                <a:spcPts val="2716"/>
              </a:lnSpc>
              <a:spcBef>
                <a:spcPts val="0"/>
              </a:spcBef>
              <a:buClr>
                <a:srgbClr val="DF8330"/>
              </a:buClr>
              <a:buSzPct val="100000"/>
              <a:buFont typeface="Arial"/>
              <a:buChar char="•"/>
            </a:pPr>
            <a:r>
              <a:rPr lang="en-US" sz="1940" b="true">
                <a:solidFill>
                  <a:srgbClr val="111111"/>
                </a:solidFill>
                <a:latin typeface="Nunito Bold"/>
                <a:ea typeface="Nunito Bold"/>
                <a:cs typeface="Nunito Bold"/>
                <a:sym typeface="Nunito Bold"/>
              </a:rPr>
              <a:t>Ranking:</a:t>
            </a:r>
            <a:r>
              <a:rPr lang="en-US" sz="1940" b="true">
                <a:solidFill>
                  <a:srgbClr val="111111"/>
                </a:solidFill>
                <a:latin typeface="Nunito Semi-Bold"/>
                <a:ea typeface="Nunito Semi-Bold"/>
                <a:cs typeface="Nunito Semi-Bold"/>
                <a:sym typeface="Nunito Semi-Bold"/>
              </a:rPr>
              <a:t> Precision@K, Recall@K, </a:t>
            </a:r>
            <a:r>
              <a:rPr lang="en-US" sz="1940" b="true">
                <a:solidFill>
                  <a:srgbClr val="111111"/>
                </a:solidFill>
                <a:latin typeface="Nunito Bold"/>
                <a:ea typeface="Nunito Bold"/>
                <a:cs typeface="Nunito Bold"/>
                <a:sym typeface="Nunito Bold"/>
              </a:rPr>
              <a:t>NDCG@20 (principal)</a:t>
            </a:r>
            <a:r>
              <a:rPr lang="en-US" sz="1940" b="true">
                <a:solidFill>
                  <a:srgbClr val="111111"/>
                </a:solidFill>
                <a:latin typeface="Nunito Semi-Bold"/>
                <a:ea typeface="Nunito Semi-Bold"/>
                <a:cs typeface="Nunito Semi-Bold"/>
                <a:sym typeface="Nunito Semi-Bold"/>
              </a:rPr>
              <a:t>, K </a:t>
            </a:r>
            <a:r>
              <a:rPr lang="en-US" sz="1940" b="true">
                <a:solidFill>
                  <a:srgbClr val="111111"/>
                </a:solidFill>
                <a:latin typeface="Cambria Math"/>
                <a:ea typeface="Cambria Math"/>
                <a:cs typeface="Cambria Math"/>
                <a:sym typeface="Cambria Math"/>
              </a:rPr>
              <a:t>∈ </a:t>
            </a:r>
            <a:r>
              <a:rPr lang="en-US" sz="1940" b="true">
                <a:solidFill>
                  <a:srgbClr val="111111"/>
                </a:solidFill>
                <a:latin typeface="Nunito Semi-Bold"/>
                <a:ea typeface="Nunito Semi-Bold"/>
                <a:cs typeface="Nunito Semi-Bold"/>
                <a:sym typeface="Nunito Semi-Bold"/>
              </a:rPr>
              <a:t>{5, 10, 20}.</a:t>
            </a:r>
          </a:p>
          <a:p>
            <a:pPr algn="l" marL="274320" indent="-274320">
              <a:lnSpc>
                <a:spcPts val="2871"/>
              </a:lnSpc>
              <a:spcBef>
                <a:spcPts val="776"/>
              </a:spcBef>
              <a:buClr>
                <a:srgbClr val="DF8330"/>
              </a:buClr>
              <a:buSzPct val="100000"/>
              <a:buFont typeface="Arial"/>
              <a:buChar char="•"/>
            </a:pPr>
            <a:r>
              <a:rPr lang="en-US" sz="1940" b="true">
                <a:solidFill>
                  <a:srgbClr val="111111"/>
                </a:solidFill>
                <a:latin typeface="Nunito Bold"/>
                <a:ea typeface="Nunito Bold"/>
                <a:cs typeface="Nunito Bold"/>
                <a:sym typeface="Nunito Bold"/>
              </a:rPr>
              <a:t>System diversity:</a:t>
            </a:r>
            <a:r>
              <a:rPr lang="en-US" sz="1940" b="true">
                <a:solidFill>
                  <a:srgbClr val="111111"/>
                </a:solidFill>
                <a:latin typeface="Nunito Semi-Bold"/>
                <a:ea typeface="Nunito Semi-Bold"/>
                <a:cs typeface="Nunito Semi-Bold"/>
                <a:sym typeface="Nunito Semi-Bold"/>
              </a:rPr>
              <a:t> Catalogue Coverage = |</a:t>
            </a:r>
            <a:r>
              <a:rPr lang="en-US" sz="1940" b="true">
                <a:solidFill>
                  <a:srgbClr val="111111"/>
                </a:solidFill>
                <a:latin typeface="Cambria Math"/>
                <a:ea typeface="Cambria Math"/>
                <a:cs typeface="Cambria Math"/>
                <a:sym typeface="Cambria Math"/>
              </a:rPr>
              <a:t>⋃</a:t>
            </a:r>
            <a:r>
              <a:rPr lang="en-US" sz="1940" b="true" baseline="-25000">
                <a:solidFill>
                  <a:srgbClr val="111111"/>
                </a:solidFill>
                <a:latin typeface="Nunito Semi-Bold"/>
                <a:ea typeface="Nunito Semi-Bold"/>
                <a:cs typeface="Nunito Semi-Bold"/>
                <a:sym typeface="Nunito Semi-Bold"/>
              </a:rPr>
              <a:t>u</a:t>
            </a:r>
            <a:r>
              <a:rPr lang="en-US" sz="1940" b="true">
                <a:solidFill>
                  <a:srgbClr val="111111"/>
                </a:solidFill>
                <a:latin typeface="Nunito Semi-Bold"/>
                <a:ea typeface="Nunito Semi-Bold"/>
                <a:cs typeface="Nunito Semi-Bold"/>
                <a:sym typeface="Nunito Semi-Bold"/>
              </a:rPr>
              <a:t> R</a:t>
            </a:r>
            <a:r>
              <a:rPr lang="en-US" sz="1940" b="true" baseline="-25000">
                <a:solidFill>
                  <a:srgbClr val="111111"/>
                </a:solidFill>
                <a:latin typeface="Nunito Semi-Bold"/>
                <a:ea typeface="Nunito Semi-Bold"/>
                <a:cs typeface="Nunito Semi-Bold"/>
                <a:sym typeface="Nunito Semi-Bold"/>
              </a:rPr>
              <a:t>u</a:t>
            </a:r>
            <a:r>
              <a:rPr lang="en-US" sz="1940" b="true">
                <a:solidFill>
                  <a:srgbClr val="111111"/>
                </a:solidFill>
                <a:latin typeface="Nunito Semi-Bold"/>
                <a:ea typeface="Nunito Semi-Bold"/>
                <a:cs typeface="Nunito Semi-Bold"/>
                <a:sym typeface="Nunito Semi-Bold"/>
              </a:rPr>
              <a:t>| / |I|.</a:t>
            </a:r>
          </a:p>
          <a:p>
            <a:pPr algn="l" marL="274320" indent="-274320">
              <a:lnSpc>
                <a:spcPts val="2716"/>
              </a:lnSpc>
              <a:spcBef>
                <a:spcPts val="776"/>
              </a:spcBef>
              <a:buClr>
                <a:srgbClr val="DF8330"/>
              </a:buClr>
              <a:buSzPct val="100000"/>
              <a:buFont typeface="Arial"/>
              <a:buChar char="•"/>
            </a:pPr>
            <a:r>
              <a:rPr lang="en-US" sz="1940" b="true">
                <a:solidFill>
                  <a:srgbClr val="111111"/>
                </a:solidFill>
                <a:latin typeface="Nunito Bold"/>
                <a:ea typeface="Nunito Bold"/>
                <a:cs typeface="Nunito Bold"/>
                <a:sym typeface="Nunito Bold"/>
              </a:rPr>
              <a:t>List diversity:</a:t>
            </a:r>
            <a:r>
              <a:rPr lang="en-US" sz="1940" b="true">
                <a:solidFill>
                  <a:srgbClr val="111111"/>
                </a:solidFill>
                <a:latin typeface="Nunito Semi-Bold"/>
                <a:ea typeface="Nunito Semi-Bold"/>
                <a:cs typeface="Nunito Semi-Bold"/>
                <a:sym typeface="Nunito Semi-Bold"/>
              </a:rPr>
              <a:t> Intra-List Diversity (ILD), </a:t>
            </a:r>
            <a:r>
              <a:rPr lang="en-US" sz="1940" b="true">
                <a:solidFill>
                  <a:srgbClr val="111111"/>
                </a:solidFill>
                <a:latin typeface="Nunito Bold"/>
                <a:ea typeface="Nunito Bold"/>
                <a:cs typeface="Nunito Bold"/>
                <a:sym typeface="Nunito Bold"/>
              </a:rPr>
              <a:t>built into the coalition utility</a:t>
            </a:r>
            <a:r>
              <a:rPr lang="en-US" sz="1940" b="true">
                <a:solidFill>
                  <a:srgbClr val="111111"/>
                </a:solidFill>
                <a:latin typeface="Nunito Semi-Bold"/>
                <a:ea typeface="Nunito Semi-Bold"/>
                <a:cs typeface="Nunito Semi-Bold"/>
                <a:sym typeface="Nunito Semi-Bold"/>
              </a:rPr>
              <a:t> on purpose.</a:t>
            </a:r>
          </a:p>
          <a:p>
            <a:pPr algn="l" marL="274320" indent="-274320">
              <a:lnSpc>
                <a:spcPts val="2716"/>
              </a:lnSpc>
              <a:spcBef>
                <a:spcPts val="776"/>
              </a:spcBef>
              <a:buClr>
                <a:srgbClr val="DF8330"/>
              </a:buClr>
              <a:buSzPct val="100000"/>
              <a:buFont typeface="Arial"/>
              <a:buChar char="•"/>
            </a:pPr>
            <a:r>
              <a:rPr lang="en-US" sz="1940" b="true">
                <a:solidFill>
                  <a:srgbClr val="111111"/>
                </a:solidFill>
                <a:latin typeface="Nunito Bold"/>
                <a:ea typeface="Nunito Bold"/>
                <a:cs typeface="Nunito Bold"/>
                <a:sym typeface="Nunito Bold"/>
              </a:rPr>
              <a:t>Clustering quality:</a:t>
            </a:r>
            <a:r>
              <a:rPr lang="en-US" sz="1940" b="true">
                <a:solidFill>
                  <a:srgbClr val="111111"/>
                </a:solidFill>
                <a:latin typeface="Nunito Semi-Bold"/>
                <a:ea typeface="Nunito Semi-Bold"/>
                <a:cs typeface="Nunito Semi-Bold"/>
                <a:sym typeface="Nunito Semi-Bold"/>
              </a:rPr>
              <a:t> Silhouette, Davies–Bouldin.</a:t>
            </a:r>
          </a:p>
        </p:txBody>
      </p:sp>
      <p:sp>
        <p:nvSpPr>
          <p:cNvPr id="13" name="TextBox 12"/>
          <p:cNvSpPr txBox="1"/>
          <p:nvPr/>
        </p:nvSpPr>
        <p:spPr>
          <a:xfrm>
            <a:off x="8343900" y="3363722"/>
            <a:ext cx="891540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EVALUATION METRICS</a:t>
            </a:r>
          </a:p>
        </p:txBody>
      </p:sp>
      <p:sp>
        <p:nvSpPr>
          <p:cNvPr id="14" name="Rounded Rectangle 13"/>
          <p:cNvSpPr/>
          <p:nvPr/>
        </p:nvSpPr>
        <p:spPr>
          <a:xfrm>
            <a:off x="8343900" y="3912362"/>
            <a:ext cx="2788920" cy="5304790"/>
          </a:xfrm>
          <a:prstGeom prst="roundRect">
            <a:avLst>
              <a:gd name="adj" fmla="val 9836"/>
            </a:avLst>
          </a:prstGeom>
          <a:solidFill>
            <a:srgbClr val="124944"/>
          </a:solidFill>
          <a:ln>
            <a:noFill/>
          </a:ln>
        </p:spPr>
        <p:txBody>
          <a:bodyPr anchor="ctr" rtlCol="false" lIns="182880" tIns="182880" rIns="182880" bIns="182880" wrap="square"/>
          <a:lstStyle/>
          <a:p>
            <a:pPr algn="ctr">
              <a:lnSpc>
                <a:spcPts val="2700"/>
              </a:lnSpc>
              <a:spcBef>
                <a:spcPts val="0"/>
              </a:spcBef>
              <a:buNone/>
            </a:pPr>
            <a:r>
              <a:rPr lang="en-US" sz="2200" b="true">
                <a:solidFill>
                  <a:srgbClr val="FFFFFF"/>
                </a:solidFill>
                <a:latin typeface="Nunito Ultra-Bold"/>
                <a:ea typeface="Nunito Ultra-Bold"/>
                <a:cs typeface="Nunito Ultra-Bold"/>
                <a:sym typeface="Nunito Ultra-Bold"/>
              </a:rPr>
              <a:t>Ranking</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NDCG@K</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Recall@K</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Precision@K</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MAP@K / HR@K</a:t>
            </a:r>
          </a:p>
        </p:txBody>
      </p:sp>
      <p:sp>
        <p:nvSpPr>
          <p:cNvPr id="15" name="Rounded Rectangle 14"/>
          <p:cNvSpPr/>
          <p:nvPr/>
        </p:nvSpPr>
        <p:spPr>
          <a:xfrm>
            <a:off x="11407140" y="3912362"/>
            <a:ext cx="2788920" cy="5304790"/>
          </a:xfrm>
          <a:prstGeom prst="roundRect">
            <a:avLst>
              <a:gd name="adj" fmla="val 9836"/>
            </a:avLst>
          </a:prstGeom>
          <a:solidFill>
            <a:srgbClr val="1E5F58"/>
          </a:solidFill>
          <a:ln>
            <a:noFill/>
          </a:ln>
        </p:spPr>
        <p:txBody>
          <a:bodyPr anchor="ctr" rtlCol="false" lIns="182880" tIns="182880" rIns="182880" bIns="182880" wrap="square"/>
          <a:lstStyle/>
          <a:p>
            <a:pPr algn="ctr">
              <a:lnSpc>
                <a:spcPts val="2700"/>
              </a:lnSpc>
              <a:spcBef>
                <a:spcPts val="0"/>
              </a:spcBef>
              <a:buNone/>
            </a:pPr>
            <a:r>
              <a:rPr lang="en-US" sz="2200" b="true">
                <a:solidFill>
                  <a:srgbClr val="FFFFFF"/>
                </a:solidFill>
                <a:latin typeface="Nunito Ultra-Bold"/>
                <a:ea typeface="Nunito Ultra-Bold"/>
                <a:cs typeface="Nunito Ultra-Bold"/>
                <a:sym typeface="Nunito Ultra-Bold"/>
              </a:rPr>
              <a:t>Beyond accuracy</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Coverage</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Intra-List Diversity</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Novelty</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Fairness</a:t>
            </a:r>
          </a:p>
        </p:txBody>
      </p:sp>
      <p:sp>
        <p:nvSpPr>
          <p:cNvPr id="16" name="Rounded Rectangle 15"/>
          <p:cNvSpPr/>
          <p:nvPr/>
        </p:nvSpPr>
        <p:spPr>
          <a:xfrm>
            <a:off x="14470380" y="3912362"/>
            <a:ext cx="2788920" cy="5304790"/>
          </a:xfrm>
          <a:prstGeom prst="roundRect">
            <a:avLst>
              <a:gd name="adj" fmla="val 9836"/>
            </a:avLst>
          </a:prstGeom>
          <a:solidFill>
            <a:srgbClr val="DF8330"/>
          </a:solidFill>
          <a:ln>
            <a:noFill/>
          </a:ln>
        </p:spPr>
        <p:txBody>
          <a:bodyPr anchor="ctr" rtlCol="false" lIns="182880" tIns="182880" rIns="182880" bIns="182880" wrap="square"/>
          <a:lstStyle/>
          <a:p>
            <a:pPr algn="ctr">
              <a:lnSpc>
                <a:spcPts val="2700"/>
              </a:lnSpc>
              <a:spcBef>
                <a:spcPts val="0"/>
              </a:spcBef>
              <a:buNone/>
            </a:pPr>
            <a:r>
              <a:rPr lang="en-US" sz="2200" b="true">
                <a:solidFill>
                  <a:srgbClr val="FFFFFF"/>
                </a:solidFill>
                <a:latin typeface="Nunito Ultra-Bold"/>
                <a:ea typeface="Nunito Ultra-Bold"/>
                <a:cs typeface="Nunito Ultra-Bold"/>
                <a:sym typeface="Nunito Ultra-Bold"/>
              </a:rPr>
              <a:t>Clustering validity</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Silhouette</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Davies–Bouldin</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Calinski–Harabasz</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Stability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pic>
        <p:nvPicPr>
          <p:cNvPr id="8" name="Picture 7" descr="image.png"/>
          <p:cNvPicPr>
            <a:picLocks noChangeAspect="1"/>
          </p:cNvPicPr>
          <p:nvPr/>
        </p:nvPicPr>
        <p:blipFill>
          <a:blip r:embed="rId2"/>
          <a:stretch>
            <a:fillRect/>
          </a:stretch>
        </p:blipFill>
        <p:spPr>
          <a:xfrm>
            <a:off x="7035228" y="1673352"/>
            <a:ext cx="457200" cy="415247"/>
          </a:xfrm>
          <a:prstGeom prst="rect">
            <a:avLst/>
          </a:prstGeom>
        </p:spPr>
      </p:pic>
      <p:sp>
        <p:nvSpPr>
          <p:cNvPr id="9" name="Rounded Rectangle 8"/>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10" name="Rounded Rectangle 9"/>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11" name="Rounded Rectangle 10"/>
          <p:cNvSpPr/>
          <p:nvPr/>
        </p:nvSpPr>
        <p:spPr>
          <a:xfrm>
            <a:off x="4158071" y="2559050"/>
            <a:ext cx="164257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sp>
        <p:nvSpPr>
          <p:cNvPr id="12" name="Rounded Rectangle 11"/>
          <p:cNvSpPr/>
          <p:nvPr/>
        </p:nvSpPr>
        <p:spPr>
          <a:xfrm>
            <a:off x="1028700" y="3455162"/>
            <a:ext cx="3851910" cy="3108960"/>
          </a:xfrm>
          <a:prstGeom prst="roundRect">
            <a:avLst>
              <a:gd name="adj" fmla="val 8823"/>
            </a:avLst>
          </a:prstGeom>
          <a:solidFill>
            <a:srgbClr val="124944"/>
          </a:solidFill>
          <a:ln>
            <a:noFill/>
          </a:ln>
        </p:spPr>
        <p:txBody>
          <a:bodyPr anchor="t" rtlCol="false" lIns="365760" tIns="365760" rIns="32004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CPU</a:t>
            </a:r>
          </a:p>
          <a:p>
            <a:pPr algn="l">
              <a:lnSpc>
                <a:spcPts val="2700"/>
              </a:lnSpc>
              <a:spcBef>
                <a:spcPts val="800"/>
              </a:spcBef>
              <a:buNone/>
            </a:pPr>
            <a:r>
              <a:rPr lang="en-US" sz="2200" b="true">
                <a:solidFill>
                  <a:srgbClr val="FFFFFF"/>
                </a:solidFill>
                <a:latin typeface="Nunito Ultra-Bold"/>
                <a:ea typeface="Nunito Ultra-Bold"/>
                <a:cs typeface="Nunito Ultra-Bold"/>
                <a:sym typeface="Nunito Ultra-Bold"/>
              </a:rPr>
              <a:t>Intel Core i9-14900K · 24 cores</a:t>
            </a:r>
          </a:p>
          <a:p>
            <a:pPr algn="l">
              <a:lnSpc>
                <a:spcPts val="2100"/>
              </a:lnSpc>
              <a:spcBef>
                <a:spcPts val="800"/>
              </a:spcBef>
              <a:buNone/>
            </a:pPr>
            <a:r>
              <a:rPr lang="en-US" sz="1700" b="true">
                <a:solidFill>
                  <a:srgbClr val="DCE7E3"/>
                </a:solidFill>
                <a:latin typeface="Nunito Semi-Bold"/>
                <a:ea typeface="Nunito Semi-Bold"/>
                <a:cs typeface="Nunito Semi-Bold"/>
                <a:sym typeface="Nunito Semi-Bold"/>
              </a:rPr>
              <a:t>clustering, preprocessing, data loading</a:t>
            </a:r>
          </a:p>
        </p:txBody>
      </p:sp>
      <p:sp>
        <p:nvSpPr>
          <p:cNvPr id="13" name="Rounded Rectangle 12"/>
          <p:cNvSpPr/>
          <p:nvPr/>
        </p:nvSpPr>
        <p:spPr>
          <a:xfrm>
            <a:off x="5154930" y="3455162"/>
            <a:ext cx="3851910" cy="3108960"/>
          </a:xfrm>
          <a:prstGeom prst="roundRect">
            <a:avLst>
              <a:gd name="adj" fmla="val 8823"/>
            </a:avLst>
          </a:prstGeom>
          <a:solidFill>
            <a:srgbClr val="1E5F58"/>
          </a:solidFill>
          <a:ln>
            <a:noFill/>
          </a:ln>
        </p:spPr>
        <p:txBody>
          <a:bodyPr anchor="t" rtlCol="false" lIns="365760" tIns="365760" rIns="32004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GPU</a:t>
            </a:r>
          </a:p>
          <a:p>
            <a:pPr algn="l">
              <a:lnSpc>
                <a:spcPts val="2700"/>
              </a:lnSpc>
              <a:spcBef>
                <a:spcPts val="800"/>
              </a:spcBef>
              <a:buNone/>
            </a:pPr>
            <a:r>
              <a:rPr lang="en-US" sz="2200" b="true">
                <a:solidFill>
                  <a:srgbClr val="FFFFFF"/>
                </a:solidFill>
                <a:latin typeface="Nunito Ultra-Bold"/>
                <a:ea typeface="Nunito Ultra-Bold"/>
                <a:cs typeface="Nunito Ultra-Bold"/>
                <a:sym typeface="Nunito Ultra-Bold"/>
              </a:rPr>
              <a:t>NVIDIA GeForce RTX 4090 · 24 GB</a:t>
            </a:r>
          </a:p>
          <a:p>
            <a:pPr algn="l">
              <a:lnSpc>
                <a:spcPts val="2100"/>
              </a:lnSpc>
              <a:spcBef>
                <a:spcPts val="800"/>
              </a:spcBef>
              <a:buNone/>
            </a:pPr>
            <a:r>
              <a:rPr lang="en-US" sz="1700" b="true">
                <a:solidFill>
                  <a:srgbClr val="DCE7E3"/>
                </a:solidFill>
                <a:latin typeface="Nunito Semi-Bold"/>
                <a:ea typeface="Nunito Semi-Bold"/>
                <a:cs typeface="Nunito Semi-Bold"/>
                <a:sym typeface="Nunito Semi-Bold"/>
              </a:rPr>
              <a:t>DyHuCoG training &amp; inference</a:t>
            </a:r>
          </a:p>
        </p:txBody>
      </p:sp>
      <p:sp>
        <p:nvSpPr>
          <p:cNvPr id="14" name="Rounded Rectangle 13"/>
          <p:cNvSpPr/>
          <p:nvPr/>
        </p:nvSpPr>
        <p:spPr>
          <a:xfrm>
            <a:off x="9281160" y="3455162"/>
            <a:ext cx="3851910" cy="3108960"/>
          </a:xfrm>
          <a:prstGeom prst="roundRect">
            <a:avLst>
              <a:gd name="adj" fmla="val 8823"/>
            </a:avLst>
          </a:prstGeom>
          <a:solidFill>
            <a:srgbClr val="124944"/>
          </a:solidFill>
          <a:ln>
            <a:noFill/>
          </a:ln>
        </p:spPr>
        <p:txBody>
          <a:bodyPr anchor="t" rtlCol="false" lIns="365760" tIns="365760" rIns="32004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MEMORY</a:t>
            </a:r>
          </a:p>
          <a:p>
            <a:pPr algn="l">
              <a:lnSpc>
                <a:spcPts val="2700"/>
              </a:lnSpc>
              <a:spcBef>
                <a:spcPts val="800"/>
              </a:spcBef>
              <a:buNone/>
            </a:pPr>
            <a:r>
              <a:rPr lang="en-US" sz="2200" b="true">
                <a:solidFill>
                  <a:srgbClr val="FFFFFF"/>
                </a:solidFill>
                <a:latin typeface="Nunito Ultra-Bold"/>
                <a:ea typeface="Nunito Ultra-Bold"/>
                <a:cs typeface="Nunito Ultra-Bold"/>
                <a:sym typeface="Nunito Ultra-Bold"/>
              </a:rPr>
              <a:t>48 GB RAM · 2 TB SSD</a:t>
            </a:r>
          </a:p>
          <a:p>
            <a:pPr algn="l">
              <a:lnSpc>
                <a:spcPts val="2100"/>
              </a:lnSpc>
              <a:spcBef>
                <a:spcPts val="800"/>
              </a:spcBef>
              <a:buNone/>
            </a:pPr>
            <a:r>
              <a:rPr lang="en-US" sz="1700" b="true">
                <a:solidFill>
                  <a:srgbClr val="DCE7E3"/>
                </a:solidFill>
                <a:latin typeface="Nunito Semi-Bold"/>
                <a:ea typeface="Nunito Semi-Bold"/>
                <a:cs typeface="Nunito Semi-Bold"/>
                <a:sym typeface="Nunito Semi-Bold"/>
              </a:rPr>
              <a:t>full Beijing dataset in memory</a:t>
            </a:r>
          </a:p>
        </p:txBody>
      </p:sp>
      <p:sp>
        <p:nvSpPr>
          <p:cNvPr id="15" name="Rounded Rectangle 14"/>
          <p:cNvSpPr/>
          <p:nvPr/>
        </p:nvSpPr>
        <p:spPr>
          <a:xfrm>
            <a:off x="13407390" y="3455162"/>
            <a:ext cx="3851910" cy="3108960"/>
          </a:xfrm>
          <a:prstGeom prst="roundRect">
            <a:avLst>
              <a:gd name="adj" fmla="val 8823"/>
            </a:avLst>
          </a:prstGeom>
          <a:solidFill>
            <a:srgbClr val="1E5F58"/>
          </a:solidFill>
          <a:ln>
            <a:noFill/>
          </a:ln>
        </p:spPr>
        <p:txBody>
          <a:bodyPr anchor="t" rtlCol="false" lIns="365760" tIns="365760" rIns="32004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SOFTWARE</a:t>
            </a:r>
          </a:p>
          <a:p>
            <a:pPr algn="l">
              <a:lnSpc>
                <a:spcPts val="2700"/>
              </a:lnSpc>
              <a:spcBef>
                <a:spcPts val="800"/>
              </a:spcBef>
              <a:buNone/>
            </a:pPr>
            <a:r>
              <a:rPr lang="en-US" sz="2200" b="true">
                <a:solidFill>
                  <a:srgbClr val="FFFFFF"/>
                </a:solidFill>
                <a:latin typeface="Nunito Ultra-Bold"/>
                <a:ea typeface="Nunito Ultra-Bold"/>
                <a:cs typeface="Nunito Ultra-Bold"/>
                <a:sym typeface="Nunito Ultra-Bold"/>
              </a:rPr>
              <a:t>Python 3.8 · PyTorch 2.0.1</a:t>
            </a:r>
          </a:p>
          <a:p>
            <a:pPr algn="l">
              <a:lnSpc>
                <a:spcPts val="2100"/>
              </a:lnSpc>
              <a:spcBef>
                <a:spcPts val="800"/>
              </a:spcBef>
              <a:buNone/>
            </a:pPr>
            <a:r>
              <a:rPr lang="en-US" sz="1700" b="true">
                <a:solidFill>
                  <a:srgbClr val="DCE7E3"/>
                </a:solidFill>
                <a:latin typeface="Nunito Semi-Bold"/>
                <a:ea typeface="Nunito Semi-Bold"/>
                <a:cs typeface="Nunito Semi-Bold"/>
                <a:sym typeface="Nunito Semi-Bold"/>
              </a:rPr>
              <a:t>scikit-learn, LightGBM, SHAP, NumPy / SciPy / pandas</a:t>
            </a:r>
          </a:p>
        </p:txBody>
      </p:sp>
      <p:sp>
        <p:nvSpPr>
          <p:cNvPr id="16" name="Rounded Rectangle 15"/>
          <p:cNvSpPr/>
          <p:nvPr/>
        </p:nvSpPr>
        <p:spPr>
          <a:xfrm>
            <a:off x="1028700" y="7204202"/>
            <a:ext cx="16230600" cy="2104390"/>
          </a:xfrm>
          <a:prstGeom prst="roundRect">
            <a:avLst>
              <a:gd name="adj" fmla="val 14773"/>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1485900" y="6966458"/>
            <a:ext cx="144631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Notes</a:t>
            </a:r>
          </a:p>
        </p:txBody>
      </p:sp>
      <p:sp>
        <p:nvSpPr>
          <p:cNvPr id="18" name="TextBox 17"/>
          <p:cNvSpPr txBox="1"/>
          <p:nvPr/>
        </p:nvSpPr>
        <p:spPr>
          <a:xfrm>
            <a:off x="1531620" y="7844282"/>
            <a:ext cx="15270480" cy="1189990"/>
          </a:xfrm>
          <a:prstGeom prst="rect">
            <a:avLst/>
          </a:prstGeom>
          <a:noFill/>
        </p:spPr>
        <p:txBody>
          <a:bodyPr anchor="t" rtlCol="false" lIns="0" tIns="0" rIns="0" bIns="0" wrap="square"/>
          <a:lstStyle/>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Altair for interactive SHAP visualisation; metrics reported at K </a:t>
            </a:r>
            <a:r>
              <a:rPr lang="en-US" sz="1760" b="true">
                <a:solidFill>
                  <a:srgbClr val="111111"/>
                </a:solidFill>
                <a:latin typeface="Cambria Math"/>
                <a:ea typeface="Cambria Math"/>
                <a:cs typeface="Cambria Math"/>
                <a:sym typeface="Cambria Math"/>
              </a:rPr>
              <a:t>∈ </a:t>
            </a:r>
            <a:r>
              <a:rPr lang="en-US" sz="1760" b="true">
                <a:solidFill>
                  <a:srgbClr val="111111"/>
                </a:solidFill>
                <a:latin typeface="Nunito Semi-Bold"/>
                <a:ea typeface="Nunito Semi-Bold"/>
                <a:cs typeface="Nunito Semi-Bold"/>
                <a:sym typeface="Nunito Semi-Bold"/>
              </a:rPr>
              <a:t>{5, 10, 20}.</a:t>
            </a:r>
          </a:p>
          <a:p>
            <a:pPr algn="l" marL="274320" indent="-274320">
              <a:lnSpc>
                <a:spcPts val="2464"/>
              </a:lnSpc>
              <a:spcBef>
                <a:spcPts val="704"/>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The hardware mainly explains the runtime figures quoted later (e.g. DyHuCoG ≈ 1.78× HPCF training time).</a:t>
            </a:r>
          </a:p>
          <a:p>
            <a:pPr algn="l" marL="274320" indent="-274320">
              <a:lnSpc>
                <a:spcPts val="2464"/>
              </a:lnSpc>
              <a:spcBef>
                <a:spcPts val="704"/>
              </a:spcBef>
              <a:buClr>
                <a:srgbClr val="DF8330"/>
              </a:buClr>
              <a:buSzPct val="100000"/>
              <a:buFont typeface="Arial"/>
              <a:buChar char="•"/>
            </a:pPr>
            <a:r>
              <a:rPr lang="en-US" sz="1760" b="true">
                <a:solidFill>
                  <a:srgbClr val="111111"/>
                </a:solidFill>
                <a:latin typeface="Nunito Bold"/>
                <a:ea typeface="Nunito Bold"/>
                <a:cs typeface="Nunito Bold"/>
                <a:sym typeface="Nunito Bold"/>
              </a:rPr>
              <a:t>Everything runs on standard academic hardware; nothing needs industrial-scale compute.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6" name="TextBox 5"/>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7" name="Oval 6"/>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9" name="TextBox 8"/>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Explainable black-box clustering with Shapley values  ·  answers RQ1</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Gap and Objectives</a:t>
            </a:r>
          </a:p>
        </p:txBody>
      </p:sp>
      <p:pic>
        <p:nvPicPr>
          <p:cNvPr id="8" name="Picture 7" descr="image.png"/>
          <p:cNvPicPr>
            <a:picLocks noChangeAspect="1"/>
          </p:cNvPicPr>
          <p:nvPr/>
        </p:nvPicPr>
        <p:blipFill>
          <a:blip r:embed="rId2"/>
          <a:stretch>
            <a:fillRect/>
          </a:stretch>
        </p:blipFill>
        <p:spPr>
          <a:xfrm>
            <a:off x="6247896"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120026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Gap</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Shapley explanation is </a:t>
            </a:r>
            <a:r>
              <a:rPr lang="en-US" sz="2000" b="true">
                <a:solidFill>
                  <a:srgbClr val="FFFFFF"/>
                </a:solidFill>
                <a:latin typeface="Nunito Bold"/>
                <a:ea typeface="Nunito Bold"/>
                <a:cs typeface="Nunito Bold"/>
                <a:sym typeface="Nunito Bold"/>
              </a:rPr>
              <a:t>standard in supervised tasks</a:t>
            </a:r>
            <a:r>
              <a:rPr lang="en-US" sz="2000" b="true">
                <a:solidFill>
                  <a:srgbClr val="FFFFFF"/>
                </a:solidFill>
                <a:latin typeface="Nunito Semi-Bold"/>
                <a:ea typeface="Nunito Semi-Bold"/>
                <a:cs typeface="Nunito Semi-Bold"/>
                <a:sym typeface="Nunito Semi-Bold"/>
              </a:rPr>
              <a:t>, but clustering is still much less explained.</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Existing clustering-interpretability methods favour </a:t>
            </a:r>
            <a:r>
              <a:rPr lang="en-US" sz="2000" b="true">
                <a:solidFill>
                  <a:srgbClr val="FFFFFF"/>
                </a:solidFill>
                <a:latin typeface="Nunito Bold"/>
                <a:ea typeface="Nunito Bold"/>
                <a:cs typeface="Nunito Bold"/>
                <a:sym typeface="Nunito Bold"/>
              </a:rPr>
              <a:t>local or global</a:t>
            </a:r>
            <a:r>
              <a:rPr lang="en-US" sz="2000" b="true">
                <a:solidFill>
                  <a:srgbClr val="FFFFFF"/>
                </a:solidFill>
                <a:latin typeface="Nunito Semi-Bold"/>
                <a:ea typeface="Nunito Semi-Bold"/>
                <a:cs typeface="Nunito Semi-Bold"/>
                <a:sym typeface="Nunito Semi-Bold"/>
              </a:rPr>
              <a:t> explanation, not both.</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They often fail to scale or to stay </a:t>
            </a:r>
            <a:r>
              <a:rPr lang="en-US" sz="2000" b="true">
                <a:solidFill>
                  <a:srgbClr val="FFFFFF"/>
                </a:solidFill>
                <a:latin typeface="Nunito Bold"/>
                <a:ea typeface="Nunito Bold"/>
                <a:cs typeface="Nunito Bold"/>
                <a:sym typeface="Nunito Bold"/>
              </a:rPr>
              <a:t>consistent across clusters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Clustering is the hardest test bed: the model creates its own structure, so cluster meaning must be worked out after the fact.</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3048366" cy="438912"/>
          </a:xfrm>
          <a:prstGeom prst="roundRect">
            <a:avLst>
              <a:gd name="adj" fmla="val 50000"/>
            </a:avLst>
          </a:prstGeom>
          <a:solidFill>
            <a:srgbClr val="124944"/>
          </a:solidFill>
          <a:ln>
            <a:no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RQ1 </a:t>
            </a:r>
            <a:r>
              <a:rPr lang="en-US" sz="2200" b="true">
                <a:solidFill>
                  <a:srgbClr val="FFFFFF"/>
                </a:solidFill>
                <a:latin typeface="Calibri"/>
                <a:ea typeface="Calibri"/>
                <a:cs typeface="Calibri"/>
                <a:sym typeface="Calibri"/>
              </a:rPr>
              <a:t>→ </a:t>
            </a:r>
            <a:r>
              <a:rPr lang="en-US" sz="2200" b="true">
                <a:solidFill>
                  <a:srgbClr val="FFFFFF"/>
                </a:solidFill>
                <a:latin typeface="Nunito Bold"/>
                <a:ea typeface="Nunito Bold"/>
                <a:cs typeface="Nunito Bold"/>
                <a:sym typeface="Nunito Bold"/>
              </a:rPr>
              <a:t>Objectives</a:t>
            </a:r>
          </a:p>
        </p:txBody>
      </p:sp>
      <p:sp>
        <p:nvSpPr>
          <p:cNvPr id="18" name="TextBox 17"/>
          <p:cNvSpPr txBox="1"/>
          <p:nvPr/>
        </p:nvSpPr>
        <p:spPr>
          <a:xfrm>
            <a:off x="9784080" y="4186682"/>
            <a:ext cx="7018020" cy="4847590"/>
          </a:xfrm>
          <a:prstGeom prst="rect">
            <a:avLst/>
          </a:prstGeom>
          <a:noFill/>
        </p:spPr>
        <p:txBody>
          <a:bodyPr anchor="t" rtlCol="false" lIns="0" tIns="0" rIns="0" bIns="0" wrap="square"/>
          <a:lstStyle/>
          <a:p>
            <a:pPr algn="l">
              <a:lnSpc>
                <a:spcPts val="2800"/>
              </a:lnSpc>
              <a:spcBef>
                <a:spcPts val="0"/>
              </a:spcBef>
              <a:buNone/>
            </a:pPr>
            <a:r>
              <a:rPr lang="en-US" sz="2000" b="true">
                <a:solidFill>
                  <a:srgbClr val="124944"/>
                </a:solidFill>
                <a:latin typeface="Nunito Bold"/>
                <a:ea typeface="Nunito Bold"/>
                <a:cs typeface="Nunito Bold"/>
                <a:sym typeface="Nunito Bold"/>
              </a:rPr>
              <a:t>RQ1 ·</a:t>
            </a:r>
            <a:r>
              <a:rPr lang="en-US" sz="2000" b="true">
                <a:solidFill>
                  <a:srgbClr val="124944"/>
                </a:solidFill>
                <a:latin typeface="Nunito Semi-Bold"/>
                <a:ea typeface="Nunito Semi-Bold"/>
                <a:cs typeface="Nunito Semi-Bold"/>
                <a:sym typeface="Nunito Semi-Bold"/>
              </a:rPr>
              <a:t> How can Shapley values explain black-box clustering faithfully at instance and cluster level?</a:t>
            </a:r>
          </a:p>
        </p:txBody>
      </p:sp>
      <p:sp>
        <p:nvSpPr>
          <p:cNvPr id="19" name="Oval 18"/>
          <p:cNvSpPr/>
          <p:nvPr/>
        </p:nvSpPr>
        <p:spPr>
          <a:xfrm>
            <a:off x="9784080" y="5421122"/>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O1</a:t>
            </a:r>
          </a:p>
        </p:txBody>
      </p:sp>
      <p:sp>
        <p:nvSpPr>
          <p:cNvPr id="20" name="TextBox 19"/>
          <p:cNvSpPr txBox="1"/>
          <p:nvPr/>
        </p:nvSpPr>
        <p:spPr>
          <a:xfrm>
            <a:off x="10515600" y="5238242"/>
            <a:ext cx="6240780" cy="82296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Build a pipeline that yields </a:t>
            </a:r>
            <a:r>
              <a:rPr lang="en-US" sz="1900" b="true">
                <a:solidFill>
                  <a:srgbClr val="111111"/>
                </a:solidFill>
                <a:latin typeface="Nunito Bold"/>
                <a:ea typeface="Nunito Bold"/>
                <a:cs typeface="Nunito Bold"/>
                <a:sym typeface="Nunito Bold"/>
              </a:rPr>
              <a:t>cluster-level explanation while keeping feature-level attribution</a:t>
            </a:r>
            <a:r>
              <a:rPr lang="en-US" sz="1900" b="true">
                <a:solidFill>
                  <a:srgbClr val="111111"/>
                </a:solidFill>
                <a:latin typeface="Nunito Semi-Bold"/>
                <a:ea typeface="Nunito Semi-Bold"/>
                <a:cs typeface="Nunito Semi-Bold"/>
                <a:sym typeface="Nunito Semi-Bold"/>
              </a:rPr>
              <a:t>.</a:t>
            </a:r>
          </a:p>
        </p:txBody>
      </p:sp>
      <p:sp>
        <p:nvSpPr>
          <p:cNvPr id="21" name="Oval 20"/>
          <p:cNvSpPr/>
          <p:nvPr/>
        </p:nvSpPr>
        <p:spPr>
          <a:xfrm>
            <a:off x="9784080" y="6487617"/>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O2</a:t>
            </a:r>
          </a:p>
        </p:txBody>
      </p:sp>
      <p:sp>
        <p:nvSpPr>
          <p:cNvPr id="22" name="TextBox 21"/>
          <p:cNvSpPr txBox="1"/>
          <p:nvPr/>
        </p:nvSpPr>
        <p:spPr>
          <a:xfrm>
            <a:off x="10515600" y="6189218"/>
            <a:ext cx="6240780" cy="1053998"/>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Keep the meaning of the </a:t>
            </a:r>
            <a:r>
              <a:rPr lang="en-US" sz="1900" b="true">
                <a:solidFill>
                  <a:srgbClr val="111111"/>
                </a:solidFill>
                <a:latin typeface="Nunito Bold"/>
                <a:ea typeface="Nunito Bold"/>
                <a:cs typeface="Nunito Bold"/>
                <a:sym typeface="Nunito Bold"/>
              </a:rPr>
              <a:t>original feature space</a:t>
            </a:r>
            <a:r>
              <a:rPr lang="en-US" sz="1900" b="true">
                <a:solidFill>
                  <a:srgbClr val="111111"/>
                </a:solidFill>
                <a:latin typeface="Nunito Semi-Bold"/>
                <a:ea typeface="Nunito Semi-Bold"/>
                <a:cs typeface="Nunito Semi-Bold"/>
                <a:sym typeface="Nunito Semi-Bold"/>
              </a:rPr>
              <a:t> (density, pH, acidity, sulfur dioxide, alcohol), not a reduced latent space.</a:t>
            </a:r>
          </a:p>
        </p:txBody>
      </p:sp>
      <p:sp>
        <p:nvSpPr>
          <p:cNvPr id="23" name="Oval 22"/>
          <p:cNvSpPr/>
          <p:nvPr/>
        </p:nvSpPr>
        <p:spPr>
          <a:xfrm>
            <a:off x="9784080" y="7554112"/>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O3</a:t>
            </a:r>
          </a:p>
        </p:txBody>
      </p:sp>
      <p:sp>
        <p:nvSpPr>
          <p:cNvPr id="24" name="TextBox 23"/>
          <p:cNvSpPr txBox="1"/>
          <p:nvPr/>
        </p:nvSpPr>
        <p:spPr>
          <a:xfrm>
            <a:off x="10515600" y="7371232"/>
            <a:ext cx="6240780" cy="82296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Justify Shapley</a:t>
            </a:r>
            <a:r>
              <a:rPr lang="en-US" sz="1900" b="true">
                <a:solidFill>
                  <a:srgbClr val="111111"/>
                </a:solidFill>
                <a:latin typeface="Nunito Semi-Bold"/>
                <a:ea typeface="Nunito Semi-Bold"/>
                <a:cs typeface="Nunito Semi-Bold"/>
                <a:sym typeface="Nunito Semi-Bold"/>
              </a:rPr>
              <a:t> over an ad-hoc surrogate such as LIME.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Clustering as a Cooperative Game</a:t>
            </a:r>
          </a:p>
        </p:txBody>
      </p:sp>
      <p:pic>
        <p:nvPicPr>
          <p:cNvPr id="8" name="Picture 7" descr="image.png"/>
          <p:cNvPicPr>
            <a:picLocks noChangeAspect="1"/>
          </p:cNvPicPr>
          <p:nvPr/>
        </p:nvPicPr>
        <p:blipFill>
          <a:blip r:embed="rId2"/>
          <a:stretch>
            <a:fillRect/>
          </a:stretch>
        </p:blipFill>
        <p:spPr>
          <a:xfrm>
            <a:off x="9990865" y="1673352"/>
            <a:ext cx="457200" cy="61711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Player set N = F:</a:t>
            </a:r>
            <a:r>
              <a:rPr lang="en-US" sz="2100" b="true">
                <a:solidFill>
                  <a:srgbClr val="111111"/>
                </a:solidFill>
                <a:latin typeface="Nunito Semi-Bold"/>
                <a:ea typeface="Nunito Semi-Bold"/>
                <a:cs typeface="Nunito Semi-Bold"/>
                <a:sym typeface="Nunito Semi-Bold"/>
              </a:rPr>
              <a:t> each feature is a player.</a:t>
            </a:r>
          </a:p>
          <a:p>
            <a:pPr algn="l" marL="274320" indent="-274320">
              <a:lnSpc>
                <a:spcPts val="3108"/>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Value function v(S) = Silhouette( KMeans(X</a:t>
            </a:r>
            <a:r>
              <a:rPr lang="en-US" sz="2100" b="true" baseline="-25000">
                <a:solidFill>
                  <a:srgbClr val="111111"/>
                </a:solidFill>
                <a:latin typeface="Nunito Bold"/>
                <a:ea typeface="Nunito Bold"/>
                <a:cs typeface="Nunito Bold"/>
                <a:sym typeface="Nunito Bold"/>
              </a:rPr>
              <a:t>S</a:t>
            </a:r>
            <a:r>
              <a:rPr lang="en-US" sz="2100" b="true">
                <a:solidFill>
                  <a:srgbClr val="111111"/>
                </a:solidFill>
                <a:latin typeface="Nunito Bold"/>
                <a:ea typeface="Nunito Bold"/>
                <a:cs typeface="Nunito Bold"/>
                <a:sym typeface="Nunito Bold"/>
              </a:rPr>
              <a:t>, 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a:t>
            </a:r>
            <a:r>
              <a:rPr lang="en-US" sz="2100" b="true">
                <a:solidFill>
                  <a:srgbClr val="111111"/>
                </a:solidFill>
                <a:latin typeface="Nunito Semi-Bold"/>
                <a:ea typeface="Nunito Semi-Bold"/>
                <a:cs typeface="Nunito Semi-Bold"/>
                <a:sym typeface="Nunito Semi-Bold"/>
              </a:rPr>
              <a:t> how well the data cluster using only the features in 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feature's Shapley value = its </a:t>
            </a:r>
            <a:r>
              <a:rPr lang="en-US" sz="2100" b="true">
                <a:solidFill>
                  <a:srgbClr val="111111"/>
                </a:solidFill>
                <a:latin typeface="Nunito Bold"/>
                <a:ea typeface="Nunito Bold"/>
                <a:cs typeface="Nunito Bold"/>
                <a:sym typeface="Nunito Bold"/>
              </a:rPr>
              <a:t>expected marginal contribution to clustering quality</a:t>
            </a:r>
            <a:r>
              <a:rPr lang="en-US" sz="2100" b="true">
                <a:solidFill>
                  <a:srgbClr val="111111"/>
                </a:solidFill>
                <a:latin typeface="Nunito Semi-Bold"/>
                <a:ea typeface="Nunito Semi-Bold"/>
                <a:cs typeface="Nunito Semi-Bold"/>
                <a:sym typeface="Nunito Semi-Bold"/>
              </a:rPr>
              <a:t> over all coalition orders.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Silhouette:</a:t>
            </a:r>
            <a:r>
              <a:rPr lang="en-US" sz="2100" b="true">
                <a:solidFill>
                  <a:srgbClr val="111111"/>
                </a:solidFill>
                <a:latin typeface="Nunito Semi-Bold"/>
                <a:ea typeface="Nunito Semi-Bold"/>
                <a:cs typeface="Nunito Semi-Bold"/>
                <a:sym typeface="Nunito Semi-Bold"/>
              </a:rPr>
              <a:t> bounded, normalised, easy to interpret (Davies–Bouldin or Calinski–Harabasz would also be defensible).</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Direct evaluation of every coalition is </a:t>
            </a:r>
            <a:r>
              <a:rPr lang="en-US" sz="2100" b="true">
                <a:solidFill>
                  <a:srgbClr val="111111"/>
                </a:solidFill>
                <a:latin typeface="Nunito Bold"/>
                <a:ea typeface="Nunito Bold"/>
                <a:cs typeface="Nunito Bold"/>
                <a:sym typeface="Nunito Bold"/>
              </a:rPr>
              <a:t>not feasible</a:t>
            </a:r>
            <a:r>
              <a:rPr lang="en-US" sz="2100" b="true">
                <a:solidFill>
                  <a:srgbClr val="111111"/>
                </a:solidFill>
                <a:latin typeface="Calibri"/>
                <a:ea typeface="Calibri"/>
                <a:cs typeface="Calibri"/>
                <a:sym typeface="Calibri"/>
              </a:rPr>
              <a:t> → </a:t>
            </a:r>
            <a:r>
              <a:rPr lang="en-US" sz="2100" b="true">
                <a:solidFill>
                  <a:srgbClr val="111111"/>
                </a:solidFill>
                <a:latin typeface="Nunito Semi-Bold"/>
                <a:ea typeface="Nunito Semi-Bold"/>
                <a:cs typeface="Nunito Semi-Bold"/>
                <a:sym typeface="Nunito Semi-Bold"/>
              </a:rPr>
              <a:t>we need a bridge.</a:t>
            </a:r>
          </a:p>
        </p:txBody>
      </p:sp>
      <p:sp>
        <p:nvSpPr>
          <p:cNvPr id="14" name="Rounded Rectangle 13"/>
          <p:cNvSpPr/>
          <p:nvPr/>
        </p:nvSpPr>
        <p:spPr>
          <a:xfrm>
            <a:off x="9258300" y="3363722"/>
            <a:ext cx="8001000" cy="2926080"/>
          </a:xfrm>
          <a:prstGeom prst="roundRect">
            <a:avLst>
              <a:gd name="adj" fmla="val 9375"/>
            </a:avLst>
          </a:prstGeom>
          <a:solidFill>
            <a:srgbClr val="124944"/>
          </a:solidFill>
          <a:ln>
            <a:noFill/>
          </a:ln>
        </p:spPr>
        <p:txBody>
          <a:bodyPr anchor="ctr" rtlCol="false" lIns="0" tIns="0" rIns="0" bIns="0" wrap="square"/>
          <a:lstStyle/>
          <a:p>
            <a:endParaRPr lang="en-US" sz="1800"/>
          </a:p>
        </p:txBody>
      </p:sp>
      <p:sp>
        <p:nvSpPr>
          <p:cNvPr id="15" name="TextBox 14"/>
          <p:cNvSpPr txBox="1"/>
          <p:nvPr/>
        </p:nvSpPr>
        <p:spPr>
          <a:xfrm>
            <a:off x="9258300" y="3564890"/>
            <a:ext cx="8001000" cy="27432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ECC665"/>
                </a:solidFill>
                <a:latin typeface="Nunito Ultra-Bold"/>
                <a:ea typeface="Nunito Ultra-Bold"/>
                <a:cs typeface="Nunito Ultra-Bold"/>
                <a:sym typeface="Nunito Ultra-Bold"/>
              </a:rPr>
              <a:t>SHAPLEY VALUE OF FEATURE j</a:t>
            </a:r>
          </a:p>
        </p:txBody>
      </p:sp>
      <mc:AlternateContent xmlns:mc="http://schemas.openxmlformats.org/markup-compatibility/2006">
        <mc:Choice xmlns:a14="http://schemas.microsoft.com/office/drawing/2010/main" Requires="a14">
          <p:sp>
            <p:nvSpPr>
              <p:cNvPr id="16" name="Equation"/>
              <p:cNvSpPr txBox="1"/>
              <p:nvPr/>
            </p:nvSpPr>
            <p:spPr>
              <a:xfrm>
                <a:off x="9441180" y="3866642"/>
                <a:ext cx="7635240" cy="1783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400" i="1">
                              <a:solidFill>
                                <a:srgbClr val="FFFFFF"/>
                              </a:solidFill>
                              <a:latin typeface="Cambria Math" panose="02040503050406030204" pitchFamily="18" charset="0"/>
                            </a:rPr>
                          </m:ctrlPr>
                        </m:sSubPr>
                        <m:e>
                          <m:r>
                            <a:rPr lang="en-US" sz="2400" i="1">
                              <a:solidFill>
                                <a:srgbClr val="FFFFFF"/>
                              </a:solidFill>
                              <a:latin typeface="Cambria Math" panose="02040503050406030204" pitchFamily="18" charset="0"/>
                            </a:rPr>
                            <m:t xml:space="preserve">φ</m:t>
                          </m:r>
                        </m:e>
                        <m:sub>
                          <m:r>
                            <a:rPr lang="en-US" sz="2400" i="1">
                              <a:solidFill>
                                <a:srgbClr val="FFFFFF"/>
                              </a:solidFill>
                              <a:latin typeface="Cambria Math" panose="02040503050406030204" pitchFamily="18" charset="0"/>
                            </a:rPr>
                            <m:t xml:space="preserve">j</m:t>
                          </m:r>
                        </m:sub>
                      </m:sSub>
                      <m:r>
                        <m:rPr>
                          <m:sty m:val="p"/>
                        </m:rPr>
                        <a:rPr lang="en-US" sz="2400">
                          <a:solidFill>
                            <a:srgbClr val="FFFFFF"/>
                          </a:solidFill>
                          <a:latin typeface="Cambria Math" panose="02040503050406030204" pitchFamily="18" charset="0"/>
                        </a:rPr>
                        <m:t xml:space="preserve">=</m:t>
                      </m:r>
                      <m:nary>
                        <m:naryPr>
                          <m:chr m:val="∑"/>
                          <m:limLoc m:val="undOvr"/>
                          <m:supHide m:val="1"/>
                          <m:ctrlPr>
                            <a:rPr lang="en-US" sz="2400" i="1">
                              <a:solidFill>
                                <a:srgbClr val="FFFFFF"/>
                              </a:solidFill>
                              <a:latin typeface="Cambria Math" panose="02040503050406030204" pitchFamily="18" charset="0"/>
                            </a:rPr>
                          </m:ctrlPr>
                        </m:naryPr>
                        <m:sub>
                          <m:r>
                            <a:rPr lang="en-US" sz="2400" i="1">
                              <a:solidFill>
                                <a:srgbClr val="FFFFFF"/>
                              </a:solidFill>
                              <a:latin typeface="Cambria Math" panose="02040503050406030204" pitchFamily="18" charset="0"/>
                            </a:rPr>
                            <m:t xml:space="preserve">S</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N</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j</m:t>
                          </m:r>
                          <m:r>
                            <m:rPr>
                              <m:sty m:val="p"/>
                            </m:rPr>
                            <a:rPr lang="en-US" sz="2400">
                              <a:solidFill>
                                <a:srgbClr val="FFFFFF"/>
                              </a:solidFill>
                              <a:latin typeface="Cambria Math" panose="02040503050406030204" pitchFamily="18" charset="0"/>
                            </a:rPr>
                            <m:t xml:space="preserve">}</m:t>
                          </m:r>
                        </m:sub>
                        <m:sup/>
                        <m:e>
                          <m:f>
                            <m:fPr>
                              <m:ctrlPr>
                                <a:rPr lang="en-US" sz="2400" i="1">
                                  <a:solidFill>
                                    <a:srgbClr val="FFFFFF"/>
                                  </a:solidFill>
                                  <a:latin typeface="Cambria Math" panose="02040503050406030204" pitchFamily="18" charset="0"/>
                                </a:rPr>
                              </m:ctrlPr>
                            </m:fPr>
                            <m:num>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S</m:t>
                              </m:r>
                              <m:r>
                                <m:rPr>
                                  <m:sty m:val="p"/>
                                </m:rPr>
                                <a:rPr lang="en-US" sz="2400">
                                  <a:solidFill>
                                    <a:srgbClr val="FFFFFF"/>
                                  </a:solidFill>
                                  <a:latin typeface="Cambria Math" panose="02040503050406030204" pitchFamily="18" charset="0"/>
                                </a:rPr>
                                <m:t xml:space="preserve">|! (</m:t>
                              </m:r>
                              <m:r>
                                <a:rPr lang="en-US" sz="2400" i="1">
                                  <a:solidFill>
                                    <a:srgbClr val="FFFFFF"/>
                                  </a:solidFill>
                                  <a:latin typeface="Cambria Math" panose="02040503050406030204" pitchFamily="18" charset="0"/>
                                </a:rPr>
                                <m:t xml:space="preserve">n</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S</m:t>
                              </m:r>
                              <m:r>
                                <m:rPr>
                                  <m:sty m:val="p"/>
                                </m:rPr>
                                <a:rPr lang="en-US" sz="2400">
                                  <a:solidFill>
                                    <a:srgbClr val="FFFFFF"/>
                                  </a:solidFill>
                                  <a:latin typeface="Cambria Math" panose="02040503050406030204" pitchFamily="18" charset="0"/>
                                </a:rPr>
                                <m:t xml:space="preserve">|−1)!</m:t>
                              </m:r>
                            </m:num>
                            <m:den>
                              <m:r>
                                <a:rPr lang="en-US" sz="2400" i="1">
                                  <a:solidFill>
                                    <a:srgbClr val="FFFFFF"/>
                                  </a:solidFill>
                                  <a:latin typeface="Cambria Math" panose="02040503050406030204" pitchFamily="18" charset="0"/>
                                </a:rPr>
                                <m:t xml:space="preserve">n</m:t>
                              </m:r>
                              <m:r>
                                <m:rPr>
                                  <m:sty m:val="p"/>
                                </m:rPr>
                                <a:rPr lang="en-US" sz="2400">
                                  <a:solidFill>
                                    <a:srgbClr val="FFFFFF"/>
                                  </a:solidFill>
                                  <a:latin typeface="Cambria Math" panose="02040503050406030204" pitchFamily="18" charset="0"/>
                                </a:rPr>
                                <m:t xml:space="preserve">!</m:t>
                              </m:r>
                            </m:den>
                          </m:f>
                        </m:e>
                      </m:nary>
                      <m:r>
                        <m:rPr>
                          <m:sty m:val="p"/>
                        </m:rPr>
                        <a:rPr lang="en-US" sz="2400">
                          <a:solidFill>
                            <a:srgbClr val="FFFFFF"/>
                          </a:solidFill>
                          <a:latin typeface="Cambria Math" panose="02040503050406030204" pitchFamily="18" charset="0"/>
                        </a:rPr>
                        <m:t xml:space="preserve"> </m:t>
                      </m:r>
                      <m:d>
                        <m:dPr>
                          <m:begChr m:val="["/>
                          <m:endChr m:val="]"/>
                          <m:ctrlPr>
                            <a:rPr lang="en-US" sz="2400" i="1">
                              <a:solidFill>
                                <a:srgbClr val="FFFFFF"/>
                              </a:solidFill>
                              <a:latin typeface="Cambria Math" panose="02040503050406030204" pitchFamily="18" charset="0"/>
                            </a:rPr>
                          </m:ctrlPr>
                        </m:dPr>
                        <m:e>
                          <m:r>
                            <m:rPr>
                              <m:sty m:val="p"/>
                            </m:rPr>
                            <a:rPr lang="en-US" sz="2400">
                              <a:solidFill>
                                <a:srgbClr val="FFFFFF"/>
                              </a:solidFill>
                              <a:latin typeface="Cambria Math" panose="02040503050406030204" pitchFamily="18" charset="0"/>
                            </a:rPr>
                            <m:t xml:space="preserve"> </m:t>
                          </m:r>
                          <m:r>
                            <a:rPr lang="en-US" sz="2400" i="1">
                              <a:solidFill>
                                <a:srgbClr val="FFFFFF"/>
                              </a:solidFill>
                              <a:latin typeface="Cambria Math" panose="02040503050406030204" pitchFamily="18" charset="0"/>
                            </a:rPr>
                            <m:t xml:space="preserve">v</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S</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j</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v</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S</m:t>
                          </m:r>
                          <m:r>
                            <m:rPr>
                              <m:sty m:val="p"/>
                            </m:rPr>
                            <a:rPr lang="en-US" sz="2400">
                              <a:solidFill>
                                <a:srgbClr val="FFFFFF"/>
                              </a:solidFill>
                              <a:latin typeface="Cambria Math" panose="02040503050406030204" pitchFamily="18" charset="0"/>
                            </a:rPr>
                            <m:t xml:space="preserve">) </m:t>
                          </m:r>
                        </m:e>
                      </m:d>
                    </m:oMath>
                  </m:oMathPara>
                </a14:m>
                <a:endParaRPr lang="en-US" sz="2400"/>
              </a:p>
            </p:txBody>
          </p:sp>
        </mc:Choice>
        <mc:Fallback>
          <p:sp>
            <p:nvSpPr>
              <p:cNvPr id="16" name="Equation"/>
              <p:cNvSpPr txBox="1"/>
              <p:nvPr/>
            </p:nvSpPr>
            <p:spPr>
              <a:xfrm>
                <a:off x="9441180" y="3866642"/>
                <a:ext cx="7635240" cy="1783080"/>
              </a:xfrm>
              <a:prstGeom prst="rect">
                <a:avLst/>
              </a:prstGeom>
              <a:blipFill>
                <a:blip r:embed="rId4"/>
                <a:stretch>
                  <a:fillRect/>
                </a:stretch>
              </a:blipFill>
            </p:spPr>
            <p:txBody>
              <a:bodyPr/>
              <a:lstStyle/>
              <a:p>
                <a:endParaRPr lang="en-US"/>
              </a:p>
            </p:txBody>
          </p:sp>
        </mc:Fallback>
      </mc:AlternateContent>
      <p:sp>
        <p:nvSpPr>
          <p:cNvPr id="17" name="TextBox 16"/>
          <p:cNvSpPr txBox="1"/>
          <p:nvPr/>
        </p:nvSpPr>
        <p:spPr>
          <a:xfrm>
            <a:off x="9258300" y="5741162"/>
            <a:ext cx="8001000" cy="36576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DCE7E3"/>
                </a:solidFill>
                <a:latin typeface="Nunito Semi-Bold"/>
                <a:ea typeface="Nunito Semi-Bold"/>
                <a:cs typeface="Nunito Semi-Bold"/>
                <a:sym typeface="Nunito Semi-Bold"/>
              </a:rPr>
              <a:t>expected marginal contribution over all orders of arrival</a:t>
            </a:r>
          </a:p>
        </p:txBody>
      </p:sp>
      <p:sp>
        <p:nvSpPr>
          <p:cNvPr id="18" name="Rounded Rectangle 17"/>
          <p:cNvSpPr/>
          <p:nvPr/>
        </p:nvSpPr>
        <p:spPr>
          <a:xfrm>
            <a:off x="9258300" y="6564122"/>
            <a:ext cx="3886200" cy="891540"/>
          </a:xfrm>
          <a:prstGeom prst="roundRect">
            <a:avLst>
              <a:gd name="adj" fmla="val 20512"/>
            </a:avLst>
          </a:prstGeom>
          <a:solidFill>
            <a:srgbClr val="F6ECDF"/>
          </a:solidFill>
          <a:ln>
            <a:noFill/>
          </a:ln>
        </p:spPr>
        <p:txBody>
          <a:bodyPr anchor="t" rtlCol="false" lIns="91440" tIns="201168" rIns="91440" bIns="45720" wrap="square"/>
          <a:lstStyle/>
          <a:p>
            <a:pPr algn="ctr">
              <a:lnSpc>
                <a:spcPts val="2200"/>
              </a:lnSpc>
              <a:spcBef>
                <a:spcPts val="0"/>
              </a:spcBef>
              <a:buNone/>
            </a:pPr>
            <a:r>
              <a:rPr lang="en-US" sz="1900" b="true">
                <a:solidFill>
                  <a:srgbClr val="111111"/>
                </a:solidFill>
                <a:latin typeface="Nunito Bold"/>
                <a:ea typeface="Nunito Bold"/>
                <a:cs typeface="Nunito Bold"/>
                <a:sym typeface="Nunito Bold"/>
              </a:rPr>
              <a:t>Efficiency</a:t>
            </a:r>
          </a:p>
        </p:txBody>
      </p:sp>
      <mc:AlternateContent xmlns:mc="http://schemas.openxmlformats.org/markup-compatibility/2006">
        <mc:Choice xmlns:a14="http://schemas.microsoft.com/office/drawing/2010/main" Requires="a14">
          <p:sp>
            <p:nvSpPr>
              <p:cNvPr id="19" name="Equation"/>
              <p:cNvSpPr txBox="1"/>
              <p:nvPr/>
            </p:nvSpPr>
            <p:spPr>
              <a:xfrm>
                <a:off x="9349740" y="7021322"/>
                <a:ext cx="3703320" cy="388620"/>
              </a:xfrm>
              <a:prstGeom prst="rect">
                <a:avLst/>
              </a:prstGeom>
              <a:noFill/>
            </p:spPr>
            <p:txBody>
              <a:bodyPr wrap="none" rtlCol="0" anchor="ctr" lIns="0" tIns="0" rIns="0" bIns="0"/>
              <a:lstStyle/>
              <a:p>
                <a:pPr algn="ctr"/>
                <a14:m xmlns:m="http://schemas.openxmlformats.org/officeDocument/2006/math">
                  <m:oMathPara>
                    <m:oMathParaPr>
                      <m:jc m:val="centerGroup"/>
                    </m:oMathParaPr>
                    <m:oMath>
                      <m:nary>
                        <m:naryPr>
                          <m:chr m:val="∑"/>
                          <m:limLoc m:val="subSup"/>
                          <m:supHide m:val="1"/>
                          <m:ctrlPr>
                            <a:rPr lang="en-US" sz="1400" i="1">
                              <a:solidFill>
                                <a:srgbClr val="8A8378"/>
                              </a:solidFill>
                              <a:latin typeface="Cambria Math" panose="02040503050406030204" pitchFamily="18" charset="0"/>
                            </a:rPr>
                          </m:ctrlPr>
                        </m:naryPr>
                        <m:sub>
                          <m:r>
                            <a:rPr lang="en-US" sz="1400" i="1">
                              <a:solidFill>
                                <a:srgbClr val="8A8378"/>
                              </a:solidFill>
                              <a:latin typeface="Cambria Math" panose="02040503050406030204" pitchFamily="18" charset="0"/>
                            </a:rPr>
                            <m:t xml:space="preserve">j</m:t>
                          </m:r>
                        </m:sub>
                        <m:sup/>
                        <m:e>
                          <m:r>
                            <m:rPr>
                              <m:sty m:val="p"/>
                            </m:rPr>
                            <a:rPr lang="en-US" sz="1400">
                              <a:solidFill>
                                <a:srgbClr val="8A8378"/>
                              </a:solidFill>
                              <a:latin typeface="Cambria Math" panose="02040503050406030204" pitchFamily="18" charset="0"/>
                            </a:rPr>
                            <m:t xml:space="preserve"> </m:t>
                          </m:r>
                        </m:e>
                      </m:nary>
                      <m:sSub>
                        <m:sSubPr>
                          <m:ctrlPr>
                            <a:rPr lang="en-US" sz="1400" i="1">
                              <a:solidFill>
                                <a:srgbClr val="8A8378"/>
                              </a:solidFill>
                              <a:latin typeface="Cambria Math" panose="02040503050406030204" pitchFamily="18" charset="0"/>
                            </a:rPr>
                          </m:ctrlPr>
                        </m:sSubPr>
                        <m:e>
                          <m:r>
                            <a:rPr lang="en-US" sz="1400" i="1">
                              <a:solidFill>
                                <a:srgbClr val="8A8378"/>
                              </a:solidFill>
                              <a:latin typeface="Cambria Math" panose="02040503050406030204" pitchFamily="18" charset="0"/>
                            </a:rPr>
                            <m:t xml:space="preserve">φ</m:t>
                          </m:r>
                        </m:e>
                        <m:sub>
                          <m:r>
                            <a:rPr lang="en-US" sz="1400" i="1">
                              <a:solidFill>
                                <a:srgbClr val="8A8378"/>
                              </a:solidFill>
                              <a:latin typeface="Cambria Math" panose="02040503050406030204" pitchFamily="18" charset="0"/>
                            </a:rPr>
                            <m:t xml:space="preserve">j</m:t>
                          </m:r>
                        </m:sub>
                      </m:sSub>
                      <m:r>
                        <m:rPr>
                          <m:sty m:val="p"/>
                        </m:rPr>
                        <a:rPr lang="en-US" sz="1400">
                          <a:solidFill>
                            <a:srgbClr val="8A8378"/>
                          </a:solidFill>
                          <a:latin typeface="Cambria Math" panose="02040503050406030204" pitchFamily="18" charset="0"/>
                        </a:rPr>
                        <m:t xml:space="preserve">=</m:t>
                      </m:r>
                      <m:r>
                        <a:rPr lang="en-US" sz="1400" i="1">
                          <a:solidFill>
                            <a:srgbClr val="8A8378"/>
                          </a:solidFill>
                          <a:latin typeface="Cambria Math" panose="02040503050406030204" pitchFamily="18" charset="0"/>
                        </a:rPr>
                        <m:t xml:space="preserve">v</m:t>
                      </m:r>
                      <m:r>
                        <m:rPr>
                          <m:sty m:val="p"/>
                        </m:rPr>
                        <a:rPr lang="en-US" sz="1400">
                          <a:solidFill>
                            <a:srgbClr val="8A8378"/>
                          </a:solidFill>
                          <a:latin typeface="Cambria Math" panose="02040503050406030204" pitchFamily="18" charset="0"/>
                        </a:rPr>
                        <m:t xml:space="preserve">(</m:t>
                      </m:r>
                      <m:r>
                        <a:rPr lang="en-US" sz="1400" i="1">
                          <a:solidFill>
                            <a:srgbClr val="8A8378"/>
                          </a:solidFill>
                          <a:latin typeface="Cambria Math" panose="02040503050406030204" pitchFamily="18" charset="0"/>
                        </a:rPr>
                        <m:t xml:space="preserve">N</m:t>
                      </m:r>
                      <m:r>
                        <m:rPr>
                          <m:sty m:val="p"/>
                        </m:rPr>
                        <a:rPr lang="en-US" sz="1400">
                          <a:solidFill>
                            <a:srgbClr val="8A8378"/>
                          </a:solidFill>
                          <a:latin typeface="Cambria Math" panose="02040503050406030204" pitchFamily="18" charset="0"/>
                        </a:rPr>
                        <m:t xml:space="preserve">)−</m:t>
                      </m:r>
                      <m:r>
                        <a:rPr lang="en-US" sz="1400" i="1">
                          <a:solidFill>
                            <a:srgbClr val="8A8378"/>
                          </a:solidFill>
                          <a:latin typeface="Cambria Math" panose="02040503050406030204" pitchFamily="18" charset="0"/>
                        </a:rPr>
                        <m:t xml:space="preserve">v</m:t>
                      </m:r>
                      <m:r>
                        <m:rPr>
                          <m:sty m:val="p"/>
                        </m:rPr>
                        <a:rPr lang="en-US" sz="1400">
                          <a:solidFill>
                            <a:srgbClr val="8A8378"/>
                          </a:solidFill>
                          <a:latin typeface="Cambria Math" panose="02040503050406030204" pitchFamily="18" charset="0"/>
                        </a:rPr>
                        <m:t xml:space="preserve">(∅)</m:t>
                      </m:r>
                    </m:oMath>
                  </m:oMathPara>
                </a14:m>
                <a:endParaRPr lang="en-US" sz="1400"/>
              </a:p>
            </p:txBody>
          </p:sp>
        </mc:Choice>
        <mc:Fallback>
          <p:sp>
            <p:nvSpPr>
              <p:cNvPr id="19" name="Equation"/>
              <p:cNvSpPr txBox="1"/>
              <p:nvPr/>
            </p:nvSpPr>
            <p:spPr>
              <a:xfrm>
                <a:off x="9349740" y="7021322"/>
                <a:ext cx="3703320" cy="388620"/>
              </a:xfrm>
              <a:prstGeom prst="rect">
                <a:avLst/>
              </a:prstGeom>
              <a:blipFill>
                <a:blip r:embed="rId5"/>
                <a:stretch>
                  <a:fillRect/>
                </a:stretch>
              </a:blipFill>
            </p:spPr>
            <p:txBody>
              <a:bodyPr/>
              <a:lstStyle/>
              <a:p>
                <a:endParaRPr lang="en-US"/>
              </a:p>
            </p:txBody>
          </p:sp>
        </mc:Fallback>
      </mc:AlternateContent>
      <p:sp>
        <p:nvSpPr>
          <p:cNvPr id="20" name="Rounded Rectangle 19"/>
          <p:cNvSpPr/>
          <p:nvPr/>
        </p:nvSpPr>
        <p:spPr>
          <a:xfrm>
            <a:off x="13373100" y="6564122"/>
            <a:ext cx="3886200" cy="891540"/>
          </a:xfrm>
          <a:prstGeom prst="roundRect">
            <a:avLst>
              <a:gd name="adj" fmla="val 20512"/>
            </a:avLst>
          </a:prstGeom>
          <a:solidFill>
            <a:srgbClr val="F6ECDF"/>
          </a:solidFill>
          <a:ln>
            <a:noFill/>
          </a:ln>
        </p:spPr>
        <p:txBody>
          <a:bodyPr anchor="ctr" rtlCol="false" lIns="91440" tIns="45720" rIns="91440" bIns="45720" wrap="square"/>
          <a:lstStyle/>
          <a:p>
            <a:pPr algn="ctr">
              <a:lnSpc>
                <a:spcPts val="2185"/>
              </a:lnSpc>
              <a:spcBef>
                <a:spcPts val="0"/>
              </a:spcBef>
              <a:buNone/>
            </a:pPr>
            <a:r>
              <a:rPr lang="en-US" sz="1900" b="true">
                <a:solidFill>
                  <a:srgbClr val="111111"/>
                </a:solidFill>
                <a:latin typeface="Nunito Bold"/>
                <a:ea typeface="Nunito Bold"/>
                <a:cs typeface="Nunito Bold"/>
                <a:sym typeface="Nunito Bold"/>
              </a:rPr>
              <a:t>Symmetry</a:t>
            </a:r>
          </a:p>
          <a:p>
            <a:pPr algn="ctr">
              <a:lnSpc>
                <a:spcPts val="1800"/>
              </a:lnSpc>
              <a:spcBef>
                <a:spcPts val="300"/>
              </a:spcBef>
              <a:buNone/>
            </a:pPr>
            <a:r>
              <a:rPr lang="en-US" sz="1500" b="true">
                <a:solidFill>
                  <a:srgbClr val="8A8378"/>
                </a:solidFill>
                <a:latin typeface="Nunito Semi-Bold"/>
                <a:ea typeface="Nunito Semi-Bold"/>
                <a:cs typeface="Nunito Semi-Bold"/>
                <a:sym typeface="Nunito Semi-Bold"/>
              </a:rPr>
              <a:t>equal contributors get equal credit</a:t>
            </a:r>
          </a:p>
        </p:txBody>
      </p:sp>
      <p:sp>
        <p:nvSpPr>
          <p:cNvPr id="21" name="Rounded Rectangle 20"/>
          <p:cNvSpPr/>
          <p:nvPr/>
        </p:nvSpPr>
        <p:spPr>
          <a:xfrm>
            <a:off x="9258300" y="7684262"/>
            <a:ext cx="3886200" cy="891540"/>
          </a:xfrm>
          <a:prstGeom prst="roundRect">
            <a:avLst>
              <a:gd name="adj" fmla="val 20512"/>
            </a:avLst>
          </a:prstGeom>
          <a:solidFill>
            <a:srgbClr val="F6ECDF"/>
          </a:solidFill>
          <a:ln>
            <a:noFill/>
          </a:ln>
        </p:spPr>
        <p:txBody>
          <a:bodyPr anchor="ctr" rtlCol="false" lIns="91440" tIns="45720" rIns="91440" bIns="45720" wrap="square"/>
          <a:lstStyle/>
          <a:p>
            <a:pPr algn="ctr">
              <a:lnSpc>
                <a:spcPts val="2185"/>
              </a:lnSpc>
              <a:spcBef>
                <a:spcPts val="0"/>
              </a:spcBef>
              <a:buNone/>
            </a:pPr>
            <a:r>
              <a:rPr lang="en-US" sz="1900" b="true">
                <a:solidFill>
                  <a:srgbClr val="111111"/>
                </a:solidFill>
                <a:latin typeface="Nunito Bold"/>
                <a:ea typeface="Nunito Bold"/>
                <a:cs typeface="Nunito Bold"/>
                <a:sym typeface="Nunito Bold"/>
              </a:rPr>
              <a:t>Null player</a:t>
            </a:r>
          </a:p>
          <a:p>
            <a:pPr algn="ctr">
              <a:lnSpc>
                <a:spcPts val="1800"/>
              </a:lnSpc>
              <a:spcBef>
                <a:spcPts val="300"/>
              </a:spcBef>
              <a:buNone/>
            </a:pPr>
            <a:r>
              <a:rPr lang="en-US" sz="1500" b="true">
                <a:solidFill>
                  <a:srgbClr val="8A8378"/>
                </a:solidFill>
                <a:latin typeface="Nunito Semi-Bold"/>
                <a:ea typeface="Nunito Semi-Bold"/>
                <a:cs typeface="Nunito Semi-Bold"/>
                <a:sym typeface="Nunito Semi-Bold"/>
              </a:rPr>
              <a:t>no marginal effect </a:t>
            </a:r>
            <a:r>
              <a:rPr lang="en-US" sz="1500" b="true">
                <a:solidFill>
                  <a:srgbClr val="8A8378"/>
                </a:solidFill>
                <a:latin typeface="Calibri"/>
                <a:ea typeface="Calibri"/>
                <a:cs typeface="Calibri"/>
                <a:sym typeface="Calibri"/>
              </a:rPr>
              <a:t>→ </a:t>
            </a:r>
            <a:r>
              <a:rPr lang="en-US" sz="1500" b="true">
                <a:solidFill>
                  <a:srgbClr val="8A8378"/>
                </a:solidFill>
                <a:latin typeface="Nunito Semi-Bold"/>
                <a:ea typeface="Nunito Semi-Bold"/>
                <a:cs typeface="Nunito Semi-Bold"/>
                <a:sym typeface="Nunito Semi-Bold"/>
              </a:rPr>
              <a:t>zero</a:t>
            </a:r>
          </a:p>
        </p:txBody>
      </p:sp>
      <p:sp>
        <p:nvSpPr>
          <p:cNvPr id="22" name="Rounded Rectangle 21"/>
          <p:cNvSpPr/>
          <p:nvPr/>
        </p:nvSpPr>
        <p:spPr>
          <a:xfrm>
            <a:off x="13373100" y="7684262"/>
            <a:ext cx="3886200" cy="891540"/>
          </a:xfrm>
          <a:prstGeom prst="roundRect">
            <a:avLst>
              <a:gd name="adj" fmla="val 20512"/>
            </a:avLst>
          </a:prstGeom>
          <a:solidFill>
            <a:srgbClr val="F6ECDF"/>
          </a:solidFill>
          <a:ln>
            <a:noFill/>
          </a:ln>
        </p:spPr>
        <p:txBody>
          <a:bodyPr anchor="ctr" rtlCol="false" lIns="91440" tIns="45720" rIns="91440" bIns="45720" wrap="square"/>
          <a:lstStyle/>
          <a:p>
            <a:pPr algn="ctr">
              <a:lnSpc>
                <a:spcPts val="2185"/>
              </a:lnSpc>
              <a:spcBef>
                <a:spcPts val="0"/>
              </a:spcBef>
              <a:buNone/>
            </a:pPr>
            <a:r>
              <a:rPr lang="en-US" sz="1900" b="true">
                <a:solidFill>
                  <a:srgbClr val="111111"/>
                </a:solidFill>
                <a:latin typeface="Nunito Bold"/>
                <a:ea typeface="Nunito Bold"/>
                <a:cs typeface="Nunito Bold"/>
                <a:sym typeface="Nunito Bold"/>
              </a:rPr>
              <a:t>Additivity</a:t>
            </a:r>
          </a:p>
          <a:p>
            <a:pPr algn="ctr">
              <a:lnSpc>
                <a:spcPts val="1800"/>
              </a:lnSpc>
              <a:spcBef>
                <a:spcPts val="300"/>
              </a:spcBef>
              <a:buNone/>
            </a:pPr>
            <a:r>
              <a:rPr lang="en-US" sz="1500" b="true">
                <a:solidFill>
                  <a:srgbClr val="8A8378"/>
                </a:solidFill>
                <a:latin typeface="Nunito Semi-Bold"/>
                <a:ea typeface="Nunito Semi-Bold"/>
                <a:cs typeface="Nunito Semi-Bold"/>
                <a:sym typeface="Nunito Semi-Bold"/>
              </a:rPr>
              <a:t>linear across games</a:t>
            </a:r>
          </a:p>
        </p:txBody>
      </p:sp>
      <p:sp>
        <p:nvSpPr>
          <p:cNvPr id="23" name="Rounded Rectangle 22"/>
          <p:cNvSpPr/>
          <p:nvPr/>
        </p:nvSpPr>
        <p:spPr>
          <a:xfrm>
            <a:off x="9258300" y="8850122"/>
            <a:ext cx="8001000" cy="458470"/>
          </a:xfrm>
          <a:prstGeom prst="roundRect">
            <a:avLst>
              <a:gd name="adj" fmla="val 49861"/>
            </a:avLst>
          </a:prstGeom>
          <a:noFill/>
          <a:ln w="31750">
            <a:solidFill>
              <a:srgbClr val="DF8330"/>
            </a:solidFill>
          </a:ln>
        </p:spPr>
        <p:txBody>
          <a:bodyPr anchor="ctr" rtlCol="false" lIns="274320" tIns="91440" rIns="274320" bIns="91440" wrap="square"/>
          <a:lstStyle/>
          <a:p>
            <a:pPr algn="ctr">
              <a:lnSpc>
                <a:spcPts val="2300"/>
              </a:lnSpc>
              <a:spcBef>
                <a:spcPts val="0"/>
              </a:spcBef>
              <a:buNone/>
            </a:pPr>
            <a:r>
              <a:rPr lang="en-US" sz="1700" b="true">
                <a:solidFill>
                  <a:srgbClr val="111111"/>
                </a:solidFill>
                <a:latin typeface="Nunito Bold"/>
                <a:ea typeface="Nunito Bold"/>
                <a:cs typeface="Nunito Bold"/>
                <a:sym typeface="Nunito Bold"/>
              </a:rPr>
              <a:t>2</a:t>
            </a:r>
            <a:r>
              <a:rPr lang="en-US" sz="1700" b="true" baseline="30000">
                <a:solidFill>
                  <a:srgbClr val="111111"/>
                </a:solidFill>
                <a:latin typeface="Nunito Bold"/>
                <a:ea typeface="Nunito Bold"/>
                <a:cs typeface="Nunito Bold"/>
                <a:sym typeface="Nunito Bold"/>
              </a:rPr>
              <a:t>|F|</a:t>
            </a:r>
            <a:r>
              <a:rPr lang="en-US" sz="1700" b="true">
                <a:solidFill>
                  <a:srgbClr val="111111"/>
                </a:solidFill>
                <a:latin typeface="Nunito Bold"/>
                <a:ea typeface="Nunito Bold"/>
                <a:cs typeface="Nunito Bold"/>
                <a:sym typeface="Nunito Bold"/>
              </a:rPr>
              <a:t> coalitions:</a:t>
            </a:r>
            <a:r>
              <a:rPr lang="en-US" sz="1700" b="true">
                <a:solidFill>
                  <a:srgbClr val="111111"/>
                </a:solidFill>
                <a:latin typeface="Nunito Semi-Bold"/>
                <a:ea typeface="Nunito Semi-Bold"/>
                <a:cs typeface="Nunito Semi-Bold"/>
                <a:sym typeface="Nunito Semi-Bold"/>
              </a:rPr>
              <a:t> for 11 wine features that is 2,048 K-Means runs per evaluation; for large data, not feasible.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pic>
        <p:nvPicPr>
          <p:cNvPr id="8" name="Picture 7" descr="image.png"/>
          <p:cNvPicPr>
            <a:picLocks noChangeAspect="1"/>
          </p:cNvPicPr>
          <p:nvPr/>
        </p:nvPicPr>
        <p:blipFill>
          <a:blip r:embed="rId2"/>
          <a:stretch>
            <a:fillRect/>
          </a:stretch>
        </p:blipFill>
        <p:spPr>
          <a:xfrm>
            <a:off x="12801592" y="1673352"/>
            <a:ext cx="457200" cy="25098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14" name="Connector 13"/>
          <p:cNvCxnSpPr/>
          <p:nvPr/>
        </p:nvCxnSpPr>
        <p:spPr>
          <a:xfrm>
            <a:off x="4027932" y="4049522"/>
            <a:ext cx="1362456" cy="0"/>
          </a:xfrm>
          <a:prstGeom prst="line">
            <a:avLst/>
          </a:prstGeom>
          <a:ln w="31750">
            <a:solidFill>
              <a:srgbClr val="124944"/>
            </a:solidFill>
            <a:tailEnd type="triangle" w="med" len="med"/>
          </a:ln>
        </p:spPr>
      </p:cxnSp>
      <p:sp>
        <p:nvSpPr>
          <p:cNvPr id="15" name="Rounded Rectangle 14"/>
          <p:cNvSpPr/>
          <p:nvPr/>
        </p:nvSpPr>
        <p:spPr>
          <a:xfrm>
            <a:off x="546354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16" name="Connector 15"/>
          <p:cNvCxnSpPr/>
          <p:nvPr/>
        </p:nvCxnSpPr>
        <p:spPr>
          <a:xfrm>
            <a:off x="8462772" y="4049522"/>
            <a:ext cx="1362456" cy="0"/>
          </a:xfrm>
          <a:prstGeom prst="line">
            <a:avLst/>
          </a:prstGeom>
          <a:ln w="31750">
            <a:solidFill>
              <a:srgbClr val="124944"/>
            </a:solidFill>
            <a:tailEnd type="triangle" w="med" len="med"/>
          </a:ln>
        </p:spPr>
      </p:cxnSp>
      <p:sp>
        <p:nvSpPr>
          <p:cNvPr id="17" name="Rounded Rectangle 16"/>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18" name="Connector 17"/>
          <p:cNvCxnSpPr/>
          <p:nvPr/>
        </p:nvCxnSpPr>
        <p:spPr>
          <a:xfrm>
            <a:off x="12897612" y="4049522"/>
            <a:ext cx="1362456" cy="0"/>
          </a:xfrm>
          <a:prstGeom prst="line">
            <a:avLst/>
          </a:prstGeom>
          <a:ln w="31750">
            <a:solidFill>
              <a:srgbClr val="124944"/>
            </a:solidFill>
            <a:tailEnd type="triangle" w="med" len="med"/>
          </a:ln>
        </p:spPr>
      </p:cxnSp>
      <p:sp>
        <p:nvSpPr>
          <p:cNvPr id="19" name="Rounded Rectangle 18"/>
          <p:cNvSpPr/>
          <p:nvPr/>
        </p:nvSpPr>
        <p:spPr>
          <a:xfrm>
            <a:off x="14333220" y="3455162"/>
            <a:ext cx="2926080" cy="1188720"/>
          </a:xfrm>
          <a:prstGeom prst="roundRect">
            <a:avLst>
              <a:gd name="adj" fmla="val 16923"/>
            </a:avLst>
          </a:prstGeom>
          <a:solidFill>
            <a:srgbClr val="DF8330"/>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20" name="Rounded Rectangle 19"/>
          <p:cNvSpPr/>
          <p:nvPr/>
        </p:nvSpPr>
        <p:spPr>
          <a:xfrm>
            <a:off x="1028700" y="5283962"/>
            <a:ext cx="7932420" cy="4070350"/>
          </a:xfrm>
          <a:prstGeom prst="roundRect">
            <a:avLst>
              <a:gd name="adj" fmla="val 7638"/>
            </a:avLst>
          </a:prstGeom>
          <a:solidFill>
            <a:srgbClr val="124944"/>
          </a:solidFill>
          <a:ln>
            <a:noFill/>
          </a:ln>
        </p:spPr>
        <p:txBody>
          <a:bodyPr anchor="ctr" rtlCol="false" lIns="0" tIns="0" rIns="0" bIns="0" wrap="square"/>
          <a:lstStyle/>
          <a:p>
            <a:endParaRPr lang="en-US" sz="1800"/>
          </a:p>
        </p:txBody>
      </p:sp>
      <p:sp>
        <p:nvSpPr>
          <p:cNvPr id="21" name="Rounded Rectangle 20"/>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How</a:t>
            </a:r>
          </a:p>
        </p:txBody>
      </p:sp>
      <p:sp>
        <p:nvSpPr>
          <p:cNvPr id="22" name="TextBox 21"/>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23" name="Rounded Rectangle 22"/>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24" name="Rounded Rectangle 23"/>
          <p:cNvSpPr/>
          <p:nvPr/>
        </p:nvSpPr>
        <p:spPr>
          <a:xfrm>
            <a:off x="9784080" y="5046218"/>
            <a:ext cx="129839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25" name="TextBox 24"/>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Pipeline in Five Stages</a:t>
            </a:r>
          </a:p>
        </p:txBody>
      </p:sp>
      <p:pic>
        <p:nvPicPr>
          <p:cNvPr id="8" name="Picture 7" descr="image.png"/>
          <p:cNvPicPr>
            <a:picLocks noChangeAspect="1"/>
          </p:cNvPicPr>
          <p:nvPr/>
        </p:nvPicPr>
        <p:blipFill>
          <a:blip r:embed="rId2"/>
          <a:stretch>
            <a:fillRect/>
          </a:stretch>
        </p:blipFill>
        <p:spPr>
          <a:xfrm>
            <a:off x="6938245" y="1673352"/>
            <a:ext cx="457200" cy="539881"/>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363722"/>
            <a:ext cx="8961120" cy="841248"/>
          </a:xfrm>
          <a:prstGeom prst="roundRect">
            <a:avLst>
              <a:gd name="adj" fmla="val 21739"/>
            </a:avLst>
          </a:prstGeom>
          <a:solidFill>
            <a:srgbClr val="F6ECDF"/>
          </a:solidFill>
          <a:ln>
            <a:noFill/>
          </a:ln>
        </p:spPr>
        <p:txBody>
          <a:bodyPr anchor="ctr" rtlCol="false" lIns="0" tIns="0" rIns="0" bIns="0" wrap="square"/>
          <a:lstStyle/>
          <a:p>
            <a:endParaRPr lang="en-US" sz="1800"/>
          </a:p>
        </p:txBody>
      </p:sp>
      <p:sp>
        <p:nvSpPr>
          <p:cNvPr id="14" name="Oval 13"/>
          <p:cNvSpPr/>
          <p:nvPr/>
        </p:nvSpPr>
        <p:spPr>
          <a:xfrm>
            <a:off x="1211580" y="3500882"/>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15" name="TextBox 14"/>
          <p:cNvSpPr txBox="1"/>
          <p:nvPr/>
        </p:nvSpPr>
        <p:spPr>
          <a:xfrm>
            <a:off x="1988820" y="3363722"/>
            <a:ext cx="7818120" cy="841248"/>
          </a:xfrm>
          <a:prstGeom prst="rect">
            <a:avLst/>
          </a:prstGeom>
          <a:noFill/>
        </p:spPr>
        <p:txBody>
          <a:bodyPr anchor="ctr" rtlCol="false" lIns="0" tIns="0" rIns="0" bIns="0" wrap="square"/>
          <a:lstStyle/>
          <a:p>
            <a:pPr algn="l">
              <a:lnSpc>
                <a:spcPts val="2400"/>
              </a:lnSpc>
              <a:spcBef>
                <a:spcPts val="0"/>
              </a:spcBef>
              <a:buNone/>
            </a:pPr>
            <a:r>
              <a:rPr lang="en-US" sz="1900" b="true">
                <a:solidFill>
                  <a:srgbClr val="111111"/>
                </a:solidFill>
                <a:latin typeface="Nunito Bold"/>
                <a:ea typeface="Nunito Bold"/>
                <a:cs typeface="Nunito Bold"/>
                <a:sym typeface="Nunito Bold"/>
              </a:rPr>
              <a:t>PCA</a:t>
            </a:r>
            <a:r>
              <a:rPr lang="en-US" sz="1900" b="true">
                <a:solidFill>
                  <a:srgbClr val="111111"/>
                </a:solidFill>
                <a:latin typeface="Nunito Semi-Bold"/>
                <a:ea typeface="Nunito Semi-Bold"/>
                <a:cs typeface="Nunito Semi-Bold"/>
                <a:sym typeface="Nunito Semi-Bold"/>
              </a:rPr>
              <a:t>: Stabilise geometry + visual check; </a:t>
            </a:r>
            <a:r>
              <a:rPr lang="en-US" sz="1900" b="true">
                <a:solidFill>
                  <a:srgbClr val="111111"/>
                </a:solidFill>
                <a:latin typeface="Nunito Bold"/>
                <a:ea typeface="Nunito Bold"/>
                <a:cs typeface="Nunito Bold"/>
                <a:sym typeface="Nunito Bold"/>
              </a:rPr>
              <a:t>NOT</a:t>
            </a:r>
            <a:r>
              <a:rPr lang="en-US" sz="1900" b="true">
                <a:solidFill>
                  <a:srgbClr val="111111"/>
                </a:solidFill>
                <a:latin typeface="Nunito Semi-Bold"/>
                <a:ea typeface="Nunito Semi-Bold"/>
                <a:cs typeface="Nunito Semi-Bold"/>
                <a:sym typeface="Nunito Semi-Bold"/>
              </a:rPr>
              <a:t> the explanatory space.</a:t>
            </a:r>
          </a:p>
        </p:txBody>
      </p:sp>
      <p:sp>
        <p:nvSpPr>
          <p:cNvPr id="16" name="Rounded Rectangle 15"/>
          <p:cNvSpPr/>
          <p:nvPr/>
        </p:nvSpPr>
        <p:spPr>
          <a:xfrm>
            <a:off x="1028700" y="4332986"/>
            <a:ext cx="8961120" cy="841248"/>
          </a:xfrm>
          <a:prstGeom prst="roundRect">
            <a:avLst>
              <a:gd name="adj" fmla="val 21739"/>
            </a:avLst>
          </a:prstGeom>
          <a:solidFill>
            <a:srgbClr val="FBF4EB"/>
          </a:solidFill>
          <a:ln>
            <a:noFill/>
          </a:ln>
        </p:spPr>
        <p:txBody>
          <a:bodyPr anchor="ctr" rtlCol="false" lIns="0" tIns="0" rIns="0" bIns="0" wrap="square"/>
          <a:lstStyle/>
          <a:p>
            <a:endParaRPr lang="en-US" sz="1800"/>
          </a:p>
        </p:txBody>
      </p:sp>
      <p:sp>
        <p:nvSpPr>
          <p:cNvPr id="17" name="Oval 16"/>
          <p:cNvSpPr/>
          <p:nvPr/>
        </p:nvSpPr>
        <p:spPr>
          <a:xfrm>
            <a:off x="1211580" y="4470146"/>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18" name="TextBox 17"/>
          <p:cNvSpPr txBox="1"/>
          <p:nvPr/>
        </p:nvSpPr>
        <p:spPr>
          <a:xfrm>
            <a:off x="1988820" y="4332986"/>
            <a:ext cx="7818120" cy="841248"/>
          </a:xfrm>
          <a:prstGeom prst="rect">
            <a:avLst/>
          </a:prstGeom>
          <a:noFill/>
        </p:spPr>
        <p:txBody>
          <a:bodyPr anchor="ctr" rtlCol="false" lIns="0" tIns="0" rIns="0" bIns="0" wrap="square"/>
          <a:lstStyle/>
          <a:p>
            <a:pPr algn="l">
              <a:lnSpc>
                <a:spcPts val="2400"/>
              </a:lnSpc>
              <a:spcBef>
                <a:spcPts val="0"/>
              </a:spcBef>
              <a:buNone/>
            </a:pPr>
            <a:r>
              <a:rPr lang="en-US" sz="1900" b="true">
                <a:solidFill>
                  <a:srgbClr val="111111"/>
                </a:solidFill>
                <a:latin typeface="Nunito Bold"/>
                <a:ea typeface="Nunito Bold"/>
                <a:cs typeface="Nunito Bold"/>
                <a:sym typeface="Nunito Bold"/>
              </a:rPr>
              <a:t>K-Means++</a:t>
            </a:r>
            <a:r>
              <a:rPr lang="en-US" sz="1900" b="true">
                <a:solidFill>
                  <a:srgbClr val="111111"/>
                </a:solidFill>
                <a:latin typeface="Nunito Semi-Bold"/>
                <a:ea typeface="Nunito Semi-Bold"/>
                <a:cs typeface="Nunito Semi-Bold"/>
                <a:sym typeface="Nunito Semi-Bold"/>
              </a:rPr>
              <a:t>: Multi-criteria k selection: elbow, Silhouette, Davies–Bouldin.</a:t>
            </a:r>
          </a:p>
        </p:txBody>
      </p:sp>
      <p:sp>
        <p:nvSpPr>
          <p:cNvPr id="19" name="Rounded Rectangle 18"/>
          <p:cNvSpPr/>
          <p:nvPr/>
        </p:nvSpPr>
        <p:spPr>
          <a:xfrm>
            <a:off x="1028700" y="5302250"/>
            <a:ext cx="8961120" cy="841248"/>
          </a:xfrm>
          <a:prstGeom prst="roundRect">
            <a:avLst>
              <a:gd name="adj" fmla="val 21739"/>
            </a:avLst>
          </a:prstGeom>
          <a:solidFill>
            <a:srgbClr val="F6ECDF"/>
          </a:solidFill>
          <a:ln>
            <a:noFill/>
          </a:ln>
        </p:spPr>
        <p:txBody>
          <a:bodyPr anchor="ctr" rtlCol="false" lIns="0" tIns="0" rIns="0" bIns="0" wrap="square"/>
          <a:lstStyle/>
          <a:p>
            <a:endParaRPr lang="en-US" sz="1800"/>
          </a:p>
        </p:txBody>
      </p:sp>
      <p:sp>
        <p:nvSpPr>
          <p:cNvPr id="20" name="Oval 19"/>
          <p:cNvSpPr/>
          <p:nvPr/>
        </p:nvSpPr>
        <p:spPr>
          <a:xfrm>
            <a:off x="1211580" y="543941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21" name="TextBox 20"/>
          <p:cNvSpPr txBox="1"/>
          <p:nvPr/>
        </p:nvSpPr>
        <p:spPr>
          <a:xfrm>
            <a:off x="1988820" y="5302250"/>
            <a:ext cx="7818120" cy="841248"/>
          </a:xfrm>
          <a:prstGeom prst="rect">
            <a:avLst/>
          </a:prstGeom>
          <a:noFill/>
        </p:spPr>
        <p:txBody>
          <a:bodyPr anchor="ctr" rtlCol="false" lIns="0" tIns="0" rIns="0" bIns="0" wrap="square"/>
          <a:lstStyle/>
          <a:p>
            <a:pPr algn="l">
              <a:lnSpc>
                <a:spcPts val="2400"/>
              </a:lnSpc>
              <a:spcBef>
                <a:spcPts val="0"/>
              </a:spcBef>
              <a:buNone/>
            </a:pPr>
            <a:r>
              <a:rPr lang="en-US" sz="1900" b="true">
                <a:solidFill>
                  <a:srgbClr val="111111"/>
                </a:solidFill>
                <a:latin typeface="Nunito Bold"/>
                <a:ea typeface="Nunito Bold"/>
                <a:cs typeface="Nunito Bold"/>
                <a:sym typeface="Nunito Bold"/>
              </a:rPr>
              <a:t>LightGBM surrogate</a:t>
            </a:r>
            <a:r>
              <a:rPr lang="en-US" sz="1900" b="true">
                <a:solidFill>
                  <a:srgbClr val="111111"/>
                </a:solidFill>
                <a:latin typeface="Nunito Semi-Bold"/>
                <a:ea typeface="Nunito Semi-Bold"/>
                <a:cs typeface="Nunito Semi-Bold"/>
                <a:sym typeface="Nunito Semi-Bold"/>
              </a:rPr>
              <a:t>: Trained on original features to predict cluster labels.</a:t>
            </a:r>
          </a:p>
        </p:txBody>
      </p:sp>
      <p:sp>
        <p:nvSpPr>
          <p:cNvPr id="22" name="Rounded Rectangle 21"/>
          <p:cNvSpPr/>
          <p:nvPr/>
        </p:nvSpPr>
        <p:spPr>
          <a:xfrm>
            <a:off x="1028700" y="6271514"/>
            <a:ext cx="8961120" cy="841248"/>
          </a:xfrm>
          <a:prstGeom prst="roundRect">
            <a:avLst>
              <a:gd name="adj" fmla="val 21739"/>
            </a:avLst>
          </a:prstGeom>
          <a:solidFill>
            <a:srgbClr val="FBF4EB"/>
          </a:solidFill>
          <a:ln>
            <a:noFill/>
          </a:ln>
        </p:spPr>
        <p:txBody>
          <a:bodyPr anchor="ctr" rtlCol="false" lIns="0" tIns="0" rIns="0" bIns="0" wrap="square"/>
          <a:lstStyle/>
          <a:p>
            <a:endParaRPr lang="en-US" sz="1800"/>
          </a:p>
        </p:txBody>
      </p:sp>
      <p:sp>
        <p:nvSpPr>
          <p:cNvPr id="23" name="Oval 22"/>
          <p:cNvSpPr/>
          <p:nvPr/>
        </p:nvSpPr>
        <p:spPr>
          <a:xfrm>
            <a:off x="1211580" y="640867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24" name="TextBox 23"/>
          <p:cNvSpPr txBox="1"/>
          <p:nvPr/>
        </p:nvSpPr>
        <p:spPr>
          <a:xfrm>
            <a:off x="1988820" y="6271514"/>
            <a:ext cx="7818120" cy="841248"/>
          </a:xfrm>
          <a:prstGeom prst="rect">
            <a:avLst/>
          </a:prstGeom>
          <a:noFill/>
        </p:spPr>
        <p:txBody>
          <a:bodyPr anchor="ctr" rtlCol="false" lIns="0" tIns="0" rIns="0" bIns="0" wrap="square"/>
          <a:lstStyle/>
          <a:p>
            <a:pPr algn="l">
              <a:lnSpc>
                <a:spcPts val="2400"/>
              </a:lnSpc>
              <a:spcBef>
                <a:spcPts val="0"/>
              </a:spcBef>
              <a:buNone/>
            </a:pPr>
            <a:r>
              <a:rPr lang="en-US" sz="1900" b="true">
                <a:solidFill>
                  <a:srgbClr val="111111"/>
                </a:solidFill>
                <a:latin typeface="Nunito Bold"/>
                <a:ea typeface="Nunito Bold"/>
                <a:cs typeface="Nunito Bold"/>
                <a:sym typeface="Nunito Bold"/>
              </a:rPr>
              <a:t>TreeSHAP</a:t>
            </a:r>
            <a:r>
              <a:rPr lang="en-US" sz="1900" b="true">
                <a:solidFill>
                  <a:srgbClr val="111111"/>
                </a:solidFill>
                <a:latin typeface="Nunito Semi-Bold"/>
                <a:ea typeface="Nunito Semi-Bold"/>
                <a:cs typeface="Nunito Semi-Bold"/>
                <a:sym typeface="Nunito Semi-Bold"/>
              </a:rPr>
              <a:t>: Attribution in the original feature space.</a:t>
            </a:r>
          </a:p>
        </p:txBody>
      </p:sp>
      <p:sp>
        <p:nvSpPr>
          <p:cNvPr id="25" name="Rounded Rectangle 24"/>
          <p:cNvSpPr/>
          <p:nvPr/>
        </p:nvSpPr>
        <p:spPr>
          <a:xfrm>
            <a:off x="1028700" y="7240778"/>
            <a:ext cx="8961120" cy="841248"/>
          </a:xfrm>
          <a:prstGeom prst="roundRect">
            <a:avLst>
              <a:gd name="adj" fmla="val 21739"/>
            </a:avLst>
          </a:prstGeom>
          <a:solidFill>
            <a:srgbClr val="F6ECDF"/>
          </a:solidFill>
          <a:ln>
            <a:noFill/>
          </a:ln>
        </p:spPr>
        <p:txBody>
          <a:bodyPr anchor="ctr" rtlCol="false" lIns="0" tIns="0" rIns="0" bIns="0" wrap="square"/>
          <a:lstStyle/>
          <a:p>
            <a:endParaRPr lang="en-US" sz="1800"/>
          </a:p>
        </p:txBody>
      </p:sp>
      <p:sp>
        <p:nvSpPr>
          <p:cNvPr id="26" name="Oval 25"/>
          <p:cNvSpPr/>
          <p:nvPr/>
        </p:nvSpPr>
        <p:spPr>
          <a:xfrm>
            <a:off x="1211580" y="7377938"/>
            <a:ext cx="566928" cy="566928"/>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5</a:t>
            </a:r>
          </a:p>
        </p:txBody>
      </p:sp>
      <p:sp>
        <p:nvSpPr>
          <p:cNvPr id="27" name="TextBox 26"/>
          <p:cNvSpPr txBox="1"/>
          <p:nvPr/>
        </p:nvSpPr>
        <p:spPr>
          <a:xfrm>
            <a:off x="1988820" y="7240778"/>
            <a:ext cx="7818120" cy="841248"/>
          </a:xfrm>
          <a:prstGeom prst="rect">
            <a:avLst/>
          </a:prstGeom>
          <a:noFill/>
        </p:spPr>
        <p:txBody>
          <a:bodyPr anchor="ctr" rtlCol="false" lIns="0" tIns="0" rIns="0" bIns="0" wrap="square"/>
          <a:lstStyle/>
          <a:p>
            <a:pPr algn="l">
              <a:lnSpc>
                <a:spcPts val="2400"/>
              </a:lnSpc>
              <a:spcBef>
                <a:spcPts val="0"/>
              </a:spcBef>
              <a:buNone/>
            </a:pPr>
            <a:r>
              <a:rPr lang="en-US" sz="1900" b="true">
                <a:solidFill>
                  <a:srgbClr val="111111"/>
                </a:solidFill>
                <a:latin typeface="Nunito Bold"/>
                <a:ea typeface="Nunito Bold"/>
                <a:cs typeface="Nunito Bold"/>
                <a:sym typeface="Nunito Bold"/>
              </a:rPr>
              <a:t>Aggregate</a:t>
            </a:r>
            <a:r>
              <a:rPr lang="en-US" sz="1900" b="true">
                <a:solidFill>
                  <a:srgbClr val="111111"/>
                </a:solidFill>
                <a:latin typeface="Nunito Semi-Bold"/>
                <a:ea typeface="Nunito Semi-Bold"/>
                <a:cs typeface="Nunito Semi-Bold"/>
                <a:sym typeface="Nunito Semi-Bold"/>
              </a:rPr>
              <a:t>: Global importance, cluster-specific profiles, local force plots.</a:t>
            </a:r>
          </a:p>
        </p:txBody>
      </p:sp>
      <p:sp>
        <p:nvSpPr>
          <p:cNvPr id="28" name="Rounded Rectangle 27"/>
          <p:cNvSpPr/>
          <p:nvPr/>
        </p:nvSpPr>
        <p:spPr>
          <a:xfrm>
            <a:off x="1028700" y="8301482"/>
            <a:ext cx="8961120" cy="1052830"/>
          </a:xfrm>
          <a:prstGeom prst="roundRect">
            <a:avLst>
              <a:gd name="adj" fmla="val 19107"/>
            </a:avLst>
          </a:prstGeom>
          <a:solidFill>
            <a:srgbClr val="124944"/>
          </a:solidFill>
          <a:ln>
            <a:noFill/>
          </a:ln>
        </p:spPr>
        <p:txBody>
          <a:bodyPr anchor="ctr" rtlCol="false" lIns="365760" tIns="91440" rIns="365760" bIns="9144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Complexity:</a:t>
            </a:r>
            <a:r>
              <a:rPr lang="en-US" sz="1700" b="true">
                <a:solidFill>
                  <a:srgbClr val="FFFFFF"/>
                </a:solidFill>
                <a:latin typeface="Nunito Semi-Bold"/>
                <a:ea typeface="Nunito Semi-Bold"/>
                <a:cs typeface="Nunito Semi-Bold"/>
                <a:sym typeface="Nunito Semi-Bold"/>
              </a:rPr>
              <a:t> dominated by PCA and repeated K-Means; TreeSHAP scales with tree count and depth, </a:t>
            </a:r>
            <a:r>
              <a:rPr lang="en-US" sz="1700" b="true">
                <a:solidFill>
                  <a:srgbClr val="FFFFFF"/>
                </a:solidFill>
                <a:latin typeface="Nunito Bold"/>
                <a:ea typeface="Nunito Bold"/>
                <a:cs typeface="Nunito Bold"/>
                <a:sym typeface="Nunito Bold"/>
              </a:rPr>
              <a:t>not exponentially in the number of features</a:t>
            </a:r>
            <a:r>
              <a:rPr lang="en-US" sz="1700" b="true">
                <a:solidFill>
                  <a:srgbClr val="FFFFFF"/>
                </a:solidFill>
                <a:latin typeface="Nunito Semi-Bold"/>
                <a:ea typeface="Nunito Semi-Bold"/>
                <a:cs typeface="Nunito Semi-Bold"/>
                <a:sym typeface="Nunito Semi-Bold"/>
              </a:rPr>
              <a:t>.</a:t>
            </a:r>
          </a:p>
        </p:txBody>
      </p:sp>
      <p:sp>
        <p:nvSpPr>
          <p:cNvPr id="29" name="Rounded Rectangle 28"/>
          <p:cNvSpPr/>
          <p:nvPr/>
        </p:nvSpPr>
        <p:spPr>
          <a:xfrm>
            <a:off x="10447020" y="3363722"/>
            <a:ext cx="6812280" cy="5944870"/>
          </a:xfrm>
          <a:prstGeom prst="roundRect">
            <a:avLst>
              <a:gd name="adj" fmla="val 3845"/>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c1_pipeline.png"/>
          <p:cNvPicPr>
            <a:picLocks noChangeAspect="1"/>
          </p:cNvPicPr>
          <p:nvPr/>
        </p:nvPicPr>
        <p:blipFill>
          <a:blip r:embed="rId4"/>
          <a:stretch>
            <a:fillRect/>
          </a:stretch>
        </p:blipFill>
        <p:spPr>
          <a:xfrm>
            <a:off x="11292205" y="3546602"/>
            <a:ext cx="5121910" cy="5121910"/>
          </a:xfrm>
          <a:prstGeom prst="rect">
            <a:avLst/>
          </a:prstGeom>
        </p:spPr>
      </p:pic>
      <p:sp>
        <p:nvSpPr>
          <p:cNvPr id="31" name="TextBox 30"/>
          <p:cNvSpPr txBox="1"/>
          <p:nvPr/>
        </p:nvSpPr>
        <p:spPr>
          <a:xfrm>
            <a:off x="10447020" y="8759952"/>
            <a:ext cx="6812280" cy="457200"/>
          </a:xfrm>
          <a:prstGeom prst="rect">
            <a:avLst/>
          </a:prstGeom>
          <a:noFill/>
        </p:spPr>
        <p:txBody>
          <a:bodyPr anchor="t" rtlCol="false" lIns="0" tIns="0" rIns="0" bIns="0" wrap="square"/>
          <a:lstStyle/>
          <a:p>
            <a:pPr algn="ctr">
              <a:lnSpc>
                <a:spcPts val="1800"/>
              </a:lnSpc>
              <a:spcBef>
                <a:spcPts val="0"/>
              </a:spcBef>
              <a:buNone/>
            </a:pPr>
            <a:r>
              <a:rPr lang="en-US" sz="1400" b="true">
                <a:solidFill>
                  <a:srgbClr val="8A8378"/>
                </a:solidFill>
                <a:latin typeface="Nunito Semi-Bold"/>
                <a:ea typeface="Nunito Semi-Bold"/>
                <a:cs typeface="Nunito Semi-Bold"/>
                <a:sym typeface="Nunito Semi-Bold"/>
              </a:rPr>
              <a:t>Flowchart of the explainable clustering pipeline (Chapter 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pic>
        <p:nvPicPr>
          <p:cNvPr id="8" name="Picture 7" descr="image.png"/>
          <p:cNvPicPr>
            <a:picLocks noChangeAspect="1"/>
          </p:cNvPicPr>
          <p:nvPr/>
        </p:nvPicPr>
        <p:blipFill>
          <a:blip r:embed="rId2"/>
          <a:stretch>
            <a:fillRect/>
          </a:stretch>
        </p:blipFill>
        <p:spPr>
          <a:xfrm>
            <a:off x="12331918" y="1673352"/>
            <a:ext cx="457200" cy="373212"/>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14" name="Table 13"/>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5" name="Rounded Rectangle 14"/>
          <p:cNvSpPr/>
          <p:nvPr/>
        </p:nvSpPr>
        <p:spPr>
          <a:xfrm>
            <a:off x="9441180" y="6014466"/>
            <a:ext cx="3771900" cy="3294126"/>
          </a:xfrm>
          <a:prstGeom prst="roundRect">
            <a:avLst>
              <a:gd name="adj" fmla="val 8327"/>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16" name="Rounded Rectangle 15"/>
          <p:cNvSpPr/>
          <p:nvPr/>
        </p:nvSpPr>
        <p:spPr>
          <a:xfrm>
            <a:off x="13487400" y="6014466"/>
            <a:ext cx="3771900" cy="3294126"/>
          </a:xfrm>
          <a:prstGeom prst="roundRect">
            <a:avLst>
              <a:gd name="adj" fmla="val 8327"/>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pic>
        <p:nvPicPr>
          <p:cNvPr id="8" name="Picture 7" descr="image.png"/>
          <p:cNvPicPr>
            <a:picLocks noChangeAspect="1"/>
          </p:cNvPicPr>
          <p:nvPr/>
        </p:nvPicPr>
        <p:blipFill>
          <a:blip r:embed="rId2"/>
          <a:stretch>
            <a:fillRect/>
          </a:stretch>
        </p:blipFill>
        <p:spPr>
          <a:xfrm>
            <a:off x="10549542" y="1673352"/>
            <a:ext cx="457200" cy="427074"/>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841248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MEAN |SHAP|  ·  RELATIVE RANKING (HIGH </a:t>
            </a:r>
            <a:r>
              <a:rPr lang="en-US" sz="1400" b="true" spc="160">
                <a:solidFill>
                  <a:srgbClr val="DF8330"/>
                </a:solidFill>
                <a:latin typeface="Calibri"/>
                <a:ea typeface="Calibri"/>
                <a:cs typeface="Calibri"/>
                <a:sym typeface="Calibri"/>
              </a:rPr>
              <a:t>→ </a:t>
            </a:r>
            <a:r>
              <a:rPr lang="en-US" sz="1400" b="true" spc="160">
                <a:solidFill>
                  <a:srgbClr val="DF8330"/>
                </a:solidFill>
                <a:latin typeface="Nunito Ultra-Bold"/>
                <a:ea typeface="Nunito Ultra-Bold"/>
                <a:cs typeface="Nunito Ultra-Bold"/>
                <a:sym typeface="Nunito Ultra-Bold"/>
              </a:rPr>
              <a:t>LOW)</a:t>
            </a:r>
          </a:p>
        </p:txBody>
      </p:sp>
      <p:sp>
        <p:nvSpPr>
          <p:cNvPr id="14" name="TextBox 13"/>
          <p:cNvSpPr txBox="1"/>
          <p:nvPr/>
        </p:nvSpPr>
        <p:spPr>
          <a:xfrm>
            <a:off x="1028700" y="3912362"/>
            <a:ext cx="2377440" cy="658368"/>
          </a:xfrm>
          <a:prstGeom prst="rect">
            <a:avLst/>
          </a:prstGeom>
          <a:noFill/>
        </p:spPr>
        <p:txBody>
          <a:bodyPr anchor="ctr" rtlCol="false" lIns="0" tIns="0" rIns="0" bIns="0" wrap="square"/>
          <a:lstStyle/>
          <a:p>
            <a:pPr algn="r">
              <a:lnSpc>
                <a:spcPts val="2400"/>
              </a:lnSpc>
              <a:spcBef>
                <a:spcPts val="0"/>
              </a:spcBef>
              <a:buNone/>
            </a:pPr>
            <a:r>
              <a:rPr lang="en-US" sz="2000" b="true">
                <a:solidFill>
                  <a:srgbClr val="111111"/>
                </a:solidFill>
                <a:latin typeface="Nunito Bold"/>
                <a:ea typeface="Nunito Bold"/>
                <a:cs typeface="Nunito Bold"/>
                <a:sym typeface="Nunito Bold"/>
              </a:rPr>
              <a:t>density</a:t>
            </a:r>
          </a:p>
        </p:txBody>
      </p:sp>
      <p:sp>
        <p:nvSpPr>
          <p:cNvPr id="15" name="Rounded Rectangle 14"/>
          <p:cNvSpPr/>
          <p:nvPr/>
        </p:nvSpPr>
        <p:spPr>
          <a:xfrm>
            <a:off x="3634740" y="3912362"/>
            <a:ext cx="5806440" cy="658368"/>
          </a:xfrm>
          <a:prstGeom prst="roundRect">
            <a:avLst>
              <a:gd name="adj" fmla="val 13888"/>
            </a:avLst>
          </a:prstGeom>
          <a:solidFill>
            <a:srgbClr val="124944"/>
          </a:solidFill>
          <a:ln>
            <a:noFill/>
          </a:ln>
        </p:spPr>
        <p:txBody>
          <a:bodyPr anchor="ctr" rtlCol="false" lIns="0" tIns="0" rIns="0" bIns="0" wrap="square"/>
          <a:lstStyle/>
          <a:p>
            <a:endParaRPr lang="en-US" sz="1800"/>
          </a:p>
        </p:txBody>
      </p:sp>
      <p:sp>
        <p:nvSpPr>
          <p:cNvPr id="16" name="TextBox 15"/>
          <p:cNvSpPr txBox="1"/>
          <p:nvPr/>
        </p:nvSpPr>
        <p:spPr>
          <a:xfrm>
            <a:off x="3771900" y="3912362"/>
            <a:ext cx="1097280" cy="658368"/>
          </a:xfrm>
          <a:prstGeom prst="rect">
            <a:avLst/>
          </a:prstGeom>
          <a:noFill/>
        </p:spPr>
        <p:txBody>
          <a:bodyPr anchor="ctr" rtlCol="false" lIns="0" tIns="0" rIns="0" bIns="0" wrap="square"/>
          <a:lstStyle/>
          <a:p>
            <a:pPr algn="l">
              <a:lnSpc>
                <a:spcPts val="2200"/>
              </a:lnSpc>
              <a:spcBef>
                <a:spcPts val="0"/>
              </a:spcBef>
              <a:buNone/>
            </a:pPr>
            <a:r>
              <a:rPr lang="en-US" sz="1800" b="true">
                <a:solidFill>
                  <a:srgbClr val="FFFFFF"/>
                </a:solidFill>
                <a:latin typeface="Nunito Ultra-Bold"/>
                <a:ea typeface="Nunito Ultra-Bold"/>
                <a:cs typeface="Nunito Ultra-Bold"/>
                <a:sym typeface="Nunito Ultra-Bold"/>
              </a:rPr>
              <a:t>1</a:t>
            </a:r>
          </a:p>
        </p:txBody>
      </p:sp>
      <p:sp>
        <p:nvSpPr>
          <p:cNvPr id="17" name="TextBox 16"/>
          <p:cNvSpPr txBox="1"/>
          <p:nvPr/>
        </p:nvSpPr>
        <p:spPr>
          <a:xfrm>
            <a:off x="1028700" y="4771898"/>
            <a:ext cx="2377440" cy="658368"/>
          </a:xfrm>
          <a:prstGeom prst="rect">
            <a:avLst/>
          </a:prstGeom>
          <a:noFill/>
        </p:spPr>
        <p:txBody>
          <a:bodyPr anchor="ctr" rtlCol="false" lIns="0" tIns="0" rIns="0" bIns="0" wrap="square"/>
          <a:lstStyle/>
          <a:p>
            <a:pPr algn="r">
              <a:lnSpc>
                <a:spcPts val="2400"/>
              </a:lnSpc>
              <a:spcBef>
                <a:spcPts val="0"/>
              </a:spcBef>
              <a:buNone/>
            </a:pPr>
            <a:r>
              <a:rPr lang="en-US" sz="2000" b="true">
                <a:solidFill>
                  <a:srgbClr val="111111"/>
                </a:solidFill>
                <a:latin typeface="Nunito Bold"/>
                <a:ea typeface="Nunito Bold"/>
                <a:cs typeface="Nunito Bold"/>
                <a:sym typeface="Nunito Bold"/>
              </a:rPr>
              <a:t>pH</a:t>
            </a:r>
          </a:p>
        </p:txBody>
      </p:sp>
      <p:sp>
        <p:nvSpPr>
          <p:cNvPr id="18" name="Rounded Rectangle 17"/>
          <p:cNvSpPr/>
          <p:nvPr/>
        </p:nvSpPr>
        <p:spPr>
          <a:xfrm>
            <a:off x="3634740" y="4771898"/>
            <a:ext cx="4761280" cy="658368"/>
          </a:xfrm>
          <a:prstGeom prst="roundRect">
            <a:avLst>
              <a:gd name="adj" fmla="val 13888"/>
            </a:avLst>
          </a:prstGeom>
          <a:solidFill>
            <a:srgbClr val="124944"/>
          </a:solidFill>
          <a:ln>
            <a:noFill/>
          </a:ln>
        </p:spPr>
        <p:txBody>
          <a:bodyPr anchor="ctr" rtlCol="false" lIns="0" tIns="0" rIns="0" bIns="0" wrap="square"/>
          <a:lstStyle/>
          <a:p>
            <a:endParaRPr lang="en-US" sz="1800"/>
          </a:p>
        </p:txBody>
      </p:sp>
      <p:sp>
        <p:nvSpPr>
          <p:cNvPr id="19" name="TextBox 18"/>
          <p:cNvSpPr txBox="1"/>
          <p:nvPr/>
        </p:nvSpPr>
        <p:spPr>
          <a:xfrm>
            <a:off x="3771900" y="4771898"/>
            <a:ext cx="1097280" cy="658368"/>
          </a:xfrm>
          <a:prstGeom prst="rect">
            <a:avLst/>
          </a:prstGeom>
          <a:noFill/>
        </p:spPr>
        <p:txBody>
          <a:bodyPr anchor="ctr" rtlCol="false" lIns="0" tIns="0" rIns="0" bIns="0" wrap="square"/>
          <a:lstStyle/>
          <a:p>
            <a:pPr algn="l">
              <a:lnSpc>
                <a:spcPts val="2200"/>
              </a:lnSpc>
              <a:spcBef>
                <a:spcPts val="0"/>
              </a:spcBef>
              <a:buNone/>
            </a:pPr>
            <a:r>
              <a:rPr lang="en-US" sz="1800" b="true">
                <a:solidFill>
                  <a:srgbClr val="FFFFFF"/>
                </a:solidFill>
                <a:latin typeface="Nunito Ultra-Bold"/>
                <a:ea typeface="Nunito Ultra-Bold"/>
                <a:cs typeface="Nunito Ultra-Bold"/>
                <a:sym typeface="Nunito Ultra-Bold"/>
              </a:rPr>
              <a:t>2</a:t>
            </a:r>
          </a:p>
        </p:txBody>
      </p:sp>
      <p:sp>
        <p:nvSpPr>
          <p:cNvPr id="20" name="TextBox 19"/>
          <p:cNvSpPr txBox="1"/>
          <p:nvPr/>
        </p:nvSpPr>
        <p:spPr>
          <a:xfrm>
            <a:off x="1028700" y="5631434"/>
            <a:ext cx="2377440" cy="658368"/>
          </a:xfrm>
          <a:prstGeom prst="rect">
            <a:avLst/>
          </a:prstGeom>
          <a:noFill/>
        </p:spPr>
        <p:txBody>
          <a:bodyPr anchor="ctr" rtlCol="false" lIns="0" tIns="0" rIns="0" bIns="0" wrap="square"/>
          <a:lstStyle/>
          <a:p>
            <a:pPr algn="r">
              <a:lnSpc>
                <a:spcPts val="2400"/>
              </a:lnSpc>
              <a:spcBef>
                <a:spcPts val="0"/>
              </a:spcBef>
              <a:buNone/>
            </a:pPr>
            <a:r>
              <a:rPr lang="en-US" sz="2000" b="true">
                <a:solidFill>
                  <a:srgbClr val="111111"/>
                </a:solidFill>
                <a:latin typeface="Nunito Bold"/>
                <a:ea typeface="Nunito Bold"/>
                <a:cs typeface="Nunito Bold"/>
                <a:sym typeface="Nunito Bold"/>
              </a:rPr>
              <a:t>fixed acidity</a:t>
            </a:r>
          </a:p>
        </p:txBody>
      </p:sp>
      <p:sp>
        <p:nvSpPr>
          <p:cNvPr id="21" name="Rounded Rectangle 20"/>
          <p:cNvSpPr/>
          <p:nvPr/>
        </p:nvSpPr>
        <p:spPr>
          <a:xfrm>
            <a:off x="3634740" y="5631434"/>
            <a:ext cx="3948379" cy="658368"/>
          </a:xfrm>
          <a:prstGeom prst="roundRect">
            <a:avLst>
              <a:gd name="adj" fmla="val 13888"/>
            </a:avLst>
          </a:prstGeom>
          <a:solidFill>
            <a:srgbClr val="124944"/>
          </a:solidFill>
          <a:ln>
            <a:noFill/>
          </a:ln>
        </p:spPr>
        <p:txBody>
          <a:bodyPr anchor="ctr" rtlCol="false" lIns="0" tIns="0" rIns="0" bIns="0" wrap="square"/>
          <a:lstStyle/>
          <a:p>
            <a:endParaRPr lang="en-US" sz="1800"/>
          </a:p>
        </p:txBody>
      </p:sp>
      <p:sp>
        <p:nvSpPr>
          <p:cNvPr id="22" name="TextBox 21"/>
          <p:cNvSpPr txBox="1"/>
          <p:nvPr/>
        </p:nvSpPr>
        <p:spPr>
          <a:xfrm>
            <a:off x="3771900" y="5631434"/>
            <a:ext cx="1097280" cy="658368"/>
          </a:xfrm>
          <a:prstGeom prst="rect">
            <a:avLst/>
          </a:prstGeom>
          <a:noFill/>
        </p:spPr>
        <p:txBody>
          <a:bodyPr anchor="ctr" rtlCol="false" lIns="0" tIns="0" rIns="0" bIns="0" wrap="square"/>
          <a:lstStyle/>
          <a:p>
            <a:pPr algn="l">
              <a:lnSpc>
                <a:spcPts val="2200"/>
              </a:lnSpc>
              <a:spcBef>
                <a:spcPts val="0"/>
              </a:spcBef>
              <a:buNone/>
            </a:pPr>
            <a:r>
              <a:rPr lang="en-US" sz="1800" b="true">
                <a:solidFill>
                  <a:srgbClr val="FFFFFF"/>
                </a:solidFill>
                <a:latin typeface="Nunito Ultra-Bold"/>
                <a:ea typeface="Nunito Ultra-Bold"/>
                <a:cs typeface="Nunito Ultra-Bold"/>
                <a:sym typeface="Nunito Ultra-Bold"/>
              </a:rPr>
              <a:t>3</a:t>
            </a:r>
          </a:p>
        </p:txBody>
      </p:sp>
      <p:sp>
        <p:nvSpPr>
          <p:cNvPr id="23" name="TextBox 22"/>
          <p:cNvSpPr txBox="1"/>
          <p:nvPr/>
        </p:nvSpPr>
        <p:spPr>
          <a:xfrm>
            <a:off x="1028700" y="6490970"/>
            <a:ext cx="2377440" cy="658368"/>
          </a:xfrm>
          <a:prstGeom prst="rect">
            <a:avLst/>
          </a:prstGeom>
          <a:noFill/>
        </p:spPr>
        <p:txBody>
          <a:bodyPr anchor="ctr" rtlCol="false" lIns="0" tIns="0" rIns="0" bIns="0" wrap="square"/>
          <a:lstStyle/>
          <a:p>
            <a:pPr algn="r">
              <a:lnSpc>
                <a:spcPts val="2400"/>
              </a:lnSpc>
              <a:spcBef>
                <a:spcPts val="0"/>
              </a:spcBef>
              <a:buNone/>
            </a:pPr>
            <a:r>
              <a:rPr lang="en-US" sz="2000" b="true">
                <a:solidFill>
                  <a:srgbClr val="111111"/>
                </a:solidFill>
                <a:latin typeface="Nunito Bold"/>
                <a:ea typeface="Nunito Bold"/>
                <a:cs typeface="Nunito Bold"/>
                <a:sym typeface="Nunito Bold"/>
              </a:rPr>
              <a:t>sulfur dioxide</a:t>
            </a:r>
          </a:p>
        </p:txBody>
      </p:sp>
      <p:sp>
        <p:nvSpPr>
          <p:cNvPr id="24" name="Rounded Rectangle 23"/>
          <p:cNvSpPr/>
          <p:nvPr/>
        </p:nvSpPr>
        <p:spPr>
          <a:xfrm>
            <a:off x="3634740" y="6490970"/>
            <a:ext cx="3193542" cy="658368"/>
          </a:xfrm>
          <a:prstGeom prst="roundRect">
            <a:avLst>
              <a:gd name="adj" fmla="val 13888"/>
            </a:avLst>
          </a:prstGeom>
          <a:solidFill>
            <a:srgbClr val="DF8330"/>
          </a:solidFill>
          <a:ln>
            <a:noFill/>
          </a:ln>
        </p:spPr>
        <p:txBody>
          <a:bodyPr anchor="ctr" rtlCol="false" lIns="0" tIns="0" rIns="0" bIns="0" wrap="square"/>
          <a:lstStyle/>
          <a:p>
            <a:endParaRPr lang="en-US" sz="1800"/>
          </a:p>
        </p:txBody>
      </p:sp>
      <p:sp>
        <p:nvSpPr>
          <p:cNvPr id="25" name="TextBox 24"/>
          <p:cNvSpPr txBox="1"/>
          <p:nvPr/>
        </p:nvSpPr>
        <p:spPr>
          <a:xfrm>
            <a:off x="3771900" y="6490970"/>
            <a:ext cx="1097280" cy="658368"/>
          </a:xfrm>
          <a:prstGeom prst="rect">
            <a:avLst/>
          </a:prstGeom>
          <a:noFill/>
        </p:spPr>
        <p:txBody>
          <a:bodyPr anchor="ctr" rtlCol="false" lIns="0" tIns="0" rIns="0" bIns="0" wrap="square"/>
          <a:lstStyle/>
          <a:p>
            <a:pPr algn="l">
              <a:lnSpc>
                <a:spcPts val="2200"/>
              </a:lnSpc>
              <a:spcBef>
                <a:spcPts val="0"/>
              </a:spcBef>
              <a:buNone/>
            </a:pPr>
            <a:r>
              <a:rPr lang="en-US" sz="1800" b="true">
                <a:solidFill>
                  <a:srgbClr val="FFFFFF"/>
                </a:solidFill>
                <a:latin typeface="Nunito Ultra-Bold"/>
                <a:ea typeface="Nunito Ultra-Bold"/>
                <a:cs typeface="Nunito Ultra-Bold"/>
                <a:sym typeface="Nunito Ultra-Bold"/>
              </a:rPr>
              <a:t>4</a:t>
            </a:r>
          </a:p>
        </p:txBody>
      </p:sp>
      <p:sp>
        <p:nvSpPr>
          <p:cNvPr id="26" name="TextBox 25"/>
          <p:cNvSpPr txBox="1"/>
          <p:nvPr/>
        </p:nvSpPr>
        <p:spPr>
          <a:xfrm>
            <a:off x="1028700" y="7350506"/>
            <a:ext cx="2377440" cy="658368"/>
          </a:xfrm>
          <a:prstGeom prst="rect">
            <a:avLst/>
          </a:prstGeom>
          <a:noFill/>
        </p:spPr>
        <p:txBody>
          <a:bodyPr anchor="ctr" rtlCol="false" lIns="0" tIns="0" rIns="0" bIns="0" wrap="square"/>
          <a:lstStyle/>
          <a:p>
            <a:pPr algn="r">
              <a:lnSpc>
                <a:spcPts val="2400"/>
              </a:lnSpc>
              <a:spcBef>
                <a:spcPts val="0"/>
              </a:spcBef>
              <a:buNone/>
            </a:pPr>
            <a:r>
              <a:rPr lang="en-US" sz="2000" b="true">
                <a:solidFill>
                  <a:srgbClr val="111111"/>
                </a:solidFill>
                <a:latin typeface="Nunito Bold"/>
                <a:ea typeface="Nunito Bold"/>
                <a:cs typeface="Nunito Bold"/>
                <a:sym typeface="Nunito Bold"/>
              </a:rPr>
              <a:t>alcohol</a:t>
            </a:r>
          </a:p>
        </p:txBody>
      </p:sp>
      <p:sp>
        <p:nvSpPr>
          <p:cNvPr id="27" name="Rounded Rectangle 26"/>
          <p:cNvSpPr/>
          <p:nvPr/>
        </p:nvSpPr>
        <p:spPr>
          <a:xfrm>
            <a:off x="3634740" y="7350506"/>
            <a:ext cx="2554833" cy="658368"/>
          </a:xfrm>
          <a:prstGeom prst="roundRect">
            <a:avLst>
              <a:gd name="adj" fmla="val 13888"/>
            </a:avLst>
          </a:prstGeom>
          <a:solidFill>
            <a:srgbClr val="DF8330"/>
          </a:solidFill>
          <a:ln>
            <a:noFill/>
          </a:ln>
        </p:spPr>
        <p:txBody>
          <a:bodyPr anchor="ctr" rtlCol="false" lIns="0" tIns="0" rIns="0" bIns="0" wrap="square"/>
          <a:lstStyle/>
          <a:p>
            <a:endParaRPr lang="en-US" sz="1800"/>
          </a:p>
        </p:txBody>
      </p:sp>
      <p:sp>
        <p:nvSpPr>
          <p:cNvPr id="28" name="TextBox 27"/>
          <p:cNvSpPr txBox="1"/>
          <p:nvPr/>
        </p:nvSpPr>
        <p:spPr>
          <a:xfrm>
            <a:off x="3771900" y="7350506"/>
            <a:ext cx="1097280" cy="658368"/>
          </a:xfrm>
          <a:prstGeom prst="rect">
            <a:avLst/>
          </a:prstGeom>
          <a:noFill/>
        </p:spPr>
        <p:txBody>
          <a:bodyPr anchor="ctr" rtlCol="false" lIns="0" tIns="0" rIns="0" bIns="0" wrap="square"/>
          <a:lstStyle/>
          <a:p>
            <a:pPr algn="l">
              <a:lnSpc>
                <a:spcPts val="2200"/>
              </a:lnSpc>
              <a:spcBef>
                <a:spcPts val="0"/>
              </a:spcBef>
              <a:buNone/>
            </a:pPr>
            <a:r>
              <a:rPr lang="en-US" sz="1800" b="true">
                <a:solidFill>
                  <a:srgbClr val="FFFFFF"/>
                </a:solidFill>
                <a:latin typeface="Nunito Ultra-Bold"/>
                <a:ea typeface="Nunito Ultra-Bold"/>
                <a:cs typeface="Nunito Ultra-Bold"/>
                <a:sym typeface="Nunito Ultra-Bold"/>
              </a:rPr>
              <a:t>5</a:t>
            </a:r>
          </a:p>
        </p:txBody>
      </p:sp>
      <p:sp>
        <p:nvSpPr>
          <p:cNvPr id="29" name="TextBox 28"/>
          <p:cNvSpPr txBox="1"/>
          <p:nvPr/>
        </p:nvSpPr>
        <p:spPr>
          <a:xfrm>
            <a:off x="1028700" y="8301482"/>
            <a:ext cx="8412480" cy="365760"/>
          </a:xfrm>
          <a:prstGeom prst="rect">
            <a:avLst/>
          </a:prstGeom>
          <a:noFill/>
        </p:spPr>
        <p:txBody>
          <a:bodyPr anchor="t" rtlCol="false" lIns="0" tIns="0" rIns="0" bIns="0" wrap="square"/>
          <a:lstStyle/>
          <a:p>
            <a:pPr algn="l">
              <a:lnSpc>
                <a:spcPts val="1800"/>
              </a:lnSpc>
              <a:spcBef>
                <a:spcPts val="0"/>
              </a:spcBef>
              <a:buNone/>
            </a:pPr>
            <a:r>
              <a:rPr lang="en-US" sz="1400" b="true">
                <a:solidFill>
                  <a:srgbClr val="8A8378"/>
                </a:solidFill>
                <a:latin typeface="Nunito Semi-Bold"/>
                <a:ea typeface="Nunito Semi-Bold"/>
                <a:cs typeface="Nunito Semi-Bold"/>
                <a:sym typeface="Nunito Semi-Bold"/>
              </a:rPr>
              <a:t>Bar lengths show the rank order only; exact values in Chapter 5, Fig. 5.6.</a:t>
            </a:r>
          </a:p>
        </p:txBody>
      </p:sp>
      <p:sp>
        <p:nvSpPr>
          <p:cNvPr id="30" name="Rounded Rectangle 29"/>
          <p:cNvSpPr/>
          <p:nvPr/>
        </p:nvSpPr>
        <p:spPr>
          <a:xfrm>
            <a:off x="9989820" y="3592322"/>
            <a:ext cx="726948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31" name="Rounded Rectangle 30"/>
          <p:cNvSpPr/>
          <p:nvPr/>
        </p:nvSpPr>
        <p:spPr>
          <a:xfrm>
            <a:off x="10447020" y="3354578"/>
            <a:ext cx="3356612"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Reading the ranking</a:t>
            </a:r>
          </a:p>
        </p:txBody>
      </p:sp>
      <p:sp>
        <p:nvSpPr>
          <p:cNvPr id="32" name="TextBox 31"/>
          <p:cNvSpPr txBox="1"/>
          <p:nvPr/>
        </p:nvSpPr>
        <p:spPr>
          <a:xfrm>
            <a:off x="10492740" y="4232402"/>
            <a:ext cx="630936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main drivers relate to </a:t>
            </a:r>
            <a:r>
              <a:rPr lang="en-US" sz="2000" b="true">
                <a:solidFill>
                  <a:srgbClr val="FFFFFF"/>
                </a:solidFill>
                <a:latin typeface="Nunito Bold"/>
                <a:ea typeface="Nunito Bold"/>
                <a:cs typeface="Nunito Bold"/>
                <a:sym typeface="Nunito Bold"/>
              </a:rPr>
              <a:t>structure, preservation and sensory balance</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This is </a:t>
            </a:r>
            <a:r>
              <a:rPr lang="en-US" sz="2000" b="true">
                <a:solidFill>
                  <a:srgbClr val="FFFFFF"/>
                </a:solidFill>
                <a:latin typeface="Nunito Bold"/>
                <a:ea typeface="Nunito Bold"/>
                <a:cs typeface="Nunito Bold"/>
                <a:sym typeface="Nunito Bold"/>
              </a:rPr>
              <a:t>NOT a random side effect of the classifier</a:t>
            </a:r>
            <a:r>
              <a:rPr lang="en-US" sz="2000" b="true">
                <a:solidFill>
                  <a:srgbClr val="FFFFFF"/>
                </a:solidFill>
                <a:latin typeface="Nunito Semi-Bold"/>
                <a:ea typeface="Nunito Semi-Bold"/>
                <a:cs typeface="Nunito Semi-Bold"/>
                <a:sym typeface="Nunito Semi-Bold"/>
              </a:rPr>
              <a:t>: it recovers a chemically meaningful ranking.</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Each driver is a </a:t>
            </a:r>
            <a:r>
              <a:rPr lang="en-US" sz="2000" b="true">
                <a:solidFill>
                  <a:srgbClr val="FFFFFF"/>
                </a:solidFill>
                <a:latin typeface="Nunito Bold"/>
                <a:ea typeface="Nunito Bold"/>
                <a:cs typeface="Nunito Bold"/>
                <a:sym typeface="Nunito Bold"/>
              </a:rPr>
              <a:t>domain-level factor that can be changed</a:t>
            </a:r>
            <a:r>
              <a:rPr lang="en-US" sz="2000" b="true">
                <a:solidFill>
                  <a:srgbClr val="FFFFFF"/>
                </a:solidFill>
                <a:latin typeface="Nunito Semi-Bold"/>
                <a:ea typeface="Nunito Semi-Bold"/>
                <a:cs typeface="Nunito Semi-Bold"/>
                <a:sym typeface="Nunito Semi-Bold"/>
              </a:rPr>
              <a:t>: exactly Definition 1.1.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Cluster-Specific Explanatory Signatures</a:t>
            </a:r>
          </a:p>
        </p:txBody>
      </p:sp>
      <p:pic>
        <p:nvPicPr>
          <p:cNvPr id="8" name="Picture 7" descr="image.png"/>
          <p:cNvPicPr>
            <a:picLocks noChangeAspect="1"/>
          </p:cNvPicPr>
          <p:nvPr/>
        </p:nvPicPr>
        <p:blipFill>
          <a:blip r:embed="rId2"/>
          <a:stretch>
            <a:fillRect/>
          </a:stretch>
        </p:blipFill>
        <p:spPr>
          <a:xfrm>
            <a:off x="11632491" y="1673352"/>
            <a:ext cx="457200" cy="39900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5196840" cy="3108960"/>
          </a:xfrm>
          <a:prstGeom prst="roundRect">
            <a:avLst>
              <a:gd name="adj" fmla="val 8823"/>
            </a:avLst>
          </a:prstGeom>
          <a:solidFill>
            <a:srgbClr val="124944"/>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CLUSTER 0</a:t>
            </a:r>
          </a:p>
          <a:p>
            <a:pPr algn="l">
              <a:lnSpc>
                <a:spcPts val="2800"/>
              </a:lnSpc>
              <a:spcBef>
                <a:spcPts val="1000"/>
              </a:spcBef>
              <a:buNone/>
            </a:pPr>
            <a:r>
              <a:rPr lang="en-US" sz="2300" b="true">
                <a:solidFill>
                  <a:srgbClr val="FFFFFF"/>
                </a:solidFill>
                <a:latin typeface="Nunito Ultra-Bold"/>
                <a:ea typeface="Nunito Ultra-Bold"/>
                <a:cs typeface="Nunito Ultra-Bold"/>
                <a:sym typeface="Nunito Ultra-Bold"/>
              </a:rPr>
              <a:t>density + sulfur-dioxide-related variables</a:t>
            </a:r>
          </a:p>
        </p:txBody>
      </p:sp>
      <p:sp>
        <p:nvSpPr>
          <p:cNvPr id="14" name="Rounded Rectangle 13"/>
          <p:cNvSpPr/>
          <p:nvPr/>
        </p:nvSpPr>
        <p:spPr>
          <a:xfrm>
            <a:off x="6545580" y="3455162"/>
            <a:ext cx="5196840" cy="3108960"/>
          </a:xfrm>
          <a:prstGeom prst="roundRect">
            <a:avLst>
              <a:gd name="adj" fmla="val 8823"/>
            </a:avLst>
          </a:prstGeom>
          <a:solidFill>
            <a:srgbClr val="1E5F58"/>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CLUSTER 1</a:t>
            </a:r>
          </a:p>
          <a:p>
            <a:pPr algn="l">
              <a:lnSpc>
                <a:spcPts val="2800"/>
              </a:lnSpc>
              <a:spcBef>
                <a:spcPts val="1000"/>
              </a:spcBef>
              <a:buNone/>
            </a:pPr>
            <a:r>
              <a:rPr lang="en-US" sz="2300" b="true">
                <a:solidFill>
                  <a:srgbClr val="FFFFFF"/>
                </a:solidFill>
                <a:latin typeface="Nunito Ultra-Bold"/>
                <a:ea typeface="Nunito Ultra-Bold"/>
                <a:cs typeface="Nunito Ultra-Bold"/>
                <a:sym typeface="Nunito Ultra-Bold"/>
              </a:rPr>
              <a:t>acidity and pH-related effects</a:t>
            </a:r>
          </a:p>
        </p:txBody>
      </p:sp>
      <p:sp>
        <p:nvSpPr>
          <p:cNvPr id="15" name="Rounded Rectangle 14"/>
          <p:cNvSpPr/>
          <p:nvPr/>
        </p:nvSpPr>
        <p:spPr>
          <a:xfrm>
            <a:off x="12062460" y="3455162"/>
            <a:ext cx="5196840" cy="3108960"/>
          </a:xfrm>
          <a:prstGeom prst="roundRect">
            <a:avLst>
              <a:gd name="adj" fmla="val 8823"/>
            </a:avLst>
          </a:prstGeom>
          <a:solidFill>
            <a:srgbClr val="DF8330"/>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FFFFFF"/>
                </a:solidFill>
                <a:latin typeface="Nunito Ultra-Bold"/>
                <a:ea typeface="Nunito Ultra-Bold"/>
                <a:cs typeface="Nunito Ultra-Bold"/>
                <a:sym typeface="Nunito Ultra-Bold"/>
              </a:rPr>
              <a:t>CLUSTER 2</a:t>
            </a:r>
          </a:p>
          <a:p>
            <a:pPr algn="l">
              <a:lnSpc>
                <a:spcPts val="2800"/>
              </a:lnSpc>
              <a:spcBef>
                <a:spcPts val="1000"/>
              </a:spcBef>
              <a:buNone/>
            </a:pPr>
            <a:r>
              <a:rPr lang="en-US" sz="2300" b="true">
                <a:solidFill>
                  <a:srgbClr val="FFFFFF"/>
                </a:solidFill>
                <a:latin typeface="Nunito Ultra-Bold"/>
                <a:ea typeface="Nunito Ultra-Bold"/>
                <a:cs typeface="Nunito Ultra-Bold"/>
                <a:sym typeface="Nunito Ultra-Bold"/>
              </a:rPr>
              <a:t>a different balance of acidity, alcohol and related chemical attributes</a:t>
            </a:r>
          </a:p>
        </p:txBody>
      </p:sp>
      <p:sp>
        <p:nvSpPr>
          <p:cNvPr id="16" name="Rounded Rectangle 15"/>
          <p:cNvSpPr/>
          <p:nvPr/>
        </p:nvSpPr>
        <p:spPr>
          <a:xfrm>
            <a:off x="1028700" y="7204202"/>
            <a:ext cx="16230600" cy="2104390"/>
          </a:xfrm>
          <a:prstGeom prst="roundRect">
            <a:avLst>
              <a:gd name="adj" fmla="val 14773"/>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1485900" y="6966458"/>
            <a:ext cx="420355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the signatures show</a:t>
            </a:r>
          </a:p>
        </p:txBody>
      </p:sp>
      <p:sp>
        <p:nvSpPr>
          <p:cNvPr id="18" name="TextBox 17"/>
          <p:cNvSpPr txBox="1"/>
          <p:nvPr/>
        </p:nvSpPr>
        <p:spPr>
          <a:xfrm>
            <a:off x="1531620" y="7844282"/>
            <a:ext cx="15270480" cy="1189990"/>
          </a:xfrm>
          <a:prstGeom prst="rect">
            <a:avLst/>
          </a:prstGeom>
          <a:noFill/>
        </p:spPr>
        <p:txBody>
          <a:bodyPr anchor="t" rtlCol="false" lIns="0" tIns="0" rIns="0" bIns="0" wrap="square"/>
          <a:lstStyle/>
          <a:p>
            <a:pPr algn="l" marL="274320" indent="-274320">
              <a:lnSpc>
                <a:spcPts val="2499"/>
              </a:lnSpc>
              <a:spcBef>
                <a:spcPts val="0"/>
              </a:spcBef>
              <a:buClr>
                <a:srgbClr val="DF8330"/>
              </a:buClr>
              <a:buSzPct val="100000"/>
              <a:buFont typeface="Arial"/>
              <a:buChar char="•"/>
            </a:pPr>
            <a:r>
              <a:rPr lang="en-US" sz="1785" b="true">
                <a:solidFill>
                  <a:srgbClr val="111111"/>
                </a:solidFill>
                <a:latin typeface="Nunito Semi-Bold"/>
                <a:ea typeface="Nunito Semi-Bold"/>
                <a:cs typeface="Nunito Semi-Bold"/>
                <a:sym typeface="Nunito Semi-Bold"/>
              </a:rPr>
              <a:t>The three clusters show </a:t>
            </a:r>
            <a:r>
              <a:rPr lang="en-US" sz="1785" b="true">
                <a:solidFill>
                  <a:srgbClr val="111111"/>
                </a:solidFill>
                <a:latin typeface="Nunito Bold"/>
                <a:ea typeface="Nunito Bold"/>
                <a:cs typeface="Nunito Bold"/>
                <a:sym typeface="Nunito Bold"/>
              </a:rPr>
              <a:t>distinct explanatory signatures</a:t>
            </a:r>
            <a:r>
              <a:rPr lang="en-US" sz="1785" b="true">
                <a:solidFill>
                  <a:srgbClr val="111111"/>
                </a:solidFill>
                <a:latin typeface="Nunito Semi-Bold"/>
                <a:ea typeface="Nunito Semi-Bold"/>
                <a:cs typeface="Nunito Semi-Bold"/>
                <a:sym typeface="Nunito Semi-Bold"/>
              </a:rPr>
              <a:t>: the explanation is consistent, not a single summary number.</a:t>
            </a:r>
          </a:p>
          <a:p>
            <a:pPr algn="l" marL="274320" indent="-274320">
              <a:lnSpc>
                <a:spcPts val="2499"/>
              </a:lnSpc>
              <a:spcBef>
                <a:spcPts val="680"/>
              </a:spcBef>
              <a:buClr>
                <a:srgbClr val="DF8330"/>
              </a:buClr>
              <a:buSzPct val="100000"/>
              <a:buFont typeface="Arial"/>
              <a:buChar char="•"/>
            </a:pPr>
            <a:r>
              <a:rPr lang="en-US" sz="1785" b="true">
                <a:solidFill>
                  <a:srgbClr val="111111"/>
                </a:solidFill>
                <a:latin typeface="Nunito Semi-Bold"/>
                <a:ea typeface="Nunito Semi-Bold"/>
                <a:cs typeface="Nunito Semi-Bold"/>
                <a:sym typeface="Nunito Semi-Bold"/>
              </a:rPr>
              <a:t>The </a:t>
            </a:r>
            <a:r>
              <a:rPr lang="en-US" sz="1785" b="true">
                <a:solidFill>
                  <a:srgbClr val="111111"/>
                </a:solidFill>
                <a:latin typeface="Nunito Bold"/>
                <a:ea typeface="Nunito Bold"/>
                <a:cs typeface="Nunito Bold"/>
                <a:sym typeface="Nunito Bold"/>
              </a:rPr>
              <a:t>same small set of variables recurs</a:t>
            </a:r>
            <a:r>
              <a:rPr lang="en-US" sz="1785" b="true">
                <a:solidFill>
                  <a:srgbClr val="111111"/>
                </a:solidFill>
                <a:latin typeface="Nunito Semi-Bold"/>
                <a:ea typeface="Nunito Semi-Bold"/>
                <a:cs typeface="Nunito Semi-Bold"/>
                <a:sym typeface="Nunito Semi-Bold"/>
              </a:rPr>
              <a:t> across clusters, with </a:t>
            </a:r>
            <a:r>
              <a:rPr lang="en-US" sz="1785" b="true">
                <a:solidFill>
                  <a:srgbClr val="111111"/>
                </a:solidFill>
                <a:latin typeface="Nunito Bold"/>
                <a:ea typeface="Nunito Bold"/>
                <a:cs typeface="Nunito Bold"/>
                <a:sym typeface="Nunito Bold"/>
              </a:rPr>
              <a:t>different relative weights</a:t>
            </a:r>
            <a:r>
              <a:rPr lang="en-US" sz="1785" b="true">
                <a:solidFill>
                  <a:srgbClr val="111111"/>
                </a:solidFill>
                <a:latin typeface="Nunito Semi-Bold"/>
                <a:ea typeface="Nunito Semi-Bold"/>
                <a:cs typeface="Nunito Semi-Bold"/>
                <a:sym typeface="Nunito Semi-Bold"/>
              </a:rPr>
              <a:t> within each.</a:t>
            </a:r>
          </a:p>
          <a:p>
            <a:pPr algn="l" marL="274320" indent="-274320">
              <a:lnSpc>
                <a:spcPts val="2499"/>
              </a:lnSpc>
              <a:spcBef>
                <a:spcPts val="680"/>
              </a:spcBef>
              <a:buClr>
                <a:srgbClr val="DF8330"/>
              </a:buClr>
              <a:buSzPct val="100000"/>
              <a:buFont typeface="Arial"/>
              <a:buChar char="•"/>
            </a:pPr>
            <a:r>
              <a:rPr lang="en-US" sz="1785" b="true">
                <a:solidFill>
                  <a:srgbClr val="111111"/>
                </a:solidFill>
                <a:latin typeface="Nunito Semi-Bold"/>
                <a:ea typeface="Nunito Semi-Bold"/>
                <a:cs typeface="Nunito Semi-Bold"/>
                <a:sym typeface="Nunito Semi-Bold"/>
              </a:rPr>
              <a:t>Local force plots break any single wine down into its per-feature contributions to cluster membership.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 vs LIME: Why the Cooperative Concept Wins</a:t>
            </a:r>
          </a:p>
        </p:txBody>
      </p:sp>
      <p:pic>
        <p:nvPicPr>
          <p:cNvPr id="8" name="Picture 7" descr="image.png"/>
          <p:cNvPicPr>
            <a:picLocks noChangeAspect="1"/>
          </p:cNvPicPr>
          <p:nvPr/>
        </p:nvPicPr>
        <p:blipFill>
          <a:blip r:embed="rId2"/>
          <a:stretch>
            <a:fillRect/>
          </a:stretch>
        </p:blipFill>
        <p:spPr>
          <a:xfrm>
            <a:off x="14347595" y="1673352"/>
            <a:ext cx="457200" cy="44671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13" name="Table 12"/>
          <p:cNvGraphicFramePr>
            <a:graphicFrameLocks noGrp="1"/>
          </p:cNvGraphicFramePr>
          <p:nvPr/>
        </p:nvGraphicFramePr>
        <p:xfrm>
          <a:off x="1028700" y="3363722"/>
          <a:ext cx="16230599" cy="4498848"/>
        </p:xfrm>
        <a:graphic>
          <a:graphicData uri="http://schemas.openxmlformats.org/drawingml/2006/table">
            <a:tbl>
              <a:tblPr firstRow="0" bandRow="0" firstCol="0" lastRow="0" lastCol="0" bandCol="0">
                <a:tableStyleId>{2D5ABB26-0587-4C30-8999-92F81FD0307C}</a:tableStyleId>
              </a:tblPr>
              <a:tblGrid>
                <a:gridCol w="3701715"/>
                <a:gridCol w="6264442"/>
                <a:gridCol w="6264442"/>
              </a:tblGrid>
              <a:tr h="749808">
                <a:tc>
                  <a:txBody>
                    <a:bodyPr anchor="ctr" rtlCol="false" lIns="0" tIns="0" rIns="0" bIns="0" wrap="square"/>
                    <a:lstStyle/>
                    <a:p>
                      <a:pPr algn="l">
                        <a:lnSpc>
                          <a:spcPts val="2470"/>
                        </a:lnSpc>
                        <a:spcBef>
                          <a:spcPts val="0"/>
                        </a:spcBef>
                        <a:buNone/>
                      </a:pPr>
                      <a:r>
                        <a:rPr lang="en-US" sz="1900" b="true">
                          <a:solidFill>
                            <a:srgbClr val="FFFFFF"/>
                          </a:solidFill>
                          <a:latin typeface="Nunito Bold"/>
                          <a:ea typeface="Nunito Bold"/>
                          <a:cs typeface="Nunito Bold"/>
                          <a:sym typeface="Nunito Bold"/>
                        </a:rPr>
                        <a:t>Criterion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470"/>
                        </a:lnSpc>
                        <a:spcBef>
                          <a:spcPts val="0"/>
                        </a:spcBef>
                        <a:buNone/>
                      </a:pPr>
                      <a:r>
                        <a:rPr lang="en-US" sz="1900" b="true">
                          <a:solidFill>
                            <a:srgbClr val="FFFFFF"/>
                          </a:solidFill>
                          <a:latin typeface="Nunito Bold"/>
                          <a:ea typeface="Nunito Bold"/>
                          <a:cs typeface="Nunito Bold"/>
                          <a:sym typeface="Nunito Bold"/>
                        </a:rPr>
                        <a:t>SHAP (cooperative)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470"/>
                        </a:lnSpc>
                        <a:spcBef>
                          <a:spcPts val="0"/>
                        </a:spcBef>
                        <a:buNone/>
                      </a:pPr>
                      <a:r>
                        <a:rPr lang="en-US" sz="1900" b="true">
                          <a:solidFill>
                            <a:srgbClr val="FFFFFF"/>
                          </a:solidFill>
                          <a:latin typeface="Nunito Bold"/>
                          <a:ea typeface="Nunito Bold"/>
                          <a:cs typeface="Nunito Bold"/>
                          <a:sym typeface="Nunito Bold"/>
                        </a:rPr>
                        <a:t>LIME (local surrogate)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49808">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Basis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Cooperative-game marginal contribution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Local surrogate approximation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49808">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Local / global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Both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Primarily local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49808">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Theoretical guarantee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Efficiency, symmetry, null player, additivity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None equivalent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49808">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Stability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Higher when surrogate faithful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Sensitive to perturbation design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49808">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Cluster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Strong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Limited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4" name="Rounded Rectangle 13"/>
          <p:cNvSpPr/>
          <p:nvPr/>
        </p:nvSpPr>
        <p:spPr>
          <a:xfrm>
            <a:off x="1028700" y="8228330"/>
            <a:ext cx="16230600" cy="1125982"/>
          </a:xfrm>
          <a:prstGeom prst="roundRect">
            <a:avLst>
              <a:gd name="adj" fmla="val 20302"/>
            </a:avLst>
          </a:prstGeom>
          <a:solidFill>
            <a:srgbClr val="124944"/>
          </a:solidFill>
          <a:ln>
            <a:noFill/>
          </a:ln>
        </p:spPr>
        <p:txBody>
          <a:bodyPr anchor="ctr" rtlCol="false" lIns="457200" tIns="91440" rIns="457200" bIns="91440" wrap="square"/>
          <a:lstStyle/>
          <a:p>
            <a:pPr algn="ctr">
              <a:lnSpc>
                <a:spcPts val="2700"/>
              </a:lnSpc>
              <a:spcBef>
                <a:spcPts val="0"/>
              </a:spcBef>
              <a:buNone/>
            </a:pPr>
            <a:r>
              <a:rPr lang="en-US" sz="2100" b="true">
                <a:solidFill>
                  <a:srgbClr val="FFFFFF"/>
                </a:solidFill>
                <a:latin typeface="Nunito Semi-Bold"/>
                <a:ea typeface="Nunito Semi-Bold"/>
                <a:cs typeface="Nunito Semi-Bold"/>
                <a:sym typeface="Nunito Semi-Bold"/>
              </a:rPr>
              <a:t>Shapley rests on </a:t>
            </a:r>
            <a:r>
              <a:rPr lang="en-US" sz="2100" b="true">
                <a:solidFill>
                  <a:srgbClr val="FFFFFF"/>
                </a:solidFill>
                <a:latin typeface="Nunito Bold"/>
                <a:ea typeface="Nunito Bold"/>
                <a:cs typeface="Nunito Bold"/>
                <a:sym typeface="Nunito Bold"/>
              </a:rPr>
              <a:t>four axioms</a:t>
            </a:r>
            <a:r>
              <a:rPr lang="en-US" sz="2100" b="true">
                <a:solidFill>
                  <a:srgbClr val="FFFFFF"/>
                </a:solidFill>
                <a:latin typeface="Nunito Semi-Bold"/>
                <a:ea typeface="Nunito Semi-Bold"/>
                <a:cs typeface="Nunito Semi-Bold"/>
                <a:sym typeface="Nunito Semi-Bold"/>
              </a:rPr>
              <a:t>; LIME has no equivalent guarantee. With a faithful surrogate, cooperative attribution is </a:t>
            </a:r>
            <a:r>
              <a:rPr lang="en-US" sz="2100" b="true">
                <a:solidFill>
                  <a:srgbClr val="FFFFFF"/>
                </a:solidFill>
                <a:latin typeface="Nunito Bold"/>
                <a:ea typeface="Nunito Bold"/>
                <a:cs typeface="Nunito Bold"/>
                <a:sym typeface="Nunito Bold"/>
              </a:rPr>
              <a:t>more stable and comparable across clusters</a:t>
            </a:r>
            <a:r>
              <a:rPr lang="en-US" sz="210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Key Findings and Limitations</a:t>
            </a:r>
          </a:p>
        </p:txBody>
      </p:sp>
      <p:pic>
        <p:nvPicPr>
          <p:cNvPr id="8" name="Picture 7" descr="image.png"/>
          <p:cNvPicPr>
            <a:picLocks noChangeAspect="1"/>
          </p:cNvPicPr>
          <p:nvPr/>
        </p:nvPicPr>
        <p:blipFill>
          <a:blip r:embed="rId2"/>
          <a:stretch>
            <a:fillRect/>
          </a:stretch>
        </p:blipFill>
        <p:spPr>
          <a:xfrm>
            <a:off x="11313629"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4802428"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RQ1 answered · objectives met</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RQ1: yes.</a:t>
            </a:r>
            <a:r>
              <a:rPr lang="en-US" sz="1900" b="true">
                <a:solidFill>
                  <a:srgbClr val="FFFFFF"/>
                </a:solidFill>
                <a:latin typeface="Nunito Semi-Bold"/>
                <a:ea typeface="Nunito Semi-Bold"/>
                <a:cs typeface="Nunito Semi-Bold"/>
                <a:sym typeface="Nunito Semi-Bold"/>
              </a:rPr>
              <a:t> Faithful, consistent cluster-level explanation from Shapley values.</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O1 met</a:t>
            </a:r>
            <a:r>
              <a:rPr lang="en-US" sz="1900" b="true">
                <a:solidFill>
                  <a:srgbClr val="FFFFFF"/>
                </a:solidFill>
                <a:latin typeface="Nunito Semi-Bold"/>
                <a:ea typeface="Nunito Semi-Bold"/>
                <a:cs typeface="Nunito Semi-Bold"/>
                <a:sym typeface="Nunito Semi-Bold"/>
              </a:rPr>
              <a:t> · cluster-level explanation anchored to individual feature contributions.</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O2 met</a:t>
            </a:r>
            <a:r>
              <a:rPr lang="en-US" sz="1900" b="true">
                <a:solidFill>
                  <a:srgbClr val="FFFFFF"/>
                </a:solidFill>
                <a:latin typeface="Nunito Semi-Bold"/>
                <a:ea typeface="Nunito Semi-Bold"/>
                <a:cs typeface="Nunito Semi-Bold"/>
                <a:sym typeface="Nunito Semi-Bold"/>
              </a:rPr>
              <a:t> · attribution returned to the original chemical variables, not a latent space.</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O3 met</a:t>
            </a:r>
            <a:r>
              <a:rPr lang="en-US" sz="1900" b="true">
                <a:solidFill>
                  <a:srgbClr val="FFFFFF"/>
                </a:solidFill>
                <a:latin typeface="Nunito Semi-Bold"/>
                <a:ea typeface="Nunito Semi-Bold"/>
                <a:cs typeface="Nunito Semi-Bold"/>
                <a:sym typeface="Nunito Semi-Bold"/>
              </a:rPr>
              <a:t> · Shapley rests on four axioms; LIME has no equivalent guarantee.</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Recovers a ranking that makes sense in wine chemistry: density, pH, acidity, sulfur dioxide, alcohol.</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214562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Limitations</a:t>
            </a:r>
          </a:p>
        </p:txBody>
      </p:sp>
      <p:sp>
        <p:nvSpPr>
          <p:cNvPr id="18" name="TextBox 17"/>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Fidelity depends on the </a:t>
            </a:r>
            <a:r>
              <a:rPr lang="en-US" sz="1900" b="true">
                <a:solidFill>
                  <a:srgbClr val="111111"/>
                </a:solidFill>
                <a:latin typeface="Nunito Bold"/>
                <a:ea typeface="Nunito Bold"/>
                <a:cs typeface="Nunito Bold"/>
                <a:sym typeface="Nunito Bold"/>
              </a:rPr>
              <a:t>LightGBM surrogate</a:t>
            </a:r>
            <a:r>
              <a:rPr lang="en-US" sz="1900" b="true">
                <a:solidFill>
                  <a:srgbClr val="111111"/>
                </a:solidFill>
                <a:latin typeface="Nunito Semi-Bold"/>
                <a:ea typeface="Nunito Semi-Bold"/>
                <a:cs typeface="Nunito Semi-Bold"/>
                <a:sym typeface="Nunito Semi-Bold"/>
              </a:rPr>
              <a:t>, not on the K-Means geometry directly.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Limited to </a:t>
            </a:r>
            <a:r>
              <a:rPr lang="en-US" sz="1900" b="true">
                <a:solidFill>
                  <a:srgbClr val="111111"/>
                </a:solidFill>
                <a:latin typeface="Nunito Bold"/>
                <a:ea typeface="Nunito Bold"/>
                <a:cs typeface="Nunito Bold"/>
                <a:sym typeface="Nunito Bold"/>
              </a:rPr>
              <a:t>tabular data</a:t>
            </a:r>
            <a:r>
              <a:rPr lang="en-US" sz="1900" b="true">
                <a:solidFill>
                  <a:srgbClr val="111111"/>
                </a:solidFill>
                <a:latin typeface="Nunito Semi-Bold"/>
                <a:ea typeface="Nunito Semi-Bold"/>
                <a:cs typeface="Nunito Semi-Bold"/>
                <a:sym typeface="Nunito Semi-Bold"/>
              </a:rPr>
              <a:t>; no structured, graph or image input.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Single-level structure:</a:t>
            </a:r>
            <a:r>
              <a:rPr lang="en-US" sz="1900" b="true">
                <a:solidFill>
                  <a:srgbClr val="111111"/>
                </a:solidFill>
                <a:latin typeface="Nunito Semi-Bold"/>
                <a:ea typeface="Nunito Semi-Bold"/>
                <a:cs typeface="Nunito Semi-Bold"/>
                <a:sym typeface="Nunito Semi-Bold"/>
              </a:rPr>
              <a:t> cannot explain how importance changes between a partition and its sub-partitions.</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surrogate approximation smooths out variation between single observations.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Takeaways, and the Next Question</a:t>
            </a:r>
          </a:p>
        </p:txBody>
      </p:sp>
      <p:pic>
        <p:nvPicPr>
          <p:cNvPr id="8" name="Picture 7" descr="image.png"/>
          <p:cNvPicPr>
            <a:picLocks noChangeAspect="1"/>
          </p:cNvPicPr>
          <p:nvPr/>
        </p:nvPicPr>
        <p:blipFill>
          <a:blip r:embed="rId2"/>
          <a:stretch>
            <a:fillRect/>
          </a:stretch>
        </p:blipFill>
        <p:spPr>
          <a:xfrm>
            <a:off x="10215309" y="1673352"/>
            <a:ext cx="457200" cy="415247"/>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455162"/>
            <a:ext cx="5196840" cy="3291840"/>
          </a:xfrm>
          <a:prstGeom prst="roundRect">
            <a:avLst>
              <a:gd name="adj" fmla="val 8333"/>
            </a:avLst>
          </a:prstGeom>
          <a:solidFill>
            <a:srgbClr val="124944"/>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Single lens</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Shapley attribution is one well-founded lens for explaining an unsupervised partition.</a:t>
            </a:r>
          </a:p>
        </p:txBody>
      </p:sp>
      <p:sp>
        <p:nvSpPr>
          <p:cNvPr id="14" name="Rounded Rectangle 13"/>
          <p:cNvSpPr/>
          <p:nvPr/>
        </p:nvSpPr>
        <p:spPr>
          <a:xfrm>
            <a:off x="6545580" y="3455162"/>
            <a:ext cx="5196840" cy="3291840"/>
          </a:xfrm>
          <a:prstGeom prst="roundRect">
            <a:avLst>
              <a:gd name="adj" fmla="val 8333"/>
            </a:avLst>
          </a:prstGeom>
          <a:solidFill>
            <a:srgbClr val="1E5F58"/>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Original space</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Keeping attribution in the original feature space is what makes it actionable.</a:t>
            </a:r>
          </a:p>
        </p:txBody>
      </p:sp>
      <p:sp>
        <p:nvSpPr>
          <p:cNvPr id="15" name="Rounded Rectangle 14"/>
          <p:cNvSpPr/>
          <p:nvPr/>
        </p:nvSpPr>
        <p:spPr>
          <a:xfrm>
            <a:off x="12062460" y="3455162"/>
            <a:ext cx="5196840" cy="3291840"/>
          </a:xfrm>
          <a:prstGeom prst="roundRect">
            <a:avLst>
              <a:gd name="adj" fmla="val 8333"/>
            </a:avLst>
          </a:prstGeom>
          <a:solidFill>
            <a:srgbClr val="DF8330"/>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But…</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16" name="Rounded Rectangle 15"/>
          <p:cNvSpPr/>
          <p:nvPr/>
        </p:nvSpPr>
        <p:spPr>
          <a:xfrm>
            <a:off x="1028700" y="7204202"/>
            <a:ext cx="16230600" cy="2150110"/>
          </a:xfrm>
          <a:prstGeom prst="roundRect">
            <a:avLst>
              <a:gd name="adj" fmla="val 12758"/>
            </a:avLst>
          </a:prstGeom>
          <a:noFill/>
          <a:ln w="31750">
            <a:solidFill>
              <a:srgbClr val="124944"/>
            </a:solidFill>
          </a:ln>
        </p:spPr>
        <p:txBody>
          <a:bodyPr anchor="ctr" rtlCol="false" lIns="457200" tIns="91440" rIns="457200" bIns="91440" wrap="square"/>
          <a:lstStyle/>
          <a:p>
            <a:pPr algn="ctr">
              <a:lnSpc>
                <a:spcPts val="1800"/>
              </a:lnSpc>
              <a:spcBef>
                <a:spcPts val="0"/>
              </a:spcBef>
              <a:buNone/>
            </a:pPr>
            <a:r>
              <a:rPr lang="en-US" sz="1400" b="true" spc="180">
                <a:solidFill>
                  <a:srgbClr val="DF8330"/>
                </a:solidFill>
                <a:latin typeface="Nunito Ultra-Bold"/>
                <a:ea typeface="Nunito Ultra-Bold"/>
                <a:cs typeface="Nunito Ultra-Bold"/>
                <a:sym typeface="Nunito Ultra-Bold"/>
              </a:rPr>
              <a:t>NEXT</a:t>
            </a:r>
          </a:p>
          <a:p>
            <a:pPr algn="ctr">
              <a:lnSpc>
                <a:spcPts val="3200"/>
              </a:lnSpc>
              <a:spcBef>
                <a:spcPts val="800"/>
              </a:spcBef>
              <a:buNone/>
            </a:pPr>
            <a:r>
              <a:rPr lang="en-US" sz="2600" b="true">
                <a:solidFill>
                  <a:srgbClr val="111111"/>
                </a:solidFill>
                <a:latin typeface="Nunito Bold"/>
                <a:ea typeface="Nunito Bold"/>
                <a:cs typeface="Nunito Bold"/>
                <a:sym typeface="Nunito Bold"/>
              </a:rPr>
              <a:t>So the next question is whether this logic </a:t>
            </a:r>
            <a:r>
              <a:rPr lang="en-US" sz="2600" b="true">
                <a:solidFill>
                  <a:srgbClr val="111111"/>
                </a:solidFill>
                <a:latin typeface="Nunito Bold"/>
                <a:ea typeface="Nunito Bold"/>
                <a:cs typeface="Nunito Bold"/>
                <a:sym typeface="Nunito Bold"/>
              </a:rPr>
              <a:t>survives scale and hierarchy</a:t>
            </a:r>
            <a:r>
              <a:rPr lang="en-US" sz="2600" b="true">
                <a:solidFill>
                  <a:srgbClr val="111111"/>
                </a:solidFill>
                <a:latin typeface="Nunito Bold"/>
                <a:ea typeface="Nunito Bold"/>
                <a:cs typeface="Nunito Bold"/>
                <a:sym typeface="Nunito Bold"/>
              </a:rPr>
              <a:t>: Contribution II.</a:t>
            </a:r>
          </a:p>
        </p:txBody>
      </p:sp>
      <p:pic>
        <p:nvPicPr>
          <p:cNvPr id="17" name="Picture 16" descr="image.png"/>
          <p:cNvPicPr>
            <a:picLocks noChangeAspect="1"/>
          </p:cNvPicPr>
          <p:nvPr/>
        </p:nvPicPr>
        <p:blipFill>
          <a:blip r:embed="rId4"/>
          <a:stretch>
            <a:fillRect/>
          </a:stretch>
        </p:blipFill>
        <p:spPr>
          <a:xfrm>
            <a:off x="15979140" y="7432802"/>
            <a:ext cx="256032" cy="842772"/>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6" name="TextBox 5"/>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7" name="Oval 6"/>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9" name="TextBox 8"/>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Enhanced multi-level XAI for large-scale clustering  ·  answers RQ2</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Gap and Objectives</a:t>
            </a:r>
          </a:p>
        </p:txBody>
      </p:sp>
      <p:pic>
        <p:nvPicPr>
          <p:cNvPr id="8" name="Picture 7" descr="image.png"/>
          <p:cNvPicPr>
            <a:picLocks noChangeAspect="1"/>
          </p:cNvPicPr>
          <p:nvPr/>
        </p:nvPicPr>
        <p:blipFill>
          <a:blip r:embed="rId2"/>
          <a:stretch>
            <a:fillRect/>
          </a:stretch>
        </p:blipFill>
        <p:spPr>
          <a:xfrm>
            <a:off x="6247896" y="1673352"/>
            <a:ext cx="457200" cy="250983"/>
          </a:xfrm>
          <a:prstGeom prst="rect">
            <a:avLst/>
          </a:prstGeom>
        </p:spPr>
      </p:pic>
      <p:sp>
        <p:nvSpPr>
          <p:cNvPr id="9" name="Rounded Rectangle 8"/>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120026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Gap</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clustering is multi-level, feature importance must stay readable </a:t>
            </a:r>
            <a:r>
              <a:rPr lang="en-US" sz="2000" b="true">
                <a:solidFill>
                  <a:srgbClr val="FFFFFF"/>
                </a:solidFill>
                <a:latin typeface="Nunito Bold"/>
                <a:ea typeface="Nunito Bold"/>
                <a:cs typeface="Nunito Bold"/>
                <a:sym typeface="Nunito Bold"/>
              </a:rPr>
              <a:t>within a cluster, across sub-clusters and across the levels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Large-scale data make exact explanation </a:t>
            </a:r>
            <a:r>
              <a:rPr lang="en-US" sz="2000" b="true">
                <a:solidFill>
                  <a:srgbClr val="FFFFFF"/>
                </a:solidFill>
                <a:latin typeface="Nunito Bold"/>
                <a:ea typeface="Nunito Bold"/>
                <a:cs typeface="Nunito Bold"/>
                <a:sym typeface="Nunito Bold"/>
              </a:rPr>
              <a:t>too costly to compute</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 flat explanation may be true yet </a:t>
            </a:r>
            <a:r>
              <a:rPr lang="en-US" sz="2000" b="true">
                <a:solidFill>
                  <a:srgbClr val="FFFFFF"/>
                </a:solidFill>
                <a:latin typeface="Nunito Bold"/>
                <a:ea typeface="Nunito Bold"/>
                <a:cs typeface="Nunito Bold"/>
                <a:sym typeface="Nunito Bold"/>
              </a:rPr>
              <a:t>incomplete</a:t>
            </a:r>
            <a:r>
              <a:rPr lang="en-US" sz="2000" b="true">
                <a:solidFill>
                  <a:srgbClr val="FFFFFF"/>
                </a:solidFill>
                <a:latin typeface="Nunito Semi-Bold"/>
                <a:ea typeface="Nunito Semi-Bold"/>
                <a:cs typeface="Nunito Semi-Bold"/>
                <a:sym typeface="Nunito Semi-Bold"/>
              </a:rPr>
              <a:t>: it cannot show how importance changes inside a cluster.</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3048366" cy="438912"/>
          </a:xfrm>
          <a:prstGeom prst="roundRect">
            <a:avLst>
              <a:gd name="adj" fmla="val 50000"/>
            </a:avLst>
          </a:prstGeom>
          <a:solidFill>
            <a:srgbClr val="124944"/>
          </a:solidFill>
          <a:ln>
            <a:no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RQ2 </a:t>
            </a:r>
            <a:r>
              <a:rPr lang="en-US" sz="2200" b="true">
                <a:solidFill>
                  <a:srgbClr val="FFFFFF"/>
                </a:solidFill>
                <a:latin typeface="Calibri"/>
                <a:ea typeface="Calibri"/>
                <a:cs typeface="Calibri"/>
                <a:sym typeface="Calibri"/>
              </a:rPr>
              <a:t>→ </a:t>
            </a:r>
            <a:r>
              <a:rPr lang="en-US" sz="2200" b="true">
                <a:solidFill>
                  <a:srgbClr val="FFFFFF"/>
                </a:solidFill>
                <a:latin typeface="Nunito Bold"/>
                <a:ea typeface="Nunito Bold"/>
                <a:cs typeface="Nunito Bold"/>
                <a:sym typeface="Nunito Bold"/>
              </a:rPr>
              <a:t>Objectives</a:t>
            </a:r>
          </a:p>
        </p:txBody>
      </p:sp>
      <p:sp>
        <p:nvSpPr>
          <p:cNvPr id="18" name="TextBox 17"/>
          <p:cNvSpPr txBox="1"/>
          <p:nvPr/>
        </p:nvSpPr>
        <p:spPr>
          <a:xfrm>
            <a:off x="9784080" y="4186682"/>
            <a:ext cx="7018020" cy="1005840"/>
          </a:xfrm>
          <a:prstGeom prst="rect">
            <a:avLst/>
          </a:prstGeom>
          <a:noFill/>
        </p:spPr>
        <p:txBody>
          <a:bodyPr anchor="t" rtlCol="false" lIns="0" tIns="0" rIns="0" bIns="0" wrap="square"/>
          <a:lstStyle/>
          <a:p>
            <a:pPr algn="l">
              <a:lnSpc>
                <a:spcPts val="2800"/>
              </a:lnSpc>
              <a:spcBef>
                <a:spcPts val="0"/>
              </a:spcBef>
              <a:buNone/>
            </a:pPr>
            <a:r>
              <a:rPr lang="en-US" sz="2000" b="true">
                <a:solidFill>
                  <a:srgbClr val="124944"/>
                </a:solidFill>
                <a:latin typeface="Nunito Bold"/>
                <a:ea typeface="Nunito Bold"/>
                <a:cs typeface="Nunito Bold"/>
                <a:sym typeface="Nunito Bold"/>
              </a:rPr>
              <a:t>RQ2 ·</a:t>
            </a:r>
            <a:r>
              <a:rPr lang="en-US" sz="2000" b="true">
                <a:solidFill>
                  <a:srgbClr val="124944"/>
                </a:solidFill>
                <a:latin typeface="Nunito Semi-Bold"/>
                <a:ea typeface="Nunito Semi-Bold"/>
                <a:cs typeface="Nunito Semi-Bold"/>
                <a:sym typeface="Nunito Semi-Bold"/>
              </a:rPr>
              <a:t> How can this extend to large-scale, multi-level clustering while staying feasible and consistent?</a:t>
            </a:r>
          </a:p>
        </p:txBody>
      </p:sp>
      <p:sp>
        <p:nvSpPr>
          <p:cNvPr id="19" name="Oval 18"/>
          <p:cNvSpPr/>
          <p:nvPr/>
        </p:nvSpPr>
        <p:spPr>
          <a:xfrm>
            <a:off x="9784080" y="5421122"/>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O1</a:t>
            </a:r>
          </a:p>
        </p:txBody>
      </p:sp>
      <p:sp>
        <p:nvSpPr>
          <p:cNvPr id="20" name="TextBox 19"/>
          <p:cNvSpPr txBox="1"/>
          <p:nvPr/>
        </p:nvSpPr>
        <p:spPr>
          <a:xfrm>
            <a:off x="10515600" y="5238242"/>
            <a:ext cx="6240780" cy="82296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A </a:t>
            </a:r>
            <a:r>
              <a:rPr lang="en-US" sz="1900" b="true">
                <a:solidFill>
                  <a:srgbClr val="111111"/>
                </a:solidFill>
                <a:latin typeface="Nunito Bold"/>
                <a:ea typeface="Nunito Bold"/>
                <a:cs typeface="Nunito Bold"/>
                <a:sym typeface="Nunito Bold"/>
              </a:rPr>
              <a:t>truly multi-level workflow</a:t>
            </a:r>
            <a:r>
              <a:rPr lang="en-US" sz="1900" b="true">
                <a:solidFill>
                  <a:srgbClr val="111111"/>
                </a:solidFill>
                <a:latin typeface="Nunito Semi-Bold"/>
                <a:ea typeface="Nunito Semi-Bold"/>
                <a:cs typeface="Nunito Semi-Bold"/>
                <a:sym typeface="Nunito Semi-Bold"/>
              </a:rPr>
              <a:t>, not a rerun of the single-level pipeline.</a:t>
            </a:r>
          </a:p>
        </p:txBody>
      </p:sp>
      <p:sp>
        <p:nvSpPr>
          <p:cNvPr id="21" name="Oval 20"/>
          <p:cNvSpPr/>
          <p:nvPr/>
        </p:nvSpPr>
        <p:spPr>
          <a:xfrm>
            <a:off x="9784080" y="6372098"/>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O2</a:t>
            </a:r>
          </a:p>
        </p:txBody>
      </p:sp>
      <p:sp>
        <p:nvSpPr>
          <p:cNvPr id="22" name="TextBox 21"/>
          <p:cNvSpPr txBox="1"/>
          <p:nvPr/>
        </p:nvSpPr>
        <p:spPr>
          <a:xfrm>
            <a:off x="10515600" y="6189218"/>
            <a:ext cx="6240780" cy="82296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A </a:t>
            </a:r>
            <a:r>
              <a:rPr lang="en-US" sz="1900" b="true">
                <a:solidFill>
                  <a:srgbClr val="111111"/>
                </a:solidFill>
                <a:latin typeface="Nunito Bold"/>
                <a:ea typeface="Nunito Bold"/>
                <a:cs typeface="Nunito Bold"/>
                <a:sym typeface="Nunito Bold"/>
              </a:rPr>
              <a:t>formal cross-level consistency argument</a:t>
            </a:r>
            <a:r>
              <a:rPr lang="en-US" sz="1900" b="true">
                <a:solidFill>
                  <a:srgbClr val="111111"/>
                </a:solidFill>
                <a:latin typeface="Nunito Semi-Bold"/>
                <a:ea typeface="Nunito Semi-Bold"/>
                <a:cs typeface="Nunito Semi-Bold"/>
                <a:sym typeface="Nunito Semi-Bold"/>
              </a:rPr>
              <a:t> (Proposition 6.1).</a:t>
            </a:r>
          </a:p>
        </p:txBody>
      </p:sp>
      <p:sp>
        <p:nvSpPr>
          <p:cNvPr id="23" name="Oval 22"/>
          <p:cNvSpPr/>
          <p:nvPr/>
        </p:nvSpPr>
        <p:spPr>
          <a:xfrm>
            <a:off x="9784080" y="7323074"/>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O3</a:t>
            </a:r>
          </a:p>
        </p:txBody>
      </p:sp>
      <p:sp>
        <p:nvSpPr>
          <p:cNvPr id="24" name="TextBox 23"/>
          <p:cNvSpPr txBox="1"/>
          <p:nvPr/>
        </p:nvSpPr>
        <p:spPr>
          <a:xfrm>
            <a:off x="10515600" y="7140194"/>
            <a:ext cx="6240780" cy="82296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Validation on a </a:t>
            </a:r>
            <a:r>
              <a:rPr lang="en-US" sz="1900" b="true">
                <a:solidFill>
                  <a:srgbClr val="111111"/>
                </a:solidFill>
                <a:latin typeface="Nunito Bold"/>
                <a:ea typeface="Nunito Bold"/>
                <a:cs typeface="Nunito Bold"/>
                <a:sym typeface="Nunito Bold"/>
              </a:rPr>
              <a:t>very different large-scale dataset</a:t>
            </a:r>
            <a:r>
              <a:rPr lang="en-US" sz="19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pic>
        <p:nvPicPr>
          <p:cNvPr id="8" name="Picture 7" descr="image.png"/>
          <p:cNvPicPr>
            <a:picLocks noChangeAspect="1"/>
          </p:cNvPicPr>
          <p:nvPr/>
        </p:nvPicPr>
        <p:blipFill>
          <a:blip r:embed="rId2"/>
          <a:stretch>
            <a:fillRect/>
          </a:stretch>
        </p:blipFill>
        <p:spPr>
          <a:xfrm>
            <a:off x="14669741" y="1673352"/>
            <a:ext cx="457200" cy="415247"/>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14" name="Rounded Rectangle 13"/>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15" name="Rounded Rectangle 14"/>
          <p:cNvSpPr/>
          <p:nvPr/>
        </p:nvSpPr>
        <p:spPr>
          <a:xfrm>
            <a:off x="9258300" y="4826762"/>
            <a:ext cx="2514600" cy="1234440"/>
          </a:xfrm>
          <a:prstGeom prst="roundRect">
            <a:avLst>
              <a:gd name="adj" fmla="val 14814"/>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16" name="Connector 15"/>
          <p:cNvCxnSpPr/>
          <p:nvPr/>
        </p:nvCxnSpPr>
        <p:spPr>
          <a:xfrm flipH="1">
            <a:off x="10515600" y="4278122"/>
            <a:ext cx="2743200" cy="502920"/>
          </a:xfrm>
          <a:prstGeom prst="line">
            <a:avLst/>
          </a:prstGeom>
          <a:ln w="25400">
            <a:solidFill>
              <a:srgbClr val="124944"/>
            </a:solidFill>
            <a:tailEnd type="triangle" w="med" len="med"/>
          </a:ln>
        </p:spPr>
      </p:cxnSp>
      <p:sp>
        <p:nvSpPr>
          <p:cNvPr id="17" name="Rounded Rectangle 16"/>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18" name="Connector 17"/>
          <p:cNvCxnSpPr/>
          <p:nvPr/>
        </p:nvCxnSpPr>
        <p:spPr>
          <a:xfrm flipH="1">
            <a:off x="9859518" y="6088634"/>
            <a:ext cx="656082" cy="393192"/>
          </a:xfrm>
          <a:prstGeom prst="line">
            <a:avLst/>
          </a:prstGeom>
          <a:ln w="19050">
            <a:solidFill>
              <a:srgbClr val="124944"/>
            </a:solidFill>
            <a:tailEnd type="triangle" w="med" len="med"/>
          </a:ln>
        </p:spPr>
      </p:cxnSp>
      <p:sp>
        <p:nvSpPr>
          <p:cNvPr id="19" name="Rounded Rectangle 18"/>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20" name="Connector 19"/>
          <p:cNvCxnSpPr/>
          <p:nvPr/>
        </p:nvCxnSpPr>
        <p:spPr>
          <a:xfrm>
            <a:off x="10515600" y="6088634"/>
            <a:ext cx="656082" cy="393192"/>
          </a:xfrm>
          <a:prstGeom prst="line">
            <a:avLst/>
          </a:prstGeom>
          <a:ln w="19050">
            <a:solidFill>
              <a:srgbClr val="124944"/>
            </a:solidFill>
            <a:tailEnd type="triangle" w="med" len="med"/>
          </a:ln>
        </p:spPr>
      </p:cxnSp>
      <p:sp>
        <p:nvSpPr>
          <p:cNvPr id="21" name="Rounded Rectangle 20"/>
          <p:cNvSpPr/>
          <p:nvPr/>
        </p:nvSpPr>
        <p:spPr>
          <a:xfrm>
            <a:off x="12001500" y="4826762"/>
            <a:ext cx="2514600" cy="1234440"/>
          </a:xfrm>
          <a:prstGeom prst="roundRect">
            <a:avLst>
              <a:gd name="adj" fmla="val 14814"/>
            </a:avLst>
          </a:prstGeom>
          <a:solidFill>
            <a:srgbClr val="1E5F58"/>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22" name="Connector 21"/>
          <p:cNvCxnSpPr/>
          <p:nvPr/>
        </p:nvCxnSpPr>
        <p:spPr>
          <a:xfrm>
            <a:off x="13258800" y="4278122"/>
            <a:ext cx="0" cy="502920"/>
          </a:xfrm>
          <a:prstGeom prst="line">
            <a:avLst/>
          </a:prstGeom>
          <a:ln w="25400">
            <a:solidFill>
              <a:srgbClr val="124944"/>
            </a:solidFill>
            <a:tailEnd type="triangle" w="med" len="med"/>
          </a:ln>
        </p:spPr>
      </p:cxnSp>
      <p:sp>
        <p:nvSpPr>
          <p:cNvPr id="23" name="Rounded Rectangle 22"/>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24" name="Connector 23"/>
          <p:cNvCxnSpPr/>
          <p:nvPr/>
        </p:nvCxnSpPr>
        <p:spPr>
          <a:xfrm flipH="1">
            <a:off x="12602718" y="6088634"/>
            <a:ext cx="656082" cy="393192"/>
          </a:xfrm>
          <a:prstGeom prst="line">
            <a:avLst/>
          </a:prstGeom>
          <a:ln w="19050">
            <a:solidFill>
              <a:srgbClr val="124944"/>
            </a:solidFill>
            <a:tailEnd type="triangle" w="med" len="med"/>
          </a:ln>
        </p:spPr>
      </p:cxnSp>
      <p:sp>
        <p:nvSpPr>
          <p:cNvPr id="25" name="Rounded Rectangle 24"/>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26" name="Connector 25"/>
          <p:cNvCxnSpPr/>
          <p:nvPr/>
        </p:nvCxnSpPr>
        <p:spPr>
          <a:xfrm>
            <a:off x="13258800" y="6088634"/>
            <a:ext cx="656082" cy="393192"/>
          </a:xfrm>
          <a:prstGeom prst="line">
            <a:avLst/>
          </a:prstGeom>
          <a:ln w="19050">
            <a:solidFill>
              <a:srgbClr val="124944"/>
            </a:solidFill>
            <a:tailEnd type="triangle" w="med" len="med"/>
          </a:ln>
        </p:spPr>
      </p:cxnSp>
      <p:sp>
        <p:nvSpPr>
          <p:cNvPr id="27" name="Rounded Rectangle 26"/>
          <p:cNvSpPr/>
          <p:nvPr/>
        </p:nvSpPr>
        <p:spPr>
          <a:xfrm>
            <a:off x="14744700" y="4826762"/>
            <a:ext cx="2514600" cy="1234440"/>
          </a:xfrm>
          <a:prstGeom prst="roundRect">
            <a:avLst>
              <a:gd name="adj" fmla="val 148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28" name="Connector 27"/>
          <p:cNvCxnSpPr/>
          <p:nvPr/>
        </p:nvCxnSpPr>
        <p:spPr>
          <a:xfrm>
            <a:off x="13258800" y="4278122"/>
            <a:ext cx="2743200" cy="502920"/>
          </a:xfrm>
          <a:prstGeom prst="line">
            <a:avLst/>
          </a:prstGeom>
          <a:ln w="25400">
            <a:solidFill>
              <a:srgbClr val="124944"/>
            </a:solidFill>
            <a:tailEnd type="triangle" w="med" len="med"/>
          </a:ln>
        </p:spPr>
      </p:cxnSp>
      <p:sp>
        <p:nvSpPr>
          <p:cNvPr id="29" name="Rounded Rectangle 28"/>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0" name="Connector 29"/>
          <p:cNvCxnSpPr/>
          <p:nvPr/>
        </p:nvCxnSpPr>
        <p:spPr>
          <a:xfrm flipH="1">
            <a:off x="15345918" y="6088634"/>
            <a:ext cx="656082" cy="393192"/>
          </a:xfrm>
          <a:prstGeom prst="line">
            <a:avLst/>
          </a:prstGeom>
          <a:ln w="19050">
            <a:solidFill>
              <a:srgbClr val="124944"/>
            </a:solidFill>
            <a:tailEnd type="triangle" w="med" len="med"/>
          </a:ln>
        </p:spPr>
      </p:cxnSp>
      <p:sp>
        <p:nvSpPr>
          <p:cNvPr id="31" name="Rounded Rectangle 30"/>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2" name="Connector 31"/>
          <p:cNvCxnSpPr/>
          <p:nvPr/>
        </p:nvCxnSpPr>
        <p:spPr>
          <a:xfrm>
            <a:off x="16002000" y="6088634"/>
            <a:ext cx="656082" cy="393192"/>
          </a:xfrm>
          <a:prstGeom prst="line">
            <a:avLst/>
          </a:prstGeom>
          <a:ln w="19050">
            <a:solidFill>
              <a:srgbClr val="124944"/>
            </a:solidFill>
            <a:tailEnd type="triangle" w="med" len="med"/>
          </a:ln>
        </p:spPr>
      </p:cxnSp>
      <p:sp>
        <p:nvSpPr>
          <p:cNvPr id="33" name="Rounded Rectangle 32"/>
          <p:cNvSpPr/>
          <p:nvPr/>
        </p:nvSpPr>
        <p:spPr>
          <a:xfrm>
            <a:off x="9258300" y="7341362"/>
            <a:ext cx="8001000" cy="1967230"/>
          </a:xfrm>
          <a:prstGeom prst="roundRect">
            <a:avLst>
              <a:gd name="adj" fmla="val 11620"/>
            </a:avLst>
          </a:prstGeom>
          <a:solidFill>
            <a:srgbClr val="124944"/>
          </a:solidFill>
          <a:ln>
            <a:noFill/>
          </a:ln>
        </p:spPr>
        <p:txBody>
          <a:bodyPr anchor="ctr" rtlCol="false" lIns="0" tIns="0" rIns="0" bIns="0" wrap="square"/>
          <a:lstStyle/>
          <a:p>
            <a:endParaRPr lang="en-US" sz="1800"/>
          </a:p>
        </p:txBody>
      </p:sp>
      <p:sp>
        <p:nvSpPr>
          <p:cNvPr id="34" name="TextBox 33"/>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35"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35" name="Equation"/>
              <p:cNvSpPr txBox="1"/>
              <p:nvPr/>
            </p:nvSpPr>
            <p:spPr>
              <a:xfrm>
                <a:off x="9441180" y="7761986"/>
                <a:ext cx="7635240" cy="960120"/>
              </a:xfrm>
              <a:prstGeom prst="rect">
                <a:avLst/>
              </a:prstGeom>
              <a:blipFill>
                <a:blip r:embed="rId4"/>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6"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w</m:t>
                          </m:r>
                        </m:e>
                        <m:sub>
                          <m:r>
                            <a:rPr lang="en-US" sz="1400" i="1">
                              <a:solidFill>
                                <a:srgbClr val="DCE7E3"/>
                              </a:solidFill>
                              <a:latin typeface="Cambria Math" panose="02040503050406030204" pitchFamily="18" charset="0"/>
                            </a:rPr>
                            <m:t xml:space="preserve">c′</m:t>
                          </m:r>
                        </m:sub>
                      </m:sSub>
                      <m:r>
                        <m:rPr>
                          <m:sty m:val="p"/>
                        </m:rPr>
                        <a:rPr lang="en-US" sz="1400">
                          <a:solidFill>
                            <a:srgbClr val="DCE7E3"/>
                          </a:solidFill>
                          <a:latin typeface="Cambria Math" panose="02040503050406030204" pitchFamily="18" charset="0"/>
                        </a:rPr>
                        <m:t xml:space="preserve">=|</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 |</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m:t>
                      </m:r>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ε</m:t>
                          </m:r>
                        </m:e>
                        <m:sub>
                          <m:r>
                            <a:rPr lang="en-US" sz="1400" i="1">
                              <a:solidFill>
                                <a:srgbClr val="DCE7E3"/>
                              </a:solidFill>
                              <a:latin typeface="Cambria Math" panose="02040503050406030204" pitchFamily="18" charset="0"/>
                            </a:rPr>
                            <m:t xml:space="preserve">j</m:t>
                          </m:r>
                        </m:sub>
                      </m:sSub>
                      <m:r>
                        <m:rPr>
                          <m:sty m:val="p"/>
                        </m:rPr>
                        <a:rPr lang="en-US" sz="1400">
                          <a:solidFill>
                            <a:srgbClr val="DCE7E3"/>
                          </a:solidFill>
                          <a:latin typeface="Cambria Math" panose="02040503050406030204" pitchFamily="18" charset="0"/>
                        </a:rPr>
                        <m:t xml:space="preserve">→0</m:t>
                      </m:r>
                      <m:r>
                        <m:rPr>
                          <m:nor/>
                        </m:rPr>
                        <a:rPr lang="en-US" sz="1400">
                          <a:solidFill>
                            <a:srgbClr val="DCE7E3"/>
                          </a:solidFill>
                          <a:latin typeface="Cambria Math" panose="02040503050406030204" pitchFamily="18" charset="0"/>
                        </a:rPr>
                        <m:t xml:space="preserve">  under perfect surrogate fidelity</m:t>
                      </m:r>
                    </m:oMath>
                  </m:oMathPara>
                </a14:m>
                <a:endParaRPr lang="en-US" sz="1400"/>
              </a:p>
            </p:txBody>
          </p:sp>
        </mc:Choice>
        <mc:Fallback>
          <p:sp>
            <p:nvSpPr>
              <p:cNvPr id="36" name="Equation"/>
              <p:cNvSpPr txBox="1"/>
              <p:nvPr/>
            </p:nvSpPr>
            <p:spPr>
              <a:xfrm>
                <a:off x="9441180" y="8712962"/>
                <a:ext cx="7635240" cy="457200"/>
              </a:xfrm>
              <a:prstGeom prst="rect">
                <a:avLst/>
              </a:prstGeom>
              <a:blipFill>
                <a:blip r:embed="rId5"/>
                <a:stretch>
                  <a:fillRect/>
                </a:stretch>
              </a:blipFill>
            </p:spPr>
            <p:txBody>
              <a:bodyPr/>
              <a:lstStyle/>
              <a:p>
                <a:endParaRPr lang="en-US"/>
              </a:p>
            </p:txBody>
          </p:sp>
        </mc:Fallback>
      </mc:AlternateContent>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pic>
        <p:nvPicPr>
          <p:cNvPr id="8" name="Picture 7" descr="image.png"/>
          <p:cNvPicPr>
            <a:picLocks noChangeAspect="1"/>
          </p:cNvPicPr>
          <p:nvPr/>
        </p:nvPicPr>
        <p:blipFill>
          <a:blip r:embed="rId2"/>
          <a:stretch>
            <a:fillRect/>
          </a:stretch>
        </p:blipFill>
        <p:spPr>
          <a:xfrm>
            <a:off x="11568381"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Oval 12"/>
          <p:cNvSpPr/>
          <p:nvPr/>
        </p:nvSpPr>
        <p:spPr>
          <a:xfrm>
            <a:off x="1028700" y="355574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14"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sSub>
                        <m:sSubPr>
                          <m:ctrlPr>
                            <a:rPr lang="en-US" sz="1800" i="1">
                              <a:solidFill>
                                <a:srgbClr val="124944"/>
                              </a:solidFill>
                              <a:latin typeface="Cambria Math" panose="02040503050406030204" pitchFamily="18" charset="0"/>
                            </a:rPr>
                          </m:ctrlPr>
                        </m:sSubPr>
                        <m:e>
                          <m:r>
                            <m:rPr>
                              <m:scr m:val="double-struck"/>
                              <m:sty m:val="p"/>
                            </m:rPr>
                            <a:rPr lang="en-US" sz="1800">
                              <a:solidFill>
                                <a:srgbClr val="124944"/>
                              </a:solidFill>
                              <a:latin typeface="Cambria Math" panose="02040503050406030204" pitchFamily="18" charset="0"/>
                            </a:rPr>
                            <m:t xml:space="preserve">E</m:t>
                          </m:r>
                        </m:e>
                        <m:sub>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sub>
                      </m:sSub>
                      <m:d>
                        <m:dPr>
                          <m:begChr m:val="["/>
                          <m:endChr m:val="]"/>
                          <m:ctrlPr>
                            <a:rPr lang="en-US" sz="1800" i="1">
                              <a:solidFill>
                                <a:srgbClr val="124944"/>
                              </a:solidFill>
                              <a:latin typeface="Cambria Math" panose="02040503050406030204" pitchFamily="18" charset="0"/>
                            </a:rPr>
                          </m:ctrlPr>
                        </m:dPr>
                        <m:e>
                          <m:r>
                            <m:rPr>
                              <m:sty m:val="p"/>
                            </m:rPr>
                            <a:rPr lang="en-US" sz="1800">
                              <a:solidFill>
                                <a:srgbClr val="124944"/>
                              </a:solidFill>
                              <a:latin typeface="Cambria Math" panose="02040503050406030204" pitchFamily="18" charset="0"/>
                            </a:rPr>
                            <m:t xml:space="preserve"> </m:t>
                          </m:r>
                          <m:d>
                            <m:dPr>
                              <m:begChr m:val="|"/>
                              <m:endChr m:val="|"/>
                              <m:ctrlPr>
                                <a:rPr lang="en-US" sz="1800" i="1">
                                  <a:solidFill>
                                    <a:srgbClr val="124944"/>
                                  </a:solidFill>
                                  <a:latin typeface="Cambria Math" panose="02040503050406030204" pitchFamily="18" charset="0"/>
                                </a:rPr>
                              </m:ctrlPr>
                            </m:dPr>
                            <m:e>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e>
                          </m:d>
                          <m:r>
                            <m:rPr>
                              <m:sty m:val="p"/>
                            </m:rPr>
                            <a:rPr lang="en-US" sz="1800">
                              <a:solidFill>
                                <a:srgbClr val="124944"/>
                              </a:solidFill>
                              <a:latin typeface="Cambria Math" panose="02040503050406030204" pitchFamily="18" charset="0"/>
                            </a:rPr>
                            <m:t xml:space="preserve"> </m:t>
                          </m:r>
                        </m:e>
                      </m:d>
                    </m:oMath>
                  </m:oMathPara>
                </a14:m>
                <a:endParaRPr lang="en-US" sz="1800"/>
              </a:p>
            </p:txBody>
          </p:sp>
        </mc:Choice>
        <mc:Fallback>
          <p:sp>
            <p:nvSpPr>
              <p:cNvPr id="14" name="Equation"/>
              <p:cNvSpPr txBox="1"/>
              <p:nvPr/>
            </p:nvSpPr>
            <p:spPr>
              <a:xfrm>
                <a:off x="1440180" y="3363722"/>
                <a:ext cx="3840480" cy="658368"/>
              </a:xfrm>
              <a:prstGeom prst="rect">
                <a:avLst/>
              </a:prstGeom>
              <a:blipFill>
                <a:blip r:embed="rId4"/>
                <a:stretch>
                  <a:fillRect/>
                </a:stretch>
              </a:blipFill>
            </p:spPr>
            <p:txBody>
              <a:bodyPr/>
              <a:lstStyle/>
              <a:p>
                <a:endParaRPr lang="en-US"/>
              </a:p>
            </p:txBody>
          </p:sp>
        </mc:Fallback>
      </mc:AlternateContent>
      <p:sp>
        <p:nvSpPr>
          <p:cNvPr id="15" name="TextBox 14"/>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16" name="Oval 15"/>
          <p:cNvSpPr/>
          <p:nvPr/>
        </p:nvSpPr>
        <p:spPr>
          <a:xfrm>
            <a:off x="1028700" y="428726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17"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124944"/>
                              </a:solidFill>
                              <a:latin typeface="Cambria Math" panose="02040503050406030204" pitchFamily="18" charset="0"/>
                            </a:rPr>
                          </m:ctrlPr>
                        </m:sSubPr>
                        <m:e>
                          <m:r>
                            <a:rPr lang="en-US" sz="2100" i="1">
                              <a:solidFill>
                                <a:srgbClr val="124944"/>
                              </a:solidFill>
                              <a:latin typeface="Cambria Math" panose="02040503050406030204" pitchFamily="18" charset="0"/>
                            </a:rPr>
                            <m:t xml:space="preserve">w</m:t>
                          </m:r>
                        </m:e>
                        <m:sub>
                          <m:r>
                            <a:rPr lang="en-US" sz="2100" i="1">
                              <a:solidFill>
                                <a:srgbClr val="124944"/>
                              </a:solidFill>
                              <a:latin typeface="Cambria Math" panose="02040503050406030204" pitchFamily="18" charset="0"/>
                            </a:rPr>
                            <m:t xml:space="preserve">c′</m:t>
                          </m:r>
                        </m:sub>
                      </m:sSub>
                      <m:r>
                        <m:rPr>
                          <m:sty m:val="p"/>
                        </m:rPr>
                        <a:rPr lang="en-US" sz="2100">
                          <a:solidFill>
                            <a:srgbClr val="124944"/>
                          </a:solidFill>
                          <a:latin typeface="Cambria Math" panose="02040503050406030204" pitchFamily="18" charset="0"/>
                        </a:rPr>
                        <m:t xml:space="preserve">=|</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 / |</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m:t>
                      </m:r>
                    </m:oMath>
                  </m:oMathPara>
                </a14:m>
                <a:endParaRPr lang="en-US" sz="2100"/>
              </a:p>
            </p:txBody>
          </p:sp>
        </mc:Choice>
        <mc:Fallback>
          <p:sp>
            <p:nvSpPr>
              <p:cNvPr id="17" name="Equation"/>
              <p:cNvSpPr txBox="1"/>
              <p:nvPr/>
            </p:nvSpPr>
            <p:spPr>
              <a:xfrm>
                <a:off x="1440180" y="4095242"/>
                <a:ext cx="3840480" cy="658368"/>
              </a:xfrm>
              <a:prstGeom prst="rect">
                <a:avLst/>
              </a:prstGeom>
              <a:blipFill>
                <a:blip r:embed="rId5"/>
                <a:stretch>
                  <a:fillRect/>
                </a:stretch>
              </a:blipFill>
            </p:spPr>
            <p:txBody>
              <a:bodyPr/>
              <a:lstStyle/>
              <a:p>
                <a:endParaRPr lang="en-US"/>
              </a:p>
            </p:txBody>
          </p:sp>
        </mc:Fallback>
      </mc:AlternateContent>
      <p:sp>
        <p:nvSpPr>
          <p:cNvPr id="18" name="TextBox 17"/>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19" name="TextBox 18"/>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20" name="Rounded Rectangle 19"/>
          <p:cNvSpPr/>
          <p:nvPr/>
        </p:nvSpPr>
        <p:spPr>
          <a:xfrm>
            <a:off x="1028700" y="5393690"/>
            <a:ext cx="8229600" cy="1508760"/>
          </a:xfrm>
          <a:prstGeom prst="roundRect">
            <a:avLst>
              <a:gd name="adj" fmla="val 1212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1"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nary>
                        <m:naryPr>
                          <m:chr m:val="∑"/>
                          <m:limLoc m:val="undOvr"/>
                          <m:supHide m:val="1"/>
                          <m:ctrlPr>
                            <a:rPr lang="en-US" sz="2550" i="1">
                              <a:solidFill>
                                <a:srgbClr val="124944"/>
                              </a:solidFill>
                              <a:latin typeface="Cambria Math" panose="02040503050406030204" pitchFamily="18" charset="0"/>
                            </a:rPr>
                          </m:ctrlPr>
                        </m:naryPr>
                        <m:sub>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∈child(</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b>
                        <m:sup/>
                        <m:e>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w</m:t>
                              </m:r>
                            </m:e>
                            <m:sub>
                              <m:r>
                                <a:rPr lang="en-US" sz="2550" i="1">
                                  <a:solidFill>
                                    <a:srgbClr val="124944"/>
                                  </a:solidFill>
                                  <a:latin typeface="Cambria Math" panose="02040503050406030204" pitchFamily="18" charset="0"/>
                                </a:rPr>
                                <m:t xml:space="preserve">c′</m:t>
                              </m:r>
                            </m:sub>
                          </m:sSub>
                        </m:e>
                      </m:nary>
                      <m:r>
                        <m:rPr>
                          <m:sty m:val="p"/>
                        </m:rPr>
                        <a:rPr lang="en-US" sz="2550">
                          <a:solidFill>
                            <a:srgbClr val="124944"/>
                          </a:solidFill>
                          <a:latin typeface="Cambria Math" panose="02040503050406030204" pitchFamily="18" charset="0"/>
                        </a:rPr>
                        <m:t xml:space="preserve"> </m:t>
                      </m:r>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+1, </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ε</m:t>
                          </m:r>
                        </m:e>
                        <m:sub>
                          <m:r>
                            <a:rPr lang="en-US" sz="2550" i="1">
                              <a:solidFill>
                                <a:srgbClr val="124944"/>
                              </a:solidFill>
                              <a:latin typeface="Cambria Math" panose="02040503050406030204" pitchFamily="18" charset="0"/>
                            </a:rPr>
                            <m:t xml:space="preserve">j</m:t>
                          </m:r>
                        </m:sub>
                      </m:sSub>
                    </m:oMath>
                  </m:oMathPara>
                </a14:m>
                <a:endParaRPr lang="en-US" sz="2550"/>
              </a:p>
            </p:txBody>
          </p:sp>
        </mc:Choice>
        <mc:Fallback>
          <p:sp>
            <p:nvSpPr>
              <p:cNvPr id="21" name="Equation"/>
              <p:cNvSpPr txBox="1"/>
              <p:nvPr/>
            </p:nvSpPr>
            <p:spPr>
              <a:xfrm>
                <a:off x="1211580" y="5393690"/>
                <a:ext cx="7863840" cy="1508760"/>
              </a:xfrm>
              <a:prstGeom prst="rect">
                <a:avLst/>
              </a:prstGeom>
              <a:blipFill>
                <a:blip r:embed="rId6"/>
                <a:stretch>
                  <a:fillRect/>
                </a:stretch>
              </a:blipFill>
            </p:spPr>
            <p:txBody>
              <a:bodyPr/>
              <a:lstStyle/>
              <a:p>
                <a:endParaRPr lang="en-US"/>
              </a:p>
            </p:txBody>
          </p:sp>
        </mc:Fallback>
      </mc:AlternateContent>
      <p:sp>
        <p:nvSpPr>
          <p:cNvPr id="22" name="TextBox 21"/>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DF8330"/>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23" name="Rounded Rectangle 22"/>
          <p:cNvSpPr/>
          <p:nvPr/>
        </p:nvSpPr>
        <p:spPr>
          <a:xfrm>
            <a:off x="9806940" y="3592322"/>
            <a:ext cx="7452360" cy="3017520"/>
          </a:xfrm>
          <a:prstGeom prst="roundRect">
            <a:avLst>
              <a:gd name="adj" fmla="val 10303"/>
            </a:avLst>
          </a:prstGeom>
          <a:solidFill>
            <a:srgbClr val="124944"/>
          </a:solidFill>
          <a:ln>
            <a:noFill/>
          </a:ln>
        </p:spPr>
        <p:txBody>
          <a:bodyPr anchor="ctr" rtlCol="false" lIns="0" tIns="0" rIns="0" bIns="0" wrap="square"/>
          <a:lstStyle/>
          <a:p>
            <a:endParaRPr lang="en-US" sz="1800"/>
          </a:p>
        </p:txBody>
      </p:sp>
      <p:sp>
        <p:nvSpPr>
          <p:cNvPr id="24" name="Rounded Rectangle 23"/>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25" name="TextBox 24"/>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26" name="Rounded Rectangle 25"/>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2494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27" name="Rounded Rectangle 26"/>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DF8330"/>
                </a:solidFill>
                <a:latin typeface="Nunito Ultra-Bold"/>
                <a:ea typeface="Nunito Ultra-Bold"/>
                <a:cs typeface="Nunito Ultra-Bold"/>
                <a:sym typeface="Nunito Ultra-Bold"/>
              </a:rPr>
              <a:t>3 </a:t>
            </a:r>
            <a:r>
              <a:rPr lang="en-US" sz="3400" b="true">
                <a:solidFill>
                  <a:srgbClr val="DF8330"/>
                </a:solidFill>
                <a:latin typeface="Calibri"/>
                <a:ea typeface="Calibri"/>
                <a:cs typeface="Calibri"/>
                <a:sym typeface="Calibri"/>
              </a:rPr>
              <a:t>→ </a:t>
            </a:r>
            <a:r>
              <a:rPr lang="en-US" sz="3400" b="true">
                <a:solidFill>
                  <a:srgbClr val="DF8330"/>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pic>
        <p:nvPicPr>
          <p:cNvPr id="8" name="Picture 7" descr="image.png"/>
          <p:cNvPicPr>
            <a:picLocks noChangeAspect="1"/>
          </p:cNvPicPr>
          <p:nvPr/>
        </p:nvPicPr>
        <p:blipFill>
          <a:blip r:embed="rId2"/>
          <a:stretch>
            <a:fillRect/>
          </a:stretch>
        </p:blipFill>
        <p:spPr>
          <a:xfrm>
            <a:off x="12341493" y="1673352"/>
            <a:ext cx="457200" cy="61711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519684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14" name="Rounded Rectangle 13"/>
          <p:cNvSpPr/>
          <p:nvPr/>
        </p:nvSpPr>
        <p:spPr>
          <a:xfrm>
            <a:off x="6545580" y="3455162"/>
            <a:ext cx="519684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15" name="Rounded Rectangle 14"/>
          <p:cNvSpPr/>
          <p:nvPr/>
        </p:nvSpPr>
        <p:spPr>
          <a:xfrm>
            <a:off x="12062460" y="3455162"/>
            <a:ext cx="519684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16" name="Rounded Rectangle 15"/>
          <p:cNvSpPr/>
          <p:nvPr/>
        </p:nvSpPr>
        <p:spPr>
          <a:xfrm>
            <a:off x="1028700" y="6198362"/>
            <a:ext cx="7932420" cy="3155950"/>
          </a:xfrm>
          <a:prstGeom prst="roundRect">
            <a:avLst>
              <a:gd name="adj" fmla="val 9851"/>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1485900" y="5960618"/>
            <a:ext cx="144573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18" name="TextBox 17"/>
          <p:cNvSpPr txBox="1"/>
          <p:nvPr/>
        </p:nvSpPr>
        <p:spPr>
          <a:xfrm>
            <a:off x="1531620" y="6838442"/>
            <a:ext cx="6972300" cy="2241550"/>
          </a:xfrm>
          <a:prstGeom prst="rect">
            <a:avLst/>
          </a:prstGeom>
          <a:noFill/>
        </p:spPr>
        <p:txBody>
          <a:bodyPr anchor="t" rtlCol="false" lIns="0" tIns="0" rIns="0" bIns="0" wrap="square"/>
          <a:lstStyle/>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19" name="Rounded Rectangle 18"/>
          <p:cNvSpPr/>
          <p:nvPr/>
        </p:nvSpPr>
        <p:spPr>
          <a:xfrm>
            <a:off x="9326880" y="6198362"/>
            <a:ext cx="7932420" cy="3155950"/>
          </a:xfrm>
          <a:prstGeom prst="roundRect">
            <a:avLst>
              <a:gd name="adj" fmla="val 9851"/>
            </a:avLst>
          </a:prstGeom>
          <a:solidFill>
            <a:srgbClr val="124944"/>
          </a:solidFill>
          <a:ln>
            <a:noFill/>
          </a:ln>
        </p:spPr>
        <p:txBody>
          <a:bodyPr anchor="ctr" rtlCol="false" lIns="0" tIns="0" rIns="0" bIns="0" wrap="square"/>
          <a:lstStyle/>
          <a:p>
            <a:endParaRPr lang="en-US" sz="1800"/>
          </a:p>
        </p:txBody>
      </p:sp>
      <p:sp>
        <p:nvSpPr>
          <p:cNvPr id="20" name="Rounded Rectangle 19"/>
          <p:cNvSpPr/>
          <p:nvPr/>
        </p:nvSpPr>
        <p:spPr>
          <a:xfrm>
            <a:off x="9784080" y="596061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Sensitivity</a:t>
            </a:r>
          </a:p>
        </p:txBody>
      </p:sp>
      <p:sp>
        <p:nvSpPr>
          <p:cNvPr id="21" name="TextBox 20"/>
          <p:cNvSpPr txBox="1"/>
          <p:nvPr/>
        </p:nvSpPr>
        <p:spPr>
          <a:xfrm>
            <a:off x="9829800" y="6838442"/>
            <a:ext cx="6972300" cy="224155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pic>
        <p:nvPicPr>
          <p:cNvPr id="8" name="Picture 7" descr="image.png"/>
          <p:cNvPicPr>
            <a:picLocks noChangeAspect="1"/>
          </p:cNvPicPr>
          <p:nvPr/>
        </p:nvPicPr>
        <p:blipFill>
          <a:blip r:embed="rId2"/>
          <a:stretch>
            <a:fillRect/>
          </a:stretch>
        </p:blipFill>
        <p:spPr>
          <a:xfrm>
            <a:off x="15043687" y="1673352"/>
            <a:ext cx="457200" cy="25098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841248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MEAN |SHAP|  ·  RELATIVE RANKING (HIGH </a:t>
            </a:r>
            <a:r>
              <a:rPr lang="en-US" sz="1400" b="true" spc="160">
                <a:solidFill>
                  <a:srgbClr val="DF8330"/>
                </a:solidFill>
                <a:latin typeface="Calibri"/>
                <a:ea typeface="Calibri"/>
                <a:cs typeface="Calibri"/>
                <a:sym typeface="Calibri"/>
              </a:rPr>
              <a:t>→ </a:t>
            </a:r>
            <a:r>
              <a:rPr lang="en-US" sz="1400" b="true" spc="160">
                <a:solidFill>
                  <a:srgbClr val="DF8330"/>
                </a:solidFill>
                <a:latin typeface="Nunito Ultra-Bold"/>
                <a:ea typeface="Nunito Ultra-Bold"/>
                <a:cs typeface="Nunito Ultra-Bold"/>
                <a:sym typeface="Nunito Ultra-Bold"/>
              </a:rPr>
              <a:t>LOW)</a:t>
            </a:r>
          </a:p>
        </p:txBody>
      </p:sp>
      <p:sp>
        <p:nvSpPr>
          <p:cNvPr id="14" name="TextBox 13"/>
          <p:cNvSpPr txBox="1"/>
          <p:nvPr/>
        </p:nvSpPr>
        <p:spPr>
          <a:xfrm>
            <a:off x="1028700" y="3866642"/>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temperature</a:t>
            </a:r>
          </a:p>
        </p:txBody>
      </p:sp>
      <p:sp>
        <p:nvSpPr>
          <p:cNvPr id="15" name="Rounded Rectangle 14"/>
          <p:cNvSpPr/>
          <p:nvPr/>
        </p:nvSpPr>
        <p:spPr>
          <a:xfrm>
            <a:off x="3451860" y="3866642"/>
            <a:ext cx="5989320" cy="530352"/>
          </a:xfrm>
          <a:prstGeom prst="roundRect">
            <a:avLst>
              <a:gd name="adj" fmla="val 13793"/>
            </a:avLst>
          </a:prstGeom>
          <a:solidFill>
            <a:srgbClr val="124944"/>
          </a:solidFill>
          <a:ln>
            <a:noFill/>
          </a:ln>
        </p:spPr>
        <p:txBody>
          <a:bodyPr anchor="ctr" rtlCol="false" lIns="0" tIns="0" rIns="0" bIns="0" wrap="square"/>
          <a:lstStyle/>
          <a:p>
            <a:endParaRPr lang="en-US" sz="1800"/>
          </a:p>
        </p:txBody>
      </p:sp>
      <p:sp>
        <p:nvSpPr>
          <p:cNvPr id="16" name="TextBox 15"/>
          <p:cNvSpPr txBox="1"/>
          <p:nvPr/>
        </p:nvSpPr>
        <p:spPr>
          <a:xfrm>
            <a:off x="3589020" y="3866642"/>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1</a:t>
            </a:r>
          </a:p>
        </p:txBody>
      </p:sp>
      <p:sp>
        <p:nvSpPr>
          <p:cNvPr id="17" name="TextBox 16"/>
          <p:cNvSpPr txBox="1"/>
          <p:nvPr/>
        </p:nvSpPr>
        <p:spPr>
          <a:xfrm>
            <a:off x="1028700" y="4543298"/>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dew point</a:t>
            </a:r>
          </a:p>
        </p:txBody>
      </p:sp>
      <p:sp>
        <p:nvSpPr>
          <p:cNvPr id="18" name="Rounded Rectangle 17"/>
          <p:cNvSpPr/>
          <p:nvPr/>
        </p:nvSpPr>
        <p:spPr>
          <a:xfrm>
            <a:off x="3451860" y="4543298"/>
            <a:ext cx="5150815" cy="530352"/>
          </a:xfrm>
          <a:prstGeom prst="roundRect">
            <a:avLst>
              <a:gd name="adj" fmla="val 13793"/>
            </a:avLst>
          </a:prstGeom>
          <a:solidFill>
            <a:srgbClr val="124944"/>
          </a:solidFill>
          <a:ln>
            <a:noFill/>
          </a:ln>
        </p:spPr>
        <p:txBody>
          <a:bodyPr anchor="ctr" rtlCol="false" lIns="0" tIns="0" rIns="0" bIns="0" wrap="square"/>
          <a:lstStyle/>
          <a:p>
            <a:endParaRPr lang="en-US" sz="1800"/>
          </a:p>
        </p:txBody>
      </p:sp>
      <p:sp>
        <p:nvSpPr>
          <p:cNvPr id="19" name="TextBox 18"/>
          <p:cNvSpPr txBox="1"/>
          <p:nvPr/>
        </p:nvSpPr>
        <p:spPr>
          <a:xfrm>
            <a:off x="3589020" y="4543298"/>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2</a:t>
            </a:r>
          </a:p>
        </p:txBody>
      </p:sp>
      <p:sp>
        <p:nvSpPr>
          <p:cNvPr id="20" name="TextBox 19"/>
          <p:cNvSpPr txBox="1"/>
          <p:nvPr/>
        </p:nvSpPr>
        <p:spPr>
          <a:xfrm>
            <a:off x="1028700" y="5219954"/>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pressure</a:t>
            </a:r>
          </a:p>
        </p:txBody>
      </p:sp>
      <p:sp>
        <p:nvSpPr>
          <p:cNvPr id="21" name="Rounded Rectangle 20"/>
          <p:cNvSpPr/>
          <p:nvPr/>
        </p:nvSpPr>
        <p:spPr>
          <a:xfrm>
            <a:off x="3451860" y="5219954"/>
            <a:ext cx="4312310" cy="530352"/>
          </a:xfrm>
          <a:prstGeom prst="roundRect">
            <a:avLst>
              <a:gd name="adj" fmla="val 13793"/>
            </a:avLst>
          </a:prstGeom>
          <a:solidFill>
            <a:srgbClr val="124944"/>
          </a:solidFill>
          <a:ln>
            <a:noFill/>
          </a:ln>
        </p:spPr>
        <p:txBody>
          <a:bodyPr anchor="ctr" rtlCol="false" lIns="0" tIns="0" rIns="0" bIns="0" wrap="square"/>
          <a:lstStyle/>
          <a:p>
            <a:endParaRPr lang="en-US" sz="1800"/>
          </a:p>
        </p:txBody>
      </p:sp>
      <p:sp>
        <p:nvSpPr>
          <p:cNvPr id="22" name="TextBox 21"/>
          <p:cNvSpPr txBox="1"/>
          <p:nvPr/>
        </p:nvSpPr>
        <p:spPr>
          <a:xfrm>
            <a:off x="3589020" y="5219954"/>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3</a:t>
            </a:r>
          </a:p>
        </p:txBody>
      </p:sp>
      <p:sp>
        <p:nvSpPr>
          <p:cNvPr id="23" name="TextBox 22"/>
          <p:cNvSpPr txBox="1"/>
          <p:nvPr/>
        </p:nvSpPr>
        <p:spPr>
          <a:xfrm>
            <a:off x="1028700" y="5896610"/>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CO</a:t>
            </a:r>
          </a:p>
        </p:txBody>
      </p:sp>
      <p:sp>
        <p:nvSpPr>
          <p:cNvPr id="24" name="Rounded Rectangle 23"/>
          <p:cNvSpPr/>
          <p:nvPr/>
        </p:nvSpPr>
        <p:spPr>
          <a:xfrm>
            <a:off x="3451860" y="5896610"/>
            <a:ext cx="3473805" cy="530352"/>
          </a:xfrm>
          <a:prstGeom prst="roundRect">
            <a:avLst>
              <a:gd name="adj" fmla="val 13793"/>
            </a:avLst>
          </a:prstGeom>
          <a:solidFill>
            <a:srgbClr val="DF8330"/>
          </a:solidFill>
          <a:ln>
            <a:noFill/>
          </a:ln>
        </p:spPr>
        <p:txBody>
          <a:bodyPr anchor="ctr" rtlCol="false" lIns="0" tIns="0" rIns="0" bIns="0" wrap="square"/>
          <a:lstStyle/>
          <a:p>
            <a:endParaRPr lang="en-US" sz="1800"/>
          </a:p>
        </p:txBody>
      </p:sp>
      <p:sp>
        <p:nvSpPr>
          <p:cNvPr id="25" name="TextBox 24"/>
          <p:cNvSpPr txBox="1"/>
          <p:nvPr/>
        </p:nvSpPr>
        <p:spPr>
          <a:xfrm>
            <a:off x="3589020" y="5896610"/>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4</a:t>
            </a:r>
          </a:p>
        </p:txBody>
      </p:sp>
      <p:sp>
        <p:nvSpPr>
          <p:cNvPr id="26" name="TextBox 25"/>
          <p:cNvSpPr txBox="1"/>
          <p:nvPr/>
        </p:nvSpPr>
        <p:spPr>
          <a:xfrm>
            <a:off x="1028700" y="6573266"/>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NO₂</a:t>
            </a:r>
          </a:p>
        </p:txBody>
      </p:sp>
      <p:sp>
        <p:nvSpPr>
          <p:cNvPr id="27" name="Rounded Rectangle 26"/>
          <p:cNvSpPr/>
          <p:nvPr/>
        </p:nvSpPr>
        <p:spPr>
          <a:xfrm>
            <a:off x="3451860" y="6573266"/>
            <a:ext cx="2874873" cy="530352"/>
          </a:xfrm>
          <a:prstGeom prst="roundRect">
            <a:avLst>
              <a:gd name="adj" fmla="val 13793"/>
            </a:avLst>
          </a:prstGeom>
          <a:solidFill>
            <a:srgbClr val="DF8330"/>
          </a:solidFill>
          <a:ln>
            <a:noFill/>
          </a:ln>
        </p:spPr>
        <p:txBody>
          <a:bodyPr anchor="ctr" rtlCol="false" lIns="0" tIns="0" rIns="0" bIns="0" wrap="square"/>
          <a:lstStyle/>
          <a:p>
            <a:endParaRPr lang="en-US" sz="1800"/>
          </a:p>
        </p:txBody>
      </p:sp>
      <p:sp>
        <p:nvSpPr>
          <p:cNvPr id="28" name="TextBox 27"/>
          <p:cNvSpPr txBox="1"/>
          <p:nvPr/>
        </p:nvSpPr>
        <p:spPr>
          <a:xfrm>
            <a:off x="3589020" y="6573266"/>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5</a:t>
            </a:r>
          </a:p>
        </p:txBody>
      </p:sp>
      <p:sp>
        <p:nvSpPr>
          <p:cNvPr id="29" name="TextBox 28"/>
          <p:cNvSpPr txBox="1"/>
          <p:nvPr/>
        </p:nvSpPr>
        <p:spPr>
          <a:xfrm>
            <a:off x="1028700" y="7249922"/>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PM10</a:t>
            </a:r>
          </a:p>
        </p:txBody>
      </p:sp>
      <p:sp>
        <p:nvSpPr>
          <p:cNvPr id="30" name="Rounded Rectangle 29"/>
          <p:cNvSpPr/>
          <p:nvPr/>
        </p:nvSpPr>
        <p:spPr>
          <a:xfrm>
            <a:off x="3451860" y="7249922"/>
            <a:ext cx="2395728" cy="530352"/>
          </a:xfrm>
          <a:prstGeom prst="roundRect">
            <a:avLst>
              <a:gd name="adj" fmla="val 13793"/>
            </a:avLst>
          </a:prstGeom>
          <a:solidFill>
            <a:srgbClr val="DF8330"/>
          </a:solidFill>
          <a:ln>
            <a:noFill/>
          </a:ln>
        </p:spPr>
        <p:txBody>
          <a:bodyPr anchor="ctr" rtlCol="false" lIns="0" tIns="0" rIns="0" bIns="0" wrap="square"/>
          <a:lstStyle/>
          <a:p>
            <a:endParaRPr lang="en-US" sz="1800"/>
          </a:p>
        </p:txBody>
      </p:sp>
      <p:sp>
        <p:nvSpPr>
          <p:cNvPr id="31" name="TextBox 30"/>
          <p:cNvSpPr txBox="1"/>
          <p:nvPr/>
        </p:nvSpPr>
        <p:spPr>
          <a:xfrm>
            <a:off x="3589020" y="7249922"/>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6</a:t>
            </a:r>
          </a:p>
        </p:txBody>
      </p:sp>
      <p:sp>
        <p:nvSpPr>
          <p:cNvPr id="32" name="TextBox 31"/>
          <p:cNvSpPr txBox="1"/>
          <p:nvPr/>
        </p:nvSpPr>
        <p:spPr>
          <a:xfrm>
            <a:off x="1028700" y="7926578"/>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PM2.5</a:t>
            </a:r>
          </a:p>
        </p:txBody>
      </p:sp>
      <p:sp>
        <p:nvSpPr>
          <p:cNvPr id="33" name="Rounded Rectangle 32"/>
          <p:cNvSpPr/>
          <p:nvPr/>
        </p:nvSpPr>
        <p:spPr>
          <a:xfrm>
            <a:off x="3451860" y="7926578"/>
            <a:ext cx="2036368" cy="530352"/>
          </a:xfrm>
          <a:prstGeom prst="roundRect">
            <a:avLst>
              <a:gd name="adj" fmla="val 13793"/>
            </a:avLst>
          </a:prstGeom>
          <a:solidFill>
            <a:srgbClr val="DF8330"/>
          </a:solidFill>
          <a:ln>
            <a:noFill/>
          </a:ln>
        </p:spPr>
        <p:txBody>
          <a:bodyPr anchor="ctr" rtlCol="false" lIns="0" tIns="0" rIns="0" bIns="0" wrap="square"/>
          <a:lstStyle/>
          <a:p>
            <a:endParaRPr lang="en-US" sz="1800"/>
          </a:p>
        </p:txBody>
      </p:sp>
      <p:sp>
        <p:nvSpPr>
          <p:cNvPr id="34" name="TextBox 33"/>
          <p:cNvSpPr txBox="1"/>
          <p:nvPr/>
        </p:nvSpPr>
        <p:spPr>
          <a:xfrm>
            <a:off x="3589020" y="7926578"/>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7</a:t>
            </a:r>
          </a:p>
        </p:txBody>
      </p:sp>
      <p:sp>
        <p:nvSpPr>
          <p:cNvPr id="35" name="Rounded Rectangle 34"/>
          <p:cNvSpPr/>
          <p:nvPr/>
        </p:nvSpPr>
        <p:spPr>
          <a:xfrm>
            <a:off x="3451860" y="8722106"/>
            <a:ext cx="274320" cy="274320"/>
          </a:xfrm>
          <a:prstGeom prst="roundRect">
            <a:avLst>
              <a:gd name="adj" fmla="val 16666"/>
            </a:avLst>
          </a:prstGeom>
          <a:solidFill>
            <a:srgbClr val="124944"/>
          </a:solidFill>
          <a:ln>
            <a:noFill/>
          </a:ln>
        </p:spPr>
        <p:txBody>
          <a:bodyPr anchor="ctr" rtlCol="false" lIns="0" tIns="0" rIns="0" bIns="0" wrap="square"/>
          <a:lstStyle/>
          <a:p>
            <a:endParaRPr lang="en-US" sz="1800"/>
          </a:p>
        </p:txBody>
      </p:sp>
      <p:sp>
        <p:nvSpPr>
          <p:cNvPr id="36" name="TextBox 35"/>
          <p:cNvSpPr txBox="1"/>
          <p:nvPr/>
        </p:nvSpPr>
        <p:spPr>
          <a:xfrm>
            <a:off x="3817620" y="8648954"/>
            <a:ext cx="2286000" cy="411480"/>
          </a:xfrm>
          <a:prstGeom prst="rect">
            <a:avLst/>
          </a:prstGeom>
          <a:noFill/>
        </p:spPr>
        <p:txBody>
          <a:bodyPr anchor="ctr" rtlCol="false" lIns="0" tIns="0" rIns="0" bIns="0" wrap="square"/>
          <a:lstStyle/>
          <a:p>
            <a:pPr algn="l">
              <a:lnSpc>
                <a:spcPts val="1900"/>
              </a:lnSpc>
              <a:spcBef>
                <a:spcPts val="0"/>
              </a:spcBef>
              <a:buNone/>
            </a:pPr>
            <a:r>
              <a:rPr lang="en-US" sz="1500" b="true">
                <a:solidFill>
                  <a:srgbClr val="8A8378"/>
                </a:solidFill>
                <a:latin typeface="Nunito Semi-Bold"/>
                <a:ea typeface="Nunito Semi-Bold"/>
                <a:cs typeface="Nunito Semi-Bold"/>
                <a:sym typeface="Nunito Semi-Bold"/>
              </a:rPr>
              <a:t>weather</a:t>
            </a:r>
          </a:p>
        </p:txBody>
      </p:sp>
      <p:sp>
        <p:nvSpPr>
          <p:cNvPr id="37" name="Rounded Rectangle 36"/>
          <p:cNvSpPr/>
          <p:nvPr/>
        </p:nvSpPr>
        <p:spPr>
          <a:xfrm>
            <a:off x="6149340" y="8722106"/>
            <a:ext cx="274320" cy="274320"/>
          </a:xfrm>
          <a:prstGeom prst="roundRect">
            <a:avLst>
              <a:gd name="adj" fmla="val 16666"/>
            </a:avLst>
          </a:prstGeom>
          <a:solidFill>
            <a:srgbClr val="DF8330"/>
          </a:solidFill>
          <a:ln>
            <a:noFill/>
          </a:ln>
        </p:spPr>
        <p:txBody>
          <a:bodyPr anchor="ctr" rtlCol="false" lIns="0" tIns="0" rIns="0" bIns="0" wrap="square"/>
          <a:lstStyle/>
          <a:p>
            <a:endParaRPr lang="en-US" sz="1800"/>
          </a:p>
        </p:txBody>
      </p:sp>
      <p:sp>
        <p:nvSpPr>
          <p:cNvPr id="38" name="TextBox 37"/>
          <p:cNvSpPr txBox="1"/>
          <p:nvPr/>
        </p:nvSpPr>
        <p:spPr>
          <a:xfrm>
            <a:off x="6515100" y="8648954"/>
            <a:ext cx="2286000" cy="411480"/>
          </a:xfrm>
          <a:prstGeom prst="rect">
            <a:avLst/>
          </a:prstGeom>
          <a:noFill/>
        </p:spPr>
        <p:txBody>
          <a:bodyPr anchor="ctr" rtlCol="false" lIns="0" tIns="0" rIns="0" bIns="0" wrap="square"/>
          <a:lstStyle/>
          <a:p>
            <a:pPr algn="l">
              <a:lnSpc>
                <a:spcPts val="1900"/>
              </a:lnSpc>
              <a:spcBef>
                <a:spcPts val="0"/>
              </a:spcBef>
              <a:buNone/>
            </a:pPr>
            <a:r>
              <a:rPr lang="en-US" sz="1500" b="true">
                <a:solidFill>
                  <a:srgbClr val="8A8378"/>
                </a:solidFill>
                <a:latin typeface="Nunito Semi-Bold"/>
                <a:ea typeface="Nunito Semi-Bold"/>
                <a:cs typeface="Nunito Semi-Bold"/>
                <a:sym typeface="Nunito Semi-Bold"/>
              </a:rPr>
              <a:t>pollutant</a:t>
            </a:r>
          </a:p>
        </p:txBody>
      </p:sp>
      <p:sp>
        <p:nvSpPr>
          <p:cNvPr id="39" name="Rounded Rectangle 38"/>
          <p:cNvSpPr/>
          <p:nvPr/>
        </p:nvSpPr>
        <p:spPr>
          <a:xfrm>
            <a:off x="9989820" y="3592322"/>
            <a:ext cx="726948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40" name="Rounded Rectangle 39"/>
          <p:cNvSpPr/>
          <p:nvPr/>
        </p:nvSpPr>
        <p:spPr>
          <a:xfrm>
            <a:off x="10447020" y="3354578"/>
            <a:ext cx="3356612"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Reading the ranking</a:t>
            </a:r>
          </a:p>
        </p:txBody>
      </p:sp>
      <p:sp>
        <p:nvSpPr>
          <p:cNvPr id="41" name="TextBox 40"/>
          <p:cNvSpPr txBox="1"/>
          <p:nvPr/>
        </p:nvSpPr>
        <p:spPr>
          <a:xfrm>
            <a:off x="10492740" y="4232402"/>
            <a:ext cx="630936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It is </a:t>
            </a:r>
            <a:r>
              <a:rPr lang="en-US" sz="2000" b="true">
                <a:solidFill>
                  <a:srgbClr val="FFFFFF"/>
                </a:solidFill>
                <a:latin typeface="Nunito Bold"/>
                <a:ea typeface="Nunito Bold"/>
                <a:cs typeface="Nunito Bold"/>
                <a:sym typeface="Nunito Bold"/>
              </a:rPr>
              <a:t>NOT only pollutant concentrations</a:t>
            </a:r>
            <a:r>
              <a:rPr lang="en-US" sz="2000" b="true">
                <a:solidFill>
                  <a:srgbClr val="FFFFFF"/>
                </a:solidFill>
                <a:latin typeface="Nunito Semi-Bold"/>
                <a:ea typeface="Nunito Semi-Bold"/>
                <a:cs typeface="Nunito Semi-Bold"/>
                <a:sym typeface="Nunito Semi-Bold"/>
              </a:rPr>
              <a:t> that matter: weather variables play a </a:t>
            </a:r>
            <a:r>
              <a:rPr lang="en-US" sz="2000" b="true">
                <a:solidFill>
                  <a:srgbClr val="FFFFFF"/>
                </a:solidFill>
                <a:latin typeface="Nunito Bold"/>
                <a:ea typeface="Nunito Bold"/>
                <a:cs typeface="Nunito Bold"/>
                <a:sym typeface="Nunito Bold"/>
              </a:rPr>
              <a:t>central role in the structure</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Temperature, dew point and pressure control </a:t>
            </a:r>
            <a:r>
              <a:rPr lang="en-US" sz="2000" b="true">
                <a:solidFill>
                  <a:srgbClr val="FFFFFF"/>
                </a:solidFill>
                <a:latin typeface="Nunito Bold"/>
                <a:ea typeface="Nunito Bold"/>
                <a:cs typeface="Nunito Bold"/>
                <a:sym typeface="Nunito Bold"/>
              </a:rPr>
              <a:t>dispersion, trapping and sunlight-driven chemistry</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This is the kind of insight that flat summaries often fail to make explicit.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Atmospheric Regimes</a:t>
            </a:r>
          </a:p>
        </p:txBody>
      </p:sp>
      <p:pic>
        <p:nvPicPr>
          <p:cNvPr id="8" name="Picture 7" descr="image.png"/>
          <p:cNvPicPr>
            <a:picLocks noChangeAspect="1"/>
          </p:cNvPicPr>
          <p:nvPr/>
        </p:nvPicPr>
        <p:blipFill>
          <a:blip r:embed="rId2"/>
          <a:stretch>
            <a:fillRect/>
          </a:stretch>
        </p:blipFill>
        <p:spPr>
          <a:xfrm>
            <a:off x="8656120" y="1673352"/>
            <a:ext cx="457200" cy="539881"/>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5196840" cy="3840480"/>
          </a:xfrm>
          <a:prstGeom prst="roundRect">
            <a:avLst>
              <a:gd name="adj" fmla="val 7142"/>
            </a:avLst>
          </a:prstGeom>
          <a:solidFill>
            <a:srgbClr val="124944"/>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REGIME A</a:t>
            </a:r>
          </a:p>
          <a:p>
            <a:pPr algn="l">
              <a:lnSpc>
                <a:spcPts val="3400"/>
              </a:lnSpc>
              <a:spcBef>
                <a:spcPts val="800"/>
              </a:spcBef>
              <a:buNone/>
            </a:pPr>
            <a:r>
              <a:rPr lang="en-US" sz="3000" b="true" spc="-120">
                <a:solidFill>
                  <a:srgbClr val="FFFFFF"/>
                </a:solidFill>
                <a:latin typeface="Roca Two Bold"/>
                <a:ea typeface="Roca Two Bold"/>
                <a:cs typeface="Roca Two Bold"/>
                <a:sym typeface="Roca Two Bold"/>
              </a:rPr>
              <a:t>Warm, sunlight-driven</a:t>
            </a:r>
          </a:p>
          <a:p>
            <a:pPr algn="l">
              <a:lnSpc>
                <a:spcPts val="2400"/>
              </a:lnSpc>
              <a:spcBef>
                <a:spcPts val="1400"/>
              </a:spcBef>
              <a:buNone/>
            </a:pPr>
            <a:r>
              <a:rPr lang="en-US" sz="1900" b="true">
                <a:solidFill>
                  <a:srgbClr val="F7F2EA"/>
                </a:solidFill>
                <a:latin typeface="Nunito Semi-Bold"/>
                <a:ea typeface="Nunito Semi-Bold"/>
                <a:cs typeface="Nunito Semi-Bold"/>
                <a:sym typeface="Nunito Semi-Bold"/>
              </a:rPr>
              <a:t>Ozone, temperature and dew point stand out: summer photochemical smog.</a:t>
            </a:r>
          </a:p>
        </p:txBody>
      </p:sp>
      <p:sp>
        <p:nvSpPr>
          <p:cNvPr id="14" name="Rounded Rectangle 13"/>
          <p:cNvSpPr/>
          <p:nvPr/>
        </p:nvSpPr>
        <p:spPr>
          <a:xfrm>
            <a:off x="6545580" y="3455162"/>
            <a:ext cx="5196840" cy="3840480"/>
          </a:xfrm>
          <a:prstGeom prst="roundRect">
            <a:avLst>
              <a:gd name="adj" fmla="val 7142"/>
            </a:avLst>
          </a:prstGeom>
          <a:solidFill>
            <a:srgbClr val="1E5F58"/>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REGIME B</a:t>
            </a:r>
          </a:p>
          <a:p>
            <a:pPr algn="l">
              <a:lnSpc>
                <a:spcPts val="3400"/>
              </a:lnSpc>
              <a:spcBef>
                <a:spcPts val="800"/>
              </a:spcBef>
              <a:buNone/>
            </a:pPr>
            <a:r>
              <a:rPr lang="en-US" sz="3000" b="true" spc="-120">
                <a:solidFill>
                  <a:srgbClr val="FFFFFF"/>
                </a:solidFill>
                <a:latin typeface="Roca Two Bold"/>
                <a:ea typeface="Roca Two Bold"/>
                <a:cs typeface="Roca Two Bold"/>
                <a:sym typeface="Roca Two Bold"/>
              </a:rPr>
              <a:t>Wintertime smog</a:t>
            </a:r>
          </a:p>
          <a:p>
            <a:pPr algn="l">
              <a:lnSpc>
                <a:spcPts val="2400"/>
              </a:lnSpc>
              <a:spcBef>
                <a:spcPts val="1400"/>
              </a:spcBef>
              <a:buNone/>
            </a:pPr>
            <a:r>
              <a:rPr lang="en-US" sz="1900" b="true">
                <a:solidFill>
                  <a:srgbClr val="F7F2EA"/>
                </a:solidFill>
                <a:latin typeface="Nunito Semi-Bold"/>
                <a:ea typeface="Nunito Semi-Bold"/>
                <a:cs typeface="Nunito Semi-Bold"/>
                <a:sym typeface="Nunito Semi-Bold"/>
              </a:rPr>
              <a:t>CO, SO₂ and particulate matter dominate; low wind speed limits dispersion.</a:t>
            </a:r>
          </a:p>
        </p:txBody>
      </p:sp>
      <p:sp>
        <p:nvSpPr>
          <p:cNvPr id="15" name="Rounded Rectangle 14"/>
          <p:cNvSpPr/>
          <p:nvPr/>
        </p:nvSpPr>
        <p:spPr>
          <a:xfrm>
            <a:off x="12062460" y="3455162"/>
            <a:ext cx="5196840" cy="3840480"/>
          </a:xfrm>
          <a:prstGeom prst="roundRect">
            <a:avLst>
              <a:gd name="adj" fmla="val 7142"/>
            </a:avLst>
          </a:prstGeom>
          <a:solidFill>
            <a:srgbClr val="DF8330"/>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FFFFFF"/>
                </a:solidFill>
                <a:latin typeface="Nunito Ultra-Bold"/>
                <a:ea typeface="Nunito Ultra-Bold"/>
                <a:cs typeface="Nunito Ultra-Bold"/>
                <a:sym typeface="Nunito Ultra-Bold"/>
              </a:rPr>
              <a:t>REGIME C</a:t>
            </a:r>
          </a:p>
          <a:p>
            <a:pPr algn="l">
              <a:lnSpc>
                <a:spcPts val="3400"/>
              </a:lnSpc>
              <a:spcBef>
                <a:spcPts val="800"/>
              </a:spcBef>
              <a:buNone/>
            </a:pPr>
            <a:r>
              <a:rPr lang="en-US" sz="3000" b="true" spc="-120">
                <a:solidFill>
                  <a:srgbClr val="FFFFFF"/>
                </a:solidFill>
                <a:latin typeface="Roca Two Bold"/>
                <a:ea typeface="Roca Two Bold"/>
                <a:cs typeface="Roca Two Bold"/>
                <a:sym typeface="Roca Two Bold"/>
              </a:rPr>
              <a:t>Comparatively clean air</a:t>
            </a:r>
          </a:p>
          <a:p>
            <a:pPr algn="l">
              <a:lnSpc>
                <a:spcPts val="2400"/>
              </a:lnSpc>
              <a:spcBef>
                <a:spcPts val="1400"/>
              </a:spcBef>
              <a:buNone/>
            </a:pPr>
            <a:r>
              <a:rPr lang="en-US" sz="1900" b="true">
                <a:solidFill>
                  <a:srgbClr val="F7F2EA"/>
                </a:solidFill>
                <a:latin typeface="Nunito Semi-Bold"/>
                <a:ea typeface="Nunito Semi-Bold"/>
                <a:cs typeface="Nunito Semi-Bold"/>
                <a:sym typeface="Nunito Semi-Bold"/>
              </a:rPr>
              <a:t>Favourable weather, weak pollutant signals.</a:t>
            </a:r>
          </a:p>
        </p:txBody>
      </p:sp>
      <p:sp>
        <p:nvSpPr>
          <p:cNvPr id="16" name="Rounded Rectangle 15"/>
          <p:cNvSpPr/>
          <p:nvPr/>
        </p:nvSpPr>
        <p:spPr>
          <a:xfrm>
            <a:off x="1028700" y="7707122"/>
            <a:ext cx="16230600" cy="1647190"/>
          </a:xfrm>
          <a:prstGeom prst="roundRect">
            <a:avLst>
              <a:gd name="adj" fmla="val 13878"/>
            </a:avLst>
          </a:prstGeom>
          <a:solidFill>
            <a:srgbClr val="F6ECDF"/>
          </a:solidFill>
          <a:ln>
            <a:noFill/>
          </a:ln>
        </p:spPr>
        <p:txBody>
          <a:bodyPr anchor="ctr" rtlCol="false" lIns="457200" tIns="91440" rIns="457200" bIns="91440" wrap="square"/>
          <a:lstStyle/>
          <a:p>
            <a:pPr algn="ctr">
              <a:lnSpc>
                <a:spcPts val="2800"/>
              </a:lnSpc>
              <a:spcBef>
                <a:spcPts val="0"/>
              </a:spcBef>
              <a:buNone/>
            </a:pPr>
            <a:r>
              <a:rPr lang="en-US" sz="2200" b="true">
                <a:solidFill>
                  <a:srgbClr val="111111"/>
                </a:solidFill>
                <a:latin typeface="Nunito Semi-Bold"/>
                <a:ea typeface="Nunito Semi-Bold"/>
                <a:cs typeface="Nunito Semi-Bold"/>
                <a:sym typeface="Nunito Semi-Bold"/>
              </a:rPr>
              <a:t>The framework shows not only </a:t>
            </a:r>
            <a:r>
              <a:rPr lang="en-US" sz="2200" b="true">
                <a:solidFill>
                  <a:srgbClr val="111111"/>
                </a:solidFill>
                <a:latin typeface="Nunito Bold"/>
                <a:ea typeface="Nunito Bold"/>
                <a:cs typeface="Nunito Bold"/>
                <a:sym typeface="Nunito Bold"/>
              </a:rPr>
              <a:t>that these regimes exist</a:t>
            </a:r>
            <a:r>
              <a:rPr lang="en-US" sz="2200" b="true">
                <a:solidFill>
                  <a:srgbClr val="111111"/>
                </a:solidFill>
                <a:latin typeface="Nunito Semi-Bold"/>
                <a:ea typeface="Nunito Semi-Bold"/>
                <a:cs typeface="Nunito Semi-Bold"/>
                <a:sym typeface="Nunito Semi-Bold"/>
              </a:rPr>
              <a:t>, but </a:t>
            </a:r>
            <a:r>
              <a:rPr lang="en-US" sz="2200" b="true">
                <a:solidFill>
                  <a:srgbClr val="111111"/>
                </a:solidFill>
                <a:latin typeface="Nunito Bold"/>
                <a:ea typeface="Nunito Bold"/>
                <a:cs typeface="Nunito Bold"/>
                <a:sym typeface="Nunito Bold"/>
              </a:rPr>
              <a:t>which variable combinations define them</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pic>
        <p:nvPicPr>
          <p:cNvPr id="8" name="Picture 7" descr="image.png"/>
          <p:cNvPicPr>
            <a:picLocks noChangeAspect="1"/>
          </p:cNvPicPr>
          <p:nvPr/>
        </p:nvPicPr>
        <p:blipFill>
          <a:blip r:embed="rId2"/>
          <a:stretch>
            <a:fillRect/>
          </a:stretch>
        </p:blipFill>
        <p:spPr>
          <a:xfrm>
            <a:off x="11659347" y="1673352"/>
            <a:ext cx="457200" cy="373212"/>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592322"/>
            <a:ext cx="7932420" cy="3108960"/>
          </a:xfrm>
          <a:prstGeom prst="roundRect">
            <a:avLst>
              <a:gd name="adj" fmla="val 10000"/>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Coarse level · regime selection</a:t>
            </a:r>
          </a:p>
        </p:txBody>
      </p:sp>
      <p:sp>
        <p:nvSpPr>
          <p:cNvPr id="15" name="TextBox 14"/>
          <p:cNvSpPr txBox="1"/>
          <p:nvPr/>
        </p:nvSpPr>
        <p:spPr>
          <a:xfrm>
            <a:off x="1531620" y="4232402"/>
            <a:ext cx="6972300" cy="219456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Temperature and dew point dominate</a:t>
            </a:r>
            <a:r>
              <a:rPr lang="en-US" sz="20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Parent-level story = which regime the observation belongs to.</a:t>
            </a:r>
          </a:p>
        </p:txBody>
      </p:sp>
      <p:sp>
        <p:nvSpPr>
          <p:cNvPr id="16" name="Rounded Rectangle 15"/>
          <p:cNvSpPr/>
          <p:nvPr/>
        </p:nvSpPr>
        <p:spPr>
          <a:xfrm>
            <a:off x="9326880" y="3592322"/>
            <a:ext cx="7932420" cy="3108960"/>
          </a:xfrm>
          <a:prstGeom prst="roundRect">
            <a:avLst>
              <a:gd name="adj" fmla="val 10000"/>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620306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18" name="TextBox 17"/>
          <p:cNvSpPr txBox="1"/>
          <p:nvPr/>
        </p:nvSpPr>
        <p:spPr>
          <a:xfrm>
            <a:off x="9829800" y="4232402"/>
            <a:ext cx="6972300" cy="2194560"/>
          </a:xfrm>
          <a:prstGeom prst="rect">
            <a:avLst/>
          </a:prstGeom>
          <a:noFill/>
        </p:spPr>
        <p:txBody>
          <a:bodyPr anchor="t" rtlCol="false" lIns="0" tIns="0" rIns="0" bIns="0" wrap="square"/>
          <a:lstStyle/>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CO, SO₂, PM10, wind speed, pressure or ozone</a:t>
            </a:r>
            <a:r>
              <a:rPr lang="en-US" sz="2000" b="true">
                <a:solidFill>
                  <a:srgbClr val="111111"/>
                </a:solidFill>
                <a:latin typeface="Nunito Semi-Bold"/>
                <a:ea typeface="Nunito Semi-Bold"/>
                <a:cs typeface="Nunito Semi-Bold"/>
                <a:sym typeface="Nunito Semi-Bold"/>
              </a:rPr>
              <a:t> become more informative.</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Cluster-level story = what varies once the regime is fixed.</a:t>
            </a:r>
          </a:p>
        </p:txBody>
      </p:sp>
      <p:sp>
        <p:nvSpPr>
          <p:cNvPr id="19" name="Rounded Rectangle 18"/>
          <p:cNvSpPr/>
          <p:nvPr/>
        </p:nvSpPr>
        <p:spPr>
          <a:xfrm>
            <a:off x="1028700" y="7067042"/>
            <a:ext cx="16230600" cy="2287270"/>
          </a:xfrm>
          <a:prstGeom prst="roundRect">
            <a:avLst>
              <a:gd name="adj" fmla="val 11993"/>
            </a:avLst>
          </a:prstGeom>
          <a:noFill/>
          <a:ln w="31750">
            <a:solidFill>
              <a:srgbClr val="DF8330"/>
            </a:solidFill>
          </a:ln>
        </p:spPr>
        <p:txBody>
          <a:bodyPr anchor="ctr" rtlCol="false" lIns="0" tIns="0" rIns="0" bIns="0" wrap="square"/>
          <a:lstStyle/>
          <a:p>
            <a:endParaRPr lang="en-US" sz="1800"/>
          </a:p>
        </p:txBody>
      </p:sp>
      <p:sp>
        <p:nvSpPr>
          <p:cNvPr id="20" name="TextBox 19"/>
          <p:cNvSpPr txBox="1"/>
          <p:nvPr/>
        </p:nvSpPr>
        <p:spPr>
          <a:xfrm>
            <a:off x="1485900" y="7295642"/>
            <a:ext cx="15316200" cy="183007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Bold"/>
                <a:ea typeface="Nunito Bold"/>
                <a:cs typeface="Nunito Bold"/>
                <a:sym typeface="Nunito Bold"/>
              </a:rPr>
              <a:t>This change is NOT a contradiction. It is exactly what a multi-level explanation should reveal.</a:t>
            </a:r>
          </a:p>
          <a:p>
            <a:pPr algn="l">
              <a:lnSpc>
                <a:spcPts val="2800"/>
              </a:lnSpc>
              <a:spcBef>
                <a:spcPts val="1000"/>
              </a:spcBef>
              <a:buNone/>
            </a:pPr>
            <a:r>
              <a:rPr lang="en-US" sz="2000" b="true">
                <a:solidFill>
                  <a:srgbClr val="111111"/>
                </a:solidFill>
                <a:latin typeface="Nunito Semi-Bold"/>
                <a:ea typeface="Nunito Semi-Bold"/>
                <a:cs typeface="Nunito Semi-Bold"/>
                <a:sym typeface="Nunito Semi-Bold"/>
              </a:rPr>
              <a:t>A variable can be </a:t>
            </a:r>
            <a:r>
              <a:rPr lang="en-US" sz="2000" b="true">
                <a:solidFill>
                  <a:srgbClr val="111111"/>
                </a:solidFill>
                <a:latin typeface="Nunito Bold"/>
                <a:ea typeface="Nunito Bold"/>
                <a:cs typeface="Nunito Bold"/>
                <a:sym typeface="Nunito Bold"/>
              </a:rPr>
              <a:t>globally important yet locally uninformative</a:t>
            </a:r>
            <a:r>
              <a:rPr lang="en-US" sz="200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Generalisation and Comparison</a:t>
            </a:r>
          </a:p>
        </p:txBody>
      </p:sp>
      <p:pic>
        <p:nvPicPr>
          <p:cNvPr id="8" name="Picture 7" descr="image.png"/>
          <p:cNvPicPr>
            <a:picLocks noChangeAspect="1"/>
          </p:cNvPicPr>
          <p:nvPr/>
        </p:nvPicPr>
        <p:blipFill>
          <a:blip r:embed="rId2"/>
          <a:stretch>
            <a:fillRect/>
          </a:stretch>
        </p:blipFill>
        <p:spPr>
          <a:xfrm>
            <a:off x="9506856" y="1673352"/>
            <a:ext cx="457200" cy="427074"/>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13" name="Table 12"/>
          <p:cNvGraphicFramePr>
            <a:graphicFrameLocks noGrp="1"/>
          </p:cNvGraphicFramePr>
          <p:nvPr/>
        </p:nvGraphicFramePr>
        <p:xfrm>
          <a:off x="1028700" y="3363722"/>
          <a:ext cx="16230599" cy="3182112"/>
        </p:xfrm>
        <a:graphic>
          <a:graphicData uri="http://schemas.openxmlformats.org/drawingml/2006/table">
            <a:tbl>
              <a:tblPr firstRow="0" bandRow="0" firstCol="0" lastRow="0" lastCol="0" bandCol="0">
                <a:tableStyleId>{2D5ABB26-0587-4C30-8999-92F81FD0307C}</a:tableStyleId>
              </a:tblPr>
              <a:tblGrid>
                <a:gridCol w="3416968"/>
                <a:gridCol w="6264442"/>
                <a:gridCol w="6549189"/>
              </a:tblGrid>
              <a:tr h="530352">
                <a:tc>
                  <a:txBody>
                    <a:bodyPr anchor="ctr" rtlCol="false" lIns="0" tIns="0" rIns="0" bIns="0" wrap="square"/>
                    <a:lstStyle/>
                    <a:p>
                      <a:pPr algn="l">
                        <a:lnSpc>
                          <a:spcPts val="2340"/>
                        </a:lnSpc>
                        <a:spcBef>
                          <a:spcPts val="0"/>
                        </a:spcBef>
                        <a:buNone/>
                      </a:pP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Wine Quality (C1)</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Beijing Air Quality (C2)</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303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Scale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4,898 × 11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383,585 × 11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Nature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small, dense, chemically correlated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large, noisy, varies with time &amp; weather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Structure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single-level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multi-level (nested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Silhouette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0.144 (k* = 3, chosen for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 0.63 (k = 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Explanatory logic</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Shapley in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same logic · still works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4" name="Rounded Rectangle 13"/>
          <p:cNvSpPr/>
          <p:nvPr/>
        </p:nvSpPr>
        <p:spPr>
          <a:xfrm>
            <a:off x="1028700" y="7140194"/>
            <a:ext cx="7932420" cy="2168398"/>
          </a:xfrm>
          <a:prstGeom prst="roundRect">
            <a:avLst>
              <a:gd name="adj" fmla="val 14337"/>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1485900" y="6902450"/>
            <a:ext cx="278910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vs the literature</a:t>
            </a:r>
          </a:p>
        </p:txBody>
      </p:sp>
      <p:sp>
        <p:nvSpPr>
          <p:cNvPr id="16" name="TextBox 15"/>
          <p:cNvSpPr txBox="1"/>
          <p:nvPr/>
        </p:nvSpPr>
        <p:spPr>
          <a:xfrm>
            <a:off x="1531620" y="7780274"/>
            <a:ext cx="6972300" cy="1253998"/>
          </a:xfrm>
          <a:prstGeom prst="rect">
            <a:avLst/>
          </a:prstGeom>
          <a:noFill/>
        </p:spPr>
        <p:txBody>
          <a:bodyPr anchor="t" rtlCol="false" lIns="0" tIns="0" rIns="0" bIns="0" wrap="square"/>
          <a:lstStyle/>
          <a:p>
            <a:pPr algn="l" marL="274320" indent="-274320">
              <a:lnSpc>
                <a:spcPts val="2181"/>
              </a:lnSpc>
              <a:spcBef>
                <a:spcPts val="0"/>
              </a:spcBef>
              <a:buClr>
                <a:srgbClr val="ECC665"/>
              </a:buClr>
              <a:buSzPct val="100000"/>
              <a:buFont typeface="Arial"/>
              <a:buChar char="•"/>
            </a:pPr>
            <a:r>
              <a:rPr lang="en-US" sz="1558" b="true">
                <a:solidFill>
                  <a:srgbClr val="FFFFFF"/>
                </a:solidFill>
                <a:latin typeface="Nunito Semi-Bold"/>
                <a:ea typeface="Nunito Semi-Bold"/>
                <a:cs typeface="Nunito Semi-Bold"/>
                <a:sym typeface="Nunito Semi-Bold"/>
              </a:rPr>
              <a:t>The same explanatory logic works on </a:t>
            </a:r>
            <a:r>
              <a:rPr lang="en-US" sz="1558" b="true">
                <a:solidFill>
                  <a:srgbClr val="FFFFFF"/>
                </a:solidFill>
                <a:latin typeface="Nunito Bold"/>
                <a:ea typeface="Nunito Bold"/>
                <a:cs typeface="Nunito Bold"/>
                <a:sym typeface="Nunito Bold"/>
              </a:rPr>
              <a:t>both datasets</a:t>
            </a:r>
            <a:r>
              <a:rPr lang="en-US" sz="1558" b="true">
                <a:solidFill>
                  <a:srgbClr val="FFFFFF"/>
                </a:solidFill>
                <a:latin typeface="Calibri"/>
                <a:ea typeface="Calibri"/>
                <a:cs typeface="Calibri"/>
                <a:sym typeface="Calibri"/>
              </a:rPr>
              <a:t> → </a:t>
            </a:r>
            <a:r>
              <a:rPr lang="en-US" sz="1558" b="true">
                <a:solidFill>
                  <a:srgbClr val="FFFFFF"/>
                </a:solidFill>
                <a:latin typeface="Nunito Semi-Bold"/>
                <a:ea typeface="Nunito Semi-Bold"/>
                <a:cs typeface="Nunito Semi-Bold"/>
                <a:sym typeface="Nunito Semi-Bold"/>
              </a:rPr>
              <a:t>not tied to one domain.</a:t>
            </a:r>
          </a:p>
          <a:p>
            <a:pPr algn="l" marL="274320" indent="-274320">
              <a:lnSpc>
                <a:spcPts val="2181"/>
              </a:lnSpc>
              <a:spcBef>
                <a:spcPts val="656"/>
              </a:spcBef>
              <a:buClr>
                <a:srgbClr val="ECC665"/>
              </a:buClr>
              <a:buSzPct val="100000"/>
              <a:buFont typeface="Arial"/>
              <a:buChar char="•"/>
            </a:pPr>
            <a:r>
              <a:rPr lang="en-US" sz="1558" b="true">
                <a:solidFill>
                  <a:srgbClr val="FFFFFF"/>
                </a:solidFill>
                <a:latin typeface="Nunito Semi-Bold"/>
                <a:ea typeface="Nunito Semi-Bold"/>
                <a:cs typeface="Nunito Semi-Bold"/>
                <a:sym typeface="Nunito Semi-Bold"/>
              </a:rPr>
              <a:t>Beijing Silhouette ≈ 0.63 vs </a:t>
            </a:r>
            <a:r>
              <a:rPr lang="en-US" sz="1558" b="true">
                <a:solidFill>
                  <a:srgbClr val="FFFFFF"/>
                </a:solidFill>
                <a:latin typeface="Nunito Bold"/>
                <a:ea typeface="Nunito Bold"/>
                <a:cs typeface="Nunito Bold"/>
                <a:sym typeface="Nunito Bold"/>
              </a:rPr>
              <a:t>0.37</a:t>
            </a:r>
            <a:r>
              <a:rPr lang="en-US" sz="1558" b="true">
                <a:solidFill>
                  <a:srgbClr val="FFFFFF"/>
                </a:solidFill>
                <a:latin typeface="Nunito Semi-Bold"/>
                <a:ea typeface="Nunito Semi-Bold"/>
                <a:cs typeface="Nunito Semi-Bold"/>
                <a:sym typeface="Nunito Semi-Bold"/>
              </a:rPr>
              <a:t> in Gramegna &amp; Giudici's SHAP-based credit-risk clustering.</a:t>
            </a:r>
          </a:p>
        </p:txBody>
      </p:sp>
      <p:sp>
        <p:nvSpPr>
          <p:cNvPr id="17" name="Rounded Rectangle 16"/>
          <p:cNvSpPr/>
          <p:nvPr/>
        </p:nvSpPr>
        <p:spPr>
          <a:xfrm>
            <a:off x="9326880" y="7140194"/>
            <a:ext cx="7932420" cy="2168398"/>
          </a:xfrm>
          <a:prstGeom prst="roundRect">
            <a:avLst>
              <a:gd name="adj" fmla="val 14337"/>
            </a:avLst>
          </a:prstGeom>
          <a:solidFill>
            <a:srgbClr val="F6ECDF"/>
          </a:solidFill>
          <a:ln>
            <a:noFill/>
          </a:ln>
        </p:spPr>
        <p:txBody>
          <a:bodyPr anchor="ctr" rtlCol="false" lIns="0" tIns="0" rIns="0" bIns="0" wrap="square"/>
          <a:lstStyle/>
          <a:p>
            <a:endParaRPr lang="en-US" sz="1800"/>
          </a:p>
        </p:txBody>
      </p:sp>
      <p:sp>
        <p:nvSpPr>
          <p:cNvPr id="18" name="Rounded Rectangle 17"/>
          <p:cNvSpPr/>
          <p:nvPr/>
        </p:nvSpPr>
        <p:spPr>
          <a:xfrm>
            <a:off x="9784080" y="6902450"/>
            <a:ext cx="169294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vs LIME</a:t>
            </a:r>
          </a:p>
        </p:txBody>
      </p:sp>
      <p:sp>
        <p:nvSpPr>
          <p:cNvPr id="19" name="TextBox 18"/>
          <p:cNvSpPr txBox="1"/>
          <p:nvPr/>
        </p:nvSpPr>
        <p:spPr>
          <a:xfrm>
            <a:off x="9829800" y="7780274"/>
            <a:ext cx="6972300" cy="1253998"/>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Weaker </a:t>
            </a:r>
            <a:r>
              <a:rPr lang="en-US" sz="1900" b="true">
                <a:solidFill>
                  <a:srgbClr val="111111"/>
                </a:solidFill>
                <a:latin typeface="Nunito Bold"/>
                <a:ea typeface="Nunito Bold"/>
                <a:cs typeface="Nunito Bold"/>
                <a:sym typeface="Nunito Bold"/>
              </a:rPr>
              <a:t>consistency</a:t>
            </a:r>
            <a:r>
              <a:rPr lang="en-US" sz="1900" b="true">
                <a:solidFill>
                  <a:srgbClr val="111111"/>
                </a:solidFill>
                <a:latin typeface="Nunito Semi-Bold"/>
                <a:ea typeface="Nunito Semi-Bold"/>
                <a:cs typeface="Nunito Semi-Bold"/>
                <a:sym typeface="Nunito Semi-Bold"/>
              </a:rPr>
              <a:t> across levels.</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Less stable local stories for </a:t>
            </a:r>
            <a:r>
              <a:rPr lang="en-US" sz="1900" b="true">
                <a:solidFill>
                  <a:srgbClr val="111111"/>
                </a:solidFill>
                <a:latin typeface="Nunito Bold"/>
                <a:ea typeface="Nunito Bold"/>
                <a:cs typeface="Nunito Bold"/>
                <a:sym typeface="Nunito Bold"/>
              </a:rPr>
              <a:t>multi-level reasoning</a:t>
            </a:r>
            <a:r>
              <a:rPr lang="en-US" sz="19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Key Findings and Limitations</a:t>
            </a:r>
          </a:p>
        </p:txBody>
      </p:sp>
      <p:pic>
        <p:nvPicPr>
          <p:cNvPr id="8" name="Picture 7" descr="image.png"/>
          <p:cNvPicPr>
            <a:picLocks noChangeAspect="1"/>
          </p:cNvPicPr>
          <p:nvPr/>
        </p:nvPicPr>
        <p:blipFill>
          <a:blip r:embed="rId2"/>
          <a:stretch>
            <a:fillRect/>
          </a:stretch>
        </p:blipFill>
        <p:spPr>
          <a:xfrm>
            <a:off x="11313629" y="1673352"/>
            <a:ext cx="457200" cy="39900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4802428"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RQ2 answered · objectives met</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RQ2: yes, within bounds.</a:t>
            </a:r>
            <a:r>
              <a:rPr lang="en-US" sz="1900" b="true">
                <a:solidFill>
                  <a:srgbClr val="FFFFFF"/>
                </a:solidFill>
                <a:latin typeface="Nunito Semi-Bold"/>
                <a:ea typeface="Nunito Semi-Bold"/>
                <a:cs typeface="Nunito Semi-Bold"/>
                <a:sym typeface="Nunito Semi-Bold"/>
              </a:rPr>
              <a:t> Consistency is kept at scale and across levels.</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O1 met</a:t>
            </a:r>
            <a:r>
              <a:rPr lang="en-US" sz="1900" b="true">
                <a:solidFill>
                  <a:srgbClr val="FFFFFF"/>
                </a:solidFill>
                <a:latin typeface="Nunito Semi-Bold"/>
                <a:ea typeface="Nunito Semi-Bold"/>
                <a:cs typeface="Nunito Semi-Bold"/>
                <a:sym typeface="Nunito Semi-Bold"/>
              </a:rPr>
              <a:t> · a multi-level explanation that does not collapse into a single flat summary.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O2 met</a:t>
            </a:r>
            <a:r>
              <a:rPr lang="en-US" sz="1900" b="true">
                <a:solidFill>
                  <a:srgbClr val="FFFFFF"/>
                </a:solidFill>
                <a:latin typeface="Nunito Semi-Bold"/>
                <a:ea typeface="Nunito Semi-Bold"/>
                <a:cs typeface="Nunito Semi-Bold"/>
                <a:sym typeface="Nunito Semi-Bold"/>
              </a:rPr>
              <a:t> · Proposition 6.1 provides a formal cross-level consistency argument.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O3 met</a:t>
            </a:r>
            <a:r>
              <a:rPr lang="en-US" sz="1900" b="true">
                <a:solidFill>
                  <a:srgbClr val="FFFFFF"/>
                </a:solidFill>
                <a:latin typeface="Nunito Semi-Bold"/>
                <a:ea typeface="Nunito Semi-Bold"/>
                <a:cs typeface="Nunito Semi-Bold"/>
                <a:sym typeface="Nunito Semi-Bold"/>
              </a:rPr>
              <a:t> · validated on a very different large-scale dataset (Beijing).</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Differences across levels are </a:t>
            </a:r>
            <a:r>
              <a:rPr lang="en-US" sz="1900" b="true">
                <a:solidFill>
                  <a:srgbClr val="FFFFFF"/>
                </a:solidFill>
                <a:latin typeface="Nunito Bold"/>
                <a:ea typeface="Nunito Bold"/>
                <a:cs typeface="Nunito Bold"/>
                <a:sym typeface="Nunito Bold"/>
              </a:rPr>
              <a:t>interpretable</a:t>
            </a:r>
            <a:r>
              <a:rPr lang="en-US" sz="1900" b="true">
                <a:solidFill>
                  <a:srgbClr val="FFFFFF"/>
                </a:solidFill>
                <a:latin typeface="Nunito Semi-Bold"/>
                <a:ea typeface="Nunito Semi-Bold"/>
                <a:cs typeface="Nunito Semi-Bold"/>
                <a:sym typeface="Nunito Semi-Bold"/>
              </a:rPr>
              <a:t>, not ruled out as inconsistency.</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214562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Limitations</a:t>
            </a:r>
          </a:p>
        </p:txBody>
      </p:sp>
      <p:sp>
        <p:nvSpPr>
          <p:cNvPr id="18" name="TextBox 17"/>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Clustering remains </a:t>
            </a:r>
            <a:r>
              <a:rPr lang="en-US" sz="1900" b="true">
                <a:solidFill>
                  <a:srgbClr val="111111"/>
                </a:solidFill>
                <a:latin typeface="Nunito Bold"/>
                <a:ea typeface="Nunito Bold"/>
                <a:cs typeface="Nunito Bold"/>
                <a:sym typeface="Nunito Bold"/>
              </a:rPr>
              <a:t>static</a:t>
            </a:r>
            <a:r>
              <a:rPr lang="en-US" sz="1900" b="true">
                <a:solidFill>
                  <a:srgbClr val="111111"/>
                </a:solidFill>
                <a:latin typeface="Nunito Semi-Bold"/>
                <a:ea typeface="Nunito Semi-Bold"/>
                <a:cs typeface="Nunito Semi-Bold"/>
                <a:sym typeface="Nunito Semi-Bold"/>
              </a:rPr>
              <a:t>, even though the Beijing data are temporal.</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Surrogate-based SHAP plus representative-instance reporting </a:t>
            </a:r>
            <a:r>
              <a:rPr lang="en-US" sz="1900" b="true">
                <a:solidFill>
                  <a:srgbClr val="111111"/>
                </a:solidFill>
                <a:latin typeface="Nunito Bold"/>
                <a:ea typeface="Nunito Bold"/>
                <a:cs typeface="Nunito Bold"/>
                <a:sym typeface="Nunito Bold"/>
              </a:rPr>
              <a:t>smooth out variation between single observations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Limited to </a:t>
            </a:r>
            <a:r>
              <a:rPr lang="en-US" sz="1900" b="true">
                <a:solidFill>
                  <a:srgbClr val="111111"/>
                </a:solidFill>
                <a:latin typeface="Nunito Bold"/>
                <a:ea typeface="Nunito Bold"/>
                <a:cs typeface="Nunito Bold"/>
                <a:sym typeface="Nunito Bold"/>
              </a:rPr>
              <a:t>tabular data</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Still an explanation of a </a:t>
            </a:r>
            <a:r>
              <a:rPr lang="en-US" sz="1900" b="true">
                <a:solidFill>
                  <a:srgbClr val="111111"/>
                </a:solidFill>
                <a:latin typeface="Nunito Bold"/>
                <a:ea typeface="Nunito Bold"/>
                <a:cs typeface="Nunito Bold"/>
                <a:sym typeface="Nunito Bold"/>
              </a:rPr>
              <a:t>pre-computed partition</a:t>
            </a:r>
            <a:r>
              <a:rPr lang="en-US" sz="1900" b="true">
                <a:solidFill>
                  <a:srgbClr val="111111"/>
                </a:solidFill>
                <a:latin typeface="Nunito Semi-Bold"/>
                <a:ea typeface="Nunito Semi-Bold"/>
                <a:cs typeface="Nunito Semi-Bold"/>
                <a:sym typeface="Nunito Semi-Bold"/>
              </a:rPr>
              <a:t>: it does not influence learning.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Takeaways, and the Next Step</a:t>
            </a:r>
          </a:p>
        </p:txBody>
      </p:sp>
      <p:pic>
        <p:nvPicPr>
          <p:cNvPr id="8" name="Picture 7" descr="image.png"/>
          <p:cNvPicPr>
            <a:picLocks noChangeAspect="1"/>
          </p:cNvPicPr>
          <p:nvPr/>
        </p:nvPicPr>
        <p:blipFill>
          <a:blip r:embed="rId2"/>
          <a:stretch>
            <a:fillRect/>
          </a:stretch>
        </p:blipFill>
        <p:spPr>
          <a:xfrm>
            <a:off x="9003538" y="1673352"/>
            <a:ext cx="457200" cy="44671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455162"/>
            <a:ext cx="5196840" cy="3291840"/>
          </a:xfrm>
          <a:prstGeom prst="roundRect">
            <a:avLst>
              <a:gd name="adj" fmla="val 8333"/>
            </a:avLst>
          </a:prstGeom>
          <a:solidFill>
            <a:srgbClr val="124944"/>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Consistent</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Shapley attribution stays consistent across levels of detail, when the hierarchy is explicit.</a:t>
            </a:r>
          </a:p>
        </p:txBody>
      </p:sp>
      <p:sp>
        <p:nvSpPr>
          <p:cNvPr id="14" name="Rounded Rectangle 13"/>
          <p:cNvSpPr/>
          <p:nvPr/>
        </p:nvSpPr>
        <p:spPr>
          <a:xfrm>
            <a:off x="6545580" y="3455162"/>
            <a:ext cx="5196840" cy="3291840"/>
          </a:xfrm>
          <a:prstGeom prst="roundRect">
            <a:avLst>
              <a:gd name="adj" fmla="val 8333"/>
            </a:avLst>
          </a:prstGeom>
          <a:solidFill>
            <a:srgbClr val="1E5F58"/>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Against scale</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Explanations become interpretable against scale, not just against a single flat partition.</a:t>
            </a:r>
          </a:p>
        </p:txBody>
      </p:sp>
      <p:sp>
        <p:nvSpPr>
          <p:cNvPr id="15" name="Rounded Rectangle 14"/>
          <p:cNvSpPr/>
          <p:nvPr/>
        </p:nvSpPr>
        <p:spPr>
          <a:xfrm>
            <a:off x="12062460" y="3455162"/>
            <a:ext cx="5196840" cy="3291840"/>
          </a:xfrm>
          <a:prstGeom prst="roundRect">
            <a:avLst>
              <a:gd name="adj" fmla="val 8333"/>
            </a:avLst>
          </a:prstGeom>
          <a:solidFill>
            <a:srgbClr val="DF8330"/>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Still post-hoc</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The attribution explains a partition that was already computed.</a:t>
            </a:r>
          </a:p>
        </p:txBody>
      </p:sp>
      <p:sp>
        <p:nvSpPr>
          <p:cNvPr id="16" name="Rounded Rectangle 15"/>
          <p:cNvSpPr/>
          <p:nvPr/>
        </p:nvSpPr>
        <p:spPr>
          <a:xfrm>
            <a:off x="1028700" y="7204202"/>
            <a:ext cx="16230600" cy="2150110"/>
          </a:xfrm>
          <a:prstGeom prst="roundRect">
            <a:avLst>
              <a:gd name="adj" fmla="val 12758"/>
            </a:avLst>
          </a:prstGeom>
          <a:noFill/>
          <a:ln w="31750">
            <a:solidFill>
              <a:srgbClr val="124944"/>
            </a:solidFill>
          </a:ln>
        </p:spPr>
        <p:txBody>
          <a:bodyPr anchor="ctr" rtlCol="false" lIns="457200" tIns="91440" rIns="457200" bIns="91440" wrap="square"/>
          <a:lstStyle/>
          <a:p>
            <a:pPr algn="ctr">
              <a:lnSpc>
                <a:spcPts val="1800"/>
              </a:lnSpc>
              <a:spcBef>
                <a:spcPts val="0"/>
              </a:spcBef>
              <a:buNone/>
            </a:pPr>
            <a:r>
              <a:rPr lang="en-US" sz="1400" b="true" spc="180">
                <a:solidFill>
                  <a:srgbClr val="DF8330"/>
                </a:solidFill>
                <a:latin typeface="Nunito Ultra-Bold"/>
                <a:ea typeface="Nunito Ultra-Bold"/>
                <a:cs typeface="Nunito Ultra-Bold"/>
                <a:sym typeface="Nunito Ultra-Bold"/>
              </a:rPr>
              <a:t>NEXT</a:t>
            </a:r>
          </a:p>
          <a:p>
            <a:pPr algn="ctr">
              <a:lnSpc>
                <a:spcPts val="3200"/>
              </a:lnSpc>
              <a:spcBef>
                <a:spcPts val="800"/>
              </a:spcBef>
              <a:buNone/>
            </a:pPr>
            <a:r>
              <a:rPr lang="en-US" sz="2600" b="true">
                <a:solidFill>
                  <a:srgbClr val="111111"/>
                </a:solidFill>
                <a:latin typeface="Nunito Bold"/>
                <a:ea typeface="Nunito Bold"/>
                <a:cs typeface="Nunito Bold"/>
                <a:sym typeface="Nunito Bold"/>
              </a:rPr>
              <a:t>So the next step is to let attribution </a:t>
            </a:r>
            <a:r>
              <a:rPr lang="en-US" sz="2600" b="true">
                <a:solidFill>
                  <a:srgbClr val="111111"/>
                </a:solidFill>
                <a:latin typeface="Nunito Bold"/>
                <a:ea typeface="Nunito Bold"/>
                <a:cs typeface="Nunito Bold"/>
                <a:sym typeface="Nunito Bold"/>
              </a:rPr>
              <a:t>shape the learning itself</a:t>
            </a:r>
            <a:r>
              <a:rPr lang="en-US" sz="2600" b="true">
                <a:solidFill>
                  <a:srgbClr val="111111"/>
                </a:solidFill>
                <a:latin typeface="Nunito Bold"/>
                <a:ea typeface="Nunito Bold"/>
                <a:cs typeface="Nunito Bold"/>
                <a:sym typeface="Nunito Bold"/>
              </a:rPr>
              <a:t>: Contribution III.</a:t>
            </a:r>
          </a:p>
        </p:txBody>
      </p:sp>
      <p:pic>
        <p:nvPicPr>
          <p:cNvPr id="17" name="Picture 16" descr="image.png"/>
          <p:cNvPicPr>
            <a:picLocks noChangeAspect="1"/>
          </p:cNvPicPr>
          <p:nvPr/>
        </p:nvPicPr>
        <p:blipFill>
          <a:blip r:embed="rId4"/>
          <a:stretch>
            <a:fillRect/>
          </a:stretch>
        </p:blipFill>
        <p:spPr>
          <a:xfrm>
            <a:off x="15979140" y="7432802"/>
            <a:ext cx="256032" cy="842772"/>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6" name="TextBox 5"/>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7" name="Oval 6"/>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9" name="TextBox 8"/>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DyHuCoG: a Dynamic Hypergraph Cooperative Game for recommendation  ·  answers RQ3 &amp; RQ4</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Gap and Objectives</a:t>
            </a:r>
          </a:p>
        </p:txBody>
      </p:sp>
      <p:pic>
        <p:nvPicPr>
          <p:cNvPr id="8" name="Picture 7" descr="image.png"/>
          <p:cNvPicPr>
            <a:picLocks noChangeAspect="1"/>
          </p:cNvPicPr>
          <p:nvPr/>
        </p:nvPicPr>
        <p:blipFill>
          <a:blip r:embed="rId2"/>
          <a:stretch>
            <a:fillRect/>
          </a:stretch>
        </p:blipFill>
        <p:spPr>
          <a:xfrm>
            <a:off x="6247896"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120026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Gap</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Graph and hypergraph recommenders treat message importance as </a:t>
            </a:r>
            <a:r>
              <a:rPr lang="en-US" sz="2000" b="true">
                <a:solidFill>
                  <a:srgbClr val="FFFFFF"/>
                </a:solidFill>
                <a:latin typeface="Nunito Bold"/>
                <a:ea typeface="Nunito Bold"/>
                <a:cs typeface="Nunito Bold"/>
                <a:sym typeface="Nunito Bold"/>
              </a:rPr>
              <a:t>uniform or attention-weighted</a:t>
            </a:r>
            <a:r>
              <a:rPr lang="en-US" sz="2000" b="true">
                <a:solidFill>
                  <a:srgbClr val="FFFFFF"/>
                </a:solidFill>
                <a:latin typeface="Nunito Semi-Bold"/>
                <a:ea typeface="Nunito Semi-Bold"/>
                <a:cs typeface="Nunito Semi-Bold"/>
                <a:sym typeface="Nunito Semi-Bold"/>
              </a:rPr>
              <a:t>, with no well-founded </a:t>
            </a:r>
            <a:r>
              <a:rPr lang="en-US" sz="2000" b="true">
                <a:solidFill>
                  <a:srgbClr val="FFFFFF"/>
                </a:solidFill>
                <a:latin typeface="Nunito Bold"/>
                <a:ea typeface="Nunito Bold"/>
                <a:cs typeface="Nunito Bold"/>
                <a:sym typeface="Nunito Bold"/>
              </a:rPr>
              <a:t>marginal-contribution</a:t>
            </a:r>
            <a:r>
              <a:rPr lang="en-US" sz="2000" b="true">
                <a:solidFill>
                  <a:srgbClr val="FFFFFF"/>
                </a:solidFill>
                <a:latin typeface="Nunito Semi-Bold"/>
                <a:ea typeface="Nunito Semi-Bold"/>
                <a:cs typeface="Nunito Semi-Bold"/>
                <a:sym typeface="Nunito Semi-Bold"/>
              </a:rPr>
              <a:t> account.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Diversity is often a secondary goal or a </a:t>
            </a:r>
            <a:r>
              <a:rPr lang="en-US" sz="2000" b="true">
                <a:solidFill>
                  <a:srgbClr val="FFFFFF"/>
                </a:solidFill>
                <a:latin typeface="Nunito Bold"/>
                <a:ea typeface="Nunito Bold"/>
                <a:cs typeface="Nunito Bold"/>
                <a:sym typeface="Nunito Bold"/>
              </a:rPr>
              <a:t>re-ranking heuristic</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Interpretability is </a:t>
            </a:r>
            <a:r>
              <a:rPr lang="en-US" sz="2000" b="true">
                <a:solidFill>
                  <a:srgbClr val="FFFFFF"/>
                </a:solidFill>
                <a:latin typeface="Nunito Bold"/>
                <a:ea typeface="Nunito Bold"/>
                <a:cs typeface="Nunito Bold"/>
                <a:sym typeface="Nunito Bold"/>
              </a:rPr>
              <a:t>added after prediction</a:t>
            </a:r>
            <a:r>
              <a:rPr lang="en-US" sz="2000" b="true">
                <a:solidFill>
                  <a:srgbClr val="FFFFFF"/>
                </a:solidFill>
                <a:latin typeface="Nunito Semi-Bold"/>
                <a:ea typeface="Nunito Semi-Bold"/>
                <a:cs typeface="Nunito Semi-Bold"/>
                <a:sym typeface="Nunito Semi-Bold"/>
              </a:rPr>
              <a:t>, not built into the learning objective.</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3871710" cy="438912"/>
          </a:xfrm>
          <a:prstGeom prst="roundRect">
            <a:avLst>
              <a:gd name="adj" fmla="val 50000"/>
            </a:avLst>
          </a:prstGeom>
          <a:solidFill>
            <a:srgbClr val="124944"/>
          </a:solidFill>
          <a:ln>
            <a:no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RQ3 · RQ4 </a:t>
            </a:r>
            <a:r>
              <a:rPr lang="en-US" sz="2200" b="true">
                <a:solidFill>
                  <a:srgbClr val="FFFFFF"/>
                </a:solidFill>
                <a:latin typeface="Calibri"/>
                <a:ea typeface="Calibri"/>
                <a:cs typeface="Calibri"/>
                <a:sym typeface="Calibri"/>
              </a:rPr>
              <a:t>→ </a:t>
            </a:r>
            <a:r>
              <a:rPr lang="en-US" sz="2200" b="true">
                <a:solidFill>
                  <a:srgbClr val="FFFFFF"/>
                </a:solidFill>
                <a:latin typeface="Nunito Bold"/>
                <a:ea typeface="Nunito Bold"/>
                <a:cs typeface="Nunito Bold"/>
                <a:sym typeface="Nunito Bold"/>
              </a:rPr>
              <a:t>Objectives</a:t>
            </a:r>
          </a:p>
        </p:txBody>
      </p:sp>
      <p:sp>
        <p:nvSpPr>
          <p:cNvPr id="18" name="TextBox 17"/>
          <p:cNvSpPr txBox="1"/>
          <p:nvPr/>
        </p:nvSpPr>
        <p:spPr>
          <a:xfrm>
            <a:off x="9784080" y="4140962"/>
            <a:ext cx="7018020" cy="1417320"/>
          </a:xfrm>
          <a:prstGeom prst="rect">
            <a:avLst/>
          </a:prstGeom>
          <a:noFill/>
        </p:spPr>
        <p:txBody>
          <a:bodyPr anchor="t" rtlCol="false" lIns="0" tIns="0" rIns="0" bIns="0" wrap="square"/>
          <a:lstStyle/>
          <a:p>
            <a:pPr algn="l">
              <a:lnSpc>
                <a:spcPts val="2444"/>
              </a:lnSpc>
              <a:spcBef>
                <a:spcPts val="0"/>
              </a:spcBef>
              <a:buNone/>
            </a:pPr>
            <a:r>
              <a:rPr lang="en-US" sz="1746" b="true">
                <a:solidFill>
                  <a:srgbClr val="124944"/>
                </a:solidFill>
                <a:latin typeface="Nunito Bold"/>
                <a:ea typeface="Nunito Bold"/>
                <a:cs typeface="Nunito Bold"/>
                <a:sym typeface="Nunito Bold"/>
              </a:rPr>
              <a:t>RQ3 ·</a:t>
            </a:r>
            <a:r>
              <a:rPr lang="en-US" sz="1746" b="true">
                <a:solidFill>
                  <a:srgbClr val="124944"/>
                </a:solidFill>
                <a:latin typeface="Nunito Semi-Bold"/>
                <a:ea typeface="Nunito Semi-Bold"/>
                <a:cs typeface="Nunito Semi-Bold"/>
                <a:sym typeface="Nunito Semi-Bold"/>
              </a:rPr>
              <a:t> Can cooperative attribution move beyond post-hoc and become part of how a recommender learns?</a:t>
            </a:r>
          </a:p>
          <a:p>
            <a:pPr algn="l">
              <a:lnSpc>
                <a:spcPts val="2444"/>
              </a:lnSpc>
              <a:spcBef>
                <a:spcPts val="582"/>
              </a:spcBef>
              <a:buNone/>
            </a:pPr>
            <a:r>
              <a:rPr lang="en-US" sz="1746" b="true">
                <a:solidFill>
                  <a:srgbClr val="124944"/>
                </a:solidFill>
                <a:latin typeface="Nunito Bold"/>
                <a:ea typeface="Nunito Bold"/>
                <a:cs typeface="Nunito Bold"/>
                <a:sym typeface="Nunito Bold"/>
              </a:rPr>
              <a:t>RQ4 ·</a:t>
            </a:r>
            <a:r>
              <a:rPr lang="en-US" sz="1746" b="true">
                <a:solidFill>
                  <a:srgbClr val="124944"/>
                </a:solidFill>
                <a:latin typeface="Nunito Semi-Bold"/>
                <a:ea typeface="Nunito Semi-Bold"/>
                <a:cs typeface="Nunito Semi-Bold"/>
                <a:sym typeface="Nunito Semi-Bold"/>
              </a:rPr>
              <a:t> Can it improve ranking accuracy, context and diversity together when importance comes from a cooperative-game utility?</a:t>
            </a:r>
          </a:p>
        </p:txBody>
      </p:sp>
      <p:sp>
        <p:nvSpPr>
          <p:cNvPr id="19" name="Oval 18"/>
          <p:cNvSpPr/>
          <p:nvPr/>
        </p:nvSpPr>
        <p:spPr>
          <a:xfrm>
            <a:off x="9784080" y="5878322"/>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O1</a:t>
            </a:r>
          </a:p>
        </p:txBody>
      </p:sp>
      <p:sp>
        <p:nvSpPr>
          <p:cNvPr id="20" name="TextBox 19"/>
          <p:cNvSpPr txBox="1"/>
          <p:nvPr/>
        </p:nvSpPr>
        <p:spPr>
          <a:xfrm>
            <a:off x="10515600" y="5741162"/>
            <a:ext cx="6240780" cy="731520"/>
          </a:xfrm>
          <a:prstGeom prst="rect">
            <a:avLst/>
          </a:prstGeom>
          <a:noFill/>
        </p:spPr>
        <p:txBody>
          <a:bodyPr anchor="ctr"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Formulate recommendation as a </a:t>
            </a:r>
            <a:r>
              <a:rPr lang="en-US" sz="1800" b="true">
                <a:solidFill>
                  <a:srgbClr val="111111"/>
                </a:solidFill>
                <a:latin typeface="Nunito Bold"/>
                <a:ea typeface="Nunito Bold"/>
                <a:cs typeface="Nunito Bold"/>
                <a:sym typeface="Nunito Bold"/>
              </a:rPr>
              <a:t>cooperative game</a:t>
            </a:r>
            <a:r>
              <a:rPr lang="en-US" sz="1800" b="true">
                <a:solidFill>
                  <a:srgbClr val="111111"/>
                </a:solidFill>
                <a:latin typeface="Nunito Semi-Bold"/>
                <a:ea typeface="Nunito Semi-Bold"/>
                <a:cs typeface="Nunito Semi-Bold"/>
                <a:sym typeface="Nunito Semi-Bold"/>
              </a:rPr>
              <a:t> with users, items and contexts as players.</a:t>
            </a:r>
          </a:p>
        </p:txBody>
      </p:sp>
      <p:sp>
        <p:nvSpPr>
          <p:cNvPr id="21" name="Oval 20"/>
          <p:cNvSpPr/>
          <p:nvPr/>
        </p:nvSpPr>
        <p:spPr>
          <a:xfrm>
            <a:off x="9784080" y="6719570"/>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O2</a:t>
            </a:r>
          </a:p>
        </p:txBody>
      </p:sp>
      <p:sp>
        <p:nvSpPr>
          <p:cNvPr id="22" name="TextBox 21"/>
          <p:cNvSpPr txBox="1"/>
          <p:nvPr/>
        </p:nvSpPr>
        <p:spPr>
          <a:xfrm>
            <a:off x="10515600" y="6582410"/>
            <a:ext cx="6240780" cy="731520"/>
          </a:xfrm>
          <a:prstGeom prst="rect">
            <a:avLst/>
          </a:prstGeom>
          <a:noFill/>
        </p:spPr>
        <p:txBody>
          <a:bodyPr anchor="ctr"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Embed </a:t>
            </a: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into hypergraph message passing.</a:t>
            </a:r>
          </a:p>
        </p:txBody>
      </p:sp>
      <p:sp>
        <p:nvSpPr>
          <p:cNvPr id="23" name="Oval 22"/>
          <p:cNvSpPr/>
          <p:nvPr/>
        </p:nvSpPr>
        <p:spPr>
          <a:xfrm>
            <a:off x="9784080" y="7560818"/>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O3</a:t>
            </a:r>
          </a:p>
        </p:txBody>
      </p:sp>
      <p:sp>
        <p:nvSpPr>
          <p:cNvPr id="24" name="TextBox 23"/>
          <p:cNvSpPr txBox="1"/>
          <p:nvPr/>
        </p:nvSpPr>
        <p:spPr>
          <a:xfrm>
            <a:off x="10515600" y="7423658"/>
            <a:ext cx="6240780" cy="731520"/>
          </a:xfrm>
          <a:prstGeom prst="rect">
            <a:avLst/>
          </a:prstGeom>
          <a:noFill/>
        </p:spPr>
        <p:txBody>
          <a:bodyPr anchor="ctr"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Improve </a:t>
            </a:r>
            <a:r>
              <a:rPr lang="en-US" sz="1800" b="true">
                <a:solidFill>
                  <a:srgbClr val="111111"/>
                </a:solidFill>
                <a:latin typeface="Nunito Bold"/>
                <a:ea typeface="Nunito Bold"/>
                <a:cs typeface="Nunito Bold"/>
                <a:sym typeface="Nunito Bold"/>
              </a:rPr>
              <a:t>ranking, coverage and diversity together</a:t>
            </a:r>
            <a:r>
              <a:rPr lang="en-US" sz="18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pic>
        <p:nvPicPr>
          <p:cNvPr id="8" name="Picture 7" descr="image.png"/>
          <p:cNvPicPr>
            <a:picLocks noChangeAspect="1"/>
          </p:cNvPicPr>
          <p:nvPr/>
        </p:nvPicPr>
        <p:blipFill>
          <a:blip r:embed="rId2"/>
          <a:stretch>
            <a:fillRect/>
          </a:stretch>
        </p:blipFill>
        <p:spPr>
          <a:xfrm>
            <a:off x="11933734" y="1673352"/>
            <a:ext cx="457200" cy="415247"/>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Player set N = U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I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C</a:t>
            </a:r>
            <a:r>
              <a:rPr lang="en-US" sz="2100" b="true">
                <a:solidFill>
                  <a:srgbClr val="111111"/>
                </a:solidFill>
                <a:latin typeface="Nunito Semi-Bold"/>
                <a:ea typeface="Nunito Semi-Bold"/>
                <a:cs typeface="Nunito Semi-Bold"/>
                <a:sym typeface="Nunito Semi-Bold"/>
              </a:rPr>
              <a:t> (users, items, contexts).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Hypergraph H = (V, E, W)</a:t>
            </a:r>
            <a:r>
              <a:rPr lang="en-US" sz="2100" b="true">
                <a:solidFill>
                  <a:srgbClr val="111111"/>
                </a:solidFill>
                <a:latin typeface="Nunito Semi-Bold"/>
                <a:ea typeface="Nunito Semi-Bold"/>
                <a:cs typeface="Nunito Semi-Bold"/>
                <a:sym typeface="Nunito Semi-Bold"/>
              </a:rPr>
              <a:t>; V = U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Semi-Bold"/>
                <a:ea typeface="Nunito Semi-Bold"/>
                <a:cs typeface="Nunito Semi-Bold"/>
                <a:sym typeface="Nunito Semi-Bold"/>
              </a:rPr>
              <a:t>I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Semi-Bold"/>
                <a:ea typeface="Nunito Semi-Bold"/>
                <a:cs typeface="Nunito Semi-Bold"/>
                <a:sym typeface="Nunito Semi-Bold"/>
              </a:rPr>
              <a:t>C; </a:t>
            </a:r>
            <a:r>
              <a:rPr lang="en-US" sz="2100" b="true">
                <a:solidFill>
                  <a:srgbClr val="111111"/>
                </a:solidFill>
                <a:latin typeface="Nunito Bold"/>
                <a:ea typeface="Nunito Bold"/>
                <a:cs typeface="Nunito Bold"/>
                <a:sym typeface="Nunito Bold"/>
              </a:rPr>
              <a:t>W = dynamic edge weights</a:t>
            </a:r>
            <a:r>
              <a:rPr lang="en-US" sz="2100" b="true">
                <a:solidFill>
                  <a:srgbClr val="111111"/>
                </a:solidFill>
                <a:latin typeface="Nunito Semi-Bold"/>
                <a:ea typeface="Nunito Semi-Bold"/>
                <a:cs typeface="Nunito Semi-Bold"/>
                <a:sym typeface="Nunito Semi-Bold"/>
              </a:rPr>
              <a:t> from Shapley estimates.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a:t>
            </a:r>
            <a:r>
              <a:rPr lang="en-US" sz="2100" b="true">
                <a:solidFill>
                  <a:srgbClr val="111111"/>
                </a:solidFill>
                <a:latin typeface="Nunito Bold"/>
                <a:ea typeface="Nunito Bold"/>
                <a:cs typeface="Nunito Bold"/>
                <a:sym typeface="Nunito Bold"/>
              </a:rPr>
              <a:t>coalition S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N</a:t>
            </a:r>
            <a:r>
              <a:rPr lang="en-US" sz="2100" b="true">
                <a:solidFill>
                  <a:srgbClr val="111111"/>
                </a:solidFill>
                <a:latin typeface="Nunito Semi-Bold"/>
                <a:ea typeface="Nunito Semi-Bold"/>
                <a:cs typeface="Nunito Semi-Bold"/>
                <a:sym typeface="Nunito Semi-Bold"/>
              </a:rPr>
              <a:t> is the set of entities taking part in a recommendation episode.</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Coalition value v(S)</a:t>
            </a:r>
            <a:r>
              <a:rPr lang="en-US" sz="2100" b="true">
                <a:solidFill>
                  <a:srgbClr val="111111"/>
                </a:solidFill>
                <a:latin typeface="Nunito Semi-Bold"/>
                <a:ea typeface="Nunito Semi-Bold"/>
                <a:cs typeface="Nunito Semi-Bold"/>
                <a:sym typeface="Nunito Semi-Bold"/>
              </a:rPr>
              <a:t> measures the quality of the recommendation that S can achieve.</a:t>
            </a:r>
          </a:p>
          <a:p>
            <a:pPr algn="l" marL="274320" indent="-274320">
              <a:lnSpc>
                <a:spcPts val="3108"/>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Top-N task:</a:t>
            </a:r>
            <a:r>
              <a:rPr lang="en-US" sz="2100" b="true">
                <a:solidFill>
                  <a:srgbClr val="111111"/>
                </a:solidFill>
                <a:latin typeface="Nunito Semi-Bold"/>
                <a:ea typeface="Nunito Semi-Bold"/>
                <a:cs typeface="Nunito Semi-Bold"/>
                <a:sym typeface="Nunito Semi-Bold"/>
              </a:rPr>
              <a:t> produce a ranked list L</a:t>
            </a:r>
            <a:r>
              <a:rPr lang="en-US" sz="2100" b="true" baseline="-25000">
                <a:solidFill>
                  <a:srgbClr val="111111"/>
                </a:solidFill>
                <a:latin typeface="Nunito Semi-Bold"/>
                <a:ea typeface="Nunito Semi-Bold"/>
                <a:cs typeface="Nunito Semi-Bold"/>
                <a:sym typeface="Nunito Semi-Bold"/>
              </a:rPr>
              <a:t>u</a:t>
            </a:r>
            <a:r>
              <a:rPr lang="en-US" sz="2100" b="true">
                <a:solidFill>
                  <a:srgbClr val="111111"/>
                </a:solidFill>
                <a:latin typeface="Nunito Semi-Bold"/>
                <a:ea typeface="Nunito Semi-Bold"/>
                <a:cs typeface="Nunito Semi-Bold"/>
                <a:sym typeface="Nunito Semi-Bold"/>
              </a:rPr>
              <a:t> balancing relevance, diversity and contextual fit.</a:t>
            </a:r>
          </a:p>
        </p:txBody>
      </p:sp>
      <p:sp>
        <p:nvSpPr>
          <p:cNvPr id="14" name="TextBox 13"/>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PLAYERS AND COALITIONS</a:t>
            </a:r>
          </a:p>
        </p:txBody>
      </p:sp>
      <p:sp>
        <p:nvSpPr>
          <p:cNvPr id="15" name="Rounded Rectangle 14"/>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16" name="TextBox 15"/>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17" name="Oval 16"/>
          <p:cNvSpPr/>
          <p:nvPr/>
        </p:nvSpPr>
        <p:spPr>
          <a:xfrm>
            <a:off x="10165080" y="4598162"/>
            <a:ext cx="1737360" cy="1737360"/>
          </a:xfrm>
          <a:prstGeom prst="ellipse">
            <a:avLst/>
          </a:prstGeom>
          <a:solidFill>
            <a:srgbClr val="12494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18" name="Oval 17"/>
          <p:cNvSpPr/>
          <p:nvPr/>
        </p:nvSpPr>
        <p:spPr>
          <a:xfrm>
            <a:off x="12481560" y="4598162"/>
            <a:ext cx="1737360" cy="1737360"/>
          </a:xfrm>
          <a:prstGeom prst="ellipse">
            <a:avLst/>
          </a:prstGeom>
          <a:solidFill>
            <a:srgbClr val="1E5F58"/>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19" name="Oval 18"/>
          <p:cNvSpPr/>
          <p:nvPr/>
        </p:nvSpPr>
        <p:spPr>
          <a:xfrm>
            <a:off x="14798040" y="4598162"/>
            <a:ext cx="1737360" cy="1737360"/>
          </a:xfrm>
          <a:prstGeom prst="ellipse">
            <a:avLst/>
          </a:prstGeom>
          <a:solidFill>
            <a:srgbClr val="DF8330"/>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20" name="Rounded Rectangle 19"/>
          <p:cNvSpPr/>
          <p:nvPr/>
        </p:nvSpPr>
        <p:spPr>
          <a:xfrm>
            <a:off x="9441180" y="7067042"/>
            <a:ext cx="7818120" cy="2241550"/>
          </a:xfrm>
          <a:prstGeom prst="roundRect">
            <a:avLst>
              <a:gd name="adj" fmla="val 10198"/>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1"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21" name="Equation"/>
              <p:cNvSpPr txBox="1"/>
              <p:nvPr/>
            </p:nvSpPr>
            <p:spPr>
              <a:xfrm>
                <a:off x="9715500" y="7112762"/>
                <a:ext cx="1828800" cy="1120775"/>
              </a:xfrm>
              <a:prstGeom prst="rect">
                <a:avLst/>
              </a:prstGeom>
              <a:blipFill>
                <a:blip r:embed="rId4"/>
                <a:stretch>
                  <a:fillRect/>
                </a:stretch>
              </a:blipFill>
            </p:spPr>
            <p:txBody>
              <a:bodyPr/>
              <a:lstStyle/>
              <a:p>
                <a:endParaRPr lang="en-US"/>
              </a:p>
            </p:txBody>
          </p:sp>
        </mc:Fallback>
      </mc:AlternateContent>
      <p:sp>
        <p:nvSpPr>
          <p:cNvPr id="22" name="TextBox 21"/>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23"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23" name="Equation"/>
              <p:cNvSpPr txBox="1"/>
              <p:nvPr/>
            </p:nvSpPr>
            <p:spPr>
              <a:xfrm>
                <a:off x="9715500" y="8142097"/>
                <a:ext cx="1828800" cy="1120775"/>
              </a:xfrm>
              <a:prstGeom prst="rect">
                <a:avLst/>
              </a:prstGeom>
              <a:blipFill>
                <a:blip r:embed="rId5"/>
                <a:stretch>
                  <a:fillRect/>
                </a:stretch>
              </a:blipFill>
            </p:spPr>
            <p:txBody>
              <a:bodyPr/>
              <a:lstStyle/>
              <a:p>
                <a:endParaRPr lang="en-US"/>
              </a:p>
            </p:txBody>
          </p:sp>
        </mc:Fallback>
      </mc:AlternateContent>
      <p:sp>
        <p:nvSpPr>
          <p:cNvPr id="24" name="TextBox 23"/>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Coalition Value Aligned with the Objective</a:t>
            </a:r>
          </a:p>
        </p:txBody>
      </p:sp>
      <p:pic>
        <p:nvPicPr>
          <p:cNvPr id="8" name="Picture 7" descr="image.png"/>
          <p:cNvPicPr>
            <a:picLocks noChangeAspect="1"/>
          </p:cNvPicPr>
          <p:nvPr/>
        </p:nvPicPr>
        <p:blipFill>
          <a:blip r:embed="rId2"/>
          <a:stretch>
            <a:fillRect/>
          </a:stretch>
        </p:blipFill>
        <p:spPr>
          <a:xfrm>
            <a:off x="12053319" y="1673352"/>
            <a:ext cx="457200" cy="25098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363722"/>
            <a:ext cx="16230600" cy="1600200"/>
          </a:xfrm>
          <a:prstGeom prst="roundRect">
            <a:avLst>
              <a:gd name="adj" fmla="val 17142"/>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14" name="Equation"/>
              <p:cNvSpPr txBox="1"/>
              <p:nvPr/>
            </p:nvSpPr>
            <p:spPr>
              <a:xfrm>
                <a:off x="1394460" y="3500882"/>
                <a:ext cx="154990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400" i="1">
                          <a:solidFill>
                            <a:srgbClr val="FFFFFF"/>
                          </a:solidFill>
                          <a:latin typeface="Cambria Math" panose="02040503050406030204" pitchFamily="18" charset="0"/>
                        </a:rPr>
                        <m:t xml:space="preserve">v</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S</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α</m:t>
                      </m:r>
                      <m:r>
                        <m:rPr>
                          <m:sty m:val="p"/>
                        </m:rPr>
                        <a:rPr lang="en-US" sz="2400">
                          <a:solidFill>
                            <a:srgbClr val="FFFFFF"/>
                          </a:solidFill>
                          <a:latin typeface="Cambria Math" panose="02040503050406030204" pitchFamily="18" charset="0"/>
                        </a:rPr>
                        <m:t xml:space="preserve">·NDCG@20(</m:t>
                      </m:r>
                      <m:r>
                        <a:rPr lang="en-US" sz="2400" i="1">
                          <a:solidFill>
                            <a:srgbClr val="FFFFFF"/>
                          </a:solidFill>
                          <a:latin typeface="Cambria Math" panose="02040503050406030204" pitchFamily="18" charset="0"/>
                        </a:rPr>
                        <m:t xml:space="preserve">S</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β</m:t>
                      </m:r>
                      <m:r>
                        <m:rPr>
                          <m:sty m:val="p"/>
                        </m:rPr>
                        <a:rPr lang="en-US" sz="2400">
                          <a:solidFill>
                            <a:srgbClr val="FFFFFF"/>
                          </a:solidFill>
                          <a:latin typeface="Cambria Math" panose="02040503050406030204" pitchFamily="18" charset="0"/>
                        </a:rPr>
                        <m:t xml:space="preserve">·Diversity(</m:t>
                      </m:r>
                      <m:r>
                        <a:rPr lang="en-US" sz="2400" i="1">
                          <a:solidFill>
                            <a:srgbClr val="FFFFFF"/>
                          </a:solidFill>
                          <a:latin typeface="Cambria Math" panose="02040503050406030204" pitchFamily="18" charset="0"/>
                        </a:rPr>
                        <m:t xml:space="preserve">S</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γ</m:t>
                      </m:r>
                      <m:r>
                        <m:rPr>
                          <m:sty m:val="p"/>
                        </m:rPr>
                        <a:rPr lang="en-US" sz="2400">
                          <a:solidFill>
                            <a:srgbClr val="FFFFFF"/>
                          </a:solidFill>
                          <a:latin typeface="Cambria Math" panose="02040503050406030204" pitchFamily="18" charset="0"/>
                        </a:rPr>
                        <m:t xml:space="preserve">·ContextScore(</m:t>
                      </m:r>
                      <m:r>
                        <a:rPr lang="en-US" sz="2400" i="1">
                          <a:solidFill>
                            <a:srgbClr val="FFFFFF"/>
                          </a:solidFill>
                          <a:latin typeface="Cambria Math" panose="02040503050406030204" pitchFamily="18" charset="0"/>
                        </a:rPr>
                        <m:t xml:space="preserve">S</m:t>
                      </m:r>
                      <m:r>
                        <m:rPr>
                          <m:sty m:val="p"/>
                        </m:rPr>
                        <a:rPr lang="en-US" sz="2400">
                          <a:solidFill>
                            <a:srgbClr val="FFFFFF"/>
                          </a:solidFill>
                          <a:latin typeface="Cambria Math" panose="02040503050406030204" pitchFamily="18" charset="0"/>
                        </a:rPr>
                        <m:t xml:space="preserve">),  </m:t>
                      </m:r>
                      <m:r>
                        <a:rPr lang="en-US" sz="2400" i="1">
                          <a:solidFill>
                            <a:srgbClr val="FFFFFF"/>
                          </a:solidFill>
                          <a:latin typeface="Cambria Math" panose="02040503050406030204" pitchFamily="18" charset="0"/>
                        </a:rPr>
                        <m:t xml:space="preserve">α</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β</m:t>
                      </m:r>
                      <m:r>
                        <m:rPr>
                          <m:sty m:val="p"/>
                        </m:rPr>
                        <a:rPr lang="en-US" sz="2400">
                          <a:solidFill>
                            <a:srgbClr val="FFFFFF"/>
                          </a:solidFill>
                          <a:latin typeface="Cambria Math" panose="02040503050406030204" pitchFamily="18" charset="0"/>
                        </a:rPr>
                        <m:t xml:space="preserve">+</m:t>
                      </m:r>
                      <m:r>
                        <a:rPr lang="en-US" sz="2400" i="1">
                          <a:solidFill>
                            <a:srgbClr val="FFFFFF"/>
                          </a:solidFill>
                          <a:latin typeface="Cambria Math" panose="02040503050406030204" pitchFamily="18" charset="0"/>
                        </a:rPr>
                        <m:t xml:space="preserve">γ</m:t>
                      </m:r>
                      <m:r>
                        <m:rPr>
                          <m:sty m:val="p"/>
                        </m:rPr>
                        <a:rPr lang="en-US" sz="2400">
                          <a:solidFill>
                            <a:srgbClr val="FFFFFF"/>
                          </a:solidFill>
                          <a:latin typeface="Cambria Math" panose="02040503050406030204" pitchFamily="18" charset="0"/>
                        </a:rPr>
                        <m:t xml:space="preserve">=1</m:t>
                      </m:r>
                    </m:oMath>
                  </m:oMathPara>
                </a14:m>
                <a:endParaRPr lang="en-US" sz="2400"/>
              </a:p>
            </p:txBody>
          </p:sp>
        </mc:Choice>
        <mc:Fallback>
          <p:sp>
            <p:nvSpPr>
              <p:cNvPr id="14" name="Equation"/>
              <p:cNvSpPr txBox="1"/>
              <p:nvPr/>
            </p:nvSpPr>
            <p:spPr>
              <a:xfrm>
                <a:off x="1394460" y="3500882"/>
                <a:ext cx="15499080" cy="640080"/>
              </a:xfrm>
              <a:prstGeom prst="rect">
                <a:avLst/>
              </a:prstGeom>
              <a:blipFill>
                <a:blip r:embed="rId4"/>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15" name="Equation"/>
              <p:cNvSpPr txBox="1"/>
              <p:nvPr/>
            </p:nvSpPr>
            <p:spPr>
              <a:xfrm>
                <a:off x="1394460" y="4186682"/>
                <a:ext cx="154990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v</m:t>
                          </m:r>
                        </m:e>
                        <m:sub>
                          <m:r>
                            <m:rPr>
                              <m:sty m:val="p"/>
                            </m:rPr>
                            <a:rPr lang="en-US" sz="2200">
                              <a:solidFill>
                                <a:srgbClr val="ECC665"/>
                              </a:solidFill>
                              <a:latin typeface="Cambria Math" panose="02040503050406030204" pitchFamily="18" charset="0"/>
                            </a:rPr>
                            <m:t xml:space="preserve">pref</m:t>
                          </m:r>
                        </m:sub>
                      </m:sSub>
                      <m:r>
                        <m:rPr>
                          <m:sty m:val="p"/>
                        </m:rPr>
                        <a:rPr lang="en-US" sz="2200">
                          <a:solidFill>
                            <a:srgbClr val="ECC665"/>
                          </a:solidFill>
                          <a:latin typeface="Cambria Math" panose="02040503050406030204" pitchFamily="18" charset="0"/>
                        </a:rPr>
                        <m:t xml:space="preserve">(</m:t>
                      </m:r>
                      <m:r>
                        <a:rPr lang="en-US" sz="2200" i="1">
                          <a:solidFill>
                            <a:srgbClr val="ECC665"/>
                          </a:solidFill>
                          <a:latin typeface="Cambria Math" panose="02040503050406030204" pitchFamily="18" charset="0"/>
                        </a:rPr>
                        <m:t xml:space="preserve">S</m:t>
                      </m:r>
                      <m:r>
                        <m:rPr>
                          <m:sty m:val="p"/>
                        </m:rPr>
                        <a:rPr lang="en-US" sz="2200">
                          <a:solidFill>
                            <a:srgbClr val="ECC665"/>
                          </a:solidFill>
                          <a:latin typeface="Cambria Math" panose="02040503050406030204" pitchFamily="18" charset="0"/>
                        </a:rPr>
                        <m:t xml:space="preserve">)=</m:t>
                      </m:r>
                      <m:r>
                        <a:rPr lang="en-US" sz="2200" i="1">
                          <a:solidFill>
                            <a:srgbClr val="ECC665"/>
                          </a:solidFill>
                          <a:latin typeface="Cambria Math" panose="02040503050406030204" pitchFamily="18" charset="0"/>
                        </a:rPr>
                        <m:t xml:space="preserve">v</m:t>
                      </m:r>
                      <m:r>
                        <m:rPr>
                          <m:sty m:val="p"/>
                        </m:rPr>
                        <a:rPr lang="en-US" sz="2200">
                          <a:solidFill>
                            <a:srgbClr val="ECC665"/>
                          </a:solidFill>
                          <a:latin typeface="Cambria Math" panose="02040503050406030204" pitchFamily="18" charset="0"/>
                        </a:rPr>
                        <m:t xml:space="preserve">(</m:t>
                      </m:r>
                      <m:r>
                        <a:rPr lang="en-US" sz="2200" i="1">
                          <a:solidFill>
                            <a:srgbClr val="ECC665"/>
                          </a:solidFill>
                          <a:latin typeface="Cambria Math" panose="02040503050406030204" pitchFamily="18" charset="0"/>
                        </a:rPr>
                        <m:t xml:space="preserve">S</m:t>
                      </m:r>
                      <m:r>
                        <m:rPr>
                          <m:sty m:val="p"/>
                        </m:rPr>
                        <a:rPr lang="en-US" sz="2200">
                          <a:solidFill>
                            <a:srgbClr val="ECC665"/>
                          </a:solidFill>
                          <a:latin typeface="Cambria Math" panose="02040503050406030204" pitchFamily="18" charset="0"/>
                        </a:rPr>
                        <m:t xml:space="preserve">)+</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λ</m:t>
                          </m:r>
                        </m:e>
                        <m:sub>
                          <m:r>
                            <m:rPr>
                              <m:sty m:val="p"/>
                            </m:rPr>
                            <a:rPr lang="en-US" sz="2200">
                              <a:solidFill>
                                <a:srgbClr val="ECC665"/>
                              </a:solidFill>
                              <a:latin typeface="Cambria Math" panose="02040503050406030204" pitchFamily="18" charset="0"/>
                            </a:rPr>
                            <m:t xml:space="preserve">pref</m:t>
                          </m:r>
                        </m:sub>
                      </m:sSub>
                      <m:r>
                        <m:rPr>
                          <m:sty m:val="p"/>
                        </m:rPr>
                        <a:rPr lang="en-US" sz="2200">
                          <a:solidFill>
                            <a:srgbClr val="ECC665"/>
                          </a:solidFill>
                          <a:latin typeface="Cambria Math" panose="02040503050406030204" pitchFamily="18" charset="0"/>
                        </a:rPr>
                        <m:t xml:space="preserve"> </m:t>
                      </m:r>
                      <m:nary>
                        <m:naryPr>
                          <m:chr m:val="∑"/>
                          <m:limLoc m:val="subSup"/>
                          <m:supHide m:val="1"/>
                          <m:ctrlPr>
                            <a:rPr lang="en-US" sz="2200" i="1">
                              <a:solidFill>
                                <a:srgbClr val="ECC665"/>
                              </a:solidFill>
                              <a:latin typeface="Cambria Math" panose="02040503050406030204" pitchFamily="18" charset="0"/>
                            </a:rPr>
                          </m:ctrlPr>
                        </m:naryPr>
                        <m:sub>
                          <m:r>
                            <m:rPr>
                              <m:sty m:val="p"/>
                            </m:rPr>
                            <a:rPr lang="en-US" sz="2200">
                              <a:solidFill>
                                <a:srgbClr val="ECC665"/>
                              </a:solidFill>
                              <a:latin typeface="Cambria Math" panose="02040503050406030204" pitchFamily="18" charset="0"/>
                            </a:rPr>
                            <m:t xml:space="preserve">(</m:t>
                          </m:r>
                          <m:r>
                            <a:rPr lang="en-US" sz="2200" i="1">
                              <a:solidFill>
                                <a:srgbClr val="ECC665"/>
                              </a:solidFill>
                              <a:latin typeface="Cambria Math" panose="02040503050406030204" pitchFamily="18" charset="0"/>
                            </a:rPr>
                            <m:t xml:space="preserve">u</m:t>
                          </m:r>
                          <m:r>
                            <m:rPr>
                              <m:sty m:val="p"/>
                            </m:rPr>
                            <a:rPr lang="en-US" sz="2200">
                              <a:solidFill>
                                <a:srgbClr val="ECC665"/>
                              </a:solidFill>
                              <a:latin typeface="Cambria Math" panose="02040503050406030204" pitchFamily="18" charset="0"/>
                            </a:rPr>
                            <m:t xml:space="preserve">,</m:t>
                          </m:r>
                          <m:r>
                            <a:rPr lang="en-US" sz="2200" i="1">
                              <a:solidFill>
                                <a:srgbClr val="ECC665"/>
                              </a:solidFill>
                              <a:latin typeface="Cambria Math" panose="02040503050406030204" pitchFamily="18" charset="0"/>
                            </a:rPr>
                            <m:t xml:space="preserve">i</m:t>
                          </m:r>
                          <m:r>
                            <m:rPr>
                              <m:sty m:val="p"/>
                            </m:rPr>
                            <a:rPr lang="en-US" sz="2200">
                              <a:solidFill>
                                <a:srgbClr val="ECC665"/>
                              </a:solidFill>
                              <a:latin typeface="Cambria Math" panose="02040503050406030204" pitchFamily="18" charset="0"/>
                            </a:rPr>
                            <m:t xml:space="preserve">)∈</m:t>
                          </m:r>
                          <m:r>
                            <a:rPr lang="en-US" sz="2200" i="1">
                              <a:solidFill>
                                <a:srgbClr val="ECC665"/>
                              </a:solidFill>
                              <a:latin typeface="Cambria Math" panose="02040503050406030204" pitchFamily="18" charset="0"/>
                            </a:rPr>
                            <m:t xml:space="preserve">S</m:t>
                          </m:r>
                        </m:sub>
                        <m:sup/>
                        <m:e>
                          <m:r>
                            <m:rPr>
                              <m:sty m:val="p"/>
                            </m:rPr>
                            <a:rPr lang="en-US" sz="2200">
                              <a:solidFill>
                                <a:srgbClr val="ECC665"/>
                              </a:solidFill>
                              <a:latin typeface="Cambria Math" panose="02040503050406030204" pitchFamily="18" charset="0"/>
                            </a:rPr>
                            <m:t xml:space="preserve">sim</m:t>
                          </m:r>
                        </m:e>
                      </m:nary>
                      <m:r>
                        <m:rPr>
                          <m:sty m:val="p"/>
                        </m:rPr>
                        <a:rPr lang="en-US" sz="2200">
                          <a:solidFill>
                            <a:srgbClr val="ECC665"/>
                          </a:solidFill>
                          <a:latin typeface="Cambria Math" panose="02040503050406030204" pitchFamily="18" charset="0"/>
                        </a:rPr>
                        <m:t xml:space="preserve">(</m:t>
                      </m:r>
                      <m:r>
                        <a:rPr lang="en-US" sz="2200" i="1">
                          <a:solidFill>
                            <a:srgbClr val="ECC665"/>
                          </a:solidFill>
                          <a:latin typeface="Cambria Math" panose="02040503050406030204" pitchFamily="18" charset="0"/>
                        </a:rPr>
                        <m:t xml:space="preserve">u</m:t>
                      </m:r>
                      <m:r>
                        <m:rPr>
                          <m:sty m:val="p"/>
                        </m:rPr>
                        <a:rPr lang="en-US" sz="2200">
                          <a:solidFill>
                            <a:srgbClr val="ECC665"/>
                          </a:solidFill>
                          <a:latin typeface="Cambria Math" panose="02040503050406030204" pitchFamily="18" charset="0"/>
                        </a:rPr>
                        <m:t xml:space="preserve">,</m:t>
                      </m:r>
                      <m:r>
                        <a:rPr lang="en-US" sz="2200" i="1">
                          <a:solidFill>
                            <a:srgbClr val="ECC665"/>
                          </a:solidFill>
                          <a:latin typeface="Cambria Math" panose="02040503050406030204" pitchFamily="18" charset="0"/>
                        </a:rPr>
                        <m:t xml:space="preserve">i</m:t>
                      </m:r>
                      <m:r>
                        <m:rPr>
                          <m:sty m:val="p"/>
                        </m:rPr>
                        <a:rPr lang="en-US" sz="2200">
                          <a:solidFill>
                            <a:srgbClr val="ECC665"/>
                          </a:solidFill>
                          <a:latin typeface="Cambria Math" panose="02040503050406030204" pitchFamily="18" charset="0"/>
                        </a:rPr>
                        <m:t xml:space="preserve">)</m:t>
                      </m:r>
                    </m:oMath>
                  </m:oMathPara>
                </a14:m>
                <a:endParaRPr lang="en-US" sz="2200"/>
              </a:p>
            </p:txBody>
          </p:sp>
        </mc:Choice>
        <mc:Fallback>
          <p:sp>
            <p:nvSpPr>
              <p:cNvPr id="15" name="Equation"/>
              <p:cNvSpPr txBox="1"/>
              <p:nvPr/>
            </p:nvSpPr>
            <p:spPr>
              <a:xfrm>
                <a:off x="1394460" y="4186682"/>
                <a:ext cx="15499080" cy="640080"/>
              </a:xfrm>
              <a:prstGeom prst="rect">
                <a:avLst/>
              </a:prstGeom>
              <a:blipFill>
                <a:blip r:embed="rId5"/>
                <a:stretch>
                  <a:fillRect/>
                </a:stretch>
              </a:blipFill>
            </p:spPr>
            <p:txBody>
              <a:bodyPr/>
              <a:lstStyle/>
              <a:p>
                <a:endParaRPr lang="en-US"/>
              </a:p>
            </p:txBody>
          </p:sp>
        </mc:Fallback>
      </mc:AlternateContent>
      <p:sp>
        <p:nvSpPr>
          <p:cNvPr id="16" name="Rounded Rectangle 15"/>
          <p:cNvSpPr/>
          <p:nvPr/>
        </p:nvSpPr>
        <p:spPr>
          <a:xfrm>
            <a:off x="1028700" y="5238242"/>
            <a:ext cx="3851910" cy="1097280"/>
          </a:xfrm>
          <a:prstGeom prst="roundRect">
            <a:avLst>
              <a:gd name="adj" fmla="val 25000"/>
            </a:avLst>
          </a:prstGeom>
          <a:solidFill>
            <a:srgbClr val="F6ECDF"/>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17" name="Equation"/>
              <p:cNvSpPr txBox="1"/>
              <p:nvPr/>
            </p:nvSpPr>
            <p:spPr>
              <a:xfrm>
                <a:off x="1165860" y="5311394"/>
                <a:ext cx="3577590" cy="621792"/>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600" i="1">
                          <a:solidFill>
                            <a:srgbClr val="124944"/>
                          </a:solidFill>
                          <a:latin typeface="Cambria Math" panose="02040503050406030204" pitchFamily="18" charset="0"/>
                        </a:rPr>
                        <m:t xml:space="preserve">α</m:t>
                      </m:r>
                      <m:r>
                        <m:rPr>
                          <m:sty m:val="p"/>
                        </m:rPr>
                        <a:rPr lang="en-US" sz="2600">
                          <a:solidFill>
                            <a:srgbClr val="124944"/>
                          </a:solidFill>
                          <a:latin typeface="Cambria Math" panose="02040503050406030204" pitchFamily="18" charset="0"/>
                        </a:rPr>
                        <m:t xml:space="preserve">=0.60</m:t>
                      </m:r>
                    </m:oMath>
                  </m:oMathPara>
                </a14:m>
                <a:endParaRPr lang="en-US" sz="2600"/>
              </a:p>
            </p:txBody>
          </p:sp>
        </mc:Choice>
        <mc:Fallback>
          <p:sp>
            <p:nvSpPr>
              <p:cNvPr id="17" name="Equation"/>
              <p:cNvSpPr txBox="1"/>
              <p:nvPr/>
            </p:nvSpPr>
            <p:spPr>
              <a:xfrm>
                <a:off x="1165860" y="5311394"/>
                <a:ext cx="3577590" cy="621792"/>
              </a:xfrm>
              <a:prstGeom prst="rect">
                <a:avLst/>
              </a:prstGeom>
              <a:blipFill>
                <a:blip r:embed="rId6"/>
                <a:stretch>
                  <a:fillRect/>
                </a:stretch>
              </a:blipFill>
            </p:spPr>
            <p:txBody>
              <a:bodyPr/>
              <a:lstStyle/>
              <a:p>
                <a:endParaRPr lang="en-US"/>
              </a:p>
            </p:txBody>
          </p:sp>
        </mc:Fallback>
      </mc:AlternateContent>
      <p:sp>
        <p:nvSpPr>
          <p:cNvPr id="18" name="TextBox 17"/>
          <p:cNvSpPr txBox="1"/>
          <p:nvPr/>
        </p:nvSpPr>
        <p:spPr>
          <a:xfrm>
            <a:off x="1028700" y="5933186"/>
            <a:ext cx="3851910" cy="32004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Bold"/>
                <a:ea typeface="Nunito Bold"/>
                <a:cs typeface="Nunito Bold"/>
                <a:sym typeface="Nunito Bold"/>
              </a:rPr>
              <a:t>ranking accuracy</a:t>
            </a:r>
          </a:p>
        </p:txBody>
      </p:sp>
      <p:sp>
        <p:nvSpPr>
          <p:cNvPr id="19" name="Rounded Rectangle 18"/>
          <p:cNvSpPr/>
          <p:nvPr/>
        </p:nvSpPr>
        <p:spPr>
          <a:xfrm>
            <a:off x="5154930" y="5238242"/>
            <a:ext cx="3851910" cy="1097280"/>
          </a:xfrm>
          <a:prstGeom prst="roundRect">
            <a:avLst>
              <a:gd name="adj" fmla="val 25000"/>
            </a:avLst>
          </a:prstGeom>
          <a:solidFill>
            <a:srgbClr val="F6ECDF"/>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0" name="Equation"/>
              <p:cNvSpPr txBox="1"/>
              <p:nvPr/>
            </p:nvSpPr>
            <p:spPr>
              <a:xfrm>
                <a:off x="5292090" y="5311394"/>
                <a:ext cx="3577590" cy="621792"/>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600" i="1">
                          <a:solidFill>
                            <a:srgbClr val="124944"/>
                          </a:solidFill>
                          <a:latin typeface="Cambria Math" panose="02040503050406030204" pitchFamily="18" charset="0"/>
                        </a:rPr>
                        <m:t xml:space="preserve">β</m:t>
                      </m:r>
                      <m:r>
                        <m:rPr>
                          <m:sty m:val="p"/>
                        </m:rPr>
                        <a:rPr lang="en-US" sz="2600">
                          <a:solidFill>
                            <a:srgbClr val="124944"/>
                          </a:solidFill>
                          <a:latin typeface="Cambria Math" panose="02040503050406030204" pitchFamily="18" charset="0"/>
                        </a:rPr>
                        <m:t xml:space="preserve">=0.25</m:t>
                      </m:r>
                    </m:oMath>
                  </m:oMathPara>
                </a14:m>
                <a:endParaRPr lang="en-US" sz="2600"/>
              </a:p>
            </p:txBody>
          </p:sp>
        </mc:Choice>
        <mc:Fallback>
          <p:sp>
            <p:nvSpPr>
              <p:cNvPr id="20" name="Equation"/>
              <p:cNvSpPr txBox="1"/>
              <p:nvPr/>
            </p:nvSpPr>
            <p:spPr>
              <a:xfrm>
                <a:off x="5292090" y="5311394"/>
                <a:ext cx="3577590" cy="621792"/>
              </a:xfrm>
              <a:prstGeom prst="rect">
                <a:avLst/>
              </a:prstGeom>
              <a:blipFill>
                <a:blip r:embed="rId7"/>
                <a:stretch>
                  <a:fillRect/>
                </a:stretch>
              </a:blipFill>
            </p:spPr>
            <p:txBody>
              <a:bodyPr/>
              <a:lstStyle/>
              <a:p>
                <a:endParaRPr lang="en-US"/>
              </a:p>
            </p:txBody>
          </p:sp>
        </mc:Fallback>
      </mc:AlternateContent>
      <p:sp>
        <p:nvSpPr>
          <p:cNvPr id="21" name="TextBox 20"/>
          <p:cNvSpPr txBox="1"/>
          <p:nvPr/>
        </p:nvSpPr>
        <p:spPr>
          <a:xfrm>
            <a:off x="5154930" y="5933186"/>
            <a:ext cx="3851910" cy="32004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Bold"/>
                <a:ea typeface="Nunito Bold"/>
                <a:cs typeface="Nunito Bold"/>
                <a:sym typeface="Nunito Bold"/>
              </a:rPr>
              <a:t>diversity</a:t>
            </a:r>
          </a:p>
        </p:txBody>
      </p:sp>
      <p:sp>
        <p:nvSpPr>
          <p:cNvPr id="22" name="Rounded Rectangle 21"/>
          <p:cNvSpPr/>
          <p:nvPr/>
        </p:nvSpPr>
        <p:spPr>
          <a:xfrm>
            <a:off x="9281160" y="5238242"/>
            <a:ext cx="3851910" cy="1097280"/>
          </a:xfrm>
          <a:prstGeom prst="roundRect">
            <a:avLst>
              <a:gd name="adj" fmla="val 25000"/>
            </a:avLst>
          </a:prstGeom>
          <a:solidFill>
            <a:srgbClr val="F6ECDF"/>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3" name="Equation"/>
              <p:cNvSpPr txBox="1"/>
              <p:nvPr/>
            </p:nvSpPr>
            <p:spPr>
              <a:xfrm>
                <a:off x="9418320" y="5311394"/>
                <a:ext cx="3577590" cy="621792"/>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600" i="1">
                          <a:solidFill>
                            <a:srgbClr val="124944"/>
                          </a:solidFill>
                          <a:latin typeface="Cambria Math" panose="02040503050406030204" pitchFamily="18" charset="0"/>
                        </a:rPr>
                        <m:t xml:space="preserve">γ</m:t>
                      </m:r>
                      <m:r>
                        <m:rPr>
                          <m:sty m:val="p"/>
                        </m:rPr>
                        <a:rPr lang="en-US" sz="2600">
                          <a:solidFill>
                            <a:srgbClr val="124944"/>
                          </a:solidFill>
                          <a:latin typeface="Cambria Math" panose="02040503050406030204" pitchFamily="18" charset="0"/>
                        </a:rPr>
                        <m:t xml:space="preserve">=0.15</m:t>
                      </m:r>
                    </m:oMath>
                  </m:oMathPara>
                </a14:m>
                <a:endParaRPr lang="en-US" sz="2600"/>
              </a:p>
            </p:txBody>
          </p:sp>
        </mc:Choice>
        <mc:Fallback>
          <p:sp>
            <p:nvSpPr>
              <p:cNvPr id="23" name="Equation"/>
              <p:cNvSpPr txBox="1"/>
              <p:nvPr/>
            </p:nvSpPr>
            <p:spPr>
              <a:xfrm>
                <a:off x="9418320" y="5311394"/>
                <a:ext cx="3577590" cy="621792"/>
              </a:xfrm>
              <a:prstGeom prst="rect">
                <a:avLst/>
              </a:prstGeom>
              <a:blipFill>
                <a:blip r:embed="rId8"/>
                <a:stretch>
                  <a:fillRect/>
                </a:stretch>
              </a:blipFill>
            </p:spPr>
            <p:txBody>
              <a:bodyPr/>
              <a:lstStyle/>
              <a:p>
                <a:endParaRPr lang="en-US"/>
              </a:p>
            </p:txBody>
          </p:sp>
        </mc:Fallback>
      </mc:AlternateContent>
      <p:sp>
        <p:nvSpPr>
          <p:cNvPr id="24" name="TextBox 23"/>
          <p:cNvSpPr txBox="1"/>
          <p:nvPr/>
        </p:nvSpPr>
        <p:spPr>
          <a:xfrm>
            <a:off x="9281160" y="5933186"/>
            <a:ext cx="3851910" cy="32004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Bold"/>
                <a:ea typeface="Nunito Bold"/>
                <a:cs typeface="Nunito Bold"/>
                <a:sym typeface="Nunito Bold"/>
              </a:rPr>
              <a:t>context</a:t>
            </a:r>
          </a:p>
        </p:txBody>
      </p:sp>
      <p:sp>
        <p:nvSpPr>
          <p:cNvPr id="25" name="Rounded Rectangle 24"/>
          <p:cNvSpPr/>
          <p:nvPr/>
        </p:nvSpPr>
        <p:spPr>
          <a:xfrm>
            <a:off x="13407390" y="5238242"/>
            <a:ext cx="3851910" cy="1097280"/>
          </a:xfrm>
          <a:prstGeom prst="roundRect">
            <a:avLst>
              <a:gd name="adj" fmla="val 25000"/>
            </a:avLst>
          </a:prstGeom>
          <a:solidFill>
            <a:srgbClr val="F6ECDF"/>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6" name="Equation"/>
              <p:cNvSpPr txBox="1"/>
              <p:nvPr/>
            </p:nvSpPr>
            <p:spPr>
              <a:xfrm>
                <a:off x="13544550" y="5311394"/>
                <a:ext cx="3577590" cy="621792"/>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500" i="1">
                              <a:solidFill>
                                <a:srgbClr val="DF8330"/>
                              </a:solidFill>
                              <a:latin typeface="Cambria Math" panose="02040503050406030204" pitchFamily="18" charset="0"/>
                            </a:rPr>
                          </m:ctrlPr>
                        </m:sSubPr>
                        <m:e>
                          <m:r>
                            <a:rPr lang="en-US" sz="2500" i="1">
                              <a:solidFill>
                                <a:srgbClr val="DF8330"/>
                              </a:solidFill>
                              <a:latin typeface="Cambria Math" panose="02040503050406030204" pitchFamily="18" charset="0"/>
                            </a:rPr>
                            <m:t xml:space="preserve">λ</m:t>
                          </m:r>
                        </m:e>
                        <m:sub>
                          <m:r>
                            <m:rPr>
                              <m:sty m:val="p"/>
                            </m:rPr>
                            <a:rPr lang="en-US" sz="2500">
                              <a:solidFill>
                                <a:srgbClr val="DF8330"/>
                              </a:solidFill>
                              <a:latin typeface="Cambria Math" panose="02040503050406030204" pitchFamily="18" charset="0"/>
                            </a:rPr>
                            <m:t xml:space="preserve">pref</m:t>
                          </m:r>
                        </m:sub>
                      </m:sSub>
                      <m:r>
                        <m:rPr>
                          <m:sty m:val="p"/>
                        </m:rPr>
                        <a:rPr lang="en-US" sz="2500">
                          <a:solidFill>
                            <a:srgbClr val="DF8330"/>
                          </a:solidFill>
                          <a:latin typeface="Cambria Math" panose="02040503050406030204" pitchFamily="18" charset="0"/>
                        </a:rPr>
                        <m:t xml:space="preserve">=0.20</m:t>
                      </m:r>
                    </m:oMath>
                  </m:oMathPara>
                </a14:m>
                <a:endParaRPr lang="en-US" sz="2500"/>
              </a:p>
            </p:txBody>
          </p:sp>
        </mc:Choice>
        <mc:Fallback>
          <p:sp>
            <p:nvSpPr>
              <p:cNvPr id="26" name="Equation"/>
              <p:cNvSpPr txBox="1"/>
              <p:nvPr/>
            </p:nvSpPr>
            <p:spPr>
              <a:xfrm>
                <a:off x="13544550" y="5311394"/>
                <a:ext cx="3577590" cy="621792"/>
              </a:xfrm>
              <a:prstGeom prst="rect">
                <a:avLst/>
              </a:prstGeom>
              <a:blipFill>
                <a:blip r:embed="rId9"/>
                <a:stretch>
                  <a:fillRect/>
                </a:stretch>
              </a:blipFill>
            </p:spPr>
            <p:txBody>
              <a:bodyPr/>
              <a:lstStyle/>
              <a:p>
                <a:endParaRPr lang="en-US"/>
              </a:p>
            </p:txBody>
          </p:sp>
        </mc:Fallback>
      </mc:AlternateContent>
      <p:sp>
        <p:nvSpPr>
          <p:cNvPr id="27" name="TextBox 26"/>
          <p:cNvSpPr txBox="1"/>
          <p:nvPr/>
        </p:nvSpPr>
        <p:spPr>
          <a:xfrm>
            <a:off x="13407390" y="5933186"/>
            <a:ext cx="3851910" cy="32004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Bold"/>
                <a:ea typeface="Nunito Bold"/>
                <a:cs typeface="Nunito Bold"/>
                <a:sym typeface="Nunito Bold"/>
              </a:rPr>
              <a:t>preference weighting</a:t>
            </a:r>
          </a:p>
        </p:txBody>
      </p:sp>
      <p:sp>
        <p:nvSpPr>
          <p:cNvPr id="28" name="Rounded Rectangle 27"/>
          <p:cNvSpPr/>
          <p:nvPr/>
        </p:nvSpPr>
        <p:spPr>
          <a:xfrm>
            <a:off x="1028700" y="6884162"/>
            <a:ext cx="7932420" cy="2470150"/>
          </a:xfrm>
          <a:prstGeom prst="roundRect">
            <a:avLst>
              <a:gd name="adj" fmla="val 12586"/>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485900" y="6646418"/>
            <a:ext cx="343172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Alignment by design</a:t>
            </a:r>
          </a:p>
        </p:txBody>
      </p:sp>
      <p:sp>
        <p:nvSpPr>
          <p:cNvPr id="30" name="TextBox 29"/>
          <p:cNvSpPr txBox="1"/>
          <p:nvPr/>
        </p:nvSpPr>
        <p:spPr>
          <a:xfrm>
            <a:off x="1531620" y="7524242"/>
            <a:ext cx="6972300" cy="1555750"/>
          </a:xfrm>
          <a:prstGeom prst="rect">
            <a:avLst/>
          </a:prstGeom>
          <a:noFill/>
        </p:spPr>
        <p:txBody>
          <a:bodyPr anchor="t" rtlCol="false" lIns="0" tIns="0" rIns="0" bIns="0" wrap="square"/>
          <a:lstStyle/>
          <a:p>
            <a:pPr algn="l" marL="274320" indent="-274320">
              <a:lnSpc>
                <a:spcPts val="2632"/>
              </a:lnSpc>
              <a:spcBef>
                <a:spcPts val="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The </a:t>
            </a:r>
            <a:r>
              <a:rPr lang="en-US" sz="1880" b="true">
                <a:solidFill>
                  <a:srgbClr val="111111"/>
                </a:solidFill>
                <a:latin typeface="Nunito Bold"/>
                <a:ea typeface="Nunito Bold"/>
                <a:cs typeface="Nunito Bold"/>
                <a:sym typeface="Nunito Bold"/>
              </a:rPr>
              <a:t>same trade-off</a:t>
            </a:r>
            <a:r>
              <a:rPr lang="en-US" sz="1880" b="true">
                <a:solidFill>
                  <a:srgbClr val="111111"/>
                </a:solidFill>
                <a:latin typeface="Nunito Semi-Bold"/>
                <a:ea typeface="Nunito Semi-Bold"/>
                <a:cs typeface="Nunito Semi-Bold"/>
                <a:sym typeface="Nunito Semi-Bold"/>
              </a:rPr>
              <a:t> the recommender must satisfy is the one from which attribution is computed.</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Explanatory game and predictive objective are </a:t>
            </a:r>
            <a:r>
              <a:rPr lang="en-US" sz="1880" b="true">
                <a:solidFill>
                  <a:srgbClr val="111111"/>
                </a:solidFill>
                <a:latin typeface="Nunito Bold"/>
                <a:ea typeface="Nunito Bold"/>
                <a:cs typeface="Nunito Bold"/>
                <a:sym typeface="Nunito Bold"/>
              </a:rPr>
              <a:t>aligned by design</a:t>
            </a:r>
            <a:r>
              <a:rPr lang="en-US" sz="1880" b="true">
                <a:solidFill>
                  <a:srgbClr val="111111"/>
                </a:solidFill>
                <a:latin typeface="Nunito Semi-Bold"/>
                <a:ea typeface="Nunito Semi-Bold"/>
                <a:cs typeface="Nunito Semi-Bold"/>
                <a:sym typeface="Nunito Semi-Bold"/>
              </a:rPr>
              <a:t>.</a:t>
            </a:r>
          </a:p>
        </p:txBody>
      </p:sp>
      <p:sp>
        <p:nvSpPr>
          <p:cNvPr id="31" name="Rounded Rectangle 30"/>
          <p:cNvSpPr/>
          <p:nvPr/>
        </p:nvSpPr>
        <p:spPr>
          <a:xfrm>
            <a:off x="9326880" y="6884162"/>
            <a:ext cx="7932420" cy="2470150"/>
          </a:xfrm>
          <a:prstGeom prst="roundRect">
            <a:avLst>
              <a:gd name="adj" fmla="val 12586"/>
            </a:avLst>
          </a:prstGeom>
          <a:solidFill>
            <a:srgbClr val="124944"/>
          </a:solidFill>
          <a:ln>
            <a:noFill/>
          </a:ln>
        </p:spPr>
        <p:txBody>
          <a:bodyPr anchor="ctr" rtlCol="false" lIns="0" tIns="0" rIns="0" bIns="0" wrap="square"/>
          <a:lstStyle/>
          <a:p>
            <a:endParaRPr lang="en-US" sz="1800"/>
          </a:p>
        </p:txBody>
      </p:sp>
      <p:sp>
        <p:nvSpPr>
          <p:cNvPr id="32" name="Rounded Rectangle 31"/>
          <p:cNvSpPr/>
          <p:nvPr/>
        </p:nvSpPr>
        <p:spPr>
          <a:xfrm>
            <a:off x="9784080" y="6646418"/>
            <a:ext cx="272320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Tuning &amp; scope</a:t>
            </a:r>
          </a:p>
        </p:txBody>
      </p:sp>
      <p:sp>
        <p:nvSpPr>
          <p:cNvPr id="33" name="TextBox 32"/>
          <p:cNvSpPr txBox="1"/>
          <p:nvPr/>
        </p:nvSpPr>
        <p:spPr>
          <a:xfrm>
            <a:off x="9829800" y="7524242"/>
            <a:ext cx="6972300" cy="1555750"/>
          </a:xfrm>
          <a:prstGeom prst="rect">
            <a:avLst/>
          </a:prstGeom>
          <a:noFill/>
        </p:spPr>
        <p:txBody>
          <a:bodyPr anchor="t" rtlCol="false" lIns="0" tIns="0" rIns="0" bIns="0" wrap="square"/>
          <a:lstStyle/>
          <a:p>
            <a:pPr algn="l" marL="274320" indent="-274320">
              <a:lnSpc>
                <a:spcPts val="2632"/>
              </a:lnSpc>
              <a:spcBef>
                <a:spcPts val="0"/>
              </a:spcBef>
              <a:buClr>
                <a:srgbClr val="ECC665"/>
              </a:buClr>
              <a:buSzPct val="100000"/>
              <a:buFont typeface="Arial"/>
              <a:buChar char="•"/>
            </a:pPr>
            <a:r>
              <a:rPr lang="en-US" sz="1880" b="true">
                <a:solidFill>
                  <a:srgbClr val="FFFFFF"/>
                </a:solidFill>
                <a:latin typeface="Nunito Semi-Bold"/>
                <a:ea typeface="Nunito Semi-Bold"/>
                <a:cs typeface="Nunito Semi-Bold"/>
                <a:sym typeface="Nunito Semi-Bold"/>
              </a:rPr>
              <a:t>Weights </a:t>
            </a:r>
            <a:r>
              <a:rPr lang="en-US" sz="1880" b="true">
                <a:solidFill>
                  <a:srgbClr val="FFFFFF"/>
                </a:solidFill>
                <a:latin typeface="Nunito Bold"/>
                <a:ea typeface="Nunito Bold"/>
                <a:cs typeface="Nunito Bold"/>
                <a:sym typeface="Nunito Bold"/>
              </a:rPr>
              <a:t>grid-searched</a:t>
            </a:r>
            <a:r>
              <a:rPr lang="en-US" sz="1880" b="true">
                <a:solidFill>
                  <a:srgbClr val="FFFFFF"/>
                </a:solidFill>
                <a:latin typeface="Nunito Semi-Bold"/>
                <a:ea typeface="Nunito Semi-Bold"/>
                <a:cs typeface="Nunito Semi-Bold"/>
                <a:sym typeface="Nunito Semi-Bold"/>
              </a:rPr>
              <a:t>; stable, with </a:t>
            </a:r>
            <a:r>
              <a:rPr lang="en-US" sz="1880" b="true">
                <a:solidFill>
                  <a:srgbClr val="FFFFFF"/>
                </a:solidFill>
                <a:latin typeface="Nunito Bold"/>
                <a:ea typeface="Nunito Bold"/>
                <a:cs typeface="Nunito Bold"/>
                <a:sym typeface="Nunito Bold"/>
              </a:rPr>
              <a:t>&lt; 1.5 % variance</a:t>
            </a:r>
            <a:r>
              <a:rPr lang="en-US" sz="1880" b="true">
                <a:solidFill>
                  <a:srgbClr val="FFFFFF"/>
                </a:solidFill>
                <a:latin typeface="Nunito Semi-Bold"/>
                <a:ea typeface="Nunito Semi-Bold"/>
                <a:cs typeface="Nunito Semi-Bold"/>
                <a:sym typeface="Nunito Semi-Bold"/>
              </a:rPr>
              <a:t> in NDCG@20 around the optimum.</a:t>
            </a:r>
          </a:p>
          <a:p>
            <a:pPr algn="l" marL="274320" indent="-274320">
              <a:lnSpc>
                <a:spcPts val="2632"/>
              </a:lnSpc>
              <a:spcBef>
                <a:spcPts val="940"/>
              </a:spcBef>
              <a:buClr>
                <a:srgbClr val="ECC665"/>
              </a:buClr>
              <a:buSzPct val="100000"/>
              <a:buFont typeface="Arial"/>
              <a:buChar char="•"/>
            </a:pPr>
            <a:r>
              <a:rPr lang="en-US" sz="1880" b="true">
                <a:solidFill>
                  <a:srgbClr val="FFFFFF"/>
                </a:solidFill>
                <a:latin typeface="Nunito Semi-Bold"/>
                <a:ea typeface="Nunito Semi-Bold"/>
                <a:cs typeface="Nunito Semi-Bold"/>
                <a:sym typeface="Nunito Semi-Bold"/>
              </a:rPr>
              <a:t>Coalition evaluation is limited to the </a:t>
            </a:r>
            <a:r>
              <a:rPr lang="en-US" sz="1880" b="true">
                <a:solidFill>
                  <a:srgbClr val="FFFFFF"/>
                </a:solidFill>
                <a:latin typeface="Nunito Bold"/>
                <a:ea typeface="Nunito Bold"/>
                <a:cs typeface="Nunito Bold"/>
                <a:sym typeface="Nunito Bold"/>
              </a:rPr>
              <a:t>interaction episode</a:t>
            </a:r>
            <a:r>
              <a:rPr lang="en-US" sz="1880" b="true">
                <a:solidFill>
                  <a:srgbClr val="FFFFFF"/>
                </a:solidFill>
                <a:latin typeface="Nunito Semi-Bold"/>
                <a:ea typeface="Nunito Semi-Bold"/>
                <a:cs typeface="Nunito Semi-Bold"/>
                <a:sym typeface="Nunito Semi-Bold"/>
              </a:rPr>
              <a:t> (a few dozen players), not the full catalogue.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pic>
        <p:nvPicPr>
          <p:cNvPr id="8" name="Picture 7" descr="image.png"/>
          <p:cNvPicPr>
            <a:picLocks noChangeAspect="1"/>
          </p:cNvPicPr>
          <p:nvPr/>
        </p:nvPicPr>
        <p:blipFill>
          <a:blip r:embed="rId2"/>
          <a:stretch>
            <a:fillRect/>
          </a:stretch>
        </p:blipFill>
        <p:spPr>
          <a:xfrm>
            <a:off x="11509517" y="1673352"/>
            <a:ext cx="457200" cy="415247"/>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14" name="Rounded Rectangle 13"/>
          <p:cNvSpPr/>
          <p:nvPr/>
        </p:nvSpPr>
        <p:spPr>
          <a:xfrm>
            <a:off x="1028700" y="3866642"/>
            <a:ext cx="8595360" cy="2834640"/>
          </a:xfrm>
          <a:prstGeom prst="roundRect">
            <a:avLst>
              <a:gd name="adj" fmla="val 645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15"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124944"/>
                              </a:solidFill>
                              <a:latin typeface="Cambria Math" panose="02040503050406030204" pitchFamily="18" charset="0"/>
                            </a:rPr>
                          </m:ctrlPr>
                        </m:sSubPr>
                        <m:e>
                          <m:acc>
                            <m:accPr>
                              <m:chr m:val="̂"/>
                              <m:ctrlPr>
                                <a:rPr lang="en-US" sz="2350" i="1">
                                  <a:solidFill>
                                    <a:srgbClr val="124944"/>
                                  </a:solidFill>
                                  <a:latin typeface="Cambria Math" panose="02040503050406030204" pitchFamily="18" charset="0"/>
                                </a:rPr>
                              </m:ctrlPr>
                            </m:accPr>
                            <m:e>
                              <m:r>
                                <a:rPr lang="en-US" sz="2350" i="1">
                                  <a:solidFill>
                                    <a:srgbClr val="124944"/>
                                  </a:solidFill>
                                  <a:latin typeface="Cambria Math" panose="02040503050406030204" pitchFamily="18" charset="0"/>
                                </a:rPr>
                                <m:t xml:space="preserve">φ</m:t>
                              </m:r>
                            </m:e>
                          </m:acc>
                        </m:e>
                        <m:sub>
                          <m:r>
                            <a:rPr lang="en-US" sz="2350" i="1">
                              <a:solidFill>
                                <a:srgbClr val="124944"/>
                              </a:solidFill>
                              <a:latin typeface="Cambria Math" panose="02040503050406030204" pitchFamily="18" charset="0"/>
                            </a:rPr>
                            <m:t xml:space="preserve">j</m:t>
                          </m:r>
                        </m:sub>
                      </m:sSub>
                      <m:r>
                        <m:rPr>
                          <m:sty m:val="p"/>
                        </m:rPr>
                        <a:rPr lang="en-US" sz="2350">
                          <a:solidFill>
                            <a:srgbClr val="124944"/>
                          </a:solidFill>
                          <a:latin typeface="Cambria Math" panose="02040503050406030204" pitchFamily="18" charset="0"/>
                        </a:rPr>
                        <m:t xml:space="preserve">=</m:t>
                      </m:r>
                      <m:f>
                        <m:fPr>
                          <m:ctrlPr>
                            <a:rPr lang="en-US" sz="2350" i="1">
                              <a:solidFill>
                                <a:srgbClr val="124944"/>
                              </a:solidFill>
                              <a:latin typeface="Cambria Math" panose="02040503050406030204" pitchFamily="18" charset="0"/>
                            </a:rPr>
                          </m:ctrlPr>
                        </m:fPr>
                        <m:num>
                          <m:r>
                            <m:rPr>
                              <m:sty m:val="p"/>
                            </m:rPr>
                            <a:rPr lang="en-US" sz="2350">
                              <a:solidFill>
                                <a:srgbClr val="124944"/>
                              </a:solidFill>
                              <a:latin typeface="Cambria Math" panose="02040503050406030204" pitchFamily="18" charset="0"/>
                            </a:rPr>
                            <m:t xml:space="preserve">1</m:t>
                          </m:r>
                        </m:num>
                        <m:den>
                          <m:r>
                            <a:rPr lang="en-US" sz="2350" i="1">
                              <a:solidFill>
                                <a:srgbClr val="124944"/>
                              </a:solidFill>
                              <a:latin typeface="Cambria Math" panose="02040503050406030204" pitchFamily="18" charset="0"/>
                            </a:rPr>
                            <m:t xml:space="preserve">M</m:t>
                          </m:r>
                        </m:den>
                      </m:f>
                      <m:nary>
                        <m:naryPr>
                          <m:chr m:val="∑"/>
                          <m:limLoc m:val="undOvr"/>
                          <m:ctrlPr>
                            <a:rPr lang="en-US" sz="2350" i="1">
                              <a:solidFill>
                                <a:srgbClr val="124944"/>
                              </a:solidFill>
                              <a:latin typeface="Cambria Math" panose="02040503050406030204" pitchFamily="18" charset="0"/>
                            </a:rPr>
                          </m:ctrlPr>
                        </m:naryPr>
                        <m:sub>
                          <m:r>
                            <a:rPr lang="en-US" sz="2350" i="1">
                              <a:solidFill>
                                <a:srgbClr val="124944"/>
                              </a:solidFill>
                              <a:latin typeface="Cambria Math" panose="02040503050406030204" pitchFamily="18" charset="0"/>
                            </a:rPr>
                            <m:t xml:space="preserve">m</m:t>
                          </m:r>
                          <m:r>
                            <m:rPr>
                              <m:sty m:val="p"/>
                            </m:rPr>
                            <a:rPr lang="en-US" sz="2350">
                              <a:solidFill>
                                <a:srgbClr val="124944"/>
                              </a:solidFill>
                              <a:latin typeface="Cambria Math" panose="02040503050406030204" pitchFamily="18" charset="0"/>
                            </a:rPr>
                            <m:t xml:space="preserve">=1</m:t>
                          </m:r>
                        </m:sub>
                        <m:sup>
                          <m:r>
                            <a:rPr lang="en-US" sz="2350" i="1">
                              <a:solidFill>
                                <a:srgbClr val="124944"/>
                              </a:solidFill>
                              <a:latin typeface="Cambria Math" panose="02040503050406030204" pitchFamily="18" charset="0"/>
                            </a:rPr>
                            <m:t xml:space="preserve">M</m:t>
                          </m:r>
                        </m:sup>
                        <m:e>
                          <m:d>
                            <m:dPr>
                              <m:begChr m:val="["/>
                              <m:endChr m:val="]"/>
                              <m:ctrlPr>
                                <a:rPr lang="en-US" sz="2350" i="1">
                                  <a:solidFill>
                                    <a:srgbClr val="124944"/>
                                  </a:solidFill>
                                  <a:latin typeface="Cambria Math" panose="02040503050406030204" pitchFamily="18" charset="0"/>
                                </a:rPr>
                              </m:ctrlPr>
                            </m:dPr>
                            <m:e>
                              <m:r>
                                <m:rPr>
                                  <m:sty m:val="p"/>
                                </m:rPr>
                                <a:rPr lang="en-US" sz="2350">
                                  <a:solidFill>
                                    <a:srgbClr val="124944"/>
                                  </a:solidFill>
                                  <a:latin typeface="Cambria Math" panose="02040503050406030204" pitchFamily="18" charset="0"/>
                                </a:rPr>
                                <m:t xml:space="preserve"> </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j</m:t>
                              </m:r>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 </m:t>
                              </m:r>
                            </m:e>
                          </m:d>
                        </m:e>
                      </m:nary>
                    </m:oMath>
                  </m:oMathPara>
                </a14:m>
                <a:endParaRPr lang="en-US" sz="2350"/>
              </a:p>
            </p:txBody>
          </p:sp>
        </mc:Choice>
        <mc:Fallback>
          <p:sp>
            <p:nvSpPr>
              <p:cNvPr id="15" name="Equation"/>
              <p:cNvSpPr txBox="1"/>
              <p:nvPr/>
            </p:nvSpPr>
            <p:spPr>
              <a:xfrm>
                <a:off x="1211580" y="3958082"/>
                <a:ext cx="8229600" cy="1325880"/>
              </a:xfrm>
              <a:prstGeom prst="rect">
                <a:avLst/>
              </a:prstGeom>
              <a:blipFill>
                <a:blip r:embed="rId4"/>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16"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DF8330"/>
                              </a:solidFill>
                              <a:latin typeface="Cambria Math" panose="02040503050406030204" pitchFamily="18" charset="0"/>
                            </a:rPr>
                          </m:ctrlPr>
                        </m:sSubSupPr>
                        <m:e>
                          <m:acc>
                            <m:accPr>
                              <m:chr m:val="̂"/>
                              <m:ctrlPr>
                                <a:rPr lang="en-US" sz="2350" i="1">
                                  <a:solidFill>
                                    <a:srgbClr val="DF8330"/>
                                  </a:solidFill>
                                  <a:latin typeface="Cambria Math" panose="02040503050406030204" pitchFamily="18" charset="0"/>
                                </a:rPr>
                              </m:ctrlPr>
                            </m:accPr>
                            <m:e>
                              <m:r>
                                <a:rPr lang="en-US" sz="2350" i="1">
                                  <a:solidFill>
                                    <a:srgbClr val="DF8330"/>
                                  </a:solidFill>
                                  <a:latin typeface="Cambria Math" panose="02040503050406030204" pitchFamily="18" charset="0"/>
                                </a:rPr>
                                <m:t xml:space="preserve">φ</m:t>
                              </m:r>
                            </m:e>
                          </m:acc>
                        </m:e>
                        <m:sub>
                          <m:r>
                            <a:rPr lang="en-US" sz="2350" i="1">
                              <a:solidFill>
                                <a:srgbClr val="DF8330"/>
                              </a:solidFill>
                              <a:latin typeface="Cambria Math" panose="02040503050406030204" pitchFamily="18" charset="0"/>
                            </a:rPr>
                            <m:t xml:space="preserve">j</m:t>
                          </m:r>
                        </m:sub>
                        <m:sup>
                          <m:r>
                            <m:rPr>
                              <m:sty m:val="p"/>
                            </m:rPr>
                            <a:rPr lang="en-US" sz="2350">
                              <a:solidFill>
                                <a:srgbClr val="DF8330"/>
                              </a:solidFill>
                              <a:latin typeface="Cambria Math" panose="02040503050406030204" pitchFamily="18" charset="0"/>
                            </a:rPr>
                            <m:t xml:space="preserve"> pref</m:t>
                          </m:r>
                        </m:sup>
                      </m:sSubSup>
                      <m:r>
                        <m:rPr>
                          <m:sty m:val="p"/>
                        </m:rPr>
                        <a:rPr lang="en-US" sz="2350">
                          <a:solidFill>
                            <a:srgbClr val="DF8330"/>
                          </a:solidFill>
                          <a:latin typeface="Cambria Math" panose="02040503050406030204" pitchFamily="18" charset="0"/>
                        </a:rPr>
                        <m:t xml:space="preserve">=</m:t>
                      </m:r>
                      <m:f>
                        <m:fPr>
                          <m:ctrlPr>
                            <a:rPr lang="en-US" sz="2350" i="1">
                              <a:solidFill>
                                <a:srgbClr val="DF8330"/>
                              </a:solidFill>
                              <a:latin typeface="Cambria Math" panose="02040503050406030204" pitchFamily="18" charset="0"/>
                            </a:rPr>
                          </m:ctrlPr>
                        </m:fPr>
                        <m:num>
                          <m:r>
                            <m:rPr>
                              <m:sty m:val="p"/>
                            </m:rPr>
                            <a:rPr lang="en-US" sz="2350">
                              <a:solidFill>
                                <a:srgbClr val="DF8330"/>
                              </a:solidFill>
                              <a:latin typeface="Cambria Math" panose="02040503050406030204" pitchFamily="18" charset="0"/>
                            </a:rPr>
                            <m:t xml:space="preserve">1</m:t>
                          </m:r>
                        </m:num>
                        <m:den>
                          <m:r>
                            <a:rPr lang="en-US" sz="2350" i="1">
                              <a:solidFill>
                                <a:srgbClr val="DF8330"/>
                              </a:solidFill>
                              <a:latin typeface="Cambria Math" panose="02040503050406030204" pitchFamily="18" charset="0"/>
                            </a:rPr>
                            <m:t xml:space="preserve">M</m:t>
                          </m:r>
                        </m:den>
                      </m:f>
                      <m:nary>
                        <m:naryPr>
                          <m:chr m:val="∑"/>
                          <m:limLoc m:val="undOvr"/>
                          <m:ctrlPr>
                            <a:rPr lang="en-US" sz="2350" i="1">
                              <a:solidFill>
                                <a:srgbClr val="DF8330"/>
                              </a:solidFill>
                              <a:latin typeface="Cambria Math" panose="02040503050406030204" pitchFamily="18" charset="0"/>
                            </a:rPr>
                          </m:ctrlPr>
                        </m:naryPr>
                        <m:sub>
                          <m:r>
                            <a:rPr lang="en-US" sz="2350" i="1">
                              <a:solidFill>
                                <a:srgbClr val="DF8330"/>
                              </a:solidFill>
                              <a:latin typeface="Cambria Math" panose="02040503050406030204" pitchFamily="18" charset="0"/>
                            </a:rPr>
                            <m:t xml:space="preserve">m</m:t>
                          </m:r>
                          <m:r>
                            <m:rPr>
                              <m:sty m:val="p"/>
                            </m:rPr>
                            <a:rPr lang="en-US" sz="2350">
                              <a:solidFill>
                                <a:srgbClr val="DF8330"/>
                              </a:solidFill>
                              <a:latin typeface="Cambria Math" panose="02040503050406030204" pitchFamily="18" charset="0"/>
                            </a:rPr>
                            <m:t xml:space="preserve">=1</m:t>
                          </m:r>
                        </m:sub>
                        <m:sup>
                          <m:r>
                            <a:rPr lang="en-US" sz="2350" i="1">
                              <a:solidFill>
                                <a:srgbClr val="DF8330"/>
                              </a:solidFill>
                              <a:latin typeface="Cambria Math" panose="02040503050406030204" pitchFamily="18" charset="0"/>
                            </a:rPr>
                            <m:t xml:space="preserve">M</m:t>
                          </m:r>
                        </m:sup>
                        <m:e>
                          <m:d>
                            <m:dPr>
                              <m:begChr m:val="["/>
                              <m:endChr m:val="]"/>
                              <m:ctrlPr>
                                <a:rPr lang="en-US" sz="2350" i="1">
                                  <a:solidFill>
                                    <a:srgbClr val="DF8330"/>
                                  </a:solidFill>
                                  <a:latin typeface="Cambria Math" panose="02040503050406030204" pitchFamily="18" charset="0"/>
                                </a:rPr>
                              </m:ctrlPr>
                            </m:dPr>
                            <m:e>
                              <m:r>
                                <m:rPr>
                                  <m:sty m:val="p"/>
                                </m:rPr>
                                <a:rPr lang="en-US" sz="2350">
                                  <a:solidFill>
                                    <a:srgbClr val="DF8330"/>
                                  </a:solidFill>
                                  <a:latin typeface="Cambria Math" panose="02040503050406030204" pitchFamily="18" charset="0"/>
                                </a:rPr>
                                <m:t xml:space="preserve"> </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m:t>
                              </m:r>
                              <m:r>
                                <a:rPr lang="en-US" sz="2350" i="1">
                                  <a:solidFill>
                                    <a:srgbClr val="DF8330"/>
                                  </a:solidFill>
                                  <a:latin typeface="Cambria Math" panose="02040503050406030204" pitchFamily="18" charset="0"/>
                                </a:rPr>
                                <m:t xml:space="preserve">j</m:t>
                              </m:r>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 </m:t>
                              </m:r>
                            </m:e>
                          </m:d>
                        </m:e>
                      </m:nary>
                    </m:oMath>
                  </m:oMathPara>
                </a14:m>
                <a:endParaRPr lang="en-US" sz="2350"/>
              </a:p>
            </p:txBody>
          </p:sp>
        </mc:Choice>
        <mc:Fallback>
          <p:sp>
            <p:nvSpPr>
              <p:cNvPr id="16" name="Equation"/>
              <p:cNvSpPr txBox="1"/>
              <p:nvPr/>
            </p:nvSpPr>
            <p:spPr>
              <a:xfrm>
                <a:off x="1211580" y="528396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17"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17" name="Equation"/>
              <p:cNvSpPr txBox="1"/>
              <p:nvPr/>
            </p:nvSpPr>
            <p:spPr>
              <a:xfrm>
                <a:off x="1211580" y="6838442"/>
                <a:ext cx="8229600" cy="548640"/>
              </a:xfrm>
              <a:prstGeom prst="rect">
                <a:avLst/>
              </a:prstGeom>
              <a:blipFill>
                <a:blip r:embed="rId6"/>
                <a:stretch>
                  <a:fillRect/>
                </a:stretch>
              </a:blipFill>
            </p:spPr>
            <p:txBody>
              <a:bodyPr/>
              <a:lstStyle/>
              <a:p>
                <a:endParaRPr lang="en-US"/>
              </a:p>
            </p:txBody>
          </p:sp>
        </mc:Fallback>
      </mc:AlternateContent>
      <p:sp>
        <p:nvSpPr>
          <p:cNvPr id="18" name="TextBox 17"/>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DF8330"/>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DF8330"/>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DF8330"/>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19" name="Table 18"/>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0" name="TextBox 19"/>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21" name="Rounded Rectangle 20"/>
          <p:cNvSpPr/>
          <p:nvPr/>
        </p:nvSpPr>
        <p:spPr>
          <a:xfrm>
            <a:off x="10172700" y="6362954"/>
            <a:ext cx="7086600" cy="2945638"/>
          </a:xfrm>
          <a:prstGeom prst="roundRect">
            <a:avLst>
              <a:gd name="adj" fmla="val 10554"/>
            </a:avLst>
          </a:prstGeom>
          <a:solidFill>
            <a:srgbClr val="124944"/>
          </a:solidFill>
          <a:ln>
            <a:noFill/>
          </a:ln>
        </p:spPr>
        <p:txBody>
          <a:bodyPr anchor="ctr" rtlCol="false" lIns="0" tIns="0" rIns="0" bIns="0" wrap="square"/>
          <a:lstStyle/>
          <a:p>
            <a:endParaRPr lang="en-US" sz="1800"/>
          </a:p>
        </p:txBody>
      </p:sp>
      <p:sp>
        <p:nvSpPr>
          <p:cNvPr id="22" name="Rounded Rectangle 21"/>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In the training loop</a:t>
            </a:r>
          </a:p>
        </p:txBody>
      </p:sp>
      <p:sp>
        <p:nvSpPr>
          <p:cNvPr id="23" name="TextBox 22"/>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24"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24" name="Equation"/>
              <p:cNvSpPr txBox="1"/>
              <p:nvPr/>
            </p:nvSpPr>
            <p:spPr>
              <a:xfrm>
                <a:off x="10629900" y="8531352"/>
                <a:ext cx="6172200" cy="594360"/>
              </a:xfrm>
              <a:prstGeom prst="rect">
                <a:avLst/>
              </a:prstGeom>
              <a:blipFill>
                <a:blip r:embed="rId7"/>
                <a:stretch>
                  <a:fillRect/>
                </a:stretch>
              </a:blipFill>
            </p:spPr>
            <p:txBody>
              <a:bodyPr/>
              <a:lstStyle/>
              <a:p>
                <a:endParaRPr lang="en-US"/>
              </a:p>
            </p:txBody>
          </p:sp>
        </mc:Fallback>
      </mc:AlternateContent>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pic>
        <p:nvPicPr>
          <p:cNvPr id="8" name="Picture 7" descr="image.png"/>
          <p:cNvPicPr>
            <a:picLocks noChangeAspect="1"/>
          </p:cNvPicPr>
          <p:nvPr/>
        </p:nvPicPr>
        <p:blipFill>
          <a:blip r:embed="rId2"/>
          <a:stretch>
            <a:fillRect/>
          </a:stretch>
        </p:blipFill>
        <p:spPr>
          <a:xfrm>
            <a:off x="13838915"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363722"/>
            <a:ext cx="16230600" cy="2011680"/>
          </a:xfrm>
          <a:prstGeom prst="roundRect">
            <a:avLst>
              <a:gd name="adj" fmla="val 11363"/>
            </a:avLst>
          </a:prstGeom>
          <a:solidFill>
            <a:srgbClr val="FFFFFF"/>
          </a:solidFill>
          <a:ln w="15875">
            <a:solidFill>
              <a:srgbClr val="E3D6C4"/>
            </a:solidFill>
          </a:ln>
        </p:spPr>
        <p:txBody>
          <a:bodyPr anchor="ctr" rtlCol="false" lIns="0" tIns="0" rIns="0" bIns="0" wrap="square"/>
          <a:lstStyle/>
          <a:p>
            <a:endParaRPr lang="en-US" sz="1800"/>
          </a:p>
        </p:txBody>
      </p:sp>
      <p:pic>
        <p:nvPicPr>
          <p:cNvPr id="14" name="Picture 13" descr="dyhucog_arch.png"/>
          <p:cNvPicPr>
            <a:picLocks noChangeAspect="1"/>
          </p:cNvPicPr>
          <p:nvPr/>
        </p:nvPicPr>
        <p:blipFill>
          <a:blip r:embed="rId4"/>
          <a:stretch>
            <a:fillRect/>
          </a:stretch>
        </p:blipFill>
        <p:spPr>
          <a:xfrm>
            <a:off x="5541403" y="3500882"/>
            <a:ext cx="7205193" cy="1737360"/>
          </a:xfrm>
          <a:prstGeom prst="rect">
            <a:avLst/>
          </a:prstGeom>
        </p:spPr>
      </p:pic>
      <p:sp>
        <p:nvSpPr>
          <p:cNvPr id="15" name="Rounded Rectangle 14"/>
          <p:cNvSpPr/>
          <p:nvPr/>
        </p:nvSpPr>
        <p:spPr>
          <a:xfrm>
            <a:off x="1028700" y="5604002"/>
            <a:ext cx="16230600" cy="686054"/>
          </a:xfrm>
          <a:prstGeom prst="roundRect">
            <a:avLst>
              <a:gd name="adj" fmla="val 21325"/>
            </a:avLst>
          </a:prstGeom>
          <a:solidFill>
            <a:srgbClr val="F6ECDF"/>
          </a:solidFill>
          <a:ln>
            <a:noFill/>
          </a:ln>
        </p:spPr>
        <p:txBody>
          <a:bodyPr anchor="ctr" rtlCol="false" lIns="0" tIns="0" rIns="0" bIns="0" wrap="square"/>
          <a:lstStyle/>
          <a:p>
            <a:endParaRPr lang="en-US" sz="1800"/>
          </a:p>
        </p:txBody>
      </p:sp>
      <p:sp>
        <p:nvSpPr>
          <p:cNvPr id="16" name="TextBox 15"/>
          <p:cNvSpPr txBox="1"/>
          <p:nvPr/>
        </p:nvSpPr>
        <p:spPr>
          <a:xfrm>
            <a:off x="1348740" y="5604002"/>
            <a:ext cx="3291840" cy="686054"/>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17" name="Equation"/>
              <p:cNvSpPr txBox="1"/>
              <p:nvPr/>
            </p:nvSpPr>
            <p:spPr>
              <a:xfrm>
                <a:off x="4686300" y="5604002"/>
                <a:ext cx="12298680" cy="686054"/>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17" name="Equation"/>
              <p:cNvSpPr txBox="1"/>
              <p:nvPr/>
            </p:nvSpPr>
            <p:spPr>
              <a:xfrm>
                <a:off x="4686300" y="5604002"/>
                <a:ext cx="12298680" cy="686054"/>
              </a:xfrm>
              <a:prstGeom prst="rect">
                <a:avLst/>
              </a:prstGeom>
              <a:blipFill>
                <a:blip r:embed="rId5"/>
                <a:stretch>
                  <a:fillRect/>
                </a:stretch>
              </a:blipFill>
            </p:spPr>
            <p:txBody>
              <a:bodyPr/>
              <a:lstStyle/>
              <a:p>
                <a:endParaRPr lang="en-US"/>
              </a:p>
            </p:txBody>
          </p:sp>
        </mc:Fallback>
      </mc:AlternateContent>
      <p:sp>
        <p:nvSpPr>
          <p:cNvPr id="18" name="Rounded Rectangle 17"/>
          <p:cNvSpPr/>
          <p:nvPr/>
        </p:nvSpPr>
        <p:spPr>
          <a:xfrm>
            <a:off x="1028700" y="6381496"/>
            <a:ext cx="16230600" cy="686054"/>
          </a:xfrm>
          <a:prstGeom prst="roundRect">
            <a:avLst>
              <a:gd name="adj" fmla="val 21325"/>
            </a:avLst>
          </a:prstGeom>
          <a:solidFill>
            <a:srgbClr val="FBF4EB"/>
          </a:solidFill>
          <a:ln>
            <a:noFill/>
          </a:ln>
        </p:spPr>
        <p:txBody>
          <a:bodyPr anchor="ctr" rtlCol="false" lIns="0" tIns="0" rIns="0" bIns="0" wrap="square"/>
          <a:lstStyle/>
          <a:p>
            <a:endParaRPr lang="en-US" sz="1800"/>
          </a:p>
        </p:txBody>
      </p:sp>
      <p:sp>
        <p:nvSpPr>
          <p:cNvPr id="19" name="TextBox 18"/>
          <p:cNvSpPr txBox="1"/>
          <p:nvPr/>
        </p:nvSpPr>
        <p:spPr>
          <a:xfrm>
            <a:off x="1348740" y="6381496"/>
            <a:ext cx="3291840" cy="686054"/>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20" name="Equation"/>
              <p:cNvSpPr txBox="1"/>
              <p:nvPr/>
            </p:nvSpPr>
            <p:spPr>
              <a:xfrm>
                <a:off x="4686300" y="6381496"/>
                <a:ext cx="12298680" cy="686054"/>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950" i="1">
                              <a:solidFill>
                                <a:srgbClr val="111111"/>
                              </a:solidFill>
                              <a:latin typeface="Cambria Math" panose="02040503050406030204" pitchFamily="18" charset="0"/>
                            </a:rPr>
                          </m:ctrlPr>
                        </m:sSubSupPr>
                        <m:e>
                          <m:r>
                            <a:rPr lang="en-US" sz="1950" i="1">
                              <a:solidFill>
                                <a:srgbClr val="111111"/>
                              </a:solidFill>
                              <a:latin typeface="Cambria Math" panose="02040503050406030204" pitchFamily="18" charset="0"/>
                            </a:rPr>
                            <m:t xml:space="preserve">e</m:t>
                          </m:r>
                        </m:e>
                        <m:sub>
                          <m:r>
                            <a:rPr lang="en-US" sz="1950" i="1">
                              <a:solidFill>
                                <a:srgbClr val="111111"/>
                              </a:solidFill>
                              <a:latin typeface="Cambria Math" panose="02040503050406030204" pitchFamily="18" charset="0"/>
                            </a:rPr>
                            <m:t xml:space="preserve">j</m:t>
                          </m:r>
                        </m:sub>
                        <m:sup>
                          <m:r>
                            <m:rPr>
                              <m:sty m:val="p"/>
                            </m:rPr>
                            <a:rPr lang="en-US" sz="1950">
                              <a:solidFill>
                                <a:srgbClr val="111111"/>
                              </a:solidFill>
                              <a:latin typeface="Cambria Math" panose="02040503050406030204" pitchFamily="18" charset="0"/>
                            </a:rPr>
                            <m:t xml:space="preserve">(</m:t>
                          </m:r>
                          <m:r>
                            <a:rPr lang="en-US" sz="1950" i="1">
                              <a:solidFill>
                                <a:srgbClr val="111111"/>
                              </a:solidFill>
                              <a:latin typeface="Cambria Math" panose="02040503050406030204" pitchFamily="18" charset="0"/>
                            </a:rPr>
                            <m:t xml:space="preserve">l</m:t>
                          </m:r>
                          <m:r>
                            <m:rPr>
                              <m:sty m:val="p"/>
                            </m:rPr>
                            <a:rPr lang="en-US" sz="1950">
                              <a:solidFill>
                                <a:srgbClr val="111111"/>
                              </a:solidFill>
                              <a:latin typeface="Cambria Math" panose="02040503050406030204" pitchFamily="18" charset="0"/>
                            </a:rPr>
                            <m:t xml:space="preserve">+1)</m:t>
                          </m:r>
                        </m:sup>
                      </m:sSubSup>
                      <m:r>
                        <m:rPr>
                          <m:sty m:val="p"/>
                        </m:rPr>
                        <a:rPr lang="en-US" sz="1950">
                          <a:solidFill>
                            <a:srgbClr val="111111"/>
                          </a:solidFill>
                          <a:latin typeface="Cambria Math" panose="02040503050406030204" pitchFamily="18" charset="0"/>
                        </a:rPr>
                        <m:t xml:space="preserve">=</m:t>
                      </m:r>
                      <m:r>
                        <a:rPr lang="en-US" sz="1950" i="1">
                          <a:solidFill>
                            <a:srgbClr val="111111"/>
                          </a:solidFill>
                          <a:latin typeface="Cambria Math" panose="02040503050406030204" pitchFamily="18" charset="0"/>
                        </a:rPr>
                        <m:t xml:space="preserve">σ</m:t>
                      </m:r>
                      <m:d>
                        <m:dPr>
                          <m:ctrlPr>
                            <a:rPr lang="en-US" sz="1950" i="1">
                              <a:solidFill>
                                <a:srgbClr val="111111"/>
                              </a:solidFill>
                              <a:latin typeface="Cambria Math" panose="02040503050406030204" pitchFamily="18" charset="0"/>
                            </a:rPr>
                          </m:ctrlPr>
                        </m:dPr>
                        <m:e>
                          <m:sSup>
                            <m:sSupPr>
                              <m:ctrlPr>
                                <a:rPr lang="en-US" sz="1950" i="1">
                                  <a:solidFill>
                                    <a:srgbClr val="111111"/>
                                  </a:solidFill>
                                  <a:latin typeface="Cambria Math" panose="02040503050406030204" pitchFamily="18" charset="0"/>
                                </a:rPr>
                              </m:ctrlPr>
                            </m:sSupPr>
                            <m:e>
                              <m:r>
                                <a:rPr lang="en-US" sz="1950" i="1">
                                  <a:solidFill>
                                    <a:srgbClr val="111111"/>
                                  </a:solidFill>
                                  <a:latin typeface="Cambria Math" panose="02040503050406030204" pitchFamily="18" charset="0"/>
                                </a:rPr>
                                <m:t xml:space="preserve">W</m:t>
                              </m:r>
                            </m:e>
                            <m:sup>
                              <m:r>
                                <m:rPr>
                                  <m:sty m:val="p"/>
                                </m:rPr>
                                <a:rPr lang="en-US" sz="1950">
                                  <a:solidFill>
                                    <a:srgbClr val="111111"/>
                                  </a:solidFill>
                                  <a:latin typeface="Cambria Math" panose="02040503050406030204" pitchFamily="18" charset="0"/>
                                </a:rPr>
                                <m:t xml:space="preserve">(</m:t>
                              </m:r>
                              <m:r>
                                <a:rPr lang="en-US" sz="1950" i="1">
                                  <a:solidFill>
                                    <a:srgbClr val="111111"/>
                                  </a:solidFill>
                                  <a:latin typeface="Cambria Math" panose="02040503050406030204" pitchFamily="18" charset="0"/>
                                </a:rPr>
                                <m:t xml:space="preserve">l</m:t>
                              </m:r>
                              <m:r>
                                <m:rPr>
                                  <m:sty m:val="p"/>
                                </m:rPr>
                                <a:rPr lang="en-US" sz="1950">
                                  <a:solidFill>
                                    <a:srgbClr val="111111"/>
                                  </a:solidFill>
                                  <a:latin typeface="Cambria Math" panose="02040503050406030204" pitchFamily="18" charset="0"/>
                                </a:rPr>
                                <m:t xml:space="preserve">)</m:t>
                              </m:r>
                            </m:sup>
                          </m:sSup>
                          <m:sSubSup>
                            <m:sSubSupPr>
                              <m:ctrlPr>
                                <a:rPr lang="en-US" sz="1950" i="1">
                                  <a:solidFill>
                                    <a:srgbClr val="111111"/>
                                  </a:solidFill>
                                  <a:latin typeface="Cambria Math" panose="02040503050406030204" pitchFamily="18" charset="0"/>
                                </a:rPr>
                              </m:ctrlPr>
                            </m:sSubSupPr>
                            <m:e>
                              <m:r>
                                <a:rPr lang="en-US" sz="1950" i="1">
                                  <a:solidFill>
                                    <a:srgbClr val="111111"/>
                                  </a:solidFill>
                                  <a:latin typeface="Cambria Math" panose="02040503050406030204" pitchFamily="18" charset="0"/>
                                </a:rPr>
                                <m:t xml:space="preserve">e</m:t>
                              </m:r>
                            </m:e>
                            <m:sub>
                              <m:r>
                                <a:rPr lang="en-US" sz="1950" i="1">
                                  <a:solidFill>
                                    <a:srgbClr val="111111"/>
                                  </a:solidFill>
                                  <a:latin typeface="Cambria Math" panose="02040503050406030204" pitchFamily="18" charset="0"/>
                                </a:rPr>
                                <m:t xml:space="preserve">j</m:t>
                              </m:r>
                            </m:sub>
                            <m:sup>
                              <m:r>
                                <m:rPr>
                                  <m:sty m:val="p"/>
                                </m:rPr>
                                <a:rPr lang="en-US" sz="1950">
                                  <a:solidFill>
                                    <a:srgbClr val="111111"/>
                                  </a:solidFill>
                                  <a:latin typeface="Cambria Math" panose="02040503050406030204" pitchFamily="18" charset="0"/>
                                </a:rPr>
                                <m:t xml:space="preserve">(</m:t>
                              </m:r>
                              <m:r>
                                <a:rPr lang="en-US" sz="1950" i="1">
                                  <a:solidFill>
                                    <a:srgbClr val="111111"/>
                                  </a:solidFill>
                                  <a:latin typeface="Cambria Math" panose="02040503050406030204" pitchFamily="18" charset="0"/>
                                </a:rPr>
                                <m:t xml:space="preserve">l</m:t>
                              </m:r>
                              <m:r>
                                <m:rPr>
                                  <m:sty m:val="p"/>
                                </m:rPr>
                                <a:rPr lang="en-US" sz="1950">
                                  <a:solidFill>
                                    <a:srgbClr val="111111"/>
                                  </a:solidFill>
                                  <a:latin typeface="Cambria Math" panose="02040503050406030204" pitchFamily="18" charset="0"/>
                                </a:rPr>
                                <m:t xml:space="preserve">)</m:t>
                              </m:r>
                            </m:sup>
                          </m:sSubSup>
                          <m:r>
                            <m:rPr>
                              <m:sty m:val="p"/>
                            </m:rPr>
                            <a:rPr lang="en-US" sz="1950">
                              <a:solidFill>
                                <a:srgbClr val="111111"/>
                              </a:solidFill>
                              <a:latin typeface="Cambria Math" panose="02040503050406030204" pitchFamily="18" charset="0"/>
                            </a:rPr>
                            <m:t xml:space="preserve">+</m:t>
                          </m:r>
                          <m:nary>
                            <m:naryPr>
                              <m:chr m:val="∑"/>
                              <m:limLoc m:val="subSup"/>
                              <m:supHide m:val="1"/>
                              <m:ctrlPr>
                                <a:rPr lang="en-US" sz="1950" i="1">
                                  <a:solidFill>
                                    <a:srgbClr val="111111"/>
                                  </a:solidFill>
                                  <a:latin typeface="Cambria Math" panose="02040503050406030204" pitchFamily="18" charset="0"/>
                                </a:rPr>
                              </m:ctrlPr>
                            </m:naryPr>
                            <m:sub>
                              <m:r>
                                <a:rPr lang="en-US" sz="1950" i="1">
                                  <a:solidFill>
                                    <a:srgbClr val="111111"/>
                                  </a:solidFill>
                                  <a:latin typeface="Cambria Math" panose="02040503050406030204" pitchFamily="18" charset="0"/>
                                </a:rPr>
                                <m:t xml:space="preserve">k</m:t>
                              </m:r>
                              <m:r>
                                <m:rPr>
                                  <m:sty m:val="p"/>
                                </m:rPr>
                                <a:rPr lang="en-US" sz="1950">
                                  <a:solidFill>
                                    <a:srgbClr val="111111"/>
                                  </a:solidFill>
                                  <a:latin typeface="Cambria Math" panose="02040503050406030204" pitchFamily="18" charset="0"/>
                                </a:rPr>
                                <m:t xml:space="preserve">∈</m:t>
                              </m:r>
                              <m:r>
                                <m:rPr>
                                  <m:scr m:val="script"/>
                                  <m:sty m:val="p"/>
                                </m:rPr>
                                <a:rPr lang="en-US" sz="1950">
                                  <a:solidFill>
                                    <a:srgbClr val="111111"/>
                                  </a:solidFill>
                                  <a:latin typeface="Cambria Math" panose="02040503050406030204" pitchFamily="18" charset="0"/>
                                </a:rPr>
                                <m:t xml:space="preserve">N</m:t>
                              </m:r>
                              <m:r>
                                <m:rPr>
                                  <m:sty m:val="p"/>
                                </m:rPr>
                                <a:rPr lang="en-US" sz="1950">
                                  <a:solidFill>
                                    <a:srgbClr val="111111"/>
                                  </a:solidFill>
                                  <a:latin typeface="Cambria Math" panose="02040503050406030204" pitchFamily="18" charset="0"/>
                                </a:rPr>
                                <m:t xml:space="preserve">(</m:t>
                              </m:r>
                              <m:r>
                                <a:rPr lang="en-US" sz="1950" i="1">
                                  <a:solidFill>
                                    <a:srgbClr val="111111"/>
                                  </a:solidFill>
                                  <a:latin typeface="Cambria Math" panose="02040503050406030204" pitchFamily="18" charset="0"/>
                                </a:rPr>
                                <m:t xml:space="preserve">j</m:t>
                              </m:r>
                              <m:r>
                                <m:rPr>
                                  <m:sty m:val="p"/>
                                </m:rPr>
                                <a:rPr lang="en-US" sz="1950">
                                  <a:solidFill>
                                    <a:srgbClr val="111111"/>
                                  </a:solidFill>
                                  <a:latin typeface="Cambria Math" panose="02040503050406030204" pitchFamily="18" charset="0"/>
                                </a:rPr>
                                <m:t xml:space="preserve">)</m:t>
                              </m:r>
                            </m:sub>
                            <m:sup/>
                            <m:e>
                              <m:sSub>
                                <m:sSubPr>
                                  <m:ctrlPr>
                                    <a:rPr lang="en-US" sz="1950" i="1">
                                      <a:solidFill>
                                        <a:srgbClr val="111111"/>
                                      </a:solidFill>
                                      <a:latin typeface="Cambria Math" panose="02040503050406030204" pitchFamily="18" charset="0"/>
                                    </a:rPr>
                                  </m:ctrlPr>
                                </m:sSubPr>
                                <m:e>
                                  <m:r>
                                    <a:rPr lang="en-US" sz="1950" i="1">
                                      <a:solidFill>
                                        <a:srgbClr val="111111"/>
                                      </a:solidFill>
                                      <a:latin typeface="Cambria Math" panose="02040503050406030204" pitchFamily="18" charset="0"/>
                                    </a:rPr>
                                    <m:t xml:space="preserve">w</m:t>
                                  </m:r>
                                </m:e>
                                <m:sub>
                                  <m:r>
                                    <a:rPr lang="en-US" sz="1950" i="1">
                                      <a:solidFill>
                                        <a:srgbClr val="111111"/>
                                      </a:solidFill>
                                      <a:latin typeface="Cambria Math" panose="02040503050406030204" pitchFamily="18" charset="0"/>
                                    </a:rPr>
                                    <m:t xml:space="preserve">jk</m:t>
                                  </m:r>
                                </m:sub>
                              </m:sSub>
                            </m:e>
                          </m:nary>
                          <m:r>
                            <m:rPr>
                              <m:sty m:val="p"/>
                            </m:rPr>
                            <a:rPr lang="en-US" sz="1950">
                              <a:solidFill>
                                <a:srgbClr val="111111"/>
                              </a:solidFill>
                              <a:latin typeface="Cambria Math" panose="02040503050406030204" pitchFamily="18" charset="0"/>
                            </a:rPr>
                            <m:t xml:space="preserve"> </m:t>
                          </m:r>
                          <m:sSubSup>
                            <m:sSubSupPr>
                              <m:ctrlPr>
                                <a:rPr lang="en-US" sz="1950" i="1">
                                  <a:solidFill>
                                    <a:srgbClr val="111111"/>
                                  </a:solidFill>
                                  <a:latin typeface="Cambria Math" panose="02040503050406030204" pitchFamily="18" charset="0"/>
                                </a:rPr>
                              </m:ctrlPr>
                            </m:sSubSupPr>
                            <m:e>
                              <m:r>
                                <a:rPr lang="en-US" sz="1950" i="1">
                                  <a:solidFill>
                                    <a:srgbClr val="111111"/>
                                  </a:solidFill>
                                  <a:latin typeface="Cambria Math" panose="02040503050406030204" pitchFamily="18" charset="0"/>
                                </a:rPr>
                                <m:t xml:space="preserve">e</m:t>
                              </m:r>
                            </m:e>
                            <m:sub>
                              <m:r>
                                <a:rPr lang="en-US" sz="1950" i="1">
                                  <a:solidFill>
                                    <a:srgbClr val="111111"/>
                                  </a:solidFill>
                                  <a:latin typeface="Cambria Math" panose="02040503050406030204" pitchFamily="18" charset="0"/>
                                </a:rPr>
                                <m:t xml:space="preserve">k</m:t>
                              </m:r>
                            </m:sub>
                            <m:sup>
                              <m:r>
                                <m:rPr>
                                  <m:sty m:val="p"/>
                                </m:rPr>
                                <a:rPr lang="en-US" sz="1950">
                                  <a:solidFill>
                                    <a:srgbClr val="111111"/>
                                  </a:solidFill>
                                  <a:latin typeface="Cambria Math" panose="02040503050406030204" pitchFamily="18" charset="0"/>
                                </a:rPr>
                                <m:t xml:space="preserve">(</m:t>
                              </m:r>
                              <m:r>
                                <a:rPr lang="en-US" sz="1950" i="1">
                                  <a:solidFill>
                                    <a:srgbClr val="111111"/>
                                  </a:solidFill>
                                  <a:latin typeface="Cambria Math" panose="02040503050406030204" pitchFamily="18" charset="0"/>
                                </a:rPr>
                                <m:t xml:space="preserve">l</m:t>
                              </m:r>
                              <m:r>
                                <m:rPr>
                                  <m:sty m:val="p"/>
                                </m:rPr>
                                <a:rPr lang="en-US" sz="1950">
                                  <a:solidFill>
                                    <a:srgbClr val="111111"/>
                                  </a:solidFill>
                                  <a:latin typeface="Cambria Math" panose="02040503050406030204" pitchFamily="18" charset="0"/>
                                </a:rPr>
                                <m:t xml:space="preserve">)</m:t>
                              </m:r>
                            </m:sup>
                          </m:sSubSup>
                        </m:e>
                      </m:d>
                    </m:oMath>
                  </m:oMathPara>
                </a14:m>
                <a:endParaRPr lang="en-US" sz="1950"/>
              </a:p>
            </p:txBody>
          </p:sp>
        </mc:Choice>
        <mc:Fallback>
          <p:sp>
            <p:nvSpPr>
              <p:cNvPr id="20" name="Equation"/>
              <p:cNvSpPr txBox="1"/>
              <p:nvPr/>
            </p:nvSpPr>
            <p:spPr>
              <a:xfrm>
                <a:off x="4686300" y="6381496"/>
                <a:ext cx="12298680" cy="686054"/>
              </a:xfrm>
              <a:prstGeom prst="rect">
                <a:avLst/>
              </a:prstGeom>
              <a:blipFill>
                <a:blip r:embed="rId6"/>
                <a:stretch>
                  <a:fillRect/>
                </a:stretch>
              </a:blipFill>
            </p:spPr>
            <p:txBody>
              <a:bodyPr/>
              <a:lstStyle/>
              <a:p>
                <a:endParaRPr lang="en-US"/>
              </a:p>
            </p:txBody>
          </p:sp>
        </mc:Fallback>
      </mc:AlternateContent>
      <p:sp>
        <p:nvSpPr>
          <p:cNvPr id="21" name="Rounded Rectangle 20"/>
          <p:cNvSpPr/>
          <p:nvPr/>
        </p:nvSpPr>
        <p:spPr>
          <a:xfrm>
            <a:off x="1028700" y="7158990"/>
            <a:ext cx="16230600" cy="686054"/>
          </a:xfrm>
          <a:prstGeom prst="roundRect">
            <a:avLst>
              <a:gd name="adj" fmla="val 21325"/>
            </a:avLst>
          </a:prstGeom>
          <a:solidFill>
            <a:srgbClr val="F6ECDF"/>
          </a:solidFill>
          <a:ln>
            <a:noFill/>
          </a:ln>
        </p:spPr>
        <p:txBody>
          <a:bodyPr anchor="ctr" rtlCol="false" lIns="0" tIns="0" rIns="0" bIns="0" wrap="square"/>
          <a:lstStyle/>
          <a:p>
            <a:endParaRPr lang="en-US" sz="1800"/>
          </a:p>
        </p:txBody>
      </p:sp>
      <p:sp>
        <p:nvSpPr>
          <p:cNvPr id="22" name="TextBox 21"/>
          <p:cNvSpPr txBox="1"/>
          <p:nvPr/>
        </p:nvSpPr>
        <p:spPr>
          <a:xfrm>
            <a:off x="1348740" y="7158990"/>
            <a:ext cx="3291840" cy="686054"/>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23" name="Equation"/>
              <p:cNvSpPr txBox="1"/>
              <p:nvPr/>
            </p:nvSpPr>
            <p:spPr>
              <a:xfrm>
                <a:off x="4686300" y="7158990"/>
                <a:ext cx="9372600" cy="686054"/>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jk</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acc>
                            <m:accPr>
                              <m:chr m:val="̂"/>
                              <m:ctrlPr>
                                <a:rPr lang="en-US" sz="2200" i="1">
                                  <a:solidFill>
                                    <a:srgbClr val="111111"/>
                                  </a:solidFill>
                                  <a:latin typeface="Cambria Math" panose="02040503050406030204" pitchFamily="18" charset="0"/>
                                </a:rPr>
                              </m:ctrlPr>
                            </m:accPr>
                            <m:e>
                              <m:r>
                                <a:rPr lang="en-US" sz="2200" i="1">
                                  <a:solidFill>
                                    <a:srgbClr val="111111"/>
                                  </a:solidFill>
                                  <a:latin typeface="Cambria Math" panose="02040503050406030204" pitchFamily="18" charset="0"/>
                                </a:rPr>
                                <m:t xml:space="preserve">φ</m:t>
                              </m:r>
                            </m:e>
                          </m:acc>
                        </m:e>
                        <m:sub>
                          <m:r>
                            <a:rPr lang="en-US" sz="2200" i="1">
                              <a:solidFill>
                                <a:srgbClr val="111111"/>
                              </a:solidFill>
                              <a:latin typeface="Cambria Math" panose="02040503050406030204" pitchFamily="18" charset="0"/>
                            </a:rPr>
                            <m:t xml:space="preserve">jk</m:t>
                          </m:r>
                        </m:sub>
                      </m:sSub>
                      <m:r>
                        <m:rPr>
                          <m:sty m:val="p"/>
                        </m:rPr>
                        <a:rPr lang="en-US" sz="2200">
                          <a:solidFill>
                            <a:srgbClr val="111111"/>
                          </a:solidFill>
                          <a:latin typeface="Cambria Math" panose="02040503050406030204" pitchFamily="18" charset="0"/>
                        </a:rPr>
                        <m:t xml:space="preserve"> / </m:t>
                      </m:r>
                      <m:nary>
                        <m:naryPr>
                          <m:chr m:val="∑"/>
                          <m:limLoc m:val="subSup"/>
                          <m:supHide m:val="1"/>
                          <m:ctrlPr>
                            <a:rPr lang="en-US" sz="2200" i="1">
                              <a:solidFill>
                                <a:srgbClr val="111111"/>
                              </a:solidFill>
                              <a:latin typeface="Cambria Math" panose="02040503050406030204" pitchFamily="18" charset="0"/>
                            </a:rPr>
                          </m:ctrlPr>
                        </m:naryPr>
                        <m:sub>
                          <m:r>
                            <a:rPr lang="en-US" sz="2200" i="1">
                              <a:solidFill>
                                <a:srgbClr val="111111"/>
                              </a:solidFill>
                              <a:latin typeface="Cambria Math" panose="02040503050406030204" pitchFamily="18" charset="0"/>
                            </a:rPr>
                            <m:t xml:space="preserve">k′</m:t>
                          </m:r>
                          <m:r>
                            <m:rPr>
                              <m:sty m:val="p"/>
                            </m:rPr>
                            <a:rPr lang="en-US" sz="2200">
                              <a:solidFill>
                                <a:srgbClr val="111111"/>
                              </a:solidFill>
                              <a:latin typeface="Cambria Math" panose="02040503050406030204" pitchFamily="18" charset="0"/>
                            </a:rPr>
                            <m:t xml:space="preserve">∈</m:t>
                          </m:r>
                          <m:r>
                            <m:rPr>
                              <m:scr m:val="script"/>
                              <m:sty m:val="p"/>
                            </m:rPr>
                            <a:rPr lang="en-US" sz="2200">
                              <a:solidFill>
                                <a:srgbClr val="111111"/>
                              </a:solidFill>
                              <a:latin typeface="Cambria Math" panose="02040503050406030204" pitchFamily="18" charset="0"/>
                            </a:rPr>
                            <m:t xml:space="preserve">N</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j</m:t>
                          </m:r>
                          <m:r>
                            <m:rPr>
                              <m:sty m:val="p"/>
                            </m:rPr>
                            <a:rPr lang="en-US" sz="2200">
                              <a:solidFill>
                                <a:srgbClr val="111111"/>
                              </a:solidFill>
                              <a:latin typeface="Cambria Math" panose="02040503050406030204" pitchFamily="18" charset="0"/>
                            </a:rPr>
                            <m:t xml:space="preserve">)</m:t>
                          </m:r>
                        </m:sub>
                        <m:sup/>
                        <m:e>
                          <m:sSub>
                            <m:sSubPr>
                              <m:ctrlPr>
                                <a:rPr lang="en-US" sz="2200" i="1">
                                  <a:solidFill>
                                    <a:srgbClr val="111111"/>
                                  </a:solidFill>
                                  <a:latin typeface="Cambria Math" panose="02040503050406030204" pitchFamily="18" charset="0"/>
                                </a:rPr>
                              </m:ctrlPr>
                            </m:sSubPr>
                            <m:e>
                              <m:acc>
                                <m:accPr>
                                  <m:chr m:val="̂"/>
                                  <m:ctrlPr>
                                    <a:rPr lang="en-US" sz="2200" i="1">
                                      <a:solidFill>
                                        <a:srgbClr val="111111"/>
                                      </a:solidFill>
                                      <a:latin typeface="Cambria Math" panose="02040503050406030204" pitchFamily="18" charset="0"/>
                                    </a:rPr>
                                  </m:ctrlPr>
                                </m:accPr>
                                <m:e>
                                  <m:r>
                                    <a:rPr lang="en-US" sz="2200" i="1">
                                      <a:solidFill>
                                        <a:srgbClr val="111111"/>
                                      </a:solidFill>
                                      <a:latin typeface="Cambria Math" panose="02040503050406030204" pitchFamily="18" charset="0"/>
                                    </a:rPr>
                                    <m:t xml:space="preserve">φ</m:t>
                                  </m:r>
                                </m:e>
                              </m:acc>
                            </m:e>
                            <m:sub>
                              <m:r>
                                <a:rPr lang="en-US" sz="2200" i="1">
                                  <a:solidFill>
                                    <a:srgbClr val="111111"/>
                                  </a:solidFill>
                                  <a:latin typeface="Cambria Math" panose="02040503050406030204" pitchFamily="18" charset="0"/>
                                </a:rPr>
                                <m:t xml:space="preserve">jk′</m:t>
                              </m:r>
                            </m:sub>
                          </m:sSub>
                        </m:e>
                      </m:nary>
                    </m:oMath>
                  </m:oMathPara>
                </a14:m>
                <a:endParaRPr lang="en-US" sz="2200"/>
              </a:p>
            </p:txBody>
          </p:sp>
        </mc:Choice>
        <mc:Fallback>
          <p:sp>
            <p:nvSpPr>
              <p:cNvPr id="23" name="Equation"/>
              <p:cNvSpPr txBox="1"/>
              <p:nvPr/>
            </p:nvSpPr>
            <p:spPr>
              <a:xfrm>
                <a:off x="4686300" y="7158990"/>
                <a:ext cx="9372600" cy="686054"/>
              </a:xfrm>
              <a:prstGeom prst="rect">
                <a:avLst/>
              </a:prstGeom>
              <a:blipFill>
                <a:blip r:embed="rId7"/>
                <a:stretch>
                  <a:fillRect/>
                </a:stretch>
              </a:blipFill>
            </p:spPr>
            <p:txBody>
              <a:bodyPr/>
              <a:lstStyle/>
              <a:p>
                <a:endParaRPr lang="en-US"/>
              </a:p>
            </p:txBody>
          </p:sp>
        </mc:Fallback>
      </mc:AlternateContent>
      <p:sp>
        <p:nvSpPr>
          <p:cNvPr id="24" name="TextBox 23"/>
          <p:cNvSpPr txBox="1"/>
          <p:nvPr/>
        </p:nvSpPr>
        <p:spPr>
          <a:xfrm>
            <a:off x="14241780" y="7158990"/>
            <a:ext cx="2743200" cy="686054"/>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25" name="Rounded Rectangle 24"/>
          <p:cNvSpPr/>
          <p:nvPr/>
        </p:nvSpPr>
        <p:spPr>
          <a:xfrm>
            <a:off x="1028700" y="7936484"/>
            <a:ext cx="16230600" cy="686054"/>
          </a:xfrm>
          <a:prstGeom prst="roundRect">
            <a:avLst>
              <a:gd name="adj" fmla="val 21325"/>
            </a:avLst>
          </a:prstGeom>
          <a:solidFill>
            <a:srgbClr val="FBF4EB"/>
          </a:solidFill>
          <a:ln>
            <a:noFill/>
          </a:ln>
        </p:spPr>
        <p:txBody>
          <a:bodyPr anchor="ctr" rtlCol="false" lIns="0" tIns="0" rIns="0" bIns="0" wrap="square"/>
          <a:lstStyle/>
          <a:p>
            <a:endParaRPr lang="en-US" sz="1800"/>
          </a:p>
        </p:txBody>
      </p:sp>
      <p:sp>
        <p:nvSpPr>
          <p:cNvPr id="26" name="TextBox 25"/>
          <p:cNvSpPr txBox="1"/>
          <p:nvPr/>
        </p:nvSpPr>
        <p:spPr>
          <a:xfrm>
            <a:off x="1348740" y="7936484"/>
            <a:ext cx="3291840" cy="686054"/>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27" name="Equation"/>
              <p:cNvSpPr txBox="1"/>
              <p:nvPr/>
            </p:nvSpPr>
            <p:spPr>
              <a:xfrm>
                <a:off x="4686300" y="7936484"/>
                <a:ext cx="12298680" cy="686054"/>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27" name="Equation"/>
              <p:cNvSpPr txBox="1"/>
              <p:nvPr/>
            </p:nvSpPr>
            <p:spPr>
              <a:xfrm>
                <a:off x="4686300" y="7936484"/>
                <a:ext cx="12298680" cy="686054"/>
              </a:xfrm>
              <a:prstGeom prst="rect">
                <a:avLst/>
              </a:prstGeom>
              <a:blipFill>
                <a:blip r:embed="rId8"/>
                <a:stretch>
                  <a:fillRect/>
                </a:stretch>
              </a:blipFill>
            </p:spPr>
            <p:txBody>
              <a:bodyPr/>
              <a:lstStyle/>
              <a:p>
                <a:endParaRPr lang="en-US"/>
              </a:p>
            </p:txBody>
          </p:sp>
        </mc:Fallback>
      </mc:AlternateContent>
      <p:sp>
        <p:nvSpPr>
          <p:cNvPr id="28" name="Rounded Rectangle 27"/>
          <p:cNvSpPr/>
          <p:nvPr/>
        </p:nvSpPr>
        <p:spPr>
          <a:xfrm>
            <a:off x="1028700" y="8713978"/>
            <a:ext cx="16230600" cy="686054"/>
          </a:xfrm>
          <a:prstGeom prst="roundRect">
            <a:avLst>
              <a:gd name="adj" fmla="val 21325"/>
            </a:avLst>
          </a:prstGeom>
          <a:solidFill>
            <a:srgbClr val="F6ECDF"/>
          </a:solidFill>
          <a:ln>
            <a:noFill/>
          </a:ln>
        </p:spPr>
        <p:txBody>
          <a:bodyPr anchor="ctr" rtlCol="false" lIns="0" tIns="0" rIns="0" bIns="0" wrap="square"/>
          <a:lstStyle/>
          <a:p>
            <a:endParaRPr lang="en-US" sz="1800"/>
          </a:p>
        </p:txBody>
      </p:sp>
      <p:sp>
        <p:nvSpPr>
          <p:cNvPr id="29" name="TextBox 28"/>
          <p:cNvSpPr txBox="1"/>
          <p:nvPr/>
        </p:nvSpPr>
        <p:spPr>
          <a:xfrm>
            <a:off x="1348740" y="8713978"/>
            <a:ext cx="3291840" cy="686054"/>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30" name="Equation"/>
              <p:cNvSpPr txBox="1"/>
              <p:nvPr/>
            </p:nvSpPr>
            <p:spPr>
              <a:xfrm>
                <a:off x="4686300" y="8713978"/>
                <a:ext cx="12298680" cy="686054"/>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30" name="Equation"/>
              <p:cNvSpPr txBox="1"/>
              <p:nvPr/>
            </p:nvSpPr>
            <p:spPr>
              <a:xfrm>
                <a:off x="4686300" y="8713978"/>
                <a:ext cx="12298680" cy="686054"/>
              </a:xfrm>
              <a:prstGeom prst="rect">
                <a:avLst/>
              </a:prstGeom>
              <a:blipFill>
                <a:blip r:embed="rId9"/>
                <a:stretch>
                  <a:fillRect/>
                </a:stretch>
              </a:blipFill>
            </p:spPr>
            <p:txBody>
              <a:bodyPr/>
              <a:lstStyle/>
              <a:p>
                <a:endParaRPr lang="en-US"/>
              </a:p>
            </p:txBody>
          </p:sp>
        </mc:Fallback>
      </mc:AlternateContent>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Multi-Objective Learning</a:t>
            </a:r>
          </a:p>
        </p:txBody>
      </p:sp>
      <p:pic>
        <p:nvPicPr>
          <p:cNvPr id="8" name="Picture 7" descr="image.png"/>
          <p:cNvPicPr>
            <a:picLocks noChangeAspect="1"/>
          </p:cNvPicPr>
          <p:nvPr/>
        </p:nvPicPr>
        <p:blipFill>
          <a:blip r:embed="rId2"/>
          <a:stretch>
            <a:fillRect/>
          </a:stretch>
        </p:blipFill>
        <p:spPr>
          <a:xfrm>
            <a:off x="7693686" y="1673352"/>
            <a:ext cx="457200" cy="61711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363722"/>
            <a:ext cx="16230600" cy="1188720"/>
          </a:xfrm>
          <a:prstGeom prst="roundRect">
            <a:avLst>
              <a:gd name="adj" fmla="val 23076"/>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14" name="Equation"/>
              <p:cNvSpPr txBox="1"/>
              <p:nvPr/>
            </p:nvSpPr>
            <p:spPr>
              <a:xfrm>
                <a:off x="1394460" y="3363722"/>
                <a:ext cx="15499080" cy="118872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cr m:val="script"/>
                          <m:sty m:val="p"/>
                        </m:rPr>
                        <a:rPr lang="en-US" sz="3000">
                          <a:solidFill>
                            <a:srgbClr val="FFFFFF"/>
                          </a:solidFill>
                          <a:latin typeface="Cambria Math" panose="02040503050406030204" pitchFamily="18" charset="0"/>
                        </a:rPr>
                        <m:t xml:space="preserve">L</m:t>
                      </m:r>
                      <m:r>
                        <m:rPr>
                          <m:sty m:val="p"/>
                        </m:rPr>
                        <a:rPr lang="en-US" sz="3000">
                          <a:solidFill>
                            <a:srgbClr val="FFFFFF"/>
                          </a:solidFill>
                          <a:latin typeface="Cambria Math" panose="02040503050406030204" pitchFamily="18" charset="0"/>
                        </a:rPr>
                        <m:t xml:space="preserve">=</m:t>
                      </m:r>
                      <m:sSub>
                        <m:sSubPr>
                          <m:ctrlPr>
                            <a:rPr lang="en-US" sz="3000" i="1">
                              <a:solidFill>
                                <a:srgbClr val="FFFFFF"/>
                              </a:solidFill>
                              <a:latin typeface="Cambria Math" panose="02040503050406030204" pitchFamily="18" charset="0"/>
                            </a:rPr>
                          </m:ctrlPr>
                        </m:sSubPr>
                        <m:e>
                          <m:r>
                            <m:rPr>
                              <m:scr m:val="script"/>
                              <m:sty m:val="p"/>
                            </m:rPr>
                            <a:rPr lang="en-US" sz="3000">
                              <a:solidFill>
                                <a:srgbClr val="FFFFFF"/>
                              </a:solidFill>
                              <a:latin typeface="Cambria Math" panose="02040503050406030204" pitchFamily="18" charset="0"/>
                            </a:rPr>
                            <m:t xml:space="preserve">L</m:t>
                          </m:r>
                        </m:e>
                        <m:sub>
                          <m:r>
                            <m:rPr>
                              <m:sty m:val="p"/>
                            </m:rPr>
                            <a:rPr lang="en-US" sz="3000">
                              <a:solidFill>
                                <a:srgbClr val="FFFFFF"/>
                              </a:solidFill>
                              <a:latin typeface="Cambria Math" panose="02040503050406030204" pitchFamily="18" charset="0"/>
                            </a:rPr>
                            <m:t xml:space="preserve">rec</m:t>
                          </m:r>
                        </m:sub>
                      </m:sSub>
                      <m:r>
                        <m:rPr>
                          <m:sty m:val="p"/>
                        </m:rPr>
                        <a:rPr lang="en-US" sz="3000">
                          <a:solidFill>
                            <a:srgbClr val="FFFFFF"/>
                          </a:solidFill>
                          <a:latin typeface="Cambria Math" panose="02040503050406030204" pitchFamily="18" charset="0"/>
                        </a:rPr>
                        <m:t xml:space="preserve">+</m:t>
                      </m:r>
                      <m:sSub>
                        <m:sSubPr>
                          <m:ctrlPr>
                            <a:rPr lang="en-US" sz="3000" i="1">
                              <a:solidFill>
                                <a:srgbClr val="FFFFFF"/>
                              </a:solidFill>
                              <a:latin typeface="Cambria Math" panose="02040503050406030204" pitchFamily="18" charset="0"/>
                            </a:rPr>
                          </m:ctrlPr>
                        </m:sSubPr>
                        <m:e>
                          <m:r>
                            <a:rPr lang="en-US" sz="3000" i="1">
                              <a:solidFill>
                                <a:srgbClr val="FFFFFF"/>
                              </a:solidFill>
                              <a:latin typeface="Cambria Math" panose="02040503050406030204" pitchFamily="18" charset="0"/>
                            </a:rPr>
                            <m:t xml:space="preserve">λ</m:t>
                          </m:r>
                        </m:e>
                        <m:sub>
                          <m:r>
                            <m:rPr>
                              <m:sty m:val="p"/>
                            </m:rPr>
                            <a:rPr lang="en-US" sz="3000">
                              <a:solidFill>
                                <a:srgbClr val="FFFFFF"/>
                              </a:solidFill>
                              <a:latin typeface="Cambria Math" panose="02040503050406030204" pitchFamily="18" charset="0"/>
                            </a:rPr>
                            <m:t xml:space="preserve">div</m:t>
                          </m:r>
                        </m:sub>
                      </m:sSub>
                      <m:r>
                        <m:rPr>
                          <m:sty m:val="p"/>
                        </m:rPr>
                        <a:rPr lang="en-US" sz="3000">
                          <a:solidFill>
                            <a:srgbClr val="FFFFFF"/>
                          </a:solidFill>
                          <a:latin typeface="Cambria Math" panose="02040503050406030204" pitchFamily="18" charset="0"/>
                        </a:rPr>
                        <m:t xml:space="preserve"> </m:t>
                      </m:r>
                      <m:sSub>
                        <m:sSubPr>
                          <m:ctrlPr>
                            <a:rPr lang="en-US" sz="3000" i="1">
                              <a:solidFill>
                                <a:srgbClr val="FFFFFF"/>
                              </a:solidFill>
                              <a:latin typeface="Cambria Math" panose="02040503050406030204" pitchFamily="18" charset="0"/>
                            </a:rPr>
                          </m:ctrlPr>
                        </m:sSubPr>
                        <m:e>
                          <m:r>
                            <m:rPr>
                              <m:scr m:val="script"/>
                              <m:sty m:val="p"/>
                            </m:rPr>
                            <a:rPr lang="en-US" sz="3000">
                              <a:solidFill>
                                <a:srgbClr val="FFFFFF"/>
                              </a:solidFill>
                              <a:latin typeface="Cambria Math" panose="02040503050406030204" pitchFamily="18" charset="0"/>
                            </a:rPr>
                            <m:t xml:space="preserve">L</m:t>
                          </m:r>
                        </m:e>
                        <m:sub>
                          <m:r>
                            <m:rPr>
                              <m:sty m:val="p"/>
                            </m:rPr>
                            <a:rPr lang="en-US" sz="3000">
                              <a:solidFill>
                                <a:srgbClr val="FFFFFF"/>
                              </a:solidFill>
                              <a:latin typeface="Cambria Math" panose="02040503050406030204" pitchFamily="18" charset="0"/>
                            </a:rPr>
                            <m:t xml:space="preserve">div</m:t>
                          </m:r>
                        </m:sub>
                      </m:sSub>
                      <m:r>
                        <m:rPr>
                          <m:sty m:val="p"/>
                        </m:rPr>
                        <a:rPr lang="en-US" sz="3000">
                          <a:solidFill>
                            <a:srgbClr val="FFFFFF"/>
                          </a:solidFill>
                          <a:latin typeface="Cambria Math" panose="02040503050406030204" pitchFamily="18" charset="0"/>
                        </a:rPr>
                        <m:t xml:space="preserve">+</m:t>
                      </m:r>
                      <m:sSub>
                        <m:sSubPr>
                          <m:ctrlPr>
                            <a:rPr lang="en-US" sz="3000" i="1">
                              <a:solidFill>
                                <a:srgbClr val="FFFFFF"/>
                              </a:solidFill>
                              <a:latin typeface="Cambria Math" panose="02040503050406030204" pitchFamily="18" charset="0"/>
                            </a:rPr>
                          </m:ctrlPr>
                        </m:sSubPr>
                        <m:e>
                          <m:r>
                            <a:rPr lang="en-US" sz="3000" i="1">
                              <a:solidFill>
                                <a:srgbClr val="FFFFFF"/>
                              </a:solidFill>
                              <a:latin typeface="Cambria Math" panose="02040503050406030204" pitchFamily="18" charset="0"/>
                            </a:rPr>
                            <m:t xml:space="preserve">λ</m:t>
                          </m:r>
                        </m:e>
                        <m:sub>
                          <m:r>
                            <m:rPr>
                              <m:sty m:val="p"/>
                            </m:rPr>
                            <a:rPr lang="en-US" sz="3000">
                              <a:solidFill>
                                <a:srgbClr val="FFFFFF"/>
                              </a:solidFill>
                              <a:latin typeface="Cambria Math" panose="02040503050406030204" pitchFamily="18" charset="0"/>
                            </a:rPr>
                            <m:t xml:space="preserve">ctx</m:t>
                          </m:r>
                        </m:sub>
                      </m:sSub>
                      <m:r>
                        <m:rPr>
                          <m:sty m:val="p"/>
                        </m:rPr>
                        <a:rPr lang="en-US" sz="3000">
                          <a:solidFill>
                            <a:srgbClr val="FFFFFF"/>
                          </a:solidFill>
                          <a:latin typeface="Cambria Math" panose="02040503050406030204" pitchFamily="18" charset="0"/>
                        </a:rPr>
                        <m:t xml:space="preserve"> </m:t>
                      </m:r>
                      <m:sSub>
                        <m:sSubPr>
                          <m:ctrlPr>
                            <a:rPr lang="en-US" sz="3000" i="1">
                              <a:solidFill>
                                <a:srgbClr val="FFFFFF"/>
                              </a:solidFill>
                              <a:latin typeface="Cambria Math" panose="02040503050406030204" pitchFamily="18" charset="0"/>
                            </a:rPr>
                          </m:ctrlPr>
                        </m:sSubPr>
                        <m:e>
                          <m:r>
                            <m:rPr>
                              <m:scr m:val="script"/>
                              <m:sty m:val="p"/>
                            </m:rPr>
                            <a:rPr lang="en-US" sz="3000">
                              <a:solidFill>
                                <a:srgbClr val="FFFFFF"/>
                              </a:solidFill>
                              <a:latin typeface="Cambria Math" panose="02040503050406030204" pitchFamily="18" charset="0"/>
                            </a:rPr>
                            <m:t xml:space="preserve">L</m:t>
                          </m:r>
                        </m:e>
                        <m:sub>
                          <m:r>
                            <m:rPr>
                              <m:sty m:val="p"/>
                            </m:rPr>
                            <a:rPr lang="en-US" sz="3000">
                              <a:solidFill>
                                <a:srgbClr val="FFFFFF"/>
                              </a:solidFill>
                              <a:latin typeface="Cambria Math" panose="02040503050406030204" pitchFamily="18" charset="0"/>
                            </a:rPr>
                            <m:t xml:space="preserve">ctx</m:t>
                          </m:r>
                        </m:sub>
                      </m:sSub>
                      <m:r>
                        <m:rPr>
                          <m:sty m:val="p"/>
                        </m:rPr>
                        <a:rPr lang="en-US" sz="3000">
                          <a:solidFill>
                            <a:srgbClr val="FFFFFF"/>
                          </a:solidFill>
                          <a:latin typeface="Cambria Math" panose="02040503050406030204" pitchFamily="18" charset="0"/>
                        </a:rPr>
                        <m:t xml:space="preserve">+</m:t>
                      </m:r>
                      <m:sSub>
                        <m:sSubPr>
                          <m:ctrlPr>
                            <a:rPr lang="en-US" sz="3000" i="1">
                              <a:solidFill>
                                <a:srgbClr val="FFFFFF"/>
                              </a:solidFill>
                              <a:latin typeface="Cambria Math" panose="02040503050406030204" pitchFamily="18" charset="0"/>
                            </a:rPr>
                          </m:ctrlPr>
                        </m:sSubPr>
                        <m:e>
                          <m:r>
                            <a:rPr lang="en-US" sz="3000" i="1">
                              <a:solidFill>
                                <a:srgbClr val="FFFFFF"/>
                              </a:solidFill>
                              <a:latin typeface="Cambria Math" panose="02040503050406030204" pitchFamily="18" charset="0"/>
                            </a:rPr>
                            <m:t xml:space="preserve">λ</m:t>
                          </m:r>
                        </m:e>
                        <m:sub>
                          <m:r>
                            <m:rPr>
                              <m:sty m:val="p"/>
                            </m:rPr>
                            <a:rPr lang="en-US" sz="3000">
                              <a:solidFill>
                                <a:srgbClr val="FFFFFF"/>
                              </a:solidFill>
                              <a:latin typeface="Cambria Math" panose="02040503050406030204" pitchFamily="18" charset="0"/>
                            </a:rPr>
                            <m:t xml:space="preserve">reg</m:t>
                          </m:r>
                        </m:sub>
                      </m:sSub>
                      <m:r>
                        <m:rPr>
                          <m:sty m:val="p"/>
                        </m:rPr>
                        <a:rPr lang="en-US" sz="3000">
                          <a:solidFill>
                            <a:srgbClr val="FFFFFF"/>
                          </a:solidFill>
                          <a:latin typeface="Cambria Math" panose="02040503050406030204" pitchFamily="18" charset="0"/>
                        </a:rPr>
                        <m:t xml:space="preserve"> </m:t>
                      </m:r>
                      <m:sSub>
                        <m:sSubPr>
                          <m:ctrlPr>
                            <a:rPr lang="en-US" sz="3000" i="1">
                              <a:solidFill>
                                <a:srgbClr val="FFFFFF"/>
                              </a:solidFill>
                              <a:latin typeface="Cambria Math" panose="02040503050406030204" pitchFamily="18" charset="0"/>
                            </a:rPr>
                          </m:ctrlPr>
                        </m:sSubPr>
                        <m:e>
                          <m:r>
                            <m:rPr>
                              <m:scr m:val="script"/>
                              <m:sty m:val="p"/>
                            </m:rPr>
                            <a:rPr lang="en-US" sz="3000">
                              <a:solidFill>
                                <a:srgbClr val="FFFFFF"/>
                              </a:solidFill>
                              <a:latin typeface="Cambria Math" panose="02040503050406030204" pitchFamily="18" charset="0"/>
                            </a:rPr>
                            <m:t xml:space="preserve">L</m:t>
                          </m:r>
                        </m:e>
                        <m:sub>
                          <m:r>
                            <m:rPr>
                              <m:sty m:val="p"/>
                            </m:rPr>
                            <a:rPr lang="en-US" sz="3000">
                              <a:solidFill>
                                <a:srgbClr val="FFFFFF"/>
                              </a:solidFill>
                              <a:latin typeface="Cambria Math" panose="02040503050406030204" pitchFamily="18" charset="0"/>
                            </a:rPr>
                            <m:t xml:space="preserve">reg</m:t>
                          </m:r>
                        </m:sub>
                      </m:sSub>
                    </m:oMath>
                  </m:oMathPara>
                </a14:m>
                <a:endParaRPr lang="en-US" sz="3000"/>
              </a:p>
            </p:txBody>
          </p:sp>
        </mc:Choice>
        <mc:Fallback>
          <p:sp>
            <p:nvSpPr>
              <p:cNvPr id="14" name="Equation"/>
              <p:cNvSpPr txBox="1"/>
              <p:nvPr/>
            </p:nvSpPr>
            <p:spPr>
              <a:xfrm>
                <a:off x="1394460" y="3363722"/>
                <a:ext cx="15499080" cy="1188720"/>
              </a:xfrm>
              <a:prstGeom prst="rect">
                <a:avLst/>
              </a:prstGeom>
              <a:blipFill>
                <a:blip r:embed="rId4"/>
                <a:stretch>
                  <a:fillRect/>
                </a:stretch>
              </a:blipFill>
            </p:spPr>
            <p:txBody>
              <a:bodyPr/>
              <a:lstStyle/>
              <a:p>
                <a:endParaRPr lang="en-US"/>
              </a:p>
            </p:txBody>
          </p:sp>
        </mc:Fallback>
      </mc:AlternateContent>
      <p:sp>
        <p:nvSpPr>
          <p:cNvPr id="15" name="Rounded Rectangle 14"/>
          <p:cNvSpPr/>
          <p:nvPr/>
        </p:nvSpPr>
        <p:spPr>
          <a:xfrm>
            <a:off x="1028700" y="4918202"/>
            <a:ext cx="3851910" cy="3200400"/>
          </a:xfrm>
          <a:prstGeom prst="roundRect">
            <a:avLst>
              <a:gd name="adj" fmla="val 8571"/>
            </a:avLst>
          </a:prstGeom>
          <a:solidFill>
            <a:srgbClr val="124944"/>
          </a:solidFill>
          <a:ln>
            <a:noFill/>
          </a:ln>
        </p:spPr>
        <p:txBody>
          <a:bodyPr anchor="t" rtlCol="false" lIns="365760" tIns="1234440" rIns="320040" bIns="274320" wrap="square"/>
          <a:lstStyle/>
          <a:p>
            <a:pPr algn="l">
              <a:lnSpc>
                <a:spcPts val="2500"/>
              </a:lnSpc>
              <a:spcBef>
                <a:spcPts val="0"/>
              </a:spcBef>
              <a:buNone/>
            </a:pPr>
            <a:r>
              <a:rPr lang="en-US" sz="2000" b="true">
                <a:solidFill>
                  <a:srgbClr val="FFFFFF"/>
                </a:solidFill>
                <a:latin typeface="Nunito Ultra-Bold"/>
                <a:ea typeface="Nunito Ultra-Bold"/>
                <a:cs typeface="Nunito Ultra-Bold"/>
                <a:sym typeface="Nunito Ultra-Bold"/>
              </a:rPr>
              <a:t>Bayesian Personalised Ranking</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pairwise loss for implicit feedback</a:t>
            </a:r>
          </a:p>
        </p:txBody>
      </p:sp>
      <mc:AlternateContent xmlns:mc="http://schemas.openxmlformats.org/markup-compatibility/2006">
        <mc:Choice xmlns:a14="http://schemas.microsoft.com/office/drawing/2010/main" Requires="a14">
          <p:sp>
            <p:nvSpPr>
              <p:cNvPr id="16" name="Equation"/>
              <p:cNvSpPr txBox="1"/>
              <p:nvPr/>
            </p:nvSpPr>
            <p:spPr>
              <a:xfrm>
                <a:off x="1394460" y="5192522"/>
                <a:ext cx="1828800" cy="777240"/>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3200" i="1">
                              <a:solidFill>
                                <a:srgbClr val="ECC665"/>
                              </a:solidFill>
                              <a:latin typeface="Cambria Math" panose="02040503050406030204" pitchFamily="18" charset="0"/>
                            </a:rPr>
                          </m:ctrlPr>
                        </m:sSubPr>
                        <m:e>
                          <m:r>
                            <m:rPr>
                              <m:scr m:val="script"/>
                              <m:sty m:val="p"/>
                            </m:rPr>
                            <a:rPr lang="en-US" sz="3200">
                              <a:solidFill>
                                <a:srgbClr val="ECC665"/>
                              </a:solidFill>
                              <a:latin typeface="Cambria Math" panose="02040503050406030204" pitchFamily="18" charset="0"/>
                            </a:rPr>
                            <m:t xml:space="preserve">L</m:t>
                          </m:r>
                        </m:e>
                        <m:sub>
                          <m:r>
                            <m:rPr>
                              <m:sty m:val="p"/>
                            </m:rPr>
                            <a:rPr lang="en-US" sz="3200">
                              <a:solidFill>
                                <a:srgbClr val="ECC665"/>
                              </a:solidFill>
                              <a:latin typeface="Cambria Math" panose="02040503050406030204" pitchFamily="18" charset="0"/>
                            </a:rPr>
                            <m:t xml:space="preserve">rec</m:t>
                          </m:r>
                        </m:sub>
                      </m:sSub>
                    </m:oMath>
                  </m:oMathPara>
                </a14:m>
                <a:endParaRPr lang="en-US" sz="3200"/>
              </a:p>
            </p:txBody>
          </p:sp>
        </mc:Choice>
        <mc:Fallback>
          <p:sp>
            <p:nvSpPr>
              <p:cNvPr id="16" name="Equation"/>
              <p:cNvSpPr txBox="1"/>
              <p:nvPr/>
            </p:nvSpPr>
            <p:spPr>
              <a:xfrm>
                <a:off x="1394460" y="5192522"/>
                <a:ext cx="1828800" cy="777240"/>
              </a:xfrm>
              <a:prstGeom prst="rect">
                <a:avLst/>
              </a:prstGeom>
              <a:blipFill>
                <a:blip r:embed="rId5"/>
                <a:stretch>
                  <a:fillRect/>
                </a:stretch>
              </a:blipFill>
            </p:spPr>
            <p:txBody>
              <a:bodyPr/>
              <a:lstStyle/>
              <a:p>
                <a:endParaRPr lang="en-US"/>
              </a:p>
            </p:txBody>
          </p:sp>
        </mc:Fallback>
      </mc:AlternateContent>
      <p:sp>
        <p:nvSpPr>
          <p:cNvPr id="17" name="Rounded Rectangle 16"/>
          <p:cNvSpPr/>
          <p:nvPr/>
        </p:nvSpPr>
        <p:spPr>
          <a:xfrm>
            <a:off x="5154930" y="4918202"/>
            <a:ext cx="3851910" cy="3200400"/>
          </a:xfrm>
          <a:prstGeom prst="roundRect">
            <a:avLst>
              <a:gd name="adj" fmla="val 8571"/>
            </a:avLst>
          </a:prstGeom>
          <a:solidFill>
            <a:srgbClr val="1E5F58"/>
          </a:solidFill>
          <a:ln>
            <a:noFill/>
          </a:ln>
        </p:spPr>
        <p:txBody>
          <a:bodyPr anchor="t" rtlCol="false" lIns="365760" tIns="1234440" rIns="320040" bIns="274320" wrap="square"/>
          <a:lstStyle/>
          <a:p>
            <a:pPr algn="l">
              <a:lnSpc>
                <a:spcPts val="2500"/>
              </a:lnSpc>
              <a:spcBef>
                <a:spcPts val="0"/>
              </a:spcBef>
              <a:buNone/>
            </a:pPr>
            <a:r>
              <a:rPr lang="en-US" sz="2000" b="true">
                <a:solidFill>
                  <a:srgbClr val="FFFFFF"/>
                </a:solidFill>
                <a:latin typeface="Nunito Ultra-Bold"/>
                <a:ea typeface="Nunito Ultra-Bold"/>
                <a:cs typeface="Nunito Ultra-Bold"/>
                <a:sym typeface="Nunito Ultra-Bold"/>
              </a:rPr>
              <a:t>Intra-List Diversity regulariser</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penalises redundant ranked lists</a:t>
            </a:r>
          </a:p>
        </p:txBody>
      </p:sp>
      <mc:AlternateContent xmlns:mc="http://schemas.openxmlformats.org/markup-compatibility/2006">
        <mc:Choice xmlns:a14="http://schemas.microsoft.com/office/drawing/2010/main" Requires="a14">
          <p:sp>
            <p:nvSpPr>
              <p:cNvPr id="18" name="Equation"/>
              <p:cNvSpPr txBox="1"/>
              <p:nvPr/>
            </p:nvSpPr>
            <p:spPr>
              <a:xfrm>
                <a:off x="5520690" y="5192522"/>
                <a:ext cx="1828800" cy="777240"/>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3200" i="1">
                              <a:solidFill>
                                <a:srgbClr val="ECC665"/>
                              </a:solidFill>
                              <a:latin typeface="Cambria Math" panose="02040503050406030204" pitchFamily="18" charset="0"/>
                            </a:rPr>
                          </m:ctrlPr>
                        </m:sSubPr>
                        <m:e>
                          <m:r>
                            <m:rPr>
                              <m:scr m:val="script"/>
                              <m:sty m:val="p"/>
                            </m:rPr>
                            <a:rPr lang="en-US" sz="3200">
                              <a:solidFill>
                                <a:srgbClr val="ECC665"/>
                              </a:solidFill>
                              <a:latin typeface="Cambria Math" panose="02040503050406030204" pitchFamily="18" charset="0"/>
                            </a:rPr>
                            <m:t xml:space="preserve">L</m:t>
                          </m:r>
                        </m:e>
                        <m:sub>
                          <m:r>
                            <m:rPr>
                              <m:sty m:val="p"/>
                            </m:rPr>
                            <a:rPr lang="en-US" sz="3200">
                              <a:solidFill>
                                <a:srgbClr val="ECC665"/>
                              </a:solidFill>
                              <a:latin typeface="Cambria Math" panose="02040503050406030204" pitchFamily="18" charset="0"/>
                            </a:rPr>
                            <m:t xml:space="preserve">div</m:t>
                          </m:r>
                        </m:sub>
                      </m:sSub>
                    </m:oMath>
                  </m:oMathPara>
                </a14:m>
                <a:endParaRPr lang="en-US" sz="3200"/>
              </a:p>
            </p:txBody>
          </p:sp>
        </mc:Choice>
        <mc:Fallback>
          <p:sp>
            <p:nvSpPr>
              <p:cNvPr id="18" name="Equation"/>
              <p:cNvSpPr txBox="1"/>
              <p:nvPr/>
            </p:nvSpPr>
            <p:spPr>
              <a:xfrm>
                <a:off x="5520690" y="5192522"/>
                <a:ext cx="1828800" cy="777240"/>
              </a:xfrm>
              <a:prstGeom prst="rect">
                <a:avLst/>
              </a:prstGeom>
              <a:blipFill>
                <a:blip r:embed="rId6"/>
                <a:stretch>
                  <a:fillRect/>
                </a:stretch>
              </a:blipFill>
            </p:spPr>
            <p:txBody>
              <a:bodyPr/>
              <a:lstStyle/>
              <a:p>
                <a:endParaRPr lang="en-US"/>
              </a:p>
            </p:txBody>
          </p:sp>
        </mc:Fallback>
      </mc:AlternateContent>
      <p:sp>
        <p:nvSpPr>
          <p:cNvPr id="19" name="Rounded Rectangle 18"/>
          <p:cNvSpPr/>
          <p:nvPr/>
        </p:nvSpPr>
        <p:spPr>
          <a:xfrm>
            <a:off x="9281160" y="4918202"/>
            <a:ext cx="3851910" cy="3200400"/>
          </a:xfrm>
          <a:prstGeom prst="roundRect">
            <a:avLst>
              <a:gd name="adj" fmla="val 8571"/>
            </a:avLst>
          </a:prstGeom>
          <a:solidFill>
            <a:srgbClr val="DF8330"/>
          </a:solidFill>
          <a:ln>
            <a:noFill/>
          </a:ln>
        </p:spPr>
        <p:txBody>
          <a:bodyPr anchor="t" rtlCol="false" lIns="365760" tIns="1234440" rIns="320040" bIns="274320" wrap="square"/>
          <a:lstStyle/>
          <a:p>
            <a:pPr algn="l">
              <a:lnSpc>
                <a:spcPts val="2500"/>
              </a:lnSpc>
              <a:spcBef>
                <a:spcPts val="0"/>
              </a:spcBef>
              <a:buNone/>
            </a:pPr>
            <a:r>
              <a:rPr lang="en-US" sz="2000" b="true">
                <a:solidFill>
                  <a:srgbClr val="FFFFFF"/>
                </a:solidFill>
                <a:latin typeface="Nunito Ultra-Bold"/>
                <a:ea typeface="Nunito Ultra-Bold"/>
                <a:cs typeface="Nunito Ultra-Bold"/>
                <a:sym typeface="Nunito Ultra-Bold"/>
              </a:rPr>
              <a:t>Context alignment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match context embedding to context-node representation</a:t>
            </a:r>
          </a:p>
        </p:txBody>
      </p:sp>
      <mc:AlternateContent xmlns:mc="http://schemas.openxmlformats.org/markup-compatibility/2006">
        <mc:Choice xmlns:a14="http://schemas.microsoft.com/office/drawing/2010/main" Requires="a14">
          <p:sp>
            <p:nvSpPr>
              <p:cNvPr id="20" name="Equation"/>
              <p:cNvSpPr txBox="1"/>
              <p:nvPr/>
            </p:nvSpPr>
            <p:spPr>
              <a:xfrm>
                <a:off x="9646920" y="5192522"/>
                <a:ext cx="1828800" cy="777240"/>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3200" i="1">
                              <a:solidFill>
                                <a:srgbClr val="FFFFFF"/>
                              </a:solidFill>
                              <a:latin typeface="Cambria Math" panose="02040503050406030204" pitchFamily="18" charset="0"/>
                            </a:rPr>
                          </m:ctrlPr>
                        </m:sSubPr>
                        <m:e>
                          <m:r>
                            <m:rPr>
                              <m:scr m:val="script"/>
                              <m:sty m:val="p"/>
                            </m:rPr>
                            <a:rPr lang="en-US" sz="3200">
                              <a:solidFill>
                                <a:srgbClr val="FFFFFF"/>
                              </a:solidFill>
                              <a:latin typeface="Cambria Math" panose="02040503050406030204" pitchFamily="18" charset="0"/>
                            </a:rPr>
                            <m:t xml:space="preserve">L</m:t>
                          </m:r>
                        </m:e>
                        <m:sub>
                          <m:r>
                            <m:rPr>
                              <m:sty m:val="p"/>
                            </m:rPr>
                            <a:rPr lang="en-US" sz="3200">
                              <a:solidFill>
                                <a:srgbClr val="FFFFFF"/>
                              </a:solidFill>
                              <a:latin typeface="Cambria Math" panose="02040503050406030204" pitchFamily="18" charset="0"/>
                            </a:rPr>
                            <m:t xml:space="preserve">ctx</m:t>
                          </m:r>
                        </m:sub>
                      </m:sSub>
                    </m:oMath>
                  </m:oMathPara>
                </a14:m>
                <a:endParaRPr lang="en-US" sz="3200"/>
              </a:p>
            </p:txBody>
          </p:sp>
        </mc:Choice>
        <mc:Fallback>
          <p:sp>
            <p:nvSpPr>
              <p:cNvPr id="20" name="Equation"/>
              <p:cNvSpPr txBox="1"/>
              <p:nvPr/>
            </p:nvSpPr>
            <p:spPr>
              <a:xfrm>
                <a:off x="9646920" y="5192522"/>
                <a:ext cx="1828800" cy="777240"/>
              </a:xfrm>
              <a:prstGeom prst="rect">
                <a:avLst/>
              </a:prstGeom>
              <a:blipFill>
                <a:blip r:embed="rId7"/>
                <a:stretch>
                  <a:fillRect/>
                </a:stretch>
              </a:blipFill>
            </p:spPr>
            <p:txBody>
              <a:bodyPr/>
              <a:lstStyle/>
              <a:p>
                <a:endParaRPr lang="en-US"/>
              </a:p>
            </p:txBody>
          </p:sp>
        </mc:Fallback>
      </mc:AlternateContent>
      <p:sp>
        <p:nvSpPr>
          <p:cNvPr id="21" name="Rounded Rectangle 20"/>
          <p:cNvSpPr/>
          <p:nvPr/>
        </p:nvSpPr>
        <p:spPr>
          <a:xfrm>
            <a:off x="13407390" y="4918202"/>
            <a:ext cx="3851910" cy="3200400"/>
          </a:xfrm>
          <a:prstGeom prst="roundRect">
            <a:avLst>
              <a:gd name="adj" fmla="val 8571"/>
            </a:avLst>
          </a:prstGeom>
          <a:solidFill>
            <a:srgbClr val="111111"/>
          </a:solidFill>
          <a:ln>
            <a:noFill/>
          </a:ln>
        </p:spPr>
        <p:txBody>
          <a:bodyPr anchor="t" rtlCol="false" lIns="365760" tIns="1234440" rIns="320040" bIns="274320" wrap="square"/>
          <a:lstStyle/>
          <a:p>
            <a:pPr algn="l">
              <a:lnSpc>
                <a:spcPts val="2500"/>
              </a:lnSpc>
              <a:spcBef>
                <a:spcPts val="0"/>
              </a:spcBef>
              <a:buNone/>
            </a:pPr>
            <a:r>
              <a:rPr lang="en-US" sz="2000" b="true">
                <a:solidFill>
                  <a:srgbClr val="FFFFFF"/>
                </a:solidFill>
                <a:latin typeface="Nunito Ultra-Bold"/>
                <a:ea typeface="Nunito Ultra-Bold"/>
                <a:cs typeface="Nunito Ultra-Bold"/>
                <a:sym typeface="Nunito Ultra-Bold"/>
              </a:rPr>
              <a:t>L2 weight decay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regularisation</a:t>
            </a:r>
          </a:p>
        </p:txBody>
      </p:sp>
      <mc:AlternateContent xmlns:mc="http://schemas.openxmlformats.org/markup-compatibility/2006">
        <mc:Choice xmlns:a14="http://schemas.microsoft.com/office/drawing/2010/main" Requires="a14">
          <p:sp>
            <p:nvSpPr>
              <p:cNvPr id="22" name="Equation"/>
              <p:cNvSpPr txBox="1"/>
              <p:nvPr/>
            </p:nvSpPr>
            <p:spPr>
              <a:xfrm>
                <a:off x="13773150" y="5192522"/>
                <a:ext cx="1828800" cy="777240"/>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3200" i="1">
                              <a:solidFill>
                                <a:srgbClr val="ECC665"/>
                              </a:solidFill>
                              <a:latin typeface="Cambria Math" panose="02040503050406030204" pitchFamily="18" charset="0"/>
                            </a:rPr>
                          </m:ctrlPr>
                        </m:sSubPr>
                        <m:e>
                          <m:r>
                            <m:rPr>
                              <m:scr m:val="script"/>
                              <m:sty m:val="p"/>
                            </m:rPr>
                            <a:rPr lang="en-US" sz="3200">
                              <a:solidFill>
                                <a:srgbClr val="ECC665"/>
                              </a:solidFill>
                              <a:latin typeface="Cambria Math" panose="02040503050406030204" pitchFamily="18" charset="0"/>
                            </a:rPr>
                            <m:t xml:space="preserve">L</m:t>
                          </m:r>
                        </m:e>
                        <m:sub>
                          <m:r>
                            <m:rPr>
                              <m:sty m:val="p"/>
                            </m:rPr>
                            <a:rPr lang="en-US" sz="3200">
                              <a:solidFill>
                                <a:srgbClr val="ECC665"/>
                              </a:solidFill>
                              <a:latin typeface="Cambria Math" panose="02040503050406030204" pitchFamily="18" charset="0"/>
                            </a:rPr>
                            <m:t xml:space="preserve">reg</m:t>
                          </m:r>
                        </m:sub>
                      </m:sSub>
                    </m:oMath>
                  </m:oMathPara>
                </a14:m>
                <a:endParaRPr lang="en-US" sz="3200"/>
              </a:p>
            </p:txBody>
          </p:sp>
        </mc:Choice>
        <mc:Fallback>
          <p:sp>
            <p:nvSpPr>
              <p:cNvPr id="22" name="Equation"/>
              <p:cNvSpPr txBox="1"/>
              <p:nvPr/>
            </p:nvSpPr>
            <p:spPr>
              <a:xfrm>
                <a:off x="13773150" y="5192522"/>
                <a:ext cx="1828800" cy="777240"/>
              </a:xfrm>
              <a:prstGeom prst="rect">
                <a:avLst/>
              </a:prstGeom>
              <a:blipFill>
                <a:blip r:embed="rId8"/>
                <a:stretch>
                  <a:fillRect/>
                </a:stretch>
              </a:blipFill>
            </p:spPr>
            <p:txBody>
              <a:bodyPr/>
              <a:lstStyle/>
              <a:p>
                <a:endParaRPr lang="en-US"/>
              </a:p>
            </p:txBody>
          </p:sp>
        </mc:Fallback>
      </mc:AlternateContent>
      <p:sp>
        <p:nvSpPr>
          <p:cNvPr id="23" name="Rounded Rectangle 22"/>
          <p:cNvSpPr/>
          <p:nvPr/>
        </p:nvSpPr>
        <p:spPr>
          <a:xfrm>
            <a:off x="1028700" y="8530082"/>
            <a:ext cx="16230600" cy="824230"/>
          </a:xfrm>
          <a:prstGeom prst="roundRect">
            <a:avLst>
              <a:gd name="adj" fmla="val 27734"/>
            </a:avLst>
          </a:prstGeom>
          <a:solidFill>
            <a:srgbClr val="F6ECDF"/>
          </a:solidFill>
          <a:ln>
            <a:noFill/>
          </a:ln>
        </p:spPr>
        <p:txBody>
          <a:bodyPr anchor="ctr" rtlCol="false" lIns="457200" tIns="91440" rIns="457200" bIns="91440" wrap="square"/>
          <a:lstStyle/>
          <a:p>
            <a:pPr algn="ctr">
              <a:lnSpc>
                <a:spcPts val="2800"/>
              </a:lnSpc>
              <a:spcBef>
                <a:spcPts val="0"/>
              </a:spcBef>
              <a:buNone/>
            </a:pPr>
            <a:r>
              <a:rPr lang="en-US" sz="2200" b="true">
                <a:solidFill>
                  <a:srgbClr val="111111"/>
                </a:solidFill>
                <a:latin typeface="Nunito Semi-Bold"/>
                <a:ea typeface="Nunito Semi-Bold"/>
                <a:cs typeface="Nunito Semi-Bold"/>
                <a:sym typeface="Nunito Semi-Bold"/>
              </a:rPr>
              <a:t>The learning objective and the coalition value are </a:t>
            </a:r>
            <a:r>
              <a:rPr lang="en-US" sz="2200" b="true">
                <a:solidFill>
                  <a:srgbClr val="111111"/>
                </a:solidFill>
                <a:latin typeface="Nunito Bold"/>
                <a:ea typeface="Nunito Bold"/>
                <a:cs typeface="Nunito Bold"/>
                <a:sym typeface="Nunito Bold"/>
              </a:rPr>
              <a:t>aligned</a:t>
            </a:r>
            <a:r>
              <a:rPr lang="en-US" sz="2200" b="true">
                <a:solidFill>
                  <a:srgbClr val="111111"/>
                </a:solidFill>
                <a:latin typeface="Nunito Semi-Bold"/>
                <a:ea typeface="Nunito Semi-Bold"/>
                <a:cs typeface="Nunito Semi-Bold"/>
                <a:sym typeface="Nunito Semi-Bold"/>
              </a:rPr>
              <a:t>: DyHuCoG trains to optimise the </a:t>
            </a:r>
            <a:r>
              <a:rPr lang="en-US" sz="2200" b="true">
                <a:solidFill>
                  <a:srgbClr val="111111"/>
                </a:solidFill>
                <a:latin typeface="Nunito Bold"/>
                <a:ea typeface="Nunito Bold"/>
                <a:cs typeface="Nunito Bold"/>
                <a:sym typeface="Nunito Bold"/>
              </a:rPr>
              <a:t>same balance</a:t>
            </a:r>
            <a:r>
              <a:rPr lang="en-US" sz="2200" b="true">
                <a:solidFill>
                  <a:srgbClr val="111111"/>
                </a:solidFill>
                <a:latin typeface="Nunito Semi-Bold"/>
                <a:ea typeface="Nunito Semi-Bold"/>
                <a:cs typeface="Nunito Semi-Bold"/>
                <a:sym typeface="Nunito Semi-Bold"/>
              </a:rPr>
              <a:t> that later determines attribution.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vs the Strongest Baseline (HPCF)</a:t>
            </a:r>
          </a:p>
        </p:txBody>
      </p:sp>
      <p:pic>
        <p:nvPicPr>
          <p:cNvPr id="8" name="Picture 7" descr="image.png"/>
          <p:cNvPicPr>
            <a:picLocks noChangeAspect="1"/>
          </p:cNvPicPr>
          <p:nvPr/>
        </p:nvPicPr>
        <p:blipFill>
          <a:blip r:embed="rId2"/>
          <a:stretch>
            <a:fillRect/>
          </a:stretch>
        </p:blipFill>
        <p:spPr>
          <a:xfrm>
            <a:off x="13133038" y="1673352"/>
            <a:ext cx="457200" cy="25098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13" name="Table 12"/>
          <p:cNvGraphicFramePr>
            <a:graphicFrameLocks noGrp="1"/>
          </p:cNvGraphicFramePr>
          <p:nvPr/>
        </p:nvGraphicFramePr>
        <p:xfrm>
          <a:off x="1028700" y="3363722"/>
          <a:ext cx="16230598" cy="3566160"/>
        </p:xfrm>
        <a:graphic>
          <a:graphicData uri="http://schemas.openxmlformats.org/drawingml/2006/table">
            <a:tbl>
              <a:tblPr firstRow="0" bandRow="0" firstCol="0" lastRow="0" lastCol="0" bandCol="0">
                <a:tableStyleId>{2D5ABB26-0587-4C30-8999-92F81FD0307C}</a:tableStyleId>
              </a:tblPr>
              <a:tblGrid>
                <a:gridCol w="3301138"/>
                <a:gridCol w="2750949"/>
                <a:gridCol w="2475854"/>
                <a:gridCol w="2475854"/>
                <a:gridCol w="2475854"/>
                <a:gridCol w="2750949"/>
              </a:tblGrid>
              <a:tr h="713232">
                <a:tc>
                  <a:txBody>
                    <a:bodyPr anchor="ctr" rtlCol="false" lIns="0" tIns="0" rIns="0" bIns="0" wrap="square"/>
                    <a:lstStyle/>
                    <a:p>
                      <a:pPr algn="l">
                        <a:lnSpc>
                          <a:spcPts val="2470"/>
                        </a:lnSpc>
                        <a:spcBef>
                          <a:spcPts val="0"/>
                        </a:spcBef>
                        <a:buNone/>
                      </a:pPr>
                      <a:r>
                        <a:rPr lang="en-US" sz="1900" b="true">
                          <a:solidFill>
                            <a:srgbClr val="FFFFFF"/>
                          </a:solidFill>
                          <a:latin typeface="Nunito Bold"/>
                          <a:ea typeface="Nunito Bold"/>
                          <a:cs typeface="Nunito Bold"/>
                          <a:sym typeface="Nunito Bold"/>
                        </a:rPr>
                        <a:t>Dataset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470"/>
                        </a:lnSpc>
                        <a:spcBef>
                          <a:spcPts val="0"/>
                        </a:spcBef>
                        <a:buNone/>
                      </a:pPr>
                      <a:r>
                        <a:rPr lang="en-US" sz="1900" b="true">
                          <a:solidFill>
                            <a:srgbClr val="FFFFFF"/>
                          </a:solidFill>
                          <a:latin typeface="Nunito Bold"/>
                          <a:ea typeface="Nunito Bold"/>
                          <a:cs typeface="Nunito Bold"/>
                          <a:sym typeface="Nunito Bold"/>
                        </a:rPr>
                        <a:t>Model</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470"/>
                        </a:lnSpc>
                        <a:spcBef>
                          <a:spcPts val="0"/>
                        </a:spcBef>
                        <a:buNone/>
                      </a:pPr>
                      <a:r>
                        <a:rPr lang="en-US" sz="1900" b="true">
                          <a:solidFill>
                            <a:srgbClr val="FFFFFF"/>
                          </a:solidFill>
                          <a:latin typeface="Nunito Bold"/>
                          <a:ea typeface="Nunito Bold"/>
                          <a:cs typeface="Nunito Bold"/>
                          <a:sym typeface="Nunito Bold"/>
                        </a:rPr>
                        <a:t>NDCG@20</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470"/>
                        </a:lnSpc>
                        <a:spcBef>
                          <a:spcPts val="0"/>
                        </a:spcBef>
                        <a:buNone/>
                      </a:pPr>
                      <a:r>
                        <a:rPr lang="en-US" sz="1900" b="true">
                          <a:solidFill>
                            <a:srgbClr val="FFFFFF"/>
                          </a:solidFill>
                          <a:latin typeface="Nunito Bold"/>
                          <a:ea typeface="Nunito Bold"/>
                          <a:cs typeface="Nunito Bold"/>
                          <a:sym typeface="Nunito Bold"/>
                        </a:rPr>
                        <a:t>Recall@20</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470"/>
                        </a:lnSpc>
                        <a:spcBef>
                          <a:spcPts val="0"/>
                        </a:spcBef>
                        <a:buNone/>
                      </a:pPr>
                      <a:r>
                        <a:rPr lang="en-US" sz="1900" b="true">
                          <a:solidFill>
                            <a:srgbClr val="FFFFFF"/>
                          </a:solidFill>
                          <a:latin typeface="Nunito Bold"/>
                          <a:ea typeface="Nunito Bold"/>
                          <a:cs typeface="Nunito Bold"/>
                          <a:sym typeface="Nunito Bold"/>
                        </a:rPr>
                        <a:t>Coverage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470"/>
                        </a:lnSpc>
                        <a:spcBef>
                          <a:spcPts val="0"/>
                        </a:spcBef>
                        <a:buNone/>
                      </a:pPr>
                      <a:r>
                        <a:rPr lang="en-US" sz="1900" b="true">
                          <a:solidFill>
                            <a:srgbClr val="FFFFFF"/>
                          </a:solidFill>
                          <a:latin typeface="Nunito Bold"/>
                          <a:ea typeface="Nunito Bold"/>
                          <a:cs typeface="Nunito Bold"/>
                          <a:sym typeface="Nunito Bold"/>
                        </a:rPr>
                        <a:t>Diversity (ILD)</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13232">
                <a:tc>
                  <a:txBody>
                    <a:bodyPr anchor="ctr" rtlCol="false" lIns="0" tIns="0" rIns="0" bIns="0" wrap="square"/>
                    <a:lstStyle/>
                    <a:p>
                      <a:pPr algn="l">
                        <a:lnSpc>
                          <a:spcPts val="2600"/>
                        </a:lnSpc>
                        <a:spcBef>
                          <a:spcPts val="0"/>
                        </a:spcBef>
                        <a:buNone/>
                      </a:pPr>
                      <a:r>
                        <a:rPr lang="en-US" sz="2000" b="true">
                          <a:solidFill>
                            <a:srgbClr val="111111"/>
                          </a:solidFill>
                          <a:latin typeface="Nunito Bold"/>
                          <a:ea typeface="Nunito Bold"/>
                          <a:cs typeface="Nunito Bold"/>
                          <a:sym typeface="Nunito Bold"/>
                        </a:rPr>
                        <a:t>MovieLens-1M</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600"/>
                        </a:lnSpc>
                        <a:spcBef>
                          <a:spcPts val="0"/>
                        </a:spcBef>
                        <a:buNone/>
                      </a:pPr>
                      <a:r>
                        <a:rPr lang="en-US" sz="2000" b="true">
                          <a:solidFill>
                            <a:srgbClr val="111111"/>
                          </a:solidFill>
                          <a:latin typeface="Nunito Semi-Bold"/>
                          <a:ea typeface="Nunito Semi-Bold"/>
                          <a:cs typeface="Nunito Semi-Bold"/>
                          <a:sym typeface="Nunito Semi-Bold"/>
                        </a:rPr>
                        <a:t>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0.2528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0.2098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0.342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0.461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13232">
                <a:tc>
                  <a:txBody>
                    <a:bodyPr anchor="ctr" rtlCol="false" lIns="0" tIns="0" rIns="0" bIns="0" wrap="square"/>
                    <a:lstStyle/>
                    <a:p>
                      <a:pPr algn="l">
                        <a:lnSpc>
                          <a:spcPts val="2600"/>
                        </a:lnSpc>
                        <a:spcBef>
                          <a:spcPts val="0"/>
                        </a:spcBef>
                        <a:buNone/>
                      </a:pPr>
                      <a:r>
                        <a:rPr lang="en-US" sz="2000" b="true">
                          <a:solidFill>
                            <a:srgbClr val="111111"/>
                          </a:solidFill>
                          <a:latin typeface="Nunito Bold"/>
                          <a:ea typeface="Nunito Bold"/>
                          <a:cs typeface="Nunito Bold"/>
                          <a:sym typeface="Nunito Bold"/>
                        </a:rPr>
                        <a:t>MovieLens-1M</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l">
                        <a:lnSpc>
                          <a:spcPts val="2600"/>
                        </a:lnSpc>
                        <a:spcBef>
                          <a:spcPts val="0"/>
                        </a:spcBef>
                        <a:buNone/>
                      </a:pPr>
                      <a:r>
                        <a:rPr lang="en-US" sz="2000" b="true">
                          <a:solidFill>
                            <a:srgbClr val="111111"/>
                          </a:solidFill>
                          <a:latin typeface="Nunito Semi-Bold"/>
                          <a:ea typeface="Nunito Semi-Bold"/>
                          <a:cs typeface="Nunito Semi-Bold"/>
                          <a:sym typeface="Nunito Semi-Bold"/>
                        </a:rPr>
                        <a:t>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0.2775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0.2362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0.397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0.516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713232">
                <a:tc>
                  <a:txBody>
                    <a:bodyPr anchor="ctr" rtlCol="false" lIns="0" tIns="0" rIns="0" bIns="0" wrap="square"/>
                    <a:lstStyle/>
                    <a:p>
                      <a:pPr algn="l">
                        <a:lnSpc>
                          <a:spcPts val="2600"/>
                        </a:lnSpc>
                        <a:spcBef>
                          <a:spcPts val="0"/>
                        </a:spcBef>
                        <a:buNone/>
                      </a:pPr>
                      <a:r>
                        <a:rPr lang="en-US" sz="2000" b="true">
                          <a:solidFill>
                            <a:srgbClr val="111111"/>
                          </a:solidFill>
                          <a:latin typeface="Nunito Bold"/>
                          <a:ea typeface="Nunito Bold"/>
                          <a:cs typeface="Nunito Bold"/>
                          <a:sym typeface="Nunito Bold"/>
                        </a:rPr>
                        <a:t>Amazon-Book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600"/>
                        </a:lnSpc>
                        <a:spcBef>
                          <a:spcPts val="0"/>
                        </a:spcBef>
                        <a:buNone/>
                      </a:pPr>
                      <a:r>
                        <a:rPr lang="en-US" sz="2000" b="true">
                          <a:solidFill>
                            <a:srgbClr val="111111"/>
                          </a:solidFill>
                          <a:latin typeface="Nunito Semi-Bold"/>
                          <a:ea typeface="Nunito Semi-Bold"/>
                          <a:cs typeface="Nunito Semi-Bold"/>
                          <a:sym typeface="Nunito Semi-Bold"/>
                        </a:rPr>
                        <a:t>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0.0270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0.0359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0.259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0.535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13232">
                <a:tc>
                  <a:txBody>
                    <a:bodyPr anchor="ctr" rtlCol="false" lIns="0" tIns="0" rIns="0" bIns="0" wrap="square"/>
                    <a:lstStyle/>
                    <a:p>
                      <a:pPr algn="l">
                        <a:lnSpc>
                          <a:spcPts val="2600"/>
                        </a:lnSpc>
                        <a:spcBef>
                          <a:spcPts val="0"/>
                        </a:spcBef>
                        <a:buNone/>
                      </a:pPr>
                      <a:r>
                        <a:rPr lang="en-US" sz="2000" b="true">
                          <a:solidFill>
                            <a:srgbClr val="111111"/>
                          </a:solidFill>
                          <a:latin typeface="Nunito Bold"/>
                          <a:ea typeface="Nunito Bold"/>
                          <a:cs typeface="Nunito Bold"/>
                          <a:sym typeface="Nunito Bold"/>
                        </a:rPr>
                        <a:t>Amazon-Book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l">
                        <a:lnSpc>
                          <a:spcPts val="2600"/>
                        </a:lnSpc>
                        <a:spcBef>
                          <a:spcPts val="0"/>
                        </a:spcBef>
                        <a:buNone/>
                      </a:pPr>
                      <a:r>
                        <a:rPr lang="en-US" sz="2000" b="true">
                          <a:solidFill>
                            <a:srgbClr val="111111"/>
                          </a:solidFill>
                          <a:latin typeface="Nunito Semi-Bold"/>
                          <a:ea typeface="Nunito Semi-Bold"/>
                          <a:cs typeface="Nunito Semi-Bold"/>
                          <a:sym typeface="Nunito Semi-Bold"/>
                        </a:rPr>
                        <a:t>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0.0306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0.0417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0.336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0.602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4" name="TextBox 13"/>
          <p:cNvSpPr txBox="1"/>
          <p:nvPr/>
        </p:nvSpPr>
        <p:spPr>
          <a:xfrm>
            <a:off x="1028700" y="734136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RELATIVE IMPROVEMENT OVER HPCF</a:t>
            </a:r>
          </a:p>
        </p:txBody>
      </p:sp>
      <p:sp>
        <p:nvSpPr>
          <p:cNvPr id="15" name="Rounded Rectangle 14"/>
          <p:cNvSpPr/>
          <p:nvPr/>
        </p:nvSpPr>
        <p:spPr>
          <a:xfrm>
            <a:off x="1028700" y="7798562"/>
            <a:ext cx="3851910" cy="1555750"/>
          </a:xfrm>
          <a:prstGeom prst="roundRect">
            <a:avLst>
              <a:gd name="adj" fmla="val 14693"/>
            </a:avLst>
          </a:prstGeom>
          <a:solidFill>
            <a:srgbClr val="124944"/>
          </a:solidFill>
          <a:ln>
            <a:noFill/>
          </a:ln>
        </p:spPr>
        <p:txBody>
          <a:bodyPr anchor="ctr" rtlCol="false" lIns="91440" tIns="91440" rIns="91440" bIns="91440" wrap="square"/>
          <a:lstStyle/>
          <a:p>
            <a:pPr algn="ctr">
              <a:lnSpc>
                <a:spcPts val="1600"/>
              </a:lnSpc>
              <a:spcBef>
                <a:spcPts val="0"/>
              </a:spcBef>
              <a:buNone/>
            </a:pPr>
            <a:r>
              <a:rPr lang="en-US" sz="1300" b="true" spc="140">
                <a:solidFill>
                  <a:srgbClr val="ECC665"/>
                </a:solidFill>
                <a:latin typeface="Nunito Ultra-Bold"/>
                <a:ea typeface="Nunito Ultra-Bold"/>
                <a:cs typeface="Nunito Ultra-Bold"/>
                <a:sym typeface="Nunito Ultra-Bold"/>
              </a:rPr>
              <a:t>NDCG@20</a:t>
            </a:r>
          </a:p>
          <a:p>
            <a:pPr algn="ctr">
              <a:lnSpc>
                <a:spcPts val="3000"/>
              </a:lnSpc>
              <a:spcBef>
                <a:spcPts val="600"/>
              </a:spcBef>
              <a:buNone/>
            </a:pPr>
            <a:r>
              <a:rPr lang="en-US" sz="2600" b="true">
                <a:solidFill>
                  <a:srgbClr val="FFFFFF"/>
                </a:solidFill>
                <a:latin typeface="Nunito Ultra-Bold"/>
                <a:ea typeface="Nunito Ultra-Bold"/>
                <a:cs typeface="Nunito Ultra-Bold"/>
                <a:sym typeface="Nunito Ultra-Bold"/>
              </a:rPr>
              <a:t>+9.77 %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MovieLens-1M</a:t>
            </a:r>
          </a:p>
          <a:p>
            <a:pPr algn="ctr">
              <a:lnSpc>
                <a:spcPts val="3000"/>
              </a:lnSpc>
              <a:spcBef>
                <a:spcPts val="600"/>
              </a:spcBef>
              <a:buNone/>
            </a:pPr>
            <a:r>
              <a:rPr lang="en-US" sz="2600" b="true">
                <a:solidFill>
                  <a:srgbClr val="ECC665"/>
                </a:solidFill>
                <a:latin typeface="Nunito Ultra-Bold"/>
                <a:ea typeface="Nunito Ultra-Bold"/>
                <a:cs typeface="Nunito Ultra-Bold"/>
                <a:sym typeface="Nunito Ultra-Bold"/>
              </a:rPr>
              <a:t>+13.33 %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Amazon-Book</a:t>
            </a:r>
          </a:p>
        </p:txBody>
      </p:sp>
      <p:sp>
        <p:nvSpPr>
          <p:cNvPr id="16" name="Rounded Rectangle 15"/>
          <p:cNvSpPr/>
          <p:nvPr/>
        </p:nvSpPr>
        <p:spPr>
          <a:xfrm>
            <a:off x="5154930" y="7798562"/>
            <a:ext cx="3851910" cy="1555750"/>
          </a:xfrm>
          <a:prstGeom prst="roundRect">
            <a:avLst>
              <a:gd name="adj" fmla="val 14693"/>
            </a:avLst>
          </a:prstGeom>
          <a:solidFill>
            <a:srgbClr val="1E5F58"/>
          </a:solidFill>
          <a:ln>
            <a:noFill/>
          </a:ln>
        </p:spPr>
        <p:txBody>
          <a:bodyPr anchor="ctr" rtlCol="false" lIns="91440" tIns="91440" rIns="91440" bIns="91440" wrap="square"/>
          <a:lstStyle/>
          <a:p>
            <a:pPr algn="ctr">
              <a:lnSpc>
                <a:spcPts val="1600"/>
              </a:lnSpc>
              <a:spcBef>
                <a:spcPts val="0"/>
              </a:spcBef>
              <a:buNone/>
            </a:pPr>
            <a:r>
              <a:rPr lang="en-US" sz="1300" b="true" spc="140">
                <a:solidFill>
                  <a:srgbClr val="ECC665"/>
                </a:solidFill>
                <a:latin typeface="Nunito Ultra-Bold"/>
                <a:ea typeface="Nunito Ultra-Bold"/>
                <a:cs typeface="Nunito Ultra-Bold"/>
                <a:sym typeface="Nunito Ultra-Bold"/>
              </a:rPr>
              <a:t>RECALL@20</a:t>
            </a:r>
          </a:p>
          <a:p>
            <a:pPr algn="ctr">
              <a:lnSpc>
                <a:spcPts val="3000"/>
              </a:lnSpc>
              <a:spcBef>
                <a:spcPts val="600"/>
              </a:spcBef>
              <a:buNone/>
            </a:pPr>
            <a:r>
              <a:rPr lang="en-US" sz="2600" b="true">
                <a:solidFill>
                  <a:srgbClr val="FFFFFF"/>
                </a:solidFill>
                <a:latin typeface="Nunito Ultra-Bold"/>
                <a:ea typeface="Nunito Ultra-Bold"/>
                <a:cs typeface="Nunito Ultra-Bold"/>
                <a:sym typeface="Nunito Ultra-Bold"/>
              </a:rPr>
              <a:t>+12.58 %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MovieLens-1M</a:t>
            </a:r>
          </a:p>
          <a:p>
            <a:pPr algn="ctr">
              <a:lnSpc>
                <a:spcPts val="3000"/>
              </a:lnSpc>
              <a:spcBef>
                <a:spcPts val="600"/>
              </a:spcBef>
              <a:buNone/>
            </a:pPr>
            <a:r>
              <a:rPr lang="en-US" sz="2600" b="true">
                <a:solidFill>
                  <a:srgbClr val="ECC665"/>
                </a:solidFill>
                <a:latin typeface="Nunito Ultra-Bold"/>
                <a:ea typeface="Nunito Ultra-Bold"/>
                <a:cs typeface="Nunito Ultra-Bold"/>
                <a:sym typeface="Nunito Ultra-Bold"/>
              </a:rPr>
              <a:t>+16.16 %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Amazon-Book</a:t>
            </a:r>
          </a:p>
        </p:txBody>
      </p:sp>
      <p:sp>
        <p:nvSpPr>
          <p:cNvPr id="17" name="Rounded Rectangle 16"/>
          <p:cNvSpPr/>
          <p:nvPr/>
        </p:nvSpPr>
        <p:spPr>
          <a:xfrm>
            <a:off x="9281160" y="7798562"/>
            <a:ext cx="3851910" cy="1555750"/>
          </a:xfrm>
          <a:prstGeom prst="roundRect">
            <a:avLst>
              <a:gd name="adj" fmla="val 14693"/>
            </a:avLst>
          </a:prstGeom>
          <a:solidFill>
            <a:srgbClr val="124944"/>
          </a:solidFill>
          <a:ln>
            <a:noFill/>
          </a:ln>
        </p:spPr>
        <p:txBody>
          <a:bodyPr anchor="ctr" rtlCol="false" lIns="91440" tIns="91440" rIns="91440" bIns="91440" wrap="square"/>
          <a:lstStyle/>
          <a:p>
            <a:pPr algn="ctr">
              <a:lnSpc>
                <a:spcPts val="1600"/>
              </a:lnSpc>
              <a:spcBef>
                <a:spcPts val="0"/>
              </a:spcBef>
              <a:buNone/>
            </a:pPr>
            <a:r>
              <a:rPr lang="en-US" sz="1300" b="true" spc="140">
                <a:solidFill>
                  <a:srgbClr val="ECC665"/>
                </a:solidFill>
                <a:latin typeface="Nunito Ultra-Bold"/>
                <a:ea typeface="Nunito Ultra-Bold"/>
                <a:cs typeface="Nunito Ultra-Bold"/>
                <a:sym typeface="Nunito Ultra-Bold"/>
              </a:rPr>
              <a:t>COVERAGE</a:t>
            </a:r>
          </a:p>
          <a:p>
            <a:pPr algn="ctr">
              <a:lnSpc>
                <a:spcPts val="3000"/>
              </a:lnSpc>
              <a:spcBef>
                <a:spcPts val="600"/>
              </a:spcBef>
              <a:buNone/>
            </a:pPr>
            <a:r>
              <a:rPr lang="en-US" sz="2600" b="true">
                <a:solidFill>
                  <a:srgbClr val="FFFFFF"/>
                </a:solidFill>
                <a:latin typeface="Nunito Ultra-Bold"/>
                <a:ea typeface="Nunito Ultra-Bold"/>
                <a:cs typeface="Nunito Ultra-Bold"/>
                <a:sym typeface="Nunito Ultra-Bold"/>
              </a:rPr>
              <a:t>+16.1 %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MovieLens-1M</a:t>
            </a:r>
          </a:p>
          <a:p>
            <a:pPr algn="ctr">
              <a:lnSpc>
                <a:spcPts val="3000"/>
              </a:lnSpc>
              <a:spcBef>
                <a:spcPts val="600"/>
              </a:spcBef>
              <a:buNone/>
            </a:pPr>
            <a:r>
              <a:rPr lang="en-US" sz="2600" b="true">
                <a:solidFill>
                  <a:srgbClr val="ECC665"/>
                </a:solidFill>
                <a:latin typeface="Nunito Ultra-Bold"/>
                <a:ea typeface="Nunito Ultra-Bold"/>
                <a:cs typeface="Nunito Ultra-Bold"/>
                <a:sym typeface="Nunito Ultra-Bold"/>
              </a:rPr>
              <a:t>+29.7 %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Amazon-Book</a:t>
            </a:r>
          </a:p>
        </p:txBody>
      </p:sp>
      <p:sp>
        <p:nvSpPr>
          <p:cNvPr id="18" name="Rounded Rectangle 17"/>
          <p:cNvSpPr/>
          <p:nvPr/>
        </p:nvSpPr>
        <p:spPr>
          <a:xfrm>
            <a:off x="13407390" y="7798562"/>
            <a:ext cx="3851910" cy="1555750"/>
          </a:xfrm>
          <a:prstGeom prst="roundRect">
            <a:avLst>
              <a:gd name="adj" fmla="val 14693"/>
            </a:avLst>
          </a:prstGeom>
          <a:solidFill>
            <a:srgbClr val="1E5F58"/>
          </a:solidFill>
          <a:ln>
            <a:noFill/>
          </a:ln>
        </p:spPr>
        <p:txBody>
          <a:bodyPr anchor="ctr" rtlCol="false" lIns="91440" tIns="91440" rIns="91440" bIns="91440" wrap="square"/>
          <a:lstStyle/>
          <a:p>
            <a:pPr algn="ctr">
              <a:lnSpc>
                <a:spcPts val="1600"/>
              </a:lnSpc>
              <a:spcBef>
                <a:spcPts val="0"/>
              </a:spcBef>
              <a:buNone/>
            </a:pPr>
            <a:r>
              <a:rPr lang="en-US" sz="1300" b="true" spc="140">
                <a:solidFill>
                  <a:srgbClr val="ECC665"/>
                </a:solidFill>
                <a:latin typeface="Nunito Ultra-Bold"/>
                <a:ea typeface="Nunito Ultra-Bold"/>
                <a:cs typeface="Nunito Ultra-Bold"/>
                <a:sym typeface="Nunito Ultra-Bold"/>
              </a:rPr>
              <a:t>INTRA-LIST DIVERSITY</a:t>
            </a:r>
          </a:p>
          <a:p>
            <a:pPr algn="ctr">
              <a:lnSpc>
                <a:spcPts val="3000"/>
              </a:lnSpc>
              <a:spcBef>
                <a:spcPts val="600"/>
              </a:spcBef>
              <a:buNone/>
            </a:pPr>
            <a:r>
              <a:rPr lang="en-US" sz="2600" b="true">
                <a:solidFill>
                  <a:srgbClr val="FFFFFF"/>
                </a:solidFill>
                <a:latin typeface="Nunito Ultra-Bold"/>
                <a:ea typeface="Nunito Ultra-Bold"/>
                <a:cs typeface="Nunito Ultra-Bold"/>
                <a:sym typeface="Nunito Ultra-Bold"/>
              </a:rPr>
              <a:t>+11.9 %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MovieLens-1M</a:t>
            </a:r>
          </a:p>
          <a:p>
            <a:pPr algn="ctr">
              <a:lnSpc>
                <a:spcPts val="3000"/>
              </a:lnSpc>
              <a:spcBef>
                <a:spcPts val="600"/>
              </a:spcBef>
              <a:buNone/>
            </a:pPr>
            <a:r>
              <a:rPr lang="en-US" sz="2600" b="true">
                <a:solidFill>
                  <a:srgbClr val="ECC665"/>
                </a:solidFill>
                <a:latin typeface="Nunito Ultra-Bold"/>
                <a:ea typeface="Nunito Ultra-Bold"/>
                <a:cs typeface="Nunito Ultra-Bold"/>
                <a:sym typeface="Nunito Ultra-Bold"/>
              </a:rPr>
              <a:t>+12.5 %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Amazon-Book</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Coverage &amp; Diversity: No Accuracy Trade-Off</a:t>
            </a:r>
          </a:p>
        </p:txBody>
      </p:sp>
      <p:pic>
        <p:nvPicPr>
          <p:cNvPr id="8" name="Picture 7" descr="image.png"/>
          <p:cNvPicPr>
            <a:picLocks noChangeAspect="1"/>
          </p:cNvPicPr>
          <p:nvPr/>
        </p:nvPicPr>
        <p:blipFill>
          <a:blip r:embed="rId2"/>
          <a:stretch>
            <a:fillRect/>
          </a:stretch>
        </p:blipFill>
        <p:spPr>
          <a:xfrm>
            <a:off x="12985667" y="1673352"/>
            <a:ext cx="457200" cy="539881"/>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3851910" cy="3931920"/>
          </a:xfrm>
          <a:prstGeom prst="roundRect">
            <a:avLst>
              <a:gd name="adj" fmla="val 5934"/>
            </a:avLst>
          </a:prstGeom>
          <a:solidFill>
            <a:srgbClr val="F6ECDF"/>
          </a:solidFill>
          <a:ln>
            <a:noFill/>
          </a:ln>
        </p:spPr>
        <p:txBody>
          <a:bodyPr anchor="ctr" rtlCol="false" lIns="0" tIns="0" rIns="0" bIns="0" wrap="square"/>
          <a:lstStyle/>
          <a:p>
            <a:endParaRPr lang="en-US" sz="1800"/>
          </a:p>
        </p:txBody>
      </p:sp>
      <p:sp>
        <p:nvSpPr>
          <p:cNvPr id="14" name="TextBox 13"/>
          <p:cNvSpPr txBox="1"/>
          <p:nvPr/>
        </p:nvSpPr>
        <p:spPr>
          <a:xfrm>
            <a:off x="1028700" y="3592322"/>
            <a:ext cx="385191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111111"/>
                </a:solidFill>
                <a:latin typeface="Nunito Ultra-Bold"/>
                <a:ea typeface="Nunito Ultra-Bold"/>
                <a:cs typeface="Nunito Ultra-Bold"/>
                <a:sym typeface="Nunito Ultra-Bold"/>
              </a:rPr>
              <a:t>Coverage · MovieLens-1M</a:t>
            </a:r>
          </a:p>
        </p:txBody>
      </p:sp>
      <p:sp>
        <p:nvSpPr>
          <p:cNvPr id="15" name="Rounded Rectangle 14"/>
          <p:cNvSpPr/>
          <p:nvPr/>
        </p:nvSpPr>
        <p:spPr>
          <a:xfrm>
            <a:off x="1971675" y="5472720"/>
            <a:ext cx="822960" cy="1228561"/>
          </a:xfrm>
          <a:prstGeom prst="roundRect">
            <a:avLst>
              <a:gd name="adj" fmla="val 5555"/>
            </a:avLst>
          </a:prstGeom>
          <a:solidFill>
            <a:srgbClr val="B9B2A6"/>
          </a:solidFill>
          <a:ln>
            <a:noFill/>
          </a:ln>
        </p:spPr>
        <p:txBody>
          <a:bodyPr anchor="ctr" rtlCol="false" lIns="0" tIns="0" rIns="0" bIns="0" wrap="square"/>
          <a:lstStyle/>
          <a:p>
            <a:endParaRPr lang="en-US" sz="1800"/>
          </a:p>
        </p:txBody>
      </p:sp>
      <p:sp>
        <p:nvSpPr>
          <p:cNvPr id="16" name="Rounded Rectangle 15"/>
          <p:cNvSpPr/>
          <p:nvPr/>
        </p:nvSpPr>
        <p:spPr>
          <a:xfrm>
            <a:off x="3114675" y="5275144"/>
            <a:ext cx="822960" cy="1426137"/>
          </a:xfrm>
          <a:prstGeom prst="roundRect">
            <a:avLst>
              <a:gd name="adj" fmla="val 5555"/>
            </a:avLst>
          </a:prstGeom>
          <a:solidFill>
            <a:srgbClr val="124944"/>
          </a:solidFill>
          <a:ln>
            <a:noFill/>
          </a:ln>
        </p:spPr>
        <p:txBody>
          <a:bodyPr anchor="ctr" rtlCol="false" lIns="0" tIns="0" rIns="0" bIns="0" wrap="square"/>
          <a:lstStyle/>
          <a:p>
            <a:endParaRPr lang="en-US" sz="1800"/>
          </a:p>
        </p:txBody>
      </p:sp>
      <p:sp>
        <p:nvSpPr>
          <p:cNvPr id="17" name="TextBox 16"/>
          <p:cNvSpPr txBox="1"/>
          <p:nvPr/>
        </p:nvSpPr>
        <p:spPr>
          <a:xfrm>
            <a:off x="1788795" y="5106960"/>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0.342</a:t>
            </a:r>
          </a:p>
        </p:txBody>
      </p:sp>
      <p:sp>
        <p:nvSpPr>
          <p:cNvPr id="18" name="TextBox 17"/>
          <p:cNvSpPr txBox="1"/>
          <p:nvPr/>
        </p:nvSpPr>
        <p:spPr>
          <a:xfrm>
            <a:off x="2931795" y="4909384"/>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124944"/>
                </a:solidFill>
                <a:latin typeface="Nunito Ultra-Bold"/>
                <a:ea typeface="Nunito Ultra-Bold"/>
                <a:cs typeface="Nunito Ultra-Bold"/>
                <a:sym typeface="Nunito Ultra-Bold"/>
              </a:rPr>
              <a:t>0.397</a:t>
            </a:r>
          </a:p>
        </p:txBody>
      </p:sp>
      <p:sp>
        <p:nvSpPr>
          <p:cNvPr id="19" name="TextBox 18"/>
          <p:cNvSpPr txBox="1"/>
          <p:nvPr/>
        </p:nvSpPr>
        <p:spPr>
          <a:xfrm>
            <a:off x="178879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8A8378"/>
                </a:solidFill>
                <a:latin typeface="Nunito Semi-Bold"/>
                <a:ea typeface="Nunito Semi-Bold"/>
                <a:cs typeface="Nunito Semi-Bold"/>
                <a:sym typeface="Nunito Semi-Bold"/>
              </a:rPr>
              <a:t>HPCF</a:t>
            </a:r>
          </a:p>
        </p:txBody>
      </p:sp>
      <p:sp>
        <p:nvSpPr>
          <p:cNvPr id="20" name="TextBox 19"/>
          <p:cNvSpPr txBox="1"/>
          <p:nvPr/>
        </p:nvSpPr>
        <p:spPr>
          <a:xfrm>
            <a:off x="293179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124944"/>
                </a:solidFill>
                <a:latin typeface="Nunito Bold"/>
                <a:ea typeface="Nunito Bold"/>
                <a:cs typeface="Nunito Bold"/>
                <a:sym typeface="Nunito Bold"/>
              </a:rPr>
              <a:t>DyHuCoG</a:t>
            </a:r>
          </a:p>
        </p:txBody>
      </p:sp>
      <p:sp>
        <p:nvSpPr>
          <p:cNvPr id="21" name="Rounded Rectangle 20"/>
          <p:cNvSpPr/>
          <p:nvPr/>
        </p:nvSpPr>
        <p:spPr>
          <a:xfrm>
            <a:off x="2268855" y="7021322"/>
            <a:ext cx="1371600" cy="310896"/>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+16.1 %</a:t>
            </a:r>
          </a:p>
        </p:txBody>
      </p:sp>
      <p:sp>
        <p:nvSpPr>
          <p:cNvPr id="22" name="Rounded Rectangle 21"/>
          <p:cNvSpPr/>
          <p:nvPr/>
        </p:nvSpPr>
        <p:spPr>
          <a:xfrm>
            <a:off x="5154930" y="3455162"/>
            <a:ext cx="3851910" cy="3931920"/>
          </a:xfrm>
          <a:prstGeom prst="roundRect">
            <a:avLst>
              <a:gd name="adj" fmla="val 5934"/>
            </a:avLst>
          </a:prstGeom>
          <a:solidFill>
            <a:srgbClr val="F6ECDF"/>
          </a:solidFill>
          <a:ln>
            <a:noFill/>
          </a:ln>
        </p:spPr>
        <p:txBody>
          <a:bodyPr anchor="ctr" rtlCol="false" lIns="0" tIns="0" rIns="0" bIns="0" wrap="square"/>
          <a:lstStyle/>
          <a:p>
            <a:endParaRPr lang="en-US" sz="1800"/>
          </a:p>
        </p:txBody>
      </p:sp>
      <p:sp>
        <p:nvSpPr>
          <p:cNvPr id="23" name="TextBox 22"/>
          <p:cNvSpPr txBox="1"/>
          <p:nvPr/>
        </p:nvSpPr>
        <p:spPr>
          <a:xfrm>
            <a:off x="5154930" y="3592322"/>
            <a:ext cx="385191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111111"/>
                </a:solidFill>
                <a:latin typeface="Nunito Ultra-Bold"/>
                <a:ea typeface="Nunito Ultra-Bold"/>
                <a:cs typeface="Nunito Ultra-Bold"/>
                <a:sym typeface="Nunito Ultra-Bold"/>
              </a:rPr>
              <a:t>ILD · MovieLens-1M</a:t>
            </a:r>
          </a:p>
        </p:txBody>
      </p:sp>
      <p:sp>
        <p:nvSpPr>
          <p:cNvPr id="24" name="Rounded Rectangle 23"/>
          <p:cNvSpPr/>
          <p:nvPr/>
        </p:nvSpPr>
        <p:spPr>
          <a:xfrm>
            <a:off x="6097905" y="5045238"/>
            <a:ext cx="822960" cy="1656043"/>
          </a:xfrm>
          <a:prstGeom prst="roundRect">
            <a:avLst>
              <a:gd name="adj" fmla="val 5555"/>
            </a:avLst>
          </a:prstGeom>
          <a:solidFill>
            <a:srgbClr val="B9B2A6"/>
          </a:solidFill>
          <a:ln>
            <a:noFill/>
          </a:ln>
        </p:spPr>
        <p:txBody>
          <a:bodyPr anchor="ctr" rtlCol="false" lIns="0" tIns="0" rIns="0" bIns="0" wrap="square"/>
          <a:lstStyle/>
          <a:p>
            <a:endParaRPr lang="en-US" sz="1800"/>
          </a:p>
        </p:txBody>
      </p:sp>
      <p:sp>
        <p:nvSpPr>
          <p:cNvPr id="25" name="Rounded Rectangle 24"/>
          <p:cNvSpPr/>
          <p:nvPr/>
        </p:nvSpPr>
        <p:spPr>
          <a:xfrm>
            <a:off x="7240905" y="4847662"/>
            <a:ext cx="822960" cy="1853619"/>
          </a:xfrm>
          <a:prstGeom prst="roundRect">
            <a:avLst>
              <a:gd name="adj" fmla="val 5555"/>
            </a:avLst>
          </a:prstGeom>
          <a:solidFill>
            <a:srgbClr val="124944"/>
          </a:solidFill>
          <a:ln>
            <a:noFill/>
          </a:ln>
        </p:spPr>
        <p:txBody>
          <a:bodyPr anchor="ctr" rtlCol="false" lIns="0" tIns="0" rIns="0" bIns="0" wrap="square"/>
          <a:lstStyle/>
          <a:p>
            <a:endParaRPr lang="en-US" sz="1800"/>
          </a:p>
        </p:txBody>
      </p:sp>
      <p:sp>
        <p:nvSpPr>
          <p:cNvPr id="26" name="TextBox 25"/>
          <p:cNvSpPr txBox="1"/>
          <p:nvPr/>
        </p:nvSpPr>
        <p:spPr>
          <a:xfrm>
            <a:off x="5915025" y="4679478"/>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0.461</a:t>
            </a:r>
          </a:p>
        </p:txBody>
      </p:sp>
      <p:sp>
        <p:nvSpPr>
          <p:cNvPr id="27" name="TextBox 26"/>
          <p:cNvSpPr txBox="1"/>
          <p:nvPr/>
        </p:nvSpPr>
        <p:spPr>
          <a:xfrm>
            <a:off x="7058025" y="4481902"/>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124944"/>
                </a:solidFill>
                <a:latin typeface="Nunito Ultra-Bold"/>
                <a:ea typeface="Nunito Ultra-Bold"/>
                <a:cs typeface="Nunito Ultra-Bold"/>
                <a:sym typeface="Nunito Ultra-Bold"/>
              </a:rPr>
              <a:t>0.516</a:t>
            </a:r>
          </a:p>
        </p:txBody>
      </p:sp>
      <p:sp>
        <p:nvSpPr>
          <p:cNvPr id="28" name="TextBox 27"/>
          <p:cNvSpPr txBox="1"/>
          <p:nvPr/>
        </p:nvSpPr>
        <p:spPr>
          <a:xfrm>
            <a:off x="591502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8A8378"/>
                </a:solidFill>
                <a:latin typeface="Nunito Semi-Bold"/>
                <a:ea typeface="Nunito Semi-Bold"/>
                <a:cs typeface="Nunito Semi-Bold"/>
                <a:sym typeface="Nunito Semi-Bold"/>
              </a:rPr>
              <a:t>HPCF</a:t>
            </a:r>
          </a:p>
        </p:txBody>
      </p:sp>
      <p:sp>
        <p:nvSpPr>
          <p:cNvPr id="29" name="TextBox 28"/>
          <p:cNvSpPr txBox="1"/>
          <p:nvPr/>
        </p:nvSpPr>
        <p:spPr>
          <a:xfrm>
            <a:off x="705802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124944"/>
                </a:solidFill>
                <a:latin typeface="Nunito Bold"/>
                <a:ea typeface="Nunito Bold"/>
                <a:cs typeface="Nunito Bold"/>
                <a:sym typeface="Nunito Bold"/>
              </a:rPr>
              <a:t>DyHuCoG</a:t>
            </a:r>
          </a:p>
        </p:txBody>
      </p:sp>
      <p:sp>
        <p:nvSpPr>
          <p:cNvPr id="30" name="Rounded Rectangle 29"/>
          <p:cNvSpPr/>
          <p:nvPr/>
        </p:nvSpPr>
        <p:spPr>
          <a:xfrm>
            <a:off x="6395085" y="7021322"/>
            <a:ext cx="1371600" cy="310896"/>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+11.9 %</a:t>
            </a:r>
          </a:p>
        </p:txBody>
      </p:sp>
      <p:sp>
        <p:nvSpPr>
          <p:cNvPr id="31" name="Rounded Rectangle 30"/>
          <p:cNvSpPr/>
          <p:nvPr/>
        </p:nvSpPr>
        <p:spPr>
          <a:xfrm>
            <a:off x="9281160" y="3455162"/>
            <a:ext cx="3851910" cy="3931920"/>
          </a:xfrm>
          <a:prstGeom prst="roundRect">
            <a:avLst>
              <a:gd name="adj" fmla="val 5934"/>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9281160" y="3592322"/>
            <a:ext cx="385191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111111"/>
                </a:solidFill>
                <a:latin typeface="Nunito Ultra-Bold"/>
                <a:ea typeface="Nunito Ultra-Bold"/>
                <a:cs typeface="Nunito Ultra-Bold"/>
                <a:sym typeface="Nunito Ultra-Bold"/>
              </a:rPr>
              <a:t>Coverage · Amazon-Book</a:t>
            </a:r>
          </a:p>
        </p:txBody>
      </p:sp>
      <p:sp>
        <p:nvSpPr>
          <p:cNvPr id="33" name="Rounded Rectangle 32"/>
          <p:cNvSpPr/>
          <p:nvPr/>
        </p:nvSpPr>
        <p:spPr>
          <a:xfrm>
            <a:off x="10224135" y="5770880"/>
            <a:ext cx="822960" cy="930402"/>
          </a:xfrm>
          <a:prstGeom prst="roundRect">
            <a:avLst>
              <a:gd name="adj" fmla="val 5555"/>
            </a:avLst>
          </a:prstGeom>
          <a:solidFill>
            <a:srgbClr val="B9B2A6"/>
          </a:solidFill>
          <a:ln>
            <a:noFill/>
          </a:ln>
        </p:spPr>
        <p:txBody>
          <a:bodyPr anchor="ctr" rtlCol="false" lIns="0" tIns="0" rIns="0" bIns="0" wrap="square"/>
          <a:lstStyle/>
          <a:p>
            <a:endParaRPr lang="en-US" sz="1800"/>
          </a:p>
        </p:txBody>
      </p:sp>
      <p:sp>
        <p:nvSpPr>
          <p:cNvPr id="34" name="Rounded Rectangle 33"/>
          <p:cNvSpPr/>
          <p:nvPr/>
        </p:nvSpPr>
        <p:spPr>
          <a:xfrm>
            <a:off x="11367135" y="5494274"/>
            <a:ext cx="822960" cy="1207008"/>
          </a:xfrm>
          <a:prstGeom prst="roundRect">
            <a:avLst>
              <a:gd name="adj" fmla="val 5555"/>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10041255" y="5405120"/>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0.259</a:t>
            </a:r>
          </a:p>
        </p:txBody>
      </p:sp>
      <p:sp>
        <p:nvSpPr>
          <p:cNvPr id="36" name="TextBox 35"/>
          <p:cNvSpPr txBox="1"/>
          <p:nvPr/>
        </p:nvSpPr>
        <p:spPr>
          <a:xfrm>
            <a:off x="11184255" y="5128514"/>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124944"/>
                </a:solidFill>
                <a:latin typeface="Nunito Ultra-Bold"/>
                <a:ea typeface="Nunito Ultra-Bold"/>
                <a:cs typeface="Nunito Ultra-Bold"/>
                <a:sym typeface="Nunito Ultra-Bold"/>
              </a:rPr>
              <a:t>0.336</a:t>
            </a:r>
          </a:p>
        </p:txBody>
      </p:sp>
      <p:sp>
        <p:nvSpPr>
          <p:cNvPr id="37" name="TextBox 36"/>
          <p:cNvSpPr txBox="1"/>
          <p:nvPr/>
        </p:nvSpPr>
        <p:spPr>
          <a:xfrm>
            <a:off x="1004125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8A8378"/>
                </a:solidFill>
                <a:latin typeface="Nunito Semi-Bold"/>
                <a:ea typeface="Nunito Semi-Bold"/>
                <a:cs typeface="Nunito Semi-Bold"/>
                <a:sym typeface="Nunito Semi-Bold"/>
              </a:rPr>
              <a:t>HPCF</a:t>
            </a:r>
          </a:p>
        </p:txBody>
      </p:sp>
      <p:sp>
        <p:nvSpPr>
          <p:cNvPr id="38" name="TextBox 37"/>
          <p:cNvSpPr txBox="1"/>
          <p:nvPr/>
        </p:nvSpPr>
        <p:spPr>
          <a:xfrm>
            <a:off x="1118425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124944"/>
                </a:solidFill>
                <a:latin typeface="Nunito Bold"/>
                <a:ea typeface="Nunito Bold"/>
                <a:cs typeface="Nunito Bold"/>
                <a:sym typeface="Nunito Bold"/>
              </a:rPr>
              <a:t>DyHuCoG</a:t>
            </a:r>
          </a:p>
        </p:txBody>
      </p:sp>
      <p:sp>
        <p:nvSpPr>
          <p:cNvPr id="39" name="Rounded Rectangle 38"/>
          <p:cNvSpPr/>
          <p:nvPr/>
        </p:nvSpPr>
        <p:spPr>
          <a:xfrm>
            <a:off x="10521315" y="7021322"/>
            <a:ext cx="1371600" cy="310896"/>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+29.7 %</a:t>
            </a:r>
          </a:p>
        </p:txBody>
      </p:sp>
      <p:sp>
        <p:nvSpPr>
          <p:cNvPr id="40" name="Rounded Rectangle 39"/>
          <p:cNvSpPr/>
          <p:nvPr/>
        </p:nvSpPr>
        <p:spPr>
          <a:xfrm>
            <a:off x="13407390" y="3455162"/>
            <a:ext cx="3851910" cy="3931920"/>
          </a:xfrm>
          <a:prstGeom prst="roundRect">
            <a:avLst>
              <a:gd name="adj" fmla="val 5934"/>
            </a:avLst>
          </a:prstGeom>
          <a:solidFill>
            <a:srgbClr val="F6ECDF"/>
          </a:solidFill>
          <a:ln>
            <a:noFill/>
          </a:ln>
        </p:spPr>
        <p:txBody>
          <a:bodyPr anchor="ctr" rtlCol="false" lIns="0" tIns="0" rIns="0" bIns="0" wrap="square"/>
          <a:lstStyle/>
          <a:p>
            <a:endParaRPr lang="en-US" sz="1800"/>
          </a:p>
        </p:txBody>
      </p:sp>
      <p:sp>
        <p:nvSpPr>
          <p:cNvPr id="41" name="TextBox 40"/>
          <p:cNvSpPr txBox="1"/>
          <p:nvPr/>
        </p:nvSpPr>
        <p:spPr>
          <a:xfrm>
            <a:off x="13407390" y="3592322"/>
            <a:ext cx="385191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111111"/>
                </a:solidFill>
                <a:latin typeface="Nunito Ultra-Bold"/>
                <a:ea typeface="Nunito Ultra-Bold"/>
                <a:cs typeface="Nunito Ultra-Bold"/>
                <a:sym typeface="Nunito Ultra-Bold"/>
              </a:rPr>
              <a:t>ILD · Amazon-Book</a:t>
            </a:r>
          </a:p>
        </p:txBody>
      </p:sp>
      <p:sp>
        <p:nvSpPr>
          <p:cNvPr id="42" name="Rounded Rectangle 41"/>
          <p:cNvSpPr/>
          <p:nvPr/>
        </p:nvSpPr>
        <p:spPr>
          <a:xfrm>
            <a:off x="14350365" y="4779409"/>
            <a:ext cx="822960" cy="1921872"/>
          </a:xfrm>
          <a:prstGeom prst="roundRect">
            <a:avLst>
              <a:gd name="adj" fmla="val 5555"/>
            </a:avLst>
          </a:prstGeom>
          <a:solidFill>
            <a:srgbClr val="B9B2A6"/>
          </a:solidFill>
          <a:ln>
            <a:noFill/>
          </a:ln>
        </p:spPr>
        <p:txBody>
          <a:bodyPr anchor="ctr" rtlCol="false" lIns="0" tIns="0" rIns="0" bIns="0" wrap="square"/>
          <a:lstStyle/>
          <a:p>
            <a:endParaRPr lang="en-US" sz="1800"/>
          </a:p>
        </p:txBody>
      </p:sp>
      <p:sp>
        <p:nvSpPr>
          <p:cNvPr id="43" name="Rounded Rectangle 42"/>
          <p:cNvSpPr/>
          <p:nvPr/>
        </p:nvSpPr>
        <p:spPr>
          <a:xfrm>
            <a:off x="15493365" y="4538726"/>
            <a:ext cx="822960" cy="2162556"/>
          </a:xfrm>
          <a:prstGeom prst="roundRect">
            <a:avLst>
              <a:gd name="adj" fmla="val 5555"/>
            </a:avLst>
          </a:prstGeom>
          <a:solidFill>
            <a:srgbClr val="124944"/>
          </a:solidFill>
          <a:ln>
            <a:noFill/>
          </a:ln>
        </p:spPr>
        <p:txBody>
          <a:bodyPr anchor="ctr" rtlCol="false" lIns="0" tIns="0" rIns="0" bIns="0" wrap="square"/>
          <a:lstStyle/>
          <a:p>
            <a:endParaRPr lang="en-US" sz="1800"/>
          </a:p>
        </p:txBody>
      </p:sp>
      <p:sp>
        <p:nvSpPr>
          <p:cNvPr id="44" name="TextBox 43"/>
          <p:cNvSpPr txBox="1"/>
          <p:nvPr/>
        </p:nvSpPr>
        <p:spPr>
          <a:xfrm>
            <a:off x="14167485" y="4413649"/>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0.535</a:t>
            </a:r>
          </a:p>
        </p:txBody>
      </p:sp>
      <p:sp>
        <p:nvSpPr>
          <p:cNvPr id="45" name="TextBox 44"/>
          <p:cNvSpPr txBox="1"/>
          <p:nvPr/>
        </p:nvSpPr>
        <p:spPr>
          <a:xfrm>
            <a:off x="15310485" y="4172966"/>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124944"/>
                </a:solidFill>
                <a:latin typeface="Nunito Ultra-Bold"/>
                <a:ea typeface="Nunito Ultra-Bold"/>
                <a:cs typeface="Nunito Ultra-Bold"/>
                <a:sym typeface="Nunito Ultra-Bold"/>
              </a:rPr>
              <a:t>0.602</a:t>
            </a:r>
          </a:p>
        </p:txBody>
      </p:sp>
      <p:sp>
        <p:nvSpPr>
          <p:cNvPr id="46" name="TextBox 45"/>
          <p:cNvSpPr txBox="1"/>
          <p:nvPr/>
        </p:nvSpPr>
        <p:spPr>
          <a:xfrm>
            <a:off x="1416748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8A8378"/>
                </a:solidFill>
                <a:latin typeface="Nunito Semi-Bold"/>
                <a:ea typeface="Nunito Semi-Bold"/>
                <a:cs typeface="Nunito Semi-Bold"/>
                <a:sym typeface="Nunito Semi-Bold"/>
              </a:rPr>
              <a:t>HPCF</a:t>
            </a:r>
          </a:p>
        </p:txBody>
      </p:sp>
      <p:sp>
        <p:nvSpPr>
          <p:cNvPr id="47" name="TextBox 46"/>
          <p:cNvSpPr txBox="1"/>
          <p:nvPr/>
        </p:nvSpPr>
        <p:spPr>
          <a:xfrm>
            <a:off x="1531048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124944"/>
                </a:solidFill>
                <a:latin typeface="Nunito Bold"/>
                <a:ea typeface="Nunito Bold"/>
                <a:cs typeface="Nunito Bold"/>
                <a:sym typeface="Nunito Bold"/>
              </a:rPr>
              <a:t>DyHuCoG</a:t>
            </a:r>
          </a:p>
        </p:txBody>
      </p:sp>
      <p:sp>
        <p:nvSpPr>
          <p:cNvPr id="48" name="Rounded Rectangle 47"/>
          <p:cNvSpPr/>
          <p:nvPr/>
        </p:nvSpPr>
        <p:spPr>
          <a:xfrm>
            <a:off x="14647545" y="7021322"/>
            <a:ext cx="1371600" cy="310896"/>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+12.5 %</a:t>
            </a:r>
          </a:p>
        </p:txBody>
      </p:sp>
      <p:sp>
        <p:nvSpPr>
          <p:cNvPr id="49" name="Rounded Rectangle 48"/>
          <p:cNvSpPr/>
          <p:nvPr/>
        </p:nvSpPr>
        <p:spPr>
          <a:xfrm>
            <a:off x="1028700" y="7798562"/>
            <a:ext cx="16230600" cy="1555750"/>
          </a:xfrm>
          <a:prstGeom prst="roundRect">
            <a:avLst>
              <a:gd name="adj" fmla="val 14693"/>
            </a:avLst>
          </a:prstGeom>
          <a:solidFill>
            <a:srgbClr val="124944"/>
          </a:solidFill>
          <a:ln>
            <a:noFill/>
          </a:ln>
        </p:spPr>
        <p:txBody>
          <a:bodyPr anchor="ctr" rtlCol="false" lIns="457200" tIns="91440" rIns="457200" bIns="91440" wrap="square"/>
          <a:lstStyle/>
          <a:p>
            <a:pPr algn="ctr">
              <a:lnSpc>
                <a:spcPts val="2800"/>
              </a:lnSpc>
              <a:spcBef>
                <a:spcPts val="0"/>
              </a:spcBef>
              <a:buNone/>
            </a:pPr>
            <a:r>
              <a:rPr lang="en-US" sz="2200" b="true">
                <a:solidFill>
                  <a:srgbClr val="FFFFFF"/>
                </a:solidFill>
                <a:latin typeface="Nunito Bold"/>
                <a:ea typeface="Nunito Bold"/>
                <a:cs typeface="Nunito Bold"/>
                <a:sym typeface="Nunito Bold"/>
              </a:rPr>
              <a:t>Smaller filter-bubble effect and more discovery for the user</a:t>
            </a:r>
            <a:r>
              <a:rPr lang="en-US" sz="2200" b="true">
                <a:solidFill>
                  <a:srgbClr val="FFFFFF"/>
                </a:solidFill>
                <a:latin typeface="Nunito Semi-Bold"/>
                <a:ea typeface="Nunito Semi-Bold"/>
                <a:cs typeface="Nunito Semi-Bold"/>
                <a:sym typeface="Nunito Semi-Bold"/>
              </a:rPr>
              <a:t>, while NDCG and Recall also improve: </a:t>
            </a:r>
            <a:r>
              <a:rPr lang="en-US" sz="2200" b="true">
                <a:solidFill>
                  <a:srgbClr val="FFFFFF"/>
                </a:solidFill>
                <a:latin typeface="Nunito Bold"/>
                <a:ea typeface="Nunito Bold"/>
                <a:cs typeface="Nunito Bold"/>
                <a:sym typeface="Nunito Bold"/>
              </a:rPr>
              <a:t>accuracy is not traded for diversity</a:t>
            </a:r>
            <a:r>
              <a:rPr lang="en-US" sz="220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pic>
        <p:nvPicPr>
          <p:cNvPr id="8" name="Picture 7" descr="image.png"/>
          <p:cNvPicPr>
            <a:picLocks noChangeAspect="1"/>
          </p:cNvPicPr>
          <p:nvPr/>
        </p:nvPicPr>
        <p:blipFill>
          <a:blip r:embed="rId2"/>
          <a:stretch>
            <a:fillRect/>
          </a:stretch>
        </p:blipFill>
        <p:spPr>
          <a:xfrm>
            <a:off x="11596440" y="1673352"/>
            <a:ext cx="457200" cy="373212"/>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13" name="Table 12"/>
          <p:cNvGraphicFramePr>
            <a:graphicFrameLocks noGrp="1"/>
          </p:cNvGraphicFramePr>
          <p:nvPr/>
        </p:nvGraphicFramePr>
        <p:xfrm>
          <a:off x="1028700" y="3363722"/>
          <a:ext cx="9692640" cy="4650232"/>
        </p:xfrm>
        <a:graphic>
          <a:graphicData uri="http://schemas.openxmlformats.org/drawingml/2006/table">
            <a:tbl>
              <a:tblPr firstRow="0" bandRow="0" firstCol="0" lastRow="0" lastCol="0" bandCol="0">
                <a:tableStyleId>{2D5ABB26-0587-4C30-8999-92F81FD0307C}</a:tableStyleId>
              </a:tblPr>
              <a:tblGrid>
                <a:gridCol w="2743200"/>
                <a:gridCol w="2011680"/>
                <a:gridCol w="1371600"/>
                <a:gridCol w="2194560"/>
                <a:gridCol w="1371600"/>
              </a:tblGrid>
              <a:tr h="809752">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Variant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ML-1M NDCG@20</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 drop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Amazon NDCG@20</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 drop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Full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0.0306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w/o Shapley value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0.2647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4.6 %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0.0287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6.1 %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w/o 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0.2586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6.8 %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0.0279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8.9 %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w/o Attention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0.2678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3.5 %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0.0295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3.5 %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w/o Context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0.2547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8.2 %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11.0 %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w/o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0.2614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5.8 %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0.0288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5.8 %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4" name="Rounded Rectangle 13"/>
          <p:cNvSpPr/>
          <p:nvPr/>
        </p:nvSpPr>
        <p:spPr>
          <a:xfrm>
            <a:off x="11178540" y="3592322"/>
            <a:ext cx="608076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11635740" y="3354578"/>
            <a:ext cx="175740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Reading</a:t>
            </a:r>
          </a:p>
        </p:txBody>
      </p:sp>
      <p:sp>
        <p:nvSpPr>
          <p:cNvPr id="16" name="TextBox 15"/>
          <p:cNvSpPr txBox="1"/>
          <p:nvPr/>
        </p:nvSpPr>
        <p:spPr>
          <a:xfrm>
            <a:off x="11635740" y="4232402"/>
            <a:ext cx="5212080" cy="480187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Context</a:t>
            </a:r>
            <a:r>
              <a:rPr lang="en-US" sz="1800" b="true">
                <a:solidFill>
                  <a:srgbClr val="FFFFFF"/>
                </a:solidFill>
                <a:latin typeface="Nunito Semi-Bold"/>
                <a:ea typeface="Nunito Semi-Bold"/>
                <a:cs typeface="Nunito Semi-Bold"/>
                <a:sym typeface="Nunito Semi-Bold"/>
              </a:rPr>
              <a:t> is the most important component (−8.2 % / −11.0 %).</a:t>
            </a:r>
          </a:p>
          <a:p>
            <a:pPr algn="l" marL="274320" indent="-274320">
              <a:lnSpc>
                <a:spcPts val="2520"/>
              </a:lnSpc>
              <a:spcBef>
                <a:spcPts val="80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Hypergraph</a:t>
            </a:r>
            <a:r>
              <a:rPr lang="en-US" sz="1800" b="true">
                <a:solidFill>
                  <a:srgbClr val="FFFFFF"/>
                </a:solidFill>
                <a:latin typeface="Nunito Semi-Bold"/>
                <a:ea typeface="Nunito Semi-Bold"/>
                <a:cs typeface="Nunito Semi-Bold"/>
                <a:sym typeface="Nunito Semi-Bold"/>
              </a:rPr>
              <a:t> structure second (−6.8 % / −8.9 %).</a:t>
            </a:r>
          </a:p>
          <a:p>
            <a:pPr algn="l" marL="274320" indent="-274320">
              <a:lnSpc>
                <a:spcPts val="2520"/>
              </a:lnSpc>
              <a:spcBef>
                <a:spcPts val="8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Removing </a:t>
            </a:r>
            <a:r>
              <a:rPr lang="en-US" sz="1800" b="true">
                <a:solidFill>
                  <a:srgbClr val="FFFFFF"/>
                </a:solidFill>
                <a:latin typeface="Nunito Bold"/>
                <a:ea typeface="Nunito Bold"/>
                <a:cs typeface="Nunito Bold"/>
                <a:sym typeface="Nunito Bold"/>
              </a:rPr>
              <a:t>Shapley</a:t>
            </a:r>
            <a:r>
              <a:rPr lang="en-US" sz="1800" b="true">
                <a:solidFill>
                  <a:srgbClr val="FFFFFF"/>
                </a:solidFill>
                <a:latin typeface="Nunito Semi-Bold"/>
                <a:ea typeface="Nunito Semi-Bold"/>
                <a:cs typeface="Nunito Semi-Bold"/>
                <a:sym typeface="Nunito Semi-Bold"/>
              </a:rPr>
              <a:t> weighting costs 4.6 % / 6.1 %, more on the sparser dataset.</a:t>
            </a:r>
          </a:p>
          <a:p>
            <a:pPr algn="l" marL="274320" indent="-274320">
              <a:lnSpc>
                <a:spcPts val="2520"/>
              </a:lnSpc>
              <a:spcBef>
                <a:spcPts val="8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pic>
        <p:nvPicPr>
          <p:cNvPr id="8" name="Picture 7" descr="image.png"/>
          <p:cNvPicPr>
            <a:picLocks noChangeAspect="1"/>
          </p:cNvPicPr>
          <p:nvPr/>
        </p:nvPicPr>
        <p:blipFill>
          <a:blip r:embed="rId2"/>
          <a:stretch>
            <a:fillRect/>
          </a:stretch>
        </p:blipFill>
        <p:spPr>
          <a:xfrm>
            <a:off x="10646093" y="1673352"/>
            <a:ext cx="457200" cy="427074"/>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385191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14" name="Rounded Rectangle 13"/>
          <p:cNvSpPr/>
          <p:nvPr/>
        </p:nvSpPr>
        <p:spPr>
          <a:xfrm>
            <a:off x="5154930" y="3455162"/>
            <a:ext cx="385191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15" name="Rounded Rectangle 14"/>
          <p:cNvSpPr/>
          <p:nvPr/>
        </p:nvSpPr>
        <p:spPr>
          <a:xfrm>
            <a:off x="9281160" y="3455162"/>
            <a:ext cx="385191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16" name="Rounded Rectangle 15"/>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17" name="Rounded Rectangle 16"/>
          <p:cNvSpPr/>
          <p:nvPr/>
        </p:nvSpPr>
        <p:spPr>
          <a:xfrm>
            <a:off x="1028700" y="6198362"/>
            <a:ext cx="7932420" cy="3155950"/>
          </a:xfrm>
          <a:prstGeom prst="roundRect">
            <a:avLst>
              <a:gd name="adj" fmla="val 9851"/>
            </a:avLst>
          </a:prstGeom>
          <a:solidFill>
            <a:srgbClr val="F6ECDF"/>
          </a:solidFill>
          <a:ln>
            <a:noFill/>
          </a:ln>
        </p:spPr>
        <p:txBody>
          <a:bodyPr anchor="ctr" rtlCol="false" lIns="0" tIns="0" rIns="0" bIns="0" wrap="square"/>
          <a:lstStyle/>
          <a:p>
            <a:endParaRPr lang="en-US" sz="1800"/>
          </a:p>
        </p:txBody>
      </p:sp>
      <p:sp>
        <p:nvSpPr>
          <p:cNvPr id="18" name="Rounded Rectangle 17"/>
          <p:cNvSpPr/>
          <p:nvPr/>
        </p:nvSpPr>
        <p:spPr>
          <a:xfrm>
            <a:off x="1485900" y="5960618"/>
            <a:ext cx="218505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19" name="TextBox 18"/>
          <p:cNvSpPr txBox="1"/>
          <p:nvPr/>
        </p:nvSpPr>
        <p:spPr>
          <a:xfrm>
            <a:off x="1531620" y="6838442"/>
            <a:ext cx="6972300" cy="160147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20"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L</m:t>
                          </m:r>
                          <m:r>
                            <m:rPr>
                              <m:sty m:val="p"/>
                            </m:rPr>
                            <a:rPr lang="en-US" sz="2000">
                              <a:solidFill>
                                <a:srgbClr val="124944"/>
                              </a:solidFill>
                              <a:latin typeface="Cambria Math" panose="02040503050406030204" pitchFamily="18" charset="0"/>
                            </a:rPr>
                            <m:t xml:space="preserve">+1) </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d</m:t>
                          </m:r>
                        </m:e>
                      </m:d>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f</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m</m:t>
                          </m:r>
                        </m:e>
                      </m:d>
                    </m:oMath>
                  </m:oMathPara>
                </a14:m>
                <a:endParaRPr lang="en-US" sz="2000"/>
              </a:p>
            </p:txBody>
          </p:sp>
        </mc:Choice>
        <mc:Fallback>
          <p:sp>
            <p:nvSpPr>
              <p:cNvPr id="20" name="Equation"/>
              <p:cNvSpPr txBox="1"/>
              <p:nvPr/>
            </p:nvSpPr>
            <p:spPr>
              <a:xfrm>
                <a:off x="1531620" y="8485632"/>
                <a:ext cx="6926580" cy="640080"/>
              </a:xfrm>
              <a:prstGeom prst="rect">
                <a:avLst/>
              </a:prstGeom>
              <a:blipFill>
                <a:blip r:embed="rId4"/>
                <a:stretch>
                  <a:fillRect/>
                </a:stretch>
              </a:blipFill>
            </p:spPr>
            <p:txBody>
              <a:bodyPr/>
              <a:lstStyle/>
              <a:p>
                <a:endParaRPr lang="en-US"/>
              </a:p>
            </p:txBody>
          </p:sp>
        </mc:Fallback>
      </mc:AlternateContent>
      <p:sp>
        <p:nvSpPr>
          <p:cNvPr id="21" name="Rounded Rectangle 20"/>
          <p:cNvSpPr/>
          <p:nvPr/>
        </p:nvSpPr>
        <p:spPr>
          <a:xfrm>
            <a:off x="9326880" y="6198362"/>
            <a:ext cx="7932420" cy="3155950"/>
          </a:xfrm>
          <a:prstGeom prst="roundRect">
            <a:avLst>
              <a:gd name="adj" fmla="val 9851"/>
            </a:avLst>
          </a:prstGeom>
          <a:solidFill>
            <a:srgbClr val="124944"/>
          </a:solidFill>
          <a:ln>
            <a:noFill/>
          </a:ln>
        </p:spPr>
        <p:txBody>
          <a:bodyPr anchor="ctr" rtlCol="false" lIns="0" tIns="0" rIns="0" bIns="0" wrap="square"/>
          <a:lstStyle/>
          <a:p>
            <a:endParaRPr lang="en-US" sz="1800"/>
          </a:p>
        </p:txBody>
      </p:sp>
      <p:sp>
        <p:nvSpPr>
          <p:cNvPr id="22" name="Rounded Rectangle 21"/>
          <p:cNvSpPr/>
          <p:nvPr/>
        </p:nvSpPr>
        <p:spPr>
          <a:xfrm>
            <a:off x="9784080" y="596061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Convergence</a:t>
            </a:r>
          </a:p>
        </p:txBody>
      </p:sp>
      <p:sp>
        <p:nvSpPr>
          <p:cNvPr id="23" name="TextBox 22"/>
          <p:cNvSpPr txBox="1"/>
          <p:nvPr/>
        </p:nvSpPr>
        <p:spPr>
          <a:xfrm>
            <a:off x="9829800" y="6838442"/>
            <a:ext cx="6972300" cy="224155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pic>
        <p:nvPicPr>
          <p:cNvPr id="8" name="Picture 7" descr="image.png"/>
          <p:cNvPicPr>
            <a:picLocks noChangeAspect="1"/>
          </p:cNvPicPr>
          <p:nvPr/>
        </p:nvPicPr>
        <p:blipFill>
          <a:blip r:embed="rId2"/>
          <a:stretch>
            <a:fillRect/>
          </a:stretch>
        </p:blipFill>
        <p:spPr>
          <a:xfrm>
            <a:off x="7141903" y="1673352"/>
            <a:ext cx="457200" cy="39900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5196840" cy="2194560"/>
          </a:xfrm>
          <a:prstGeom prst="roundRect">
            <a:avLst>
              <a:gd name="adj" fmla="val 12500"/>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14"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14" name="Equation"/>
              <p:cNvSpPr txBox="1"/>
              <p:nvPr/>
            </p:nvSpPr>
            <p:spPr>
              <a:xfrm>
                <a:off x="1211580" y="3729482"/>
                <a:ext cx="4831080" cy="1051560"/>
              </a:xfrm>
              <a:prstGeom prst="rect">
                <a:avLst/>
              </a:prstGeom>
              <a:blipFill>
                <a:blip r:embed="rId4"/>
                <a:stretch>
                  <a:fillRect/>
                </a:stretch>
              </a:blipFill>
            </p:spPr>
            <p:txBody>
              <a:bodyPr/>
              <a:lstStyle/>
              <a:p>
                <a:endParaRPr lang="en-US"/>
              </a:p>
            </p:txBody>
          </p:sp>
        </mc:Fallback>
      </mc:AlternateContent>
      <p:sp>
        <p:nvSpPr>
          <p:cNvPr id="15" name="TextBox 14"/>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16" name="Rounded Rectangle 15"/>
          <p:cNvSpPr/>
          <p:nvPr/>
        </p:nvSpPr>
        <p:spPr>
          <a:xfrm>
            <a:off x="6545580" y="3455162"/>
            <a:ext cx="5196840" cy="2194560"/>
          </a:xfrm>
          <a:prstGeom prst="roundRect">
            <a:avLst>
              <a:gd name="adj" fmla="val 12500"/>
            </a:avLst>
          </a:prstGeom>
          <a:solidFill>
            <a:srgbClr val="1E5F58"/>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17"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17" name="Equation"/>
              <p:cNvSpPr txBox="1"/>
              <p:nvPr/>
            </p:nvSpPr>
            <p:spPr>
              <a:xfrm>
                <a:off x="6728460" y="3729482"/>
                <a:ext cx="4831080" cy="1051560"/>
              </a:xfrm>
              <a:prstGeom prst="rect">
                <a:avLst/>
              </a:prstGeom>
              <a:blipFill>
                <a:blip r:embed="rId5"/>
                <a:stretch>
                  <a:fillRect/>
                </a:stretch>
              </a:blipFill>
            </p:spPr>
            <p:txBody>
              <a:bodyPr/>
              <a:lstStyle/>
              <a:p>
                <a:endParaRPr lang="en-US"/>
              </a:p>
            </p:txBody>
          </p:sp>
        </mc:Fallback>
      </mc:AlternateContent>
      <p:sp>
        <p:nvSpPr>
          <p:cNvPr id="18" name="TextBox 17"/>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19" name="Rounded Rectangle 18"/>
          <p:cNvSpPr/>
          <p:nvPr/>
        </p:nvSpPr>
        <p:spPr>
          <a:xfrm>
            <a:off x="12062460" y="3455162"/>
            <a:ext cx="5196840" cy="2194560"/>
          </a:xfrm>
          <a:prstGeom prst="roundRect">
            <a:avLst>
              <a:gd name="adj" fmla="val 12500"/>
            </a:avLst>
          </a:prstGeom>
          <a:solidFill>
            <a:srgbClr val="DF8330"/>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0"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20" name="Equation"/>
              <p:cNvSpPr txBox="1"/>
              <p:nvPr/>
            </p:nvSpPr>
            <p:spPr>
              <a:xfrm>
                <a:off x="12245340" y="3729482"/>
                <a:ext cx="4831080" cy="1051560"/>
              </a:xfrm>
              <a:prstGeom prst="rect">
                <a:avLst/>
              </a:prstGeom>
              <a:blipFill>
                <a:blip r:embed="rId6"/>
                <a:stretch>
                  <a:fillRect/>
                </a:stretch>
              </a:blipFill>
            </p:spPr>
            <p:txBody>
              <a:bodyPr/>
              <a:lstStyle/>
              <a:p>
                <a:endParaRPr lang="en-US"/>
              </a:p>
            </p:txBody>
          </p:sp>
        </mc:Fallback>
      </mc:AlternateContent>
      <p:sp>
        <p:nvSpPr>
          <p:cNvPr id="21" name="TextBox 20"/>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22" name="Rounded Rectangle 21"/>
          <p:cNvSpPr/>
          <p:nvPr/>
        </p:nvSpPr>
        <p:spPr>
          <a:xfrm>
            <a:off x="1028700" y="6289802"/>
            <a:ext cx="16230600" cy="3018790"/>
          </a:xfrm>
          <a:prstGeom prst="roundRect">
            <a:avLst>
              <a:gd name="adj" fmla="val 10298"/>
            </a:avLst>
          </a:prstGeom>
          <a:solidFill>
            <a:srgbClr val="F6ECDF"/>
          </a:solidFill>
          <a:ln>
            <a:noFill/>
          </a:ln>
        </p:spPr>
        <p:txBody>
          <a:bodyPr anchor="ctr" rtlCol="false" lIns="0" tIns="0" rIns="0" bIns="0" wrap="square"/>
          <a:lstStyle/>
          <a:p>
            <a:endParaRPr lang="en-US" sz="1800"/>
          </a:p>
        </p:txBody>
      </p:sp>
      <p:sp>
        <p:nvSpPr>
          <p:cNvPr id="23" name="Rounded Rectangle 22"/>
          <p:cNvSpPr/>
          <p:nvPr/>
        </p:nvSpPr>
        <p:spPr>
          <a:xfrm>
            <a:off x="1485900" y="6052058"/>
            <a:ext cx="179424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24" name="TextBox 23"/>
          <p:cNvSpPr txBox="1"/>
          <p:nvPr/>
        </p:nvSpPr>
        <p:spPr>
          <a:xfrm>
            <a:off x="1531620" y="6929882"/>
            <a:ext cx="15270480" cy="2104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Cold-Start, Cross-Dataset Robustness and Interpretability</a:t>
            </a:r>
          </a:p>
        </p:txBody>
      </p:sp>
      <p:pic>
        <p:nvPicPr>
          <p:cNvPr id="8" name="Picture 7" descr="image.png"/>
          <p:cNvPicPr>
            <a:picLocks noChangeAspect="1"/>
          </p:cNvPicPr>
          <p:nvPr/>
        </p:nvPicPr>
        <p:blipFill>
          <a:blip r:embed="rId2"/>
          <a:stretch>
            <a:fillRect/>
          </a:stretch>
        </p:blipFill>
        <p:spPr>
          <a:xfrm>
            <a:off x="16119690" y="1673352"/>
            <a:ext cx="457200" cy="44671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592322"/>
            <a:ext cx="7932420" cy="2926080"/>
          </a:xfrm>
          <a:prstGeom prst="roundRect">
            <a:avLst>
              <a:gd name="adj" fmla="val 10625"/>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4398958"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Cold-start (≤ 5 interactions)</a:t>
            </a:r>
          </a:p>
        </p:txBody>
      </p:sp>
      <p:sp>
        <p:nvSpPr>
          <p:cNvPr id="15" name="TextBox 14"/>
          <p:cNvSpPr txBox="1"/>
          <p:nvPr/>
        </p:nvSpPr>
        <p:spPr>
          <a:xfrm>
            <a:off x="1531620" y="4232402"/>
            <a:ext cx="6972300" cy="201168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NDCG@20 ≈ </a:t>
            </a:r>
            <a:r>
              <a:rPr lang="en-US" sz="2000" b="true">
                <a:solidFill>
                  <a:srgbClr val="FFFFFF"/>
                </a:solidFill>
                <a:latin typeface="Nunito Bold"/>
                <a:ea typeface="Nunito Bold"/>
                <a:cs typeface="Nunito Bold"/>
                <a:sym typeface="Nunito Bold"/>
              </a:rPr>
              <a:t>0.061</a:t>
            </a:r>
            <a:r>
              <a:rPr lang="en-US" sz="2000" b="true">
                <a:solidFill>
                  <a:srgbClr val="FFFFFF"/>
                </a:solidFill>
                <a:latin typeface="Nunito Semi-Bold"/>
                <a:ea typeface="Nunito Semi-Bold"/>
                <a:cs typeface="Nunito Semi-Bold"/>
                <a:sym typeface="Nunito Semi-Bold"/>
              </a:rPr>
              <a:t> (user) and </a:t>
            </a:r>
            <a:r>
              <a:rPr lang="en-US" sz="2000" b="true">
                <a:solidFill>
                  <a:srgbClr val="FFFFFF"/>
                </a:solidFill>
                <a:latin typeface="Nunito Bold"/>
                <a:ea typeface="Nunito Bold"/>
                <a:cs typeface="Nunito Bold"/>
                <a:sym typeface="Nunito Bold"/>
              </a:rPr>
              <a:t>0.057</a:t>
            </a:r>
            <a:r>
              <a:rPr lang="en-US" sz="2000" b="true">
                <a:solidFill>
                  <a:srgbClr val="FFFFFF"/>
                </a:solidFill>
                <a:latin typeface="Nunito Semi-Bold"/>
                <a:ea typeface="Nunito Semi-Bold"/>
                <a:cs typeface="Nunito Semi-Bold"/>
                <a:sym typeface="Nunito Semi-Bold"/>
              </a:rPr>
              <a:t> (item).</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About </a:t>
            </a:r>
            <a:r>
              <a:rPr lang="en-US" sz="2000" b="true">
                <a:solidFill>
                  <a:srgbClr val="FFFFFF"/>
                </a:solidFill>
                <a:latin typeface="Nunito Bold"/>
                <a:ea typeface="Nunito Bold"/>
                <a:cs typeface="Nunito Bold"/>
                <a:sym typeface="Nunito Bold"/>
              </a:rPr>
              <a:t>10 % over HPCF</a:t>
            </a:r>
            <a:r>
              <a:rPr lang="en-US" sz="2000" b="true">
                <a:solidFill>
                  <a:srgbClr val="FFFFFF"/>
                </a:solidFill>
                <a:latin typeface="Nunito Semi-Bold"/>
                <a:ea typeface="Nunito Semi-Bold"/>
                <a:cs typeface="Nunito Semi-Bold"/>
                <a:sym typeface="Nunito Semi-Bold"/>
              </a:rPr>
              <a:t>: Shapley weighting helps exactly where the signal is weakest.</a:t>
            </a:r>
          </a:p>
        </p:txBody>
      </p:sp>
      <p:sp>
        <p:nvSpPr>
          <p:cNvPr id="16" name="Rounded Rectangle 15"/>
          <p:cNvSpPr/>
          <p:nvPr/>
        </p:nvSpPr>
        <p:spPr>
          <a:xfrm>
            <a:off x="9326880" y="3592322"/>
            <a:ext cx="7932420" cy="2926080"/>
          </a:xfrm>
          <a:prstGeom prst="roundRect">
            <a:avLst>
              <a:gd name="adj" fmla="val 10625"/>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4733073" cy="438912"/>
          </a:xfrm>
          <a:prstGeom prst="roundRect">
            <a:avLst>
              <a:gd name="adj" fmla="val 50000"/>
            </a:avLst>
          </a:prstGeom>
          <a:solidFill>
            <a:srgbClr val="124944"/>
          </a:solidFill>
          <a:ln>
            <a:no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Cross-dataset NDCG@20 gain</a:t>
            </a:r>
          </a:p>
        </p:txBody>
      </p:sp>
      <p:sp>
        <p:nvSpPr>
          <p:cNvPr id="18" name="Rounded Rectangle 17"/>
          <p:cNvSpPr/>
          <p:nvPr/>
        </p:nvSpPr>
        <p:spPr>
          <a:xfrm>
            <a:off x="9784080" y="4278122"/>
            <a:ext cx="2186940" cy="1783080"/>
          </a:xfrm>
          <a:prstGeom prst="roundRect">
            <a:avLst>
              <a:gd name="adj" fmla="val 15384"/>
            </a:avLst>
          </a:prstGeom>
          <a:solidFill>
            <a:srgbClr val="FFFFFF"/>
          </a:solidFill>
          <a:ln>
            <a:noFill/>
          </a:ln>
        </p:spPr>
        <p:txBody>
          <a:bodyPr anchor="ctr" rtlCol="false" lIns="137160" tIns="91440" rIns="137160" bIns="91440" wrap="square"/>
          <a:lstStyle/>
          <a:p>
            <a:pPr algn="ctr">
              <a:lnSpc>
                <a:spcPts val="3300"/>
              </a:lnSpc>
              <a:spcBef>
                <a:spcPts val="0"/>
              </a:spcBef>
              <a:buNone/>
            </a:pPr>
            <a:r>
              <a:rPr lang="en-US" sz="3000" b="true">
                <a:solidFill>
                  <a:srgbClr val="124944"/>
                </a:solidFill>
                <a:latin typeface="Nunito Ultra-Bold"/>
                <a:ea typeface="Nunito Ultra-Bold"/>
                <a:cs typeface="Nunito Ultra-Bold"/>
                <a:sym typeface="Nunito Ultra-Bold"/>
              </a:rPr>
              <a:t>+9.9 %</a:t>
            </a:r>
          </a:p>
          <a:p>
            <a:pPr algn="ctr">
              <a:lnSpc>
                <a:spcPts val="1875"/>
              </a:lnSpc>
              <a:spcBef>
                <a:spcPts val="400"/>
              </a:spcBef>
              <a:buNone/>
            </a:pPr>
            <a:r>
              <a:rPr lang="en-US" sz="1500" b="true">
                <a:solidFill>
                  <a:srgbClr val="111111"/>
                </a:solidFill>
                <a:latin typeface="Nunito Semi-Bold"/>
                <a:ea typeface="Nunito Semi-Bold"/>
                <a:cs typeface="Nunito Semi-Bold"/>
                <a:sym typeface="Nunito Semi-Bold"/>
              </a:rPr>
              <a:t>MovieLens-1M</a:t>
            </a:r>
          </a:p>
        </p:txBody>
      </p:sp>
      <p:sp>
        <p:nvSpPr>
          <p:cNvPr id="19" name="Rounded Rectangle 18"/>
          <p:cNvSpPr/>
          <p:nvPr/>
        </p:nvSpPr>
        <p:spPr>
          <a:xfrm>
            <a:off x="12199620" y="4278122"/>
            <a:ext cx="2186940" cy="1783080"/>
          </a:xfrm>
          <a:prstGeom prst="roundRect">
            <a:avLst>
              <a:gd name="adj" fmla="val 15384"/>
            </a:avLst>
          </a:prstGeom>
          <a:solidFill>
            <a:srgbClr val="FFFFFF"/>
          </a:solidFill>
          <a:ln>
            <a:noFill/>
          </a:ln>
        </p:spPr>
        <p:txBody>
          <a:bodyPr anchor="ctr" rtlCol="false" lIns="137160" tIns="91440" rIns="137160" bIns="91440" wrap="square"/>
          <a:lstStyle/>
          <a:p>
            <a:pPr algn="ctr">
              <a:lnSpc>
                <a:spcPts val="3300"/>
              </a:lnSpc>
              <a:spcBef>
                <a:spcPts val="0"/>
              </a:spcBef>
              <a:buNone/>
            </a:pPr>
            <a:r>
              <a:rPr lang="en-US" sz="3000" b="true">
                <a:solidFill>
                  <a:srgbClr val="124944"/>
                </a:solidFill>
                <a:latin typeface="Nunito Ultra-Bold"/>
                <a:ea typeface="Nunito Ultra-Bold"/>
                <a:cs typeface="Nunito Ultra-Bold"/>
                <a:sym typeface="Nunito Ultra-Bold"/>
              </a:rPr>
              <a:t>+14.8 %</a:t>
            </a:r>
          </a:p>
          <a:p>
            <a:pPr algn="ctr">
              <a:lnSpc>
                <a:spcPts val="1875"/>
              </a:lnSpc>
              <a:spcBef>
                <a:spcPts val="400"/>
              </a:spcBef>
              <a:buNone/>
            </a:pPr>
            <a:r>
              <a:rPr lang="en-US" sz="1500" b="true">
                <a:solidFill>
                  <a:srgbClr val="111111"/>
                </a:solidFill>
                <a:latin typeface="Nunito Semi-Bold"/>
                <a:ea typeface="Nunito Semi-Bold"/>
                <a:cs typeface="Nunito Semi-Bold"/>
                <a:sym typeface="Nunito Semi-Bold"/>
              </a:rPr>
              <a:t>Amazon-Book</a:t>
            </a:r>
          </a:p>
        </p:txBody>
      </p:sp>
      <p:sp>
        <p:nvSpPr>
          <p:cNvPr id="20" name="Rounded Rectangle 19"/>
          <p:cNvSpPr/>
          <p:nvPr/>
        </p:nvSpPr>
        <p:spPr>
          <a:xfrm>
            <a:off x="14615160" y="4278122"/>
            <a:ext cx="2186940" cy="1783080"/>
          </a:xfrm>
          <a:prstGeom prst="roundRect">
            <a:avLst>
              <a:gd name="adj" fmla="val 15384"/>
            </a:avLst>
          </a:prstGeom>
          <a:solidFill>
            <a:srgbClr val="FFFFFF"/>
          </a:solidFill>
          <a:ln>
            <a:noFill/>
          </a:ln>
        </p:spPr>
        <p:txBody>
          <a:bodyPr anchor="ctr" rtlCol="false" lIns="137160" tIns="91440" rIns="137160" bIns="91440" wrap="square"/>
          <a:lstStyle/>
          <a:p>
            <a:pPr algn="ctr">
              <a:lnSpc>
                <a:spcPts val="3300"/>
              </a:lnSpc>
              <a:spcBef>
                <a:spcPts val="0"/>
              </a:spcBef>
              <a:buNone/>
            </a:pPr>
            <a:r>
              <a:rPr lang="en-US" sz="3000" b="true">
                <a:solidFill>
                  <a:srgbClr val="124944"/>
                </a:solidFill>
                <a:latin typeface="Nunito Ultra-Bold"/>
                <a:ea typeface="Nunito Ultra-Bold"/>
                <a:cs typeface="Nunito Ultra-Bold"/>
                <a:sym typeface="Nunito Ultra-Bold"/>
              </a:rPr>
              <a:t>+11.8 %</a:t>
            </a:r>
          </a:p>
          <a:p>
            <a:pPr algn="ctr">
              <a:lnSpc>
                <a:spcPts val="1875"/>
              </a:lnSpc>
              <a:spcBef>
                <a:spcPts val="400"/>
              </a:spcBef>
              <a:buNone/>
            </a:pPr>
            <a:r>
              <a:rPr lang="en-US" sz="1500" b="true">
                <a:solidFill>
                  <a:srgbClr val="111111"/>
                </a:solidFill>
                <a:latin typeface="Nunito Semi-Bold"/>
                <a:ea typeface="Nunito Semi-Bold"/>
                <a:cs typeface="Nunito Semi-Bold"/>
                <a:sym typeface="Nunito Semi-Bold"/>
              </a:rPr>
              <a:t>Yelp2018</a:t>
            </a:r>
          </a:p>
        </p:txBody>
      </p:sp>
      <p:sp>
        <p:nvSpPr>
          <p:cNvPr id="21" name="Rounded Rectangle 20"/>
          <p:cNvSpPr/>
          <p:nvPr/>
        </p:nvSpPr>
        <p:spPr>
          <a:xfrm>
            <a:off x="1028700" y="7112762"/>
            <a:ext cx="16230600" cy="2195830"/>
          </a:xfrm>
          <a:prstGeom prst="roundRect">
            <a:avLst>
              <a:gd name="adj" fmla="val 14158"/>
            </a:avLst>
          </a:prstGeom>
          <a:solidFill>
            <a:srgbClr val="F6ECDF"/>
          </a:solidFill>
          <a:ln>
            <a:noFill/>
          </a:ln>
        </p:spPr>
        <p:txBody>
          <a:bodyPr anchor="ctr" rtlCol="false" lIns="0" tIns="0" rIns="0" bIns="0" wrap="square"/>
          <a:lstStyle/>
          <a:p>
            <a:endParaRPr lang="en-US" sz="1800"/>
          </a:p>
        </p:txBody>
      </p:sp>
      <p:sp>
        <p:nvSpPr>
          <p:cNvPr id="22" name="Rounded Rectangle 21"/>
          <p:cNvSpPr/>
          <p:nvPr/>
        </p:nvSpPr>
        <p:spPr>
          <a:xfrm>
            <a:off x="1485900" y="6875018"/>
            <a:ext cx="503150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Interpretability &amp; popularity bias</a:t>
            </a:r>
          </a:p>
        </p:txBody>
      </p:sp>
      <p:sp>
        <p:nvSpPr>
          <p:cNvPr id="23" name="TextBox 22"/>
          <p:cNvSpPr txBox="1"/>
          <p:nvPr/>
        </p:nvSpPr>
        <p:spPr>
          <a:xfrm>
            <a:off x="1531620" y="7752842"/>
            <a:ext cx="15270480" cy="1281430"/>
          </a:xfrm>
          <a:prstGeom prst="rect">
            <a:avLst/>
          </a:prstGeom>
          <a:noFill/>
        </p:spPr>
        <p:txBody>
          <a:bodyPr anchor="t" rtlCol="false" lIns="0" tIns="0" rIns="0" bIns="0" wrap="square"/>
          <a:lstStyle/>
          <a:p>
            <a:pPr algn="l" marL="274320" indent="-274320">
              <a:lnSpc>
                <a:spcPts val="2852"/>
              </a:lnSpc>
              <a:spcBef>
                <a:spcPts val="0"/>
              </a:spcBef>
              <a:buClr>
                <a:srgbClr val="DF8330"/>
              </a:buClr>
              <a:buSzPct val="100000"/>
              <a:buFont typeface="Arial"/>
              <a:buChar char="•"/>
            </a:pPr>
            <a:r>
              <a:rPr lang="en-US" sz="2037" b="true">
                <a:solidFill>
                  <a:srgbClr val="111111"/>
                </a:solidFill>
                <a:latin typeface="Nunito Semi-Bold"/>
                <a:ea typeface="Nunito Semi-Bold"/>
                <a:cs typeface="Nunito Semi-Bold"/>
                <a:sym typeface="Nunito Semi-Bold"/>
              </a:rPr>
              <a:t>A </a:t>
            </a:r>
            <a:r>
              <a:rPr lang="en-US" sz="2037" b="true">
                <a:solidFill>
                  <a:srgbClr val="111111"/>
                </a:solidFill>
                <a:latin typeface="Nunito Bold"/>
                <a:ea typeface="Nunito Bold"/>
                <a:cs typeface="Nunito Bold"/>
                <a:sym typeface="Nunito Bold"/>
              </a:rPr>
              <a:t>SHAP waterfall</a:t>
            </a:r>
            <a:r>
              <a:rPr lang="en-US" sz="2037" b="true">
                <a:solidFill>
                  <a:srgbClr val="111111"/>
                </a:solidFill>
                <a:latin typeface="Nunito Semi-Bold"/>
                <a:ea typeface="Nunito Semi-Bold"/>
                <a:cs typeface="Nunito Semi-Bold"/>
                <a:sym typeface="Nunito Semi-Bold"/>
              </a:rPr>
              <a:t> breaks a recommendation down into ranking, diversity, context and preference contributions.</a:t>
            </a:r>
          </a:p>
          <a:p>
            <a:pPr algn="l" marL="274320" indent="-274320">
              <a:lnSpc>
                <a:spcPts val="2852"/>
              </a:lnSpc>
              <a:spcBef>
                <a:spcPts val="873"/>
              </a:spcBef>
              <a:buClr>
                <a:srgbClr val="DF8330"/>
              </a:buClr>
              <a:buSzPct val="100000"/>
              <a:buFont typeface="Arial"/>
              <a:buChar char="•"/>
            </a:pPr>
            <a:r>
              <a:rPr lang="en-US" sz="2037" b="true">
                <a:solidFill>
                  <a:srgbClr val="111111"/>
                </a:solidFill>
                <a:latin typeface="Nunito Semi-Bold"/>
                <a:ea typeface="Nunito Semi-Bold"/>
                <a:cs typeface="Nunito Semi-Bold"/>
                <a:sym typeface="Nunito Semi-Bold"/>
              </a:rPr>
              <a:t>Shapley measures </a:t>
            </a:r>
            <a:r>
              <a:rPr lang="en-US" sz="2037" b="true">
                <a:solidFill>
                  <a:srgbClr val="111111"/>
                </a:solidFill>
                <a:latin typeface="Nunito Bold"/>
                <a:ea typeface="Nunito Bold"/>
                <a:cs typeface="Nunito Bold"/>
                <a:sym typeface="Nunito Bold"/>
              </a:rPr>
              <a:t>marginal utility, not raw frequency</a:t>
            </a:r>
            <a:r>
              <a:rPr lang="en-US" sz="2037" b="true">
                <a:solidFill>
                  <a:srgbClr val="111111"/>
                </a:solidFill>
                <a:latin typeface="Nunito Semi-Bold"/>
                <a:ea typeface="Nunito Semi-Bold"/>
                <a:cs typeface="Nunito Semi-Bold"/>
                <a:sym typeface="Nunito Semi-Bold"/>
              </a:rPr>
              <a:t>: weak but informative interactions keep their influence, which counters popularity bias.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Key Findings and Limitations</a:t>
            </a:r>
          </a:p>
        </p:txBody>
      </p:sp>
      <p:pic>
        <p:nvPicPr>
          <p:cNvPr id="8" name="Picture 7" descr="image.png"/>
          <p:cNvPicPr>
            <a:picLocks noChangeAspect="1"/>
          </p:cNvPicPr>
          <p:nvPr/>
        </p:nvPicPr>
        <p:blipFill>
          <a:blip r:embed="rId2"/>
          <a:stretch>
            <a:fillRect/>
          </a:stretch>
        </p:blipFill>
        <p:spPr>
          <a:xfrm>
            <a:off x="11313629"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5763332"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RQ3 &amp; RQ4 answered · objectives met</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RQ3: yes.</a:t>
            </a:r>
            <a:r>
              <a:rPr lang="en-US" sz="1800" b="true">
                <a:solidFill>
                  <a:srgbClr val="FFFFFF"/>
                </a:solidFill>
                <a:latin typeface="Nunito Semi-Bold"/>
                <a:ea typeface="Nunito Semi-Bold"/>
                <a:cs typeface="Nunito Semi-Bold"/>
                <a:sym typeface="Nunito Semi-Bold"/>
              </a:rPr>
              <a:t> Attribution becomes an </a:t>
            </a:r>
            <a:r>
              <a:rPr lang="en-US" sz="1800" b="true">
                <a:solidFill>
                  <a:srgbClr val="FFFFFF"/>
                </a:solidFill>
                <a:latin typeface="Nunito Bold"/>
                <a:ea typeface="Nunito Bold"/>
                <a:cs typeface="Nunito Bold"/>
                <a:sym typeface="Nunito Bold"/>
              </a:rPr>
              <a:t>in-training signal</a:t>
            </a:r>
            <a:r>
              <a:rPr lang="en-US" sz="1800" b="true">
                <a:solidFill>
                  <a:srgbClr val="FFFFFF"/>
                </a:solidFill>
                <a:latin typeface="Nunito Semi-Bold"/>
                <a:ea typeface="Nunito Semi-Bold"/>
                <a:cs typeface="Nunito Semi-Bold"/>
                <a:sym typeface="Nunito Semi-Bold"/>
              </a:rPr>
              <a:t>, not a post-hoc check.</a:t>
            </a:r>
          </a:p>
          <a:p>
            <a:pPr algn="l" marL="274320" indent="-274320">
              <a:lnSpc>
                <a:spcPts val="2520"/>
              </a:lnSpc>
              <a:spcBef>
                <a:spcPts val="70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RQ4: yes.</a:t>
            </a:r>
            <a:r>
              <a:rPr lang="en-US" sz="1800" b="true">
                <a:solidFill>
                  <a:srgbClr val="FFFFFF"/>
                </a:solidFill>
                <a:latin typeface="Nunito Semi-Bold"/>
                <a:ea typeface="Nunito Semi-Bold"/>
                <a:cs typeface="Nunito Semi-Bold"/>
                <a:sym typeface="Nunito Semi-Bold"/>
              </a:rPr>
              <a:t> Ranking, coverage and diversity </a:t>
            </a:r>
            <a:r>
              <a:rPr lang="en-US" sz="1800" b="true">
                <a:solidFill>
                  <a:srgbClr val="FFFFFF"/>
                </a:solidFill>
                <a:latin typeface="Nunito Bold"/>
                <a:ea typeface="Nunito Bold"/>
                <a:cs typeface="Nunito Bold"/>
                <a:sym typeface="Nunito Bold"/>
              </a:rPr>
              <a:t>improve together</a:t>
            </a:r>
            <a:r>
              <a:rPr lang="en-US" sz="1800" b="true">
                <a:solidFill>
                  <a:srgbClr val="FFFFFF"/>
                </a:solidFill>
                <a:latin typeface="Nunito Semi-Bold"/>
                <a:ea typeface="Nunito Semi-Bold"/>
                <a:cs typeface="Nunito Semi-Bold"/>
                <a:sym typeface="Nunito Semi-Bold"/>
              </a:rPr>
              <a:t>.</a:t>
            </a:r>
          </a:p>
          <a:p>
            <a:pPr algn="l" marL="274320" indent="-274320">
              <a:lnSpc>
                <a:spcPts val="2520"/>
              </a:lnSpc>
              <a:spcBef>
                <a:spcPts val="70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O1 met</a:t>
            </a:r>
            <a:r>
              <a:rPr lang="en-US" sz="1800" b="true">
                <a:solidFill>
                  <a:srgbClr val="FFFFFF"/>
                </a:solidFill>
                <a:latin typeface="Nunito Semi-Bold"/>
                <a:ea typeface="Nunito Semi-Bold"/>
                <a:cs typeface="Nunito Semi-Bold"/>
                <a:sym typeface="Nunito Semi-Bold"/>
              </a:rPr>
              <a:t> · recommendation formulated as a cooperative game over users, items and contexts.</a:t>
            </a:r>
          </a:p>
          <a:p>
            <a:pPr algn="l" marL="274320" indent="-274320">
              <a:lnSpc>
                <a:spcPts val="2520"/>
              </a:lnSpc>
              <a:spcBef>
                <a:spcPts val="70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O2 met</a:t>
            </a:r>
            <a:r>
              <a:rPr lang="en-US" sz="1800" b="true">
                <a:solidFill>
                  <a:srgbClr val="FFFFFF"/>
                </a:solidFill>
                <a:latin typeface="Nunito Semi-Bold"/>
                <a:ea typeface="Nunito Semi-Bold"/>
                <a:cs typeface="Nunito Semi-Bold"/>
                <a:sym typeface="Nunito Semi-Bold"/>
              </a:rPr>
              <a:t> · preference-aware Monte Carlo Shapley embedded in message passing.</a:t>
            </a:r>
          </a:p>
          <a:p>
            <a:pPr algn="l" marL="274320" indent="-274320">
              <a:lnSpc>
                <a:spcPts val="2520"/>
              </a:lnSpc>
              <a:spcBef>
                <a:spcPts val="70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O3 met</a:t>
            </a:r>
            <a:r>
              <a:rPr lang="en-US" sz="1800" b="true">
                <a:solidFill>
                  <a:srgbClr val="FFFFFF"/>
                </a:solidFill>
                <a:latin typeface="Nunito Semi-Bold"/>
                <a:ea typeface="Nunito Semi-Bold"/>
                <a:cs typeface="Nunito Semi-Bold"/>
                <a:sym typeface="Nunito Semi-Bold"/>
              </a:rPr>
              <a:t> · +9.9 % (MovieLens) / +14.8 % (Amazon) NDCG with higher coverage and diversity.</a:t>
            </a:r>
          </a:p>
          <a:p>
            <a:pPr algn="l" marL="274320" indent="-274320">
              <a:lnSpc>
                <a:spcPts val="2520"/>
              </a:lnSpc>
              <a:spcBef>
                <a:spcPts val="7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The accuracy / diversity / context trade-off is </a:t>
            </a:r>
            <a:r>
              <a:rPr lang="en-US" sz="1800" b="true">
                <a:solidFill>
                  <a:srgbClr val="FFFFFF"/>
                </a:solidFill>
                <a:latin typeface="Nunito Bold"/>
                <a:ea typeface="Nunito Bold"/>
                <a:cs typeface="Nunito Bold"/>
                <a:sym typeface="Nunito Bold"/>
              </a:rPr>
              <a:t>not fixed by nature</a:t>
            </a:r>
            <a:r>
              <a:rPr lang="en-US" sz="1800" b="true">
                <a:solidFill>
                  <a:srgbClr val="FFFFFF"/>
                </a:solidFill>
                <a:latin typeface="Nunito Semi-Bold"/>
                <a:ea typeface="Nunito Semi-Bold"/>
                <a:cs typeface="Nunito Semi-Bold"/>
                <a:sym typeface="Nunito Semi-Bold"/>
              </a:rPr>
              <a:t>; largest gains on the sparsest data.</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214562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Limitations</a:t>
            </a:r>
          </a:p>
        </p:txBody>
      </p:sp>
      <p:sp>
        <p:nvSpPr>
          <p:cNvPr id="18" name="TextBox 17"/>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520"/>
              </a:lnSpc>
              <a:spcBef>
                <a:spcPts val="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Measurable compute overhead: roughly </a:t>
            </a:r>
            <a:r>
              <a:rPr lang="en-US" sz="1800" b="true">
                <a:solidFill>
                  <a:srgbClr val="111111"/>
                </a:solidFill>
                <a:latin typeface="Nunito Bold"/>
                <a:ea typeface="Nunito Bold"/>
                <a:cs typeface="Nunito Bold"/>
                <a:sym typeface="Nunito Bold"/>
              </a:rPr>
              <a:t>1.78× the training time</a:t>
            </a:r>
            <a:r>
              <a:rPr lang="en-US" sz="1800" b="true">
                <a:solidFill>
                  <a:srgbClr val="111111"/>
                </a:solidFill>
                <a:latin typeface="Nunito Semi-Bold"/>
                <a:ea typeface="Nunito Semi-Bold"/>
                <a:cs typeface="Nunito Semi-Bold"/>
                <a:sym typeface="Nunito Semi-Bold"/>
              </a:rPr>
              <a:t> of HPCF.</a:t>
            </a:r>
          </a:p>
          <a:p>
            <a:pPr algn="l" marL="274320" indent="-274320">
              <a:lnSpc>
                <a:spcPts val="2520"/>
              </a:lnSpc>
              <a:spcBef>
                <a:spcPts val="7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Depends on the availability of </a:t>
            </a:r>
            <a:r>
              <a:rPr lang="en-US" sz="1800" b="true">
                <a:solidFill>
                  <a:srgbClr val="111111"/>
                </a:solidFill>
                <a:latin typeface="Nunito Bold"/>
                <a:ea typeface="Nunito Bold"/>
                <a:cs typeface="Nunito Bold"/>
                <a:sym typeface="Nunito Bold"/>
              </a:rPr>
              <a:t>meaningful context</a:t>
            </a:r>
            <a:r>
              <a:rPr lang="en-US" sz="1800" b="true">
                <a:solidFill>
                  <a:srgbClr val="111111"/>
                </a:solidFill>
                <a:latin typeface="Nunito Semi-Bold"/>
                <a:ea typeface="Nunito Semi-Bold"/>
                <a:cs typeface="Nunito Semi-Bold"/>
                <a:sym typeface="Nunito Semi-Bold"/>
              </a:rPr>
              <a:t>.</a:t>
            </a:r>
          </a:p>
          <a:p>
            <a:pPr algn="l" marL="274320" indent="-274320">
              <a:lnSpc>
                <a:spcPts val="2520"/>
              </a:lnSpc>
              <a:spcBef>
                <a:spcPts val="7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Monte Carlo Shapley could be improved by </a:t>
            </a:r>
            <a:r>
              <a:rPr lang="en-US" sz="1800" b="true">
                <a:solidFill>
                  <a:srgbClr val="111111"/>
                </a:solidFill>
                <a:latin typeface="Nunito Bold"/>
                <a:ea typeface="Nunito Bold"/>
                <a:cs typeface="Nunito Bold"/>
                <a:sym typeface="Nunito Bold"/>
              </a:rPr>
              <a:t>variance reduction</a:t>
            </a:r>
            <a:r>
              <a:rPr lang="en-US" sz="1800" b="true">
                <a:solidFill>
                  <a:srgbClr val="111111"/>
                </a:solidFill>
                <a:latin typeface="Nunito Semi-Bold"/>
                <a:ea typeface="Nunito Semi-Bold"/>
                <a:cs typeface="Nunito Semi-Bold"/>
                <a:sym typeface="Nunito Semi-Bold"/>
              </a:rPr>
              <a:t>.</a:t>
            </a:r>
          </a:p>
          <a:p>
            <a:pPr algn="l" marL="274320" indent="-274320">
              <a:lnSpc>
                <a:spcPts val="2520"/>
              </a:lnSpc>
              <a:spcBef>
                <a:spcPts val="7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Ablation is component-wise, so it does not test factorial interactions.</a:t>
            </a:r>
          </a:p>
          <a:p>
            <a:pPr algn="l" marL="274320" indent="-274320">
              <a:lnSpc>
                <a:spcPts val="2520"/>
              </a:lnSpc>
              <a:spcBef>
                <a:spcPts val="7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Baselines fixed in early 2026: superiority is claimed </a:t>
            </a:r>
            <a:r>
              <a:rPr lang="en-US" sz="1800" b="true">
                <a:solidFill>
                  <a:srgbClr val="111111"/>
                </a:solidFill>
                <a:latin typeface="Nunito Bold"/>
                <a:ea typeface="Nunito Bold"/>
                <a:cs typeface="Nunito Bold"/>
                <a:sym typeface="Nunito Bold"/>
              </a:rPr>
              <a:t>only against the tested baselines</a:t>
            </a:r>
            <a:r>
              <a:rPr lang="en-US" sz="18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Takeaways</a:t>
            </a:r>
          </a:p>
        </p:txBody>
      </p:sp>
      <p:pic>
        <p:nvPicPr>
          <p:cNvPr id="8" name="Picture 7" descr="image.png"/>
          <p:cNvPicPr>
            <a:picLocks noChangeAspect="1"/>
          </p:cNvPicPr>
          <p:nvPr/>
        </p:nvPicPr>
        <p:blipFill>
          <a:blip r:embed="rId2"/>
          <a:stretch>
            <a:fillRect/>
          </a:stretch>
        </p:blipFill>
        <p:spPr>
          <a:xfrm>
            <a:off x="4275374" y="1673352"/>
            <a:ext cx="457200" cy="415247"/>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455162"/>
            <a:ext cx="3851910" cy="3840480"/>
          </a:xfrm>
          <a:prstGeom prst="roundRect">
            <a:avLst>
              <a:gd name="adj" fmla="val 7142"/>
            </a:avLst>
          </a:prstGeom>
          <a:solidFill>
            <a:srgbClr val="124944"/>
          </a:solidFill>
          <a:ln>
            <a:noFill/>
          </a:ln>
        </p:spPr>
        <p:txBody>
          <a:bodyPr anchor="t" rtlCol="false" lIns="365760" tIns="365760" rIns="320040" bIns="27432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200"/>
              </a:spcBef>
              <a:buNone/>
            </a:pPr>
            <a:r>
              <a:rPr lang="en-US" sz="1900" b="true">
                <a:solidFill>
                  <a:srgbClr val="F7F2EA"/>
                </a:solidFill>
                <a:latin typeface="Nunito Semi-Bold"/>
                <a:ea typeface="Nunito Semi-Bold"/>
                <a:cs typeface="Nunito Semi-Bold"/>
                <a:sym typeface="Nunito Semi-Bold"/>
              </a:rPr>
              <a:t>Attribution is a first-class part of the learning objective, not a post-hoc check.</a:t>
            </a:r>
          </a:p>
        </p:txBody>
      </p:sp>
      <p:sp>
        <p:nvSpPr>
          <p:cNvPr id="14" name="Rounded Rectangle 13"/>
          <p:cNvSpPr/>
          <p:nvPr/>
        </p:nvSpPr>
        <p:spPr>
          <a:xfrm>
            <a:off x="5154930" y="3455162"/>
            <a:ext cx="3851910" cy="3840480"/>
          </a:xfrm>
          <a:prstGeom prst="roundRect">
            <a:avLst>
              <a:gd name="adj" fmla="val 7142"/>
            </a:avLst>
          </a:prstGeom>
          <a:solidFill>
            <a:srgbClr val="1E5F58"/>
          </a:solidFill>
          <a:ln>
            <a:noFill/>
          </a:ln>
        </p:spPr>
        <p:txBody>
          <a:bodyPr anchor="t" rtlCol="false" lIns="365760" tIns="365760" rIns="320040" bIns="27432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200"/>
              </a:spcBef>
              <a:buNone/>
            </a:pPr>
            <a:r>
              <a:rPr lang="en-US" sz="1900" b="true">
                <a:solidFill>
                  <a:srgbClr val="F7F2EA"/>
                </a:solidFill>
                <a:latin typeface="Nunito Semi-Bold"/>
                <a:ea typeface="Nunito Semi-Bold"/>
                <a:cs typeface="Nunito Semi-Bold"/>
                <a:sym typeface="Nunito Semi-Bold"/>
              </a:rPr>
              <a:t>The explanation is a direct read-out of the objective the model already optimises.</a:t>
            </a:r>
          </a:p>
        </p:txBody>
      </p:sp>
      <p:sp>
        <p:nvSpPr>
          <p:cNvPr id="15" name="Rounded Rectangle 14"/>
          <p:cNvSpPr/>
          <p:nvPr/>
        </p:nvSpPr>
        <p:spPr>
          <a:xfrm>
            <a:off x="9281160" y="3455162"/>
            <a:ext cx="3851910" cy="3840480"/>
          </a:xfrm>
          <a:prstGeom prst="roundRect">
            <a:avLst>
              <a:gd name="adj" fmla="val 7142"/>
            </a:avLst>
          </a:prstGeom>
          <a:solidFill>
            <a:srgbClr val="DF8330"/>
          </a:solidFill>
          <a:ln>
            <a:noFill/>
          </a:ln>
        </p:spPr>
        <p:txBody>
          <a:bodyPr anchor="t" rtlCol="false" lIns="365760" tIns="365760" rIns="320040" bIns="27432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Faithful</a:t>
            </a:r>
          </a:p>
          <a:p>
            <a:pPr algn="l">
              <a:lnSpc>
                <a:spcPts val="2400"/>
              </a:lnSpc>
              <a:spcBef>
                <a:spcPts val="1200"/>
              </a:spcBef>
              <a:buNone/>
            </a:pPr>
            <a:r>
              <a:rPr lang="en-US" sz="1900" b="true">
                <a:solidFill>
                  <a:srgbClr val="F7F2EA"/>
                </a:solidFill>
                <a:latin typeface="Nunito Semi-Bold"/>
                <a:ea typeface="Nunito Semi-Bold"/>
                <a:cs typeface="Nunito Semi-Bold"/>
                <a:sym typeface="Nunito Semi-Bold"/>
              </a:rPr>
              <a:t>This makes the explanation faithful by design, rather than an outside approximation.</a:t>
            </a:r>
          </a:p>
        </p:txBody>
      </p:sp>
      <p:sp>
        <p:nvSpPr>
          <p:cNvPr id="16" name="Rounded Rectangle 15"/>
          <p:cNvSpPr/>
          <p:nvPr/>
        </p:nvSpPr>
        <p:spPr>
          <a:xfrm>
            <a:off x="13407390" y="3455162"/>
            <a:ext cx="3851910" cy="3840480"/>
          </a:xfrm>
          <a:prstGeom prst="roundRect">
            <a:avLst>
              <a:gd name="adj" fmla="val 7142"/>
            </a:avLst>
          </a:prstGeom>
          <a:solidFill>
            <a:srgbClr val="111111"/>
          </a:solidFill>
          <a:ln>
            <a:noFill/>
          </a:ln>
        </p:spPr>
        <p:txBody>
          <a:bodyPr anchor="t" rtlCol="false" lIns="365760" tIns="365760" rIns="320040" bIns="27432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Axiomatic</a:t>
            </a:r>
          </a:p>
          <a:p>
            <a:pPr algn="l">
              <a:lnSpc>
                <a:spcPts val="2400"/>
              </a:lnSpc>
              <a:spcBef>
                <a:spcPts val="12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17" name="Rounded Rectangle 16"/>
          <p:cNvSpPr/>
          <p:nvPr/>
        </p:nvSpPr>
        <p:spPr>
          <a:xfrm>
            <a:off x="1028700" y="7752842"/>
            <a:ext cx="16230600" cy="1601470"/>
          </a:xfrm>
          <a:prstGeom prst="roundRect">
            <a:avLst>
              <a:gd name="adj" fmla="val 17129"/>
            </a:avLst>
          </a:prstGeom>
          <a:noFill/>
          <a:ln w="31750">
            <a:solidFill>
              <a:srgbClr val="124944"/>
            </a:solidFill>
          </a:ln>
        </p:spPr>
        <p:txBody>
          <a:bodyPr anchor="ctr" rtlCol="false" lIns="457200" tIns="91440" rIns="457200" bIns="91440" wrap="square"/>
          <a:lstStyle/>
          <a:p>
            <a:pPr algn="ctr">
              <a:lnSpc>
                <a:spcPts val="3200"/>
              </a:lnSpc>
              <a:spcBef>
                <a:spcPts val="0"/>
              </a:spcBef>
              <a:buNone/>
            </a:pPr>
            <a:r>
              <a:rPr lang="en-US" sz="2600" b="true">
                <a:solidFill>
                  <a:srgbClr val="111111"/>
                </a:solidFill>
                <a:latin typeface="Nunito Bold"/>
                <a:ea typeface="Nunito Bold"/>
                <a:cs typeface="Nunito Bold"/>
                <a:sym typeface="Nunito Bold"/>
              </a:rPr>
              <a:t>From </a:t>
            </a:r>
            <a:r>
              <a:rPr lang="en-US" sz="2600" b="true">
                <a:solidFill>
                  <a:srgbClr val="111111"/>
                </a:solidFill>
                <a:latin typeface="Nunito Bold"/>
                <a:ea typeface="Nunito Bold"/>
                <a:cs typeface="Nunito Bold"/>
                <a:sym typeface="Nunito Bold"/>
              </a:rPr>
              <a:t>post-hoc description</a:t>
            </a:r>
            <a:r>
              <a:rPr lang="en-US" sz="2600" b="true">
                <a:solidFill>
                  <a:srgbClr val="111111"/>
                </a:solidFill>
                <a:latin typeface="Nunito Bold"/>
                <a:ea typeface="Nunito Bold"/>
                <a:cs typeface="Nunito Bold"/>
                <a:sym typeface="Nunito Bold"/>
              </a:rPr>
              <a:t> (C1, C2) to </a:t>
            </a:r>
            <a:r>
              <a:rPr lang="en-US" sz="2600" b="true">
                <a:solidFill>
                  <a:srgbClr val="111111"/>
                </a:solidFill>
                <a:latin typeface="Nunito Bold"/>
                <a:ea typeface="Nunito Bold"/>
                <a:cs typeface="Nunito Bold"/>
                <a:sym typeface="Nunito Bold"/>
              </a:rPr>
              <a:t>in-training guidance</a:t>
            </a:r>
            <a:r>
              <a:rPr lang="en-US" sz="2600" b="true">
                <a:solidFill>
                  <a:srgbClr val="111111"/>
                </a:solidFill>
                <a:latin typeface="Nunito Bold"/>
                <a:ea typeface="Nunito Bold"/>
                <a:cs typeface="Nunito Bold"/>
                <a:sym typeface="Nunito Bold"/>
              </a:rPr>
              <a:t> (C3): the strongest claim of the thesis.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6" name="TextBox 5"/>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7" name="Oval 6"/>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9" name="TextBox 8"/>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Synthesis, publications, limitations and perspectives</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pic>
        <p:nvPicPr>
          <p:cNvPr id="8" name="Picture 7" descr="image.png"/>
          <p:cNvPicPr>
            <a:picLocks noChangeAspect="1"/>
          </p:cNvPicPr>
          <p:nvPr/>
        </p:nvPicPr>
        <p:blipFill>
          <a:blip r:embed="rId2"/>
          <a:stretch>
            <a:fillRect/>
          </a:stretch>
        </p:blipFill>
        <p:spPr>
          <a:xfrm>
            <a:off x="10723663" y="1673352"/>
            <a:ext cx="457200" cy="250983"/>
          </a:xfrm>
          <a:prstGeom prst="rect">
            <a:avLst/>
          </a:prstGeom>
        </p:spPr>
      </p:pic>
      <p:sp>
        <p:nvSpPr>
          <p:cNvPr id="9" name="Rounded Rectangle 8"/>
          <p:cNvSpPr/>
          <p:nvPr/>
        </p:nvSpPr>
        <p:spPr>
          <a:xfrm>
            <a:off x="1028700" y="2559050"/>
            <a:ext cx="160443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10" name="Rounded Rectangle 9"/>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11" name="Rounded Rectangle 10"/>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12" name="Rounded Rectangle 11"/>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13" name="Rounded Rectangle 12"/>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14" name="Table 13"/>
          <p:cNvGraphicFramePr>
            <a:graphicFrameLocks noGrp="1"/>
          </p:cNvGraphicFramePr>
          <p:nvPr/>
        </p:nvGraphicFramePr>
        <p:xfrm>
          <a:off x="1028700" y="3363722"/>
          <a:ext cx="16230598" cy="3840480"/>
        </p:xfrm>
        <a:graphic>
          <a:graphicData uri="http://schemas.openxmlformats.org/drawingml/2006/table">
            <a:tbl>
              <a:tblPr firstRow="0" bandRow="0" firstCol="0" lastRow="0" lastCol="0" bandCol="0">
                <a:tableStyleId>{2D5ABB26-0587-4C30-8999-92F81FD0307C}</a:tableStyleId>
              </a:tblPr>
              <a:tblGrid>
                <a:gridCol w="1288142"/>
                <a:gridCol w="4637314"/>
                <a:gridCol w="4894942"/>
                <a:gridCol w="5410200"/>
              </a:tblGrid>
              <a:tr h="960120">
                <a:tc>
                  <a:txBody>
                    <a:bodyPr anchor="ctr" rtlCol="false" lIns="0" tIns="0" rIns="0" bIns="0" wrap="square"/>
                    <a:lstStyle/>
                    <a:p>
                      <a:pPr algn="ctr">
                        <a:lnSpc>
                          <a:spcPts val="2340"/>
                        </a:lnSpc>
                        <a:spcBef>
                          <a:spcPts val="0"/>
                        </a:spcBef>
                        <a:buNone/>
                      </a:pP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Main idea</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Achievement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Key finding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960120">
                <a:tc>
                  <a:txBody>
                    <a:bodyPr anchor="ctr" rtlCol="false" lIns="0" tIns="0" rIns="0" bIns="0" wrap="square"/>
                    <a:lstStyle/>
                    <a:p>
                      <a:pPr algn="ctr">
                        <a:lnSpc>
                          <a:spcPts val="3000"/>
                        </a:lnSpc>
                        <a:spcBef>
                          <a:spcPts val="0"/>
                        </a:spcBef>
                        <a:buNone/>
                      </a:pPr>
                      <a:r>
                        <a:rPr lang="en-US" sz="2600" b="true" spc="-130">
                          <a:solidFill>
                            <a:srgbClr val="FFFFFF"/>
                          </a:solidFill>
                          <a:latin typeface="Roca Two Bold"/>
                          <a:ea typeface="Roca Two Bold"/>
                          <a:cs typeface="Roca Two Bold"/>
                          <a:sym typeface="Roca Two Bold"/>
                        </a:rPr>
                        <a:t>C1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Explain black-box clustering via Shapley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PCA–K-Means–LightGBM–TreeSHAP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Faithful, chemistry-consistent cluster attribution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960120">
                <a:tc>
                  <a:txBody>
                    <a:bodyPr anchor="ctr" rtlCol="false" lIns="0" tIns="0" rIns="0" bIns="0" wrap="square"/>
                    <a:lstStyle/>
                    <a:p>
                      <a:pPr algn="ctr">
                        <a:lnSpc>
                          <a:spcPts val="3000"/>
                        </a:lnSpc>
                        <a:spcBef>
                          <a:spcPts val="0"/>
                        </a:spcBef>
                        <a:buNone/>
                      </a:pPr>
                      <a:r>
                        <a:rPr lang="en-US" sz="2600" b="true" spc="-130">
                          <a:solidFill>
                            <a:srgbClr val="FFFFFF"/>
                          </a:solidFill>
                          <a:latin typeface="Roca Two Bold"/>
                          <a:ea typeface="Roca Two Bold"/>
                          <a:cs typeface="Roca Two Bold"/>
                          <a:sym typeface="Roca Two Bold"/>
                        </a:rPr>
                        <a:t>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Multi-level, large-scale clustering XAI</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Cross-level SHAP aggregation +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Consistent across levels; explains the differences between them</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960120">
                <a:tc>
                  <a:txBody>
                    <a:bodyPr anchor="ctr" rtlCol="false" lIns="0" tIns="0" rIns="0" bIns="0" wrap="square"/>
                    <a:lstStyle/>
                    <a:p>
                      <a:pPr algn="ctr">
                        <a:lnSpc>
                          <a:spcPts val="3000"/>
                        </a:lnSpc>
                        <a:spcBef>
                          <a:spcPts val="0"/>
                        </a:spcBef>
                        <a:buNone/>
                      </a:pPr>
                      <a:r>
                        <a:rPr lang="en-US" sz="2600" b="true" spc="-130">
                          <a:solidFill>
                            <a:srgbClr val="FFFFFF"/>
                          </a:solidFill>
                          <a:latin typeface="Roca Two Bold"/>
                          <a:ea typeface="Roca Two Bold"/>
                          <a:cs typeface="Roca Two Bold"/>
                          <a:sym typeface="Roca Two 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DyHuCoG hypergraph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Preference-aware Shapley as an in-training signal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Accuracy + coverage + diversity improve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Rounded Rectangle 14"/>
          <p:cNvSpPr/>
          <p:nvPr/>
        </p:nvSpPr>
        <p:spPr>
          <a:xfrm>
            <a:off x="1028700" y="7615682"/>
            <a:ext cx="4023360" cy="1234440"/>
          </a:xfrm>
          <a:prstGeom prst="roundRect">
            <a:avLst>
              <a:gd name="adj" fmla="val 18518"/>
            </a:avLst>
          </a:prstGeom>
          <a:solidFill>
            <a:srgbClr val="124944"/>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Explain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post-hoc, single level</a:t>
            </a:r>
          </a:p>
        </p:txBody>
      </p:sp>
      <p:cxnSp>
        <p:nvCxnSpPr>
          <p:cNvPr id="16" name="Connector 15"/>
          <p:cNvCxnSpPr/>
          <p:nvPr/>
        </p:nvCxnSpPr>
        <p:spPr>
          <a:xfrm>
            <a:off x="5143500" y="8232902"/>
            <a:ext cx="1897380" cy="0"/>
          </a:xfrm>
          <a:prstGeom prst="line">
            <a:avLst/>
          </a:prstGeom>
          <a:ln w="38100">
            <a:solidFill>
              <a:srgbClr val="124944"/>
            </a:solidFill>
            <a:tailEnd type="triangle" w="med" len="med"/>
          </a:ln>
        </p:spPr>
      </p:cxnSp>
      <p:sp>
        <p:nvSpPr>
          <p:cNvPr id="17" name="Rounded Rectangle 16"/>
          <p:cNvSpPr/>
          <p:nvPr/>
        </p:nvSpPr>
        <p:spPr>
          <a:xfrm>
            <a:off x="7132320" y="7615682"/>
            <a:ext cx="4023360" cy="1234440"/>
          </a:xfrm>
          <a:prstGeom prst="roundRect">
            <a:avLst>
              <a:gd name="adj" fmla="val 18518"/>
            </a:avLst>
          </a:prstGeom>
          <a:solidFill>
            <a:srgbClr val="1E5F58"/>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Scale</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post-hoc, hierarchical</a:t>
            </a:r>
          </a:p>
        </p:txBody>
      </p:sp>
      <p:cxnSp>
        <p:nvCxnSpPr>
          <p:cNvPr id="18" name="Connector 17"/>
          <p:cNvCxnSpPr/>
          <p:nvPr/>
        </p:nvCxnSpPr>
        <p:spPr>
          <a:xfrm>
            <a:off x="11247120" y="8232902"/>
            <a:ext cx="1897380" cy="0"/>
          </a:xfrm>
          <a:prstGeom prst="line">
            <a:avLst/>
          </a:prstGeom>
          <a:ln w="38100">
            <a:solidFill>
              <a:srgbClr val="124944"/>
            </a:solidFill>
            <a:tailEnd type="triangle" w="med" len="med"/>
          </a:ln>
        </p:spPr>
      </p:cxnSp>
      <p:sp>
        <p:nvSpPr>
          <p:cNvPr id="19" name="Rounded Rectangle 18"/>
          <p:cNvSpPr/>
          <p:nvPr/>
        </p:nvSpPr>
        <p:spPr>
          <a:xfrm>
            <a:off x="13235940" y="7615682"/>
            <a:ext cx="4023360" cy="1234440"/>
          </a:xfrm>
          <a:prstGeom prst="roundRect">
            <a:avLst>
              <a:gd name="adj" fmla="val 18518"/>
            </a:avLst>
          </a:prstGeom>
          <a:solidFill>
            <a:srgbClr val="DF8330"/>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Guide</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in-training signal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pic>
        <p:nvPicPr>
          <p:cNvPr id="8" name="Picture 7" descr="image.png"/>
          <p:cNvPicPr>
            <a:picLocks noChangeAspect="1"/>
          </p:cNvPicPr>
          <p:nvPr/>
        </p:nvPicPr>
        <p:blipFill>
          <a:blip r:embed="rId2"/>
          <a:stretch>
            <a:fillRect/>
          </a:stretch>
        </p:blipFill>
        <p:spPr>
          <a:xfrm>
            <a:off x="10279040" y="1673352"/>
            <a:ext cx="457200" cy="415247"/>
          </a:xfrm>
          <a:prstGeom prst="rect">
            <a:avLst/>
          </a:prstGeom>
        </p:spPr>
      </p:pic>
      <p:sp>
        <p:nvSpPr>
          <p:cNvPr id="9" name="Rounded Rectangle 8"/>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10" name="Rounded Rectangle 9"/>
          <p:cNvSpPr/>
          <p:nvPr/>
        </p:nvSpPr>
        <p:spPr>
          <a:xfrm>
            <a:off x="2761149" y="2559050"/>
            <a:ext cx="189357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11" name="Rounded Rectangle 10"/>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12" name="Rounded Rectangle 11"/>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13" name="Rounded Rectangle 12"/>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14" name="Rounded Rectangle 13"/>
          <p:cNvSpPr/>
          <p:nvPr/>
        </p:nvSpPr>
        <p:spPr>
          <a:xfrm>
            <a:off x="1028700" y="3363722"/>
            <a:ext cx="16230600" cy="1798743"/>
          </a:xfrm>
          <a:prstGeom prst="roundRect">
            <a:avLst>
              <a:gd name="adj" fmla="val 15250"/>
            </a:avLst>
          </a:prstGeom>
          <a:solidFill>
            <a:srgbClr val="F6ECDF"/>
          </a:solidFill>
          <a:ln>
            <a:noFill/>
          </a:ln>
        </p:spPr>
        <p:txBody>
          <a:bodyPr anchor="ctr" rtlCol="false" lIns="0" tIns="0" rIns="0" bIns="0" wrap="square"/>
          <a:lstStyle/>
          <a:p>
            <a:endParaRPr lang="en-US" sz="1800"/>
          </a:p>
        </p:txBody>
      </p:sp>
      <p:sp>
        <p:nvSpPr>
          <p:cNvPr id="15" name="Rounded Rectangle 14"/>
          <p:cNvSpPr/>
          <p:nvPr/>
        </p:nvSpPr>
        <p:spPr>
          <a:xfrm>
            <a:off x="1028700" y="3363722"/>
            <a:ext cx="1554480" cy="1798743"/>
          </a:xfrm>
          <a:prstGeom prst="roundRect">
            <a:avLst>
              <a:gd name="adj" fmla="val 17647"/>
            </a:avLst>
          </a:prstGeom>
          <a:solidFill>
            <a:srgbClr val="124944"/>
          </a:solidFill>
          <a:ln>
            <a:noFill/>
          </a:ln>
        </p:spPr>
        <p:txBody>
          <a:bodyPr anchor="ctr" rtlCol="false" lIns="0" tIns="0" rIns="0" bIns="0" wrap="square"/>
          <a:lstStyle/>
          <a:p>
            <a:endParaRPr lang="en-US" sz="1800"/>
          </a:p>
        </p:txBody>
      </p:sp>
      <p:sp>
        <p:nvSpPr>
          <p:cNvPr id="16" name="Rectangle 15"/>
          <p:cNvSpPr/>
          <p:nvPr/>
        </p:nvSpPr>
        <p:spPr>
          <a:xfrm>
            <a:off x="2125980" y="3363722"/>
            <a:ext cx="457200" cy="1798743"/>
          </a:xfrm>
          <a:prstGeom prst="rect">
            <a:avLst/>
          </a:prstGeom>
          <a:solidFill>
            <a:srgbClr val="124944"/>
          </a:solidFill>
          <a:ln>
            <a:noFill/>
          </a:ln>
        </p:spPr>
        <p:txBody>
          <a:bodyPr anchor="ctr" rtlCol="false" lIns="0" tIns="0" rIns="0" bIns="0" wrap="square"/>
          <a:lstStyle/>
          <a:p>
            <a:endParaRPr lang="en-US" sz="1800"/>
          </a:p>
        </p:txBody>
      </p:sp>
      <p:sp>
        <p:nvSpPr>
          <p:cNvPr id="17" name="TextBox 16"/>
          <p:cNvSpPr txBox="1"/>
          <p:nvPr/>
        </p:nvSpPr>
        <p:spPr>
          <a:xfrm>
            <a:off x="1028700" y="3363722"/>
            <a:ext cx="1554480" cy="1798743"/>
          </a:xfrm>
          <a:prstGeom prst="rect">
            <a:avLst/>
          </a:prstGeom>
          <a:noFill/>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I</a:t>
            </a:r>
          </a:p>
        </p:txBody>
      </p:sp>
      <p:sp>
        <p:nvSpPr>
          <p:cNvPr id="18" name="TextBox 17"/>
          <p:cNvSpPr txBox="1"/>
          <p:nvPr/>
        </p:nvSpPr>
        <p:spPr>
          <a:xfrm>
            <a:off x="2948940" y="3546602"/>
            <a:ext cx="11109960" cy="1432983"/>
          </a:xfrm>
          <a:prstGeom prst="rect">
            <a:avLst/>
          </a:prstGeom>
          <a:noFill/>
        </p:spPr>
        <p:txBody>
          <a:bodyPr anchor="ctr" rtlCol="false" lIns="0" tIns="0" rIns="0" bIns="0" wrap="square"/>
          <a:lstStyle/>
          <a:p>
            <a:pPr algn="l">
              <a:lnSpc>
                <a:spcPts val="1900"/>
              </a:lnSpc>
              <a:spcBef>
                <a:spcPts val="0"/>
              </a:spcBef>
              <a:buNone/>
            </a:pPr>
            <a:r>
              <a:rPr lang="en-US" sz="1500" b="true">
                <a:solidFill>
                  <a:srgbClr val="DF8330"/>
                </a:solidFill>
                <a:latin typeface="Nunito Ultra-Bold"/>
                <a:ea typeface="Nunito Ultra-Bold"/>
                <a:cs typeface="Nunito Ultra-Bold"/>
                <a:sym typeface="Nunito Ultra-Bold"/>
              </a:rPr>
              <a:t>Louhichi, M. &amp; Lazaar, M.</a:t>
            </a:r>
          </a:p>
          <a:p>
            <a:pPr algn="l">
              <a:lnSpc>
                <a:spcPts val="2940"/>
              </a:lnSpc>
              <a:spcBef>
                <a:spcPts val="400"/>
              </a:spcBef>
              <a:buNone/>
            </a:pPr>
            <a:r>
              <a:rPr lang="en-US" sz="2100" b="true">
                <a:solidFill>
                  <a:srgbClr val="111111"/>
                </a:solidFill>
                <a:latin typeface="Nunito Bold"/>
                <a:ea typeface="Nunito Bold"/>
                <a:cs typeface="Nunito Bold"/>
                <a:sym typeface="Nunito Bold"/>
              </a:rPr>
              <a:t>Shapley Values for Explaining the Black Box Nature of ML Model Clustering</a:t>
            </a:r>
          </a:p>
          <a:p>
            <a:pPr algn="l">
              <a:lnSpc>
                <a:spcPts val="2100"/>
              </a:lnSpc>
              <a:spcBef>
                <a:spcPts val="400"/>
              </a:spcBef>
              <a:buNone/>
            </a:pPr>
            <a:r>
              <a:rPr lang="en-US" sz="1700" b="true">
                <a:solidFill>
                  <a:srgbClr val="8A8378"/>
                </a:solidFill>
                <a:latin typeface="Nunito Semi-Bold"/>
                <a:ea typeface="Nunito Semi-Bold"/>
                <a:cs typeface="Nunito Semi-Bold"/>
                <a:sym typeface="Nunito Semi-Bold"/>
              </a:rPr>
              <a:t>Procedia Computer Science 220, 806–811</a:t>
            </a:r>
          </a:p>
        </p:txBody>
      </p:sp>
      <p:sp>
        <p:nvSpPr>
          <p:cNvPr id="19" name="Rounded Rectangle 18"/>
          <p:cNvSpPr/>
          <p:nvPr/>
        </p:nvSpPr>
        <p:spPr>
          <a:xfrm>
            <a:off x="14241780" y="4043637"/>
            <a:ext cx="2743200"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920"/>
              </a:lnSpc>
              <a:spcBef>
                <a:spcPts val="0"/>
              </a:spcBef>
              <a:buNone/>
            </a:pPr>
            <a:r>
              <a:rPr lang="en-US" sz="1600" b="true">
                <a:solidFill>
                  <a:srgbClr val="FFFFFF"/>
                </a:solidFill>
                <a:latin typeface="Nunito Bold"/>
                <a:ea typeface="Nunito Bold"/>
                <a:cs typeface="Nunito Bold"/>
                <a:sym typeface="Nunito Bold"/>
              </a:rPr>
              <a:t>Published · 2023</a:t>
            </a:r>
          </a:p>
        </p:txBody>
      </p:sp>
      <p:sp>
        <p:nvSpPr>
          <p:cNvPr id="20" name="Rounded Rectangle 19"/>
          <p:cNvSpPr/>
          <p:nvPr/>
        </p:nvSpPr>
        <p:spPr>
          <a:xfrm>
            <a:off x="1028700" y="5436785"/>
            <a:ext cx="16230600" cy="1798743"/>
          </a:xfrm>
          <a:prstGeom prst="roundRect">
            <a:avLst>
              <a:gd name="adj" fmla="val 15250"/>
            </a:avLst>
          </a:prstGeom>
          <a:solidFill>
            <a:srgbClr val="F6ECDF"/>
          </a:solidFill>
          <a:ln>
            <a:noFill/>
          </a:ln>
        </p:spPr>
        <p:txBody>
          <a:bodyPr anchor="ctr" rtlCol="false" lIns="0" tIns="0" rIns="0" bIns="0" wrap="square"/>
          <a:lstStyle/>
          <a:p>
            <a:endParaRPr lang="en-US" sz="1800"/>
          </a:p>
        </p:txBody>
      </p:sp>
      <p:sp>
        <p:nvSpPr>
          <p:cNvPr id="21" name="Rounded Rectangle 20"/>
          <p:cNvSpPr/>
          <p:nvPr/>
        </p:nvSpPr>
        <p:spPr>
          <a:xfrm>
            <a:off x="1028700" y="5436785"/>
            <a:ext cx="1554480" cy="1798743"/>
          </a:xfrm>
          <a:prstGeom prst="roundRect">
            <a:avLst>
              <a:gd name="adj" fmla="val 17647"/>
            </a:avLst>
          </a:prstGeom>
          <a:solidFill>
            <a:srgbClr val="1E5F58"/>
          </a:solidFill>
          <a:ln>
            <a:noFill/>
          </a:ln>
        </p:spPr>
        <p:txBody>
          <a:bodyPr anchor="ctr" rtlCol="false" lIns="0" tIns="0" rIns="0" bIns="0" wrap="square"/>
          <a:lstStyle/>
          <a:p>
            <a:endParaRPr lang="en-US" sz="1800"/>
          </a:p>
        </p:txBody>
      </p:sp>
      <p:sp>
        <p:nvSpPr>
          <p:cNvPr id="22" name="Rectangle 21"/>
          <p:cNvSpPr/>
          <p:nvPr/>
        </p:nvSpPr>
        <p:spPr>
          <a:xfrm>
            <a:off x="2125980" y="5436785"/>
            <a:ext cx="457200" cy="1798743"/>
          </a:xfrm>
          <a:prstGeom prst="rect">
            <a:avLst/>
          </a:prstGeom>
          <a:solidFill>
            <a:srgbClr val="1E5F58"/>
          </a:solidFill>
          <a:ln>
            <a:noFill/>
          </a:ln>
        </p:spPr>
        <p:txBody>
          <a:bodyPr anchor="ctr" rtlCol="false" lIns="0" tIns="0" rIns="0" bIns="0" wrap="square"/>
          <a:lstStyle/>
          <a:p>
            <a:endParaRPr lang="en-US" sz="1800"/>
          </a:p>
        </p:txBody>
      </p:sp>
      <p:sp>
        <p:nvSpPr>
          <p:cNvPr id="23" name="TextBox 22"/>
          <p:cNvSpPr txBox="1"/>
          <p:nvPr/>
        </p:nvSpPr>
        <p:spPr>
          <a:xfrm>
            <a:off x="1028700" y="5436785"/>
            <a:ext cx="1554480" cy="1798743"/>
          </a:xfrm>
          <a:prstGeom prst="rect">
            <a:avLst/>
          </a:prstGeom>
          <a:noFill/>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II</a:t>
            </a:r>
          </a:p>
        </p:txBody>
      </p:sp>
      <p:sp>
        <p:nvSpPr>
          <p:cNvPr id="24" name="TextBox 23"/>
          <p:cNvSpPr txBox="1"/>
          <p:nvPr/>
        </p:nvSpPr>
        <p:spPr>
          <a:xfrm>
            <a:off x="2948940" y="5619665"/>
            <a:ext cx="11109960" cy="1432983"/>
          </a:xfrm>
          <a:prstGeom prst="rect">
            <a:avLst/>
          </a:prstGeom>
          <a:noFill/>
        </p:spPr>
        <p:txBody>
          <a:bodyPr anchor="ctr" rtlCol="false" lIns="0" tIns="0" rIns="0" bIns="0" wrap="square"/>
          <a:lstStyle/>
          <a:p>
            <a:pPr algn="l">
              <a:lnSpc>
                <a:spcPts val="1900"/>
              </a:lnSpc>
              <a:spcBef>
                <a:spcPts val="0"/>
              </a:spcBef>
              <a:buNone/>
            </a:pPr>
            <a:r>
              <a:rPr lang="en-US" sz="1500" b="true">
                <a:solidFill>
                  <a:srgbClr val="DF8330"/>
                </a:solidFill>
                <a:latin typeface="Nunito Ultra-Bold"/>
                <a:ea typeface="Nunito Ultra-Bold"/>
                <a:cs typeface="Nunito Ultra-Bold"/>
                <a:sym typeface="Nunito Ultra-Bold"/>
              </a:rPr>
              <a:t>Louhichi, M. &amp; Lazaar, M.</a:t>
            </a:r>
          </a:p>
          <a:p>
            <a:pPr algn="l">
              <a:lnSpc>
                <a:spcPts val="2940"/>
              </a:lnSpc>
              <a:spcBef>
                <a:spcPts val="400"/>
              </a:spcBef>
              <a:buNone/>
            </a:pPr>
            <a:r>
              <a:rPr lang="en-US" sz="2100" b="true">
                <a:solidFill>
                  <a:srgbClr val="111111"/>
                </a:solidFill>
                <a:latin typeface="Nunito Bold"/>
                <a:ea typeface="Nunito Bold"/>
                <a:cs typeface="Nunito Bold"/>
                <a:sym typeface="Nunito Bold"/>
              </a:rPr>
              <a:t>Game Theory Meets Explainable AI: An Enhanced Approach to Understanding Black Box Models Through Shapley Values</a:t>
            </a:r>
          </a:p>
          <a:p>
            <a:pPr algn="l">
              <a:lnSpc>
                <a:spcPts val="2100"/>
              </a:lnSpc>
              <a:spcBef>
                <a:spcPts val="400"/>
              </a:spcBef>
              <a:buNone/>
            </a:pPr>
            <a:r>
              <a:rPr lang="en-US" sz="1700" b="true">
                <a:solidFill>
                  <a:srgbClr val="8A8378"/>
                </a:solidFill>
                <a:latin typeface="Nunito Semi-Bold"/>
                <a:ea typeface="Nunito Semi-Bold"/>
                <a:cs typeface="Nunito Semi-Bold"/>
                <a:sym typeface="Nunito Semi-Bold"/>
              </a:rPr>
              <a:t>IJACSA 16(7), 716–725</a:t>
            </a:r>
          </a:p>
        </p:txBody>
      </p:sp>
      <p:sp>
        <p:nvSpPr>
          <p:cNvPr id="25" name="Rounded Rectangle 24"/>
          <p:cNvSpPr/>
          <p:nvPr/>
        </p:nvSpPr>
        <p:spPr>
          <a:xfrm>
            <a:off x="14241780" y="6116701"/>
            <a:ext cx="2743200" cy="438912"/>
          </a:xfrm>
          <a:prstGeom prst="roundRect">
            <a:avLst>
              <a:gd name="adj" fmla="val 50000"/>
            </a:avLst>
          </a:prstGeom>
          <a:solidFill>
            <a:srgbClr val="1E5F58"/>
          </a:solidFill>
          <a:ln w="28575">
            <a:solidFill>
              <a:srgbClr val="1E5F58"/>
            </a:solidFill>
          </a:ln>
        </p:spPr>
        <p:txBody>
          <a:bodyPr anchor="ctr" rtlCol="false" lIns="45720" tIns="0" rIns="45720" bIns="0" wrap="square"/>
          <a:lstStyle/>
          <a:p>
            <a:pPr algn="ctr">
              <a:lnSpc>
                <a:spcPts val="1920"/>
              </a:lnSpc>
              <a:spcBef>
                <a:spcPts val="0"/>
              </a:spcBef>
              <a:buNone/>
            </a:pPr>
            <a:r>
              <a:rPr lang="en-US" sz="1600" b="true">
                <a:solidFill>
                  <a:srgbClr val="FFFFFF"/>
                </a:solidFill>
                <a:latin typeface="Nunito Bold"/>
                <a:ea typeface="Nunito Bold"/>
                <a:cs typeface="Nunito Bold"/>
                <a:sym typeface="Nunito Bold"/>
              </a:rPr>
              <a:t>Published · 2025</a:t>
            </a:r>
          </a:p>
        </p:txBody>
      </p:sp>
      <p:sp>
        <p:nvSpPr>
          <p:cNvPr id="26" name="Rounded Rectangle 25"/>
          <p:cNvSpPr/>
          <p:nvPr/>
        </p:nvSpPr>
        <p:spPr>
          <a:xfrm>
            <a:off x="1028700" y="7509848"/>
            <a:ext cx="16230600" cy="1798743"/>
          </a:xfrm>
          <a:prstGeom prst="roundRect">
            <a:avLst>
              <a:gd name="adj" fmla="val 15250"/>
            </a:avLst>
          </a:prstGeom>
          <a:solidFill>
            <a:srgbClr val="F6ECDF"/>
          </a:solidFill>
          <a:ln>
            <a:noFill/>
          </a:ln>
        </p:spPr>
        <p:txBody>
          <a:bodyPr anchor="ctr" rtlCol="false" lIns="0" tIns="0" rIns="0" bIns="0" wrap="square"/>
          <a:lstStyle/>
          <a:p>
            <a:endParaRPr lang="en-US" sz="1800"/>
          </a:p>
        </p:txBody>
      </p:sp>
      <p:sp>
        <p:nvSpPr>
          <p:cNvPr id="27" name="Rounded Rectangle 26"/>
          <p:cNvSpPr/>
          <p:nvPr/>
        </p:nvSpPr>
        <p:spPr>
          <a:xfrm>
            <a:off x="1028700" y="7509848"/>
            <a:ext cx="1554480" cy="1798743"/>
          </a:xfrm>
          <a:prstGeom prst="roundRect">
            <a:avLst>
              <a:gd name="adj" fmla="val 17647"/>
            </a:avLst>
          </a:prstGeom>
          <a:solidFill>
            <a:srgbClr val="DF8330"/>
          </a:solidFill>
          <a:ln>
            <a:noFill/>
          </a:ln>
        </p:spPr>
        <p:txBody>
          <a:bodyPr anchor="ctr" rtlCol="false" lIns="0" tIns="0" rIns="0" bIns="0" wrap="square"/>
          <a:lstStyle/>
          <a:p>
            <a:endParaRPr lang="en-US" sz="1800"/>
          </a:p>
        </p:txBody>
      </p:sp>
      <p:sp>
        <p:nvSpPr>
          <p:cNvPr id="28" name="Rectangle 27"/>
          <p:cNvSpPr/>
          <p:nvPr/>
        </p:nvSpPr>
        <p:spPr>
          <a:xfrm>
            <a:off x="2125980" y="7509848"/>
            <a:ext cx="457200" cy="1798743"/>
          </a:xfrm>
          <a:prstGeom prst="rect">
            <a:avLst/>
          </a:prstGeom>
          <a:solidFill>
            <a:srgbClr val="DF8330"/>
          </a:solidFill>
          <a:ln>
            <a:noFill/>
          </a:ln>
        </p:spPr>
        <p:txBody>
          <a:bodyPr anchor="ctr" rtlCol="false" lIns="0" tIns="0" rIns="0" bIns="0" wrap="square"/>
          <a:lstStyle/>
          <a:p>
            <a:endParaRPr lang="en-US" sz="1800"/>
          </a:p>
        </p:txBody>
      </p:sp>
      <p:sp>
        <p:nvSpPr>
          <p:cNvPr id="29" name="TextBox 28"/>
          <p:cNvSpPr txBox="1"/>
          <p:nvPr/>
        </p:nvSpPr>
        <p:spPr>
          <a:xfrm>
            <a:off x="1028700" y="7509848"/>
            <a:ext cx="1554480" cy="1798743"/>
          </a:xfrm>
          <a:prstGeom prst="rect">
            <a:avLst/>
          </a:prstGeom>
          <a:noFill/>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III</a:t>
            </a:r>
          </a:p>
        </p:txBody>
      </p:sp>
      <p:sp>
        <p:nvSpPr>
          <p:cNvPr id="30" name="TextBox 29"/>
          <p:cNvSpPr txBox="1"/>
          <p:nvPr/>
        </p:nvSpPr>
        <p:spPr>
          <a:xfrm>
            <a:off x="2948940" y="7692728"/>
            <a:ext cx="11109960" cy="1432983"/>
          </a:xfrm>
          <a:prstGeom prst="rect">
            <a:avLst/>
          </a:prstGeom>
          <a:noFill/>
        </p:spPr>
        <p:txBody>
          <a:bodyPr anchor="ctr" rtlCol="false" lIns="0" tIns="0" rIns="0" bIns="0" wrap="square"/>
          <a:lstStyle/>
          <a:p>
            <a:pPr algn="l">
              <a:lnSpc>
                <a:spcPts val="1900"/>
              </a:lnSpc>
              <a:spcBef>
                <a:spcPts val="0"/>
              </a:spcBef>
              <a:buNone/>
            </a:pPr>
            <a:r>
              <a:rPr lang="en-US" sz="1500" b="true">
                <a:solidFill>
                  <a:srgbClr val="DF8330"/>
                </a:solidFill>
                <a:latin typeface="Nunito Ultra-Bold"/>
                <a:ea typeface="Nunito Ultra-Bold"/>
                <a:cs typeface="Nunito Ultra-Bold"/>
                <a:sym typeface="Nunito Ultra-Bold"/>
              </a:rPr>
              <a:t>Louhichi, M. &amp; Lazaar, M.</a:t>
            </a:r>
          </a:p>
          <a:p>
            <a:pPr algn="l">
              <a:lnSpc>
                <a:spcPts val="2940"/>
              </a:lnSpc>
              <a:spcBef>
                <a:spcPts val="400"/>
              </a:spcBef>
              <a:buNone/>
            </a:pPr>
            <a:r>
              <a:rPr lang="en-US" sz="2100" b="true">
                <a:solidFill>
                  <a:srgbClr val="111111"/>
                </a:solidFill>
                <a:latin typeface="Nunito Bold"/>
                <a:ea typeface="Nunito Bold"/>
                <a:cs typeface="Nunito Bold"/>
                <a:sym typeface="Nunito Bold"/>
              </a:rPr>
              <a:t>DyHuCoG: A Dynamic Hypergraph Cooperative Game for Preference-aware Recommendation</a:t>
            </a:r>
          </a:p>
          <a:p>
            <a:pPr algn="l">
              <a:lnSpc>
                <a:spcPts val="2100"/>
              </a:lnSpc>
              <a:spcBef>
                <a:spcPts val="400"/>
              </a:spcBef>
              <a:buNone/>
            </a:pPr>
            <a:r>
              <a:rPr lang="en-US" sz="1700" b="true">
                <a:solidFill>
                  <a:srgbClr val="8A8378"/>
                </a:solidFill>
                <a:latin typeface="Nunito Semi-Bold"/>
                <a:ea typeface="Nunito Semi-Bold"/>
                <a:cs typeface="Nunito Semi-Bold"/>
                <a:sym typeface="Nunito Semi-Bold"/>
              </a:rPr>
              <a:t>IJIES 19(2), 887–902</a:t>
            </a:r>
          </a:p>
        </p:txBody>
      </p:sp>
      <p:sp>
        <p:nvSpPr>
          <p:cNvPr id="31" name="Rounded Rectangle 30"/>
          <p:cNvSpPr/>
          <p:nvPr/>
        </p:nvSpPr>
        <p:spPr>
          <a:xfrm>
            <a:off x="14241780" y="8189764"/>
            <a:ext cx="2743200" cy="438912"/>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920"/>
              </a:lnSpc>
              <a:spcBef>
                <a:spcPts val="0"/>
              </a:spcBef>
              <a:buNone/>
            </a:pPr>
            <a:r>
              <a:rPr lang="en-US" sz="1600" b="true">
                <a:solidFill>
                  <a:srgbClr val="FFFFFF"/>
                </a:solidFill>
                <a:latin typeface="Nunito Bold"/>
                <a:ea typeface="Nunito Bold"/>
                <a:cs typeface="Nunito Bold"/>
                <a:sym typeface="Nunito Bold"/>
              </a:rPr>
              <a:t>Published ·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pic>
        <p:nvPicPr>
          <p:cNvPr id="8" name="Picture 7" descr="image.png"/>
          <p:cNvPicPr>
            <a:picLocks noChangeAspect="1"/>
          </p:cNvPicPr>
          <p:nvPr/>
        </p:nvPicPr>
        <p:blipFill>
          <a:blip r:embed="rId2"/>
          <a:stretch>
            <a:fillRect/>
          </a:stretch>
        </p:blipFill>
        <p:spPr>
          <a:xfrm>
            <a:off x="8586542" y="1673352"/>
            <a:ext cx="457200" cy="452148"/>
          </a:xfrm>
          <a:prstGeom prst="rect">
            <a:avLst/>
          </a:prstGeom>
        </p:spPr>
      </p:pic>
      <p:sp>
        <p:nvSpPr>
          <p:cNvPr id="9" name="Rounded Rectangle 8"/>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10" name="Rounded Rectangle 9"/>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11" name="Rounded Rectangle 10"/>
          <p:cNvSpPr/>
          <p:nvPr/>
        </p:nvSpPr>
        <p:spPr>
          <a:xfrm>
            <a:off x="4782741" y="2559050"/>
            <a:ext cx="176548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12" name="Rounded Rectangle 11"/>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13" name="Rounded Rectangle 12"/>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14" name="Rounded Rectangle 13"/>
          <p:cNvSpPr/>
          <p:nvPr/>
        </p:nvSpPr>
        <p:spPr>
          <a:xfrm>
            <a:off x="1028700" y="3455162"/>
            <a:ext cx="7978140" cy="2789555"/>
          </a:xfrm>
          <a:prstGeom prst="roundRect">
            <a:avLst>
              <a:gd name="adj" fmla="val 9833"/>
            </a:avLst>
          </a:prstGeom>
          <a:solidFill>
            <a:srgbClr val="12494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15" name="Rounded Rectangle 14"/>
          <p:cNvSpPr/>
          <p:nvPr/>
        </p:nvSpPr>
        <p:spPr>
          <a:xfrm>
            <a:off x="9281160" y="3455162"/>
            <a:ext cx="7978140" cy="2789555"/>
          </a:xfrm>
          <a:prstGeom prst="roundRect">
            <a:avLst>
              <a:gd name="adj" fmla="val 9833"/>
            </a:avLst>
          </a:prstGeom>
          <a:solidFill>
            <a:srgbClr val="1E5F58"/>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16" name="Rounded Rectangle 15"/>
          <p:cNvSpPr/>
          <p:nvPr/>
        </p:nvSpPr>
        <p:spPr>
          <a:xfrm>
            <a:off x="1028700" y="6519037"/>
            <a:ext cx="7978140" cy="2789555"/>
          </a:xfrm>
          <a:prstGeom prst="roundRect">
            <a:avLst>
              <a:gd name="adj" fmla="val 9833"/>
            </a:avLst>
          </a:prstGeom>
          <a:solidFill>
            <a:srgbClr val="DF8330"/>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17" name="Rounded Rectangle 16"/>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pic>
        <p:nvPicPr>
          <p:cNvPr id="8" name="Picture 7" descr="image.png"/>
          <p:cNvPicPr>
            <a:picLocks noChangeAspect="1"/>
          </p:cNvPicPr>
          <p:nvPr/>
        </p:nvPicPr>
        <p:blipFill>
          <a:blip r:embed="rId2"/>
          <a:stretch>
            <a:fillRect/>
          </a:stretch>
        </p:blipFill>
        <p:spPr>
          <a:xfrm>
            <a:off x="13921521" y="1673352"/>
            <a:ext cx="457200" cy="617115"/>
          </a:xfrm>
          <a:prstGeom prst="rect">
            <a:avLst/>
          </a:prstGeom>
        </p:spPr>
      </p:pic>
      <p:sp>
        <p:nvSpPr>
          <p:cNvPr id="9" name="Rounded Rectangle 8"/>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10" name="Rounded Rectangle 9"/>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11" name="Rounded Rectangle 10"/>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12" name="Rounded Rectangle 11"/>
          <p:cNvSpPr/>
          <p:nvPr/>
        </p:nvSpPr>
        <p:spPr>
          <a:xfrm>
            <a:off x="6676243" y="2559050"/>
            <a:ext cx="1934074"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13" name="Rounded Rectangle 12"/>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14" name="Rounded Rectangle 13"/>
          <p:cNvSpPr/>
          <p:nvPr/>
        </p:nvSpPr>
        <p:spPr>
          <a:xfrm>
            <a:off x="1028700" y="3455162"/>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15" name="Oval 14"/>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16" name="TextBox 15"/>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17" name="Rounded Rectangle 16"/>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18" name="Oval 17"/>
          <p:cNvSpPr/>
          <p:nvPr/>
        </p:nvSpPr>
        <p:spPr>
          <a:xfrm>
            <a:off x="9646920" y="3820922"/>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19" name="TextBox 18"/>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20" name="Rounded Rectangle 19"/>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21" name="Oval 20"/>
          <p:cNvSpPr/>
          <p:nvPr/>
        </p:nvSpPr>
        <p:spPr>
          <a:xfrm>
            <a:off x="1394460" y="6884797"/>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22" name="TextBox 21"/>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23" name="Rounded Rectangle 22"/>
          <p:cNvSpPr/>
          <p:nvPr/>
        </p:nvSpPr>
        <p:spPr>
          <a:xfrm>
            <a:off x="9281160" y="6519037"/>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24" name="Oval 23"/>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25" name="TextBox 24"/>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pic>
        <p:nvPicPr>
          <p:cNvPr id="8" name="Picture 7" descr="image.png"/>
          <p:cNvPicPr>
            <a:picLocks noChangeAspect="1"/>
          </p:cNvPicPr>
          <p:nvPr/>
        </p:nvPicPr>
        <p:blipFill>
          <a:blip r:embed="rId2"/>
          <a:stretch>
            <a:fillRect/>
          </a:stretch>
        </p:blipFill>
        <p:spPr>
          <a:xfrm>
            <a:off x="4224502" y="1673352"/>
            <a:ext cx="457200" cy="250983"/>
          </a:xfrm>
          <a:prstGeom prst="rect">
            <a:avLst/>
          </a:prstGeom>
        </p:spPr>
      </p:pic>
      <p:sp>
        <p:nvSpPr>
          <p:cNvPr id="9" name="Rounded Rectangle 8"/>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10" name="Rounded Rectangle 9"/>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11" name="Rounded Rectangle 10"/>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12" name="Rounded Rectangle 11"/>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13" name="Rounded Rectangle 12"/>
          <p:cNvSpPr/>
          <p:nvPr/>
        </p:nvSpPr>
        <p:spPr>
          <a:xfrm>
            <a:off x="8738333" y="2559050"/>
            <a:ext cx="17530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14" name="Rounded Rectangle 13"/>
          <p:cNvSpPr/>
          <p:nvPr/>
        </p:nvSpPr>
        <p:spPr>
          <a:xfrm>
            <a:off x="1028700" y="3363722"/>
            <a:ext cx="16230600" cy="1463040"/>
          </a:xfrm>
          <a:prstGeom prst="roundRect">
            <a:avLst>
              <a:gd name="adj" fmla="val 18750"/>
            </a:avLst>
          </a:prstGeom>
          <a:solidFill>
            <a:srgbClr val="124944"/>
          </a:solidFill>
          <a:ln>
            <a:noFill/>
          </a:ln>
        </p:spPr>
        <p:txBody>
          <a:bodyPr anchor="ctr" rtlCol="false" lIns="457200" tIns="91440" rIns="457200" bIns="91440" wrap="square"/>
          <a:lstStyle/>
          <a:p>
            <a:pPr algn="ctr">
              <a:lnSpc>
                <a:spcPts val="1800"/>
              </a:lnSpc>
              <a:spcBef>
                <a:spcPts val="0"/>
              </a:spcBef>
              <a:buNone/>
            </a:pPr>
            <a:r>
              <a:rPr lang="en-US" sz="1400" b="true" spc="180">
                <a:solidFill>
                  <a:srgbClr val="ECC665"/>
                </a:solidFill>
                <a:latin typeface="Nunito Ultra-Bold"/>
                <a:ea typeface="Nunito Ultra-Bold"/>
                <a:cs typeface="Nunito Ultra-Bold"/>
                <a:sym typeface="Nunito Ultra-Bold"/>
              </a:rPr>
              <a:t>THESIS ANSWER</a:t>
            </a:r>
          </a:p>
          <a:p>
            <a:pPr algn="ctr">
              <a:lnSpc>
                <a:spcPts val="3000"/>
              </a:lnSpc>
              <a:spcBef>
                <a:spcPts val="800"/>
              </a:spcBef>
              <a:buNone/>
            </a:pPr>
            <a:r>
              <a:rPr lang="en-US" sz="2400" b="true">
                <a:solidFill>
                  <a:srgbClr val="FFFFFF"/>
                </a:solidFill>
                <a:latin typeface="Nunito Bold"/>
                <a:ea typeface="Nunito Bold"/>
                <a:cs typeface="Nunito Bold"/>
                <a:sym typeface="Nunito Bold"/>
              </a:rPr>
              <a:t>Cooperative game theory can serve as a </a:t>
            </a:r>
            <a:r>
              <a:rPr lang="en-US" sz="2400" b="true">
                <a:solidFill>
                  <a:srgbClr val="FFFFFF"/>
                </a:solidFill>
                <a:latin typeface="Nunito Ultra-Bold"/>
                <a:ea typeface="Nunito Ultra-Bold"/>
                <a:cs typeface="Nunito Ultra-Bold"/>
                <a:sym typeface="Nunito Ultra-Bold"/>
              </a:rPr>
              <a:t>shared methodological view for actionable explanation</a:t>
            </a:r>
            <a:r>
              <a:rPr lang="en-US" sz="2400" b="true">
                <a:solidFill>
                  <a:srgbClr val="FFFFFF"/>
                </a:solidFill>
                <a:latin typeface="Nunito Bold"/>
                <a:ea typeface="Nunito Bold"/>
                <a:cs typeface="Nunito Bold"/>
                <a:sym typeface="Nunito Bold"/>
              </a:rPr>
              <a:t> across clustering and recommendation.</a:t>
            </a:r>
          </a:p>
        </p:txBody>
      </p:sp>
      <p:sp>
        <p:nvSpPr>
          <p:cNvPr id="15" name="Rounded Rectangle 14"/>
          <p:cNvSpPr/>
          <p:nvPr/>
        </p:nvSpPr>
        <p:spPr>
          <a:xfrm>
            <a:off x="1028700" y="5192522"/>
            <a:ext cx="3851910" cy="4116070"/>
          </a:xfrm>
          <a:prstGeom prst="roundRect">
            <a:avLst>
              <a:gd name="adj" fmla="val 7121"/>
            </a:avLst>
          </a:prstGeom>
          <a:solidFill>
            <a:srgbClr val="F6ECDF"/>
          </a:solidFill>
          <a:ln>
            <a:noFill/>
          </a:ln>
        </p:spPr>
        <p:txBody>
          <a:bodyPr anchor="ctr" rtlCol="false" lIns="0" tIns="0" rIns="0" bIns="0" wrap="square"/>
          <a:lstStyle/>
          <a:p>
            <a:endParaRPr lang="en-US" sz="1800"/>
          </a:p>
        </p:txBody>
      </p:sp>
      <p:sp>
        <p:nvSpPr>
          <p:cNvPr id="16" name="Oval 15"/>
          <p:cNvSpPr/>
          <p:nvPr/>
        </p:nvSpPr>
        <p:spPr>
          <a:xfrm>
            <a:off x="1348740" y="5512562"/>
            <a:ext cx="548640" cy="548640"/>
          </a:xfrm>
          <a:prstGeom prst="ellipse">
            <a:avLst/>
          </a:prstGeom>
          <a:solidFill>
            <a:srgbClr val="DF8330"/>
          </a:solidFill>
          <a:ln>
            <a:noFill/>
          </a:ln>
        </p:spPr>
        <p:txBody>
          <a:bodyPr anchor="ctr" rtlCol="false" lIns="0" tIns="0" rIns="0" bIns="0" wrap="square"/>
          <a:lstStyle/>
          <a:p>
            <a:pPr algn="ctr">
              <a:lnSpc>
                <a:spcPts val="1980"/>
              </a:lnSpc>
              <a:spcBef>
                <a:spcPts val="0"/>
              </a:spcBef>
              <a:buNone/>
            </a:pPr>
            <a:r>
              <a:rPr lang="en-US" sz="1800" b="true">
                <a:solidFill>
                  <a:srgbClr val="FFFFFF"/>
                </a:solidFill>
                <a:latin typeface="Nunito Ultra-Bold"/>
                <a:ea typeface="Nunito Ultra-Bold"/>
                <a:cs typeface="Nunito Ultra-Bold"/>
                <a:sym typeface="Nunito Ultra-Bold"/>
              </a:rPr>
              <a:t>1</a:t>
            </a:r>
          </a:p>
        </p:txBody>
      </p:sp>
      <p:sp>
        <p:nvSpPr>
          <p:cNvPr id="17" name="TextBox 16"/>
          <p:cNvSpPr txBox="1"/>
          <p:nvPr/>
        </p:nvSpPr>
        <p:spPr>
          <a:xfrm>
            <a:off x="1348740" y="6244082"/>
            <a:ext cx="3211830" cy="28816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Common language</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18" name="Rounded Rectangle 17"/>
          <p:cNvSpPr/>
          <p:nvPr/>
        </p:nvSpPr>
        <p:spPr>
          <a:xfrm>
            <a:off x="5154930" y="5192522"/>
            <a:ext cx="3851910" cy="4116070"/>
          </a:xfrm>
          <a:prstGeom prst="roundRect">
            <a:avLst>
              <a:gd name="adj" fmla="val 7121"/>
            </a:avLst>
          </a:prstGeom>
          <a:solidFill>
            <a:srgbClr val="FBF4EB"/>
          </a:solidFill>
          <a:ln>
            <a:noFill/>
          </a:ln>
        </p:spPr>
        <p:txBody>
          <a:bodyPr anchor="ctr" rtlCol="false" lIns="0" tIns="0" rIns="0" bIns="0" wrap="square"/>
          <a:lstStyle/>
          <a:p>
            <a:endParaRPr lang="en-US" sz="1800"/>
          </a:p>
        </p:txBody>
      </p:sp>
      <p:sp>
        <p:nvSpPr>
          <p:cNvPr id="19" name="Oval 18"/>
          <p:cNvSpPr/>
          <p:nvPr/>
        </p:nvSpPr>
        <p:spPr>
          <a:xfrm>
            <a:off x="5474970" y="5512562"/>
            <a:ext cx="548640" cy="548640"/>
          </a:xfrm>
          <a:prstGeom prst="ellipse">
            <a:avLst/>
          </a:prstGeom>
          <a:solidFill>
            <a:srgbClr val="DF8330"/>
          </a:solidFill>
          <a:ln>
            <a:noFill/>
          </a:ln>
        </p:spPr>
        <p:txBody>
          <a:bodyPr anchor="ctr" rtlCol="false" lIns="0" tIns="0" rIns="0" bIns="0" wrap="square"/>
          <a:lstStyle/>
          <a:p>
            <a:pPr algn="ctr">
              <a:lnSpc>
                <a:spcPts val="1980"/>
              </a:lnSpc>
              <a:spcBef>
                <a:spcPts val="0"/>
              </a:spcBef>
              <a:buNone/>
            </a:pPr>
            <a:r>
              <a:rPr lang="en-US" sz="1800" b="true">
                <a:solidFill>
                  <a:srgbClr val="FFFFFF"/>
                </a:solidFill>
                <a:latin typeface="Nunito Ultra-Bold"/>
                <a:ea typeface="Nunito Ultra-Bold"/>
                <a:cs typeface="Nunito Ultra-Bold"/>
                <a:sym typeface="Nunito Ultra-Bold"/>
              </a:rPr>
              <a:t>2</a:t>
            </a:r>
          </a:p>
        </p:txBody>
      </p:sp>
      <p:sp>
        <p:nvSpPr>
          <p:cNvPr id="20" name="TextBox 19"/>
          <p:cNvSpPr txBox="1"/>
          <p:nvPr/>
        </p:nvSpPr>
        <p:spPr>
          <a:xfrm>
            <a:off x="5474970" y="6244082"/>
            <a:ext cx="3211830" cy="28816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Three achievements</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21" name="Rounded Rectangle 20"/>
          <p:cNvSpPr/>
          <p:nvPr/>
        </p:nvSpPr>
        <p:spPr>
          <a:xfrm>
            <a:off x="9281160" y="5192522"/>
            <a:ext cx="3851910" cy="4116070"/>
          </a:xfrm>
          <a:prstGeom prst="roundRect">
            <a:avLst>
              <a:gd name="adj" fmla="val 7121"/>
            </a:avLst>
          </a:prstGeom>
          <a:solidFill>
            <a:srgbClr val="F6ECDF"/>
          </a:solidFill>
          <a:ln>
            <a:noFill/>
          </a:ln>
        </p:spPr>
        <p:txBody>
          <a:bodyPr anchor="ctr" rtlCol="false" lIns="0" tIns="0" rIns="0" bIns="0" wrap="square"/>
          <a:lstStyle/>
          <a:p>
            <a:endParaRPr lang="en-US" sz="1800"/>
          </a:p>
        </p:txBody>
      </p:sp>
      <p:sp>
        <p:nvSpPr>
          <p:cNvPr id="22" name="Oval 21"/>
          <p:cNvSpPr/>
          <p:nvPr/>
        </p:nvSpPr>
        <p:spPr>
          <a:xfrm>
            <a:off x="9601200" y="5512562"/>
            <a:ext cx="548640" cy="548640"/>
          </a:xfrm>
          <a:prstGeom prst="ellipse">
            <a:avLst/>
          </a:prstGeom>
          <a:solidFill>
            <a:srgbClr val="DF8330"/>
          </a:solidFill>
          <a:ln>
            <a:noFill/>
          </a:ln>
        </p:spPr>
        <p:txBody>
          <a:bodyPr anchor="ctr" rtlCol="false" lIns="0" tIns="0" rIns="0" bIns="0" wrap="square"/>
          <a:lstStyle/>
          <a:p>
            <a:pPr algn="ctr">
              <a:lnSpc>
                <a:spcPts val="1980"/>
              </a:lnSpc>
              <a:spcBef>
                <a:spcPts val="0"/>
              </a:spcBef>
              <a:buNone/>
            </a:pPr>
            <a:r>
              <a:rPr lang="en-US" sz="1800" b="true">
                <a:solidFill>
                  <a:srgbClr val="FFFFFF"/>
                </a:solidFill>
                <a:latin typeface="Nunito Ultra-Bold"/>
                <a:ea typeface="Nunito Ultra-Bold"/>
                <a:cs typeface="Nunito Ultra-Bold"/>
                <a:sym typeface="Nunito Ultra-Bold"/>
              </a:rPr>
              <a:t>3</a:t>
            </a:r>
          </a:p>
        </p:txBody>
      </p:sp>
      <p:sp>
        <p:nvSpPr>
          <p:cNvPr id="23" name="TextBox 22"/>
          <p:cNvSpPr txBox="1"/>
          <p:nvPr/>
        </p:nvSpPr>
        <p:spPr>
          <a:xfrm>
            <a:off x="9601200" y="6244082"/>
            <a:ext cx="3211830" cy="28816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Explanation as method</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24" name="Rounded Rectangle 23"/>
          <p:cNvSpPr/>
          <p:nvPr/>
        </p:nvSpPr>
        <p:spPr>
          <a:xfrm>
            <a:off x="13407390" y="5192522"/>
            <a:ext cx="3851910" cy="4116070"/>
          </a:xfrm>
          <a:prstGeom prst="roundRect">
            <a:avLst>
              <a:gd name="adj" fmla="val 7121"/>
            </a:avLst>
          </a:prstGeom>
          <a:solidFill>
            <a:srgbClr val="FBF4EB"/>
          </a:solidFill>
          <a:ln>
            <a:noFill/>
          </a:ln>
        </p:spPr>
        <p:txBody>
          <a:bodyPr anchor="ctr" rtlCol="false" lIns="0" tIns="0" rIns="0" bIns="0" wrap="square"/>
          <a:lstStyle/>
          <a:p>
            <a:endParaRPr lang="en-US" sz="1800"/>
          </a:p>
        </p:txBody>
      </p:sp>
      <p:sp>
        <p:nvSpPr>
          <p:cNvPr id="25" name="Oval 24"/>
          <p:cNvSpPr/>
          <p:nvPr/>
        </p:nvSpPr>
        <p:spPr>
          <a:xfrm>
            <a:off x="13727430" y="5512562"/>
            <a:ext cx="548640" cy="548640"/>
          </a:xfrm>
          <a:prstGeom prst="ellipse">
            <a:avLst/>
          </a:prstGeom>
          <a:solidFill>
            <a:srgbClr val="DF8330"/>
          </a:solidFill>
          <a:ln>
            <a:noFill/>
          </a:ln>
        </p:spPr>
        <p:txBody>
          <a:bodyPr anchor="ctr" rtlCol="false" lIns="0" tIns="0" rIns="0" bIns="0" wrap="square"/>
          <a:lstStyle/>
          <a:p>
            <a:pPr algn="ctr">
              <a:lnSpc>
                <a:spcPts val="1980"/>
              </a:lnSpc>
              <a:spcBef>
                <a:spcPts val="0"/>
              </a:spcBef>
              <a:buNone/>
            </a:pPr>
            <a:r>
              <a:rPr lang="en-US" sz="1800" b="true">
                <a:solidFill>
                  <a:srgbClr val="FFFFFF"/>
                </a:solidFill>
                <a:latin typeface="Nunito Ultra-Bold"/>
                <a:ea typeface="Nunito Ultra-Bold"/>
                <a:cs typeface="Nunito Ultra-Bold"/>
                <a:sym typeface="Nunito Ultra-Bold"/>
              </a:rPr>
              <a:t>4</a:t>
            </a:r>
          </a:p>
        </p:txBody>
      </p:sp>
      <p:sp>
        <p:nvSpPr>
          <p:cNvPr id="26" name="TextBox 25"/>
          <p:cNvSpPr txBox="1"/>
          <p:nvPr/>
        </p:nvSpPr>
        <p:spPr>
          <a:xfrm>
            <a:off x="13727430" y="6244082"/>
            <a:ext cx="3211830" cy="28816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Trustworthy AI</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a:t>
            </a:r>
          </a:p>
        </p:txBody>
      </p:sp>
      <p:pic>
        <p:nvPicPr>
          <p:cNvPr id="8" name="Picture 7" descr="image.png"/>
          <p:cNvPicPr>
            <a:picLocks noChangeAspect="1"/>
          </p:cNvPicPr>
          <p:nvPr/>
        </p:nvPicPr>
        <p:blipFill>
          <a:blip r:embed="rId2"/>
          <a:stretch>
            <a:fillRect/>
          </a:stretch>
        </p:blipFill>
        <p:spPr>
          <a:xfrm>
            <a:off x="4189602" y="1673352"/>
            <a:ext cx="457200" cy="539881"/>
          </a:xfrm>
          <a:prstGeom prst="rect">
            <a:avLst/>
          </a:prstGeom>
        </p:spPr>
      </p:pic>
      <p:sp>
        <p:nvSpPr>
          <p:cNvPr id="9" name="Rounded Rectangle 8"/>
          <p:cNvSpPr/>
          <p:nvPr/>
        </p:nvSpPr>
        <p:spPr>
          <a:xfrm>
            <a:off x="1028700" y="2760218"/>
            <a:ext cx="16230600" cy="656477"/>
          </a:xfrm>
          <a:prstGeom prst="roundRect">
            <a:avLst>
              <a:gd name="adj" fmla="val 19500"/>
            </a:avLst>
          </a:prstGeom>
          <a:solidFill>
            <a:srgbClr val="F6ECDF"/>
          </a:solidFill>
          <a:ln>
            <a:noFill/>
          </a:ln>
        </p:spPr>
        <p:txBody>
          <a:bodyPr anchor="ctr" rtlCol="false" lIns="0" tIns="0" rIns="0" bIns="0" wrap="square"/>
          <a:lstStyle/>
          <a:p>
            <a:endParaRPr lang="en-US" sz="1800"/>
          </a:p>
        </p:txBody>
      </p:sp>
      <p:sp>
        <p:nvSpPr>
          <p:cNvPr id="10" name="Rounded Rectangle 9"/>
          <p:cNvSpPr/>
          <p:nvPr/>
        </p:nvSpPr>
        <p:spPr>
          <a:xfrm>
            <a:off x="1165860" y="2851658"/>
            <a:ext cx="822960" cy="473597"/>
          </a:xfrm>
          <a:prstGeom prst="roundRect">
            <a:avLst>
              <a:gd name="adj" fmla="val 19307"/>
            </a:avLst>
          </a:prstGeom>
          <a:solidFill>
            <a:srgbClr val="124944"/>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R1</a:t>
            </a:r>
          </a:p>
        </p:txBody>
      </p:sp>
      <p:sp>
        <p:nvSpPr>
          <p:cNvPr id="11" name="TextBox 10"/>
          <p:cNvSpPr txBox="1"/>
          <p:nvPr/>
        </p:nvSpPr>
        <p:spPr>
          <a:xfrm>
            <a:off x="2217420" y="2760218"/>
            <a:ext cx="14859000" cy="656477"/>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Louhichi, M. &amp; Lazaar, M. Shapley Values for Explaining the Black Box Nature of ML Model Clustering. Procedia Computer Science 220, 806–811 (2023).</a:t>
            </a:r>
          </a:p>
        </p:txBody>
      </p:sp>
      <p:sp>
        <p:nvSpPr>
          <p:cNvPr id="12" name="Rounded Rectangle 11"/>
          <p:cNvSpPr/>
          <p:nvPr/>
        </p:nvSpPr>
        <p:spPr>
          <a:xfrm>
            <a:off x="1028700" y="3508135"/>
            <a:ext cx="16230600" cy="656477"/>
          </a:xfrm>
          <a:prstGeom prst="roundRect">
            <a:avLst>
              <a:gd name="adj" fmla="val 19500"/>
            </a:avLst>
          </a:prstGeom>
          <a:solidFill>
            <a:srgbClr val="FBF4EB"/>
          </a:solidFill>
          <a:ln>
            <a:noFill/>
          </a:ln>
        </p:spPr>
        <p:txBody>
          <a:bodyPr anchor="ctr" rtlCol="false" lIns="0" tIns="0" rIns="0" bIns="0" wrap="square"/>
          <a:lstStyle/>
          <a:p>
            <a:endParaRPr lang="en-US" sz="1800"/>
          </a:p>
        </p:txBody>
      </p:sp>
      <p:sp>
        <p:nvSpPr>
          <p:cNvPr id="13" name="Rounded Rectangle 12"/>
          <p:cNvSpPr/>
          <p:nvPr/>
        </p:nvSpPr>
        <p:spPr>
          <a:xfrm>
            <a:off x="1165860" y="3599575"/>
            <a:ext cx="822960" cy="473597"/>
          </a:xfrm>
          <a:prstGeom prst="roundRect">
            <a:avLst>
              <a:gd name="adj" fmla="val 19307"/>
            </a:avLst>
          </a:prstGeom>
          <a:solidFill>
            <a:srgbClr val="124944"/>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R2</a:t>
            </a:r>
          </a:p>
        </p:txBody>
      </p:sp>
      <p:sp>
        <p:nvSpPr>
          <p:cNvPr id="14" name="TextBox 13"/>
          <p:cNvSpPr txBox="1"/>
          <p:nvPr/>
        </p:nvSpPr>
        <p:spPr>
          <a:xfrm>
            <a:off x="2217420" y="3508135"/>
            <a:ext cx="14859000" cy="656477"/>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Louhichi, M. &amp; Lazaar, M. Game Theory Meets Explainable AI: An Enhanced Approach to Understanding Black Box Models Through Shapley Values. IJACSA 16(7), 716–725 (2025).</a:t>
            </a:r>
          </a:p>
        </p:txBody>
      </p:sp>
      <p:sp>
        <p:nvSpPr>
          <p:cNvPr id="15" name="Rounded Rectangle 14"/>
          <p:cNvSpPr/>
          <p:nvPr/>
        </p:nvSpPr>
        <p:spPr>
          <a:xfrm>
            <a:off x="1028700" y="4256052"/>
            <a:ext cx="16230600" cy="656477"/>
          </a:xfrm>
          <a:prstGeom prst="roundRect">
            <a:avLst>
              <a:gd name="adj" fmla="val 19500"/>
            </a:avLst>
          </a:prstGeom>
          <a:solidFill>
            <a:srgbClr val="F6ECDF"/>
          </a:solidFill>
          <a:ln>
            <a:noFill/>
          </a:ln>
        </p:spPr>
        <p:txBody>
          <a:bodyPr anchor="ctr" rtlCol="false" lIns="0" tIns="0" rIns="0" bIns="0" wrap="square"/>
          <a:lstStyle/>
          <a:p>
            <a:endParaRPr lang="en-US" sz="1800"/>
          </a:p>
        </p:txBody>
      </p:sp>
      <p:sp>
        <p:nvSpPr>
          <p:cNvPr id="16" name="Rounded Rectangle 15"/>
          <p:cNvSpPr/>
          <p:nvPr/>
        </p:nvSpPr>
        <p:spPr>
          <a:xfrm>
            <a:off x="1165860" y="4347492"/>
            <a:ext cx="822960" cy="473597"/>
          </a:xfrm>
          <a:prstGeom prst="roundRect">
            <a:avLst>
              <a:gd name="adj" fmla="val 19307"/>
            </a:avLst>
          </a:prstGeom>
          <a:solidFill>
            <a:srgbClr val="124944"/>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R3</a:t>
            </a:r>
          </a:p>
        </p:txBody>
      </p:sp>
      <p:sp>
        <p:nvSpPr>
          <p:cNvPr id="17" name="TextBox 16"/>
          <p:cNvSpPr txBox="1"/>
          <p:nvPr/>
        </p:nvSpPr>
        <p:spPr>
          <a:xfrm>
            <a:off x="2217420" y="4256052"/>
            <a:ext cx="14859000" cy="656477"/>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Louhichi, M. &amp; Lazaar, M. DyHuCoG: A Dynamic Hypergraph Cooperative Game for Preference-aware Recommendation. IJIES 19(2), 887–902 (2026).</a:t>
            </a:r>
          </a:p>
        </p:txBody>
      </p:sp>
      <p:sp>
        <p:nvSpPr>
          <p:cNvPr id="18" name="Rounded Rectangle 17"/>
          <p:cNvSpPr/>
          <p:nvPr/>
        </p:nvSpPr>
        <p:spPr>
          <a:xfrm>
            <a:off x="1028700" y="5003969"/>
            <a:ext cx="16230600" cy="656477"/>
          </a:xfrm>
          <a:prstGeom prst="roundRect">
            <a:avLst>
              <a:gd name="adj" fmla="val 19500"/>
            </a:avLst>
          </a:prstGeom>
          <a:solidFill>
            <a:srgbClr val="FBF4EB"/>
          </a:solidFill>
          <a:ln>
            <a:noFill/>
          </a:ln>
        </p:spPr>
        <p:txBody>
          <a:bodyPr anchor="ctr" rtlCol="false" lIns="0" tIns="0" rIns="0" bIns="0" wrap="square"/>
          <a:lstStyle/>
          <a:p>
            <a:endParaRPr lang="en-US" sz="1800"/>
          </a:p>
        </p:txBody>
      </p:sp>
      <p:sp>
        <p:nvSpPr>
          <p:cNvPr id="19" name="Rounded Rectangle 18"/>
          <p:cNvSpPr/>
          <p:nvPr/>
        </p:nvSpPr>
        <p:spPr>
          <a:xfrm>
            <a:off x="1165860" y="5095409"/>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R4</a:t>
            </a:r>
          </a:p>
        </p:txBody>
      </p:sp>
      <p:sp>
        <p:nvSpPr>
          <p:cNvPr id="20" name="TextBox 19"/>
          <p:cNvSpPr txBox="1"/>
          <p:nvPr/>
        </p:nvSpPr>
        <p:spPr>
          <a:xfrm>
            <a:off x="2217420" y="5003969"/>
            <a:ext cx="14859000" cy="656477"/>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Lundberg, S.M. &amp; Lee, S.-I. A Unified Approach to Interpreting Model Predictions (SHAP). NeurIPS 30, 4765–4774 (2017).</a:t>
            </a:r>
          </a:p>
        </p:txBody>
      </p:sp>
      <p:sp>
        <p:nvSpPr>
          <p:cNvPr id="21" name="Rounded Rectangle 20"/>
          <p:cNvSpPr/>
          <p:nvPr/>
        </p:nvSpPr>
        <p:spPr>
          <a:xfrm>
            <a:off x="1028700" y="5751886"/>
            <a:ext cx="16230600" cy="656477"/>
          </a:xfrm>
          <a:prstGeom prst="roundRect">
            <a:avLst>
              <a:gd name="adj" fmla="val 19500"/>
            </a:avLst>
          </a:prstGeom>
          <a:solidFill>
            <a:srgbClr val="F6ECDF"/>
          </a:solidFill>
          <a:ln>
            <a:noFill/>
          </a:ln>
        </p:spPr>
        <p:txBody>
          <a:bodyPr anchor="ctr" rtlCol="false" lIns="0" tIns="0" rIns="0" bIns="0" wrap="square"/>
          <a:lstStyle/>
          <a:p>
            <a:endParaRPr lang="en-US" sz="1800"/>
          </a:p>
        </p:txBody>
      </p:sp>
      <p:sp>
        <p:nvSpPr>
          <p:cNvPr id="22" name="Rounded Rectangle 21"/>
          <p:cNvSpPr/>
          <p:nvPr/>
        </p:nvSpPr>
        <p:spPr>
          <a:xfrm>
            <a:off x="1165860" y="5843326"/>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R5</a:t>
            </a:r>
          </a:p>
        </p:txBody>
      </p:sp>
      <p:sp>
        <p:nvSpPr>
          <p:cNvPr id="23" name="TextBox 22"/>
          <p:cNvSpPr txBox="1"/>
          <p:nvPr/>
        </p:nvSpPr>
        <p:spPr>
          <a:xfrm>
            <a:off x="2217420" y="5751886"/>
            <a:ext cx="14859000" cy="656477"/>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Lundberg, S.M. et al. Consistent Individualized Feature Attribution for Tree Ensembles. KDD 2018, 2713–2723 (2018).</a:t>
            </a:r>
          </a:p>
        </p:txBody>
      </p:sp>
      <p:sp>
        <p:nvSpPr>
          <p:cNvPr id="24" name="Rounded Rectangle 23"/>
          <p:cNvSpPr/>
          <p:nvPr/>
        </p:nvSpPr>
        <p:spPr>
          <a:xfrm>
            <a:off x="1028700" y="6499803"/>
            <a:ext cx="16230600" cy="656477"/>
          </a:xfrm>
          <a:prstGeom prst="roundRect">
            <a:avLst>
              <a:gd name="adj" fmla="val 19500"/>
            </a:avLst>
          </a:prstGeom>
          <a:solidFill>
            <a:srgbClr val="FBF4EB"/>
          </a:solidFill>
          <a:ln>
            <a:noFill/>
          </a:ln>
        </p:spPr>
        <p:txBody>
          <a:bodyPr anchor="ctr" rtlCol="false" lIns="0" tIns="0" rIns="0" bIns="0" wrap="square"/>
          <a:lstStyle/>
          <a:p>
            <a:endParaRPr lang="en-US" sz="1800"/>
          </a:p>
        </p:txBody>
      </p:sp>
      <p:sp>
        <p:nvSpPr>
          <p:cNvPr id="25" name="Rounded Rectangle 24"/>
          <p:cNvSpPr/>
          <p:nvPr/>
        </p:nvSpPr>
        <p:spPr>
          <a:xfrm>
            <a:off x="1165860" y="6591243"/>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R6</a:t>
            </a:r>
          </a:p>
        </p:txBody>
      </p:sp>
      <p:sp>
        <p:nvSpPr>
          <p:cNvPr id="26" name="TextBox 25"/>
          <p:cNvSpPr txBox="1"/>
          <p:nvPr/>
        </p:nvSpPr>
        <p:spPr>
          <a:xfrm>
            <a:off x="2217420" y="6499803"/>
            <a:ext cx="14859000" cy="656477"/>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Shapley, L.S. A Value for n-Person Games. Contributions to the Theory of Games II, 307–317 (1953).</a:t>
            </a:r>
          </a:p>
        </p:txBody>
      </p:sp>
      <p:sp>
        <p:nvSpPr>
          <p:cNvPr id="27" name="Rounded Rectangle 26"/>
          <p:cNvSpPr/>
          <p:nvPr/>
        </p:nvSpPr>
        <p:spPr>
          <a:xfrm>
            <a:off x="1028700" y="7247720"/>
            <a:ext cx="16230600" cy="656477"/>
          </a:xfrm>
          <a:prstGeom prst="roundRect">
            <a:avLst>
              <a:gd name="adj" fmla="val 19500"/>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1165860" y="7339160"/>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R7</a:t>
            </a:r>
          </a:p>
        </p:txBody>
      </p:sp>
      <p:sp>
        <p:nvSpPr>
          <p:cNvPr id="29" name="TextBox 28"/>
          <p:cNvSpPr txBox="1"/>
          <p:nvPr/>
        </p:nvSpPr>
        <p:spPr>
          <a:xfrm>
            <a:off x="2217420" y="7247720"/>
            <a:ext cx="14859000" cy="656477"/>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Gramegna, A. &amp; Giudici, P. SHAP-based Clustering Explanations. Stats 4(4), 938–959 (2021).</a:t>
            </a:r>
          </a:p>
        </p:txBody>
      </p:sp>
      <p:sp>
        <p:nvSpPr>
          <p:cNvPr id="30" name="Rounded Rectangle 29"/>
          <p:cNvSpPr/>
          <p:nvPr/>
        </p:nvSpPr>
        <p:spPr>
          <a:xfrm>
            <a:off x="1028700" y="7995637"/>
            <a:ext cx="16230600" cy="656477"/>
          </a:xfrm>
          <a:prstGeom prst="roundRect">
            <a:avLst>
              <a:gd name="adj" fmla="val 19500"/>
            </a:avLst>
          </a:prstGeom>
          <a:solidFill>
            <a:srgbClr val="FBF4EB"/>
          </a:solidFill>
          <a:ln>
            <a:noFill/>
          </a:ln>
        </p:spPr>
        <p:txBody>
          <a:bodyPr anchor="ctr" rtlCol="false" lIns="0" tIns="0" rIns="0" bIns="0" wrap="square"/>
          <a:lstStyle/>
          <a:p>
            <a:endParaRPr lang="en-US" sz="1800"/>
          </a:p>
        </p:txBody>
      </p:sp>
      <p:sp>
        <p:nvSpPr>
          <p:cNvPr id="31" name="Rounded Rectangle 30"/>
          <p:cNvSpPr/>
          <p:nvPr/>
        </p:nvSpPr>
        <p:spPr>
          <a:xfrm>
            <a:off x="1165860" y="8087077"/>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R8</a:t>
            </a:r>
          </a:p>
        </p:txBody>
      </p:sp>
      <p:sp>
        <p:nvSpPr>
          <p:cNvPr id="32" name="TextBox 31"/>
          <p:cNvSpPr txBox="1"/>
          <p:nvPr/>
        </p:nvSpPr>
        <p:spPr>
          <a:xfrm>
            <a:off x="2217420" y="7995637"/>
            <a:ext cx="14859000" cy="656477"/>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Wang, X. et al. Hypergraph Learning: Methods and Practices. IEEE TPAMI 44(5), 2543–2563 (2022).</a:t>
            </a:r>
          </a:p>
        </p:txBody>
      </p:sp>
      <p:sp>
        <p:nvSpPr>
          <p:cNvPr id="33" name="Rounded Rectangle 32"/>
          <p:cNvSpPr/>
          <p:nvPr/>
        </p:nvSpPr>
        <p:spPr>
          <a:xfrm>
            <a:off x="1028700" y="8743554"/>
            <a:ext cx="16230600" cy="656477"/>
          </a:xfrm>
          <a:prstGeom prst="roundRect">
            <a:avLst>
              <a:gd name="adj" fmla="val 19500"/>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165860" y="8834994"/>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R9</a:t>
            </a:r>
          </a:p>
        </p:txBody>
      </p:sp>
      <p:sp>
        <p:nvSpPr>
          <p:cNvPr id="35" name="TextBox 34"/>
          <p:cNvSpPr txBox="1"/>
          <p:nvPr/>
        </p:nvSpPr>
        <p:spPr>
          <a:xfrm>
            <a:off x="2217420" y="8743554"/>
            <a:ext cx="14859000" cy="656477"/>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European Commission. Proposal for a Regulation on Artificial Intelligence (EU AI Act). COM(2021) 206 final (2021).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sp>
        <p:nvSpPr>
          <p:cNvPr id="4" name="TextBox 3"/>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5" name="TextBox 4"/>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6" name="TextBox 5"/>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7" name="TextBox 6"/>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8" name="TextBox 7"/>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9" name="Picture 8" descr="image.png"/>
          <p:cNvPicPr>
            <a:picLocks noChangeAspect="1"/>
          </p:cNvPicPr>
          <p:nvPr/>
        </p:nvPicPr>
        <p:blipFill>
          <a:blip r:embed="rId3"/>
          <a:stretch>
            <a:fillRect/>
          </a:stretch>
        </p:blipFill>
        <p:spPr>
          <a:xfrm>
            <a:off x="13350240" y="2468880"/>
            <a:ext cx="822960" cy="747445"/>
          </a:xfrm>
          <a:prstGeom prst="rect">
            <a:avLst/>
          </a:prstGeom>
        </p:spPr>
      </p:pic>
      <p:pic>
        <p:nvPicPr>
          <p:cNvPr id="10" name="Picture 9" descr="image.png"/>
          <p:cNvPicPr>
            <a:picLocks noChangeAspect="1"/>
          </p:cNvPicPr>
          <p:nvPr/>
        </p:nvPicPr>
        <p:blipFill>
          <a:blip r:embed="rId4"/>
          <a:stretch>
            <a:fillRect/>
          </a:stretch>
        </p:blipFill>
        <p:spPr>
          <a:xfrm rot="20700000">
            <a:off x="3291840" y="4846320"/>
            <a:ext cx="685800" cy="925673"/>
          </a:xfrm>
          <a:prstGeom prst="rect">
            <a:avLst/>
          </a:prstGeom>
        </p:spPr>
      </p:pic>
      <p:sp>
        <p:nvSpPr>
          <p:cNvPr id="11" name="Oval 10"/>
          <p:cNvSpPr/>
          <p:nvPr/>
        </p:nvSpPr>
        <p:spPr>
          <a:xfrm>
            <a:off x="15613380" y="5760720"/>
            <a:ext cx="1005840" cy="1005840"/>
          </a:xfrm>
          <a:prstGeom prst="ellipse">
            <a:avLst/>
          </a:prstGeom>
          <a:solidFill>
            <a:srgbClr val="12494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2" name="TextBox 11"/>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124944"/>
                </a:solidFill>
                <a:latin typeface="Nunito Bold"/>
                <a:ea typeface="Nunito Bold"/>
                <a:cs typeface="Nunito Bold"/>
                <a:sym typeface="Nunito Bold"/>
              </a:rPr>
              <a:t>Questions &amp; Discussion  ·  I welcome your questions and comments.</a:t>
            </a:r>
          </a:p>
        </p:txBody>
      </p:sp>
      <p:sp>
        <p:nvSpPr>
          <p:cNvPr id="13" name="Rounded Rectangle 12"/>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4" name="Rounded Rectangle 13"/>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5" name="Rounded Rectangle 14"/>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6" name="Rounded Rectangle 15"/>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