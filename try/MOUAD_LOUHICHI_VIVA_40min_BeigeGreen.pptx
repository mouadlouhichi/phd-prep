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is not a niche technique; it is infrastructure for everyday decisions. Streaming platforms decide what you watch next, music services what you hear, e-commerce what you buy, and social feeds what you read. Each system is remarkably accurate, yet its reasoning is hidden from the user. That ubiquity-plus-opacity is precisely what makes explainability a first-class requirement — and what motivates the three contributions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thesis is a single claim: that Shapley-value attribution can function as one shared, explainable perspective spanning clustering and recommendation. The three contributions are not separate fixes but one cumulative argument — each applies the same cooperative-game logic to a different stage, from faithful clustering explanation to an in-training signal inside a recommender. That is what makes explanation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a:p/>
          <a:p>
            <a:r>
              <a:t>Beyond scale, each dataset was chosen so that attribution lands in a vocabulary a domain expert can act on. Wine and Beijing give semantically interpretable features (chemistry, pollution); the two recommenders give a density contrast that isolates whether cooperative attribution helps most when interaction data are scarce. That is why the same explanatory logic can be validated across tabular clustering and recommendation without changing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a:p/>
          <a:p>
            <a:r>
              <a:t>RQ1 asks how Shapley values can explain black-box clustering faithfully at both instance and cluster level, and it decomposes into three objectives. O1 is a pipeline that produces a cluster-level explanation while preserving feature-level attribution, so the explanation is coherent rather than a single summary number. O2 requires that attribution stays in the original feature space — density, pH, acidity, sulfur dioxide, alcohol — because that is what makes it actionable for a domain expert. O3 is a justificatory objective: we must show why Shapley is the right allocation rule rather than an ad-hoc surrogate such as LIME. The next methodology slide shows how these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RQ1 directly: yes. Shapley values explain a black-box partition faithfully, provided the surrogate is high-fidelity, and coherently at cluster level. Each objective is met. O1 is met because the pipeline yields both a global reading — density, pH, acidity, sulfur dioxide, alcohol — and a per-cluster reading where the same drivers re-weigh differently. O2 is met because attribution is returned to the original chemical variables, which is what makes it actionable. O3 is met because Shapley satisfies efficiency, symmetry, the null-player property and additivity, whereas LIME has no equivalent guarantee. The honest caveat is that efficiency holds with respect to the surrogate output, not directly to the Silhouette-based game — which is why surrogate fidelity is the critical validity condition.</a:t>
            </a:r>
          </a:p>
          <a:p/>
          <a:p>
            <a:r>
              <a:t>C1 answers RQ1 in the affirmative. The key findings are fourfold. Shapley values explain the black-box partition at both cluster level and instance level, anchoring each cluster's meaning to individual feature contributions. They return attribution to the original chemical variables — density, pH, fixed acidity, sulfur dioxide, alcohol — rather than to a reduced or latent space, which is what makes the explanation actionable. Because the surrogate reproduces the partition from the original variables, the recovered ranking is chemically interpretable and faithful. And the approach is theoretically grounded: SHAP satisfies efficiency, symmetry, the null-player property and additivity, which LIME does not.</a:t>
            </a:r>
          </a:p>
          <a:p/>
          <a:p>
            <a:r>
              <a:t>Let me be clear about the scope.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And the surrogate plus representative-instance reporting compresses some observation-level variation. These limits define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works as a single, principled lens for explaining an unsupervised partition, and that keeping attribution in the original feature space is what makes it actionable. But real data are rarely single-level: broad regimes contain nested sub-groups, and a variable can be globally important yet locally uninformative. That flat limitation directly motivates Contribution II: can the explanation logic be scaled to multi-level, large-scale clustering without losing coherence?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a:p/>
          <a:p>
            <a:r>
              <a:t>RQ2 asks whether the C1 logic survives scale and hierarchy without losing tractability or consistency, and it decomposes into three objectives. O1 is a genuinely multi-level workflow: coarse clustering at the top and nested sub-groups within, so that attribution stays interpretable inside a cluster, across sub-clusters, and across the hierarchy. O2 is a formal cross-level consistency argument, Proposition 6.1, so that differences across levels can be interpreted rather than dismissed as inconsistency. O3 is an empirical check on generality: validation on a structurally different large-scale dataset, Beijing air quality, rather than the small, chemically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RQ2 directly: yes, with bounds. Shapley-based clustering explanation can scale to hierarchical, large-scale settings without losing interpretive coherence, provided the hierarchy is modelled explicitly and the approximation is transparent. O1 is met: we obtain a multi-granular explanation that does not collapse into a single flat summary. O2 is met: Proposition 6.1 gives a formal cross-level consistency argument, so regime-level and cluster-level stories are not at odds. O3 is met: the approach validates on Beijing air quality, a large, noisy, temporally variable dataset, which supports generality. The honest bound is that the model is still an explanation of a pre-computed partition; it does not yet influence learning itself. That is the bridge to Contribution III.</a:t>
            </a:r>
          </a:p>
          <a:p/>
          <a:p>
            <a:r>
              <a:t>C2 answers RQ2 in the affirmative. The key findings are fourfold. The explanation scales to a multi-granular structure without collapsing into a single flat summary, because the hierarchy is modelled explicitly rather than flattened. Proposition 6.1 provides a formal cross-level consistency argument, so that differences across levels can be interpreted as meaningful structure rather than dismissed as noise. The approach generalises to a structurally different large-scale dataset, Beijing air quality, which is far noisier and more temporally variable than the small correlated wine data. And the method produces parent-level regime-selection stories alongside cluster-level within-regime variation.</a:t>
            </a:r>
          </a:p>
          <a:p/>
          <a:p>
            <a:r>
              <a:t>The limitations are equally clear. The clustering remains static even though the Beijing data are temporal, so the dynamics are not exploited. The surrogate-based SHAP plus representative-instance reporting compresses observation-level variation, so some richness is lost. The whole approach is confined to tabular data. And, most importantly for what follows, the model is still an explanation of a pre-computed partition: it does not yet influence learning itself. This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stays coherent across granularity, provided the hierarchy is made explicit. Explanations become interpretable against scale, not just against a single flat partition, which is precisely where the literature was weakest. But the attribution is still post-hoc: it explains a partition that was already computed, and it never influences how the model learns. That is the limit that motivates Contribution III — can cooperative attribution move beyond explanation and enter the learning dynamics of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a:p/>
          <a:p>
            <a:r>
              <a:t>C3 answers RQ3 and RQ4 together, and it is the conceptual shift of the thesis. RQ3 asks whether cooperative attribution can move beyond post-hoc explanation and enter the learning dynamics of a graph recommender. RQ4 asks whether a recommender can jointly optimise ranking accuracy, context and diversity when importance is estimated by a cooperative-game utility. Both map to three objectives. O1 is to formulate recommendation as a cooperative game in which users, items and contexts are players. O2 is to embed preference-aware Monte Carlo Shapley estimates into hypergraph message passing, so attribution directly shapes how information flows. O3 is to improve ranking, coverage and intra-list diversity jointly — not at the expense of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a:p/>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RQ3 and RQ4 directly: yes. RQ3 is answered in the affirmative because attribution is no longer a post-hoc diagnostic but an in-training signal that directly shapes message passing. RQ4 is answered in the affirmative because ranking, coverage and diversity improve together rather than trading against one another. Each objective is met. O1: recommendation is formulated as a cooperative game with users, items and contexts as players. O2: preference-aware Monte Carlo Shapley is embedded into hypergraph message passing. O3: we gain about nine point nine percent on MovieLens and fourteen point eight percent on Amazon, with higher coverage and diversity. The strongest claim is that the explanation is structurally faithful, because it reads out the same components the model already optimises. Within the stated edges — computational overhead, dependence on context, and the early-2026 baseline set — the claim stands.</a:t>
            </a:r>
          </a:p>
          <a:p/>
          <a:p>
            <a:r>
              <a:t>C3 answers RQ3 and RQ4, and makes the strongest claim of the thesis. Cooperative attribution can move beyond post-hoc analysis and enter the learning dynamics of a recommender, letting it balance accuracy, diversity and context more effectively. The key findings are that ranking, coverage and diversity improve together — NDCG, recall, coverage and intra-list diversity all rise on both datasets — so the accuracy-diversity trade-off is not structurally fixed. The largest gains appear on the sparsest data, Amazon-Book, precisely the regime where Shapley-driven weighting is most valuable, and the improvement is statistically large against the strongest baseline.</a:t>
            </a:r>
          </a:p>
          <a:p/>
          <a:p>
            <a:r>
              <a:t>The limitations must be stated honestly. There is a measurable computational overhead, roughly one point seven eight times the training time of the strongest baseline, HPCF. The method depends on the availability of meaningful context. The Monte Carlo Shapley estimator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the conceptual shift of the thesis. Attribution is a first-class part of the learning objective, not a post-hoc diagnostic, and the explanation is a direct read-out of the objective the model already optimises. That is what makes it structurally faithful rather than an external approximation. And because Shapley values rest on an axiomatic, normative basis, the perspective is well aligned with the transparency and accountability requirements of emerging AI regulation. This is the central claim worth defending: explanation should be part of the modelling logic itself.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underpinning the thesis: my three peer-reviewed papers (R1–R3), the SHAP and Shapley foundations (R4–R6), the closest clustering-explanation and hypergraph-learning literature (R7–R8), and the regulation that motivates actionable explanation (R9). I kept the list short and solid rather than exhaustive, so each entry is one I can defend in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 Id="rId4" Type="http://schemas.openxmlformats.org/officeDocument/2006/relationships/image" Target="../media/image5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 Id="rId4"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 Id="rId4" Type="http://schemas.openxmlformats.org/officeDocument/2006/relationships/image" Target="../media/image3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7.xml"/><Relationship Id="rId4" Type="http://schemas.openxmlformats.org/officeDocument/2006/relationships/image" Target="../media/image5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6.png"/><Relationship Id="rId4" Type="http://schemas.openxmlformats.org/officeDocument/2006/relationships/image" Target="../media/image33.png"/><Relationship Id="rId5" Type="http://schemas.openxmlformats.org/officeDocument/2006/relationships/notesSlide" Target="../notesSlides/notesSlide64.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502920"/>
            <a:ext cx="1318393" cy="960120"/>
          </a:xfrm>
          <a:prstGeom prst="rect">
            <a:avLst/>
          </a:prstGeom>
        </p:spPr>
      </p:pic>
      <p:pic>
        <p:nvPicPr>
          <p:cNvPr id="3" name="Picture 2" descr="ministry_logo.png"/>
          <p:cNvPicPr>
            <a:picLocks noChangeAspect="1"/>
          </p:cNvPicPr>
          <p:nvPr/>
        </p:nvPicPr>
        <p:blipFill>
          <a:blip r:embed="rId3"/>
          <a:stretch>
            <a:fillRect/>
          </a:stretch>
        </p:blipFill>
        <p:spPr>
          <a:xfrm>
            <a:off x="7955280" y="411480"/>
            <a:ext cx="2253893" cy="1188720"/>
          </a:xfrm>
          <a:prstGeom prst="rect">
            <a:avLst/>
          </a:prstGeom>
        </p:spPr>
      </p:pic>
      <p:pic>
        <p:nvPicPr>
          <p:cNvPr id="4" name="Picture 3" descr="ensias_logo.jpg"/>
          <p:cNvPicPr>
            <a:picLocks noChangeAspect="1"/>
          </p:cNvPicPr>
          <p:nvPr/>
        </p:nvPicPr>
        <p:blipFill>
          <a:blip r:embed="rId4"/>
          <a:stretch>
            <a:fillRect/>
          </a:stretch>
        </p:blipFill>
        <p:spPr>
          <a:xfrm>
            <a:off x="15750540" y="457200"/>
            <a:ext cx="1486688" cy="1051560"/>
          </a:xfrm>
          <a:prstGeom prst="rect">
            <a:avLst/>
          </a:prstGeom>
        </p:spPr>
      </p:pic>
      <p:sp>
        <p:nvSpPr>
          <p:cNvPr id="5" name="TextBox 4"/>
          <p:cNvSpPr txBox="1"/>
          <p:nvPr/>
        </p:nvSpPr>
        <p:spPr>
          <a:xfrm>
            <a:off x="1028700" y="1691640"/>
            <a:ext cx="16230600" cy="3657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2286000"/>
            <a:ext cx="16230600" cy="365760"/>
          </a:xfrm>
          <a:prstGeom prst="rect">
            <a:avLst/>
          </a:prstGeom>
          <a:noFill/>
        </p:spPr>
        <p:txBody>
          <a:bodyPr anchor="t" rtlCol="false" lIns="0" tIns="0" rIns="0" bIns="0" wrap="square"/>
          <a:lstStyle/>
          <a:p>
            <a:pPr algn="ctr">
              <a:lnSpc>
                <a:spcPts val="2200"/>
              </a:lnSpc>
              <a:spcBef>
                <a:spcPts val="0"/>
              </a:spcBef>
              <a:buNone/>
            </a:pPr>
            <a:r>
              <a:rPr lang="en-US" sz="16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697480"/>
            <a:ext cx="16230600" cy="2377440"/>
          </a:xfrm>
          <a:prstGeom prst="rect">
            <a:avLst/>
          </a:prstGeom>
          <a:noFill/>
        </p:spPr>
        <p:txBody>
          <a:bodyPr anchor="t" rtlCol="false" lIns="0" tIns="0" rIns="0" bIns="0" wrap="square"/>
          <a:lstStyle/>
          <a:p>
            <a:pPr algn="ctr">
              <a:lnSpc>
                <a:spcPts val="7000"/>
              </a:lnSpc>
              <a:spcBef>
                <a:spcPts val="0"/>
              </a:spcBef>
              <a:buNone/>
            </a:pPr>
            <a:r>
              <a:rPr lang="en-US" sz="6400" b="true" spc="-350">
                <a:solidFill>
                  <a:srgbClr val="111111"/>
                </a:solidFill>
                <a:latin typeface="Roca Two Bold"/>
                <a:ea typeface="Roca Two Bold"/>
                <a:cs typeface="Roca Two Bold"/>
                <a:sym typeface="Roca Two Bold"/>
              </a:rPr>
              <a:t>Cooperative Game Theory for</a:t>
            </a:r>
          </a:p>
          <a:p>
            <a:pPr algn="ctr">
              <a:lnSpc>
                <a:spcPts val="7000"/>
              </a:lnSpc>
              <a:spcBef>
                <a:spcPts val="0"/>
              </a:spcBef>
              <a:buNone/>
            </a:pPr>
            <a:r>
              <a:rPr lang="en-US" sz="6400" b="true" spc="-35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4800600"/>
            <a:ext cx="16230600" cy="548640"/>
          </a:xfrm>
          <a:prstGeom prst="rect">
            <a:avLst/>
          </a:prstGeom>
          <a:noFill/>
        </p:spPr>
        <p:txBody>
          <a:bodyPr anchor="t" rtlCol="false" lIns="0" tIns="0" rIns="0" bIns="0" wrap="square"/>
          <a:lstStyle/>
          <a:p>
            <a:pPr algn="ctr">
              <a:lnSpc>
                <a:spcPts val="3600"/>
              </a:lnSpc>
              <a:spcBef>
                <a:spcPts val="0"/>
              </a:spcBef>
              <a:buNone/>
            </a:pPr>
            <a:r>
              <a:rPr lang="en-US" sz="3000" b="true" spc="-12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33420" y="2560320"/>
            <a:ext cx="640080" cy="581346"/>
          </a:xfrm>
          <a:prstGeom prst="rect">
            <a:avLst/>
          </a:prstGeom>
        </p:spPr>
      </p:pic>
      <p:pic>
        <p:nvPicPr>
          <p:cNvPr id="10" name="Picture 9" descr="image.png"/>
          <p:cNvPicPr>
            <a:picLocks noChangeAspect="1"/>
          </p:cNvPicPr>
          <p:nvPr/>
        </p:nvPicPr>
        <p:blipFill>
          <a:blip r:embed="rId6"/>
          <a:stretch>
            <a:fillRect/>
          </a:stretch>
        </p:blipFill>
        <p:spPr>
          <a:xfrm rot="1200000">
            <a:off x="1120140" y="4480560"/>
            <a:ext cx="502920" cy="276082"/>
          </a:xfrm>
          <a:prstGeom prst="rect">
            <a:avLst/>
          </a:prstGeom>
        </p:spPr>
      </p:pic>
      <p:sp>
        <p:nvSpPr>
          <p:cNvPr id="11" name="Rounded Rectangle 10"/>
          <p:cNvSpPr/>
          <p:nvPr/>
        </p:nvSpPr>
        <p:spPr>
          <a:xfrm>
            <a:off x="2377440" y="5715000"/>
            <a:ext cx="6583680" cy="1051560"/>
          </a:xfrm>
          <a:prstGeom prst="roundRect">
            <a:avLst>
              <a:gd name="adj" fmla="val 26086"/>
            </a:avLst>
          </a:prstGeom>
          <a:solidFill>
            <a:srgbClr val="124944"/>
          </a:solidFill>
          <a:ln>
            <a:noFill/>
          </a:ln>
        </p:spPr>
        <p:txBody>
          <a:bodyPr anchor="ctr" rtlCol="false" lIns="91440" tIns="45720" rIns="91440" bIns="45720" wrap="square"/>
          <a:lstStyle/>
          <a:p>
            <a:pPr algn="ctr">
              <a:lnSpc>
                <a:spcPts val="1600"/>
              </a:lnSpc>
              <a:spcBef>
                <a:spcPts val="0"/>
              </a:spcBef>
              <a:buNone/>
            </a:pPr>
            <a:r>
              <a:rPr lang="en-US" sz="1300" b="true" spc="150">
                <a:solidFill>
                  <a:srgbClr val="ECC665"/>
                </a:solidFill>
                <a:latin typeface="Nunito Ultra-Bold"/>
                <a:ea typeface="Nunito Ultra-Bold"/>
                <a:cs typeface="Nunito Ultra-Bold"/>
                <a:sym typeface="Nunito Ultra-Bold"/>
              </a:rPr>
              <a:t>PRESENTED BY</a:t>
            </a:r>
          </a:p>
          <a:p>
            <a:pPr algn="ctr">
              <a:lnSpc>
                <a:spcPts val="3200"/>
              </a:lnSpc>
              <a:spcBef>
                <a:spcPts val="300"/>
              </a:spcBef>
              <a:buNone/>
            </a:pPr>
            <a:r>
              <a:rPr lang="en-US" sz="27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5715000"/>
            <a:ext cx="6583680" cy="1051560"/>
          </a:xfrm>
          <a:prstGeom prst="roundRect">
            <a:avLst>
              <a:gd name="adj" fmla="val 26086"/>
            </a:avLst>
          </a:prstGeom>
          <a:solidFill>
            <a:srgbClr val="F6ECDF"/>
          </a:solidFill>
          <a:ln>
            <a:no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SUPERVISED BY</a:t>
            </a:r>
          </a:p>
          <a:p>
            <a:pPr algn="ctr">
              <a:lnSpc>
                <a:spcPts val="2800"/>
              </a:lnSpc>
              <a:spcBef>
                <a:spcPts val="300"/>
              </a:spcBef>
              <a:buNone/>
            </a:pPr>
            <a:r>
              <a:rPr lang="en-US" sz="23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7086600"/>
            <a:ext cx="16230600" cy="320040"/>
          </a:xfrm>
          <a:prstGeom prst="rect">
            <a:avLst/>
          </a:prstGeom>
          <a:noFill/>
        </p:spPr>
        <p:txBody>
          <a:bodyPr anchor="t" rtlCol="false" lIns="0" tIns="0" rIns="0" bIns="0" wrap="square"/>
          <a:lstStyle/>
          <a:p>
            <a:pPr algn="ctr">
              <a:lnSpc>
                <a:spcPts val="1800"/>
              </a:lnSpc>
              <a:spcBef>
                <a:spcPts val="0"/>
              </a:spcBef>
              <a:buNone/>
            </a:pPr>
            <a:r>
              <a:rPr lang="en-US" sz="1400" b="true" spc="200">
                <a:solidFill>
                  <a:srgbClr val="8A8378"/>
                </a:solidFill>
                <a:latin typeface="Nunito Ultra-Bold"/>
                <a:ea typeface="Nunito Ultra-Bold"/>
                <a:cs typeface="Nunito Ultra-Bold"/>
                <a:sym typeface="Nunito Ultra-Bold"/>
              </a:rPr>
              <a:t>JURY MEMBERS</a:t>
            </a:r>
          </a:p>
        </p:txBody>
      </p:sp>
      <p:sp>
        <p:nvSpPr>
          <p:cNvPr id="14" name="Rounded Rectangle 13"/>
          <p:cNvSpPr/>
          <p:nvPr/>
        </p:nvSpPr>
        <p:spPr>
          <a:xfrm>
            <a:off x="1028700" y="7452360"/>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PRESIDENT</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5" name="Rounded Rectangle 14"/>
          <p:cNvSpPr/>
          <p:nvPr/>
        </p:nvSpPr>
        <p:spPr>
          <a:xfrm>
            <a:off x="6499860" y="7452360"/>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REVIEWER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6" name="Rounded Rectangle 15"/>
          <p:cNvSpPr/>
          <p:nvPr/>
        </p:nvSpPr>
        <p:spPr>
          <a:xfrm>
            <a:off x="11971020" y="7452360"/>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REVIEWER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7" name="Rounded Rectangle 16"/>
          <p:cNvSpPr/>
          <p:nvPr/>
        </p:nvSpPr>
        <p:spPr>
          <a:xfrm>
            <a:off x="1028700" y="8119872"/>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REVIEWER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8" name="Rounded Rectangle 17"/>
          <p:cNvSpPr/>
          <p:nvPr/>
        </p:nvSpPr>
        <p:spPr>
          <a:xfrm>
            <a:off x="6499860" y="8119872"/>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EXAMINER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19" name="Rounded Rectangle 18"/>
          <p:cNvSpPr/>
          <p:nvPr/>
        </p:nvSpPr>
        <p:spPr>
          <a:xfrm>
            <a:off x="11971020" y="8119872"/>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EXAMINER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20" name="Rounded Rectangle 19"/>
          <p:cNvSpPr/>
          <p:nvPr/>
        </p:nvSpPr>
        <p:spPr>
          <a:xfrm>
            <a:off x="1028700" y="8787384"/>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EXAMINER</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21" name="Rounded Rectangle 20"/>
          <p:cNvSpPr/>
          <p:nvPr/>
        </p:nvSpPr>
        <p:spPr>
          <a:xfrm>
            <a:off x="6499860" y="8787384"/>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GUEST</a:t>
            </a:r>
          </a:p>
          <a:p>
            <a:pPr algn="l">
              <a:lnSpc>
                <a:spcPts val="1900"/>
              </a:lnSpc>
              <a:spcBef>
                <a:spcPts val="100"/>
              </a:spcBef>
              <a:buNone/>
            </a:pPr>
            <a:r>
              <a:rPr lang="en-US" sz="1600" b="true">
                <a:solidFill>
                  <a:srgbClr val="111111"/>
                </a:solidFill>
                <a:latin typeface="Nunito Bold"/>
                <a:ea typeface="Nunito Bold"/>
                <a:cs typeface="Nunito Bold"/>
                <a:sym typeface="Nunito Bold"/>
              </a:rPr>
              <a:t>[to complete]</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[Institution]</a:t>
            </a:r>
          </a:p>
        </p:txBody>
      </p:sp>
      <p:sp>
        <p:nvSpPr>
          <p:cNvPr id="22" name="Rounded Rectangle 21"/>
          <p:cNvSpPr/>
          <p:nvPr/>
        </p:nvSpPr>
        <p:spPr>
          <a:xfrm>
            <a:off x="11971020" y="8787384"/>
            <a:ext cx="5288280" cy="539496"/>
          </a:xfrm>
          <a:prstGeom prst="roundRect">
            <a:avLst>
              <a:gd name="adj" fmla="val 23728"/>
            </a:avLst>
          </a:prstGeom>
          <a:solidFill>
            <a:srgbClr val="FFFFFF"/>
          </a:solidFill>
          <a:ln w="15875">
            <a:solidFill>
              <a:srgbClr val="E3D6C4"/>
            </a:solidFill>
          </a:ln>
        </p:spPr>
        <p:txBody>
          <a:bodyPr anchor="ctr" rtlCol="false" lIns="182880" tIns="45720" rIns="91440" bIns="45720" wrap="square"/>
          <a:lstStyle/>
          <a:p>
            <a:pPr algn="l">
              <a:lnSpc>
                <a:spcPts val="1300"/>
              </a:lnSpc>
              <a:spcBef>
                <a:spcPts val="0"/>
              </a:spcBef>
              <a:buNone/>
            </a:pPr>
            <a:r>
              <a:rPr lang="en-US" sz="1100" b="true" spc="120">
                <a:solidFill>
                  <a:srgbClr val="DF8330"/>
                </a:solidFill>
                <a:latin typeface="Nunito Ultra-Bold"/>
                <a:ea typeface="Nunito Ultra-Bold"/>
                <a:cs typeface="Nunito Ultra-Bold"/>
                <a:sym typeface="Nunito Ultra-Bold"/>
              </a:rPr>
              <a:t>SUPERVISOR</a:t>
            </a:r>
          </a:p>
          <a:p>
            <a:pPr algn="l">
              <a:lnSpc>
                <a:spcPts val="1900"/>
              </a:lnSpc>
              <a:spcBef>
                <a:spcPts val="100"/>
              </a:spcBef>
              <a:buNone/>
            </a:pPr>
            <a:r>
              <a:rPr lang="en-US" sz="1600" b="true">
                <a:solidFill>
                  <a:srgbClr val="111111"/>
                </a:solidFill>
                <a:latin typeface="Nunito Bold"/>
                <a:ea typeface="Nunito Bold"/>
                <a:cs typeface="Nunito Bold"/>
                <a:sym typeface="Nunito Bold"/>
              </a:rPr>
              <a:t>Pr. Mohamed LAZAAR</a:t>
            </a:r>
          </a:p>
          <a:p>
            <a:pPr algn="l">
              <a:lnSpc>
                <a:spcPts val="1500"/>
              </a:lnSpc>
              <a:spcBef>
                <a:spcPts val="0"/>
              </a:spcBef>
              <a:buNone/>
            </a:pPr>
            <a:r>
              <a:rPr lang="en-US" sz="1300" b="true">
                <a:solidFill>
                  <a:srgbClr val="8A8378"/>
                </a:solidFill>
                <a:latin typeface="Nunito Semi-Bold"/>
                <a:ea typeface="Nunito Semi-Bold"/>
                <a:cs typeface="Nunito Semi-Bold"/>
                <a:sym typeface="Nunito Semi-Bold"/>
              </a:rPr>
              <a:t>PES, ENSIAS · UM5 Rabat</a:t>
            </a:r>
          </a:p>
        </p:txBody>
      </p:sp>
      <p:sp>
        <p:nvSpPr>
          <p:cNvPr id="23" name="TextBox 22"/>
          <p:cNvSpPr txBox="1"/>
          <p:nvPr/>
        </p:nvSpPr>
        <p:spPr>
          <a:xfrm>
            <a:off x="1028700" y="9646920"/>
            <a:ext cx="16230600" cy="32004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6" name="TextBox 5"/>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7" name="Picture 6" descr="image.png"/>
          <p:cNvPicPr>
            <a:picLocks noChangeAspect="1"/>
          </p:cNvPicPr>
          <p:nvPr/>
        </p:nvPicPr>
        <p:blipFill>
          <a:blip r:embed="rId2"/>
          <a:stretch>
            <a:fillRect/>
          </a:stretch>
        </p:blipFill>
        <p:spPr>
          <a:xfrm>
            <a:off x="11612880" y="1554480"/>
            <a:ext cx="548640" cy="301180"/>
          </a:xfrm>
          <a:prstGeom prst="rect">
            <a:avLst/>
          </a:prstGeom>
        </p:spPr>
      </p:pic>
      <p:pic>
        <p:nvPicPr>
          <p:cNvPr id="8" name="Picture 7" descr="image.png"/>
          <p:cNvPicPr>
            <a:picLocks noChangeAspect="1"/>
          </p:cNvPicPr>
          <p:nvPr/>
        </p:nvPicPr>
        <p:blipFill>
          <a:blip r:embed="rId3"/>
          <a:stretch>
            <a:fillRect/>
          </a:stretch>
        </p:blipFill>
        <p:spPr>
          <a:xfrm rot="10800000">
            <a:off x="5943600" y="2651760"/>
            <a:ext cx="502920" cy="276082"/>
          </a:xfrm>
          <a:prstGeom prst="rect">
            <a:avLst/>
          </a:prstGeom>
        </p:spPr>
      </p:pic>
      <p:sp>
        <p:nvSpPr>
          <p:cNvPr id="9" name="TextBox 8"/>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Five parts  ·  each contribution follows the same rhythm: 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0" name="Rounded Rectangle 9"/>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1" name="Rounded Rectangle 10"/>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Paradigms · Limitations · Research questions</a:t>
            </a:r>
          </a:p>
        </p:txBody>
      </p:sp>
      <p:sp>
        <p:nvSpPr>
          <p:cNvPr id="12" name="Rounded Rectangle 11"/>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Datasets · Baselines · Metrics · Hardware</a:t>
            </a:r>
          </a:p>
        </p:txBody>
      </p:sp>
      <p:sp>
        <p:nvSpPr>
          <p:cNvPr id="13" name="Rounded Rectangle 12"/>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Explainable black-box clustering (Wine)</a:t>
            </a:r>
          </a:p>
        </p:txBody>
      </p:sp>
      <p:sp>
        <p:nvSpPr>
          <p:cNvPr id="14" name="Rounded Rectangle 13"/>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5" name="Rounded Rectangle 14"/>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 cooperative game on hypergraphs</a:t>
            </a:r>
          </a:p>
        </p:txBody>
      </p:sp>
      <p:sp>
        <p:nvSpPr>
          <p:cNvPr id="16" name="Rounded Rectangle 15"/>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Limitations · Future work</a:t>
            </a:r>
          </a:p>
        </p:txBody>
      </p:sp>
      <p:sp>
        <p:nvSpPr>
          <p:cNvPr id="17" name="Rounded Rectangle 16"/>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200"/>
              </a:lnSpc>
              <a:spcBef>
                <a:spcPts val="600"/>
              </a:spcBef>
              <a:buNone/>
            </a:pPr>
            <a:r>
              <a:rPr lang="en-US" sz="1800" b="true">
                <a:solidFill>
                  <a:srgbClr val="111111"/>
                </a:solidFill>
                <a:latin typeface="Nunito Bold"/>
                <a:ea typeface="Nunito Bold"/>
                <a:cs typeface="Nunito Bold"/>
                <a:sym typeface="Nunito Bold"/>
              </a:rPr>
              <a:t>Discussion with the jury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7" name="Oval 6"/>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first-class requirement for recommender systems</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Opaque AI systems mediate what billions of people see, buy and watch every day — accuracy without transparency.</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modifiable, domain-level factor a designer can act upon.</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raised expressiveness and lowered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8" name="Picture 7" descr="image.png"/>
          <p:cNvPicPr>
            <a:picLocks noChangeAspect="1"/>
          </p:cNvPicPr>
          <p:nvPr/>
        </p:nvPicPr>
        <p:blipFill>
          <a:blip r:embed="rId2"/>
          <a:stretch>
            <a:fillRect/>
          </a:stretch>
        </p:blipFill>
        <p:spPr>
          <a:xfrm>
            <a:off x="8592285" y="1673352"/>
            <a:ext cx="457200" cy="250983"/>
          </a:xfrm>
          <a:prstGeom prst="rect">
            <a:avLst/>
          </a:prstGeom>
        </p:spPr>
      </p:pic>
      <p:sp>
        <p:nvSpPr>
          <p:cNvPr id="9" name="Rounded Rectangle 8"/>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12" name="Rounded Rectangle 11"/>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13" name="Rounded Rectangle 12"/>
          <p:cNvSpPr/>
          <p:nvPr/>
        </p:nvSpPr>
        <p:spPr>
          <a:xfrm>
            <a:off x="1485900" y="3354578"/>
            <a:ext cx="173986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Ubiquity</a:t>
            </a:r>
          </a:p>
        </p:txBody>
      </p:sp>
      <p:sp>
        <p:nvSpPr>
          <p:cNvPr id="14" name="TextBox 13"/>
          <p:cNvSpPr txBox="1"/>
          <p:nvPr/>
        </p:nvSpPr>
        <p:spPr>
          <a:xfrm>
            <a:off x="1485900" y="4278122"/>
            <a:ext cx="4282440" cy="3154680"/>
          </a:xfrm>
          <a:prstGeom prst="rect">
            <a:avLst/>
          </a:prstGeom>
          <a:noFill/>
        </p:spPr>
        <p:txBody>
          <a:bodyPr anchor="t" rtlCol="false" lIns="0" tIns="0" rIns="0" bIns="0" wrap="square"/>
          <a:lstStyle/>
          <a:p>
            <a:pPr algn="l">
              <a:lnSpc>
                <a:spcPts val="3128"/>
              </a:lnSpc>
              <a:spcBef>
                <a:spcPts val="0"/>
              </a:spcBef>
              <a:buNone/>
            </a:pPr>
            <a:r>
              <a:rPr lang="en-US" sz="2300" b="true">
                <a:solidFill>
                  <a:srgbClr val="FFFFFF"/>
                </a:solidFill>
                <a:latin typeface="Nunito Bold"/>
                <a:ea typeface="Nunito Bold"/>
                <a:cs typeface="Nunito Bold"/>
                <a:sym typeface="Nunito Bold"/>
              </a:rPr>
              <a:t>How do opaque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 market &gt; $15B by 2029.</a:t>
            </a:r>
          </a:p>
        </p:txBody>
      </p:sp>
      <p:sp>
        <p:nvSpPr>
          <p:cNvPr id="15" name="Rounded Rectangle 14"/>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16" name="Rounded Rectangle 15"/>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17" name="TextBox 16"/>
          <p:cNvSpPr txBox="1"/>
          <p:nvPr/>
        </p:nvSpPr>
        <p:spPr>
          <a:xfrm>
            <a:off x="7002780" y="4278122"/>
            <a:ext cx="4282440" cy="3154680"/>
          </a:xfrm>
          <a:prstGeom prst="rect">
            <a:avLst/>
          </a:prstGeom>
          <a:noFill/>
        </p:spPr>
        <p:txBody>
          <a:bodyPr anchor="t" rtlCol="false" lIns="0" tIns="0" rIns="0" bIns="0" wrap="square"/>
          <a:lstStyle/>
          <a:p>
            <a:pPr algn="l">
              <a:lnSpc>
                <a:spcPts val="3128"/>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remain opaque to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opaque, non-auditable.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18" name="Rounded Rectangle 17"/>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19" name="Rounded Rectangle 18"/>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20" name="TextBox 19"/>
          <p:cNvSpPr txBox="1"/>
          <p:nvPr/>
        </p:nvSpPr>
        <p:spPr>
          <a:xfrm>
            <a:off x="12519660" y="4278122"/>
            <a:ext cx="4282440" cy="3154680"/>
          </a:xfrm>
          <a:prstGeom prst="rect">
            <a:avLst/>
          </a:prstGeom>
          <a:noFill/>
        </p:spPr>
        <p:txBody>
          <a:bodyPr anchor="t" rtlCol="false" lIns="0" tIns="0" rIns="0" bIns="0" wrap="square"/>
          <a:lstStyle/>
          <a:p>
            <a:pPr algn="l">
              <a:lnSpc>
                <a:spcPts val="3128"/>
              </a:lnSpc>
              <a:spcBef>
                <a:spcPts val="0"/>
              </a:spcBef>
              <a:buNone/>
            </a:pPr>
            <a:r>
              <a:rPr lang="en-US" sz="2300" b="true">
                <a:solidFill>
                  <a:srgbClr val="FFFFFF"/>
                </a:solidFill>
                <a:latin typeface="Nunito Bold"/>
                <a:ea typeface="Nunito Bold"/>
                <a:cs typeface="Nunito Bold"/>
                <a:sym typeface="Nunito Bold"/>
              </a:rPr>
              <a:t>How can transparency be built as part of the model, instead of being bolted on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Accountable, auditable, modifiable insight — actionable, not just accurate.</a:t>
            </a:r>
          </a:p>
        </p:txBody>
      </p:sp>
      <p:sp>
        <p:nvSpPr>
          <p:cNvPr id="21" name="Rounded Rectangle 20"/>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expressive power, they lose the transparency needed for trustworthy deployment — this thesis treats </a:t>
            </a:r>
            <a:r>
              <a:rPr lang="en-US" sz="2000" b="true">
                <a:solidFill>
                  <a:srgbClr val="111111"/>
                </a:solidFill>
                <a:latin typeface="Nunito Bold"/>
                <a:ea typeface="Nunito Bold"/>
                <a:cs typeface="Nunito Bold"/>
                <a:sym typeface="Nunito Bold"/>
              </a:rPr>
              <a:t>accuracy and interpretability as objectives to be reconciled</a:t>
            </a:r>
            <a:r>
              <a:rPr lang="en-US" sz="2000" b="true">
                <a:solidFill>
                  <a:srgbClr val="111111"/>
                </a:solidFill>
                <a:latin typeface="Nunito Semi-Bold"/>
                <a:ea typeface="Nunito Semi-Bold"/>
                <a:cs typeface="Nunito Semi-Bold"/>
                <a:sym typeface="Nunito Semi-Bold"/>
              </a:rPr>
              <a:t>, not traded against one another.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 the Definition</a:t>
            </a:r>
          </a:p>
        </p:txBody>
      </p:sp>
      <p:pic>
        <p:nvPicPr>
          <p:cNvPr id="8" name="Picture 7" descr="image.png"/>
          <p:cNvPicPr>
            <a:picLocks noChangeAspect="1"/>
          </p:cNvPicPr>
          <p:nvPr/>
        </p:nvPicPr>
        <p:blipFill>
          <a:blip r:embed="rId2"/>
          <a:stretch>
            <a:fillRect/>
          </a:stretch>
        </p:blipFill>
        <p:spPr>
          <a:xfrm>
            <a:off x="10065701" y="1673352"/>
            <a:ext cx="457200" cy="415247"/>
          </a:xfrm>
          <a:prstGeom prst="rect">
            <a:avLst/>
          </a:prstGeom>
        </p:spPr>
      </p:pic>
      <p:sp>
        <p:nvSpPr>
          <p:cNvPr id="9" name="Rounded Rectangle 8"/>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12" name="TextBox 11"/>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identifies </a:t>
            </a:r>
            <a:r>
              <a:rPr lang="en-US" sz="2100" b="true">
                <a:solidFill>
                  <a:srgbClr val="111111"/>
                </a:solidFill>
                <a:latin typeface="Nunito Bold"/>
                <a:ea typeface="Nunito Bold"/>
                <a:cs typeface="Nunito Bold"/>
                <a:sym typeface="Nunito Bold"/>
              </a:rPr>
              <a:t>at least one modifiable factor</a:t>
            </a:r>
            <a:r>
              <a:rPr lang="en-US" sz="2100" b="true">
                <a:solidFill>
                  <a:srgbClr val="111111"/>
                </a:solidFill>
                <a:latin typeface="Nunito Semi-Bold"/>
                <a:ea typeface="Nunito Semi-Bold"/>
                <a:cs typeface="Nunito Semi-Bold"/>
                <a:sym typeface="Nunito Semi-Bold"/>
              </a:rPr>
              <a:t> whose change is associated with a </a:t>
            </a:r>
            <a:r>
              <a:rPr lang="en-US" sz="2100" b="true">
                <a:solidFill>
                  <a:srgbClr val="111111"/>
                </a:solidFill>
                <a:latin typeface="Nunito Bold"/>
                <a:ea typeface="Nunito Bold"/>
                <a:cs typeface="Nunito Bold"/>
                <a:sym typeface="Nunito Bold"/>
              </a:rPr>
              <a:t>specifiable change in model output</a:t>
            </a:r>
            <a:r>
              <a:rPr lang="en-US" sz="2100" b="true">
                <a:solidFill>
                  <a:srgbClr val="111111"/>
                </a:solidFill>
                <a:latin typeface="Nunito Semi-Bold"/>
                <a:ea typeface="Nunito Semi-Bold"/>
                <a:cs typeface="Nunito Semi-Bold"/>
                <a:sym typeface="Nunito Semi-Bold"/>
              </a:rPr>
              <a:t>…</a:t>
            </a:r>
          </a:p>
          <a:p>
            <a:pPr algn="l" marL="274320" indent="-274320">
              <a:lnSpc>
                <a:spcPts val="2814"/>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expressible in the semantic vocabulary of the task domain</a:t>
            </a:r>
            <a:r>
              <a:rPr lang="en-US" sz="2100" b="true">
                <a:solidFill>
                  <a:srgbClr val="111111"/>
                </a:solidFill>
                <a:latin typeface="Nunito Semi-Bold"/>
                <a:ea typeface="Nunito Semi-Bold"/>
                <a:cs typeface="Nunito Semi-Bold"/>
                <a:sym typeface="Nunito Semi-Bold"/>
              </a:rPr>
              <a:t>.</a:t>
            </a:r>
          </a:p>
          <a:p>
            <a:pPr algn="l" marL="274320" indent="-274320">
              <a:lnSpc>
                <a:spcPts val="2814"/>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Accessibility means the domain's own terms: a physicochemical variable (wine), a pollution indicator (air quality), a preference signal (recommendation) — </a:t>
            </a:r>
            <a:r>
              <a:rPr lang="en-US" sz="2100" b="true">
                <a:solidFill>
                  <a:srgbClr val="111111"/>
                </a:solidFill>
                <a:latin typeface="Nunito Bold"/>
                <a:ea typeface="Nunito Bold"/>
                <a:cs typeface="Nunito Bold"/>
                <a:sym typeface="Nunito Bold"/>
              </a:rPr>
              <a:t>not an opaque latent code</a:t>
            </a:r>
            <a:r>
              <a:rPr lang="en-US" sz="2100" b="true">
                <a:solidFill>
                  <a:srgbClr val="111111"/>
                </a:solidFill>
                <a:latin typeface="Nunito Semi-Bold"/>
                <a:ea typeface="Nunito Semi-Bold"/>
                <a:cs typeface="Nunito Semi-Bold"/>
                <a:sym typeface="Nunito Semi-Bold"/>
              </a:rPr>
              <a:t>.</a:t>
            </a:r>
          </a:p>
          <a:p>
            <a:pPr algn="l" marL="274320" indent="-274320">
              <a:lnSpc>
                <a:spcPts val="2814"/>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identifies a modifiable driver supports </a:t>
            </a:r>
            <a:r>
              <a:rPr lang="en-US" sz="2100" b="true">
                <a:solidFill>
                  <a:srgbClr val="111111"/>
                </a:solidFill>
                <a:latin typeface="Nunito Bold"/>
                <a:ea typeface="Nunito Bold"/>
                <a:cs typeface="Nunito Bold"/>
                <a:sym typeface="Nunito Bold"/>
              </a:rPr>
              <a:t>intervention</a:t>
            </a:r>
            <a:r>
              <a:rPr lang="en-US" sz="2100" b="true">
                <a:solidFill>
                  <a:srgbClr val="111111"/>
                </a:solidFill>
                <a:latin typeface="Nunito Semi-Bold"/>
                <a:ea typeface="Nunito Semi-Bold"/>
                <a:cs typeface="Nunito Semi-Bold"/>
                <a:sym typeface="Nunito Semi-Bold"/>
              </a:rPr>
              <a:t>, not merely description.</a:t>
            </a:r>
          </a:p>
        </p:txBody>
      </p:sp>
      <p:sp>
        <p:nvSpPr>
          <p:cNvPr id="13" name="TextBox 1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14" name="Rounded Rectangle 13"/>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15" name="Connector 14"/>
          <p:cNvCxnSpPr/>
          <p:nvPr/>
        </p:nvCxnSpPr>
        <p:spPr>
          <a:xfrm>
            <a:off x="11087100" y="5352542"/>
            <a:ext cx="381000" cy="0"/>
          </a:xfrm>
          <a:prstGeom prst="line">
            <a:avLst/>
          </a:prstGeom>
          <a:ln w="28575">
            <a:solidFill>
              <a:srgbClr val="124944"/>
            </a:solidFill>
            <a:tailEnd type="triangle" w="med" len="med"/>
          </a:ln>
        </p:spPr>
      </p:cxnSp>
      <p:sp>
        <p:nvSpPr>
          <p:cNvPr id="16" name="Rounded Rectangle 15"/>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17" name="Connector 16"/>
          <p:cNvCxnSpPr/>
          <p:nvPr/>
        </p:nvCxnSpPr>
        <p:spPr>
          <a:xfrm>
            <a:off x="13159740" y="5352542"/>
            <a:ext cx="381000" cy="0"/>
          </a:xfrm>
          <a:prstGeom prst="line">
            <a:avLst/>
          </a:prstGeom>
          <a:ln w="28575">
            <a:solidFill>
              <a:srgbClr val="124944"/>
            </a:solidFill>
            <a:tailEnd type="triangle" w="med" len="med"/>
          </a:ln>
        </p:spPr>
      </p:cxnSp>
      <p:sp>
        <p:nvSpPr>
          <p:cNvPr id="18" name="Rounded Rectangle 17"/>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19" name="Connector 18"/>
          <p:cNvCxnSpPr/>
          <p:nvPr/>
        </p:nvCxnSpPr>
        <p:spPr>
          <a:xfrm>
            <a:off x="15232380" y="5352542"/>
            <a:ext cx="381000" cy="0"/>
          </a:xfrm>
          <a:prstGeom prst="line">
            <a:avLst/>
          </a:prstGeom>
          <a:ln w="28575">
            <a:solidFill>
              <a:srgbClr val="124944"/>
            </a:solidFill>
            <a:tailEnd type="triangle" w="med" len="med"/>
          </a:ln>
        </p:spPr>
      </p:cxnSp>
      <p:sp>
        <p:nvSpPr>
          <p:cNvPr id="20" name="Rounded Rectangle 19"/>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Prescriptive lever</a:t>
            </a:r>
          </a:p>
        </p:txBody>
      </p:sp>
      <p:cxnSp>
        <p:nvCxnSpPr>
          <p:cNvPr id="21" name="Connector 20"/>
          <p:cNvCxnSpPr/>
          <p:nvPr/>
        </p:nvCxnSpPr>
        <p:spPr>
          <a:xfrm>
            <a:off x="10241280" y="6106922"/>
            <a:ext cx="0" cy="365760"/>
          </a:xfrm>
          <a:prstGeom prst="line">
            <a:avLst/>
          </a:prstGeom>
          <a:ln w="28575">
            <a:solidFill>
              <a:srgbClr val="DF8330"/>
            </a:solidFill>
          </a:ln>
        </p:spPr>
      </p:cxnSp>
      <p:cxnSp>
        <p:nvCxnSpPr>
          <p:cNvPr id="22" name="Connector 21"/>
          <p:cNvCxnSpPr/>
          <p:nvPr/>
        </p:nvCxnSpPr>
        <p:spPr>
          <a:xfrm>
            <a:off x="10241280" y="6472682"/>
            <a:ext cx="6217920" cy="0"/>
          </a:xfrm>
          <a:prstGeom prst="line">
            <a:avLst/>
          </a:prstGeom>
          <a:ln w="28575">
            <a:solidFill>
              <a:srgbClr val="DF8330"/>
            </a:solidFill>
            <a:prstDash val="dash"/>
          </a:ln>
        </p:spPr>
      </p:cxnSp>
      <p:cxnSp>
        <p:nvCxnSpPr>
          <p:cNvPr id="23" name="Connector 22"/>
          <p:cNvCxnSpPr/>
          <p:nvPr/>
        </p:nvCxnSpPr>
        <p:spPr>
          <a:xfrm>
            <a:off x="16459200" y="6106922"/>
            <a:ext cx="0" cy="365760"/>
          </a:xfrm>
          <a:prstGeom prst="line">
            <a:avLst/>
          </a:prstGeom>
          <a:ln w="28575">
            <a:solidFill>
              <a:srgbClr val="DF8330"/>
            </a:solidFill>
          </a:ln>
        </p:spPr>
      </p:cxnSp>
      <p:sp>
        <p:nvSpPr>
          <p:cNvPr id="24" name="TextBox 23"/>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25" name="Rounded Rectangle 24"/>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26" name="Rounded Rectangle 25"/>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27" name="Rounded Rectangle 26"/>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8" name="Picture 7" descr="image.png"/>
          <p:cNvPicPr>
            <a:picLocks noChangeAspect="1"/>
          </p:cNvPicPr>
          <p:nvPr/>
        </p:nvPicPr>
        <p:blipFill>
          <a:blip r:embed="rId2"/>
          <a:stretch>
            <a:fillRect/>
          </a:stretch>
        </p:blipFill>
        <p:spPr>
          <a:xfrm>
            <a:off x="5880294" y="1673352"/>
            <a:ext cx="457200" cy="452148"/>
          </a:xfrm>
          <a:prstGeom prst="rect">
            <a:avLst/>
          </a:prstGeom>
        </p:spPr>
      </p:pic>
      <p:sp>
        <p:nvSpPr>
          <p:cNvPr id="9" name="Rounded Rectangle 8"/>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12" name="TextBox 11"/>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13" name="Rounded Rectangle 12"/>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14" name="Connector 13"/>
          <p:cNvCxnSpPr/>
          <p:nvPr/>
        </p:nvCxnSpPr>
        <p:spPr>
          <a:xfrm>
            <a:off x="3415284" y="4438142"/>
            <a:ext cx="1033272" cy="0"/>
          </a:xfrm>
          <a:prstGeom prst="line">
            <a:avLst/>
          </a:prstGeom>
          <a:ln w="28575">
            <a:solidFill>
              <a:srgbClr val="124944"/>
            </a:solidFill>
            <a:tailEnd type="triangle" w="med" len="med"/>
          </a:ln>
        </p:spPr>
      </p:cxnSp>
      <p:sp>
        <p:nvSpPr>
          <p:cNvPr id="15" name="Rounded Rectangle 14"/>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16" name="Connector 15"/>
          <p:cNvCxnSpPr/>
          <p:nvPr/>
        </p:nvCxnSpPr>
        <p:spPr>
          <a:xfrm>
            <a:off x="6890004" y="4438142"/>
            <a:ext cx="1033272" cy="0"/>
          </a:xfrm>
          <a:prstGeom prst="line">
            <a:avLst/>
          </a:prstGeom>
          <a:ln w="28575">
            <a:solidFill>
              <a:srgbClr val="124944"/>
            </a:solidFill>
            <a:tailEnd type="triangle" w="med" len="med"/>
          </a:ln>
        </p:spPr>
      </p:cxnSp>
      <p:sp>
        <p:nvSpPr>
          <p:cNvPr id="17" name="Rounded Rectangle 16"/>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18" name="Connector 17"/>
          <p:cNvCxnSpPr/>
          <p:nvPr/>
        </p:nvCxnSpPr>
        <p:spPr>
          <a:xfrm>
            <a:off x="10364724" y="4438142"/>
            <a:ext cx="1033272" cy="0"/>
          </a:xfrm>
          <a:prstGeom prst="line">
            <a:avLst/>
          </a:prstGeom>
          <a:ln w="28575">
            <a:solidFill>
              <a:srgbClr val="124944"/>
            </a:solidFill>
            <a:tailEnd type="triangle" w="med" len="med"/>
          </a:ln>
        </p:spPr>
      </p:cxnSp>
      <p:sp>
        <p:nvSpPr>
          <p:cNvPr id="19" name="Rounded Rectangle 18"/>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20" name="Connector 19"/>
          <p:cNvCxnSpPr/>
          <p:nvPr/>
        </p:nvCxnSpPr>
        <p:spPr>
          <a:xfrm>
            <a:off x="13839444" y="4438142"/>
            <a:ext cx="1033272" cy="0"/>
          </a:xfrm>
          <a:prstGeom prst="line">
            <a:avLst/>
          </a:prstGeom>
          <a:ln w="28575">
            <a:solidFill>
              <a:srgbClr val="124944"/>
            </a:solidFill>
            <a:tailEnd type="triangle" w="med" len="med"/>
          </a:ln>
        </p:spPr>
      </p:cxnSp>
      <p:sp>
        <p:nvSpPr>
          <p:cNvPr id="21" name="Rounded Rectangle 20"/>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22" name="Connector 21"/>
          <p:cNvCxnSpPr/>
          <p:nvPr/>
        </p:nvCxnSpPr>
        <p:spPr>
          <a:xfrm>
            <a:off x="1028700" y="5283962"/>
            <a:ext cx="16230600" cy="0"/>
          </a:xfrm>
          <a:prstGeom prst="line">
            <a:avLst/>
          </a:prstGeom>
          <a:ln w="50800">
            <a:solidFill>
              <a:srgbClr val="DF8330"/>
            </a:solidFill>
            <a:tailEnd type="triangle" w="med" len="med"/>
          </a:ln>
        </p:spPr>
      </p:cxnSp>
      <p:sp>
        <p:nvSpPr>
          <p:cNvPr id="23" name="TextBox 22"/>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Interpretability deficit grows:</a:t>
            </a:r>
            <a:r>
              <a:rPr lang="en-US" sz="1800" b="true">
                <a:solidFill>
                  <a:srgbClr val="DF8330"/>
                </a:solidFill>
                <a:latin typeface="Nunito Semi-Bold"/>
                <a:ea typeface="Nunito Semi-Bold"/>
                <a:cs typeface="Nunito Semi-Bold"/>
                <a:sym typeface="Nunito Semi-Bold"/>
              </a:rPr>
              <a:t> each step improved ranking but replaced an opaque latent code by an opaque message-passing mechanism — non-modifiable factors.</a:t>
            </a:r>
          </a:p>
        </p:txBody>
      </p:sp>
      <p:sp>
        <p:nvSpPr>
          <p:cNvPr id="24" name="Rounded Rectangle 23"/>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25" name="Rounded Rectangle 24"/>
          <p:cNvSpPr/>
          <p:nvPr/>
        </p:nvSpPr>
        <p:spPr>
          <a:xfrm>
            <a:off x="1485900" y="6052058"/>
            <a:ext cx="383375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deficit matters</a:t>
            </a:r>
          </a:p>
        </p:txBody>
      </p:sp>
      <p:sp>
        <p:nvSpPr>
          <p:cNvPr id="26" name="TextBox 25"/>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393"/>
              </a:lnSpc>
              <a:spcBef>
                <a:spcPts val="0"/>
              </a:spcBef>
              <a:buClr>
                <a:srgbClr val="ECC665"/>
              </a:buClr>
              <a:buSzPct val="100000"/>
              <a:buFont typeface="Arial"/>
              <a:buChar char="•"/>
            </a:pPr>
            <a:r>
              <a:rPr lang="en-US" sz="1786" b="true">
                <a:solidFill>
                  <a:srgbClr val="FFFFFF"/>
                </a:solidFill>
                <a:latin typeface="Nunito Bold"/>
                <a:ea typeface="Nunito Bold"/>
                <a:cs typeface="Nunito Bold"/>
                <a:sym typeface="Nunito Bold"/>
              </a:rPr>
              <a:t>Undermines user trust</a:t>
            </a:r>
            <a:r>
              <a:rPr lang="en-US" sz="1786" b="true">
                <a:solidFill>
                  <a:srgbClr val="FFFFFF"/>
                </a:solidFill>
                <a:latin typeface="Nunito Semi-Bold"/>
                <a:ea typeface="Nunito Semi-Bold"/>
                <a:cs typeface="Nunito Semi-Bold"/>
                <a:sym typeface="Nunito Semi-Bold"/>
              </a:rPr>
              <a:t> — outputs observed without understanding why.</a:t>
            </a:r>
          </a:p>
          <a:p>
            <a:pPr algn="l" marL="274320" indent="-274320">
              <a:lnSpc>
                <a:spcPts val="2393"/>
              </a:lnSpc>
              <a:spcBef>
                <a:spcPts val="564"/>
              </a:spcBef>
              <a:buClr>
                <a:srgbClr val="ECC665"/>
              </a:buClr>
              <a:buSzPct val="100000"/>
              <a:buFont typeface="Arial"/>
              <a:buChar char="•"/>
            </a:pPr>
            <a:r>
              <a:rPr lang="en-US" sz="1786" b="true">
                <a:solidFill>
                  <a:srgbClr val="FFFFFF"/>
                </a:solidFill>
                <a:latin typeface="Nunito Bold"/>
                <a:ea typeface="Nunito Bold"/>
                <a:cs typeface="Nunito Bold"/>
                <a:sym typeface="Nunito Bold"/>
              </a:rPr>
              <a:t>Constrains debugging</a:t>
            </a:r>
            <a:r>
              <a:rPr lang="en-US" sz="1786" b="true">
                <a:solidFill>
                  <a:srgbClr val="FFFFFF"/>
                </a:solidFill>
                <a:latin typeface="Nunito Semi-Bold"/>
                <a:ea typeface="Nunito Semi-Bold"/>
                <a:cs typeface="Nunito Semi-Bold"/>
                <a:sym typeface="Nunito Semi-Bold"/>
              </a:rPr>
              <a:t> and scientific learning.</a:t>
            </a:r>
          </a:p>
          <a:p>
            <a:pPr algn="l" marL="274320" indent="-274320">
              <a:lnSpc>
                <a:spcPts val="2393"/>
              </a:lnSpc>
              <a:spcBef>
                <a:spcPts val="564"/>
              </a:spcBef>
              <a:buClr>
                <a:srgbClr val="ECC665"/>
              </a:buClr>
              <a:buSzPct val="100000"/>
              <a:buFont typeface="Arial"/>
              <a:buChar char="•"/>
            </a:pPr>
            <a:r>
              <a:rPr lang="en-US" sz="1786" b="true">
                <a:solidFill>
                  <a:srgbClr val="FFFFFF"/>
                </a:solidFill>
                <a:latin typeface="Nunito Bold"/>
                <a:ea typeface="Nunito Bold"/>
                <a:cs typeface="Nunito Bold"/>
                <a:sym typeface="Nunito Bold"/>
              </a:rPr>
              <a:t>Collides with regulation</a:t>
            </a:r>
            <a:r>
              <a:rPr lang="en-US" sz="1786" b="true">
                <a:solidFill>
                  <a:srgbClr val="FFFFFF"/>
                </a:solidFill>
                <a:latin typeface="Nunito Semi-Bold"/>
                <a:ea typeface="Nunito Semi-Bold"/>
                <a:cs typeface="Nunito Semi-Bold"/>
                <a:sym typeface="Nunito Semi-Bold"/>
              </a:rPr>
              <a:t> — EU AI Act, OECD principles, GDPR.</a:t>
            </a:r>
          </a:p>
          <a:p>
            <a:pPr algn="l" marL="274320" indent="-274320">
              <a:lnSpc>
                <a:spcPts val="2393"/>
              </a:lnSpc>
              <a:spcBef>
                <a:spcPts val="564"/>
              </a:spcBef>
              <a:buClr>
                <a:srgbClr val="ECC665"/>
              </a:buClr>
              <a:buSzPct val="100000"/>
              <a:buFont typeface="Arial"/>
              <a:buChar char="•"/>
            </a:pPr>
            <a:r>
              <a:rPr lang="en-US" sz="1786" b="true">
                <a:solidFill>
                  <a:srgbClr val="FFFFFF"/>
                </a:solidFill>
                <a:latin typeface="Nunito Semi-Bold"/>
                <a:ea typeface="Nunito Semi-Bold"/>
                <a:cs typeface="Nunito Semi-Bold"/>
                <a:sym typeface="Nunito Semi-Bold"/>
              </a:rPr>
              <a:t>EU AI Act (Art. 13): high-risk systems must provide explanations </a:t>
            </a:r>
            <a:r>
              <a:rPr lang="en-US" sz="1786" b="true">
                <a:solidFill>
                  <a:srgbClr val="FFFFFF"/>
                </a:solidFill>
                <a:latin typeface="Nunito Bold"/>
                <a:ea typeface="Nunito Bold"/>
                <a:cs typeface="Nunito Bold"/>
                <a:sym typeface="Nunito Bold"/>
              </a:rPr>
              <a:t>in human-understandable terms</a:t>
            </a:r>
            <a:r>
              <a:rPr lang="en-US" sz="1786" b="true">
                <a:solidFill>
                  <a:srgbClr val="FFFFFF"/>
                </a:solidFill>
                <a:latin typeface="Nunito Semi-Bold"/>
                <a:ea typeface="Nunito Semi-Bold"/>
                <a:cs typeface="Nunito Semi-Bold"/>
                <a:sym typeface="Nunito Semi-Bold"/>
              </a:rPr>
              <a:t>.</a:t>
            </a:r>
          </a:p>
        </p:txBody>
      </p:sp>
      <p:sp>
        <p:nvSpPr>
          <p:cNvPr id="27" name="Rounded Rectangle 26"/>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29" name="TextBox 28"/>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393"/>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evolved from similarity filters to </a:t>
            </a:r>
            <a:r>
              <a:rPr lang="en-US" sz="1786" b="true">
                <a:solidFill>
                  <a:srgbClr val="111111"/>
                </a:solidFill>
                <a:latin typeface="Nunito Bold"/>
                <a:ea typeface="Nunito Bold"/>
                <a:cs typeface="Nunito Bold"/>
                <a:sym typeface="Nunito Bold"/>
              </a:rPr>
              <a:t>representation learning on sparse, high-dimensional, dynamic data</a:t>
            </a:r>
            <a:r>
              <a:rPr lang="en-US" sz="1786" b="true">
                <a:solidFill>
                  <a:srgbClr val="111111"/>
                </a:solidFill>
                <a:latin typeface="Nunito Semi-Bold"/>
                <a:ea typeface="Nunito Semi-Bold"/>
                <a:cs typeface="Nunito Semi-Bold"/>
                <a:sym typeface="Nunito Semi-Bold"/>
              </a:rPr>
              <a:t>.</a:t>
            </a:r>
          </a:p>
          <a:p>
            <a:pPr algn="l" marL="274320" indent="-274320">
              <a:lnSpc>
                <a:spcPts val="2393"/>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uniform message importance</a:t>
            </a:r>
            <a:r>
              <a:rPr lang="en-US" sz="1786" b="true">
                <a:solidFill>
                  <a:srgbClr val="111111"/>
                </a:solidFill>
                <a:latin typeface="Nunito Semi-Bold"/>
                <a:ea typeface="Nunito Semi-Bold"/>
                <a:cs typeface="Nunito Semi-Bold"/>
                <a:sym typeface="Nunito Semi-Bold"/>
              </a:rPr>
              <a:t>.</a:t>
            </a:r>
          </a:p>
          <a:p>
            <a:pPr algn="l" marL="274320" indent="-274320">
              <a:lnSpc>
                <a:spcPts val="2393"/>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principled attribution mechanism is needed — and it should be </a:t>
            </a:r>
            <a:r>
              <a:rPr lang="en-US" sz="1786" b="true">
                <a:solidFill>
                  <a:srgbClr val="111111"/>
                </a:solidFill>
                <a:latin typeface="Nunito Bold"/>
                <a:ea typeface="Nunito Bold"/>
                <a:cs typeface="Nunito Bold"/>
                <a:sym typeface="Nunito Bold"/>
              </a:rPr>
              <a:t>part of the modelling logic</a:t>
            </a:r>
            <a:r>
              <a:rPr lang="en-US" sz="1786" b="true">
                <a:solidFill>
                  <a:srgbClr val="111111"/>
                </a:solidFill>
                <a:latin typeface="Nunito Semi-Bold"/>
                <a:ea typeface="Nunito Semi-Bold"/>
                <a:cs typeface="Nunito Semi-Bold"/>
                <a:sym typeface="Nunito Semi-Bold"/>
              </a:rPr>
              <a:t>, not an afterthought.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8" name="Picture 7" descr="image.png"/>
          <p:cNvPicPr>
            <a:picLocks noChangeAspect="1"/>
          </p:cNvPicPr>
          <p:nvPr/>
        </p:nvPicPr>
        <p:blipFill>
          <a:blip r:embed="rId2"/>
          <a:stretch>
            <a:fillRect/>
          </a:stretch>
        </p:blipFill>
        <p:spPr>
          <a:xfrm>
            <a:off x="12921990" y="1673352"/>
            <a:ext cx="457200" cy="617115"/>
          </a:xfrm>
          <a:prstGeom prst="rect">
            <a:avLst/>
          </a:prstGeom>
        </p:spPr>
      </p:pic>
      <p:sp>
        <p:nvSpPr>
          <p:cNvPr id="9" name="Rounded Rectangle 8"/>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10" name="Rounded Rectangle 9"/>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11" name="Rounded Rectangle 10"/>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12" name="Rounded Rectangle 11"/>
          <p:cNvSpPr/>
          <p:nvPr/>
        </p:nvSpPr>
        <p:spPr>
          <a:xfrm>
            <a:off x="1028700" y="3455162"/>
            <a:ext cx="5227320" cy="1874520"/>
          </a:xfrm>
          <a:prstGeom prst="roundRect">
            <a:avLst>
              <a:gd name="adj" fmla="val 14634"/>
            </a:avLst>
          </a:prstGeom>
          <a:solidFill>
            <a:srgbClr val="124944"/>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Streaming &amp; Video</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Netflix · Prime Video · YouTube</a:t>
            </a:r>
          </a:p>
        </p:txBody>
      </p:sp>
      <p:sp>
        <p:nvSpPr>
          <p:cNvPr id="13" name="Rounded Rectangle 12"/>
          <p:cNvSpPr/>
          <p:nvPr/>
        </p:nvSpPr>
        <p:spPr>
          <a:xfrm>
            <a:off x="6530340" y="3455162"/>
            <a:ext cx="5227320" cy="1874520"/>
          </a:xfrm>
          <a:prstGeom prst="roundRect">
            <a:avLst>
              <a:gd name="adj" fmla="val 14634"/>
            </a:avLst>
          </a:prstGeom>
          <a:solidFill>
            <a:srgbClr val="1E5F58"/>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Music</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Spotify · YouTube Music · Deezer</a:t>
            </a:r>
          </a:p>
        </p:txBody>
      </p:sp>
      <p:sp>
        <p:nvSpPr>
          <p:cNvPr id="14" name="Rounded Rectangle 13"/>
          <p:cNvSpPr/>
          <p:nvPr/>
        </p:nvSpPr>
        <p:spPr>
          <a:xfrm>
            <a:off x="12031980" y="3455162"/>
            <a:ext cx="5227320" cy="1874520"/>
          </a:xfrm>
          <a:prstGeom prst="roundRect">
            <a:avLst>
              <a:gd name="adj" fmla="val 14634"/>
            </a:avLst>
          </a:prstGeom>
          <a:solidFill>
            <a:srgbClr val="DF8330"/>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Shopping &amp; E-commerce</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Amazon · AliExpress · Noon</a:t>
            </a:r>
          </a:p>
        </p:txBody>
      </p:sp>
      <p:sp>
        <p:nvSpPr>
          <p:cNvPr id="15" name="Rounded Rectangle 14"/>
          <p:cNvSpPr/>
          <p:nvPr/>
        </p:nvSpPr>
        <p:spPr>
          <a:xfrm>
            <a:off x="1028700" y="5604002"/>
            <a:ext cx="5227320" cy="1874520"/>
          </a:xfrm>
          <a:prstGeom prst="roundRect">
            <a:avLst>
              <a:gd name="adj" fmla="val 14634"/>
            </a:avLst>
          </a:prstGeom>
          <a:solidFill>
            <a:srgbClr val="1E5F58"/>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Social &amp; Feeds</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TikTok · Instagram · LinkedIn</a:t>
            </a:r>
          </a:p>
        </p:txBody>
      </p:sp>
      <p:sp>
        <p:nvSpPr>
          <p:cNvPr id="16" name="Rounded Rectangle 15"/>
          <p:cNvSpPr/>
          <p:nvPr/>
        </p:nvSpPr>
        <p:spPr>
          <a:xfrm>
            <a:off x="6530340" y="5604002"/>
            <a:ext cx="5227320" cy="1874520"/>
          </a:xfrm>
          <a:prstGeom prst="roundRect">
            <a:avLst>
              <a:gd name="adj" fmla="val 14634"/>
            </a:avLst>
          </a:prstGeom>
          <a:solidFill>
            <a:srgbClr val="124944"/>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Maps &amp; Mobility</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Google Maps · Uber · Booking</a:t>
            </a:r>
          </a:p>
        </p:txBody>
      </p:sp>
      <p:sp>
        <p:nvSpPr>
          <p:cNvPr id="17" name="Rounded Rectangle 16"/>
          <p:cNvSpPr/>
          <p:nvPr/>
        </p:nvSpPr>
        <p:spPr>
          <a:xfrm>
            <a:off x="12031980" y="5604002"/>
            <a:ext cx="5227320" cy="1874520"/>
          </a:xfrm>
          <a:prstGeom prst="roundRect">
            <a:avLst>
              <a:gd name="adj" fmla="val 14634"/>
            </a:avLst>
          </a:prstGeom>
          <a:solidFill>
            <a:srgbClr val="DF8330"/>
          </a:solidFill>
          <a:ln>
            <a:noFill/>
          </a:ln>
        </p:spPr>
        <p:txBody>
          <a:bodyPr anchor="ctr" rtlCol="false" lIns="91440" tIns="45720" rIns="91440" bIns="45720" wrap="square"/>
          <a:lstStyle/>
          <a:p>
            <a:pPr algn="ctr">
              <a:lnSpc>
                <a:spcPts val="2875"/>
              </a:lnSpc>
              <a:spcBef>
                <a:spcPts val="0"/>
              </a:spcBef>
              <a:buNone/>
            </a:pPr>
            <a:r>
              <a:rPr lang="en-US" sz="2500" b="true">
                <a:solidFill>
                  <a:srgbClr val="FFFFFF"/>
                </a:solidFill>
                <a:latin typeface="Nunito Bold"/>
                <a:ea typeface="Nunito Bold"/>
                <a:cs typeface="Nunito Bold"/>
                <a:sym typeface="Nunito Bold"/>
              </a:rPr>
              <a:t>Ads &amp; Search</a:t>
            </a:r>
          </a:p>
          <a:p>
            <a:pPr algn="ctr">
              <a:lnSpc>
                <a:spcPts val="2040"/>
              </a:lnSpc>
              <a:spcBef>
                <a:spcPts val="300"/>
              </a:spcBef>
              <a:buNone/>
            </a:pPr>
            <a:r>
              <a:rPr lang="en-US" sz="1700" b="true">
                <a:solidFill>
                  <a:srgbClr val="F1EDE6"/>
                </a:solidFill>
                <a:latin typeface="Nunito Semi-Bold"/>
                <a:ea typeface="Nunito Semi-Bold"/>
                <a:cs typeface="Nunito Semi-Bold"/>
                <a:sym typeface="Nunito Semi-Bold"/>
              </a:rPr>
              <a:t>Google Ads · Bing · Meta</a:t>
            </a:r>
          </a:p>
        </p:txBody>
      </p:sp>
      <p:sp>
        <p:nvSpPr>
          <p:cNvPr id="18" name="Rounded Rectangle 17"/>
          <p:cNvSpPr/>
          <p:nvPr/>
        </p:nvSpPr>
        <p:spPr>
          <a:xfrm>
            <a:off x="1028700" y="7844282"/>
            <a:ext cx="16230600" cy="1555750"/>
          </a:xfrm>
          <a:prstGeom prst="roundRect">
            <a:avLst>
              <a:gd name="adj" fmla="val 17632"/>
            </a:avLst>
          </a:prstGeom>
          <a:solidFill>
            <a:srgbClr val="F6ECDF"/>
          </a:solidFill>
          <a:ln>
            <a:noFill/>
          </a:ln>
        </p:spPr>
        <p:txBody>
          <a:bodyPr anchor="ctr" rtlCol="false" lIns="548640" tIns="91440" rIns="548640" bIns="91440" wrap="square"/>
          <a:lstStyle/>
          <a:p>
            <a:pPr algn="ctr">
              <a:lnSpc>
                <a:spcPts val="2900"/>
              </a:lnSpc>
              <a:spcBef>
                <a:spcPts val="0"/>
              </a:spcBef>
              <a:buNone/>
            </a:pPr>
            <a:r>
              <a:rPr lang="en-US" sz="2200" b="true">
                <a:solidFill>
                  <a:srgbClr val="111111"/>
                </a:solidFill>
                <a:latin typeface="Nunito Semi-Bold"/>
                <a:ea typeface="Nunito Semi-Bold"/>
                <a:cs typeface="Nunito Semi-Bold"/>
                <a:sym typeface="Nunito Semi-Bold"/>
              </a:rPr>
              <a:t>AI recommendation mediates what </a:t>
            </a:r>
            <a:r>
              <a:rPr lang="en-US" sz="2200" b="true">
                <a:solidFill>
                  <a:srgbClr val="111111"/>
                </a:solidFill>
                <a:latin typeface="Nunito Bold"/>
                <a:ea typeface="Nunito Bold"/>
                <a:cs typeface="Nunito Bold"/>
                <a:sym typeface="Nunito Bold"/>
              </a:rPr>
              <a:t>billions</a:t>
            </a:r>
            <a:r>
              <a:rPr lang="en-US" sz="2200" b="true">
                <a:solidFill>
                  <a:srgbClr val="111111"/>
                </a:solidFill>
                <a:latin typeface="Nunito Semi-Bold"/>
                <a:ea typeface="Nunito Semi-Bold"/>
                <a:cs typeface="Nunito Semi-Bold"/>
                <a:sym typeface="Nunito Semi-Bold"/>
              </a:rPr>
              <a:t> see, buy and listen to every day. Each system is remarkably </a:t>
            </a:r>
            <a:r>
              <a:rPr lang="en-US" sz="2200" b="true">
                <a:solidFill>
                  <a:srgbClr val="111111"/>
                </a:solidFill>
                <a:latin typeface="Nunito Bold"/>
                <a:ea typeface="Nunito Bold"/>
                <a:cs typeface="Nunito Bold"/>
                <a:sym typeface="Nunito Bold"/>
              </a:rPr>
              <a:t>accurate yet opaque</a:t>
            </a:r>
            <a:r>
              <a:rPr lang="en-US" sz="2200" b="true">
                <a:solidFill>
                  <a:srgbClr val="111111"/>
                </a:solidFill>
                <a:latin typeface="Nunito Semi-Bold"/>
                <a:ea typeface="Nunito Semi-Bold"/>
                <a:cs typeface="Nunito Semi-Bold"/>
                <a:sym typeface="Nunito Semi-Bold"/>
              </a:rPr>
              <a:t> — its reasoning is hidden from the user. That ubiquity-plus-opacity is </a:t>
            </a:r>
            <a:r>
              <a:rPr lang="en-US" sz="2200" b="true">
                <a:solidFill>
                  <a:srgbClr val="111111"/>
                </a:solidFill>
                <a:latin typeface="Nunito Bold"/>
                <a:ea typeface="Nunito Bold"/>
                <a:cs typeface="Nunito Bold"/>
                <a:sym typeface="Nunito Bold"/>
              </a:rPr>
              <a:t>precisely the gap this thesis targets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6" name="TextBox 5"/>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7" name="Oval 6"/>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9" name="TextBox 8"/>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Paradigm landscape, structuring limitations and the five research questions</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Paradigms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 each stronger, each less transparent.</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Three structuring limitations: lack of explainability, difficulty of scaling, weak integration of explanation into learning.</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cumulative contributions under one cooperative-game perspective.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&amp; Clustering Paradigms</a:t>
            </a:r>
          </a:p>
        </p:txBody>
      </p:sp>
      <p:pic>
        <p:nvPicPr>
          <p:cNvPr id="8" name="Picture 7" descr="image.png"/>
          <p:cNvPicPr>
            <a:picLocks noChangeAspect="1"/>
          </p:cNvPicPr>
          <p:nvPr/>
        </p:nvPicPr>
        <p:blipFill>
          <a:blip r:embed="rId2"/>
          <a:stretch>
            <a:fillRect/>
          </a:stretch>
        </p:blipFill>
        <p:spPr>
          <a:xfrm>
            <a:off x="12284814" y="1673352"/>
            <a:ext cx="457200" cy="250983"/>
          </a:xfrm>
          <a:prstGeom prst="rect">
            <a:avLst/>
          </a:prstGeom>
        </p:spPr>
      </p:pic>
      <p:sp>
        <p:nvSpPr>
          <p:cNvPr id="9" name="Rounded Rectangle 8"/>
          <p:cNvSpPr/>
          <p:nvPr/>
        </p:nvSpPr>
        <p:spPr>
          <a:xfrm>
            <a:off x="1028700" y="2559050"/>
            <a:ext cx="171698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Paradigms</a:t>
            </a:r>
          </a:p>
        </p:txBody>
      </p:sp>
      <p:sp>
        <p:nvSpPr>
          <p:cNvPr id="10" name="Rounded Rectangle 9"/>
          <p:cNvSpPr/>
          <p:nvPr/>
        </p:nvSpPr>
        <p:spPr>
          <a:xfrm>
            <a:off x="2873698"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11" name="Rounded Rectangle 10"/>
          <p:cNvSpPr/>
          <p:nvPr/>
        </p:nvSpPr>
        <p:spPr>
          <a:xfrm>
            <a:off x="4872686"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TextBox 11"/>
          <p:cNvSpPr txBox="1"/>
          <p:nvPr/>
        </p:nvSpPr>
        <p:spPr>
          <a:xfrm>
            <a:off x="1028700" y="3363722"/>
            <a:ext cx="7955280" cy="594487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Collaborative filtering</a:t>
            </a:r>
            <a:r>
              <a:rPr lang="en-US" sz="2100" b="true">
                <a:solidFill>
                  <a:srgbClr val="111111"/>
                </a:solidFill>
                <a:latin typeface="Nunito Semi-Bold"/>
                <a:ea typeface="Nunito Semi-Bold"/>
                <a:cs typeface="Nunito Semi-Bold"/>
                <a:sym typeface="Nunito Semi-Bold"/>
              </a:rPr>
              <a:t> – users who behaved similarly will value similar items (user-/item-based).</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Content-based</a:t>
            </a:r>
            <a:r>
              <a:rPr lang="en-US" sz="2100" b="true">
                <a:solidFill>
                  <a:srgbClr val="111111"/>
                </a:solidFill>
                <a:latin typeface="Nunito Semi-Bold"/>
                <a:ea typeface="Nunito Semi-Bold"/>
                <a:cs typeface="Nunito Semi-Bold"/>
                <a:sym typeface="Nunito Semi-Bold"/>
              </a:rPr>
              <a:t> – recommends items sharing attributes with a user profile.</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 combines collaborative and content signals.</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a:t>
            </a:r>
            <a:r>
              <a:rPr lang="en-US" sz="2100" b="true">
                <a:solidFill>
                  <a:srgbClr val="111111"/>
                </a:solidFill>
                <a:latin typeface="Nunito Semi-Bold"/>
                <a:ea typeface="Nunito Semi-Bold"/>
                <a:cs typeface="Nunito Semi-Bold"/>
                <a:sym typeface="Nunito Semi-Bold"/>
              </a:rPr>
              <a:t> – R ≈ PQ</a:t>
            </a:r>
            <a:r>
              <a:rPr lang="en-US" sz="2100" b="true" baseline="30000">
                <a:solidFill>
                  <a:srgbClr val="111111"/>
                </a:solidFill>
                <a:latin typeface="Nunito Semi-Bold"/>
                <a:ea typeface="Nunito Semi-Bold"/>
                <a:cs typeface="Nunito Semi-Bold"/>
                <a:sym typeface="Nunito Semi-Bold"/>
              </a:rPr>
              <a:t>T</a:t>
            </a:r>
            <a:r>
              <a:rPr lang="en-US" sz="2100" b="true">
                <a:solidFill>
                  <a:srgbClr val="111111"/>
                </a:solidFill>
                <a:latin typeface="Nunito Semi-Bold"/>
                <a:ea typeface="Nunito Semi-Bold"/>
                <a:cs typeface="Nunito Semi-Bold"/>
                <a:sym typeface="Nunito Semi-Bold"/>
              </a:rPr>
              <a:t>: compact but opaque latent factors.</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Graph-based</a:t>
            </a:r>
            <a:r>
              <a:rPr lang="en-US" sz="2100" b="true">
                <a:solidFill>
                  <a:srgbClr val="111111"/>
                </a:solidFill>
                <a:latin typeface="Nunito Semi-Bold"/>
                <a:ea typeface="Nunito Semi-Bold"/>
                <a:cs typeface="Nunito Semi-Bold"/>
                <a:sym typeface="Nunito Semi-Bold"/>
              </a:rPr>
              <a:t> – interaction graph with neighbourhood propagation (LightGCN, hypergraph).</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Each step strengthens the modelling but complicates interpretation: MF made latent dimensions opaque; graph models kept importance implicit; hypergraphs assumed </a:t>
            </a:r>
            <a:r>
              <a:rPr lang="en-US" sz="2100" b="true">
                <a:solidFill>
                  <a:srgbClr val="111111"/>
                </a:solidFill>
                <a:latin typeface="Nunito Bold"/>
                <a:ea typeface="Nunito Bold"/>
                <a:cs typeface="Nunito Bold"/>
                <a:sym typeface="Nunito Bold"/>
              </a:rPr>
              <a:t>uniform message importance</a:t>
            </a:r>
            <a:r>
              <a:rPr lang="en-US" sz="2100" b="true">
                <a:solidFill>
                  <a:srgbClr val="111111"/>
                </a:solidFill>
                <a:latin typeface="Nunito Semi-Bold"/>
                <a:ea typeface="Nunito Semi-Bold"/>
                <a:cs typeface="Nunito Semi-Bold"/>
                <a:sym typeface="Nunito Semi-Bold"/>
              </a:rPr>
              <a:t>.</a:t>
            </a:r>
          </a:p>
        </p:txBody>
      </p:sp>
      <p:sp>
        <p:nvSpPr>
          <p:cNvPr id="13" name="TextBox 12"/>
          <p:cNvSpPr txBox="1"/>
          <p:nvPr/>
        </p:nvSpPr>
        <p:spPr>
          <a:xfrm>
            <a:off x="9532620" y="3363722"/>
            <a:ext cx="772668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 — AN EXPLAINABLE EXAMPLE</a:t>
            </a:r>
          </a:p>
        </p:txBody>
      </p:sp>
      <p:sp>
        <p:nvSpPr>
          <p:cNvPr id="14" name="Rounded Rectangle 13"/>
          <p:cNvSpPr/>
          <p:nvPr/>
        </p:nvSpPr>
        <p:spPr>
          <a:xfrm>
            <a:off x="953262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15" name="Connector 14"/>
          <p:cNvCxnSpPr/>
          <p:nvPr/>
        </p:nvCxnSpPr>
        <p:spPr>
          <a:xfrm>
            <a:off x="11151108" y="4552442"/>
            <a:ext cx="387096" cy="0"/>
          </a:xfrm>
          <a:prstGeom prst="line">
            <a:avLst/>
          </a:prstGeom>
          <a:ln w="28575">
            <a:solidFill>
              <a:srgbClr val="124944"/>
            </a:solidFill>
            <a:tailEnd type="triangle" w="med" len="med"/>
          </a:ln>
        </p:spPr>
      </p:cxnSp>
      <p:sp>
        <p:nvSpPr>
          <p:cNvPr id="16" name="Rounded Rectangle 15"/>
          <p:cNvSpPr/>
          <p:nvPr/>
        </p:nvSpPr>
        <p:spPr>
          <a:xfrm>
            <a:off x="1158392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17" name="Connector 16"/>
          <p:cNvCxnSpPr/>
          <p:nvPr/>
        </p:nvCxnSpPr>
        <p:spPr>
          <a:xfrm>
            <a:off x="13202412" y="4552442"/>
            <a:ext cx="387096" cy="0"/>
          </a:xfrm>
          <a:prstGeom prst="line">
            <a:avLst/>
          </a:prstGeom>
          <a:ln w="28575">
            <a:solidFill>
              <a:srgbClr val="124944"/>
            </a:solidFill>
            <a:tailEnd type="triangle" w="med" len="med"/>
          </a:ln>
        </p:spPr>
      </p:cxnSp>
      <p:sp>
        <p:nvSpPr>
          <p:cNvPr id="18" name="Rounded Rectangle 17"/>
          <p:cNvSpPr/>
          <p:nvPr/>
        </p:nvSpPr>
        <p:spPr>
          <a:xfrm>
            <a:off x="1363522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19" name="Connector 18"/>
          <p:cNvCxnSpPr/>
          <p:nvPr/>
        </p:nvCxnSpPr>
        <p:spPr>
          <a:xfrm>
            <a:off x="15253716" y="4552442"/>
            <a:ext cx="387096" cy="0"/>
          </a:xfrm>
          <a:prstGeom prst="line">
            <a:avLst/>
          </a:prstGeom>
          <a:ln w="28575">
            <a:solidFill>
              <a:srgbClr val="124944"/>
            </a:solidFill>
            <a:tailEnd type="triangle" w="med" len="med"/>
          </a:ln>
        </p:spPr>
      </p:cxnSp>
      <p:sp>
        <p:nvSpPr>
          <p:cNvPr id="20" name="Rounded Rectangle 19"/>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21" name="TextBox 20"/>
          <p:cNvSpPr txBox="1"/>
          <p:nvPr/>
        </p:nvSpPr>
        <p:spPr>
          <a:xfrm>
            <a:off x="9532620" y="5512562"/>
            <a:ext cx="772668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surface films with similar genre / cast / keywords</a:t>
            </a:r>
          </a:p>
        </p:txBody>
      </p:sp>
      <p:sp>
        <p:nvSpPr>
          <p:cNvPr id="22" name="Rounded Rectangle 21"/>
          <p:cNvSpPr/>
          <p:nvPr/>
        </p:nvSpPr>
        <p:spPr>
          <a:xfrm>
            <a:off x="9532620" y="6198362"/>
            <a:ext cx="372618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23" name="Rounded Rectangle 22"/>
          <p:cNvSpPr/>
          <p:nvPr/>
        </p:nvSpPr>
        <p:spPr>
          <a:xfrm>
            <a:off x="998982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24" name="TextBox 23"/>
          <p:cNvSpPr txBox="1"/>
          <p:nvPr/>
        </p:nvSpPr>
        <p:spPr>
          <a:xfrm>
            <a:off x="9806940" y="6701282"/>
            <a:ext cx="3177540" cy="1051560"/>
          </a:xfrm>
          <a:prstGeom prst="rect">
            <a:avLst/>
          </a:prstGeom>
          <a:noFill/>
        </p:spPr>
        <p:txBody>
          <a:bodyPr anchor="t" rtlCol="false" lIns="0" tIns="0" rIns="0" bIns="0" wrap="square"/>
          <a:lstStyle/>
          <a:p>
            <a:pPr algn="l">
              <a:lnSpc>
                <a:spcPts val="204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25" name="Rounded Rectangle 24"/>
          <p:cNvSpPr/>
          <p:nvPr/>
        </p:nvSpPr>
        <p:spPr>
          <a:xfrm>
            <a:off x="13533120" y="6198362"/>
            <a:ext cx="372618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26" name="Rounded Rectangle 25"/>
          <p:cNvSpPr/>
          <p:nvPr/>
        </p:nvSpPr>
        <p:spPr>
          <a:xfrm>
            <a:off x="1399032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27" name="TextBox 26"/>
          <p:cNvSpPr txBox="1"/>
          <p:nvPr/>
        </p:nvSpPr>
        <p:spPr>
          <a:xfrm>
            <a:off x="13807440" y="6701282"/>
            <a:ext cx="3177540" cy="1051560"/>
          </a:xfrm>
          <a:prstGeom prst="rect">
            <a:avLst/>
          </a:prstGeom>
          <a:noFill/>
        </p:spPr>
        <p:txBody>
          <a:bodyPr anchor="t" rtlCol="false" lIns="0" tIns="0" rIns="0" bIns="0" wrap="square"/>
          <a:lstStyle/>
          <a:p>
            <a:pPr algn="l">
              <a:lnSpc>
                <a:spcPts val="204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cos(f_user, f_item)</a:t>
            </a:r>
          </a:p>
        </p:txBody>
      </p:sp>
      <p:sp>
        <p:nvSpPr>
          <p:cNvPr id="28" name="Rounded Rectangle 27"/>
          <p:cNvSpPr/>
          <p:nvPr/>
        </p:nvSpPr>
        <p:spPr>
          <a:xfrm>
            <a:off x="9532620" y="8210042"/>
            <a:ext cx="7726680" cy="1098550"/>
          </a:xfrm>
          <a:prstGeom prst="roundRect">
            <a:avLst>
              <a:gd name="adj" fmla="val 20809"/>
            </a:avLst>
          </a:prstGeom>
          <a:solidFill>
            <a:srgbClr val="124944"/>
          </a:solidFill>
          <a:ln>
            <a:noFill/>
          </a:ln>
        </p:spPr>
        <p:txBody>
          <a:bodyPr anchor="ctr" rtlCol="false" lIns="320040" tIns="91440" rIns="320040" bIns="9144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Explainable because the factors are </a:t>
            </a:r>
            <a:r>
              <a:rPr lang="en-US" sz="1700" b="true">
                <a:solidFill>
                  <a:srgbClr val="FFFFFF"/>
                </a:solidFill>
                <a:latin typeface="Nunito Bold"/>
                <a:ea typeface="Nunito Bold"/>
                <a:cs typeface="Nunito Bold"/>
                <a:sym typeface="Nunito Bold"/>
              </a:rPr>
              <a:t>domain-level and modifiable</a:t>
            </a:r>
            <a:r>
              <a:rPr lang="en-US" sz="1700" b="true">
                <a:solidFill>
                  <a:srgbClr val="FFFFFF"/>
                </a:solidFill>
                <a:latin typeface="Nunito Semi-Bold"/>
                <a:ea typeface="Nunito Semi-Bold"/>
                <a:cs typeface="Nunito Semi-Bold"/>
                <a:sym typeface="Nunito Semi-Bold"/>
              </a:rPr>
              <a:t> — the property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8" name="Picture 7" descr="image.png"/>
          <p:cNvPicPr>
            <a:picLocks noChangeAspect="1"/>
          </p:cNvPicPr>
          <p:nvPr/>
        </p:nvPicPr>
        <p:blipFill>
          <a:blip r:embed="rId2"/>
          <a:stretch>
            <a:fillRect/>
          </a:stretch>
        </p:blipFill>
        <p:spPr>
          <a:xfrm>
            <a:off x="16315229" y="1673352"/>
            <a:ext cx="457200" cy="539881"/>
          </a:xfrm>
          <a:prstGeom prst="rect">
            <a:avLst/>
          </a:prstGeom>
        </p:spPr>
      </p:pic>
      <p:sp>
        <p:nvSpPr>
          <p:cNvPr id="9" name="Rounded Rectangle 8"/>
          <p:cNvSpPr/>
          <p:nvPr/>
        </p:nvSpPr>
        <p:spPr>
          <a:xfrm>
            <a:off x="1028700" y="2495550"/>
            <a:ext cx="171698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Paradigms</a:t>
            </a:r>
          </a:p>
        </p:txBody>
      </p:sp>
      <p:sp>
        <p:nvSpPr>
          <p:cNvPr id="10" name="Rounded Rectangle 9"/>
          <p:cNvSpPr/>
          <p:nvPr/>
        </p:nvSpPr>
        <p:spPr>
          <a:xfrm>
            <a:off x="2873698"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11" name="Rounded Rectangle 10"/>
          <p:cNvSpPr/>
          <p:nvPr/>
        </p:nvSpPr>
        <p:spPr>
          <a:xfrm>
            <a:off x="4872686"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Rounded Rectangle 11"/>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overwhelmingly empty — learning is starved of signal.</a:t>
            </a:r>
          </a:p>
        </p:txBody>
      </p:sp>
      <p:sp>
        <p:nvSpPr>
          <p:cNvPr id="13" name="Rounded Rectangle 12"/>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structurally disadvantaged: no history to learn from.</a:t>
            </a:r>
          </a:p>
        </p:txBody>
      </p:sp>
      <p:sp>
        <p:nvSpPr>
          <p:cNvPr id="14" name="Rounded Rectangle 13"/>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begets interaction, begets exposure — a filter-bubble loop.</a:t>
            </a:r>
          </a:p>
        </p:txBody>
      </p:sp>
      <p:sp>
        <p:nvSpPr>
          <p:cNvPr id="15" name="Rounded Rectangle 14"/>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fundamental limit — and the one this thesis targets.</a:t>
            </a:r>
          </a:p>
        </p:txBody>
      </p:sp>
      <p:sp>
        <p:nvSpPr>
          <p:cNvPr id="16" name="Rounded Rectangle 15"/>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18" name="TextBox 17"/>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61"/>
              </a:lnSpc>
              <a:spcBef>
                <a:spcPts val="0"/>
              </a:spcBef>
              <a:buClr>
                <a:srgbClr val="DF8330"/>
              </a:buClr>
              <a:buSzPct val="100000"/>
              <a:buFont typeface="Arial"/>
              <a:buChar char="•"/>
            </a:pPr>
            <a:r>
              <a:rPr lang="en-US" sz="1911" b="true">
                <a:solidFill>
                  <a:srgbClr val="111111"/>
                </a:solidFill>
                <a:latin typeface="Nunito Semi-Bold"/>
                <a:ea typeface="Nunito Semi-Bold"/>
                <a:cs typeface="Nunito Semi-Bold"/>
                <a:sym typeface="Nunito Semi-Bold"/>
              </a:rPr>
              <a:t>Methods favour </a:t>
            </a:r>
            <a:r>
              <a:rPr lang="en-US" sz="1911" b="true">
                <a:solidFill>
                  <a:srgbClr val="111111"/>
                </a:solidFill>
                <a:latin typeface="Nunito Bold"/>
                <a:ea typeface="Nunito Bold"/>
                <a:cs typeface="Nunito Bold"/>
                <a:sym typeface="Nunito Bold"/>
              </a:rPr>
              <a:t>local OR global</a:t>
            </a:r>
            <a:r>
              <a:rPr lang="en-US" sz="1911" b="true">
                <a:solidFill>
                  <a:srgbClr val="111111"/>
                </a:solidFill>
                <a:latin typeface="Nunito Semi-Bold"/>
                <a:ea typeface="Nunito Semi-Bold"/>
                <a:cs typeface="Nunito Semi-Bold"/>
                <a:sym typeface="Nunito Semi-Bold"/>
              </a:rPr>
              <a:t> explanation — not both.</a:t>
            </a:r>
          </a:p>
          <a:p>
            <a:pPr algn="l" marL="274320" indent="-274320">
              <a:lnSpc>
                <a:spcPts val="2561"/>
              </a:lnSpc>
              <a:spcBef>
                <a:spcPts val="728"/>
              </a:spcBef>
              <a:buClr>
                <a:srgbClr val="DF8330"/>
              </a:buClr>
              <a:buSzPct val="100000"/>
              <a:buFont typeface="Arial"/>
              <a:buChar char="•"/>
            </a:pPr>
            <a:r>
              <a:rPr lang="en-US" sz="1911" b="true">
                <a:solidFill>
                  <a:srgbClr val="111111"/>
                </a:solidFill>
                <a:latin typeface="Nunito Semi-Bold"/>
                <a:ea typeface="Nunito Semi-Bold"/>
                <a:cs typeface="Nunito Semi-Bold"/>
                <a:sym typeface="Nunito Semi-Bold"/>
              </a:rPr>
              <a:t>They </a:t>
            </a:r>
            <a:r>
              <a:rPr lang="en-US" sz="1911" b="true">
                <a:solidFill>
                  <a:srgbClr val="111111"/>
                </a:solidFill>
                <a:latin typeface="Nunito Bold"/>
                <a:ea typeface="Nunito Bold"/>
                <a:cs typeface="Nunito Bold"/>
                <a:sym typeface="Nunito Bold"/>
              </a:rPr>
              <a:t>struggle to scale</a:t>
            </a:r>
            <a:r>
              <a:rPr lang="en-US" sz="1911" b="true">
                <a:solidFill>
                  <a:srgbClr val="111111"/>
                </a:solidFill>
                <a:latin typeface="Nunito Semi-Bold"/>
                <a:ea typeface="Nunito Semi-Bold"/>
                <a:cs typeface="Nunito Semi-Bold"/>
                <a:sym typeface="Nunito Semi-Bold"/>
              </a:rPr>
              <a:t>, and explanations rarely stay </a:t>
            </a:r>
            <a:r>
              <a:rPr lang="en-US" sz="1911" b="true">
                <a:solidFill>
                  <a:srgbClr val="111111"/>
                </a:solidFill>
                <a:latin typeface="Nunito Bold"/>
                <a:ea typeface="Nunito Bold"/>
                <a:cs typeface="Nunito Bold"/>
                <a:sym typeface="Nunito Bold"/>
              </a:rPr>
              <a:t>coherent across resolutions</a:t>
            </a:r>
            <a:r>
              <a:rPr lang="en-US" sz="1911" b="true">
                <a:solidFill>
                  <a:srgbClr val="111111"/>
                </a:solidFill>
                <a:latin typeface="Nunito Semi-Bold"/>
                <a:ea typeface="Nunito Semi-Bold"/>
                <a:cs typeface="Nunito Semi-Bold"/>
                <a:sym typeface="Nunito Semi-Bold"/>
              </a:rPr>
              <a:t>.</a:t>
            </a:r>
          </a:p>
          <a:p>
            <a:pPr algn="l" marL="274320" indent="-274320">
              <a:lnSpc>
                <a:spcPts val="2561"/>
              </a:lnSpc>
              <a:spcBef>
                <a:spcPts val="728"/>
              </a:spcBef>
              <a:buClr>
                <a:srgbClr val="DF8330"/>
              </a:buClr>
              <a:buSzPct val="100000"/>
              <a:buFont typeface="Arial"/>
              <a:buChar char="•"/>
            </a:pPr>
            <a:r>
              <a:rPr lang="en-US" sz="1911" b="true">
                <a:solidFill>
                  <a:srgbClr val="111111"/>
                </a:solidFill>
                <a:latin typeface="Nunito Bold"/>
                <a:ea typeface="Nunito Bold"/>
                <a:cs typeface="Nunito Bold"/>
                <a:sym typeface="Nunito Bold"/>
              </a:rPr>
              <a:t>The gap:</a:t>
            </a:r>
            <a:r>
              <a:rPr lang="en-US" sz="1911" b="true">
                <a:solidFill>
                  <a:srgbClr val="111111"/>
                </a:solidFill>
                <a:latin typeface="Nunito Semi-Bold"/>
                <a:ea typeface="Nunito Semi-Bold"/>
                <a:cs typeface="Nunito Semi-Bold"/>
                <a:sym typeface="Nunito Semi-Bold"/>
              </a:rPr>
              <a:t> no faithful local + global explanation, poor scaling, and incoherence across levels — precisely what this thesis works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Structuring Limitations — Problem Statement</a:t>
            </a:r>
          </a:p>
        </p:txBody>
      </p:sp>
      <p:pic>
        <p:nvPicPr>
          <p:cNvPr id="8" name="Picture 7" descr="image.png"/>
          <p:cNvPicPr>
            <a:picLocks noChangeAspect="1"/>
          </p:cNvPicPr>
          <p:nvPr/>
        </p:nvPicPr>
        <p:blipFill>
          <a:blip r:embed="rId2"/>
          <a:stretch>
            <a:fillRect/>
          </a:stretch>
        </p:blipFill>
        <p:spPr>
          <a:xfrm>
            <a:off x="14665529" y="1673352"/>
            <a:ext cx="457200" cy="373212"/>
          </a:xfrm>
          <a:prstGeom prst="rect">
            <a:avLst/>
          </a:prstGeom>
        </p:spPr>
      </p:pic>
      <p:sp>
        <p:nvSpPr>
          <p:cNvPr id="9" name="Rounded Rectangle 8"/>
          <p:cNvSpPr/>
          <p:nvPr/>
        </p:nvSpPr>
        <p:spPr>
          <a:xfrm>
            <a:off x="1028700" y="2559050"/>
            <a:ext cx="171698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Paradigms</a:t>
            </a:r>
          </a:p>
        </p:txBody>
      </p:sp>
      <p:sp>
        <p:nvSpPr>
          <p:cNvPr id="10" name="Rounded Rectangle 9"/>
          <p:cNvSpPr/>
          <p:nvPr/>
        </p:nvSpPr>
        <p:spPr>
          <a:xfrm>
            <a:off x="2873698"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11" name="Rounded Rectangle 10"/>
          <p:cNvSpPr/>
          <p:nvPr/>
        </p:nvSpPr>
        <p:spPr>
          <a:xfrm>
            <a:off x="4872686"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Rounded Rectangle 11"/>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13" name="Oval 12"/>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14" name="TextBox 13"/>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584"/>
              </a:lnSpc>
              <a:spcBef>
                <a:spcPts val="800"/>
              </a:spcBef>
              <a:buNone/>
            </a:pPr>
            <a:r>
              <a:rPr lang="en-US" sz="1900" b="true">
                <a:solidFill>
                  <a:srgbClr val="F1EDE6"/>
                </a:solidFill>
                <a:latin typeface="Nunito Semi-Bold"/>
                <a:ea typeface="Nunito Semi-Bold"/>
                <a:cs typeface="Nunito Semi-Bold"/>
                <a:sym typeface="Nunito Semi-Bold"/>
              </a:rPr>
              <a:t>Complex models remain hard to interpret </a:t>
            </a:r>
            <a:r>
              <a:rPr lang="en-US" sz="1900" b="true">
                <a:solidFill>
                  <a:srgbClr val="F1EDE6"/>
                </a:solidFill>
                <a:latin typeface="Nunito Bold"/>
                <a:ea typeface="Nunito Bold"/>
                <a:cs typeface="Nunito Bold"/>
                <a:sym typeface="Nunito Bold"/>
              </a:rPr>
              <a:t>faithfully and actionably</a:t>
            </a:r>
            <a:r>
              <a:rPr lang="en-US" sz="1900" b="true">
                <a:solidFill>
                  <a:srgbClr val="F1EDE6"/>
                </a:solidFill>
                <a:latin typeface="Nunito Semi-Bold"/>
                <a:ea typeface="Nunito Semi-Bold"/>
                <a:cs typeface="Nunito Semi-Bold"/>
                <a:sym typeface="Nunito Semi-Bold"/>
              </a:rPr>
              <a:t>.</a:t>
            </a:r>
          </a:p>
        </p:txBody>
      </p:sp>
      <p:sp>
        <p:nvSpPr>
          <p:cNvPr id="15" name="Rounded Rectangle 14"/>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16" name="Oval 15"/>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17" name="TextBox 16"/>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429"/>
              </a:lnSpc>
              <a:spcBef>
                <a:spcPts val="752"/>
              </a:spcBef>
              <a:buNone/>
            </a:pPr>
            <a:r>
              <a:rPr lang="en-US" sz="1786" b="true">
                <a:solidFill>
                  <a:srgbClr val="F1EDE6"/>
                </a:solidFill>
                <a:latin typeface="Nunito Semi-Bold"/>
                <a:ea typeface="Nunito Semi-Bold"/>
                <a:cs typeface="Nunito Semi-Bold"/>
                <a:sym typeface="Nunito Semi-Bold"/>
              </a:rPr>
              <a:t>Local explanations do not transfer naturally to </a:t>
            </a:r>
            <a:r>
              <a:rPr lang="en-US" sz="1786" b="true">
                <a:solidFill>
                  <a:srgbClr val="F1EDE6"/>
                </a:solidFill>
                <a:latin typeface="Nunito Bold"/>
                <a:ea typeface="Nunito Bold"/>
                <a:cs typeface="Nunito Bold"/>
                <a:sym typeface="Nunito Bold"/>
              </a:rPr>
              <a:t>hierarchical structures or large datasets</a:t>
            </a:r>
            <a:r>
              <a:rPr lang="en-US" sz="1786" b="true">
                <a:solidFill>
                  <a:srgbClr val="F1EDE6"/>
                </a:solidFill>
                <a:latin typeface="Nunito Semi-Bold"/>
                <a:ea typeface="Nunito Semi-Bold"/>
                <a:cs typeface="Nunito Semi-Bold"/>
                <a:sym typeface="Nunito Semi-Bold"/>
              </a:rPr>
              <a:t> — a method that works on a toy partition may collapse on hundreds of thousands of nested records.</a:t>
            </a:r>
          </a:p>
        </p:txBody>
      </p:sp>
      <p:sp>
        <p:nvSpPr>
          <p:cNvPr id="18" name="Rounded Rectangle 17"/>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19" name="Oval 18"/>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20" name="TextBox 19"/>
          <p:cNvSpPr txBox="1"/>
          <p:nvPr/>
        </p:nvSpPr>
        <p:spPr>
          <a:xfrm>
            <a:off x="1238250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Weak integration into learning</a:t>
            </a:r>
          </a:p>
          <a:p>
            <a:pPr algn="l">
              <a:lnSpc>
                <a:spcPts val="2584"/>
              </a:lnSpc>
              <a:spcBef>
                <a:spcPts val="800"/>
              </a:spcBef>
              <a:buNone/>
            </a:pPr>
            <a:r>
              <a:rPr lang="en-US" sz="1900" b="true">
                <a:solidFill>
                  <a:srgbClr val="F1EDE6"/>
                </a:solidFill>
                <a:latin typeface="Nunito Semi-Bold"/>
                <a:ea typeface="Nunito Semi-Bold"/>
                <a:cs typeface="Nunito Semi-Bold"/>
                <a:sym typeface="Nunito Semi-Bold"/>
              </a:rPr>
              <a:t>Most explanations stay </a:t>
            </a:r>
            <a:r>
              <a:rPr lang="en-US" sz="1900" b="true">
                <a:solidFill>
                  <a:srgbClr val="F1EDE6"/>
                </a:solidFill>
                <a:latin typeface="Nunito Bold"/>
                <a:ea typeface="Nunito Bold"/>
                <a:cs typeface="Nunito Bold"/>
                <a:sym typeface="Nunito Bold"/>
              </a:rPr>
              <a:t>post-hoc</a:t>
            </a:r>
            <a:r>
              <a:rPr lang="en-US" sz="1900" b="true">
                <a:solidFill>
                  <a:srgbClr val="F1EDE6"/>
                </a:solidFill>
                <a:latin typeface="Nunito Semi-Bold"/>
                <a:ea typeface="Nunito Semi-Bold"/>
                <a:cs typeface="Nunito Semi-Bold"/>
                <a:sym typeface="Nunito Semi-Bold"/>
              </a:rPr>
              <a:t>: they do not shape model dynamics or the </a:t>
            </a:r>
            <a:r>
              <a:rPr lang="en-US" sz="1900" b="true">
                <a:solidFill>
                  <a:srgbClr val="F1EDE6"/>
                </a:solidFill>
                <a:latin typeface="Nunito Bold"/>
                <a:ea typeface="Nunito Bold"/>
                <a:cs typeface="Nunito Bold"/>
                <a:sym typeface="Nunito Bold"/>
              </a:rPr>
              <a:t>accuracy–diversity–context trade-off</a:t>
            </a:r>
            <a:r>
              <a:rPr lang="en-US" sz="1900" b="true">
                <a:solidFill>
                  <a:srgbClr val="F1EDE6"/>
                </a:solidFill>
                <a:latin typeface="Nunito Semi-Bold"/>
                <a:ea typeface="Nunito Semi-Bold"/>
                <a:cs typeface="Nunito Semi-Bold"/>
                <a:sym typeface="Nunito Semi-Bold"/>
              </a:rPr>
              <a:t>.</a:t>
            </a:r>
          </a:p>
        </p:txBody>
      </p:sp>
      <p:sp>
        <p:nvSpPr>
          <p:cNvPr id="21" name="Rounded Rectangle 20"/>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22" name="TextBox 21"/>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856"/>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a single cooperative-attribution framework</a:t>
            </a:r>
            <a:r>
              <a:rPr lang="en-US" sz="2100" b="true">
                <a:solidFill>
                  <a:srgbClr val="111111"/>
                </a:solidFill>
                <a:latin typeface="Nunito Semi-Bold"/>
                <a:ea typeface="Nunito Semi-Bold"/>
                <a:cs typeface="Nunito Semi-Bold"/>
                <a:sym typeface="Nunito Semi-Bold"/>
              </a:rPr>
              <a:t> that explains clustering faithfully, stays coherent under hierarchy, and then operates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single framework.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8" name="Picture 7" descr="image.png"/>
          <p:cNvPicPr>
            <a:picLocks noChangeAspect="1"/>
          </p:cNvPicPr>
          <p:nvPr/>
        </p:nvPicPr>
        <p:blipFill>
          <a:blip r:embed="rId2"/>
          <a:stretch>
            <a:fillRect/>
          </a:stretch>
        </p:blipFill>
        <p:spPr>
          <a:xfrm>
            <a:off x="13647239" y="1673352"/>
            <a:ext cx="457200" cy="427074"/>
          </a:xfrm>
          <a:prstGeom prst="rect">
            <a:avLst/>
          </a:prstGeom>
        </p:spPr>
      </p:pic>
      <p:sp>
        <p:nvSpPr>
          <p:cNvPr id="9" name="Rounded Rectangle 8"/>
          <p:cNvSpPr/>
          <p:nvPr/>
        </p:nvSpPr>
        <p:spPr>
          <a:xfrm>
            <a:off x="1028700" y="2559050"/>
            <a:ext cx="171698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Paradigms</a:t>
            </a:r>
          </a:p>
        </p:txBody>
      </p:sp>
      <p:sp>
        <p:nvSpPr>
          <p:cNvPr id="10" name="Rounded Rectangle 9"/>
          <p:cNvSpPr/>
          <p:nvPr/>
        </p:nvSpPr>
        <p:spPr>
          <a:xfrm>
            <a:off x="2873698"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11" name="Rounded Rectangle 10"/>
          <p:cNvSpPr/>
          <p:nvPr/>
        </p:nvSpPr>
        <p:spPr>
          <a:xfrm>
            <a:off x="4872686"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12" name="Rounded Rectangle 11"/>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 develop, justify and evaluate a cooperative-game-theoretic perspective for XAI in clustering and recommendation, using Shapley attribution as both an </a:t>
            </a:r>
            <a:r>
              <a:rPr lang="en-US" sz="2000" b="true">
                <a:solidFill>
                  <a:srgbClr val="FFFFFF"/>
                </a:solidFill>
                <a:latin typeface="Nunito Bold"/>
                <a:ea typeface="Nunito Bold"/>
                <a:cs typeface="Nunito Bold"/>
                <a:sym typeface="Nunito Bold"/>
              </a:rPr>
              <a:t>explanatory mechanism</a:t>
            </a:r>
            <a:r>
              <a:rPr lang="en-US" sz="2000" b="true">
                <a:solidFill>
                  <a:srgbClr val="FFFFFF"/>
                </a:solidFill>
                <a:latin typeface="Nunito Semi-Bold"/>
                <a:ea typeface="Nunito Semi-Bold"/>
                <a:cs typeface="Nunito Semi-Bold"/>
                <a:sym typeface="Nunito Semi-Bold"/>
              </a:rPr>
              <a:t> and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13" name="Rounded Rectangle 12"/>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14" name="Rounded Rectangle 13"/>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15" name="TextBox 14"/>
          <p:cNvSpPr txBox="1"/>
          <p:nvPr/>
        </p:nvSpPr>
        <p:spPr>
          <a:xfrm>
            <a:off x="2583180" y="4461002"/>
            <a:ext cx="12573000" cy="876249"/>
          </a:xfrm>
          <a:prstGeom prst="rect">
            <a:avLst/>
          </a:prstGeom>
          <a:noFill/>
        </p:spPr>
        <p:txBody>
          <a:bodyPr anchor="ctr" rtlCol="false" lIns="0" tIns="0" rIns="0" bIns="0" wrap="square"/>
          <a:lstStyle/>
          <a:p>
            <a:pPr algn="l">
              <a:lnSpc>
                <a:spcPts val="272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16" name="Rounded Rectangle 15"/>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17" name="Rounded Rectangle 16"/>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18" name="Rounded Rectangle 17"/>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19" name="TextBox 18"/>
          <p:cNvSpPr txBox="1"/>
          <p:nvPr/>
        </p:nvSpPr>
        <p:spPr>
          <a:xfrm>
            <a:off x="2583180" y="5465267"/>
            <a:ext cx="12573000" cy="876249"/>
          </a:xfrm>
          <a:prstGeom prst="rect">
            <a:avLst/>
          </a:prstGeom>
          <a:noFill/>
        </p:spPr>
        <p:txBody>
          <a:bodyPr anchor="ctr" rtlCol="false" lIns="0" tIns="0" rIns="0" bIns="0" wrap="square"/>
          <a:lstStyle/>
          <a:p>
            <a:pPr algn="l">
              <a:lnSpc>
                <a:spcPts val="272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hierarchical clustering</a:t>
            </a:r>
            <a:r>
              <a:rPr lang="en-US" sz="2000" b="true">
                <a:solidFill>
                  <a:srgbClr val="111111"/>
                </a:solidFill>
                <a:latin typeface="Nunito Semi-Bold"/>
                <a:ea typeface="Nunito Semi-Bold"/>
                <a:cs typeface="Nunito Semi-Bold"/>
                <a:sym typeface="Nunito Semi-Bold"/>
              </a:rPr>
              <a:t> without losing tractability or consistency?</a:t>
            </a:r>
          </a:p>
        </p:txBody>
      </p:sp>
      <p:sp>
        <p:nvSpPr>
          <p:cNvPr id="20" name="Rounded Rectangle 19"/>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21" name="Rounded Rectangle 20"/>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23" name="TextBox 22"/>
          <p:cNvSpPr txBox="1"/>
          <p:nvPr/>
        </p:nvSpPr>
        <p:spPr>
          <a:xfrm>
            <a:off x="2583180" y="6469532"/>
            <a:ext cx="12573000" cy="876249"/>
          </a:xfrm>
          <a:prstGeom prst="rect">
            <a:avLst/>
          </a:prstGeom>
          <a:noFill/>
        </p:spPr>
        <p:txBody>
          <a:bodyPr anchor="ctr" rtlCol="false" lIns="0" tIns="0" rIns="0" bIns="0" wrap="square"/>
          <a:lstStyle/>
          <a:p>
            <a:pPr algn="l">
              <a:lnSpc>
                <a:spcPts val="272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enter the learning dynamics of graph recommenders?</a:t>
            </a:r>
          </a:p>
        </p:txBody>
      </p:sp>
      <p:sp>
        <p:nvSpPr>
          <p:cNvPr id="24" name="Rounded Rectangle 23"/>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25" name="Rounded Rectangle 24"/>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26" name="Rounded Rectangle 25"/>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27" name="TextBox 26"/>
          <p:cNvSpPr txBox="1"/>
          <p:nvPr/>
        </p:nvSpPr>
        <p:spPr>
          <a:xfrm>
            <a:off x="2583180" y="7473797"/>
            <a:ext cx="12573000" cy="876249"/>
          </a:xfrm>
          <a:prstGeom prst="rect">
            <a:avLst/>
          </a:prstGeom>
          <a:noFill/>
        </p:spPr>
        <p:txBody>
          <a:bodyPr anchor="ctr" rtlCol="false" lIns="0" tIns="0" rIns="0" bIns="0" wrap="square"/>
          <a:lstStyle/>
          <a:p>
            <a:pPr algn="l">
              <a:lnSpc>
                <a:spcPts val="272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jointly optimise ranking accuracy, context and diversity</a:t>
            </a:r>
            <a:r>
              <a:rPr lang="en-US" sz="2000" b="true">
                <a:solidFill>
                  <a:srgbClr val="111111"/>
                </a:solidFill>
                <a:latin typeface="Nunito Semi-Bold"/>
                <a:ea typeface="Nunito Semi-Bold"/>
                <a:cs typeface="Nunito Semi-Bold"/>
                <a:sym typeface="Nunito Semi-Bold"/>
              </a:rPr>
              <a:t> when importance is estimated by a cooperative-game utility?</a:t>
            </a:r>
          </a:p>
        </p:txBody>
      </p:sp>
      <p:sp>
        <p:nvSpPr>
          <p:cNvPr id="28" name="Rounded Rectangle 27"/>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29" name="Rounded Rectangle 28"/>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0" name="Rounded Rectangle 29"/>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31" name="TextBox 30"/>
          <p:cNvSpPr txBox="1"/>
          <p:nvPr/>
        </p:nvSpPr>
        <p:spPr>
          <a:xfrm>
            <a:off x="2583180" y="8478062"/>
            <a:ext cx="12573000" cy="876249"/>
          </a:xfrm>
          <a:prstGeom prst="rect">
            <a:avLst/>
          </a:prstGeom>
          <a:noFill/>
        </p:spPr>
        <p:txBody>
          <a:bodyPr anchor="ctr" rtlCol="false" lIns="0" tIns="0" rIns="0" bIns="0" wrap="square"/>
          <a:lstStyle/>
          <a:p>
            <a:pPr algn="l">
              <a:lnSpc>
                <a:spcPts val="2720"/>
              </a:lnSpc>
              <a:spcBef>
                <a:spcPts val="0"/>
              </a:spcBef>
              <a:buNone/>
            </a:pPr>
            <a:r>
              <a:rPr lang="en-US" sz="2000" b="true">
                <a:solidFill>
                  <a:srgbClr val="111111"/>
                </a:solidFill>
                <a:latin typeface="Nunito Semi-Bold"/>
                <a:ea typeface="Nunito Semi-Bold"/>
                <a:cs typeface="Nunito Semi-Bold"/>
                <a:sym typeface="Nunito Semi-Bold"/>
              </a:rPr>
              <a:t>What emerges when clustering explanation and recommendation learning are </a:t>
            </a:r>
            <a:r>
              <a:rPr lang="en-US" sz="2000" b="true">
                <a:solidFill>
                  <a:srgbClr val="111111"/>
                </a:solidFill>
                <a:latin typeface="Nunito Bold"/>
                <a:ea typeface="Nunito Bold"/>
                <a:cs typeface="Nunito Bold"/>
                <a:sym typeface="Nunito Bold"/>
              </a:rPr>
              <a:t>two stages of one cooperative-game perspective</a:t>
            </a:r>
            <a:r>
              <a:rPr lang="en-US" sz="2000" b="true">
                <a:solidFill>
                  <a:srgbClr val="111111"/>
                </a:solidFill>
                <a:latin typeface="Nunito Semi-Bold"/>
                <a:ea typeface="Nunito Semi-Bold"/>
                <a:cs typeface="Nunito Semi-Bold"/>
                <a:sym typeface="Nunito Semi-Bold"/>
              </a:rPr>
              <a:t>?</a:t>
            </a:r>
          </a:p>
        </p:txBody>
      </p:sp>
      <p:sp>
        <p:nvSpPr>
          <p:cNvPr id="32" name="Rounded Rectangle 31"/>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8" name="Picture 7" descr="image.png"/>
          <p:cNvPicPr>
            <a:picLocks noChangeAspect="1"/>
          </p:cNvPicPr>
          <p:nvPr/>
        </p:nvPicPr>
        <p:blipFill>
          <a:blip r:embed="rId2"/>
          <a:stretch>
            <a:fillRect/>
          </a:stretch>
        </p:blipFill>
        <p:spPr>
          <a:xfrm>
            <a:off x="7638654" y="1673352"/>
            <a:ext cx="457200" cy="399005"/>
          </a:xfrm>
          <a:prstGeom prst="rect">
            <a:avLst/>
          </a:prstGeom>
        </p:spPr>
      </p:pic>
      <p:sp>
        <p:nvSpPr>
          <p:cNvPr id="9" name="Rounded Rectangle 8"/>
          <p:cNvSpPr/>
          <p:nvPr/>
        </p:nvSpPr>
        <p:spPr>
          <a:xfrm>
            <a:off x="1028700" y="2559050"/>
            <a:ext cx="171698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Paradigms</a:t>
            </a:r>
          </a:p>
        </p:txBody>
      </p:sp>
      <p:sp>
        <p:nvSpPr>
          <p:cNvPr id="10" name="Rounded Rectangle 9"/>
          <p:cNvSpPr/>
          <p:nvPr/>
        </p:nvSpPr>
        <p:spPr>
          <a:xfrm>
            <a:off x="2873698"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11" name="Rounded Rectangle 10"/>
          <p:cNvSpPr/>
          <p:nvPr/>
        </p:nvSpPr>
        <p:spPr>
          <a:xfrm>
            <a:off x="4872686"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12" name="Rounded Rectangle 11"/>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13" name="TextBox 12"/>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14" name="Rounded Rectangle 13"/>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15" name="TextBox 14"/>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448"/>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448"/>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16" name="Rounded Rectangle 15"/>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17" name="TextBox 16"/>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18" name="Rounded Rectangle 17"/>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19" name="TextBox 18"/>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448"/>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448"/>
              </a:lnSpc>
              <a:spcBef>
                <a:spcPts val="400"/>
              </a:spcBef>
              <a:buNone/>
            </a:pPr>
            <a:r>
              <a:rPr lang="en-US" sz="1800" b="true">
                <a:solidFill>
                  <a:srgbClr val="FFFFFF"/>
                </a:solidFill>
                <a:latin typeface="Nunito Semi-Bold"/>
                <a:ea typeface="Nunito Semi-Bold"/>
                <a:cs typeface="Nunito Semi-Bold"/>
                <a:sym typeface="Nunito Semi-Bold"/>
              </a:rPr>
              <a:t>Hierarchical attribution consistency under scale.</a:t>
            </a:r>
          </a:p>
        </p:txBody>
      </p:sp>
      <p:sp>
        <p:nvSpPr>
          <p:cNvPr id="20" name="Rounded Rectangle 19"/>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21" name="TextBox 20"/>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22" name="Rounded Rectangle 21"/>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23" name="TextBox 22"/>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448"/>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448"/>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24" name="Rounded Rectangle 23"/>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functions as a </a:t>
            </a:r>
            <a:r>
              <a:rPr lang="en-US" sz="2100" b="true">
                <a:solidFill>
                  <a:srgbClr val="111111"/>
                </a:solidFill>
                <a:latin typeface="Nunito Bold"/>
                <a:ea typeface="Nunito Bold"/>
                <a:cs typeface="Nunito Bold"/>
                <a:sym typeface="Nunito Bold"/>
              </a:rPr>
              <a:t>shared attribution perspective</a:t>
            </a:r>
            <a:r>
              <a:rPr lang="en-US" sz="2100" b="true">
                <a:solidFill>
                  <a:srgbClr val="111111"/>
                </a:solidFill>
                <a:latin typeface="Nunito Semi-Bold"/>
                <a:ea typeface="Nunito Semi-Bold"/>
                <a:cs typeface="Nunito Semi-Bold"/>
                <a:sym typeface="Nunito Semi-Bold"/>
              </a:rPr>
              <a:t> for explanation, optimisation and intervention — three cumulative steps, not three unrelated papers.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Our Thesis in One View</a:t>
            </a:r>
          </a:p>
        </p:txBody>
      </p:sp>
      <p:pic>
        <p:nvPicPr>
          <p:cNvPr id="8" name="Picture 7" descr="image.png"/>
          <p:cNvPicPr>
            <a:picLocks noChangeAspect="1"/>
          </p:cNvPicPr>
          <p:nvPr/>
        </p:nvPicPr>
        <p:blipFill>
          <a:blip r:embed="rId2"/>
          <a:stretch>
            <a:fillRect/>
          </a:stretch>
        </p:blipFill>
        <p:spPr>
          <a:xfrm>
            <a:off x="7298405" y="1673352"/>
            <a:ext cx="457200" cy="446713"/>
          </a:xfrm>
          <a:prstGeom prst="rect">
            <a:avLst/>
          </a:prstGeom>
        </p:spPr>
      </p:pic>
      <p:sp>
        <p:nvSpPr>
          <p:cNvPr id="9" name="Rounded Rectangle 8"/>
          <p:cNvSpPr/>
          <p:nvPr/>
        </p:nvSpPr>
        <p:spPr>
          <a:xfrm>
            <a:off x="1028700" y="2559050"/>
            <a:ext cx="171698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Paradigms</a:t>
            </a:r>
          </a:p>
        </p:txBody>
      </p:sp>
      <p:sp>
        <p:nvSpPr>
          <p:cNvPr id="10" name="Rounded Rectangle 9"/>
          <p:cNvSpPr/>
          <p:nvPr/>
        </p:nvSpPr>
        <p:spPr>
          <a:xfrm>
            <a:off x="2873698"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11" name="Rounded Rectangle 10"/>
          <p:cNvSpPr/>
          <p:nvPr/>
        </p:nvSpPr>
        <p:spPr>
          <a:xfrm>
            <a:off x="4872686"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12" name="TextBox 11"/>
          <p:cNvSpPr txBox="1"/>
          <p:nvPr/>
        </p:nvSpPr>
        <p:spPr>
          <a:xfrm>
            <a:off x="1028700" y="3363722"/>
            <a:ext cx="69494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Thesis</a:t>
            </a:r>
          </a:p>
          <a:p>
            <a:pPr algn="l">
              <a:lnSpc>
                <a:spcPts val="2856"/>
              </a:lnSpc>
              <a:spcBef>
                <a:spcPts val="600"/>
              </a:spcBef>
              <a:buNone/>
            </a:pPr>
            <a:r>
              <a:rPr lang="en-US" sz="2100" b="true">
                <a:solidFill>
                  <a:srgbClr val="111111"/>
                </a:solidFill>
                <a:latin typeface="Nunito Semi-Bold"/>
                <a:ea typeface="Nunito Semi-Bold"/>
                <a:cs typeface="Nunito Semi-Bold"/>
                <a:sym typeface="Nunito Semi-Bold"/>
              </a:rPr>
              <a:t>Cooperative game theory (Shapley) is </a:t>
            </a:r>
            <a:r>
              <a:rPr lang="en-US" sz="2100" b="true">
                <a:solidFill>
                  <a:srgbClr val="111111"/>
                </a:solidFill>
                <a:latin typeface="Nunito Bold"/>
                <a:ea typeface="Nunito Bold"/>
                <a:cs typeface="Nunito Bold"/>
                <a:sym typeface="Nunito Bold"/>
              </a:rPr>
              <a:t>one shared, explainable attribution perspective</a:t>
            </a:r>
            <a:r>
              <a:rPr lang="en-US" sz="2100" b="true">
                <a:solidFill>
                  <a:srgbClr val="111111"/>
                </a:solidFill>
                <a:latin typeface="Nunito Semi-Bold"/>
                <a:ea typeface="Nunito Semi-Bold"/>
                <a:cs typeface="Nunito Semi-Bold"/>
                <a:sym typeface="Nunito Semi-Bold"/>
              </a:rPr>
              <a:t>.</a:t>
            </a:r>
          </a:p>
          <a:p>
            <a:pPr algn="l">
              <a:lnSpc>
                <a:spcPts val="2750"/>
              </a:lnSpc>
              <a:spcBef>
                <a:spcPts val="1800"/>
              </a:spcBef>
              <a:buNone/>
            </a:pPr>
            <a:r>
              <a:rPr lang="en-US" sz="2200" b="true">
                <a:solidFill>
                  <a:srgbClr val="124944"/>
                </a:solidFill>
                <a:latin typeface="Nunito Ultra-Bold"/>
                <a:ea typeface="Nunito Ultra-Bold"/>
                <a:cs typeface="Nunito Ultra-Bold"/>
                <a:sym typeface="Nunito Ultra-Bold"/>
              </a:rPr>
              <a:t>The same logic spans clustering and recommendation</a:t>
            </a:r>
          </a:p>
          <a:p>
            <a:pPr algn="l" marL="274320" indent="-274320">
              <a:lnSpc>
                <a:spcPts val="268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C1</a:t>
            </a:r>
            <a:r>
              <a:rPr lang="en-US" sz="2000" b="true">
                <a:solidFill>
                  <a:srgbClr val="111111"/>
                </a:solidFill>
                <a:latin typeface="Nunito Semi-Bold"/>
                <a:ea typeface="Nunito Semi-Bold"/>
                <a:cs typeface="Nunito Semi-Bold"/>
                <a:sym typeface="Nunito Semi-Bold"/>
              </a:rPr>
              <a:t> – explains black-box clustering faithfully (wine).</a:t>
            </a:r>
          </a:p>
          <a:p>
            <a:pPr algn="l" marL="274320" indent="-274320">
              <a:lnSpc>
                <a:spcPts val="2680"/>
              </a:lnSpc>
              <a:spcBef>
                <a:spcPts val="6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C2</a:t>
            </a:r>
            <a:r>
              <a:rPr lang="en-US" sz="2000" b="true">
                <a:solidFill>
                  <a:srgbClr val="111111"/>
                </a:solidFill>
                <a:latin typeface="Nunito Semi-Bold"/>
                <a:ea typeface="Nunito Semi-Bold"/>
                <a:cs typeface="Nunito Semi-Bold"/>
                <a:sym typeface="Nunito Semi-Bold"/>
              </a:rPr>
              <a:t> – keeps explanation coherent under scale and hierarchy (Beijing).</a:t>
            </a:r>
          </a:p>
          <a:p>
            <a:pPr algn="l" marL="274320" indent="-274320">
              <a:lnSpc>
                <a:spcPts val="2680"/>
              </a:lnSpc>
              <a:spcBef>
                <a:spcPts val="6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C3</a:t>
            </a:r>
            <a:r>
              <a:rPr lang="en-US" sz="2000" b="true">
                <a:solidFill>
                  <a:srgbClr val="111111"/>
                </a:solidFill>
                <a:latin typeface="Nunito Semi-Bold"/>
                <a:ea typeface="Nunito Semi-Bold"/>
                <a:cs typeface="Nunito Semi-Bold"/>
                <a:sym typeface="Nunito Semi-Bold"/>
              </a:rPr>
              <a:t> – DyHuCoG turns attribution into an </a:t>
            </a:r>
            <a:r>
              <a:rPr lang="en-US" sz="2000" b="true">
                <a:solidFill>
                  <a:srgbClr val="111111"/>
                </a:solidFill>
                <a:latin typeface="Nunito Bold"/>
                <a:ea typeface="Nunito Bold"/>
                <a:cs typeface="Nunito Bold"/>
                <a:sym typeface="Nunito Bold"/>
              </a:rPr>
              <a:t>in-training signal</a:t>
            </a:r>
            <a:r>
              <a:rPr lang="en-US" sz="2000" b="true">
                <a:solidFill>
                  <a:srgbClr val="111111"/>
                </a:solidFill>
                <a:latin typeface="Nunito Semi-Bold"/>
                <a:ea typeface="Nunito Semi-Bold"/>
                <a:cs typeface="Nunito Semi-Bold"/>
                <a:sym typeface="Nunito Semi-Bold"/>
              </a:rPr>
              <a:t>.</a:t>
            </a:r>
          </a:p>
          <a:p>
            <a:pPr algn="l">
              <a:lnSpc>
                <a:spcPts val="2992"/>
              </a:lnSpc>
              <a:spcBef>
                <a:spcPts val="1800"/>
              </a:spcBef>
              <a:buNone/>
            </a:pPr>
            <a:r>
              <a:rPr lang="en-US" sz="2200" b="true">
                <a:solidFill>
                  <a:srgbClr val="DF8330"/>
                </a:solidFill>
                <a:latin typeface="Nunito Bold"/>
                <a:ea typeface="Nunito Bold"/>
                <a:cs typeface="Nunito Bold"/>
                <a:sym typeface="Nunito Bold"/>
              </a:rPr>
              <a:t>From post-hoc description to in-training guidance.</a:t>
            </a:r>
          </a:p>
        </p:txBody>
      </p:sp>
      <p:sp>
        <p:nvSpPr>
          <p:cNvPr id="13" name="Rounded Rectangle 12"/>
          <p:cNvSpPr/>
          <p:nvPr/>
        </p:nvSpPr>
        <p:spPr>
          <a:xfrm>
            <a:off x="9914382" y="3409442"/>
            <a:ext cx="6048756" cy="914400"/>
          </a:xfrm>
          <a:prstGeom prst="roundRect">
            <a:avLst>
              <a:gd name="adj" fmla="val 20000"/>
            </a:avLst>
          </a:prstGeom>
          <a:solidFill>
            <a:srgbClr val="124944"/>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Everyday AI recommenders are powerful but opaque</a:t>
            </a:r>
          </a:p>
        </p:txBody>
      </p:sp>
      <p:sp>
        <p:nvSpPr>
          <p:cNvPr id="14" name="Rounded Rectangle 13"/>
          <p:cNvSpPr/>
          <p:nvPr/>
        </p:nvSpPr>
        <p:spPr>
          <a:xfrm>
            <a:off x="9309506" y="4872482"/>
            <a:ext cx="7258507" cy="1097280"/>
          </a:xfrm>
          <a:prstGeom prst="roundRect">
            <a:avLst>
              <a:gd name="adj" fmla="val 16666"/>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Our thesis: cooperative game theory (Shapley) as a shared, explainable attribution perspective</a:t>
            </a:r>
          </a:p>
        </p:txBody>
      </p:sp>
      <p:cxnSp>
        <p:nvCxnSpPr>
          <p:cNvPr id="15" name="Connector 14"/>
          <p:cNvCxnSpPr/>
          <p:nvPr/>
        </p:nvCxnSpPr>
        <p:spPr>
          <a:xfrm>
            <a:off x="12938760" y="4351274"/>
            <a:ext cx="0" cy="475488"/>
          </a:xfrm>
          <a:prstGeom prst="line">
            <a:avLst/>
          </a:prstGeom>
          <a:ln w="31750">
            <a:solidFill>
              <a:srgbClr val="124944"/>
            </a:solidFill>
            <a:tailEnd type="triangle" w="med" len="med"/>
          </a:ln>
        </p:spPr>
      </p:cxnSp>
      <p:sp>
        <p:nvSpPr>
          <p:cNvPr id="16" name="Rounded Rectangle 15"/>
          <p:cNvSpPr/>
          <p:nvPr/>
        </p:nvSpPr>
        <p:spPr>
          <a:xfrm>
            <a:off x="8618220" y="6792722"/>
            <a:ext cx="2697480" cy="1554480"/>
          </a:xfrm>
          <a:prstGeom prst="roundRect">
            <a:avLst>
              <a:gd name="adj" fmla="val 11764"/>
            </a:avLst>
          </a:prstGeom>
          <a:solidFill>
            <a:srgbClr val="124944"/>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C1</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Explainable clustering</a:t>
            </a:r>
          </a:p>
        </p:txBody>
      </p:sp>
      <p:cxnSp>
        <p:nvCxnSpPr>
          <p:cNvPr id="17" name="Connector 16"/>
          <p:cNvCxnSpPr/>
          <p:nvPr/>
        </p:nvCxnSpPr>
        <p:spPr>
          <a:xfrm flipH="1">
            <a:off x="9966960" y="6015482"/>
            <a:ext cx="2971800" cy="731520"/>
          </a:xfrm>
          <a:prstGeom prst="line">
            <a:avLst/>
          </a:prstGeom>
          <a:ln w="25400">
            <a:solidFill>
              <a:srgbClr val="124944"/>
            </a:solidFill>
            <a:tailEnd type="triangle" w="med" len="med"/>
          </a:ln>
        </p:spPr>
      </p:cxnSp>
      <p:sp>
        <p:nvSpPr>
          <p:cNvPr id="18" name="Rounded Rectangle 17"/>
          <p:cNvSpPr/>
          <p:nvPr/>
        </p:nvSpPr>
        <p:spPr>
          <a:xfrm>
            <a:off x="11590020" y="6792722"/>
            <a:ext cx="2697480" cy="1554480"/>
          </a:xfrm>
          <a:prstGeom prst="roundRect">
            <a:avLst>
              <a:gd name="adj" fmla="val 11764"/>
            </a:avLst>
          </a:prstGeom>
          <a:solidFill>
            <a:srgbClr val="1E5F58"/>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C2</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Multi-level XAI</a:t>
            </a:r>
          </a:p>
        </p:txBody>
      </p:sp>
      <p:cxnSp>
        <p:nvCxnSpPr>
          <p:cNvPr id="19" name="Connector 18"/>
          <p:cNvCxnSpPr/>
          <p:nvPr/>
        </p:nvCxnSpPr>
        <p:spPr>
          <a:xfrm>
            <a:off x="12938760" y="6015482"/>
            <a:ext cx="0" cy="731520"/>
          </a:xfrm>
          <a:prstGeom prst="line">
            <a:avLst/>
          </a:prstGeom>
          <a:ln w="25400">
            <a:solidFill>
              <a:srgbClr val="124944"/>
            </a:solidFill>
            <a:tailEnd type="triangle" w="med" len="med"/>
          </a:ln>
        </p:spPr>
      </p:cxnSp>
      <p:sp>
        <p:nvSpPr>
          <p:cNvPr id="20" name="Rounded Rectangle 19"/>
          <p:cNvSpPr/>
          <p:nvPr/>
        </p:nvSpPr>
        <p:spPr>
          <a:xfrm>
            <a:off x="14561820" y="6792722"/>
            <a:ext cx="2697480" cy="1554480"/>
          </a:xfrm>
          <a:prstGeom prst="roundRect">
            <a:avLst>
              <a:gd name="adj" fmla="val 11764"/>
            </a:avLst>
          </a:prstGeom>
          <a:solidFill>
            <a:srgbClr val="DF8330"/>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C3</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DyHuCoG recommender</a:t>
            </a:r>
          </a:p>
        </p:txBody>
      </p:sp>
      <p:cxnSp>
        <p:nvCxnSpPr>
          <p:cNvPr id="21" name="Connector 20"/>
          <p:cNvCxnSpPr/>
          <p:nvPr/>
        </p:nvCxnSpPr>
        <p:spPr>
          <a:xfrm>
            <a:off x="12938760" y="6015482"/>
            <a:ext cx="2971800" cy="731520"/>
          </a:xfrm>
          <a:prstGeom prst="line">
            <a:avLst/>
          </a:prstGeom>
          <a:ln w="25400">
            <a:solidFill>
              <a:srgbClr val="124944"/>
            </a:solidFill>
            <a:tailEnd type="triangle" w="med" len="med"/>
          </a:ln>
        </p:spPr>
      </p:cxnSp>
      <p:sp>
        <p:nvSpPr>
          <p:cNvPr id="22" name="Rounded Rectangle 21"/>
          <p:cNvSpPr/>
          <p:nvPr/>
        </p:nvSpPr>
        <p:spPr>
          <a:xfrm>
            <a:off x="8618220" y="8667242"/>
            <a:ext cx="8641080" cy="641350"/>
          </a:xfrm>
          <a:prstGeom prst="roundRect">
            <a:avLst>
              <a:gd name="adj" fmla="val 35643"/>
            </a:avLst>
          </a:prstGeom>
          <a:solidFill>
            <a:srgbClr val="F6ECDF"/>
          </a:solidFill>
          <a:ln>
            <a:noFill/>
          </a:ln>
        </p:spPr>
        <p:txBody>
          <a:bodyPr anchor="ctr" rtlCol="false" lIns="274320" tIns="91440" rIns="274320" bIns="9144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Same axioms · same vocabulary · same value function logic — </a:t>
            </a:r>
            <a:r>
              <a:rPr lang="en-US" sz="1700" b="true">
                <a:solidFill>
                  <a:srgbClr val="111111"/>
                </a:solidFill>
                <a:latin typeface="Nunito Bold"/>
                <a:ea typeface="Nunito Bold"/>
                <a:cs typeface="Nunito Bold"/>
                <a:sym typeface="Nunito Bold"/>
              </a:rPr>
              <a:t>explanation as method, not commentary.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6" name="TextBox 5"/>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7" name="Oval 6"/>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9" name="TextBox 8"/>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Fixed seeds, temporal user-level splits, early stopping, ordinary academic hardware (i9-14900K + RTX 4090).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Datasets Used Throughout the Thesis</a:t>
            </a:r>
          </a:p>
        </p:txBody>
      </p:sp>
      <p:pic>
        <p:nvPicPr>
          <p:cNvPr id="8" name="Picture 7" descr="image.png"/>
          <p:cNvPicPr>
            <a:picLocks noChangeAspect="1"/>
          </p:cNvPicPr>
          <p:nvPr/>
        </p:nvPicPr>
        <p:blipFill>
          <a:blip r:embed="rId2"/>
          <a:stretch>
            <a:fillRect/>
          </a:stretch>
        </p:blipFill>
        <p:spPr>
          <a:xfrm>
            <a:off x="10935196" y="1673352"/>
            <a:ext cx="457200" cy="452148"/>
          </a:xfrm>
          <a:prstGeom prst="rect">
            <a:avLst/>
          </a:prstGeom>
        </p:spPr>
      </p:pic>
      <p:sp>
        <p:nvSpPr>
          <p:cNvPr id="9" name="Rounded Rectangle 8"/>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12" name="Table 11"/>
          <p:cNvGraphicFramePr>
            <a:graphicFrameLocks noGrp="1"/>
          </p:cNvGraphicFramePr>
          <p:nvPr/>
        </p:nvGraphicFramePr>
        <p:xfrm>
          <a:off x="1028700" y="3363722"/>
          <a:ext cx="16230597" cy="4532122"/>
        </p:xfrm>
        <a:graphic>
          <a:graphicData uri="http://schemas.openxmlformats.org/drawingml/2006/table">
            <a:tbl>
              <a:tblPr firstRow="0" bandRow="0" firstCol="0" lastRow="0" lastCol="0" bandCol="0">
                <a:tableStyleId>{2D5ABB26-0587-4C30-8999-92F81FD0307C}</a:tableStyleId>
              </a:tblPr>
              <a:tblGrid>
                <a:gridCol w="2870718"/>
                <a:gridCol w="2649893"/>
                <a:gridCol w="2539481"/>
                <a:gridCol w="2429069"/>
                <a:gridCol w="5741436"/>
              </a:tblGrid>
              <a:tr h="86868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Dataset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Scale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Type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Role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Why it was chosen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105740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Wine Quality (vinho verde)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4,898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Tabular, numeric</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C1 – single-level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11 interpretable physicochemical features; small, dense, chemically correlated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attribution in a trusted semantic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6868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Beijing Multi-Site Air Quality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383,585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Tabular, pollutant + meteorology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C2 – multi-level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Hourly records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tests scale, noise and temporal / meteorological structure.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6868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MovieLens-1M</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6,040 u / 3,706 i / 1.0 M int.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Implicit feedback (density 0.0447)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C3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Benchmark-standard recommendation with established 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6868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Amazon-Book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52,643 u / 91,599 i / 3.0 M int.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Implicit feedback (density 0.0006)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C3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Deliberately sparse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stress-tests Shapley weighting when the signal is weak.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3" name="Rounded Rectangle 12"/>
          <p:cNvSpPr/>
          <p:nvPr/>
        </p:nvSpPr>
        <p:spPr>
          <a:xfrm>
            <a:off x="1028700" y="8261604"/>
            <a:ext cx="16230600" cy="914400"/>
          </a:xfrm>
          <a:prstGeom prst="roundRect">
            <a:avLst>
              <a:gd name="adj" fmla="val 25000"/>
            </a:avLst>
          </a:prstGeom>
          <a:solidFill>
            <a:srgbClr val="124944"/>
          </a:solidFill>
          <a:ln>
            <a:noFill/>
          </a:ln>
        </p:spPr>
        <p:txBody>
          <a:bodyPr anchor="ctr" rtlCol="false" lIns="457200" tIns="91440" rIns="457200" bIns="91440" wrap="square"/>
          <a:lstStyle/>
          <a:p>
            <a:pPr algn="ctr">
              <a:lnSpc>
                <a:spcPts val="2700"/>
              </a:lnSpc>
              <a:spcBef>
                <a:spcPts val="0"/>
              </a:spcBef>
              <a:buNone/>
            </a:pPr>
            <a:r>
              <a:rPr lang="en-US" sz="2100" b="true">
                <a:solidFill>
                  <a:srgbClr val="FFFFFF"/>
                </a:solidFill>
                <a:latin typeface="Nunito Semi-Bold"/>
                <a:ea typeface="Nunito Semi-Bold"/>
                <a:cs typeface="Nunito Semi-Bold"/>
                <a:sym typeface="Nunito Semi-Bold"/>
              </a:rPr>
              <a:t>The </a:t>
            </a:r>
            <a:r>
              <a:rPr lang="en-US" sz="2100" b="true">
                <a:solidFill>
                  <a:srgbClr val="FFFFFF"/>
                </a:solidFill>
                <a:latin typeface="Nunito Bold"/>
                <a:ea typeface="Nunito Bold"/>
                <a:cs typeface="Nunito Bold"/>
                <a:sym typeface="Nunito Bold"/>
              </a:rPr>
              <a:t>0.0447 vs 0.0006</a:t>
            </a:r>
            <a:r>
              <a:rPr lang="en-US" sz="2100" b="true">
                <a:solidFill>
                  <a:srgbClr val="FFFFFF"/>
                </a:solidFill>
                <a:latin typeface="Nunito Semi-Bold"/>
                <a:ea typeface="Nunito Semi-Bold"/>
                <a:cs typeface="Nunito Semi-Bold"/>
                <a:sym typeface="Nunito Semi-Bold"/>
              </a:rPr>
              <a:t> density contrast is intentional: the claim is that </a:t>
            </a:r>
            <a:r>
              <a:rPr lang="en-US" sz="2100" b="true">
                <a:solidFill>
                  <a:srgbClr val="FFFFFF"/>
                </a:solidFill>
                <a:latin typeface="Nunito Bold"/>
                <a:ea typeface="Nunito Bold"/>
                <a:cs typeface="Nunito Bold"/>
                <a:sym typeface="Nunito Bold"/>
              </a:rPr>
              <a:t>gains are largest where data are weakest</a:t>
            </a:r>
            <a:r>
              <a:rPr lang="en-US" sz="210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8" name="Picture 7" descr="image.png"/>
          <p:cNvPicPr>
            <a:picLocks noChangeAspect="1"/>
          </p:cNvPicPr>
          <p:nvPr/>
        </p:nvPicPr>
        <p:blipFill>
          <a:blip r:embed="rId2"/>
          <a:stretch>
            <a:fillRect/>
          </a:stretch>
        </p:blipFill>
        <p:spPr>
          <a:xfrm>
            <a:off x="9239964" y="1673352"/>
            <a:ext cx="457200" cy="415247"/>
          </a:xfrm>
          <a:prstGeom prst="rect">
            <a:avLst/>
          </a:prstGeom>
        </p:spPr>
      </p:pic>
      <p:sp>
        <p:nvSpPr>
          <p:cNvPr id="9" name="Rounded Rectangle 8"/>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12" name="Rounded Rectangle 11"/>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3" name="Rounded Rectangle 12"/>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14" name="TextBox 13"/>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diagnostic.</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15" name="Rounded Rectangle 14"/>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6" name="Rounded Rectangle 15"/>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17" name="TextBox 16"/>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68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temporal split</a:t>
            </a:r>
            <a:r>
              <a:rPr lang="en-US" sz="2000" b="true">
                <a:solidFill>
                  <a:srgbClr val="111111"/>
                </a:solidFill>
                <a:latin typeface="Nunito Semi-Bold"/>
                <a:ea typeface="Nunito Semi-Bold"/>
                <a:cs typeface="Nunito Semi-Bold"/>
                <a:sym typeface="Nunito Semi-Bold"/>
              </a:rPr>
              <a:t> — 70 % train / 10 % validation / 20 % test.</a:t>
            </a:r>
          </a:p>
          <a:p>
            <a:pPr algn="l" marL="274320" indent="-274320">
              <a:lnSpc>
                <a:spcPts val="268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68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68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contrasts.</a:t>
            </a:r>
          </a:p>
          <a:p>
            <a:pPr algn="l" marL="274320" indent="-274320">
              <a:lnSpc>
                <a:spcPts val="268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 &amp; Evaluation Metrics</a:t>
            </a:r>
          </a:p>
        </p:txBody>
      </p:sp>
      <p:pic>
        <p:nvPicPr>
          <p:cNvPr id="8" name="Picture 7" descr="image.png"/>
          <p:cNvPicPr>
            <a:picLocks noChangeAspect="1"/>
          </p:cNvPicPr>
          <p:nvPr/>
        </p:nvPicPr>
        <p:blipFill>
          <a:blip r:embed="rId2"/>
          <a:stretch>
            <a:fillRect/>
          </a:stretch>
        </p:blipFill>
        <p:spPr>
          <a:xfrm>
            <a:off x="9253804" y="1673352"/>
            <a:ext cx="457200" cy="250983"/>
          </a:xfrm>
          <a:prstGeom prst="rect">
            <a:avLst/>
          </a:prstGeom>
        </p:spPr>
      </p:pic>
      <p:sp>
        <p:nvSpPr>
          <p:cNvPr id="9" name="Rounded Rectangle 8"/>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12" name="TextBox 11"/>
          <p:cNvSpPr txBox="1"/>
          <p:nvPr/>
        </p:nvSpPr>
        <p:spPr>
          <a:xfrm>
            <a:off x="1028700" y="3363722"/>
            <a:ext cx="6766560" cy="5944870"/>
          </a:xfrm>
          <a:prstGeom prst="rect">
            <a:avLst/>
          </a:prstGeom>
          <a:noFill/>
        </p:spPr>
        <p:txBody>
          <a:bodyPr anchor="t" rtlCol="false" lIns="0" tIns="0" rIns="0" bIns="0" wrap="square"/>
          <a:lstStyle/>
          <a:p>
            <a:pPr algn="l">
              <a:lnSpc>
                <a:spcPts val="2910"/>
              </a:lnSpc>
              <a:spcBef>
                <a:spcPts val="0"/>
              </a:spcBef>
              <a:buNone/>
            </a:pPr>
            <a:r>
              <a:rPr lang="en-US" sz="2328" b="true">
                <a:solidFill>
                  <a:srgbClr val="124944"/>
                </a:solidFill>
                <a:latin typeface="Nunito Ultra-Bold"/>
                <a:ea typeface="Nunito Ultra-Bold"/>
                <a:cs typeface="Nunito Ultra-Bold"/>
                <a:sym typeface="Nunito Ultra-Bold"/>
              </a:rPr>
              <a:t>Baselines</a:t>
            </a:r>
          </a:p>
          <a:p>
            <a:pPr algn="l" marL="274320" indent="-274320">
              <a:lnSpc>
                <a:spcPts val="2600"/>
              </a:lnSpc>
              <a:spcBef>
                <a:spcPts val="0"/>
              </a:spcBef>
              <a:buClr>
                <a:srgbClr val="DF8330"/>
              </a:buClr>
              <a:buSzPct val="100000"/>
              <a:buFont typeface="Arial"/>
              <a:buChar char="•"/>
            </a:pPr>
            <a:r>
              <a:rPr lang="en-US" sz="1940" b="true">
                <a:solidFill>
                  <a:srgbClr val="111111"/>
                </a:solidFill>
                <a:latin typeface="Nunito Bold"/>
                <a:ea typeface="Nunito Bold"/>
                <a:cs typeface="Nunito Bold"/>
                <a:sym typeface="Nunito Bold"/>
              </a:rPr>
              <a:t>Clustering benchmark:</a:t>
            </a:r>
            <a:r>
              <a:rPr lang="en-US" sz="1940" b="true">
                <a:solidFill>
                  <a:srgbClr val="111111"/>
                </a:solidFill>
                <a:latin typeface="Nunito Semi-Bold"/>
                <a:ea typeface="Nunito Semi-Bold"/>
                <a:cs typeface="Nunito Semi-Bold"/>
                <a:sym typeface="Nunito Semi-Bold"/>
              </a:rPr>
              <a:t> LIME-based surrogate explanation pipeline.</a:t>
            </a:r>
          </a:p>
          <a:p>
            <a:pPr algn="l" marL="274320" indent="-274320">
              <a:lnSpc>
                <a:spcPts val="2600"/>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Recommendation:</a:t>
            </a:r>
            <a:r>
              <a:rPr lang="en-US" sz="1940" b="true">
                <a:solidFill>
                  <a:srgbClr val="111111"/>
                </a:solidFill>
                <a:latin typeface="Nunito Semi-Bold"/>
                <a:ea typeface="Nunito Semi-Bold"/>
                <a:cs typeface="Nunito Semi-Bold"/>
                <a:sym typeface="Nunito Semi-Bold"/>
              </a:rPr>
              <a:t> MF, NCF, LightGCN, RecDCL, HCCF, </a:t>
            </a:r>
            <a:r>
              <a:rPr lang="en-US" sz="1940" b="true">
                <a:solidFill>
                  <a:srgbClr val="111111"/>
                </a:solidFill>
                <a:latin typeface="Nunito Bold"/>
                <a:ea typeface="Nunito Bold"/>
                <a:cs typeface="Nunito Bold"/>
                <a:sym typeface="Nunito Bold"/>
              </a:rPr>
              <a:t>HPCF (strongest reference)</a:t>
            </a:r>
            <a:r>
              <a:rPr lang="en-US" sz="1940" b="true">
                <a:solidFill>
                  <a:srgbClr val="111111"/>
                </a:solidFill>
                <a:latin typeface="Nunito Semi-Bold"/>
                <a:ea typeface="Nunito Semi-Bold"/>
                <a:cs typeface="Nunito Semi-Bold"/>
                <a:sym typeface="Nunito Semi-Bold"/>
              </a:rPr>
              <a:t> — classical, neural, graph and hypergraph families, to isolate the effect of cooperative attribution rather than a favourable model choice.</a:t>
            </a:r>
          </a:p>
          <a:p>
            <a:pPr algn="l">
              <a:lnSpc>
                <a:spcPts val="2910"/>
              </a:lnSpc>
              <a:spcBef>
                <a:spcPts val="1552"/>
              </a:spcBef>
              <a:buNone/>
            </a:pPr>
            <a:r>
              <a:rPr lang="en-US" sz="2328" b="true">
                <a:solidFill>
                  <a:srgbClr val="124944"/>
                </a:solidFill>
                <a:latin typeface="Nunito Ultra-Bold"/>
                <a:ea typeface="Nunito Ultra-Bold"/>
                <a:cs typeface="Nunito Ultra-Bold"/>
                <a:sym typeface="Nunito Ultra-Bold"/>
              </a:rPr>
              <a:t>Metrics</a:t>
            </a:r>
          </a:p>
          <a:p>
            <a:pPr algn="l" marL="274320" indent="-274320">
              <a:lnSpc>
                <a:spcPts val="2600"/>
              </a:lnSpc>
              <a:spcBef>
                <a:spcPts val="0"/>
              </a:spcBef>
              <a:buClr>
                <a:srgbClr val="DF8330"/>
              </a:buClr>
              <a:buSzPct val="100000"/>
              <a:buFont typeface="Arial"/>
              <a:buChar char="•"/>
            </a:pPr>
            <a:r>
              <a:rPr lang="en-US" sz="1940" b="true">
                <a:solidFill>
                  <a:srgbClr val="111111"/>
                </a:solidFill>
                <a:latin typeface="Nunito Bold"/>
                <a:ea typeface="Nunito Bold"/>
                <a:cs typeface="Nunito Bold"/>
                <a:sym typeface="Nunito Bold"/>
              </a:rPr>
              <a:t>Ranking:</a:t>
            </a:r>
            <a:r>
              <a:rPr lang="en-US" sz="1940" b="true">
                <a:solidFill>
                  <a:srgbClr val="111111"/>
                </a:solidFill>
                <a:latin typeface="Nunito Semi-Bold"/>
                <a:ea typeface="Nunito Semi-Bold"/>
                <a:cs typeface="Nunito Semi-Bold"/>
                <a:sym typeface="Nunito Semi-Bold"/>
              </a:rPr>
              <a:t> Precision@K, Recall@K, </a:t>
            </a:r>
            <a:r>
              <a:rPr lang="en-US" sz="1940" b="true">
                <a:solidFill>
                  <a:srgbClr val="111111"/>
                </a:solidFill>
                <a:latin typeface="Nunito Bold"/>
                <a:ea typeface="Nunito Bold"/>
                <a:cs typeface="Nunito Bold"/>
                <a:sym typeface="Nunito Bold"/>
              </a:rPr>
              <a:t>NDCG@20 (principal)</a:t>
            </a:r>
            <a:r>
              <a:rPr lang="en-US" sz="1940" b="true">
                <a:solidFill>
                  <a:srgbClr val="111111"/>
                </a:solidFill>
                <a:latin typeface="Nunito Semi-Bold"/>
                <a:ea typeface="Nunito Semi-Bold"/>
                <a:cs typeface="Nunito Semi-Bold"/>
                <a:sym typeface="Nunito Semi-Bold"/>
              </a:rPr>
              <a:t>, K </a:t>
            </a:r>
            <a:r>
              <a:rPr lang="en-US" sz="1940" b="true">
                <a:solidFill>
                  <a:srgbClr val="111111"/>
                </a:solidFill>
                <a:latin typeface="Cambria Math"/>
                <a:ea typeface="Cambria Math"/>
                <a:cs typeface="Cambria Math"/>
                <a:sym typeface="Cambria Math"/>
              </a:rPr>
              <a:t>∈ </a:t>
            </a:r>
            <a:r>
              <a:rPr lang="en-US" sz="1940" b="true">
                <a:solidFill>
                  <a:srgbClr val="111111"/>
                </a:solidFill>
                <a:latin typeface="Nunito Semi-Bold"/>
                <a:ea typeface="Nunito Semi-Bold"/>
                <a:cs typeface="Nunito Semi-Bold"/>
                <a:sym typeface="Nunito Semi-Bold"/>
              </a:rPr>
              <a:t>{5, 10, 20}.</a:t>
            </a:r>
          </a:p>
          <a:p>
            <a:pPr algn="l" marL="274320" indent="-274320">
              <a:lnSpc>
                <a:spcPts val="2600"/>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System diversity:</a:t>
            </a:r>
            <a:r>
              <a:rPr lang="en-US" sz="1940" b="true">
                <a:solidFill>
                  <a:srgbClr val="111111"/>
                </a:solidFill>
                <a:latin typeface="Nunito Semi-Bold"/>
                <a:ea typeface="Nunito Semi-Bold"/>
                <a:cs typeface="Nunito Semi-Bold"/>
                <a:sym typeface="Nunito Semi-Bold"/>
              </a:rPr>
              <a:t> Catalogue Coverage = |</a:t>
            </a:r>
            <a:r>
              <a:rPr lang="en-US" sz="1940" b="true">
                <a:solidFill>
                  <a:srgbClr val="111111"/>
                </a:solidFill>
                <a:latin typeface="Cambria Math"/>
                <a:ea typeface="Cambria Math"/>
                <a:cs typeface="Cambria Math"/>
                <a:sym typeface="Cambria Math"/>
              </a:rPr>
              <a:t>⋃ </a:t>
            </a:r>
            <a:r>
              <a:rPr lang="en-US" sz="1940" b="true">
                <a:solidFill>
                  <a:srgbClr val="111111"/>
                </a:solidFill>
                <a:latin typeface="Nunito Semi-Bold"/>
                <a:ea typeface="Nunito Semi-Bold"/>
                <a:cs typeface="Nunito Semi-Bold"/>
                <a:sym typeface="Nunito Semi-Bold"/>
              </a:rPr>
              <a:t>R_u| / |I|.</a:t>
            </a:r>
          </a:p>
          <a:p>
            <a:pPr algn="l" marL="274320" indent="-274320">
              <a:lnSpc>
                <a:spcPts val="2600"/>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List diversity:</a:t>
            </a:r>
            <a:r>
              <a:rPr lang="en-US" sz="1940" b="true">
                <a:solidFill>
                  <a:srgbClr val="111111"/>
                </a:solidFill>
                <a:latin typeface="Nunito Semi-Bold"/>
                <a:ea typeface="Nunito Semi-Bold"/>
                <a:cs typeface="Nunito Semi-Bold"/>
                <a:sym typeface="Nunito Semi-Bold"/>
              </a:rPr>
              <a:t> Intra-List Diversity (ILD) — deliberately </a:t>
            </a:r>
            <a:r>
              <a:rPr lang="en-US" sz="1940" b="true">
                <a:solidFill>
                  <a:srgbClr val="111111"/>
                </a:solidFill>
                <a:latin typeface="Nunito Bold"/>
                <a:ea typeface="Nunito Bold"/>
                <a:cs typeface="Nunito Bold"/>
                <a:sym typeface="Nunito Bold"/>
              </a:rPr>
              <a:t>built into the coalition utility</a:t>
            </a:r>
            <a:r>
              <a:rPr lang="en-US" sz="1940" b="true">
                <a:solidFill>
                  <a:srgbClr val="111111"/>
                </a:solidFill>
                <a:latin typeface="Nunito Semi-Bold"/>
                <a:ea typeface="Nunito Semi-Bold"/>
                <a:cs typeface="Nunito Semi-Bold"/>
                <a:sym typeface="Nunito Semi-Bold"/>
              </a:rPr>
              <a:t>.</a:t>
            </a:r>
          </a:p>
          <a:p>
            <a:pPr algn="l" marL="274320" indent="-274320">
              <a:lnSpc>
                <a:spcPts val="2600"/>
              </a:lnSpc>
              <a:spcBef>
                <a:spcPts val="776"/>
              </a:spcBef>
              <a:buClr>
                <a:srgbClr val="DF8330"/>
              </a:buClr>
              <a:buSzPct val="100000"/>
              <a:buFont typeface="Arial"/>
              <a:buChar char="•"/>
            </a:pPr>
            <a:r>
              <a:rPr lang="en-US" sz="1940" b="true">
                <a:solidFill>
                  <a:srgbClr val="111111"/>
                </a:solidFill>
                <a:latin typeface="Nunito Bold"/>
                <a:ea typeface="Nunito Bold"/>
                <a:cs typeface="Nunito Bold"/>
                <a:sym typeface="Nunito Bold"/>
              </a:rPr>
              <a:t>Clustering quality:</a:t>
            </a:r>
            <a:r>
              <a:rPr lang="en-US" sz="1940" b="true">
                <a:solidFill>
                  <a:srgbClr val="111111"/>
                </a:solidFill>
                <a:latin typeface="Nunito Semi-Bold"/>
                <a:ea typeface="Nunito Semi-Bold"/>
                <a:cs typeface="Nunito Semi-Bold"/>
                <a:sym typeface="Nunito Semi-Bold"/>
              </a:rPr>
              <a:t> Silhouette, Davies–Bouldin.</a:t>
            </a:r>
          </a:p>
        </p:txBody>
      </p:sp>
      <p:sp>
        <p:nvSpPr>
          <p:cNvPr id="13" name="TextBox 12"/>
          <p:cNvSpPr txBox="1"/>
          <p:nvPr/>
        </p:nvSpPr>
        <p:spPr>
          <a:xfrm>
            <a:off x="8343900" y="3363722"/>
            <a:ext cx="891540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EVALUATION METRICS</a:t>
            </a:r>
          </a:p>
        </p:txBody>
      </p:sp>
      <p:sp>
        <p:nvSpPr>
          <p:cNvPr id="14" name="Rounded Rectangle 13"/>
          <p:cNvSpPr/>
          <p:nvPr/>
        </p:nvSpPr>
        <p:spPr>
          <a:xfrm>
            <a:off x="8343900" y="3912362"/>
            <a:ext cx="2788920" cy="5304790"/>
          </a:xfrm>
          <a:prstGeom prst="roundRect">
            <a:avLst>
              <a:gd name="adj" fmla="val 9836"/>
            </a:avLst>
          </a:prstGeom>
          <a:solidFill>
            <a:srgbClr val="124944"/>
          </a:solidFill>
          <a:ln>
            <a:noFill/>
          </a:ln>
        </p:spPr>
        <p:txBody>
          <a:bodyPr anchor="ctr" rtlCol="false" lIns="182880" tIns="182880" rIns="182880" bIns="182880" wrap="square"/>
          <a:lstStyle/>
          <a:p>
            <a:pPr algn="ctr">
              <a:lnSpc>
                <a:spcPts val="2700"/>
              </a:lnSpc>
              <a:spcBef>
                <a:spcPts val="0"/>
              </a:spcBef>
              <a:buNone/>
            </a:pPr>
            <a:r>
              <a:rPr lang="en-US" sz="2200" b="true">
                <a:solidFill>
                  <a:srgbClr val="FFFFFF"/>
                </a:solidFill>
                <a:latin typeface="Nunito Ultra-Bold"/>
                <a:ea typeface="Nunito Ultra-Bold"/>
                <a:cs typeface="Nunito Ultra-Bold"/>
                <a:sym typeface="Nunito Ultra-Bold"/>
              </a:rPr>
              <a:t>Ranking</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NDCG@K</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Recall@K</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Precision@K</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MAP@K / HR@K</a:t>
            </a:r>
          </a:p>
        </p:txBody>
      </p:sp>
      <p:sp>
        <p:nvSpPr>
          <p:cNvPr id="15" name="Rounded Rectangle 14"/>
          <p:cNvSpPr/>
          <p:nvPr/>
        </p:nvSpPr>
        <p:spPr>
          <a:xfrm>
            <a:off x="11407140" y="3912362"/>
            <a:ext cx="2788920" cy="5304790"/>
          </a:xfrm>
          <a:prstGeom prst="roundRect">
            <a:avLst>
              <a:gd name="adj" fmla="val 9836"/>
            </a:avLst>
          </a:prstGeom>
          <a:solidFill>
            <a:srgbClr val="1E5F58"/>
          </a:solidFill>
          <a:ln>
            <a:noFill/>
          </a:ln>
        </p:spPr>
        <p:txBody>
          <a:bodyPr anchor="ctr" rtlCol="false" lIns="182880" tIns="182880" rIns="182880" bIns="182880" wrap="square"/>
          <a:lstStyle/>
          <a:p>
            <a:pPr algn="ctr">
              <a:lnSpc>
                <a:spcPts val="2700"/>
              </a:lnSpc>
              <a:spcBef>
                <a:spcPts val="0"/>
              </a:spcBef>
              <a:buNone/>
            </a:pPr>
            <a:r>
              <a:rPr lang="en-US" sz="2200" b="true">
                <a:solidFill>
                  <a:srgbClr val="FFFFFF"/>
                </a:solidFill>
                <a:latin typeface="Nunito Ultra-Bold"/>
                <a:ea typeface="Nunito Ultra-Bold"/>
                <a:cs typeface="Nunito Ultra-Bold"/>
                <a:sym typeface="Nunito Ultra-Bold"/>
              </a:rPr>
              <a:t>Beyond accuracy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Coverage</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Intra-List Diversity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Novelty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Fairness</a:t>
            </a:r>
          </a:p>
        </p:txBody>
      </p:sp>
      <p:sp>
        <p:nvSpPr>
          <p:cNvPr id="16" name="Rounded Rectangle 15"/>
          <p:cNvSpPr/>
          <p:nvPr/>
        </p:nvSpPr>
        <p:spPr>
          <a:xfrm>
            <a:off x="14470380" y="3912362"/>
            <a:ext cx="2788920" cy="5304790"/>
          </a:xfrm>
          <a:prstGeom prst="roundRect">
            <a:avLst>
              <a:gd name="adj" fmla="val 9836"/>
            </a:avLst>
          </a:prstGeom>
          <a:solidFill>
            <a:srgbClr val="DF8330"/>
          </a:solidFill>
          <a:ln>
            <a:noFill/>
          </a:ln>
        </p:spPr>
        <p:txBody>
          <a:bodyPr anchor="ctr" rtlCol="false" lIns="182880" tIns="182880" rIns="182880" bIns="182880" wrap="square"/>
          <a:lstStyle/>
          <a:p>
            <a:pPr algn="ctr">
              <a:lnSpc>
                <a:spcPts val="2700"/>
              </a:lnSpc>
              <a:spcBef>
                <a:spcPts val="0"/>
              </a:spcBef>
              <a:buNone/>
            </a:pPr>
            <a:r>
              <a:rPr lang="en-US" sz="2200" b="true">
                <a:solidFill>
                  <a:srgbClr val="FFFFFF"/>
                </a:solidFill>
                <a:latin typeface="Nunito Ultra-Bold"/>
                <a:ea typeface="Nunito Ultra-Bold"/>
                <a:cs typeface="Nunito Ultra-Bold"/>
                <a:sym typeface="Nunito Ultra-Bold"/>
              </a:rPr>
              <a:t>Clustering validity</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Silhouette</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Davies–Bouldin</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Calinski–Harabasz</a:t>
            </a:r>
          </a:p>
          <a:p>
            <a:pPr algn="ctr">
              <a:lnSpc>
                <a:spcPts val="2400"/>
              </a:lnSpc>
              <a:spcBef>
                <a:spcPts val="1200"/>
              </a:spcBef>
              <a:buNone/>
            </a:pPr>
            <a:r>
              <a:rPr lang="en-US" sz="1800" b="true">
                <a:solidFill>
                  <a:srgbClr val="F1EDE6"/>
                </a:solidFill>
                <a:latin typeface="Nunito Semi-Bold"/>
                <a:ea typeface="Nunito Semi-Bold"/>
                <a:cs typeface="Nunito Semi-Bold"/>
                <a:sym typeface="Nunito Semi-Bold"/>
              </a:rPr>
              <a:t>• Stability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8" name="Picture 7" descr="image.png"/>
          <p:cNvPicPr>
            <a:picLocks noChangeAspect="1"/>
          </p:cNvPicPr>
          <p:nvPr/>
        </p:nvPicPr>
        <p:blipFill>
          <a:blip r:embed="rId2"/>
          <a:stretch>
            <a:fillRect/>
          </a:stretch>
        </p:blipFill>
        <p:spPr>
          <a:xfrm>
            <a:off x="7035228" y="1673352"/>
            <a:ext cx="457200" cy="415247"/>
          </a:xfrm>
          <a:prstGeom prst="rect">
            <a:avLst/>
          </a:prstGeom>
        </p:spPr>
      </p:pic>
      <p:sp>
        <p:nvSpPr>
          <p:cNvPr id="9" name="Rounded Rectangle 8"/>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10" name="Rounded Rectangle 9"/>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11" name="Rounded Rectangle 10"/>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sp>
        <p:nvSpPr>
          <p:cNvPr id="12" name="Rounded Rectangle 11"/>
          <p:cNvSpPr/>
          <p:nvPr/>
        </p:nvSpPr>
        <p:spPr>
          <a:xfrm>
            <a:off x="1028700" y="3455162"/>
            <a:ext cx="3851910" cy="3108960"/>
          </a:xfrm>
          <a:prstGeom prst="roundRect">
            <a:avLst>
              <a:gd name="adj" fmla="val 8823"/>
            </a:avLst>
          </a:prstGeom>
          <a:solidFill>
            <a:srgbClr val="124944"/>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CPU</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Intel Core i9-14900K · 24 cores</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clustering, preprocessing, data loading</a:t>
            </a:r>
          </a:p>
        </p:txBody>
      </p:sp>
      <p:sp>
        <p:nvSpPr>
          <p:cNvPr id="13" name="Rounded Rectangle 12"/>
          <p:cNvSpPr/>
          <p:nvPr/>
        </p:nvSpPr>
        <p:spPr>
          <a:xfrm>
            <a:off x="5154930" y="3455162"/>
            <a:ext cx="3851910" cy="3108960"/>
          </a:xfrm>
          <a:prstGeom prst="roundRect">
            <a:avLst>
              <a:gd name="adj" fmla="val 8823"/>
            </a:avLst>
          </a:prstGeom>
          <a:solidFill>
            <a:srgbClr val="1E5F58"/>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GPU</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NVIDIA GeForce RTX 4090 · 24 GB</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DyHuCoG training &amp; inference</a:t>
            </a:r>
          </a:p>
        </p:txBody>
      </p:sp>
      <p:sp>
        <p:nvSpPr>
          <p:cNvPr id="14" name="Rounded Rectangle 13"/>
          <p:cNvSpPr/>
          <p:nvPr/>
        </p:nvSpPr>
        <p:spPr>
          <a:xfrm>
            <a:off x="9281160" y="3455162"/>
            <a:ext cx="3851910" cy="3108960"/>
          </a:xfrm>
          <a:prstGeom prst="roundRect">
            <a:avLst>
              <a:gd name="adj" fmla="val 8823"/>
            </a:avLst>
          </a:prstGeom>
          <a:solidFill>
            <a:srgbClr val="124944"/>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MEMORY</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48 GB RAM · 2 TB SSD</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full Beijing dataset in memory</a:t>
            </a:r>
          </a:p>
        </p:txBody>
      </p:sp>
      <p:sp>
        <p:nvSpPr>
          <p:cNvPr id="15" name="Rounded Rectangle 14"/>
          <p:cNvSpPr/>
          <p:nvPr/>
        </p:nvSpPr>
        <p:spPr>
          <a:xfrm>
            <a:off x="13407390" y="3455162"/>
            <a:ext cx="3851910" cy="3108960"/>
          </a:xfrm>
          <a:prstGeom prst="roundRect">
            <a:avLst>
              <a:gd name="adj" fmla="val 8823"/>
            </a:avLst>
          </a:prstGeom>
          <a:solidFill>
            <a:srgbClr val="1E5F58"/>
          </a:solidFill>
          <a:ln>
            <a:noFill/>
          </a:ln>
        </p:spPr>
        <p:txBody>
          <a:bodyPr anchor="t" rtlCol="false" lIns="365760" tIns="365760" rIns="32004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SOFTWARE</a:t>
            </a:r>
          </a:p>
          <a:p>
            <a:pPr algn="l">
              <a:lnSpc>
                <a:spcPts val="2700"/>
              </a:lnSpc>
              <a:spcBef>
                <a:spcPts val="800"/>
              </a:spcBef>
              <a:buNone/>
            </a:pPr>
            <a:r>
              <a:rPr lang="en-US" sz="2200" b="true">
                <a:solidFill>
                  <a:srgbClr val="FFFFFF"/>
                </a:solidFill>
                <a:latin typeface="Nunito Ultra-Bold"/>
                <a:ea typeface="Nunito Ultra-Bold"/>
                <a:cs typeface="Nunito Ultra-Bold"/>
                <a:sym typeface="Nunito Ultra-Bold"/>
              </a:rPr>
              <a:t>Python 3.8 · PyTorch 2.0.1</a:t>
            </a:r>
          </a:p>
          <a:p>
            <a:pPr algn="l">
              <a:lnSpc>
                <a:spcPts val="2100"/>
              </a:lnSpc>
              <a:spcBef>
                <a:spcPts val="800"/>
              </a:spcBef>
              <a:buNone/>
            </a:pPr>
            <a:r>
              <a:rPr lang="en-US" sz="1700" b="true">
                <a:solidFill>
                  <a:srgbClr val="DCE7E3"/>
                </a:solidFill>
                <a:latin typeface="Nunito Semi-Bold"/>
                <a:ea typeface="Nunito Semi-Bold"/>
                <a:cs typeface="Nunito Semi-Bold"/>
                <a:sym typeface="Nunito Semi-Bold"/>
              </a:rPr>
              <a:t>scikit-learn, LightGBM, SHAP, NumPy / SciPy / pandas</a:t>
            </a:r>
          </a:p>
        </p:txBody>
      </p:sp>
      <p:sp>
        <p:nvSpPr>
          <p:cNvPr id="16" name="Rounded Rectangle 15"/>
          <p:cNvSpPr/>
          <p:nvPr/>
        </p:nvSpPr>
        <p:spPr>
          <a:xfrm>
            <a:off x="1028700" y="7204202"/>
            <a:ext cx="16230600" cy="2104390"/>
          </a:xfrm>
          <a:prstGeom prst="roundRect">
            <a:avLst>
              <a:gd name="adj" fmla="val 14773"/>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6966458"/>
            <a:ext cx="144631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Notes</a:t>
            </a:r>
          </a:p>
        </p:txBody>
      </p:sp>
      <p:sp>
        <p:nvSpPr>
          <p:cNvPr id="18" name="TextBox 17"/>
          <p:cNvSpPr txBox="1"/>
          <p:nvPr/>
        </p:nvSpPr>
        <p:spPr>
          <a:xfrm>
            <a:off x="1531620" y="7844282"/>
            <a:ext cx="15270480" cy="1189990"/>
          </a:xfrm>
          <a:prstGeom prst="rect">
            <a:avLst/>
          </a:prstGeom>
          <a:noFill/>
        </p:spPr>
        <p:txBody>
          <a:bodyPr anchor="t" rtlCol="false" lIns="0" tIns="0" rIns="0" bIns="0" wrap="square"/>
          <a:lstStyle/>
          <a:p>
            <a:pPr algn="l" marL="274320" indent="-274320">
              <a:lnSpc>
                <a:spcPts val="2439"/>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Altair for interactive SHAP visualisation; metrics reported at K </a:t>
            </a:r>
            <a:r>
              <a:rPr lang="en-US" sz="1820" b="true">
                <a:solidFill>
                  <a:srgbClr val="111111"/>
                </a:solidFill>
                <a:latin typeface="Cambria Math"/>
                <a:ea typeface="Cambria Math"/>
                <a:cs typeface="Cambria Math"/>
                <a:sym typeface="Cambria Math"/>
              </a:rPr>
              <a:t>∈ </a:t>
            </a:r>
            <a:r>
              <a:rPr lang="en-US" sz="1820" b="true">
                <a:solidFill>
                  <a:srgbClr val="111111"/>
                </a:solidFill>
                <a:latin typeface="Nunito Semi-Bold"/>
                <a:ea typeface="Nunito Semi-Bold"/>
                <a:cs typeface="Nunito Semi-Bold"/>
                <a:sym typeface="Nunito Semi-Bold"/>
              </a:rPr>
              <a:t>{5, 10, 20}.</a:t>
            </a:r>
          </a:p>
          <a:p>
            <a:pPr algn="l" marL="274320" indent="-274320">
              <a:lnSpc>
                <a:spcPts val="2439"/>
              </a:lnSpc>
              <a:spcBef>
                <a:spcPts val="728"/>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hardware mainly explains the runtime figures quoted later (e.g. DyHuCoG ≈ 1.78× HPCF training time).</a:t>
            </a:r>
          </a:p>
          <a:p>
            <a:pPr algn="l" marL="274320" indent="-274320">
              <a:lnSpc>
                <a:spcPts val="2439"/>
              </a:lnSpc>
              <a:spcBef>
                <a:spcPts val="728"/>
              </a:spcBef>
              <a:buClr>
                <a:srgbClr val="DF8330"/>
              </a:buClr>
              <a:buSzPct val="100000"/>
              <a:buFont typeface="Arial"/>
              <a:buChar char="•"/>
            </a:pPr>
            <a:r>
              <a:rPr lang="en-US" sz="1820" b="true">
                <a:solidFill>
                  <a:srgbClr val="111111"/>
                </a:solidFill>
                <a:latin typeface="Nunito Bold"/>
                <a:ea typeface="Nunito Bold"/>
                <a:cs typeface="Nunito Bold"/>
                <a:sym typeface="Nunito Bold"/>
              </a:rPr>
              <a:t>Everything stays within ordinary academic compute — nothing requires industrial infrastructure.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7" name="Oval 6"/>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Cluster-level explanation that preserves feature-level attribution in the original semantic space; justify Shapley over LIME.</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Wine Quality: k* = 3 chosen on interpretability grounds;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hierarchy.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Gap and Objectives</a:t>
            </a:r>
          </a:p>
        </p:txBody>
      </p:sp>
      <p:pic>
        <p:nvPicPr>
          <p:cNvPr id="8" name="Picture 7" descr="image.png"/>
          <p:cNvPicPr>
            <a:picLocks noChangeAspect="1"/>
          </p:cNvPicPr>
          <p:nvPr/>
        </p:nvPicPr>
        <p:blipFill>
          <a:blip r:embed="rId2"/>
          <a:stretch>
            <a:fillRect/>
          </a:stretch>
        </p:blipFill>
        <p:spPr>
          <a:xfrm>
            <a:off x="6247896"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120026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Gap</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Shapley explanation is </a:t>
            </a:r>
            <a:r>
              <a:rPr lang="en-US" sz="2000" b="true">
                <a:solidFill>
                  <a:srgbClr val="FFFFFF"/>
                </a:solidFill>
                <a:latin typeface="Nunito Bold"/>
                <a:ea typeface="Nunito Bold"/>
                <a:cs typeface="Nunito Bold"/>
                <a:sym typeface="Nunito Bold"/>
              </a:rPr>
              <a:t>dominant in supervised tasks</a:t>
            </a:r>
            <a:r>
              <a:rPr lang="en-US" sz="2000" b="true">
                <a:solidFill>
                  <a:srgbClr val="FFFFFF"/>
                </a:solidFill>
                <a:latin typeface="Nunito Semi-Bold"/>
                <a:ea typeface="Nunito Semi-Bold"/>
                <a:cs typeface="Nunito Semi-Bold"/>
                <a:sym typeface="Nunito Semi-Bold"/>
              </a:rPr>
              <a:t>, but clustering remains comparatively under-explained.</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Existing clustering-interpretability methods privilege </a:t>
            </a:r>
            <a:r>
              <a:rPr lang="en-US" sz="2000" b="true">
                <a:solidFill>
                  <a:srgbClr val="FFFFFF"/>
                </a:solidFill>
                <a:latin typeface="Nunito Bold"/>
                <a:ea typeface="Nunito Bold"/>
                <a:cs typeface="Nunito Bold"/>
                <a:sym typeface="Nunito Bold"/>
              </a:rPr>
              <a:t>local or global</a:t>
            </a:r>
            <a:r>
              <a:rPr lang="en-US" sz="2000" b="true">
                <a:solidFill>
                  <a:srgbClr val="FFFFFF"/>
                </a:solidFill>
                <a:latin typeface="Nunito Semi-Bold"/>
                <a:ea typeface="Nunito Semi-Bold"/>
                <a:cs typeface="Nunito Semi-Bold"/>
                <a:sym typeface="Nunito Semi-Bold"/>
              </a:rPr>
              <a:t> explanation, not both.</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They often fail to scale or to preserve </a:t>
            </a:r>
            <a:r>
              <a:rPr lang="en-US" sz="2000" b="true">
                <a:solidFill>
                  <a:srgbClr val="FFFFFF"/>
                </a:solidFill>
                <a:latin typeface="Nunito Bold"/>
                <a:ea typeface="Nunito Bold"/>
                <a:cs typeface="Nunito Bold"/>
                <a:sym typeface="Nunito Bold"/>
              </a:rPr>
              <a:t>coherence across clusters</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Clustering is the hardest test bed: the model creates its own structure, so cluster meaning must be inferred after the fact.</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3048366"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RQ1 </a:t>
            </a:r>
            <a:r>
              <a:rPr lang="en-US" sz="2200" b="true">
                <a:solidFill>
                  <a:srgbClr val="FFFFFF"/>
                </a:solidFill>
                <a:latin typeface="Calibri"/>
                <a:ea typeface="Calibri"/>
                <a:cs typeface="Calibri"/>
                <a:sym typeface="Calibri"/>
              </a:rPr>
              <a:t>→ </a:t>
            </a:r>
            <a:r>
              <a:rPr lang="en-US" sz="2200" b="true">
                <a:solidFill>
                  <a:srgbClr val="FFFFFF"/>
                </a:solidFill>
                <a:latin typeface="Nunito Bold"/>
                <a:ea typeface="Nunito Bold"/>
                <a:cs typeface="Nunito Bold"/>
                <a:sym typeface="Nunito Bold"/>
              </a:rPr>
              <a:t>Objectives</a:t>
            </a:r>
          </a:p>
        </p:txBody>
      </p:sp>
      <p:sp>
        <p:nvSpPr>
          <p:cNvPr id="18" name="TextBox 17"/>
          <p:cNvSpPr txBox="1"/>
          <p:nvPr/>
        </p:nvSpPr>
        <p:spPr>
          <a:xfrm>
            <a:off x="9784080" y="4186682"/>
            <a:ext cx="7018020" cy="4847590"/>
          </a:xfrm>
          <a:prstGeom prst="rect">
            <a:avLst/>
          </a:prstGeom>
          <a:noFill/>
        </p:spPr>
        <p:txBody>
          <a:bodyPr anchor="t" rtlCol="false" lIns="0" tIns="0" rIns="0" bIns="0" wrap="square"/>
          <a:lstStyle/>
          <a:p>
            <a:pPr algn="l">
              <a:lnSpc>
                <a:spcPts val="2720"/>
              </a:lnSpc>
              <a:spcBef>
                <a:spcPts val="0"/>
              </a:spcBef>
              <a:buNone/>
            </a:pPr>
            <a:r>
              <a:rPr lang="en-US" sz="2000" b="true">
                <a:solidFill>
                  <a:srgbClr val="124944"/>
                </a:solidFill>
                <a:latin typeface="Nunito Bold"/>
                <a:ea typeface="Nunito Bold"/>
                <a:cs typeface="Nunito Bold"/>
                <a:sym typeface="Nunito Bold"/>
              </a:rPr>
              <a:t>RQ1 ·</a:t>
            </a:r>
            <a:r>
              <a:rPr lang="en-US" sz="2000" b="true">
                <a:solidFill>
                  <a:srgbClr val="124944"/>
                </a:solidFill>
                <a:latin typeface="Nunito Semi-Bold"/>
                <a:ea typeface="Nunito Semi-Bold"/>
                <a:cs typeface="Nunito Semi-Bold"/>
                <a:sym typeface="Nunito Semi-Bold"/>
              </a:rPr>
              <a:t> How can Shapley values explain black-box clustering faithfully at instance and cluster level?</a:t>
            </a:r>
          </a:p>
        </p:txBody>
      </p:sp>
      <p:sp>
        <p:nvSpPr>
          <p:cNvPr id="19" name="Oval 18"/>
          <p:cNvSpPr/>
          <p:nvPr/>
        </p:nvSpPr>
        <p:spPr>
          <a:xfrm>
            <a:off x="9784080" y="5421122"/>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O1</a:t>
            </a:r>
          </a:p>
        </p:txBody>
      </p:sp>
      <p:sp>
        <p:nvSpPr>
          <p:cNvPr id="20" name="TextBox 19"/>
          <p:cNvSpPr txBox="1"/>
          <p:nvPr/>
        </p:nvSpPr>
        <p:spPr>
          <a:xfrm>
            <a:off x="10515600" y="5238242"/>
            <a:ext cx="6240780" cy="822960"/>
          </a:xfrm>
          <a:prstGeom prst="rect">
            <a:avLst/>
          </a:prstGeom>
          <a:noFill/>
        </p:spPr>
        <p:txBody>
          <a:bodyPr anchor="ctr" rtlCol="false" lIns="0" tIns="0" rIns="0" bIns="0" wrap="square"/>
          <a:lstStyle/>
          <a:p>
            <a:pPr algn="l">
              <a:lnSpc>
                <a:spcPts val="2584"/>
              </a:lnSpc>
              <a:spcBef>
                <a:spcPts val="0"/>
              </a:spcBef>
              <a:buNone/>
            </a:pPr>
            <a:r>
              <a:rPr lang="en-US" sz="1900" b="true">
                <a:solidFill>
                  <a:srgbClr val="111111"/>
                </a:solidFill>
                <a:latin typeface="Nunito Semi-Bold"/>
                <a:ea typeface="Nunito Semi-Bold"/>
                <a:cs typeface="Nunito Semi-Bold"/>
                <a:sym typeface="Nunito Semi-Bold"/>
              </a:rPr>
              <a:t>Build a pipeline that yields </a:t>
            </a:r>
            <a:r>
              <a:rPr lang="en-US" sz="1900" b="true">
                <a:solidFill>
                  <a:srgbClr val="111111"/>
                </a:solidFill>
                <a:latin typeface="Nunito Bold"/>
                <a:ea typeface="Nunito Bold"/>
                <a:cs typeface="Nunito Bold"/>
                <a:sym typeface="Nunito Bold"/>
              </a:rPr>
              <a:t>cluster-level explanation while keeping feature-level attribution</a:t>
            </a:r>
            <a:r>
              <a:rPr lang="en-US" sz="1900" b="true">
                <a:solidFill>
                  <a:srgbClr val="111111"/>
                </a:solidFill>
                <a:latin typeface="Nunito Semi-Bold"/>
                <a:ea typeface="Nunito Semi-Bold"/>
                <a:cs typeface="Nunito Semi-Bold"/>
                <a:sym typeface="Nunito Semi-Bold"/>
              </a:rPr>
              <a:t>.</a:t>
            </a:r>
          </a:p>
        </p:txBody>
      </p:sp>
      <p:sp>
        <p:nvSpPr>
          <p:cNvPr id="21" name="Oval 20"/>
          <p:cNvSpPr/>
          <p:nvPr/>
        </p:nvSpPr>
        <p:spPr>
          <a:xfrm>
            <a:off x="9784080" y="6472560"/>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O2</a:t>
            </a:r>
          </a:p>
        </p:txBody>
      </p:sp>
      <p:sp>
        <p:nvSpPr>
          <p:cNvPr id="22" name="TextBox 21"/>
          <p:cNvSpPr txBox="1"/>
          <p:nvPr/>
        </p:nvSpPr>
        <p:spPr>
          <a:xfrm>
            <a:off x="10515600" y="6189218"/>
            <a:ext cx="6240780" cy="1023884"/>
          </a:xfrm>
          <a:prstGeom prst="rect">
            <a:avLst/>
          </a:prstGeom>
          <a:noFill/>
        </p:spPr>
        <p:txBody>
          <a:bodyPr anchor="ctr" rtlCol="false" lIns="0" tIns="0" rIns="0" bIns="0" wrap="square"/>
          <a:lstStyle/>
          <a:p>
            <a:pPr algn="l">
              <a:lnSpc>
                <a:spcPts val="2584"/>
              </a:lnSpc>
              <a:spcBef>
                <a:spcPts val="0"/>
              </a:spcBef>
              <a:buNone/>
            </a:pPr>
            <a:r>
              <a:rPr lang="en-US" sz="1900" b="true">
                <a:solidFill>
                  <a:srgbClr val="111111"/>
                </a:solidFill>
                <a:latin typeface="Nunito Semi-Bold"/>
                <a:ea typeface="Nunito Semi-Bold"/>
                <a:cs typeface="Nunito Semi-Bold"/>
                <a:sym typeface="Nunito Semi-Bold"/>
              </a:rPr>
              <a:t>Preserve the semantics of the </a:t>
            </a:r>
            <a:r>
              <a:rPr lang="en-US" sz="1900" b="true">
                <a:solidFill>
                  <a:srgbClr val="111111"/>
                </a:solidFill>
                <a:latin typeface="Nunito Bold"/>
                <a:ea typeface="Nunito Bold"/>
                <a:cs typeface="Nunito Bold"/>
                <a:sym typeface="Nunito Bold"/>
              </a:rPr>
              <a:t>original feature space</a:t>
            </a:r>
            <a:r>
              <a:rPr lang="en-US" sz="1900" b="true">
                <a:solidFill>
                  <a:srgbClr val="111111"/>
                </a:solidFill>
                <a:latin typeface="Nunito Semi-Bold"/>
                <a:ea typeface="Nunito Semi-Bold"/>
                <a:cs typeface="Nunito Semi-Bold"/>
                <a:sym typeface="Nunito Semi-Bold"/>
              </a:rPr>
              <a:t> — density, pH, acidity, sulfur dioxide, alcohol — not a reduced latent space.</a:t>
            </a:r>
          </a:p>
        </p:txBody>
      </p:sp>
      <p:sp>
        <p:nvSpPr>
          <p:cNvPr id="23" name="Oval 22"/>
          <p:cNvSpPr/>
          <p:nvPr/>
        </p:nvSpPr>
        <p:spPr>
          <a:xfrm>
            <a:off x="9784080" y="7523998"/>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O3</a:t>
            </a:r>
          </a:p>
        </p:txBody>
      </p:sp>
      <p:sp>
        <p:nvSpPr>
          <p:cNvPr id="24" name="TextBox 23"/>
          <p:cNvSpPr txBox="1"/>
          <p:nvPr/>
        </p:nvSpPr>
        <p:spPr>
          <a:xfrm>
            <a:off x="10515600" y="7341118"/>
            <a:ext cx="6240780" cy="822960"/>
          </a:xfrm>
          <a:prstGeom prst="rect">
            <a:avLst/>
          </a:prstGeom>
          <a:noFill/>
        </p:spPr>
        <p:txBody>
          <a:bodyPr anchor="ctr" rtlCol="false" lIns="0" tIns="0" rIns="0" bIns="0" wrap="square"/>
          <a:lstStyle/>
          <a:p>
            <a:pPr algn="l">
              <a:lnSpc>
                <a:spcPts val="2584"/>
              </a:lnSpc>
              <a:spcBef>
                <a:spcPts val="0"/>
              </a:spcBef>
              <a:buNone/>
            </a:pPr>
            <a:r>
              <a:rPr lang="en-US" sz="1900" b="true">
                <a:solidFill>
                  <a:srgbClr val="111111"/>
                </a:solidFill>
                <a:latin typeface="Nunito Bold"/>
                <a:ea typeface="Nunito Bold"/>
                <a:cs typeface="Nunito Bold"/>
                <a:sym typeface="Nunito Bold"/>
              </a:rPr>
              <a:t>Justify Shapley</a:t>
            </a:r>
            <a:r>
              <a:rPr lang="en-US" sz="1900" b="true">
                <a:solidFill>
                  <a:srgbClr val="111111"/>
                </a:solidFill>
                <a:latin typeface="Nunito Semi-Bold"/>
                <a:ea typeface="Nunito Semi-Bold"/>
                <a:cs typeface="Nunito Semi-Bold"/>
                <a:sym typeface="Nunito Semi-Bold"/>
              </a:rPr>
              <a:t> over an ad-hoc surrogate such as LIME.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Clustering as a Cooperative Game</a:t>
            </a:r>
          </a:p>
        </p:txBody>
      </p:sp>
      <p:pic>
        <p:nvPicPr>
          <p:cNvPr id="8" name="Picture 7" descr="image.png"/>
          <p:cNvPicPr>
            <a:picLocks noChangeAspect="1"/>
          </p:cNvPicPr>
          <p:nvPr/>
        </p:nvPicPr>
        <p:blipFill>
          <a:blip r:embed="rId2"/>
          <a:stretch>
            <a:fillRect/>
          </a:stretch>
        </p:blipFill>
        <p:spPr>
          <a:xfrm>
            <a:off x="9990865" y="1673352"/>
            <a:ext cx="457200" cy="61711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Player set N = F</a:t>
            </a:r>
            <a:r>
              <a:rPr lang="en-US" sz="2100" b="true">
                <a:solidFill>
                  <a:srgbClr val="111111"/>
                </a:solidFill>
                <a:latin typeface="Nunito Semi-Bold"/>
                <a:ea typeface="Nunito Semi-Bold"/>
                <a:cs typeface="Nunito Semi-Bold"/>
                <a:sym typeface="Nunito Semi-Bold"/>
              </a:rPr>
              <a:t> — each feature is a player.</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Value function v(S) = Silhouette( KMeans(X_S, k*) )</a:t>
            </a:r>
            <a:r>
              <a:rPr lang="en-US" sz="2100" b="true">
                <a:solidFill>
                  <a:srgbClr val="111111"/>
                </a:solidFill>
                <a:latin typeface="Nunito Semi-Bold"/>
                <a:ea typeface="Nunito Semi-Bold"/>
                <a:cs typeface="Nunito Semi-Bold"/>
                <a:sym typeface="Nunito Semi-Bold"/>
              </a:rPr>
              <a:t> — how well data cluster using only the features in S.</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feature's Shapley value = its </a:t>
            </a:r>
            <a:r>
              <a:rPr lang="en-US" sz="2100" b="true">
                <a:solidFill>
                  <a:srgbClr val="111111"/>
                </a:solidFill>
                <a:latin typeface="Nunito Bold"/>
                <a:ea typeface="Nunito Bold"/>
                <a:cs typeface="Nunito Bold"/>
                <a:sym typeface="Nunito Bold"/>
              </a:rPr>
              <a:t>expected marginal contribution to clustering quality</a:t>
            </a:r>
            <a:r>
              <a:rPr lang="en-US" sz="2100" b="true">
                <a:solidFill>
                  <a:srgbClr val="111111"/>
                </a:solidFill>
                <a:latin typeface="Nunito Semi-Bold"/>
                <a:ea typeface="Nunito Semi-Bold"/>
                <a:cs typeface="Nunito Semi-Bold"/>
                <a:sym typeface="Nunito Semi-Bold"/>
              </a:rPr>
              <a:t> over all coalition orders.</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Silhouette:</a:t>
            </a:r>
            <a:r>
              <a:rPr lang="en-US" sz="2100" b="true">
                <a:solidFill>
                  <a:srgbClr val="111111"/>
                </a:solidFill>
                <a:latin typeface="Nunito Semi-Bold"/>
                <a:ea typeface="Nunito Semi-Bold"/>
                <a:cs typeface="Nunito Semi-Bold"/>
                <a:sym typeface="Nunito Semi-Bold"/>
              </a:rPr>
              <a:t> bounded, normalised, semantically intuitive (Davies–Bouldin or Calinski–Harabasz would also be defensible).</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Direct evaluation for every coalition is </a:t>
            </a:r>
            <a:r>
              <a:rPr lang="en-US" sz="2100" b="true">
                <a:solidFill>
                  <a:srgbClr val="111111"/>
                </a:solidFill>
                <a:latin typeface="Nunito Bold"/>
                <a:ea typeface="Nunito Bold"/>
                <a:cs typeface="Nunito Bold"/>
                <a:sym typeface="Nunito Bold"/>
              </a:rPr>
              <a:t>intractable</a:t>
            </a:r>
            <a:r>
              <a:rPr lang="en-US" sz="2100" b="true">
                <a:solidFill>
                  <a:srgbClr val="111111"/>
                </a:solidFill>
                <a:latin typeface="Calibri"/>
                <a:ea typeface="Calibri"/>
                <a:cs typeface="Calibri"/>
                <a:sym typeface="Calibri"/>
              </a:rPr>
              <a:t> → </a:t>
            </a:r>
            <a:r>
              <a:rPr lang="en-US" sz="2100" b="true">
                <a:solidFill>
                  <a:srgbClr val="111111"/>
                </a:solidFill>
                <a:latin typeface="Nunito Semi-Bold"/>
                <a:ea typeface="Nunito Semi-Bold"/>
                <a:cs typeface="Nunito Semi-Bold"/>
                <a:sym typeface="Nunito Semi-Bold"/>
              </a:rPr>
              <a:t>we need a bridge.</a:t>
            </a:r>
          </a:p>
        </p:txBody>
      </p:sp>
      <p:sp>
        <p:nvSpPr>
          <p:cNvPr id="14" name="Rounded Rectangle 13"/>
          <p:cNvSpPr/>
          <p:nvPr/>
        </p:nvSpPr>
        <p:spPr>
          <a:xfrm>
            <a:off x="9258300" y="3363722"/>
            <a:ext cx="8001000" cy="2377440"/>
          </a:xfrm>
          <a:prstGeom prst="roundRect">
            <a:avLst>
              <a:gd name="adj" fmla="val 11538"/>
            </a:avLst>
          </a:prstGeom>
          <a:solidFill>
            <a:srgbClr val="124944"/>
          </a:solidFill>
          <a:ln>
            <a:noFill/>
          </a:ln>
        </p:spPr>
        <p:txBody>
          <a:bodyPr anchor="ctr" rtlCol="false" lIns="274320" tIns="182880" rIns="274320" bIns="182880" wrap="square"/>
          <a:lstStyle/>
          <a:p>
            <a:pPr algn="ctr">
              <a:lnSpc>
                <a:spcPts val="1800"/>
              </a:lnSpc>
              <a:spcBef>
                <a:spcPts val="0"/>
              </a:spcBef>
              <a:buNone/>
            </a:pPr>
            <a:r>
              <a:rPr lang="en-US" sz="1400" b="true" spc="160">
                <a:solidFill>
                  <a:srgbClr val="ECC665"/>
                </a:solidFill>
                <a:latin typeface="Nunito Ultra-Bold"/>
                <a:ea typeface="Nunito Ultra-Bold"/>
                <a:cs typeface="Nunito Ultra-Bold"/>
                <a:sym typeface="Nunito Ultra-Bold"/>
              </a:rPr>
              <a:t>SHAPLEY VALUE OF FEATURE j</a:t>
            </a:r>
          </a:p>
          <a:p>
            <a:pPr algn="ctr">
              <a:lnSpc>
                <a:spcPts val="3000"/>
              </a:lnSpc>
              <a:spcBef>
                <a:spcPts val="1400"/>
              </a:spcBef>
              <a:buNone/>
            </a:pPr>
            <a:r>
              <a:rPr lang="en-US" sz="2200" b="true">
                <a:solidFill>
                  <a:srgbClr val="FFFFFF"/>
                </a:solidFill>
                <a:latin typeface="Calibri"/>
                <a:ea typeface="Calibri"/>
                <a:cs typeface="Calibri"/>
                <a:sym typeface="Calibri"/>
              </a:rPr>
              <a:t>φ</a:t>
            </a:r>
            <a:r>
              <a:rPr lang="en-US" sz="2200" b="true" baseline="-25000">
                <a:solidFill>
                  <a:srgbClr val="FFFFFF"/>
                </a:solidFill>
                <a:latin typeface="Nunito Bold"/>
                <a:ea typeface="Nunito Bold"/>
                <a:cs typeface="Nunito Bold"/>
                <a:sym typeface="Nunito Bold"/>
              </a:rPr>
              <a:t>j</a:t>
            </a:r>
            <a:r>
              <a:rPr lang="en-US" sz="2200" b="true">
                <a:solidFill>
                  <a:srgbClr val="FFFFFF"/>
                </a:solidFill>
                <a:latin typeface="Nunito Bold"/>
                <a:ea typeface="Nunito Bold"/>
                <a:cs typeface="Nunito Bold"/>
                <a:sym typeface="Nunito Bold"/>
              </a:rPr>
              <a:t> = Σ</a:t>
            </a:r>
            <a:r>
              <a:rPr lang="en-US" sz="2200" b="true" baseline="-25000">
                <a:solidFill>
                  <a:srgbClr val="FFFFFF"/>
                </a:solidFill>
                <a:latin typeface="Nunito Bold"/>
                <a:ea typeface="Nunito Bold"/>
                <a:cs typeface="Nunito Bold"/>
                <a:sym typeface="Nunito Bold"/>
              </a:rPr>
              <a:t>S </a:t>
            </a:r>
            <a:r>
              <a:rPr lang="en-US" sz="2200" b="true" baseline="-25000">
                <a:solidFill>
                  <a:srgbClr val="FFFFFF"/>
                </a:solidFill>
                <a:latin typeface="Cambria Math"/>
                <a:ea typeface="Cambria Math"/>
                <a:cs typeface="Cambria Math"/>
                <a:sym typeface="Cambria Math"/>
              </a:rPr>
              <a:t>⊆ </a:t>
            </a:r>
            <a:r>
              <a:rPr lang="en-US" sz="2200" b="true" baseline="-25000">
                <a:solidFill>
                  <a:srgbClr val="FFFFFF"/>
                </a:solidFill>
                <a:latin typeface="Nunito Bold"/>
                <a:ea typeface="Nunito Bold"/>
                <a:cs typeface="Nunito Bold"/>
                <a:sym typeface="Nunito Bold"/>
              </a:rPr>
              <a:t>N</a:t>
            </a:r>
            <a:r>
              <a:rPr lang="en-US" sz="2200" b="true" baseline="-25000">
                <a:solidFill>
                  <a:srgbClr val="FFFFFF"/>
                </a:solidFill>
                <a:latin typeface="Cambria Math"/>
                <a:ea typeface="Cambria Math"/>
                <a:cs typeface="Cambria Math"/>
                <a:sym typeface="Cambria Math"/>
              </a:rPr>
              <a:t>∖</a:t>
            </a:r>
            <a:r>
              <a:rPr lang="en-US" sz="2200" b="true" baseline="-25000">
                <a:solidFill>
                  <a:srgbClr val="FFFFFF"/>
                </a:solidFill>
                <a:latin typeface="Nunito Bold"/>
                <a:ea typeface="Nunito Bold"/>
                <a:cs typeface="Nunito Bold"/>
                <a:sym typeface="Nunito Bold"/>
              </a:rPr>
              <a:t>j</a:t>
            </a:r>
            <a:r>
              <a:rPr lang="en-US" sz="2200" b="true">
                <a:solidFill>
                  <a:srgbClr val="FFFFFF"/>
                </a:solidFill>
                <a:latin typeface="Nunito Bold"/>
                <a:ea typeface="Nunito Bold"/>
                <a:cs typeface="Nunito Bold"/>
                <a:sym typeface="Nunito Bold"/>
              </a:rPr>
              <a:t>  |S|! (n−|S|−1)! / n!  ·  [ v(S </a:t>
            </a:r>
            <a:r>
              <a:rPr lang="en-US" sz="2200" b="true">
                <a:solidFill>
                  <a:srgbClr val="FFFFFF"/>
                </a:solidFill>
                <a:latin typeface="Cambria Math"/>
                <a:ea typeface="Cambria Math"/>
                <a:cs typeface="Cambria Math"/>
                <a:sym typeface="Cambria Math"/>
              </a:rPr>
              <a:t>∪ </a:t>
            </a:r>
            <a:r>
              <a:rPr lang="en-US" sz="2200" b="true">
                <a:solidFill>
                  <a:srgbClr val="FFFFFF"/>
                </a:solidFill>
                <a:latin typeface="Nunito Bold"/>
                <a:ea typeface="Nunito Bold"/>
                <a:cs typeface="Nunito Bold"/>
                <a:sym typeface="Nunito Bold"/>
              </a:rPr>
              <a:t>{j}) − v(S) ]</a:t>
            </a:r>
          </a:p>
          <a:p>
            <a:pPr algn="ctr">
              <a:lnSpc>
                <a:spcPts val="2000"/>
              </a:lnSpc>
              <a:spcBef>
                <a:spcPts val="800"/>
              </a:spcBef>
              <a:buNone/>
            </a:pPr>
            <a:r>
              <a:rPr lang="en-US" sz="1600" b="true">
                <a:solidFill>
                  <a:srgbClr val="DCE7E3"/>
                </a:solidFill>
                <a:latin typeface="Nunito Semi-Bold"/>
                <a:ea typeface="Nunito Semi-Bold"/>
                <a:cs typeface="Nunito Semi-Bold"/>
                <a:sym typeface="Nunito Semi-Bold"/>
              </a:rPr>
              <a:t>expected marginal contribution over all orders of arrival</a:t>
            </a:r>
          </a:p>
        </p:txBody>
      </p:sp>
      <p:sp>
        <p:nvSpPr>
          <p:cNvPr id="15" name="Rounded Rectangle 14"/>
          <p:cNvSpPr/>
          <p:nvPr/>
        </p:nvSpPr>
        <p:spPr>
          <a:xfrm>
            <a:off x="9258300" y="6015482"/>
            <a:ext cx="3886200" cy="1074420"/>
          </a:xfrm>
          <a:prstGeom prst="roundRect">
            <a:avLst>
              <a:gd name="adj" fmla="val 17021"/>
            </a:avLst>
          </a:prstGeom>
          <a:solidFill>
            <a:srgbClr val="F6ECDF"/>
          </a:solidFill>
          <a:ln>
            <a:noFill/>
          </a:ln>
        </p:spPr>
        <p:txBody>
          <a:bodyPr anchor="ctr" rtlCol="false" lIns="91440" tIns="45720" rIns="91440" bIns="45720" wrap="square"/>
          <a:lstStyle/>
          <a:p>
            <a:pPr algn="ctr">
              <a:lnSpc>
                <a:spcPts val="2185"/>
              </a:lnSpc>
              <a:spcBef>
                <a:spcPts val="0"/>
              </a:spcBef>
              <a:buNone/>
            </a:pPr>
            <a:r>
              <a:rPr lang="en-US" sz="1900" b="true">
                <a:solidFill>
                  <a:srgbClr val="111111"/>
                </a:solidFill>
                <a:latin typeface="Nunito Bold"/>
                <a:ea typeface="Nunito Bold"/>
                <a:cs typeface="Nunito Bold"/>
                <a:sym typeface="Nunito Bold"/>
              </a:rPr>
              <a:t>Efficiency</a:t>
            </a:r>
          </a:p>
          <a:p>
            <a:pPr algn="ctr">
              <a:lnSpc>
                <a:spcPts val="1800"/>
              </a:lnSpc>
              <a:spcBef>
                <a:spcPts val="300"/>
              </a:spcBef>
              <a:buNone/>
            </a:pPr>
            <a:r>
              <a:rPr lang="en-US" sz="1500" b="true">
                <a:solidFill>
                  <a:srgbClr val="8A8378"/>
                </a:solidFill>
                <a:latin typeface="Nunito Semi-Bold"/>
                <a:ea typeface="Nunito Semi-Bold"/>
                <a:cs typeface="Nunito Semi-Bold"/>
                <a:sym typeface="Nunito Semi-Bold"/>
              </a:rPr>
              <a:t>attributions sum to v(N) − v(∅)</a:t>
            </a:r>
          </a:p>
        </p:txBody>
      </p:sp>
      <p:sp>
        <p:nvSpPr>
          <p:cNvPr id="16" name="Rounded Rectangle 15"/>
          <p:cNvSpPr/>
          <p:nvPr/>
        </p:nvSpPr>
        <p:spPr>
          <a:xfrm>
            <a:off x="13373100" y="6015482"/>
            <a:ext cx="3886200" cy="1074420"/>
          </a:xfrm>
          <a:prstGeom prst="roundRect">
            <a:avLst>
              <a:gd name="adj" fmla="val 17021"/>
            </a:avLst>
          </a:prstGeom>
          <a:solidFill>
            <a:srgbClr val="F6ECDF"/>
          </a:solidFill>
          <a:ln>
            <a:noFill/>
          </a:ln>
        </p:spPr>
        <p:txBody>
          <a:bodyPr anchor="ctr" rtlCol="false" lIns="91440" tIns="45720" rIns="91440" bIns="45720" wrap="square"/>
          <a:lstStyle/>
          <a:p>
            <a:pPr algn="ctr">
              <a:lnSpc>
                <a:spcPts val="2185"/>
              </a:lnSpc>
              <a:spcBef>
                <a:spcPts val="0"/>
              </a:spcBef>
              <a:buNone/>
            </a:pPr>
            <a:r>
              <a:rPr lang="en-US" sz="1900" b="true">
                <a:solidFill>
                  <a:srgbClr val="111111"/>
                </a:solidFill>
                <a:latin typeface="Nunito Bold"/>
                <a:ea typeface="Nunito Bold"/>
                <a:cs typeface="Nunito Bold"/>
                <a:sym typeface="Nunito Bold"/>
              </a:rPr>
              <a:t>Symmetry</a:t>
            </a:r>
          </a:p>
          <a:p>
            <a:pPr algn="ctr">
              <a:lnSpc>
                <a:spcPts val="1800"/>
              </a:lnSpc>
              <a:spcBef>
                <a:spcPts val="300"/>
              </a:spcBef>
              <a:buNone/>
            </a:pPr>
            <a:r>
              <a:rPr lang="en-US" sz="1500" b="true">
                <a:solidFill>
                  <a:srgbClr val="8A8378"/>
                </a:solidFill>
                <a:latin typeface="Nunito Semi-Bold"/>
                <a:ea typeface="Nunito Semi-Bold"/>
                <a:cs typeface="Nunito Semi-Bold"/>
                <a:sym typeface="Nunito Semi-Bold"/>
              </a:rPr>
              <a:t>equal contributors get equal credit</a:t>
            </a:r>
          </a:p>
        </p:txBody>
      </p:sp>
      <p:sp>
        <p:nvSpPr>
          <p:cNvPr id="17" name="Rounded Rectangle 16"/>
          <p:cNvSpPr/>
          <p:nvPr/>
        </p:nvSpPr>
        <p:spPr>
          <a:xfrm>
            <a:off x="9258300" y="7318502"/>
            <a:ext cx="3886200" cy="1074420"/>
          </a:xfrm>
          <a:prstGeom prst="roundRect">
            <a:avLst>
              <a:gd name="adj" fmla="val 17021"/>
            </a:avLst>
          </a:prstGeom>
          <a:solidFill>
            <a:srgbClr val="F6ECDF"/>
          </a:solidFill>
          <a:ln>
            <a:noFill/>
          </a:ln>
        </p:spPr>
        <p:txBody>
          <a:bodyPr anchor="ctr" rtlCol="false" lIns="91440" tIns="45720" rIns="91440" bIns="45720" wrap="square"/>
          <a:lstStyle/>
          <a:p>
            <a:pPr algn="ctr">
              <a:lnSpc>
                <a:spcPts val="2185"/>
              </a:lnSpc>
              <a:spcBef>
                <a:spcPts val="0"/>
              </a:spcBef>
              <a:buNone/>
            </a:pPr>
            <a:r>
              <a:rPr lang="en-US" sz="1900" b="true">
                <a:solidFill>
                  <a:srgbClr val="111111"/>
                </a:solidFill>
                <a:latin typeface="Nunito Bold"/>
                <a:ea typeface="Nunito Bold"/>
                <a:cs typeface="Nunito Bold"/>
                <a:sym typeface="Nunito Bold"/>
              </a:rPr>
              <a:t>Null player</a:t>
            </a:r>
          </a:p>
          <a:p>
            <a:pPr algn="ctr">
              <a:lnSpc>
                <a:spcPts val="1800"/>
              </a:lnSpc>
              <a:spcBef>
                <a:spcPts val="300"/>
              </a:spcBef>
              <a:buNone/>
            </a:pPr>
            <a:r>
              <a:rPr lang="en-US" sz="1500" b="true">
                <a:solidFill>
                  <a:srgbClr val="8A8378"/>
                </a:solidFill>
                <a:latin typeface="Nunito Semi-Bold"/>
                <a:ea typeface="Nunito Semi-Bold"/>
                <a:cs typeface="Nunito Semi-Bold"/>
                <a:sym typeface="Nunito Semi-Bold"/>
              </a:rPr>
              <a:t>no marginal effect </a:t>
            </a:r>
            <a:r>
              <a:rPr lang="en-US" sz="1500" b="true">
                <a:solidFill>
                  <a:srgbClr val="8A8378"/>
                </a:solidFill>
                <a:latin typeface="Calibri"/>
                <a:ea typeface="Calibri"/>
                <a:cs typeface="Calibri"/>
                <a:sym typeface="Calibri"/>
              </a:rPr>
              <a:t>→ </a:t>
            </a:r>
            <a:r>
              <a:rPr lang="en-US" sz="1500" b="true">
                <a:solidFill>
                  <a:srgbClr val="8A8378"/>
                </a:solidFill>
                <a:latin typeface="Nunito Semi-Bold"/>
                <a:ea typeface="Nunito Semi-Bold"/>
                <a:cs typeface="Nunito Semi-Bold"/>
                <a:sym typeface="Nunito Semi-Bold"/>
              </a:rPr>
              <a:t>zero</a:t>
            </a:r>
          </a:p>
        </p:txBody>
      </p:sp>
      <p:sp>
        <p:nvSpPr>
          <p:cNvPr id="18" name="Rounded Rectangle 17"/>
          <p:cNvSpPr/>
          <p:nvPr/>
        </p:nvSpPr>
        <p:spPr>
          <a:xfrm>
            <a:off x="13373100" y="7318502"/>
            <a:ext cx="3886200" cy="1074420"/>
          </a:xfrm>
          <a:prstGeom prst="roundRect">
            <a:avLst>
              <a:gd name="adj" fmla="val 17021"/>
            </a:avLst>
          </a:prstGeom>
          <a:solidFill>
            <a:srgbClr val="F6ECDF"/>
          </a:solidFill>
          <a:ln>
            <a:noFill/>
          </a:ln>
        </p:spPr>
        <p:txBody>
          <a:bodyPr anchor="ctr" rtlCol="false" lIns="91440" tIns="45720" rIns="91440" bIns="45720" wrap="square"/>
          <a:lstStyle/>
          <a:p>
            <a:pPr algn="ctr">
              <a:lnSpc>
                <a:spcPts val="2185"/>
              </a:lnSpc>
              <a:spcBef>
                <a:spcPts val="0"/>
              </a:spcBef>
              <a:buNone/>
            </a:pPr>
            <a:r>
              <a:rPr lang="en-US" sz="1900" b="true">
                <a:solidFill>
                  <a:srgbClr val="111111"/>
                </a:solidFill>
                <a:latin typeface="Nunito Bold"/>
                <a:ea typeface="Nunito Bold"/>
                <a:cs typeface="Nunito Bold"/>
                <a:sym typeface="Nunito Bold"/>
              </a:rPr>
              <a:t>Additivity</a:t>
            </a:r>
          </a:p>
          <a:p>
            <a:pPr algn="ctr">
              <a:lnSpc>
                <a:spcPts val="1800"/>
              </a:lnSpc>
              <a:spcBef>
                <a:spcPts val="300"/>
              </a:spcBef>
              <a:buNone/>
            </a:pPr>
            <a:r>
              <a:rPr lang="en-US" sz="1500" b="true">
                <a:solidFill>
                  <a:srgbClr val="8A8378"/>
                </a:solidFill>
                <a:latin typeface="Nunito Semi-Bold"/>
                <a:ea typeface="Nunito Semi-Bold"/>
                <a:cs typeface="Nunito Semi-Bold"/>
                <a:sym typeface="Nunito Semi-Bold"/>
              </a:rPr>
              <a:t>linear across games</a:t>
            </a:r>
          </a:p>
        </p:txBody>
      </p:sp>
      <p:sp>
        <p:nvSpPr>
          <p:cNvPr id="19" name="Rounded Rectangle 18"/>
          <p:cNvSpPr/>
          <p:nvPr/>
        </p:nvSpPr>
        <p:spPr>
          <a:xfrm>
            <a:off x="9258300" y="8621522"/>
            <a:ext cx="8001000" cy="687070"/>
          </a:xfrm>
          <a:prstGeom prst="roundRect">
            <a:avLst>
              <a:gd name="adj" fmla="val 33271"/>
            </a:avLst>
          </a:prstGeom>
          <a:noFill/>
          <a:ln w="31750">
            <a:solidFill>
              <a:srgbClr val="DF8330"/>
            </a:solidFill>
          </a:ln>
        </p:spPr>
        <p:txBody>
          <a:bodyPr anchor="ctr" rtlCol="false" lIns="274320" tIns="91440" rIns="274320" bIns="9144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2</a:t>
            </a:r>
            <a:r>
              <a:rPr lang="en-US" sz="1700" b="true" baseline="30000">
                <a:solidFill>
                  <a:srgbClr val="111111"/>
                </a:solidFill>
                <a:latin typeface="Nunito Bold"/>
                <a:ea typeface="Nunito Bold"/>
                <a:cs typeface="Nunito Bold"/>
                <a:sym typeface="Nunito Bold"/>
              </a:rPr>
              <a:t>|F|</a:t>
            </a:r>
            <a:r>
              <a:rPr lang="en-US" sz="1700" b="true">
                <a:solidFill>
                  <a:srgbClr val="111111"/>
                </a:solidFill>
                <a:latin typeface="Nunito Bold"/>
                <a:ea typeface="Nunito Bold"/>
                <a:cs typeface="Nunito Bold"/>
                <a:sym typeface="Nunito Bold"/>
              </a:rPr>
              <a:t> coalitions</a:t>
            </a:r>
            <a:r>
              <a:rPr lang="en-US" sz="1700" b="true">
                <a:solidFill>
                  <a:srgbClr val="111111"/>
                </a:solidFill>
                <a:latin typeface="Nunito Semi-Bold"/>
                <a:ea typeface="Nunito Semi-Bold"/>
                <a:cs typeface="Nunito Semi-Bold"/>
                <a:sym typeface="Nunito Semi-Bold"/>
              </a:rPr>
              <a:t> — for 11 wine features that is 2,048 K-Means runs per evaluation; for large data, infeasible.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8" name="Picture 7" descr="image.png"/>
          <p:cNvPicPr>
            <a:picLocks noChangeAspect="1"/>
          </p:cNvPicPr>
          <p:nvPr/>
        </p:nvPicPr>
        <p:blipFill>
          <a:blip r:embed="rId2"/>
          <a:stretch>
            <a:fillRect/>
          </a:stretch>
        </p:blipFill>
        <p:spPr>
          <a:xfrm>
            <a:off x="12801592"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14" name="Connector 13"/>
          <p:cNvCxnSpPr/>
          <p:nvPr/>
        </p:nvCxnSpPr>
        <p:spPr>
          <a:xfrm>
            <a:off x="4027932" y="4049522"/>
            <a:ext cx="1362456" cy="0"/>
          </a:xfrm>
          <a:prstGeom prst="line">
            <a:avLst/>
          </a:prstGeom>
          <a:ln w="31750">
            <a:solidFill>
              <a:srgbClr val="124944"/>
            </a:solidFill>
            <a:tailEnd type="triangle" w="med" len="med"/>
          </a:ln>
        </p:spPr>
      </p:cxnSp>
      <p:sp>
        <p:nvSpPr>
          <p:cNvPr id="15" name="Rounded Rectangle 14"/>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16" name="Connector 15"/>
          <p:cNvCxnSpPr/>
          <p:nvPr/>
        </p:nvCxnSpPr>
        <p:spPr>
          <a:xfrm>
            <a:off x="8462772" y="4049522"/>
            <a:ext cx="1362456" cy="0"/>
          </a:xfrm>
          <a:prstGeom prst="line">
            <a:avLst/>
          </a:prstGeom>
          <a:ln w="31750">
            <a:solidFill>
              <a:srgbClr val="124944"/>
            </a:solidFill>
            <a:tailEnd type="triangle" w="med" len="med"/>
          </a:ln>
        </p:spPr>
      </p:cxnSp>
      <p:sp>
        <p:nvSpPr>
          <p:cNvPr id="17" name="Rounded Rectangle 16"/>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18" name="Connector 17"/>
          <p:cNvCxnSpPr/>
          <p:nvPr/>
        </p:nvCxnSpPr>
        <p:spPr>
          <a:xfrm>
            <a:off x="12897612" y="4049522"/>
            <a:ext cx="1362456" cy="0"/>
          </a:xfrm>
          <a:prstGeom prst="line">
            <a:avLst/>
          </a:prstGeom>
          <a:ln w="31750">
            <a:solidFill>
              <a:srgbClr val="124944"/>
            </a:solidFill>
            <a:tailEnd type="triangle" w="med" len="med"/>
          </a:ln>
        </p:spPr>
      </p:cxnSp>
      <p:sp>
        <p:nvSpPr>
          <p:cNvPr id="19" name="Rounded Rectangle 18"/>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20" name="Rounded Rectangle 19"/>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21" name="Rounded Rectangle 20"/>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22" name="TextBox 21"/>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 fast, exact tree-based attribution in the original semantic feature space.</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23" name="Rounded Rectangle 22"/>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24" name="Rounded Rectangle 23"/>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25" name="TextBox 24"/>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19"/>
              </a:lnSpc>
              <a:spcBef>
                <a:spcPts val="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Direct TreeSHAP on K-Means is impossible — it explains </a:t>
            </a:r>
            <a:r>
              <a:rPr lang="en-US" sz="1880" b="true">
                <a:solidFill>
                  <a:srgbClr val="111111"/>
                </a:solidFill>
                <a:latin typeface="Nunito Bold"/>
                <a:ea typeface="Nunito Bold"/>
                <a:cs typeface="Nunito Bold"/>
                <a:sym typeface="Nunito Bold"/>
              </a:rPr>
              <a:t>tree models, not centroids</a:t>
            </a:r>
            <a:r>
              <a:rPr lang="en-US" sz="1880" b="true">
                <a:solidFill>
                  <a:srgbClr val="111111"/>
                </a:solidFill>
                <a:latin typeface="Nunito Semi-Bold"/>
                <a:ea typeface="Nunito Semi-Bold"/>
                <a:cs typeface="Nunito Semi-Bold"/>
                <a:sym typeface="Nunito Semi-Bold"/>
              </a:rPr>
              <a:t>.</a:t>
            </a:r>
          </a:p>
          <a:p>
            <a:pPr algn="l" marL="274320" indent="-274320">
              <a:lnSpc>
                <a:spcPts val="2519"/>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19"/>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The surrogate preserves the </a:t>
            </a:r>
            <a:r>
              <a:rPr lang="en-US" sz="1880" b="true">
                <a:solidFill>
                  <a:srgbClr val="111111"/>
                </a:solidFill>
                <a:latin typeface="Nunito Bold"/>
                <a:ea typeface="Nunito Bold"/>
                <a:cs typeface="Nunito Bold"/>
                <a:sym typeface="Nunito Bold"/>
              </a:rPr>
              <a:t>chemistry / pollution vocabulary</a:t>
            </a:r>
            <a:r>
              <a:rPr lang="en-US" sz="1880" b="true">
                <a:solidFill>
                  <a:srgbClr val="111111"/>
                </a:solidFill>
                <a:latin typeface="Nunito Semi-Bold"/>
                <a:ea typeface="Nunito Semi-Bold"/>
                <a:cs typeface="Nunito Semi-Bold"/>
                <a:sym typeface="Nunito Semi-Bold"/>
              </a:rPr>
              <a:t> that makes the analysis actionable.</a:t>
            </a:r>
          </a:p>
          <a:p>
            <a:pPr algn="l" marL="274320" indent="-274320">
              <a:lnSpc>
                <a:spcPts val="2519"/>
              </a:lnSpc>
              <a:spcBef>
                <a:spcPts val="940"/>
              </a:spcBef>
              <a:buClr>
                <a:srgbClr val="DF8330"/>
              </a:buClr>
              <a:buSzPct val="100000"/>
              <a:buFont typeface="Arial"/>
              <a:buChar char="•"/>
            </a:pPr>
            <a:r>
              <a:rPr lang="en-US" sz="1880" b="true">
                <a:solidFill>
                  <a:srgbClr val="111111"/>
                </a:solidFill>
                <a:latin typeface="Nunito Bold"/>
                <a:ea typeface="Nunito Bold"/>
                <a:cs typeface="Nunito Bold"/>
                <a:sym typeface="Nunito Bold"/>
              </a:rPr>
              <a:t>Validity condition:</a:t>
            </a:r>
            <a:r>
              <a:rPr lang="en-US" sz="1880" b="true">
                <a:solidFill>
                  <a:srgbClr val="111111"/>
                </a:solidFill>
                <a:latin typeface="Nunito Semi-Bold"/>
                <a:ea typeface="Nunito Semi-Bold"/>
                <a:cs typeface="Nunito Semi-Bold"/>
                <a:sym typeface="Nunito Semi-Bold"/>
              </a:rPr>
              <a:t> surrogate fidelity is high — </a:t>
            </a:r>
            <a:r>
              <a:rPr lang="en-US" sz="1880" b="true">
                <a:solidFill>
                  <a:srgbClr val="111111"/>
                </a:solidFill>
                <a:latin typeface="Nunito Bold"/>
                <a:ea typeface="Nunito Bold"/>
                <a:cs typeface="Nunito Bold"/>
                <a:sym typeface="Nunito Bold"/>
              </a:rPr>
              <a:t>macro-F1 ≈ 0.82</a:t>
            </a:r>
            <a:r>
              <a:rPr lang="en-US" sz="188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Pipeline in Five Stages</a:t>
            </a:r>
          </a:p>
        </p:txBody>
      </p:sp>
      <p:pic>
        <p:nvPicPr>
          <p:cNvPr id="8" name="Picture 7" descr="image.png"/>
          <p:cNvPicPr>
            <a:picLocks noChangeAspect="1"/>
          </p:cNvPicPr>
          <p:nvPr/>
        </p:nvPicPr>
        <p:blipFill>
          <a:blip r:embed="rId2"/>
          <a:stretch>
            <a:fillRect/>
          </a:stretch>
        </p:blipFill>
        <p:spPr>
          <a:xfrm>
            <a:off x="6938245" y="1673352"/>
            <a:ext cx="457200" cy="539881"/>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8961120" cy="841248"/>
          </a:xfrm>
          <a:prstGeom prst="roundRect">
            <a:avLst>
              <a:gd name="adj" fmla="val 21739"/>
            </a:avLst>
          </a:prstGeom>
          <a:solidFill>
            <a:srgbClr val="F6ECDF"/>
          </a:solidFill>
          <a:ln>
            <a:noFill/>
          </a:ln>
        </p:spPr>
        <p:txBody>
          <a:bodyPr anchor="ctr" rtlCol="false" lIns="0" tIns="0" rIns="0" bIns="0" wrap="square"/>
          <a:lstStyle/>
          <a:p>
            <a:endParaRPr lang="en-US" sz="1800"/>
          </a:p>
        </p:txBody>
      </p:sp>
      <p:sp>
        <p:nvSpPr>
          <p:cNvPr id="14" name="Oval 13"/>
          <p:cNvSpPr/>
          <p:nvPr/>
        </p:nvSpPr>
        <p:spPr>
          <a:xfrm>
            <a:off x="1211580" y="3500882"/>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15" name="TextBox 14"/>
          <p:cNvSpPr txBox="1"/>
          <p:nvPr/>
        </p:nvSpPr>
        <p:spPr>
          <a:xfrm>
            <a:off x="1988820" y="3363722"/>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PCA</a:t>
            </a:r>
            <a:r>
              <a:rPr lang="en-US" sz="1900" b="true">
                <a:solidFill>
                  <a:srgbClr val="111111"/>
                </a:solidFill>
                <a:latin typeface="Nunito Semi-Bold"/>
                <a:ea typeface="Nunito Semi-Bold"/>
                <a:cs typeface="Nunito Semi-Bold"/>
                <a:sym typeface="Nunito Semi-Bold"/>
              </a:rPr>
              <a:t> — Stabilise geometry + visual diagnostic — </a:t>
            </a:r>
            <a:r>
              <a:rPr lang="en-US" sz="1900" b="true">
                <a:solidFill>
                  <a:srgbClr val="111111"/>
                </a:solidFill>
                <a:latin typeface="Nunito Bold"/>
                <a:ea typeface="Nunito Bold"/>
                <a:cs typeface="Nunito Bold"/>
                <a:sym typeface="Nunito Bold"/>
              </a:rPr>
              <a:t>NOT</a:t>
            </a:r>
            <a:r>
              <a:rPr lang="en-US" sz="1900" b="true">
                <a:solidFill>
                  <a:srgbClr val="111111"/>
                </a:solidFill>
                <a:latin typeface="Nunito Semi-Bold"/>
                <a:ea typeface="Nunito Semi-Bold"/>
                <a:cs typeface="Nunito Semi-Bold"/>
                <a:sym typeface="Nunito Semi-Bold"/>
              </a:rPr>
              <a:t> the explanatory space.</a:t>
            </a:r>
          </a:p>
        </p:txBody>
      </p:sp>
      <p:sp>
        <p:nvSpPr>
          <p:cNvPr id="16" name="Rounded Rectangle 15"/>
          <p:cNvSpPr/>
          <p:nvPr/>
        </p:nvSpPr>
        <p:spPr>
          <a:xfrm>
            <a:off x="1028700" y="4332986"/>
            <a:ext cx="8961120" cy="841248"/>
          </a:xfrm>
          <a:prstGeom prst="roundRect">
            <a:avLst>
              <a:gd name="adj" fmla="val 21739"/>
            </a:avLst>
          </a:prstGeom>
          <a:solidFill>
            <a:srgbClr val="FBF4EB"/>
          </a:solidFill>
          <a:ln>
            <a:noFill/>
          </a:ln>
        </p:spPr>
        <p:txBody>
          <a:bodyPr anchor="ctr" rtlCol="false" lIns="0" tIns="0" rIns="0" bIns="0" wrap="square"/>
          <a:lstStyle/>
          <a:p>
            <a:endParaRPr lang="en-US" sz="1800"/>
          </a:p>
        </p:txBody>
      </p:sp>
      <p:sp>
        <p:nvSpPr>
          <p:cNvPr id="17" name="Oval 16"/>
          <p:cNvSpPr/>
          <p:nvPr/>
        </p:nvSpPr>
        <p:spPr>
          <a:xfrm>
            <a:off x="1211580" y="4470146"/>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18" name="TextBox 17"/>
          <p:cNvSpPr txBox="1"/>
          <p:nvPr/>
        </p:nvSpPr>
        <p:spPr>
          <a:xfrm>
            <a:off x="1988820" y="4332986"/>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K-Means++</a:t>
            </a:r>
            <a:r>
              <a:rPr lang="en-US" sz="1900" b="true">
                <a:solidFill>
                  <a:srgbClr val="111111"/>
                </a:solidFill>
                <a:latin typeface="Nunito Semi-Bold"/>
                <a:ea typeface="Nunito Semi-Bold"/>
                <a:cs typeface="Nunito Semi-Bold"/>
                <a:sym typeface="Nunito Semi-Bold"/>
              </a:rPr>
              <a:t> — Multi-criteria k selection: elbow, Silhouette, Davies–Bouldin.</a:t>
            </a:r>
          </a:p>
        </p:txBody>
      </p:sp>
      <p:sp>
        <p:nvSpPr>
          <p:cNvPr id="19" name="Rounded Rectangle 18"/>
          <p:cNvSpPr/>
          <p:nvPr/>
        </p:nvSpPr>
        <p:spPr>
          <a:xfrm>
            <a:off x="1028700" y="5302250"/>
            <a:ext cx="8961120" cy="841248"/>
          </a:xfrm>
          <a:prstGeom prst="roundRect">
            <a:avLst>
              <a:gd name="adj" fmla="val 21739"/>
            </a:avLst>
          </a:prstGeom>
          <a:solidFill>
            <a:srgbClr val="F6ECDF"/>
          </a:solidFill>
          <a:ln>
            <a:noFill/>
          </a:ln>
        </p:spPr>
        <p:txBody>
          <a:bodyPr anchor="ctr" rtlCol="false" lIns="0" tIns="0" rIns="0" bIns="0" wrap="square"/>
          <a:lstStyle/>
          <a:p>
            <a:endParaRPr lang="en-US" sz="1800"/>
          </a:p>
        </p:txBody>
      </p:sp>
      <p:sp>
        <p:nvSpPr>
          <p:cNvPr id="20" name="Oval 19"/>
          <p:cNvSpPr/>
          <p:nvPr/>
        </p:nvSpPr>
        <p:spPr>
          <a:xfrm>
            <a:off x="1211580" y="543941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21" name="TextBox 20"/>
          <p:cNvSpPr txBox="1"/>
          <p:nvPr/>
        </p:nvSpPr>
        <p:spPr>
          <a:xfrm>
            <a:off x="1988820" y="5302250"/>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LightGBM surrogate</a:t>
            </a:r>
            <a:r>
              <a:rPr lang="en-US" sz="1900" b="true">
                <a:solidFill>
                  <a:srgbClr val="111111"/>
                </a:solidFill>
                <a:latin typeface="Nunito Semi-Bold"/>
                <a:ea typeface="Nunito Semi-Bold"/>
                <a:cs typeface="Nunito Semi-Bold"/>
                <a:sym typeface="Nunito Semi-Bold"/>
              </a:rPr>
              <a:t> — Trained on original features to predict cluster labels.</a:t>
            </a:r>
          </a:p>
        </p:txBody>
      </p:sp>
      <p:sp>
        <p:nvSpPr>
          <p:cNvPr id="22" name="Rounded Rectangle 21"/>
          <p:cNvSpPr/>
          <p:nvPr/>
        </p:nvSpPr>
        <p:spPr>
          <a:xfrm>
            <a:off x="1028700" y="6271514"/>
            <a:ext cx="8961120" cy="841248"/>
          </a:xfrm>
          <a:prstGeom prst="roundRect">
            <a:avLst>
              <a:gd name="adj" fmla="val 21739"/>
            </a:avLst>
          </a:prstGeom>
          <a:solidFill>
            <a:srgbClr val="FBF4EB"/>
          </a:solidFill>
          <a:ln>
            <a:noFill/>
          </a:ln>
        </p:spPr>
        <p:txBody>
          <a:bodyPr anchor="ctr" rtlCol="false" lIns="0" tIns="0" rIns="0" bIns="0" wrap="square"/>
          <a:lstStyle/>
          <a:p>
            <a:endParaRPr lang="en-US" sz="1800"/>
          </a:p>
        </p:txBody>
      </p:sp>
      <p:sp>
        <p:nvSpPr>
          <p:cNvPr id="23" name="Oval 22"/>
          <p:cNvSpPr/>
          <p:nvPr/>
        </p:nvSpPr>
        <p:spPr>
          <a:xfrm>
            <a:off x="1211580" y="640867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24" name="TextBox 23"/>
          <p:cNvSpPr txBox="1"/>
          <p:nvPr/>
        </p:nvSpPr>
        <p:spPr>
          <a:xfrm>
            <a:off x="1988820" y="6271514"/>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TreeSHAP</a:t>
            </a:r>
            <a:r>
              <a:rPr lang="en-US" sz="1900" b="true">
                <a:solidFill>
                  <a:srgbClr val="111111"/>
                </a:solidFill>
                <a:latin typeface="Nunito Semi-Bold"/>
                <a:ea typeface="Nunito Semi-Bold"/>
                <a:cs typeface="Nunito Semi-Bold"/>
                <a:sym typeface="Nunito Semi-Bold"/>
              </a:rPr>
              <a:t> — Attribution in the original feature space.</a:t>
            </a:r>
          </a:p>
        </p:txBody>
      </p:sp>
      <p:sp>
        <p:nvSpPr>
          <p:cNvPr id="25" name="Rounded Rectangle 24"/>
          <p:cNvSpPr/>
          <p:nvPr/>
        </p:nvSpPr>
        <p:spPr>
          <a:xfrm>
            <a:off x="1028700" y="7240778"/>
            <a:ext cx="8961120" cy="841248"/>
          </a:xfrm>
          <a:prstGeom prst="roundRect">
            <a:avLst>
              <a:gd name="adj" fmla="val 21739"/>
            </a:avLst>
          </a:prstGeom>
          <a:solidFill>
            <a:srgbClr val="F6ECDF"/>
          </a:solidFill>
          <a:ln>
            <a:noFill/>
          </a:ln>
        </p:spPr>
        <p:txBody>
          <a:bodyPr anchor="ctr" rtlCol="false" lIns="0" tIns="0" rIns="0" bIns="0" wrap="square"/>
          <a:lstStyle/>
          <a:p>
            <a:endParaRPr lang="en-US" sz="1800"/>
          </a:p>
        </p:txBody>
      </p:sp>
      <p:sp>
        <p:nvSpPr>
          <p:cNvPr id="26" name="Oval 25"/>
          <p:cNvSpPr/>
          <p:nvPr/>
        </p:nvSpPr>
        <p:spPr>
          <a:xfrm>
            <a:off x="1211580" y="7377938"/>
            <a:ext cx="566928" cy="566928"/>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5</a:t>
            </a:r>
          </a:p>
        </p:txBody>
      </p:sp>
      <p:sp>
        <p:nvSpPr>
          <p:cNvPr id="27" name="TextBox 26"/>
          <p:cNvSpPr txBox="1"/>
          <p:nvPr/>
        </p:nvSpPr>
        <p:spPr>
          <a:xfrm>
            <a:off x="1988820" y="7240778"/>
            <a:ext cx="7818120" cy="841248"/>
          </a:xfrm>
          <a:prstGeom prst="rect">
            <a:avLst/>
          </a:prstGeom>
          <a:noFill/>
        </p:spPr>
        <p:txBody>
          <a:bodyPr anchor="ctr" rtlCol="false" lIns="0" tIns="0" rIns="0" bIns="0" wrap="square"/>
          <a:lstStyle/>
          <a:p>
            <a:pPr algn="l">
              <a:lnSpc>
                <a:spcPts val="2400"/>
              </a:lnSpc>
              <a:spcBef>
                <a:spcPts val="0"/>
              </a:spcBef>
              <a:buNone/>
            </a:pPr>
            <a:r>
              <a:rPr lang="en-US" sz="1900" b="true">
                <a:solidFill>
                  <a:srgbClr val="111111"/>
                </a:solidFill>
                <a:latin typeface="Nunito Bold"/>
                <a:ea typeface="Nunito Bold"/>
                <a:cs typeface="Nunito Bold"/>
                <a:sym typeface="Nunito Bold"/>
              </a:rPr>
              <a:t>Aggregate</a:t>
            </a:r>
            <a:r>
              <a:rPr lang="en-US" sz="1900" b="true">
                <a:solidFill>
                  <a:srgbClr val="111111"/>
                </a:solidFill>
                <a:latin typeface="Nunito Semi-Bold"/>
                <a:ea typeface="Nunito Semi-Bold"/>
                <a:cs typeface="Nunito Semi-Bold"/>
                <a:sym typeface="Nunito Semi-Bold"/>
              </a:rPr>
              <a:t> — Global importance, cluster-specific profiles, local force plots.</a:t>
            </a:r>
          </a:p>
        </p:txBody>
      </p:sp>
      <p:sp>
        <p:nvSpPr>
          <p:cNvPr id="28" name="Rounded Rectangle 27"/>
          <p:cNvSpPr/>
          <p:nvPr/>
        </p:nvSpPr>
        <p:spPr>
          <a:xfrm>
            <a:off x="1028700" y="8301482"/>
            <a:ext cx="8961120" cy="1052830"/>
          </a:xfrm>
          <a:prstGeom prst="roundRect">
            <a:avLst>
              <a:gd name="adj" fmla="val 19107"/>
            </a:avLst>
          </a:prstGeom>
          <a:solidFill>
            <a:srgbClr val="124944"/>
          </a:solidFill>
          <a:ln>
            <a:noFill/>
          </a:ln>
        </p:spPr>
        <p:txBody>
          <a:bodyPr anchor="ctr" rtlCol="false" lIns="365760" tIns="91440" rIns="365760" bIns="9144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Complexity:</a:t>
            </a:r>
            <a:r>
              <a:rPr lang="en-US" sz="1700" b="true">
                <a:solidFill>
                  <a:srgbClr val="FFFFFF"/>
                </a:solidFill>
                <a:latin typeface="Nunito Semi-Bold"/>
                <a:ea typeface="Nunito Semi-Bold"/>
                <a:cs typeface="Nunito Semi-Bold"/>
                <a:sym typeface="Nunito Semi-Bold"/>
              </a:rPr>
              <a:t> dominated by PCA and repeated K-Means; TreeSHAP scales with tree count and depth — </a:t>
            </a:r>
            <a:r>
              <a:rPr lang="en-US" sz="1700" b="true">
                <a:solidFill>
                  <a:srgbClr val="FFFFFF"/>
                </a:solidFill>
                <a:latin typeface="Nunito Bold"/>
                <a:ea typeface="Nunito Bold"/>
                <a:cs typeface="Nunito Bold"/>
                <a:sym typeface="Nunito Bold"/>
              </a:rPr>
              <a:t>not exponentially in features</a:t>
            </a:r>
            <a:r>
              <a:rPr lang="en-US" sz="1700" b="true">
                <a:solidFill>
                  <a:srgbClr val="FFFFFF"/>
                </a:solidFill>
                <a:latin typeface="Nunito Semi-Bold"/>
                <a:ea typeface="Nunito Semi-Bold"/>
                <a:cs typeface="Nunito Semi-Bold"/>
                <a:sym typeface="Nunito Semi-Bold"/>
              </a:rPr>
              <a:t>.</a:t>
            </a:r>
          </a:p>
        </p:txBody>
      </p:sp>
      <p:sp>
        <p:nvSpPr>
          <p:cNvPr id="29" name="Rounded Rectangle 28"/>
          <p:cNvSpPr/>
          <p:nvPr/>
        </p:nvSpPr>
        <p:spPr>
          <a:xfrm>
            <a:off x="10447020" y="3363722"/>
            <a:ext cx="6812280" cy="5944870"/>
          </a:xfrm>
          <a:prstGeom prst="roundRect">
            <a:avLst>
              <a:gd name="adj" fmla="val 384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c1_pipeline.png"/>
          <p:cNvPicPr>
            <a:picLocks noChangeAspect="1"/>
          </p:cNvPicPr>
          <p:nvPr/>
        </p:nvPicPr>
        <p:blipFill>
          <a:blip r:embed="rId4"/>
          <a:stretch>
            <a:fillRect/>
          </a:stretch>
        </p:blipFill>
        <p:spPr>
          <a:xfrm>
            <a:off x="11292205" y="3546602"/>
            <a:ext cx="5121910" cy="5121910"/>
          </a:xfrm>
          <a:prstGeom prst="rect">
            <a:avLst/>
          </a:prstGeom>
        </p:spPr>
      </p:pic>
      <p:sp>
        <p:nvSpPr>
          <p:cNvPr id="31" name="TextBox 30"/>
          <p:cNvSpPr txBox="1"/>
          <p:nvPr/>
        </p:nvSpPr>
        <p:spPr>
          <a:xfrm>
            <a:off x="10447020" y="8759952"/>
            <a:ext cx="6812280" cy="4572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8A8378"/>
                </a:solidFill>
                <a:latin typeface="Nunito Semi-Bold"/>
                <a:ea typeface="Nunito Semi-Bold"/>
                <a:cs typeface="Nunito Semi-Bold"/>
                <a:sym typeface="Nunito Semi-Bold"/>
              </a:rPr>
              <a:t>Flowchart of the explainable clustering pipeline (Chapter 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 Interpretability over Geometry</a:t>
            </a:r>
          </a:p>
        </p:txBody>
      </p:sp>
      <p:pic>
        <p:nvPicPr>
          <p:cNvPr id="8" name="Picture 7" descr="image.png"/>
          <p:cNvPicPr>
            <a:picLocks noChangeAspect="1"/>
          </p:cNvPicPr>
          <p:nvPr/>
        </p:nvPicPr>
        <p:blipFill>
          <a:blip r:embed="rId2"/>
          <a:stretch>
            <a:fillRect/>
          </a:stretch>
        </p:blipFill>
        <p:spPr>
          <a:xfrm>
            <a:off x="12690822" y="1673352"/>
            <a:ext cx="457200" cy="373212"/>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 = 3 — even though it is NOT geometrically optimal</a:t>
            </a:r>
            <a:r>
              <a:rPr lang="en-US" sz="2100" b="true">
                <a:solidFill>
                  <a:srgbClr val="111111"/>
                </a:solidFill>
                <a:latin typeface="Nunito Semi-Bold"/>
                <a:ea typeface="Nunito Semi-Bold"/>
                <a:cs typeface="Nunito Semi-Bold"/>
                <a:sym typeface="Nunito Semi-Bold"/>
              </a:rPr>
              <a:t>.</a:t>
            </a:r>
          </a:p>
          <a:p>
            <a:pPr algn="l" marL="658368" indent="-256032">
              <a:lnSpc>
                <a:spcPts val="2546"/>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546"/>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semantically richer oenological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14" name="Table 13"/>
          <p:cNvGraphicFramePr>
            <a:graphicFrameLocks noGrp="1"/>
          </p:cNvGraphicFramePr>
          <p:nvPr/>
        </p:nvGraphicFramePr>
        <p:xfrm>
          <a:off x="9441180" y="3363722"/>
          <a:ext cx="7818120" cy="2330196"/>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semantics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oenological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5" name="Rounded Rectangle 14"/>
          <p:cNvSpPr/>
          <p:nvPr/>
        </p:nvSpPr>
        <p:spPr>
          <a:xfrm>
            <a:off x="9441180" y="6059678"/>
            <a:ext cx="3771900" cy="3248914"/>
          </a:xfrm>
          <a:prstGeom prst="roundRect">
            <a:avLst>
              <a:gd name="adj" fmla="val 84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16" name="Rounded Rectangle 15"/>
          <p:cNvSpPr/>
          <p:nvPr/>
        </p:nvSpPr>
        <p:spPr>
          <a:xfrm>
            <a:off x="13487400" y="6059678"/>
            <a:ext cx="3771900" cy="3248914"/>
          </a:xfrm>
          <a:prstGeom prst="roundRect">
            <a:avLst>
              <a:gd name="adj" fmla="val 84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 Wine Quality</a:t>
            </a:r>
          </a:p>
        </p:txBody>
      </p:sp>
      <p:pic>
        <p:nvPicPr>
          <p:cNvPr id="8" name="Picture 7" descr="image.png"/>
          <p:cNvPicPr>
            <a:picLocks noChangeAspect="1"/>
          </p:cNvPicPr>
          <p:nvPr/>
        </p:nvPicPr>
        <p:blipFill>
          <a:blip r:embed="rId2"/>
          <a:stretch>
            <a:fillRect/>
          </a:stretch>
        </p:blipFill>
        <p:spPr>
          <a:xfrm>
            <a:off x="10908445" y="1673352"/>
            <a:ext cx="457200" cy="427074"/>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841248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MEAN |SHAP| — RELATIVE RANKING (HIGH </a:t>
            </a:r>
            <a:r>
              <a:rPr lang="en-US" sz="1400" b="true" spc="160">
                <a:solidFill>
                  <a:srgbClr val="DF8330"/>
                </a:solidFill>
                <a:latin typeface="Calibri"/>
                <a:ea typeface="Calibri"/>
                <a:cs typeface="Calibri"/>
                <a:sym typeface="Calibri"/>
              </a:rPr>
              <a:t>→ </a:t>
            </a:r>
            <a:r>
              <a:rPr lang="en-US" sz="1400" b="true" spc="160">
                <a:solidFill>
                  <a:srgbClr val="DF8330"/>
                </a:solidFill>
                <a:latin typeface="Nunito Ultra-Bold"/>
                <a:ea typeface="Nunito Ultra-Bold"/>
                <a:cs typeface="Nunito Ultra-Bold"/>
                <a:sym typeface="Nunito Ultra-Bold"/>
              </a:rPr>
              <a:t>LOW)</a:t>
            </a:r>
          </a:p>
        </p:txBody>
      </p:sp>
      <p:sp>
        <p:nvSpPr>
          <p:cNvPr id="14" name="TextBox 13"/>
          <p:cNvSpPr txBox="1"/>
          <p:nvPr/>
        </p:nvSpPr>
        <p:spPr>
          <a:xfrm>
            <a:off x="1028700" y="3912362"/>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density</a:t>
            </a:r>
          </a:p>
        </p:txBody>
      </p:sp>
      <p:sp>
        <p:nvSpPr>
          <p:cNvPr id="15" name="Rounded Rectangle 14"/>
          <p:cNvSpPr/>
          <p:nvPr/>
        </p:nvSpPr>
        <p:spPr>
          <a:xfrm>
            <a:off x="3634740" y="3912362"/>
            <a:ext cx="5806440" cy="658368"/>
          </a:xfrm>
          <a:prstGeom prst="roundRect">
            <a:avLst>
              <a:gd name="adj" fmla="val 13888"/>
            </a:avLst>
          </a:prstGeom>
          <a:solidFill>
            <a:srgbClr val="124944"/>
          </a:solidFill>
          <a:ln>
            <a:noFill/>
          </a:ln>
        </p:spPr>
        <p:txBody>
          <a:bodyPr anchor="ctr" rtlCol="false" lIns="0" tIns="0" rIns="0" bIns="0" wrap="square"/>
          <a:lstStyle/>
          <a:p>
            <a:endParaRPr lang="en-US" sz="1800"/>
          </a:p>
        </p:txBody>
      </p:sp>
      <p:sp>
        <p:nvSpPr>
          <p:cNvPr id="16" name="TextBox 15"/>
          <p:cNvSpPr txBox="1"/>
          <p:nvPr/>
        </p:nvSpPr>
        <p:spPr>
          <a:xfrm>
            <a:off x="3771900" y="3912362"/>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1</a:t>
            </a:r>
          </a:p>
        </p:txBody>
      </p:sp>
      <p:sp>
        <p:nvSpPr>
          <p:cNvPr id="17" name="TextBox 16"/>
          <p:cNvSpPr txBox="1"/>
          <p:nvPr/>
        </p:nvSpPr>
        <p:spPr>
          <a:xfrm>
            <a:off x="1028700" y="4771898"/>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pH</a:t>
            </a:r>
          </a:p>
        </p:txBody>
      </p:sp>
      <p:sp>
        <p:nvSpPr>
          <p:cNvPr id="18" name="Rounded Rectangle 17"/>
          <p:cNvSpPr/>
          <p:nvPr/>
        </p:nvSpPr>
        <p:spPr>
          <a:xfrm>
            <a:off x="3634740" y="4771898"/>
            <a:ext cx="4761280" cy="658368"/>
          </a:xfrm>
          <a:prstGeom prst="roundRect">
            <a:avLst>
              <a:gd name="adj" fmla="val 13888"/>
            </a:avLst>
          </a:prstGeom>
          <a:solidFill>
            <a:srgbClr val="124944"/>
          </a:solidFill>
          <a:ln>
            <a:noFill/>
          </a:ln>
        </p:spPr>
        <p:txBody>
          <a:bodyPr anchor="ctr" rtlCol="false" lIns="0" tIns="0" rIns="0" bIns="0" wrap="square"/>
          <a:lstStyle/>
          <a:p>
            <a:endParaRPr lang="en-US" sz="1800"/>
          </a:p>
        </p:txBody>
      </p:sp>
      <p:sp>
        <p:nvSpPr>
          <p:cNvPr id="19" name="TextBox 18"/>
          <p:cNvSpPr txBox="1"/>
          <p:nvPr/>
        </p:nvSpPr>
        <p:spPr>
          <a:xfrm>
            <a:off x="3771900" y="4771898"/>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2</a:t>
            </a:r>
          </a:p>
        </p:txBody>
      </p:sp>
      <p:sp>
        <p:nvSpPr>
          <p:cNvPr id="20" name="TextBox 19"/>
          <p:cNvSpPr txBox="1"/>
          <p:nvPr/>
        </p:nvSpPr>
        <p:spPr>
          <a:xfrm>
            <a:off x="1028700" y="5631434"/>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fixed acidity</a:t>
            </a:r>
          </a:p>
        </p:txBody>
      </p:sp>
      <p:sp>
        <p:nvSpPr>
          <p:cNvPr id="21" name="Rounded Rectangle 20"/>
          <p:cNvSpPr/>
          <p:nvPr/>
        </p:nvSpPr>
        <p:spPr>
          <a:xfrm>
            <a:off x="3634740" y="5631434"/>
            <a:ext cx="3948379" cy="658368"/>
          </a:xfrm>
          <a:prstGeom prst="roundRect">
            <a:avLst>
              <a:gd name="adj" fmla="val 13888"/>
            </a:avLst>
          </a:prstGeom>
          <a:solidFill>
            <a:srgbClr val="124944"/>
          </a:solidFill>
          <a:ln>
            <a:noFill/>
          </a:ln>
        </p:spPr>
        <p:txBody>
          <a:bodyPr anchor="ctr" rtlCol="false" lIns="0" tIns="0" rIns="0" bIns="0" wrap="square"/>
          <a:lstStyle/>
          <a:p>
            <a:endParaRPr lang="en-US" sz="1800"/>
          </a:p>
        </p:txBody>
      </p:sp>
      <p:sp>
        <p:nvSpPr>
          <p:cNvPr id="22" name="TextBox 21"/>
          <p:cNvSpPr txBox="1"/>
          <p:nvPr/>
        </p:nvSpPr>
        <p:spPr>
          <a:xfrm>
            <a:off x="3771900" y="5631434"/>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3</a:t>
            </a:r>
          </a:p>
        </p:txBody>
      </p:sp>
      <p:sp>
        <p:nvSpPr>
          <p:cNvPr id="23" name="TextBox 22"/>
          <p:cNvSpPr txBox="1"/>
          <p:nvPr/>
        </p:nvSpPr>
        <p:spPr>
          <a:xfrm>
            <a:off x="1028700" y="6490970"/>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sulfur dioxide</a:t>
            </a:r>
          </a:p>
        </p:txBody>
      </p:sp>
      <p:sp>
        <p:nvSpPr>
          <p:cNvPr id="24" name="Rounded Rectangle 23"/>
          <p:cNvSpPr/>
          <p:nvPr/>
        </p:nvSpPr>
        <p:spPr>
          <a:xfrm>
            <a:off x="3634740" y="6490970"/>
            <a:ext cx="3193542" cy="658368"/>
          </a:xfrm>
          <a:prstGeom prst="roundRect">
            <a:avLst>
              <a:gd name="adj" fmla="val 13888"/>
            </a:avLst>
          </a:prstGeom>
          <a:solidFill>
            <a:srgbClr val="DF8330"/>
          </a:solidFill>
          <a:ln>
            <a:noFill/>
          </a:ln>
        </p:spPr>
        <p:txBody>
          <a:bodyPr anchor="ctr" rtlCol="false" lIns="0" tIns="0" rIns="0" bIns="0" wrap="square"/>
          <a:lstStyle/>
          <a:p>
            <a:endParaRPr lang="en-US" sz="1800"/>
          </a:p>
        </p:txBody>
      </p:sp>
      <p:sp>
        <p:nvSpPr>
          <p:cNvPr id="25" name="TextBox 24"/>
          <p:cNvSpPr txBox="1"/>
          <p:nvPr/>
        </p:nvSpPr>
        <p:spPr>
          <a:xfrm>
            <a:off x="3771900" y="6490970"/>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4</a:t>
            </a:r>
          </a:p>
        </p:txBody>
      </p:sp>
      <p:sp>
        <p:nvSpPr>
          <p:cNvPr id="26" name="TextBox 25"/>
          <p:cNvSpPr txBox="1"/>
          <p:nvPr/>
        </p:nvSpPr>
        <p:spPr>
          <a:xfrm>
            <a:off x="1028700" y="7350506"/>
            <a:ext cx="2377440" cy="658368"/>
          </a:xfrm>
          <a:prstGeom prst="rect">
            <a:avLst/>
          </a:prstGeom>
          <a:noFill/>
        </p:spPr>
        <p:txBody>
          <a:bodyPr anchor="ctr" rtlCol="false" lIns="0" tIns="0" rIns="0" bIns="0" wrap="square"/>
          <a:lstStyle/>
          <a:p>
            <a:pPr algn="r">
              <a:lnSpc>
                <a:spcPts val="2400"/>
              </a:lnSpc>
              <a:spcBef>
                <a:spcPts val="0"/>
              </a:spcBef>
              <a:buNone/>
            </a:pPr>
            <a:r>
              <a:rPr lang="en-US" sz="2000" b="true">
                <a:solidFill>
                  <a:srgbClr val="111111"/>
                </a:solidFill>
                <a:latin typeface="Nunito Bold"/>
                <a:ea typeface="Nunito Bold"/>
                <a:cs typeface="Nunito Bold"/>
                <a:sym typeface="Nunito Bold"/>
              </a:rPr>
              <a:t>alcohol</a:t>
            </a:r>
          </a:p>
        </p:txBody>
      </p:sp>
      <p:sp>
        <p:nvSpPr>
          <p:cNvPr id="27" name="Rounded Rectangle 26"/>
          <p:cNvSpPr/>
          <p:nvPr/>
        </p:nvSpPr>
        <p:spPr>
          <a:xfrm>
            <a:off x="3634740" y="7350506"/>
            <a:ext cx="2554833" cy="658368"/>
          </a:xfrm>
          <a:prstGeom prst="roundRect">
            <a:avLst>
              <a:gd name="adj" fmla="val 13888"/>
            </a:avLst>
          </a:prstGeom>
          <a:solidFill>
            <a:srgbClr val="DF8330"/>
          </a:solidFill>
          <a:ln>
            <a:noFill/>
          </a:ln>
        </p:spPr>
        <p:txBody>
          <a:bodyPr anchor="ctr" rtlCol="false" lIns="0" tIns="0" rIns="0" bIns="0" wrap="square"/>
          <a:lstStyle/>
          <a:p>
            <a:endParaRPr lang="en-US" sz="1800"/>
          </a:p>
        </p:txBody>
      </p:sp>
      <p:sp>
        <p:nvSpPr>
          <p:cNvPr id="28" name="TextBox 27"/>
          <p:cNvSpPr txBox="1"/>
          <p:nvPr/>
        </p:nvSpPr>
        <p:spPr>
          <a:xfrm>
            <a:off x="3771900" y="7350506"/>
            <a:ext cx="1097280" cy="658368"/>
          </a:xfrm>
          <a:prstGeom prst="rect">
            <a:avLst/>
          </a:prstGeom>
          <a:noFill/>
        </p:spPr>
        <p:txBody>
          <a:bodyPr anchor="ctr" rtlCol="false" lIns="0" tIns="0" rIns="0" bIns="0" wrap="square"/>
          <a:lstStyle/>
          <a:p>
            <a:pPr algn="l">
              <a:lnSpc>
                <a:spcPts val="2200"/>
              </a:lnSpc>
              <a:spcBef>
                <a:spcPts val="0"/>
              </a:spcBef>
              <a:buNone/>
            </a:pPr>
            <a:r>
              <a:rPr lang="en-US" sz="1800" b="true">
                <a:solidFill>
                  <a:srgbClr val="FFFFFF"/>
                </a:solidFill>
                <a:latin typeface="Nunito Ultra-Bold"/>
                <a:ea typeface="Nunito Ultra-Bold"/>
                <a:cs typeface="Nunito Ultra-Bold"/>
                <a:sym typeface="Nunito Ultra-Bold"/>
              </a:rPr>
              <a:t>5</a:t>
            </a:r>
          </a:p>
        </p:txBody>
      </p:sp>
      <p:sp>
        <p:nvSpPr>
          <p:cNvPr id="29" name="TextBox 28"/>
          <p:cNvSpPr txBox="1"/>
          <p:nvPr/>
        </p:nvSpPr>
        <p:spPr>
          <a:xfrm>
            <a:off x="1028700" y="8301482"/>
            <a:ext cx="8412480" cy="365760"/>
          </a:xfrm>
          <a:prstGeom prst="rect">
            <a:avLst/>
          </a:prstGeom>
          <a:noFill/>
        </p:spPr>
        <p:txBody>
          <a:bodyPr anchor="t" rtlCol="false" lIns="0" tIns="0" rIns="0" bIns="0" wrap="square"/>
          <a:lstStyle/>
          <a:p>
            <a:pPr algn="l">
              <a:lnSpc>
                <a:spcPts val="1800"/>
              </a:lnSpc>
              <a:spcBef>
                <a:spcPts val="0"/>
              </a:spcBef>
              <a:buNone/>
            </a:pPr>
            <a:r>
              <a:rPr lang="en-US" sz="1400" b="true">
                <a:solidFill>
                  <a:srgbClr val="8A8378"/>
                </a:solidFill>
                <a:latin typeface="Nunito Semi-Bold"/>
                <a:ea typeface="Nunito Semi-Bold"/>
                <a:cs typeface="Nunito Semi-Bold"/>
                <a:sym typeface="Nunito Semi-Bold"/>
              </a:rPr>
              <a:t>Bar lengths are illustrative of rank order; exact values in Chapter 5, Fig. 5.6.</a:t>
            </a:r>
          </a:p>
        </p:txBody>
      </p:sp>
      <p:sp>
        <p:nvSpPr>
          <p:cNvPr id="30" name="Rounded Rectangle 29"/>
          <p:cNvSpPr/>
          <p:nvPr/>
        </p:nvSpPr>
        <p:spPr>
          <a:xfrm>
            <a:off x="9989820" y="3592322"/>
            <a:ext cx="726948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10447020" y="3354578"/>
            <a:ext cx="3356612"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Reading the ranking</a:t>
            </a:r>
          </a:p>
        </p:txBody>
      </p:sp>
      <p:sp>
        <p:nvSpPr>
          <p:cNvPr id="32" name="TextBox 31"/>
          <p:cNvSpPr txBox="1"/>
          <p:nvPr/>
        </p:nvSpPr>
        <p:spPr>
          <a:xfrm>
            <a:off x="10492740" y="4232402"/>
            <a:ext cx="6309360" cy="480187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Dominant drivers relate to </a:t>
            </a:r>
            <a:r>
              <a:rPr lang="en-US" sz="2000" b="true">
                <a:solidFill>
                  <a:srgbClr val="FFFFFF"/>
                </a:solidFill>
                <a:latin typeface="Nunito Bold"/>
                <a:ea typeface="Nunito Bold"/>
                <a:cs typeface="Nunito Bold"/>
                <a:sym typeface="Nunito Bold"/>
              </a:rPr>
              <a:t>structure, preservation and sensory balance</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This is </a:t>
            </a:r>
            <a:r>
              <a:rPr lang="en-US" sz="2000" b="true">
                <a:solidFill>
                  <a:srgbClr val="FFFFFF"/>
                </a:solidFill>
                <a:latin typeface="Nunito Bold"/>
                <a:ea typeface="Nunito Bold"/>
                <a:cs typeface="Nunito Bold"/>
                <a:sym typeface="Nunito Bold"/>
              </a:rPr>
              <a:t>NOT an arbitrary classifier artefact</a:t>
            </a:r>
            <a:r>
              <a:rPr lang="en-US" sz="2000" b="true">
                <a:solidFill>
                  <a:srgbClr val="FFFFFF"/>
                </a:solidFill>
                <a:latin typeface="Nunito Semi-Bold"/>
                <a:ea typeface="Nunito Semi-Bold"/>
                <a:cs typeface="Nunito Semi-Bold"/>
                <a:sym typeface="Nunito Semi-Bold"/>
              </a:rPr>
              <a:t> — it recovers a chemically interpretable hierarchy.</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Density and pH separate stylistic regimes; sulfur dioxide encodes preservation; alcohol modulates body.</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Each driver is a </a:t>
            </a:r>
            <a:r>
              <a:rPr lang="en-US" sz="2000" b="true">
                <a:solidFill>
                  <a:srgbClr val="FFFFFF"/>
                </a:solidFill>
                <a:latin typeface="Nunito Bold"/>
                <a:ea typeface="Nunito Bold"/>
                <a:cs typeface="Nunito Bold"/>
                <a:sym typeface="Nunito Bold"/>
              </a:rPr>
              <a:t>modifiable, domain-level factor</a:t>
            </a:r>
            <a:r>
              <a:rPr lang="en-US" sz="2000" b="true">
                <a:solidFill>
                  <a:srgbClr val="FFFFFF"/>
                </a:solidFill>
                <a:latin typeface="Nunito Semi-Bold"/>
                <a:ea typeface="Nunito Semi-Bold"/>
                <a:cs typeface="Nunito Semi-Bold"/>
                <a:sym typeface="Nunito Semi-Bold"/>
              </a:rPr>
              <a:t> — exactly Definition 1.1.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Cluster-Specific Explanatory Signatures</a:t>
            </a:r>
          </a:p>
        </p:txBody>
      </p:sp>
      <p:pic>
        <p:nvPicPr>
          <p:cNvPr id="8" name="Picture 7" descr="image.png"/>
          <p:cNvPicPr>
            <a:picLocks noChangeAspect="1"/>
          </p:cNvPicPr>
          <p:nvPr/>
        </p:nvPicPr>
        <p:blipFill>
          <a:blip r:embed="rId2"/>
          <a:stretch>
            <a:fillRect/>
          </a:stretch>
        </p:blipFill>
        <p:spPr>
          <a:xfrm>
            <a:off x="11632491" y="1673352"/>
            <a:ext cx="457200" cy="39900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3108960"/>
          </a:xfrm>
          <a:prstGeom prst="roundRect">
            <a:avLst>
              <a:gd name="adj" fmla="val 8823"/>
            </a:avLst>
          </a:prstGeom>
          <a:solidFill>
            <a:srgbClr val="124944"/>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CLUSTER 0</a:t>
            </a:r>
          </a:p>
          <a:p>
            <a:pPr algn="l">
              <a:lnSpc>
                <a:spcPts val="2800"/>
              </a:lnSpc>
              <a:spcBef>
                <a:spcPts val="1000"/>
              </a:spcBef>
              <a:buNone/>
            </a:pPr>
            <a:r>
              <a:rPr lang="en-US" sz="2300" b="true">
                <a:solidFill>
                  <a:srgbClr val="FFFFFF"/>
                </a:solidFill>
                <a:latin typeface="Nunito Ultra-Bold"/>
                <a:ea typeface="Nunito Ultra-Bold"/>
                <a:cs typeface="Nunito Ultra-Bold"/>
                <a:sym typeface="Nunito Ultra-Bold"/>
              </a:rPr>
              <a:t>density + sulfur-dioxide-related variables</a:t>
            </a:r>
          </a:p>
        </p:txBody>
      </p:sp>
      <p:sp>
        <p:nvSpPr>
          <p:cNvPr id="14" name="Rounded Rectangle 13"/>
          <p:cNvSpPr/>
          <p:nvPr/>
        </p:nvSpPr>
        <p:spPr>
          <a:xfrm>
            <a:off x="6545580" y="3455162"/>
            <a:ext cx="5196840" cy="3108960"/>
          </a:xfrm>
          <a:prstGeom prst="roundRect">
            <a:avLst>
              <a:gd name="adj" fmla="val 8823"/>
            </a:avLst>
          </a:prstGeom>
          <a:solidFill>
            <a:srgbClr val="1E5F58"/>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CLUSTER 1</a:t>
            </a:r>
          </a:p>
          <a:p>
            <a:pPr algn="l">
              <a:lnSpc>
                <a:spcPts val="2800"/>
              </a:lnSpc>
              <a:spcBef>
                <a:spcPts val="1000"/>
              </a:spcBef>
              <a:buNone/>
            </a:pPr>
            <a:r>
              <a:rPr lang="en-US" sz="2300" b="true">
                <a:solidFill>
                  <a:srgbClr val="FFFFFF"/>
                </a:solidFill>
                <a:latin typeface="Nunito Ultra-Bold"/>
                <a:ea typeface="Nunito Ultra-Bold"/>
                <a:cs typeface="Nunito Ultra-Bold"/>
                <a:sym typeface="Nunito Ultra-Bold"/>
              </a:rPr>
              <a:t>acidity and pH-related effects</a:t>
            </a:r>
          </a:p>
        </p:txBody>
      </p:sp>
      <p:sp>
        <p:nvSpPr>
          <p:cNvPr id="15" name="Rounded Rectangle 14"/>
          <p:cNvSpPr/>
          <p:nvPr/>
        </p:nvSpPr>
        <p:spPr>
          <a:xfrm>
            <a:off x="12062460" y="3455162"/>
            <a:ext cx="5196840" cy="3108960"/>
          </a:xfrm>
          <a:prstGeom prst="roundRect">
            <a:avLst>
              <a:gd name="adj" fmla="val 8823"/>
            </a:avLst>
          </a:prstGeom>
          <a:solidFill>
            <a:srgbClr val="DF8330"/>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FFFFFF"/>
                </a:solidFill>
                <a:latin typeface="Nunito Ultra-Bold"/>
                <a:ea typeface="Nunito Ultra-Bold"/>
                <a:cs typeface="Nunito Ultra-Bold"/>
                <a:sym typeface="Nunito Ultra-Bold"/>
              </a:rPr>
              <a:t>CLUSTER 2</a:t>
            </a:r>
          </a:p>
          <a:p>
            <a:pPr algn="l">
              <a:lnSpc>
                <a:spcPts val="2800"/>
              </a:lnSpc>
              <a:spcBef>
                <a:spcPts val="1000"/>
              </a:spcBef>
              <a:buNone/>
            </a:pPr>
            <a:r>
              <a:rPr lang="en-US" sz="2300" b="true">
                <a:solidFill>
                  <a:srgbClr val="FFFFFF"/>
                </a:solidFill>
                <a:latin typeface="Nunito Ultra-Bold"/>
                <a:ea typeface="Nunito Ultra-Bold"/>
                <a:cs typeface="Nunito Ultra-Bold"/>
                <a:sym typeface="Nunito Ultra-Bold"/>
              </a:rPr>
              <a:t>a different balance of acidity, alcohol and related chemical attributes</a:t>
            </a:r>
          </a:p>
        </p:txBody>
      </p:sp>
      <p:sp>
        <p:nvSpPr>
          <p:cNvPr id="16" name="Rounded Rectangle 15"/>
          <p:cNvSpPr/>
          <p:nvPr/>
        </p:nvSpPr>
        <p:spPr>
          <a:xfrm>
            <a:off x="1028700" y="7204202"/>
            <a:ext cx="16230600" cy="2104390"/>
          </a:xfrm>
          <a:prstGeom prst="roundRect">
            <a:avLst>
              <a:gd name="adj" fmla="val 14773"/>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6966458"/>
            <a:ext cx="420355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the signatures show</a:t>
            </a:r>
          </a:p>
        </p:txBody>
      </p:sp>
      <p:sp>
        <p:nvSpPr>
          <p:cNvPr id="18" name="TextBox 17"/>
          <p:cNvSpPr txBox="1"/>
          <p:nvPr/>
        </p:nvSpPr>
        <p:spPr>
          <a:xfrm>
            <a:off x="1531620" y="7844282"/>
            <a:ext cx="15270480" cy="1189990"/>
          </a:xfrm>
          <a:prstGeom prst="rect">
            <a:avLst/>
          </a:prstGeom>
          <a:noFill/>
        </p:spPr>
        <p:txBody>
          <a:bodyPr anchor="t" rtlCol="false" lIns="0" tIns="0" rIns="0" bIns="0" wrap="square"/>
          <a:lstStyle/>
          <a:p>
            <a:pPr algn="l" marL="274320" indent="-274320">
              <a:lnSpc>
                <a:spcPts val="2476"/>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Three clusters show </a:t>
            </a:r>
            <a:r>
              <a:rPr lang="en-US" sz="1848" b="true">
                <a:solidFill>
                  <a:srgbClr val="111111"/>
                </a:solidFill>
                <a:latin typeface="Nunito Bold"/>
                <a:ea typeface="Nunito Bold"/>
                <a:cs typeface="Nunito Bold"/>
                <a:sym typeface="Nunito Bold"/>
              </a:rPr>
              <a:t>distinct explanatory signatures</a:t>
            </a:r>
            <a:r>
              <a:rPr lang="en-US" sz="1848" b="true">
                <a:solidFill>
                  <a:srgbClr val="111111"/>
                </a:solidFill>
                <a:latin typeface="Nunito Semi-Bold"/>
                <a:ea typeface="Nunito Semi-Bold"/>
                <a:cs typeface="Nunito Semi-Bold"/>
                <a:sym typeface="Nunito Semi-Bold"/>
              </a:rPr>
              <a:t> — the explanation is coherent, not a single summary number.</a:t>
            </a:r>
          </a:p>
          <a:p>
            <a:pPr algn="l" marL="274320" indent="-274320">
              <a:lnSpc>
                <a:spcPts val="2476"/>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 </a:t>
            </a:r>
            <a:r>
              <a:rPr lang="en-US" sz="1848" b="true">
                <a:solidFill>
                  <a:srgbClr val="111111"/>
                </a:solidFill>
                <a:latin typeface="Nunito Bold"/>
                <a:ea typeface="Nunito Bold"/>
                <a:cs typeface="Nunito Bold"/>
                <a:sym typeface="Nunito Bold"/>
              </a:rPr>
              <a:t>same small set of variables recurs</a:t>
            </a:r>
            <a:r>
              <a:rPr lang="en-US" sz="1848" b="true">
                <a:solidFill>
                  <a:srgbClr val="111111"/>
                </a:solidFill>
                <a:latin typeface="Nunito Semi-Bold"/>
                <a:ea typeface="Nunito Semi-Bold"/>
                <a:cs typeface="Nunito Semi-Bold"/>
                <a:sym typeface="Nunito Semi-Bold"/>
              </a:rPr>
              <a:t> across clusters, with </a:t>
            </a:r>
            <a:r>
              <a:rPr lang="en-US" sz="1848" b="true">
                <a:solidFill>
                  <a:srgbClr val="111111"/>
                </a:solidFill>
                <a:latin typeface="Nunito Bold"/>
                <a:ea typeface="Nunito Bold"/>
                <a:cs typeface="Nunito Bold"/>
                <a:sym typeface="Nunito Bold"/>
              </a:rPr>
              <a:t>different relative weights</a:t>
            </a:r>
            <a:r>
              <a:rPr lang="en-US" sz="1848" b="true">
                <a:solidFill>
                  <a:srgbClr val="111111"/>
                </a:solidFill>
                <a:latin typeface="Nunito Semi-Bold"/>
                <a:ea typeface="Nunito Semi-Bold"/>
                <a:cs typeface="Nunito Semi-Bold"/>
                <a:sym typeface="Nunito Semi-Bold"/>
              </a:rPr>
              <a:t> within each.</a:t>
            </a:r>
          </a:p>
          <a:p>
            <a:pPr algn="l" marL="274320" indent="-274320">
              <a:lnSpc>
                <a:spcPts val="2476"/>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Local force plots decompose any single wine into its per-feature contributions to cluster membership.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 vs LIME — Why the Cooperative Concept Wins</a:t>
            </a:r>
          </a:p>
        </p:txBody>
      </p:sp>
      <p:pic>
        <p:nvPicPr>
          <p:cNvPr id="8" name="Picture 7" descr="image.png"/>
          <p:cNvPicPr>
            <a:picLocks noChangeAspect="1"/>
          </p:cNvPicPr>
          <p:nvPr/>
        </p:nvPicPr>
        <p:blipFill>
          <a:blip r:embed="rId2"/>
          <a:stretch>
            <a:fillRect/>
          </a:stretch>
        </p:blipFill>
        <p:spPr>
          <a:xfrm>
            <a:off x="14706499" y="1673352"/>
            <a:ext cx="457200" cy="44671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16230599" cy="4498848"/>
        </p:xfrm>
        <a:graphic>
          <a:graphicData uri="http://schemas.openxmlformats.org/drawingml/2006/table">
            <a:tbl>
              <a:tblPr firstRow="0" bandRow="0" firstCol="0" lastRow="0" lastCol="0" bandCol="0">
                <a:tableStyleId>{2D5ABB26-0587-4C30-8999-92F81FD0307C}</a:tableStyleId>
              </a:tblPr>
              <a:tblGrid>
                <a:gridCol w="3701715"/>
                <a:gridCol w="6264442"/>
                <a:gridCol w="6264442"/>
              </a:tblGrid>
              <a:tr h="749808">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Criterion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SHAP (cooperative)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LIME (local surrogate)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Basis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Cooperative-game marginal contribution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Local surrogate approximation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Local / global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Both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Primarily local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Theoretical guarantee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Efficiency, symmetry, null player, additivity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None equivalent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Stability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Higher when surrogate faithful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Sensitive to perturbation design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49808">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Cluster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Strong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Limited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4" name="Rounded Rectangle 13"/>
          <p:cNvSpPr/>
          <p:nvPr/>
        </p:nvSpPr>
        <p:spPr>
          <a:xfrm>
            <a:off x="1028700" y="8228330"/>
            <a:ext cx="16230600" cy="1125982"/>
          </a:xfrm>
          <a:prstGeom prst="roundRect">
            <a:avLst>
              <a:gd name="adj" fmla="val 20302"/>
            </a:avLst>
          </a:prstGeom>
          <a:solidFill>
            <a:srgbClr val="124944"/>
          </a:solidFill>
          <a:ln>
            <a:noFill/>
          </a:ln>
        </p:spPr>
        <p:txBody>
          <a:bodyPr anchor="ctr" rtlCol="false" lIns="457200" tIns="91440" rIns="457200" bIns="91440" wrap="square"/>
          <a:lstStyle/>
          <a:p>
            <a:pPr algn="ctr">
              <a:lnSpc>
                <a:spcPts val="2700"/>
              </a:lnSpc>
              <a:spcBef>
                <a:spcPts val="0"/>
              </a:spcBef>
              <a:buNone/>
            </a:pPr>
            <a:r>
              <a:rPr lang="en-US" sz="2100" b="true">
                <a:solidFill>
                  <a:srgbClr val="FFFFFF"/>
                </a:solidFill>
                <a:latin typeface="Nunito Semi-Bold"/>
                <a:ea typeface="Nunito Semi-Bold"/>
                <a:cs typeface="Nunito Semi-Bold"/>
                <a:sym typeface="Nunito Semi-Bold"/>
              </a:rPr>
              <a:t>Shapley is grounded in </a:t>
            </a:r>
            <a:r>
              <a:rPr lang="en-US" sz="2100" b="true">
                <a:solidFill>
                  <a:srgbClr val="FFFFFF"/>
                </a:solidFill>
                <a:latin typeface="Nunito Bold"/>
                <a:ea typeface="Nunito Bold"/>
                <a:cs typeface="Nunito Bold"/>
                <a:sym typeface="Nunito Bold"/>
              </a:rPr>
              <a:t>four axioms</a:t>
            </a:r>
            <a:r>
              <a:rPr lang="en-US" sz="2100" b="true">
                <a:solidFill>
                  <a:srgbClr val="FFFFFF"/>
                </a:solidFill>
                <a:latin typeface="Nunito Semi-Bold"/>
                <a:ea typeface="Nunito Semi-Bold"/>
                <a:cs typeface="Nunito Semi-Bold"/>
                <a:sym typeface="Nunito Semi-Bold"/>
              </a:rPr>
              <a:t>; LIME has no equivalent guarantee — with a faithful surrogate, cooperative attribution is </a:t>
            </a:r>
            <a:r>
              <a:rPr lang="en-US" sz="2100" b="true">
                <a:solidFill>
                  <a:srgbClr val="FFFFFF"/>
                </a:solidFill>
                <a:latin typeface="Nunito Bold"/>
                <a:ea typeface="Nunito Bold"/>
                <a:cs typeface="Nunito Bold"/>
                <a:sym typeface="Nunito Bold"/>
              </a:rPr>
              <a:t>more stable and comparable across clusters</a:t>
            </a:r>
            <a:r>
              <a:rPr lang="en-US" sz="210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Key Findings and Limitations</a:t>
            </a:r>
          </a:p>
        </p:txBody>
      </p:sp>
      <p:pic>
        <p:nvPicPr>
          <p:cNvPr id="8" name="Picture 7" descr="image.png"/>
          <p:cNvPicPr>
            <a:picLocks noChangeAspect="1"/>
          </p:cNvPicPr>
          <p:nvPr/>
        </p:nvPicPr>
        <p:blipFill>
          <a:blip r:embed="rId2"/>
          <a:stretch>
            <a:fillRect/>
          </a:stretch>
        </p:blipFill>
        <p:spPr>
          <a:xfrm>
            <a:off x="11313629"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802428"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RQ1 answered · objectives met</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546"/>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RQ1 — yes:</a:t>
            </a:r>
            <a:r>
              <a:rPr lang="en-US" sz="1900" b="true">
                <a:solidFill>
                  <a:srgbClr val="FFFFFF"/>
                </a:solidFill>
                <a:latin typeface="Nunito Semi-Bold"/>
                <a:ea typeface="Nunito Semi-Bold"/>
                <a:cs typeface="Nunito Semi-Bold"/>
                <a:sym typeface="Nunito Semi-Bold"/>
              </a:rPr>
              <a:t> faithful, coherent cluster-level explanation from Shapley values.</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O1 met</a:t>
            </a:r>
            <a:r>
              <a:rPr lang="en-US" sz="1900" b="true">
                <a:solidFill>
                  <a:srgbClr val="FFFFFF"/>
                </a:solidFill>
                <a:latin typeface="Nunito Semi-Bold"/>
                <a:ea typeface="Nunito Semi-Bold"/>
                <a:cs typeface="Nunito Semi-Bold"/>
                <a:sym typeface="Nunito Semi-Bold"/>
              </a:rPr>
              <a:t> · cluster-level explanation anchored to individual feature contributions.</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O2 met</a:t>
            </a:r>
            <a:r>
              <a:rPr lang="en-US" sz="1900" b="true">
                <a:solidFill>
                  <a:srgbClr val="FFFFFF"/>
                </a:solidFill>
                <a:latin typeface="Nunito Semi-Bold"/>
                <a:ea typeface="Nunito Semi-Bold"/>
                <a:cs typeface="Nunito Semi-Bold"/>
                <a:sym typeface="Nunito Semi-Bold"/>
              </a:rPr>
              <a:t> · attribution returned to the original chemical variables, not a latent space.</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O3 met</a:t>
            </a:r>
            <a:r>
              <a:rPr lang="en-US" sz="1900" b="true">
                <a:solidFill>
                  <a:srgbClr val="FFFFFF"/>
                </a:solidFill>
                <a:latin typeface="Nunito Semi-Bold"/>
                <a:ea typeface="Nunito Semi-Bold"/>
                <a:cs typeface="Nunito Semi-Bold"/>
                <a:sym typeface="Nunito Semi-Bold"/>
              </a:rPr>
              <a:t> · Shapley grounded in four axioms; LIME has no equivalent guarantee.</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Recovers an oenologically interpretable ranking — density, pH, acidity, sulfur dioxide, alcohol.</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214562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Limitations</a:t>
            </a:r>
          </a:p>
        </p:txBody>
      </p:sp>
      <p:sp>
        <p:nvSpPr>
          <p:cNvPr id="18" name="TextBox 17"/>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546"/>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Fidelity depends on the </a:t>
            </a:r>
            <a:r>
              <a:rPr lang="en-US" sz="1900" b="true">
                <a:solidFill>
                  <a:srgbClr val="111111"/>
                </a:solidFill>
                <a:latin typeface="Nunito Bold"/>
                <a:ea typeface="Nunito Bold"/>
                <a:cs typeface="Nunito Bold"/>
                <a:sym typeface="Nunito Bold"/>
              </a:rPr>
              <a:t>LightGBM surrogate</a:t>
            </a:r>
            <a:r>
              <a:rPr lang="en-US" sz="1900" b="true">
                <a:solidFill>
                  <a:srgbClr val="111111"/>
                </a:solidFill>
                <a:latin typeface="Nunito Semi-Bold"/>
                <a:ea typeface="Nunito Semi-Bold"/>
                <a:cs typeface="Nunito Semi-Bold"/>
                <a:sym typeface="Nunito Semi-Bold"/>
              </a:rPr>
              <a:t> — not a direct mechanism of the K-Means geometry.</a:t>
            </a:r>
          </a:p>
          <a:p>
            <a:pPr algn="l" marL="274320" indent="-274320">
              <a:lnSpc>
                <a:spcPts val="2546"/>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Confined to </a:t>
            </a:r>
            <a:r>
              <a:rPr lang="en-US" sz="1900" b="true">
                <a:solidFill>
                  <a:srgbClr val="111111"/>
                </a:solidFill>
                <a:latin typeface="Nunito Bold"/>
                <a:ea typeface="Nunito Bold"/>
                <a:cs typeface="Nunito Bold"/>
                <a:sym typeface="Nunito Bold"/>
              </a:rPr>
              <a:t>tabular data</a:t>
            </a:r>
            <a:r>
              <a:rPr lang="en-US" sz="1900" b="true">
                <a:solidFill>
                  <a:srgbClr val="111111"/>
                </a:solidFill>
                <a:latin typeface="Nunito Semi-Bold"/>
                <a:ea typeface="Nunito Semi-Bold"/>
                <a:cs typeface="Nunito Semi-Bold"/>
                <a:sym typeface="Nunito Semi-Bold"/>
              </a:rPr>
              <a:t>; no structured, graph or image input.</a:t>
            </a:r>
          </a:p>
          <a:p>
            <a:pPr algn="l" marL="274320" indent="-274320">
              <a:lnSpc>
                <a:spcPts val="2546"/>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Single-level structure:</a:t>
            </a:r>
            <a:r>
              <a:rPr lang="en-US" sz="1900" b="true">
                <a:solidFill>
                  <a:srgbClr val="111111"/>
                </a:solidFill>
                <a:latin typeface="Nunito Semi-Bold"/>
                <a:ea typeface="Nunito Semi-Bold"/>
                <a:cs typeface="Nunito Semi-Bold"/>
                <a:sym typeface="Nunito Semi-Bold"/>
              </a:rPr>
              <a:t> cannot explain how importance reconfigures between a partition and its sub-partitions.</a:t>
            </a:r>
          </a:p>
          <a:p>
            <a:pPr algn="l" marL="274320" indent="-274320">
              <a:lnSpc>
                <a:spcPts val="2546"/>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surrogate approximation compresses observation-level variation.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 EXPLAINABLE BLACK-BOX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Takeaways — and the Next Question</a:t>
            </a:r>
          </a:p>
        </p:txBody>
      </p:sp>
      <p:pic>
        <p:nvPicPr>
          <p:cNvPr id="8" name="Picture 7" descr="image.png"/>
          <p:cNvPicPr>
            <a:picLocks noChangeAspect="1"/>
          </p:cNvPicPr>
          <p:nvPr/>
        </p:nvPicPr>
        <p:blipFill>
          <a:blip r:embed="rId2"/>
          <a:stretch>
            <a:fillRect/>
          </a:stretch>
        </p:blipFill>
        <p:spPr>
          <a:xfrm>
            <a:off x="10568195"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455162"/>
            <a:ext cx="5196840" cy="3291840"/>
          </a:xfrm>
          <a:prstGeom prst="roundRect">
            <a:avLst>
              <a:gd name="adj" fmla="val 8333"/>
            </a:avLst>
          </a:prstGeom>
          <a:solidFill>
            <a:srgbClr val="124944"/>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Single lens</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Shapley attribution is a single, principled lens for explaining an unsupervised partition.</a:t>
            </a:r>
          </a:p>
        </p:txBody>
      </p:sp>
      <p:sp>
        <p:nvSpPr>
          <p:cNvPr id="14" name="Rounded Rectangle 13"/>
          <p:cNvSpPr/>
          <p:nvPr/>
        </p:nvSpPr>
        <p:spPr>
          <a:xfrm>
            <a:off x="6545580" y="3455162"/>
            <a:ext cx="5196840" cy="3291840"/>
          </a:xfrm>
          <a:prstGeom prst="roundRect">
            <a:avLst>
              <a:gd name="adj" fmla="val 8333"/>
            </a:avLst>
          </a:prstGeom>
          <a:solidFill>
            <a:srgbClr val="1E5F58"/>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Original space</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Keeping attribution in the original feature space is what makes it actionable.</a:t>
            </a:r>
          </a:p>
        </p:txBody>
      </p:sp>
      <p:sp>
        <p:nvSpPr>
          <p:cNvPr id="15" name="Rounded Rectangle 14"/>
          <p:cNvSpPr/>
          <p:nvPr/>
        </p:nvSpPr>
        <p:spPr>
          <a:xfrm>
            <a:off x="12062460" y="3455162"/>
            <a:ext cx="5196840" cy="3291840"/>
          </a:xfrm>
          <a:prstGeom prst="roundRect">
            <a:avLst>
              <a:gd name="adj" fmla="val 8333"/>
            </a:avLst>
          </a:prstGeom>
          <a:solidFill>
            <a:srgbClr val="DF8330"/>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But…</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Real data are rarely single-level: broad regimes contain nested sub-groups.</a:t>
            </a:r>
          </a:p>
        </p:txBody>
      </p:sp>
      <p:sp>
        <p:nvSpPr>
          <p:cNvPr id="16" name="Rounded Rectangle 15"/>
          <p:cNvSpPr/>
          <p:nvPr/>
        </p:nvSpPr>
        <p:spPr>
          <a:xfrm>
            <a:off x="1028700" y="7204202"/>
            <a:ext cx="16230600" cy="2150110"/>
          </a:xfrm>
          <a:prstGeom prst="roundRect">
            <a:avLst>
              <a:gd name="adj" fmla="val 12758"/>
            </a:avLst>
          </a:prstGeom>
          <a:noFill/>
          <a:ln w="31750">
            <a:solidFill>
              <a:srgbClr val="124944"/>
            </a:solidFill>
          </a:ln>
        </p:spPr>
        <p:txBody>
          <a:bodyPr anchor="ctr" rtlCol="false" lIns="457200" tIns="91440" rIns="457200" bIns="91440" wrap="square"/>
          <a:lstStyle/>
          <a:p>
            <a:pPr algn="ctr">
              <a:lnSpc>
                <a:spcPts val="1800"/>
              </a:lnSpc>
              <a:spcBef>
                <a:spcPts val="0"/>
              </a:spcBef>
              <a:buNone/>
            </a:pPr>
            <a:r>
              <a:rPr lang="en-US" sz="1400" b="true" spc="180">
                <a:solidFill>
                  <a:srgbClr val="DF8330"/>
                </a:solidFill>
                <a:latin typeface="Nunito Ultra-Bold"/>
                <a:ea typeface="Nunito Ultra-Bold"/>
                <a:cs typeface="Nunito Ultra-Bold"/>
                <a:sym typeface="Nunito Ultra-Bold"/>
              </a:rPr>
              <a:t>NEXT</a:t>
            </a:r>
          </a:p>
          <a:p>
            <a:pPr algn="ctr">
              <a:lnSpc>
                <a:spcPts val="3200"/>
              </a:lnSpc>
              <a:spcBef>
                <a:spcPts val="800"/>
              </a:spcBef>
              <a:buNone/>
            </a:pPr>
            <a:r>
              <a:rPr lang="en-US" sz="2600" b="true">
                <a:solidFill>
                  <a:srgbClr val="111111"/>
                </a:solidFill>
                <a:latin typeface="Nunito Bold"/>
                <a:ea typeface="Nunito Bold"/>
                <a:cs typeface="Nunito Bold"/>
                <a:sym typeface="Nunito Bold"/>
              </a:rPr>
              <a:t>So the next question is whether this logic </a:t>
            </a:r>
            <a:r>
              <a:rPr lang="en-US" sz="2600" b="true">
                <a:solidFill>
                  <a:srgbClr val="111111"/>
                </a:solidFill>
                <a:latin typeface="Nunito Bold"/>
                <a:ea typeface="Nunito Bold"/>
                <a:cs typeface="Nunito Bold"/>
                <a:sym typeface="Nunito Bold"/>
              </a:rPr>
              <a:t>survives scale and hierarchy</a:t>
            </a:r>
            <a:r>
              <a:rPr lang="en-US" sz="2600" b="true">
                <a:solidFill>
                  <a:srgbClr val="111111"/>
                </a:solidFill>
                <a:latin typeface="Nunito Bold"/>
                <a:ea typeface="Nunito Bold"/>
                <a:cs typeface="Nunito Bold"/>
                <a:sym typeface="Nunito Bold"/>
              </a:rPr>
              <a:t> — Contribution II.</a:t>
            </a:r>
          </a:p>
        </p:txBody>
      </p:sp>
      <p:pic>
        <p:nvPicPr>
          <p:cNvPr id="17" name="Picture 16" descr="image.png"/>
          <p:cNvPicPr>
            <a:picLocks noChangeAspect="1"/>
          </p:cNvPicPr>
          <p:nvPr/>
        </p:nvPicPr>
        <p:blipFill>
          <a:blip r:embed="rId4"/>
          <a:stretch>
            <a:fillRect/>
          </a:stretch>
        </p:blipFill>
        <p:spPr>
          <a:xfrm>
            <a:off x="15979140" y="7432802"/>
            <a:ext cx="256032" cy="842772"/>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7" name="Oval 6"/>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A genuinely multi-level workflow, a formal cross-level consistency argument (Proposition 6.1), validation on a structurally different large dataset.</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meteorology structurally central.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Gap and Objectives</a:t>
            </a:r>
          </a:p>
        </p:txBody>
      </p:sp>
      <p:pic>
        <p:nvPicPr>
          <p:cNvPr id="8" name="Picture 7" descr="image.png"/>
          <p:cNvPicPr>
            <a:picLocks noChangeAspect="1"/>
          </p:cNvPicPr>
          <p:nvPr/>
        </p:nvPicPr>
        <p:blipFill>
          <a:blip r:embed="rId2"/>
          <a:stretch>
            <a:fillRect/>
          </a:stretch>
        </p:blipFill>
        <p:spPr>
          <a:xfrm>
            <a:off x="6247896"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120026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Gap</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clustering is multi-level, feature importance must stay interpretable </a:t>
            </a:r>
            <a:r>
              <a:rPr lang="en-US" sz="2000" b="true">
                <a:solidFill>
                  <a:srgbClr val="FFFFFF"/>
                </a:solidFill>
                <a:latin typeface="Nunito Bold"/>
                <a:ea typeface="Nunito Bold"/>
                <a:cs typeface="Nunito Bold"/>
                <a:sym typeface="Nunito Bold"/>
              </a:rPr>
              <a:t>within a cluster, across sub-clusters and across the hierarchy</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Large-scale data make exact explanation </a:t>
            </a:r>
            <a:r>
              <a:rPr lang="en-US" sz="2000" b="true">
                <a:solidFill>
                  <a:srgbClr val="FFFFFF"/>
                </a:solidFill>
                <a:latin typeface="Nunito Bold"/>
                <a:ea typeface="Nunito Bold"/>
                <a:cs typeface="Nunito Bold"/>
                <a:sym typeface="Nunito Bold"/>
              </a:rPr>
              <a:t>computationally burdensome</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 flat explanation may be true yet </a:t>
            </a:r>
            <a:r>
              <a:rPr lang="en-US" sz="2000" b="true">
                <a:solidFill>
                  <a:srgbClr val="FFFFFF"/>
                </a:solidFill>
                <a:latin typeface="Nunito Bold"/>
                <a:ea typeface="Nunito Bold"/>
                <a:cs typeface="Nunito Bold"/>
                <a:sym typeface="Nunito Bold"/>
              </a:rPr>
              <a:t>incomplete</a:t>
            </a:r>
            <a:r>
              <a:rPr lang="en-US" sz="2000" b="true">
                <a:solidFill>
                  <a:srgbClr val="FFFFFF"/>
                </a:solidFill>
                <a:latin typeface="Nunito Semi-Bold"/>
                <a:ea typeface="Nunito Semi-Bold"/>
                <a:cs typeface="Nunito Semi-Bold"/>
                <a:sym typeface="Nunito Semi-Bold"/>
              </a:rPr>
              <a:t> — it cannot show how importance changes inside a cluster.</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3048366"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RQ2 </a:t>
            </a:r>
            <a:r>
              <a:rPr lang="en-US" sz="2200" b="true">
                <a:solidFill>
                  <a:srgbClr val="FFFFFF"/>
                </a:solidFill>
                <a:latin typeface="Calibri"/>
                <a:ea typeface="Calibri"/>
                <a:cs typeface="Calibri"/>
                <a:sym typeface="Calibri"/>
              </a:rPr>
              <a:t>→ </a:t>
            </a:r>
            <a:r>
              <a:rPr lang="en-US" sz="2200" b="true">
                <a:solidFill>
                  <a:srgbClr val="FFFFFF"/>
                </a:solidFill>
                <a:latin typeface="Nunito Bold"/>
                <a:ea typeface="Nunito Bold"/>
                <a:cs typeface="Nunito Bold"/>
                <a:sym typeface="Nunito Bold"/>
              </a:rPr>
              <a:t>Objectives</a:t>
            </a:r>
          </a:p>
        </p:txBody>
      </p:sp>
      <p:sp>
        <p:nvSpPr>
          <p:cNvPr id="18" name="TextBox 17"/>
          <p:cNvSpPr txBox="1"/>
          <p:nvPr/>
        </p:nvSpPr>
        <p:spPr>
          <a:xfrm>
            <a:off x="9784080" y="4186682"/>
            <a:ext cx="7018020" cy="1005840"/>
          </a:xfrm>
          <a:prstGeom prst="rect">
            <a:avLst/>
          </a:prstGeom>
          <a:noFill/>
        </p:spPr>
        <p:txBody>
          <a:bodyPr anchor="t" rtlCol="false" lIns="0" tIns="0" rIns="0" bIns="0" wrap="square"/>
          <a:lstStyle/>
          <a:p>
            <a:pPr algn="l">
              <a:lnSpc>
                <a:spcPts val="2720"/>
              </a:lnSpc>
              <a:spcBef>
                <a:spcPts val="0"/>
              </a:spcBef>
              <a:buNone/>
            </a:pPr>
            <a:r>
              <a:rPr lang="en-US" sz="2000" b="true">
                <a:solidFill>
                  <a:srgbClr val="124944"/>
                </a:solidFill>
                <a:latin typeface="Nunito Bold"/>
                <a:ea typeface="Nunito Bold"/>
                <a:cs typeface="Nunito Bold"/>
                <a:sym typeface="Nunito Bold"/>
              </a:rPr>
              <a:t>RQ2 ·</a:t>
            </a:r>
            <a:r>
              <a:rPr lang="en-US" sz="2000" b="true">
                <a:solidFill>
                  <a:srgbClr val="124944"/>
                </a:solidFill>
                <a:latin typeface="Nunito Semi-Bold"/>
                <a:ea typeface="Nunito Semi-Bold"/>
                <a:cs typeface="Nunito Semi-Bold"/>
                <a:sym typeface="Nunito Semi-Bold"/>
              </a:rPr>
              <a:t> How can this extend to large-scale, hierarchical clustering without losing tractability or consistency?</a:t>
            </a:r>
          </a:p>
        </p:txBody>
      </p:sp>
      <p:sp>
        <p:nvSpPr>
          <p:cNvPr id="19" name="Oval 18"/>
          <p:cNvSpPr/>
          <p:nvPr/>
        </p:nvSpPr>
        <p:spPr>
          <a:xfrm>
            <a:off x="9784080" y="5421122"/>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O1</a:t>
            </a:r>
          </a:p>
        </p:txBody>
      </p:sp>
      <p:sp>
        <p:nvSpPr>
          <p:cNvPr id="20" name="TextBox 19"/>
          <p:cNvSpPr txBox="1"/>
          <p:nvPr/>
        </p:nvSpPr>
        <p:spPr>
          <a:xfrm>
            <a:off x="10515600" y="5238242"/>
            <a:ext cx="6240780" cy="822960"/>
          </a:xfrm>
          <a:prstGeom prst="rect">
            <a:avLst/>
          </a:prstGeom>
          <a:noFill/>
        </p:spPr>
        <p:txBody>
          <a:bodyPr anchor="ctr" rtlCol="false" lIns="0" tIns="0" rIns="0" bIns="0" wrap="square"/>
          <a:lstStyle/>
          <a:p>
            <a:pPr algn="l">
              <a:lnSpc>
                <a:spcPts val="2584"/>
              </a:lnSpc>
              <a:spcBef>
                <a:spcPts val="0"/>
              </a:spcBef>
              <a:buNone/>
            </a:pPr>
            <a:r>
              <a:rPr lang="en-US" sz="1900" b="true">
                <a:solidFill>
                  <a:srgbClr val="111111"/>
                </a:solidFill>
                <a:latin typeface="Nunito Semi-Bold"/>
                <a:ea typeface="Nunito Semi-Bold"/>
                <a:cs typeface="Nunito Semi-Bold"/>
                <a:sym typeface="Nunito Semi-Bold"/>
              </a:rPr>
              <a:t>A </a:t>
            </a:r>
            <a:r>
              <a:rPr lang="en-US" sz="1900" b="true">
                <a:solidFill>
                  <a:srgbClr val="111111"/>
                </a:solidFill>
                <a:latin typeface="Nunito Bold"/>
                <a:ea typeface="Nunito Bold"/>
                <a:cs typeface="Nunito Bold"/>
                <a:sym typeface="Nunito Bold"/>
              </a:rPr>
              <a:t>genuinely multi-level workflow</a:t>
            </a:r>
            <a:r>
              <a:rPr lang="en-US" sz="1900" b="true">
                <a:solidFill>
                  <a:srgbClr val="111111"/>
                </a:solidFill>
                <a:latin typeface="Nunito Semi-Bold"/>
                <a:ea typeface="Nunito Semi-Bold"/>
                <a:cs typeface="Nunito Semi-Bold"/>
                <a:sym typeface="Nunito Semi-Bold"/>
              </a:rPr>
              <a:t>, not a rerun of the single-level pipeline.</a:t>
            </a:r>
          </a:p>
        </p:txBody>
      </p:sp>
      <p:sp>
        <p:nvSpPr>
          <p:cNvPr id="21" name="Oval 20"/>
          <p:cNvSpPr/>
          <p:nvPr/>
        </p:nvSpPr>
        <p:spPr>
          <a:xfrm>
            <a:off x="9784080" y="6372098"/>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O2</a:t>
            </a:r>
          </a:p>
        </p:txBody>
      </p:sp>
      <p:sp>
        <p:nvSpPr>
          <p:cNvPr id="22" name="TextBox 21"/>
          <p:cNvSpPr txBox="1"/>
          <p:nvPr/>
        </p:nvSpPr>
        <p:spPr>
          <a:xfrm>
            <a:off x="10515600" y="6189218"/>
            <a:ext cx="6240780" cy="822960"/>
          </a:xfrm>
          <a:prstGeom prst="rect">
            <a:avLst/>
          </a:prstGeom>
          <a:noFill/>
        </p:spPr>
        <p:txBody>
          <a:bodyPr anchor="ctr" rtlCol="false" lIns="0" tIns="0" rIns="0" bIns="0" wrap="square"/>
          <a:lstStyle/>
          <a:p>
            <a:pPr algn="l">
              <a:lnSpc>
                <a:spcPts val="2584"/>
              </a:lnSpc>
              <a:spcBef>
                <a:spcPts val="0"/>
              </a:spcBef>
              <a:buNone/>
            </a:pPr>
            <a:r>
              <a:rPr lang="en-US" sz="1900" b="true">
                <a:solidFill>
                  <a:srgbClr val="111111"/>
                </a:solidFill>
                <a:latin typeface="Nunito Semi-Bold"/>
                <a:ea typeface="Nunito Semi-Bold"/>
                <a:cs typeface="Nunito Semi-Bold"/>
                <a:sym typeface="Nunito Semi-Bold"/>
              </a:rPr>
              <a:t>A </a:t>
            </a:r>
            <a:r>
              <a:rPr lang="en-US" sz="1900" b="true">
                <a:solidFill>
                  <a:srgbClr val="111111"/>
                </a:solidFill>
                <a:latin typeface="Nunito Bold"/>
                <a:ea typeface="Nunito Bold"/>
                <a:cs typeface="Nunito Bold"/>
                <a:sym typeface="Nunito Bold"/>
              </a:rPr>
              <a:t>formal cross-level consistency argument</a:t>
            </a:r>
            <a:r>
              <a:rPr lang="en-US" sz="1900" b="true">
                <a:solidFill>
                  <a:srgbClr val="111111"/>
                </a:solidFill>
                <a:latin typeface="Nunito Semi-Bold"/>
                <a:ea typeface="Nunito Semi-Bold"/>
                <a:cs typeface="Nunito Semi-Bold"/>
                <a:sym typeface="Nunito Semi-Bold"/>
              </a:rPr>
              <a:t> (Proposition 6.1).</a:t>
            </a:r>
          </a:p>
        </p:txBody>
      </p:sp>
      <p:sp>
        <p:nvSpPr>
          <p:cNvPr id="23" name="Oval 22"/>
          <p:cNvSpPr/>
          <p:nvPr/>
        </p:nvSpPr>
        <p:spPr>
          <a:xfrm>
            <a:off x="9784080" y="7323074"/>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O3</a:t>
            </a:r>
          </a:p>
        </p:txBody>
      </p:sp>
      <p:sp>
        <p:nvSpPr>
          <p:cNvPr id="24" name="TextBox 23"/>
          <p:cNvSpPr txBox="1"/>
          <p:nvPr/>
        </p:nvSpPr>
        <p:spPr>
          <a:xfrm>
            <a:off x="10515600" y="7140194"/>
            <a:ext cx="6240780" cy="822960"/>
          </a:xfrm>
          <a:prstGeom prst="rect">
            <a:avLst/>
          </a:prstGeom>
          <a:noFill/>
        </p:spPr>
        <p:txBody>
          <a:bodyPr anchor="ctr" rtlCol="false" lIns="0" tIns="0" rIns="0" bIns="0" wrap="square"/>
          <a:lstStyle/>
          <a:p>
            <a:pPr algn="l">
              <a:lnSpc>
                <a:spcPts val="2584"/>
              </a:lnSpc>
              <a:spcBef>
                <a:spcPts val="0"/>
              </a:spcBef>
              <a:buNone/>
            </a:pPr>
            <a:r>
              <a:rPr lang="en-US" sz="1900" b="true">
                <a:solidFill>
                  <a:srgbClr val="111111"/>
                </a:solidFill>
                <a:latin typeface="Nunito Semi-Bold"/>
                <a:ea typeface="Nunito Semi-Bold"/>
                <a:cs typeface="Nunito Semi-Bold"/>
                <a:sym typeface="Nunito Semi-Bold"/>
              </a:rPr>
              <a:t>Validation on a </a:t>
            </a:r>
            <a:r>
              <a:rPr lang="en-US" sz="1900" b="true">
                <a:solidFill>
                  <a:srgbClr val="111111"/>
                </a:solidFill>
                <a:latin typeface="Nunito Bold"/>
                <a:ea typeface="Nunito Bold"/>
                <a:cs typeface="Nunito Bold"/>
                <a:sym typeface="Nunito Bold"/>
              </a:rPr>
              <a:t>structurally different large-scale dataset</a:t>
            </a:r>
            <a:r>
              <a:rPr lang="en-US" sz="19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8" name="Picture 7" descr="image.png"/>
          <p:cNvPicPr>
            <a:picLocks noChangeAspect="1"/>
          </p:cNvPicPr>
          <p:nvPr/>
        </p:nvPicPr>
        <p:blipFill>
          <a:blip r:embed="rId2"/>
          <a:stretch>
            <a:fillRect/>
          </a:stretch>
        </p:blipFill>
        <p:spPr>
          <a:xfrm>
            <a:off x="14669741"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subdivide each cluster.</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 it respects cluster size and nesting structure.</a:t>
            </a:r>
          </a:p>
          <a:p>
            <a:pPr algn="l" marL="658368" indent="-256032">
              <a:lnSpc>
                <a:spcPts val="2546"/>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explanatory structure of its descendants</a:t>
            </a:r>
            <a:r>
              <a:rPr lang="en-US" sz="1900" b="true">
                <a:solidFill>
                  <a:srgbClr val="111111"/>
                </a:solidFill>
                <a:latin typeface="Nunito Semi-Bold"/>
                <a:ea typeface="Nunito Semi-Bold"/>
                <a:cs typeface="Nunito Semi-Bold"/>
                <a:sym typeface="Nunito Semi-Bold"/>
              </a:rPr>
              <a:t>.</a:t>
            </a:r>
          </a:p>
          <a:p>
            <a:pPr algn="l" marL="658368" indent="-256032">
              <a:lnSpc>
                <a:spcPts val="2546"/>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pragmatic analytical device, not a claim of true ontological hierarchy.</a:t>
            </a:r>
          </a:p>
        </p:txBody>
      </p:sp>
      <p:sp>
        <p:nvSpPr>
          <p:cNvPr id="14" name="Rounded Rectangle 13"/>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15" name="Rounded Rectangle 14"/>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16" name="Connector 15"/>
          <p:cNvCxnSpPr/>
          <p:nvPr/>
        </p:nvCxnSpPr>
        <p:spPr>
          <a:xfrm flipH="1">
            <a:off x="10515600" y="4278122"/>
            <a:ext cx="2743200" cy="502920"/>
          </a:xfrm>
          <a:prstGeom prst="line">
            <a:avLst/>
          </a:prstGeom>
          <a:ln w="25400">
            <a:solidFill>
              <a:srgbClr val="124944"/>
            </a:solidFill>
            <a:tailEnd type="triangle" w="med" len="med"/>
          </a:ln>
        </p:spPr>
      </p:cxnSp>
      <p:sp>
        <p:nvSpPr>
          <p:cNvPr id="17" name="Rounded Rectangle 16"/>
          <p:cNvSpPr/>
          <p:nvPr/>
        </p:nvSpPr>
        <p:spPr>
          <a:xfrm>
            <a:off x="9258300" y="6564122"/>
            <a:ext cx="1202436" cy="685800"/>
          </a:xfrm>
          <a:prstGeom prst="roundRect">
            <a:avLst>
              <a:gd name="adj" fmla="val 16000"/>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18" name="Connector 17"/>
          <p:cNvCxnSpPr/>
          <p:nvPr/>
        </p:nvCxnSpPr>
        <p:spPr>
          <a:xfrm flipH="1">
            <a:off x="9859518" y="6088634"/>
            <a:ext cx="656082" cy="438912"/>
          </a:xfrm>
          <a:prstGeom prst="line">
            <a:avLst/>
          </a:prstGeom>
          <a:ln w="19050">
            <a:solidFill>
              <a:srgbClr val="124944"/>
            </a:solidFill>
            <a:tailEnd type="triangle" w="med" len="med"/>
          </a:ln>
        </p:spPr>
      </p:cxnSp>
      <p:sp>
        <p:nvSpPr>
          <p:cNvPr id="19" name="Rounded Rectangle 18"/>
          <p:cNvSpPr/>
          <p:nvPr/>
        </p:nvSpPr>
        <p:spPr>
          <a:xfrm>
            <a:off x="10570464" y="6564122"/>
            <a:ext cx="1202436" cy="685800"/>
          </a:xfrm>
          <a:prstGeom prst="roundRect">
            <a:avLst>
              <a:gd name="adj" fmla="val 16000"/>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20" name="Connector 19"/>
          <p:cNvCxnSpPr/>
          <p:nvPr/>
        </p:nvCxnSpPr>
        <p:spPr>
          <a:xfrm>
            <a:off x="10515600" y="6088634"/>
            <a:ext cx="656082" cy="438912"/>
          </a:xfrm>
          <a:prstGeom prst="line">
            <a:avLst/>
          </a:prstGeom>
          <a:ln w="19050">
            <a:solidFill>
              <a:srgbClr val="124944"/>
            </a:solidFill>
            <a:tailEnd type="triangle" w="med" len="med"/>
          </a:ln>
        </p:spPr>
      </p:cxnSp>
      <p:sp>
        <p:nvSpPr>
          <p:cNvPr id="21" name="Rounded Rectangle 20"/>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22" name="Connector 21"/>
          <p:cNvCxnSpPr/>
          <p:nvPr/>
        </p:nvCxnSpPr>
        <p:spPr>
          <a:xfrm>
            <a:off x="13258800" y="4278122"/>
            <a:ext cx="0" cy="502920"/>
          </a:xfrm>
          <a:prstGeom prst="line">
            <a:avLst/>
          </a:prstGeom>
          <a:ln w="25400">
            <a:solidFill>
              <a:srgbClr val="124944"/>
            </a:solidFill>
            <a:tailEnd type="triangle" w="med" len="med"/>
          </a:ln>
        </p:spPr>
      </p:cxnSp>
      <p:sp>
        <p:nvSpPr>
          <p:cNvPr id="23" name="Rounded Rectangle 22"/>
          <p:cNvSpPr/>
          <p:nvPr/>
        </p:nvSpPr>
        <p:spPr>
          <a:xfrm>
            <a:off x="12001500" y="6564122"/>
            <a:ext cx="1202436" cy="685800"/>
          </a:xfrm>
          <a:prstGeom prst="roundRect">
            <a:avLst>
              <a:gd name="adj" fmla="val 16000"/>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24" name="Connector 23"/>
          <p:cNvCxnSpPr/>
          <p:nvPr/>
        </p:nvCxnSpPr>
        <p:spPr>
          <a:xfrm flipH="1">
            <a:off x="12602718" y="6088634"/>
            <a:ext cx="656082" cy="438912"/>
          </a:xfrm>
          <a:prstGeom prst="line">
            <a:avLst/>
          </a:prstGeom>
          <a:ln w="19050">
            <a:solidFill>
              <a:srgbClr val="124944"/>
            </a:solidFill>
            <a:tailEnd type="triangle" w="med" len="med"/>
          </a:ln>
        </p:spPr>
      </p:cxnSp>
      <p:sp>
        <p:nvSpPr>
          <p:cNvPr id="25" name="Rounded Rectangle 24"/>
          <p:cNvSpPr/>
          <p:nvPr/>
        </p:nvSpPr>
        <p:spPr>
          <a:xfrm>
            <a:off x="13313664" y="6564122"/>
            <a:ext cx="1202436" cy="685800"/>
          </a:xfrm>
          <a:prstGeom prst="roundRect">
            <a:avLst>
              <a:gd name="adj" fmla="val 16000"/>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26" name="Connector 25"/>
          <p:cNvCxnSpPr/>
          <p:nvPr/>
        </p:nvCxnSpPr>
        <p:spPr>
          <a:xfrm>
            <a:off x="13258800" y="6088634"/>
            <a:ext cx="656082" cy="438912"/>
          </a:xfrm>
          <a:prstGeom prst="line">
            <a:avLst/>
          </a:prstGeom>
          <a:ln w="19050">
            <a:solidFill>
              <a:srgbClr val="124944"/>
            </a:solidFill>
            <a:tailEnd type="triangle" w="med" len="med"/>
          </a:ln>
        </p:spPr>
      </p:cxnSp>
      <p:sp>
        <p:nvSpPr>
          <p:cNvPr id="27" name="Rounded Rectangle 26"/>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meteorology</a:t>
            </a:r>
          </a:p>
        </p:txBody>
      </p:sp>
      <p:cxnSp>
        <p:nvCxnSpPr>
          <p:cNvPr id="28" name="Connector 27"/>
          <p:cNvCxnSpPr/>
          <p:nvPr/>
        </p:nvCxnSpPr>
        <p:spPr>
          <a:xfrm>
            <a:off x="13258800" y="4278122"/>
            <a:ext cx="2743200" cy="502920"/>
          </a:xfrm>
          <a:prstGeom prst="line">
            <a:avLst/>
          </a:prstGeom>
          <a:ln w="25400">
            <a:solidFill>
              <a:srgbClr val="124944"/>
            </a:solidFill>
            <a:tailEnd type="triangle" w="med" len="med"/>
          </a:ln>
        </p:spPr>
      </p:cxnSp>
      <p:sp>
        <p:nvSpPr>
          <p:cNvPr id="29" name="Rounded Rectangle 28"/>
          <p:cNvSpPr/>
          <p:nvPr/>
        </p:nvSpPr>
        <p:spPr>
          <a:xfrm>
            <a:off x="14744700" y="6564122"/>
            <a:ext cx="1202436" cy="685800"/>
          </a:xfrm>
          <a:prstGeom prst="roundRect">
            <a:avLst>
              <a:gd name="adj" fmla="val 16000"/>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0" name="Connector 29"/>
          <p:cNvCxnSpPr/>
          <p:nvPr/>
        </p:nvCxnSpPr>
        <p:spPr>
          <a:xfrm flipH="1">
            <a:off x="15345918" y="6088634"/>
            <a:ext cx="656082" cy="438912"/>
          </a:xfrm>
          <a:prstGeom prst="line">
            <a:avLst/>
          </a:prstGeom>
          <a:ln w="19050">
            <a:solidFill>
              <a:srgbClr val="124944"/>
            </a:solidFill>
            <a:tailEnd type="triangle" w="med" len="med"/>
          </a:ln>
        </p:spPr>
      </p:cxnSp>
      <p:sp>
        <p:nvSpPr>
          <p:cNvPr id="31" name="Rounded Rectangle 30"/>
          <p:cNvSpPr/>
          <p:nvPr/>
        </p:nvSpPr>
        <p:spPr>
          <a:xfrm>
            <a:off x="16056864" y="6564122"/>
            <a:ext cx="1202436" cy="685800"/>
          </a:xfrm>
          <a:prstGeom prst="roundRect">
            <a:avLst>
              <a:gd name="adj" fmla="val 16000"/>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2" name="Connector 31"/>
          <p:cNvCxnSpPr/>
          <p:nvPr/>
        </p:nvCxnSpPr>
        <p:spPr>
          <a:xfrm>
            <a:off x="16002000" y="6088634"/>
            <a:ext cx="656082" cy="438912"/>
          </a:xfrm>
          <a:prstGeom prst="line">
            <a:avLst/>
          </a:prstGeom>
          <a:ln w="19050">
            <a:solidFill>
              <a:srgbClr val="124944"/>
            </a:solidFill>
            <a:tailEnd type="triangle" w="med" len="med"/>
          </a:ln>
        </p:spPr>
      </p:cxnSp>
      <p:sp>
        <p:nvSpPr>
          <p:cNvPr id="33" name="Rounded Rectangle 32"/>
          <p:cNvSpPr/>
          <p:nvPr/>
        </p:nvSpPr>
        <p:spPr>
          <a:xfrm>
            <a:off x="9258300" y="7478522"/>
            <a:ext cx="8001000" cy="1830070"/>
          </a:xfrm>
          <a:prstGeom prst="roundRect">
            <a:avLst>
              <a:gd name="adj" fmla="val 12491"/>
            </a:avLst>
          </a:prstGeom>
          <a:solidFill>
            <a:srgbClr val="124944"/>
          </a:solidFill>
          <a:ln>
            <a:noFill/>
          </a:ln>
        </p:spPr>
        <p:txBody>
          <a:bodyPr anchor="ctr" rtlCol="false" lIns="274320" tIns="137160" rIns="274320" bIns="13716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a:p>
            <a:pPr algn="ctr">
              <a:lnSpc>
                <a:spcPts val="2800"/>
              </a:lnSpc>
              <a:spcBef>
                <a:spcPts val="1000"/>
              </a:spcBef>
              <a:buNone/>
            </a:pPr>
            <a:r>
              <a:rPr lang="en-US" sz="2100" b="true">
                <a:solidFill>
                  <a:srgbClr val="FFFFFF"/>
                </a:solidFill>
                <a:latin typeface="Calibri"/>
                <a:ea typeface="Calibri"/>
                <a:cs typeface="Calibri"/>
                <a:sym typeface="Calibri"/>
              </a:rPr>
              <a:t>Φ</a:t>
            </a:r>
            <a:r>
              <a:rPr lang="en-US" sz="2100" b="true" baseline="-25000">
                <a:solidFill>
                  <a:srgbClr val="FFFFFF"/>
                </a:solidFill>
                <a:latin typeface="Nunito Bold"/>
                <a:ea typeface="Nunito Bold"/>
                <a:cs typeface="Nunito Bold"/>
                <a:sym typeface="Nunito Bold"/>
              </a:rPr>
              <a:t>j</a:t>
            </a:r>
            <a:r>
              <a:rPr lang="en-US" sz="2100" b="true" baseline="30000">
                <a:solidFill>
                  <a:srgbClr val="FFFFFF"/>
                </a:solidFill>
                <a:latin typeface="Nunito Bold"/>
                <a:ea typeface="Nunito Bold"/>
                <a:cs typeface="Nunito Bold"/>
                <a:sym typeface="Nunito Bold"/>
              </a:rPr>
              <a:t>(l,c)</a:t>
            </a:r>
            <a:r>
              <a:rPr lang="en-US" sz="2100" b="true">
                <a:solidFill>
                  <a:srgbClr val="FFFFFF"/>
                </a:solidFill>
                <a:latin typeface="Nunito Bold"/>
                <a:ea typeface="Nunito Bold"/>
                <a:cs typeface="Nunito Bold"/>
                <a:sym typeface="Nunito Bold"/>
              </a:rPr>
              <a:t>  =  Σ</a:t>
            </a:r>
            <a:r>
              <a:rPr lang="en-US" sz="2100" b="true" baseline="-25000">
                <a:solidFill>
                  <a:srgbClr val="FFFFFF"/>
                </a:solidFill>
                <a:latin typeface="Nunito Bold"/>
                <a:ea typeface="Nunito Bold"/>
                <a:cs typeface="Nunito Bold"/>
                <a:sym typeface="Nunito Bold"/>
              </a:rPr>
              <a:t>c′ </a:t>
            </a:r>
            <a:r>
              <a:rPr lang="en-US" sz="2100" b="true" baseline="-25000">
                <a:solidFill>
                  <a:srgbClr val="FFFFFF"/>
                </a:solidFill>
                <a:latin typeface="Cambria Math"/>
                <a:ea typeface="Cambria Math"/>
                <a:cs typeface="Cambria Math"/>
                <a:sym typeface="Cambria Math"/>
              </a:rPr>
              <a:t>∈ </a:t>
            </a:r>
            <a:r>
              <a:rPr lang="en-US" sz="2100" b="true" baseline="-25000">
                <a:solidFill>
                  <a:srgbClr val="FFFFFF"/>
                </a:solidFill>
                <a:latin typeface="Nunito Bold"/>
                <a:ea typeface="Nunito Bold"/>
                <a:cs typeface="Nunito Bold"/>
                <a:sym typeface="Nunito Bold"/>
              </a:rPr>
              <a:t>child(c)</a:t>
            </a:r>
            <a:r>
              <a:rPr lang="en-US" sz="2100" b="true">
                <a:solidFill>
                  <a:srgbClr val="FFFFFF"/>
                </a:solidFill>
                <a:latin typeface="Nunito Bold"/>
                <a:ea typeface="Nunito Bold"/>
                <a:cs typeface="Nunito Bold"/>
                <a:sym typeface="Nunito Bold"/>
              </a:rPr>
              <a:t>  w</a:t>
            </a:r>
            <a:r>
              <a:rPr lang="en-US" sz="2100" b="true" baseline="-25000">
                <a:solidFill>
                  <a:srgbClr val="FFFFFF"/>
                </a:solidFill>
                <a:latin typeface="Nunito Bold"/>
                <a:ea typeface="Nunito Bold"/>
                <a:cs typeface="Nunito Bold"/>
                <a:sym typeface="Nunito Bold"/>
              </a:rPr>
              <a:t>c′</a:t>
            </a:r>
            <a:r>
              <a:rPr lang="en-US" sz="2100" b="true">
                <a:solidFill>
                  <a:srgbClr val="FFFFFF"/>
                </a:solidFill>
                <a:latin typeface="Nunito Bold"/>
                <a:ea typeface="Nunito Bold"/>
                <a:cs typeface="Nunito Bold"/>
                <a:sym typeface="Nunito Bold"/>
              </a:rPr>
              <a:t> · </a:t>
            </a:r>
            <a:r>
              <a:rPr lang="en-US" sz="2100" b="true">
                <a:solidFill>
                  <a:srgbClr val="FFFFFF"/>
                </a:solidFill>
                <a:latin typeface="Calibri"/>
                <a:ea typeface="Calibri"/>
                <a:cs typeface="Calibri"/>
                <a:sym typeface="Calibri"/>
              </a:rPr>
              <a:t>Φ</a:t>
            </a:r>
            <a:r>
              <a:rPr lang="en-US" sz="2100" b="true" baseline="-25000">
                <a:solidFill>
                  <a:srgbClr val="FFFFFF"/>
                </a:solidFill>
                <a:latin typeface="Nunito Bold"/>
                <a:ea typeface="Nunito Bold"/>
                <a:cs typeface="Nunito Bold"/>
                <a:sym typeface="Nunito Bold"/>
              </a:rPr>
              <a:t>j</a:t>
            </a:r>
            <a:r>
              <a:rPr lang="en-US" sz="2100" b="true" baseline="30000">
                <a:solidFill>
                  <a:srgbClr val="FFFFFF"/>
                </a:solidFill>
                <a:latin typeface="Nunito Bold"/>
                <a:ea typeface="Nunito Bold"/>
                <a:cs typeface="Nunito Bold"/>
                <a:sym typeface="Nunito Bold"/>
              </a:rPr>
              <a:t>(l+1,c′)</a:t>
            </a:r>
            <a:r>
              <a:rPr lang="en-US" sz="2100" b="true">
                <a:solidFill>
                  <a:srgbClr val="FFFFFF"/>
                </a:solidFill>
                <a:latin typeface="Nunito Bold"/>
                <a:ea typeface="Nunito Bold"/>
                <a:cs typeface="Nunito Bold"/>
                <a:sym typeface="Nunito Bold"/>
              </a:rPr>
              <a:t>  +  </a:t>
            </a:r>
            <a:r>
              <a:rPr lang="en-US" sz="2100" b="true">
                <a:solidFill>
                  <a:srgbClr val="FFFFFF"/>
                </a:solidFill>
                <a:latin typeface="Calibri"/>
                <a:ea typeface="Calibri"/>
                <a:cs typeface="Calibri"/>
                <a:sym typeface="Calibri"/>
              </a:rPr>
              <a:t>ε</a:t>
            </a:r>
            <a:r>
              <a:rPr lang="en-US" sz="2100" b="true" baseline="-25000">
                <a:solidFill>
                  <a:srgbClr val="FFFFFF"/>
                </a:solidFill>
                <a:latin typeface="Nunito Bold"/>
                <a:ea typeface="Nunito Bold"/>
                <a:cs typeface="Nunito Bold"/>
                <a:sym typeface="Nunito Bold"/>
              </a:rPr>
              <a:t>j</a:t>
            </a:r>
          </a:p>
          <a:p>
            <a:pPr algn="ctr">
              <a:lnSpc>
                <a:spcPts val="1900"/>
              </a:lnSpc>
              <a:spcBef>
                <a:spcPts val="600"/>
              </a:spcBef>
              <a:buNone/>
            </a:pPr>
            <a:r>
              <a:rPr lang="en-US" sz="1500" b="true">
                <a:solidFill>
                  <a:srgbClr val="DCE7E3"/>
                </a:solidFill>
                <a:latin typeface="Nunito Semi-Bold"/>
                <a:ea typeface="Nunito Semi-Bold"/>
                <a:cs typeface="Nunito Semi-Bold"/>
                <a:sym typeface="Nunito Semi-Bold"/>
              </a:rPr>
              <a:t>w</a:t>
            </a:r>
            <a:r>
              <a:rPr lang="en-US" sz="1500" b="true" baseline="-25000">
                <a:solidFill>
                  <a:srgbClr val="DCE7E3"/>
                </a:solidFill>
                <a:latin typeface="Nunito Semi-Bold"/>
                <a:ea typeface="Nunito Semi-Bold"/>
                <a:cs typeface="Nunito Semi-Bold"/>
                <a:sym typeface="Nunito Semi-Bold"/>
              </a:rPr>
              <a:t>c′</a:t>
            </a:r>
            <a:r>
              <a:rPr lang="en-US" sz="1500" b="true">
                <a:solidFill>
                  <a:srgbClr val="DCE7E3"/>
                </a:solidFill>
                <a:latin typeface="Nunito Semi-Bold"/>
                <a:ea typeface="Nunito Semi-Bold"/>
                <a:cs typeface="Nunito Semi-Bold"/>
                <a:sym typeface="Nunito Semi-Bold"/>
              </a:rPr>
              <a:t> = |c′| / |c|   ·   </a:t>
            </a:r>
            <a:r>
              <a:rPr lang="en-US" sz="1500" b="true">
                <a:solidFill>
                  <a:srgbClr val="DCE7E3"/>
                </a:solidFill>
                <a:latin typeface="Calibri"/>
                <a:ea typeface="Calibri"/>
                <a:cs typeface="Calibri"/>
                <a:sym typeface="Calibri"/>
              </a:rPr>
              <a:t>ε</a:t>
            </a:r>
            <a:r>
              <a:rPr lang="en-US" sz="1500" b="true" baseline="-25000">
                <a:solidFill>
                  <a:srgbClr val="DCE7E3"/>
                </a:solidFill>
                <a:latin typeface="Nunito Semi-Bold"/>
                <a:ea typeface="Nunito Semi-Bold"/>
                <a:cs typeface="Nunito Semi-Bold"/>
                <a:sym typeface="Nunito Semi-Bold"/>
              </a:rPr>
              <a:t>j</a:t>
            </a:r>
            <a:r>
              <a:rPr lang="en-US" sz="1500" b="true">
                <a:solidFill>
                  <a:srgbClr val="DCE7E3"/>
                </a:solidFill>
                <a:latin typeface="Calibri"/>
                <a:ea typeface="Calibri"/>
                <a:cs typeface="Calibri"/>
                <a:sym typeface="Calibri"/>
              </a:rPr>
              <a:t> → </a:t>
            </a:r>
            <a:r>
              <a:rPr lang="en-US" sz="1500" b="true">
                <a:solidFill>
                  <a:srgbClr val="DCE7E3"/>
                </a:solidFill>
                <a:latin typeface="Nunito Semi-Bold"/>
                <a:ea typeface="Nunito Semi-Bold"/>
                <a:cs typeface="Nunito Semi-Bold"/>
                <a:sym typeface="Nunito Semi-Bold"/>
              </a:rPr>
              <a:t>0 under perfect surrogate fidelity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 Cross-Level Consistency</a:t>
            </a:r>
          </a:p>
        </p:txBody>
      </p:sp>
      <p:pic>
        <p:nvPicPr>
          <p:cNvPr id="8" name="Picture 7" descr="image.png"/>
          <p:cNvPicPr>
            <a:picLocks noChangeAspect="1"/>
          </p:cNvPicPr>
          <p:nvPr/>
        </p:nvPicPr>
        <p:blipFill>
          <a:blip r:embed="rId2"/>
          <a:stretch>
            <a:fillRect/>
          </a:stretch>
        </p:blipFill>
        <p:spPr>
          <a:xfrm>
            <a:off x="11927284"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8229600" cy="594487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Let </a:t>
            </a:r>
            <a:r>
              <a:rPr lang="en-US" sz="2100" b="true">
                <a:solidFill>
                  <a:srgbClr val="111111"/>
                </a:solidFill>
                <a:latin typeface="Calibri"/>
                <a:ea typeface="Calibri"/>
                <a:cs typeface="Calibri"/>
                <a:sym typeface="Calibri"/>
              </a:rPr>
              <a:t>Φ</a:t>
            </a:r>
            <a:r>
              <a:rPr lang="en-US" sz="2100" b="true" baseline="-25000">
                <a:solidFill>
                  <a:srgbClr val="111111"/>
                </a:solidFill>
                <a:latin typeface="Nunito Bold"/>
                <a:ea typeface="Nunito Bold"/>
                <a:cs typeface="Nunito Bold"/>
                <a:sym typeface="Nunito Bold"/>
              </a:rPr>
              <a:t>j</a:t>
            </a:r>
            <a:r>
              <a:rPr lang="en-US" sz="2100" b="true" baseline="30000">
                <a:solidFill>
                  <a:srgbClr val="111111"/>
                </a:solidFill>
                <a:latin typeface="Nunito Bold"/>
                <a:ea typeface="Nunito Bold"/>
                <a:cs typeface="Nunito Bold"/>
                <a:sym typeface="Nunito Bold"/>
              </a:rPr>
              <a:t>(l,c)</a:t>
            </a:r>
            <a:r>
              <a:rPr lang="en-US" sz="2100" b="true">
                <a:solidFill>
                  <a:srgbClr val="111111"/>
                </a:solidFill>
                <a:latin typeface="Nunito Bold"/>
                <a:ea typeface="Nunito Bold"/>
                <a:cs typeface="Nunito Bold"/>
                <a:sym typeface="Nunito Bold"/>
              </a:rPr>
              <a:t> = E</a:t>
            </a:r>
            <a:r>
              <a:rPr lang="en-US" sz="2100" b="true" baseline="-25000">
                <a:solidFill>
                  <a:srgbClr val="111111"/>
                </a:solidFill>
                <a:latin typeface="Nunito Bold"/>
                <a:ea typeface="Nunito Bold"/>
                <a:cs typeface="Nunito Bold"/>
                <a:sym typeface="Nunito Bold"/>
              </a:rPr>
              <a:t>x</a:t>
            </a:r>
            <a:r>
              <a:rPr lang="en-US" sz="2100" b="true" baseline="-25000">
                <a:solidFill>
                  <a:srgbClr val="111111"/>
                </a:solidFill>
                <a:latin typeface="Cambria Math"/>
                <a:ea typeface="Cambria Math"/>
                <a:cs typeface="Cambria Math"/>
                <a:sym typeface="Cambria Math"/>
              </a:rPr>
              <a:t>∼</a:t>
            </a:r>
            <a:r>
              <a:rPr lang="en-US" sz="2100" b="true" baseline="-25000">
                <a:solidFill>
                  <a:srgbClr val="111111"/>
                </a:solidFill>
                <a:latin typeface="Nunito Bold"/>
                <a:ea typeface="Nunito Bold"/>
                <a:cs typeface="Nunito Bold"/>
                <a:sym typeface="Nunito Bold"/>
              </a:rPr>
              <a:t>c</a:t>
            </a:r>
            <a:r>
              <a:rPr lang="en-US" sz="2100" b="true">
                <a:solidFill>
                  <a:srgbClr val="111111"/>
                </a:solidFill>
                <a:latin typeface="Nunito Bold"/>
                <a:ea typeface="Nunito Bold"/>
                <a:cs typeface="Nunito Bold"/>
                <a:sym typeface="Nunito Bold"/>
              </a:rPr>
              <a:t>[ |</a:t>
            </a:r>
            <a:r>
              <a:rPr lang="en-US" sz="2100" b="true">
                <a:solidFill>
                  <a:srgbClr val="111111"/>
                </a:solidFill>
                <a:latin typeface="Calibri"/>
                <a:ea typeface="Calibri"/>
                <a:cs typeface="Calibri"/>
                <a:sym typeface="Calibri"/>
              </a:rPr>
              <a:t>φ</a:t>
            </a:r>
            <a:r>
              <a:rPr lang="en-US" sz="2100" b="true" baseline="-25000">
                <a:solidFill>
                  <a:srgbClr val="111111"/>
                </a:solidFill>
                <a:latin typeface="Nunito Bold"/>
                <a:ea typeface="Nunito Bold"/>
                <a:cs typeface="Nunito Bold"/>
                <a:sym typeface="Nunito Bold"/>
              </a:rPr>
              <a:t>j</a:t>
            </a:r>
            <a:r>
              <a:rPr lang="en-US" sz="2100" b="true" baseline="30000">
                <a:solidFill>
                  <a:srgbClr val="111111"/>
                </a:solidFill>
                <a:latin typeface="Nunito Bold"/>
                <a:ea typeface="Nunito Bold"/>
                <a:cs typeface="Nunito Bold"/>
                <a:sym typeface="Nunito Bold"/>
              </a:rPr>
              <a:t>(l)</a:t>
            </a:r>
            <a:r>
              <a:rPr lang="en-US" sz="2100" b="true">
                <a:solidFill>
                  <a:srgbClr val="111111"/>
                </a:solidFill>
                <a:latin typeface="Nunito Bold"/>
                <a:ea typeface="Nunito Bold"/>
                <a:cs typeface="Nunito Bold"/>
                <a:sym typeface="Nunito Bold"/>
              </a:rPr>
              <a:t>(x)| ]</a:t>
            </a:r>
            <a:r>
              <a:rPr lang="en-US" sz="2100" b="true">
                <a:solidFill>
                  <a:srgbClr val="111111"/>
                </a:solidFill>
                <a:latin typeface="Nunito Semi-Bold"/>
                <a:ea typeface="Nunito Semi-Bold"/>
                <a:cs typeface="Nunito Semi-Bold"/>
                <a:sym typeface="Nunito Semi-Bold"/>
              </a:rPr>
              <a:t> be the expected absolute SHAP importance of feature j at level l in cluster c.</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Let </a:t>
            </a:r>
            <a:r>
              <a:rPr lang="en-US" sz="2100" b="true">
                <a:solidFill>
                  <a:srgbClr val="111111"/>
                </a:solidFill>
                <a:latin typeface="Nunito Bold"/>
                <a:ea typeface="Nunito Bold"/>
                <a:cs typeface="Nunito Bold"/>
                <a:sym typeface="Nunito Bold"/>
              </a:rPr>
              <a:t>w</a:t>
            </a:r>
            <a:r>
              <a:rPr lang="en-US" sz="2100" b="true" baseline="-25000">
                <a:solidFill>
                  <a:srgbClr val="111111"/>
                </a:solidFill>
                <a:latin typeface="Nunito Bold"/>
                <a:ea typeface="Nunito Bold"/>
                <a:cs typeface="Nunito Bold"/>
                <a:sym typeface="Nunito Bold"/>
              </a:rPr>
              <a:t>c′</a:t>
            </a:r>
            <a:r>
              <a:rPr lang="en-US" sz="2100" b="true">
                <a:solidFill>
                  <a:srgbClr val="111111"/>
                </a:solidFill>
                <a:latin typeface="Nunito Bold"/>
                <a:ea typeface="Nunito Bold"/>
                <a:cs typeface="Nunito Bold"/>
                <a:sym typeface="Nunito Bold"/>
              </a:rPr>
              <a:t> = |c′| / |c|</a:t>
            </a:r>
            <a:r>
              <a:rPr lang="en-US" sz="2100" b="true">
                <a:solidFill>
                  <a:srgbClr val="111111"/>
                </a:solidFill>
                <a:latin typeface="Nunito Semi-Bold"/>
                <a:ea typeface="Nunito Semi-Bold"/>
                <a:cs typeface="Nunito Semi-Bold"/>
                <a:sym typeface="Nunito Semi-Bold"/>
              </a:rPr>
              <a:t> be the relative size of child c′ within parent c.</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a:p>
            <a:pPr algn="ctr">
              <a:lnSpc>
                <a:spcPts val="3200"/>
              </a:lnSpc>
              <a:spcBef>
                <a:spcPts val="1400"/>
              </a:spcBef>
              <a:buNone/>
            </a:pPr>
            <a:r>
              <a:rPr lang="en-US" sz="2400" b="true">
                <a:solidFill>
                  <a:srgbClr val="124944"/>
                </a:solidFill>
                <a:latin typeface="Calibri"/>
                <a:ea typeface="Calibri"/>
                <a:cs typeface="Calibri"/>
                <a:sym typeface="Calibri"/>
              </a:rPr>
              <a:t>Φ</a:t>
            </a:r>
            <a:r>
              <a:rPr lang="en-US" sz="2400" b="true" baseline="-25000">
                <a:solidFill>
                  <a:srgbClr val="124944"/>
                </a:solidFill>
                <a:latin typeface="Nunito Bold"/>
                <a:ea typeface="Nunito Bold"/>
                <a:cs typeface="Nunito Bold"/>
                <a:sym typeface="Nunito Bold"/>
              </a:rPr>
              <a:t>j</a:t>
            </a:r>
            <a:r>
              <a:rPr lang="en-US" sz="2400" b="true" baseline="30000">
                <a:solidFill>
                  <a:srgbClr val="124944"/>
                </a:solidFill>
                <a:latin typeface="Nunito Bold"/>
                <a:ea typeface="Nunito Bold"/>
                <a:cs typeface="Nunito Bold"/>
                <a:sym typeface="Nunito Bold"/>
              </a:rPr>
              <a:t>(l,c)</a:t>
            </a:r>
            <a:r>
              <a:rPr lang="en-US" sz="2400" b="true">
                <a:solidFill>
                  <a:srgbClr val="124944"/>
                </a:solidFill>
                <a:latin typeface="Nunito Bold"/>
                <a:ea typeface="Nunito Bold"/>
                <a:cs typeface="Nunito Bold"/>
                <a:sym typeface="Nunito Bold"/>
              </a:rPr>
              <a:t> = Σ</a:t>
            </a:r>
            <a:r>
              <a:rPr lang="en-US" sz="2400" b="true" baseline="-25000">
                <a:solidFill>
                  <a:srgbClr val="124944"/>
                </a:solidFill>
                <a:latin typeface="Nunito Bold"/>
                <a:ea typeface="Nunito Bold"/>
                <a:cs typeface="Nunito Bold"/>
                <a:sym typeface="Nunito Bold"/>
              </a:rPr>
              <a:t>c′</a:t>
            </a:r>
            <a:r>
              <a:rPr lang="en-US" sz="2400" b="true" baseline="-25000">
                <a:solidFill>
                  <a:srgbClr val="124944"/>
                </a:solidFill>
                <a:latin typeface="Cambria Math"/>
                <a:ea typeface="Cambria Math"/>
                <a:cs typeface="Cambria Math"/>
                <a:sym typeface="Cambria Math"/>
              </a:rPr>
              <a:t>∈</a:t>
            </a:r>
            <a:r>
              <a:rPr lang="en-US" sz="2400" b="true" baseline="-25000">
                <a:solidFill>
                  <a:srgbClr val="124944"/>
                </a:solidFill>
                <a:latin typeface="Nunito Bold"/>
                <a:ea typeface="Nunito Bold"/>
                <a:cs typeface="Nunito Bold"/>
                <a:sym typeface="Nunito Bold"/>
              </a:rPr>
              <a:t>child(c)</a:t>
            </a:r>
            <a:r>
              <a:rPr lang="en-US" sz="2400" b="true">
                <a:solidFill>
                  <a:srgbClr val="124944"/>
                </a:solidFill>
                <a:latin typeface="Nunito Bold"/>
                <a:ea typeface="Nunito Bold"/>
                <a:cs typeface="Nunito Bold"/>
                <a:sym typeface="Nunito Bold"/>
              </a:rPr>
              <a:t> w</a:t>
            </a:r>
            <a:r>
              <a:rPr lang="en-US" sz="2400" b="true" baseline="-25000">
                <a:solidFill>
                  <a:srgbClr val="124944"/>
                </a:solidFill>
                <a:latin typeface="Nunito Bold"/>
                <a:ea typeface="Nunito Bold"/>
                <a:cs typeface="Nunito Bold"/>
                <a:sym typeface="Nunito Bold"/>
              </a:rPr>
              <a:t>c′</a:t>
            </a:r>
            <a:r>
              <a:rPr lang="en-US" sz="2400" b="true">
                <a:solidFill>
                  <a:srgbClr val="124944"/>
                </a:solidFill>
                <a:latin typeface="Nunito Bold"/>
                <a:ea typeface="Nunito Bold"/>
                <a:cs typeface="Nunito Bold"/>
                <a:sym typeface="Nunito Bold"/>
              </a:rPr>
              <a:t> · </a:t>
            </a:r>
            <a:r>
              <a:rPr lang="en-US" sz="2400" b="true">
                <a:solidFill>
                  <a:srgbClr val="124944"/>
                </a:solidFill>
                <a:latin typeface="Calibri"/>
                <a:ea typeface="Calibri"/>
                <a:cs typeface="Calibri"/>
                <a:sym typeface="Calibri"/>
              </a:rPr>
              <a:t>Φ</a:t>
            </a:r>
            <a:r>
              <a:rPr lang="en-US" sz="2400" b="true" baseline="-25000">
                <a:solidFill>
                  <a:srgbClr val="124944"/>
                </a:solidFill>
                <a:latin typeface="Nunito Bold"/>
                <a:ea typeface="Nunito Bold"/>
                <a:cs typeface="Nunito Bold"/>
                <a:sym typeface="Nunito Bold"/>
              </a:rPr>
              <a:t>j</a:t>
            </a:r>
            <a:r>
              <a:rPr lang="en-US" sz="2400" b="true" baseline="30000">
                <a:solidFill>
                  <a:srgbClr val="124944"/>
                </a:solidFill>
                <a:latin typeface="Nunito Bold"/>
                <a:ea typeface="Nunito Bold"/>
                <a:cs typeface="Nunito Bold"/>
                <a:sym typeface="Nunito Bold"/>
              </a:rPr>
              <a:t>(l+1,c′)</a:t>
            </a:r>
            <a:r>
              <a:rPr lang="en-US" sz="2400" b="true">
                <a:solidFill>
                  <a:srgbClr val="124944"/>
                </a:solidFill>
                <a:latin typeface="Nunito Bold"/>
                <a:ea typeface="Nunito Bold"/>
                <a:cs typeface="Nunito Bold"/>
                <a:sym typeface="Nunito Bold"/>
              </a:rPr>
              <a:t> + </a:t>
            </a:r>
            <a:r>
              <a:rPr lang="en-US" sz="2400" b="true">
                <a:solidFill>
                  <a:srgbClr val="124944"/>
                </a:solidFill>
                <a:latin typeface="Calibri"/>
                <a:ea typeface="Calibri"/>
                <a:cs typeface="Calibri"/>
                <a:sym typeface="Calibri"/>
              </a:rPr>
              <a:t>ε</a:t>
            </a:r>
            <a:r>
              <a:rPr lang="en-US" sz="2400" b="true" baseline="-25000">
                <a:solidFill>
                  <a:srgbClr val="124944"/>
                </a:solidFill>
                <a:latin typeface="Nunito Bold"/>
                <a:ea typeface="Nunito Bold"/>
                <a:cs typeface="Nunito Bold"/>
                <a:sym typeface="Nunito Bold"/>
              </a:rPr>
              <a:t>j</a:t>
            </a:r>
          </a:p>
          <a:p>
            <a:pPr algn="l" marL="274320" indent="-274320">
              <a:lnSpc>
                <a:spcPts val="2814"/>
              </a:lnSpc>
              <a:spcBef>
                <a:spcPts val="0"/>
              </a:spcBef>
              <a:buClr>
                <a:srgbClr val="DF8330"/>
              </a:buClr>
              <a:buSzPct val="100000"/>
              <a:buFont typeface="Arial"/>
              <a:buChar char="•"/>
            </a:pPr>
            <a:r>
              <a:rPr lang="en-US" sz="2100" b="true">
                <a:solidFill>
                  <a:srgbClr val="111111"/>
                </a:solidFill>
                <a:latin typeface="Calibri"/>
                <a:ea typeface="Calibri"/>
                <a:cs typeface="Calibri"/>
                <a:sym typeface="Calibri"/>
              </a:rPr>
              <a:t>ε</a:t>
            </a:r>
            <a:r>
              <a:rPr lang="en-US" sz="2100" b="true" baseline="-25000">
                <a:solidFill>
                  <a:srgbClr val="111111"/>
                </a:solidFill>
                <a:latin typeface="Nunito Bold"/>
                <a:ea typeface="Nunito Bold"/>
                <a:cs typeface="Nunito Bold"/>
                <a:sym typeface="Nunito Bold"/>
              </a:rPr>
              <a:t>j</a:t>
            </a:r>
            <a:r>
              <a:rPr lang="en-US" sz="2100" b="true">
                <a:solidFill>
                  <a:srgbClr val="111111"/>
                </a:solidFill>
                <a:latin typeface="Nunito Semi-Bold"/>
                <a:ea typeface="Nunito Semi-Bold"/>
                <a:cs typeface="Nunito Semi-Bold"/>
                <a:sym typeface="Nunito Semi-Bold"/>
              </a:rPr>
              <a:t> is a residual from surrogate mismatch, vanishing under perfect fidelity.</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Derived via the </a:t>
            </a:r>
            <a:r>
              <a:rPr lang="en-US" sz="2100" b="true">
                <a:solidFill>
                  <a:srgbClr val="111111"/>
                </a:solidFill>
                <a:latin typeface="Nunito Bold"/>
                <a:ea typeface="Nunito Bold"/>
                <a:cs typeface="Nunito Bold"/>
                <a:sym typeface="Nunito Bold"/>
              </a:rPr>
              <a:t>law of total expectation</a:t>
            </a:r>
            <a:r>
              <a:rPr lang="en-US" sz="2100" b="true">
                <a:solidFill>
                  <a:srgbClr val="111111"/>
                </a:solidFill>
                <a:latin typeface="Nunito Semi-Bold"/>
                <a:ea typeface="Nunito Semi-Bold"/>
                <a:cs typeface="Nunito Semi-Bold"/>
                <a:sym typeface="Nunito Semi-Bold"/>
              </a:rPr>
              <a:t> (children partition the parent).</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Does </a:t>
            </a:r>
            <a:r>
              <a:rPr lang="en-US" sz="2100" b="true">
                <a:solidFill>
                  <a:srgbClr val="111111"/>
                </a:solidFill>
                <a:latin typeface="Nunito Bold"/>
                <a:ea typeface="Nunito Bold"/>
                <a:cs typeface="Nunito Bold"/>
                <a:sym typeface="Nunito Bold"/>
              </a:rPr>
              <a:t>NOT</a:t>
            </a:r>
            <a:r>
              <a:rPr lang="en-US" sz="2100" b="true">
                <a:solidFill>
                  <a:srgbClr val="111111"/>
                </a:solidFill>
                <a:latin typeface="Nunito Semi-Bold"/>
                <a:ea typeface="Nunito Semi-Bold"/>
                <a:cs typeface="Nunito Semi-Bold"/>
                <a:sym typeface="Nunito Semi-Bold"/>
              </a:rPr>
              <a:t> imply explanations are identical across levels — it implies differences can be </a:t>
            </a:r>
            <a:r>
              <a:rPr lang="en-US" sz="2100" b="true">
                <a:solidFill>
                  <a:srgbClr val="111111"/>
                </a:solidFill>
                <a:latin typeface="Nunito Bold"/>
                <a:ea typeface="Nunito Bold"/>
                <a:cs typeface="Nunito Bold"/>
                <a:sym typeface="Nunito Bold"/>
              </a:rPr>
              <a:t>interpreted</a:t>
            </a:r>
            <a:r>
              <a:rPr lang="en-US" sz="2100" b="true">
                <a:solidFill>
                  <a:srgbClr val="111111"/>
                </a:solidFill>
                <a:latin typeface="Nunito Semi-Bold"/>
                <a:ea typeface="Nunito Semi-Bold"/>
                <a:cs typeface="Nunito Semi-Bold"/>
                <a:sym typeface="Nunito Semi-Bold"/>
              </a:rPr>
              <a:t>, not dismissed as inconsistency.</a:t>
            </a:r>
          </a:p>
        </p:txBody>
      </p:sp>
      <p:sp>
        <p:nvSpPr>
          <p:cNvPr id="14" name="Rounded Rectangle 13"/>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16" name="TextBox 15"/>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546"/>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children — not a separate story.</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17" name="Rounded Rectangle 16"/>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18" name="Rounded Rectangle 17"/>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 Beijing Air Quality</a:t>
            </a:r>
          </a:p>
        </p:txBody>
      </p:sp>
      <p:pic>
        <p:nvPicPr>
          <p:cNvPr id="8" name="Picture 7" descr="image.png"/>
          <p:cNvPicPr>
            <a:picLocks noChangeAspect="1"/>
          </p:cNvPicPr>
          <p:nvPr/>
        </p:nvPicPr>
        <p:blipFill>
          <a:blip r:embed="rId2"/>
          <a:stretch>
            <a:fillRect/>
          </a:stretch>
        </p:blipFill>
        <p:spPr>
          <a:xfrm>
            <a:off x="12700397" y="1673352"/>
            <a:ext cx="457200" cy="61711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strong convergence on </a:t>
            </a:r>
            <a:r>
              <a:rPr lang="en-US" sz="1700" b="true">
                <a:solidFill>
                  <a:srgbClr val="FFFFFF"/>
                </a:solidFill>
                <a:latin typeface="Nunito Bold"/>
                <a:ea typeface="Nunito Bold"/>
                <a:cs typeface="Nunito Bold"/>
                <a:sym typeface="Nunito Bold"/>
              </a:rPr>
              <a:t>multi-criteria</a:t>
            </a:r>
            <a:r>
              <a:rPr lang="en-US" sz="1700" b="true">
                <a:solidFill>
                  <a:srgbClr val="FFFFFF"/>
                </a:solidFill>
                <a:latin typeface="Nunito Semi-Bold"/>
                <a:ea typeface="Nunito Semi-Bold"/>
                <a:cs typeface="Nunito Semi-Bold"/>
                <a:sym typeface="Nunito Semi-Bold"/>
              </a:rPr>
              <a:t> evaluation</a:t>
            </a:r>
          </a:p>
        </p:txBody>
      </p:sp>
      <p:sp>
        <p:nvSpPr>
          <p:cNvPr id="14" name="Rounded Rectangle 13"/>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materially stronger separation than wine</a:t>
            </a:r>
          </a:p>
        </p:txBody>
      </p:sp>
      <p:sp>
        <p:nvSpPr>
          <p:cNvPr id="15" name="Rounded Rectangle 14"/>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low between-cluster ambiguity</a:t>
            </a:r>
          </a:p>
        </p:txBody>
      </p:sp>
      <p:sp>
        <p:nvSpPr>
          <p:cNvPr id="16" name="Rounded Rectangle 15"/>
          <p:cNvSpPr/>
          <p:nvPr/>
        </p:nvSpPr>
        <p:spPr>
          <a:xfrm>
            <a:off x="1028700" y="6198362"/>
            <a:ext cx="7932420" cy="3155950"/>
          </a:xfrm>
          <a:prstGeom prst="roundRect">
            <a:avLst>
              <a:gd name="adj" fmla="val 9851"/>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596061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18" name="TextBox 17"/>
          <p:cNvSpPr txBox="1"/>
          <p:nvPr/>
        </p:nvSpPr>
        <p:spPr>
          <a:xfrm>
            <a:off x="1531620" y="6838442"/>
            <a:ext cx="6972300" cy="2241550"/>
          </a:xfrm>
          <a:prstGeom prst="rect">
            <a:avLst/>
          </a:prstGeom>
          <a:noFill/>
        </p:spPr>
        <p:txBody>
          <a:bodyPr anchor="t" rtlCol="false" lIns="0" tIns="0" rIns="0" bIns="0" wrap="square"/>
          <a:lstStyle/>
          <a:p>
            <a:pPr algn="l" marL="274320" indent="-274320">
              <a:lnSpc>
                <a:spcPts val="2439"/>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Full dataset — </a:t>
            </a:r>
            <a:r>
              <a:rPr lang="en-US" sz="1820" b="true">
                <a:solidFill>
                  <a:srgbClr val="111111"/>
                </a:solidFill>
                <a:latin typeface="Nunito Bold"/>
                <a:ea typeface="Nunito Bold"/>
                <a:cs typeface="Nunito Bold"/>
                <a:sym typeface="Nunito Bold"/>
              </a:rPr>
              <a:t>383,585 hourly records</a:t>
            </a:r>
            <a:r>
              <a:rPr lang="en-US" sz="1820" b="true">
                <a:solidFill>
                  <a:srgbClr val="111111"/>
                </a:solidFill>
                <a:latin typeface="Nunito Semi-Bold"/>
                <a:ea typeface="Nunito Semi-Bold"/>
                <a:cs typeface="Nunito Semi-Bold"/>
                <a:sym typeface="Nunito Semi-Bold"/>
              </a:rPr>
              <a:t>, 11 pollutant + meteorological variables.</a:t>
            </a:r>
          </a:p>
          <a:p>
            <a:pPr algn="l" marL="274320" indent="-274320">
              <a:lnSpc>
                <a:spcPts val="2439"/>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PCA projection (2 components) used </a:t>
            </a:r>
            <a:r>
              <a:rPr lang="en-US" sz="1820" b="true">
                <a:solidFill>
                  <a:srgbClr val="111111"/>
                </a:solidFill>
                <a:latin typeface="Nunito Bold"/>
                <a:ea typeface="Nunito Bold"/>
                <a:cs typeface="Nunito Bold"/>
                <a:sym typeface="Nunito Bold"/>
              </a:rPr>
              <a:t>only for visual inspection</a:t>
            </a:r>
            <a:r>
              <a:rPr lang="en-US" sz="1820" b="true">
                <a:solidFill>
                  <a:srgbClr val="111111"/>
                </a:solidFill>
                <a:latin typeface="Nunito Semi-Bold"/>
                <a:ea typeface="Nunito Semi-Bold"/>
                <a:cs typeface="Nunito Semi-Bold"/>
                <a:sym typeface="Nunito Semi-Bold"/>
              </a:rPr>
              <a:t>.</a:t>
            </a:r>
          </a:p>
          <a:p>
            <a:pPr algn="l" marL="274320" indent="-274320">
              <a:lnSpc>
                <a:spcPts val="2439"/>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19" name="Rounded Rectangle 18"/>
          <p:cNvSpPr/>
          <p:nvPr/>
        </p:nvSpPr>
        <p:spPr>
          <a:xfrm>
            <a:off x="9326880" y="6198362"/>
            <a:ext cx="7932420" cy="3155950"/>
          </a:xfrm>
          <a:prstGeom prst="roundRect">
            <a:avLst>
              <a:gd name="adj" fmla="val 9851"/>
            </a:avLst>
          </a:prstGeom>
          <a:solidFill>
            <a:srgbClr val="124944"/>
          </a:solidFill>
          <a:ln>
            <a:noFill/>
          </a:ln>
        </p:spPr>
        <p:txBody>
          <a:bodyPr anchor="ctr" rtlCol="false" lIns="0" tIns="0" rIns="0" bIns="0" wrap="square"/>
          <a:lstStyle/>
          <a:p>
            <a:endParaRPr lang="en-US" sz="1800"/>
          </a:p>
        </p:txBody>
      </p:sp>
      <p:sp>
        <p:nvSpPr>
          <p:cNvPr id="20" name="Rounded Rectangle 19"/>
          <p:cNvSpPr/>
          <p:nvPr/>
        </p:nvSpPr>
        <p:spPr>
          <a:xfrm>
            <a:off x="9784080" y="596061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21" name="TextBox 20"/>
          <p:cNvSpPr txBox="1"/>
          <p:nvPr/>
        </p:nvSpPr>
        <p:spPr>
          <a:xfrm>
            <a:off x="9829800" y="6838442"/>
            <a:ext cx="6972300" cy="2241550"/>
          </a:xfrm>
          <a:prstGeom prst="rect">
            <a:avLst/>
          </a:prstGeom>
          <a:noFill/>
        </p:spPr>
        <p:txBody>
          <a:bodyPr anchor="t" rtlCol="false" lIns="0" tIns="0" rIns="0" bIns="0" wrap="square"/>
          <a:lstStyle/>
          <a:p>
            <a:pPr algn="l" marL="274320" indent="-274320">
              <a:lnSpc>
                <a:spcPts val="2439"/>
              </a:lnSpc>
              <a:spcBef>
                <a:spcPts val="0"/>
              </a:spcBef>
              <a:buClr>
                <a:srgbClr val="ECC665"/>
              </a:buClr>
              <a:buSzPct val="100000"/>
              <a:buFont typeface="Arial"/>
              <a:buChar char="•"/>
            </a:pPr>
            <a:r>
              <a:rPr lang="en-US" sz="1820" b="true">
                <a:solidFill>
                  <a:srgbClr val="FFFFFF"/>
                </a:solidFill>
                <a:latin typeface="Nunito Semi-Bold"/>
                <a:ea typeface="Nunito Semi-Bold"/>
                <a:cs typeface="Nunito Semi-Bold"/>
                <a:sym typeface="Nunito Semi-Bold"/>
              </a:rPr>
              <a:t>Robust to modest variation in </a:t>
            </a:r>
            <a:r>
              <a:rPr lang="en-US" sz="1820" b="true">
                <a:solidFill>
                  <a:srgbClr val="FFFFFF"/>
                </a:solidFill>
                <a:latin typeface="Nunito Bold"/>
                <a:ea typeface="Nunito Bold"/>
                <a:cs typeface="Nunito Bold"/>
                <a:sym typeface="Nunito Bold"/>
              </a:rPr>
              <a:t>k</a:t>
            </a:r>
            <a:r>
              <a:rPr lang="en-US" sz="182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39"/>
              </a:lnSpc>
              <a:spcBef>
                <a:spcPts val="910"/>
              </a:spcBef>
              <a:buClr>
                <a:srgbClr val="ECC665"/>
              </a:buClr>
              <a:buSzPct val="100000"/>
              <a:buFont typeface="Arial"/>
              <a:buChar char="•"/>
            </a:pPr>
            <a:r>
              <a:rPr lang="en-US" sz="1820" b="true">
                <a:solidFill>
                  <a:srgbClr val="FFFFFF"/>
                </a:solidFill>
                <a:latin typeface="Nunito Semi-Bold"/>
                <a:ea typeface="Nunito Semi-Bold"/>
                <a:cs typeface="Nunito Semi-Bold"/>
                <a:sym typeface="Nunito Semi-Bold"/>
              </a:rPr>
              <a:t>Only </a:t>
            </a:r>
            <a:r>
              <a:rPr lang="en-US" sz="1820" b="true">
                <a:solidFill>
                  <a:srgbClr val="FFFFFF"/>
                </a:solidFill>
                <a:latin typeface="Nunito Bold"/>
                <a:ea typeface="Nunito Bold"/>
                <a:cs typeface="Nunito Bold"/>
                <a:sym typeface="Nunito Bold"/>
              </a:rPr>
              <a:t>low-ranked variables shift</a:t>
            </a:r>
            <a:r>
              <a:rPr lang="en-US" sz="1820" b="true">
                <a:solidFill>
                  <a:srgbClr val="FFFFFF"/>
                </a:solidFill>
                <a:latin typeface="Nunito Semi-Bold"/>
                <a:ea typeface="Nunito Semi-Bold"/>
                <a:cs typeface="Nunito Semi-Bold"/>
                <a:sym typeface="Nunito Semi-Bold"/>
              </a:rPr>
              <a:t>; the leading drivers are stable.</a:t>
            </a:r>
          </a:p>
          <a:p>
            <a:pPr algn="l" marL="274320" indent="-274320">
              <a:lnSpc>
                <a:spcPts val="2439"/>
              </a:lnSpc>
              <a:spcBef>
                <a:spcPts val="910"/>
              </a:spcBef>
              <a:buClr>
                <a:srgbClr val="ECC665"/>
              </a:buClr>
              <a:buSzPct val="100000"/>
              <a:buFont typeface="Arial"/>
              <a:buChar char="•"/>
            </a:pPr>
            <a:r>
              <a:rPr lang="en-US" sz="182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820" b="true">
                <a:solidFill>
                  <a:srgbClr val="FFFFFF"/>
                </a:solidFill>
                <a:latin typeface="Nunito Bold"/>
                <a:ea typeface="Nunito Bold"/>
                <a:cs typeface="Nunito Bold"/>
                <a:sym typeface="Nunito Bold"/>
              </a:rPr>
              <a:t>0.37</a:t>
            </a:r>
            <a:r>
              <a:rPr lang="en-US" sz="182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 Meteorology Is Structurally Central</a:t>
            </a:r>
          </a:p>
        </p:txBody>
      </p:sp>
      <p:pic>
        <p:nvPicPr>
          <p:cNvPr id="8" name="Picture 7" descr="image.png"/>
          <p:cNvPicPr>
            <a:picLocks noChangeAspect="1"/>
          </p:cNvPicPr>
          <p:nvPr/>
        </p:nvPicPr>
        <p:blipFill>
          <a:blip r:embed="rId2"/>
          <a:stretch>
            <a:fillRect/>
          </a:stretch>
        </p:blipFill>
        <p:spPr>
          <a:xfrm>
            <a:off x="16599867"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841248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MEAN |SHAP| — RELATIVE RANKING (HIGH </a:t>
            </a:r>
            <a:r>
              <a:rPr lang="en-US" sz="1400" b="true" spc="160">
                <a:solidFill>
                  <a:srgbClr val="DF8330"/>
                </a:solidFill>
                <a:latin typeface="Calibri"/>
                <a:ea typeface="Calibri"/>
                <a:cs typeface="Calibri"/>
                <a:sym typeface="Calibri"/>
              </a:rPr>
              <a:t>→ </a:t>
            </a:r>
            <a:r>
              <a:rPr lang="en-US" sz="1400" b="true" spc="160">
                <a:solidFill>
                  <a:srgbClr val="DF8330"/>
                </a:solidFill>
                <a:latin typeface="Nunito Ultra-Bold"/>
                <a:ea typeface="Nunito Ultra-Bold"/>
                <a:cs typeface="Nunito Ultra-Bold"/>
                <a:sym typeface="Nunito Ultra-Bold"/>
              </a:rPr>
              <a:t>LOW)</a:t>
            </a:r>
          </a:p>
        </p:txBody>
      </p:sp>
      <p:sp>
        <p:nvSpPr>
          <p:cNvPr id="14" name="TextBox 13"/>
          <p:cNvSpPr txBox="1"/>
          <p:nvPr/>
        </p:nvSpPr>
        <p:spPr>
          <a:xfrm>
            <a:off x="1028700" y="3866642"/>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temperature</a:t>
            </a:r>
          </a:p>
        </p:txBody>
      </p:sp>
      <p:sp>
        <p:nvSpPr>
          <p:cNvPr id="15" name="Rounded Rectangle 14"/>
          <p:cNvSpPr/>
          <p:nvPr/>
        </p:nvSpPr>
        <p:spPr>
          <a:xfrm>
            <a:off x="3451860" y="3866642"/>
            <a:ext cx="5989320" cy="530352"/>
          </a:xfrm>
          <a:prstGeom prst="roundRect">
            <a:avLst>
              <a:gd name="adj" fmla="val 13793"/>
            </a:avLst>
          </a:prstGeom>
          <a:solidFill>
            <a:srgbClr val="124944"/>
          </a:solidFill>
          <a:ln>
            <a:noFill/>
          </a:ln>
        </p:spPr>
        <p:txBody>
          <a:bodyPr anchor="ctr" rtlCol="false" lIns="0" tIns="0" rIns="0" bIns="0" wrap="square"/>
          <a:lstStyle/>
          <a:p>
            <a:endParaRPr lang="en-US" sz="1800"/>
          </a:p>
        </p:txBody>
      </p:sp>
      <p:sp>
        <p:nvSpPr>
          <p:cNvPr id="16" name="TextBox 15"/>
          <p:cNvSpPr txBox="1"/>
          <p:nvPr/>
        </p:nvSpPr>
        <p:spPr>
          <a:xfrm>
            <a:off x="3589020" y="3866642"/>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1</a:t>
            </a:r>
          </a:p>
        </p:txBody>
      </p:sp>
      <p:sp>
        <p:nvSpPr>
          <p:cNvPr id="17" name="TextBox 16"/>
          <p:cNvSpPr txBox="1"/>
          <p:nvPr/>
        </p:nvSpPr>
        <p:spPr>
          <a:xfrm>
            <a:off x="1028700" y="4543298"/>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dew point</a:t>
            </a:r>
          </a:p>
        </p:txBody>
      </p:sp>
      <p:sp>
        <p:nvSpPr>
          <p:cNvPr id="18" name="Rounded Rectangle 17"/>
          <p:cNvSpPr/>
          <p:nvPr/>
        </p:nvSpPr>
        <p:spPr>
          <a:xfrm>
            <a:off x="3451860" y="4543298"/>
            <a:ext cx="5150815" cy="530352"/>
          </a:xfrm>
          <a:prstGeom prst="roundRect">
            <a:avLst>
              <a:gd name="adj" fmla="val 13793"/>
            </a:avLst>
          </a:prstGeom>
          <a:solidFill>
            <a:srgbClr val="124944"/>
          </a:solidFill>
          <a:ln>
            <a:noFill/>
          </a:ln>
        </p:spPr>
        <p:txBody>
          <a:bodyPr anchor="ctr" rtlCol="false" lIns="0" tIns="0" rIns="0" bIns="0" wrap="square"/>
          <a:lstStyle/>
          <a:p>
            <a:endParaRPr lang="en-US" sz="1800"/>
          </a:p>
        </p:txBody>
      </p:sp>
      <p:sp>
        <p:nvSpPr>
          <p:cNvPr id="19" name="TextBox 18"/>
          <p:cNvSpPr txBox="1"/>
          <p:nvPr/>
        </p:nvSpPr>
        <p:spPr>
          <a:xfrm>
            <a:off x="3589020" y="4543298"/>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2</a:t>
            </a:r>
          </a:p>
        </p:txBody>
      </p:sp>
      <p:sp>
        <p:nvSpPr>
          <p:cNvPr id="20" name="TextBox 19"/>
          <p:cNvSpPr txBox="1"/>
          <p:nvPr/>
        </p:nvSpPr>
        <p:spPr>
          <a:xfrm>
            <a:off x="1028700" y="5219954"/>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pressure</a:t>
            </a:r>
          </a:p>
        </p:txBody>
      </p:sp>
      <p:sp>
        <p:nvSpPr>
          <p:cNvPr id="21" name="Rounded Rectangle 20"/>
          <p:cNvSpPr/>
          <p:nvPr/>
        </p:nvSpPr>
        <p:spPr>
          <a:xfrm>
            <a:off x="3451860" y="5219954"/>
            <a:ext cx="4312310" cy="530352"/>
          </a:xfrm>
          <a:prstGeom prst="roundRect">
            <a:avLst>
              <a:gd name="adj" fmla="val 13793"/>
            </a:avLst>
          </a:prstGeom>
          <a:solidFill>
            <a:srgbClr val="124944"/>
          </a:solidFill>
          <a:ln>
            <a:noFill/>
          </a:ln>
        </p:spPr>
        <p:txBody>
          <a:bodyPr anchor="ctr" rtlCol="false" lIns="0" tIns="0" rIns="0" bIns="0" wrap="square"/>
          <a:lstStyle/>
          <a:p>
            <a:endParaRPr lang="en-US" sz="1800"/>
          </a:p>
        </p:txBody>
      </p:sp>
      <p:sp>
        <p:nvSpPr>
          <p:cNvPr id="22" name="TextBox 21"/>
          <p:cNvSpPr txBox="1"/>
          <p:nvPr/>
        </p:nvSpPr>
        <p:spPr>
          <a:xfrm>
            <a:off x="3589020" y="5219954"/>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3</a:t>
            </a:r>
          </a:p>
        </p:txBody>
      </p:sp>
      <p:sp>
        <p:nvSpPr>
          <p:cNvPr id="23" name="TextBox 22"/>
          <p:cNvSpPr txBox="1"/>
          <p:nvPr/>
        </p:nvSpPr>
        <p:spPr>
          <a:xfrm>
            <a:off x="1028700" y="5896610"/>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CO</a:t>
            </a:r>
          </a:p>
        </p:txBody>
      </p:sp>
      <p:sp>
        <p:nvSpPr>
          <p:cNvPr id="24" name="Rounded Rectangle 23"/>
          <p:cNvSpPr/>
          <p:nvPr/>
        </p:nvSpPr>
        <p:spPr>
          <a:xfrm>
            <a:off x="3451860" y="5896610"/>
            <a:ext cx="3473805"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25" name="TextBox 24"/>
          <p:cNvSpPr txBox="1"/>
          <p:nvPr/>
        </p:nvSpPr>
        <p:spPr>
          <a:xfrm>
            <a:off x="3589020" y="5896610"/>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4</a:t>
            </a:r>
          </a:p>
        </p:txBody>
      </p:sp>
      <p:sp>
        <p:nvSpPr>
          <p:cNvPr id="26" name="TextBox 25"/>
          <p:cNvSpPr txBox="1"/>
          <p:nvPr/>
        </p:nvSpPr>
        <p:spPr>
          <a:xfrm>
            <a:off x="1028700" y="6573266"/>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NO₂</a:t>
            </a:r>
          </a:p>
        </p:txBody>
      </p:sp>
      <p:sp>
        <p:nvSpPr>
          <p:cNvPr id="27" name="Rounded Rectangle 26"/>
          <p:cNvSpPr/>
          <p:nvPr/>
        </p:nvSpPr>
        <p:spPr>
          <a:xfrm>
            <a:off x="3451860" y="6573266"/>
            <a:ext cx="2874873"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28" name="TextBox 27"/>
          <p:cNvSpPr txBox="1"/>
          <p:nvPr/>
        </p:nvSpPr>
        <p:spPr>
          <a:xfrm>
            <a:off x="3589020" y="6573266"/>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5</a:t>
            </a:r>
          </a:p>
        </p:txBody>
      </p:sp>
      <p:sp>
        <p:nvSpPr>
          <p:cNvPr id="29" name="TextBox 28"/>
          <p:cNvSpPr txBox="1"/>
          <p:nvPr/>
        </p:nvSpPr>
        <p:spPr>
          <a:xfrm>
            <a:off x="1028700" y="7249922"/>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PM10</a:t>
            </a:r>
          </a:p>
        </p:txBody>
      </p:sp>
      <p:sp>
        <p:nvSpPr>
          <p:cNvPr id="30" name="Rounded Rectangle 29"/>
          <p:cNvSpPr/>
          <p:nvPr/>
        </p:nvSpPr>
        <p:spPr>
          <a:xfrm>
            <a:off x="3451860" y="7249922"/>
            <a:ext cx="2395728"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31" name="TextBox 30"/>
          <p:cNvSpPr txBox="1"/>
          <p:nvPr/>
        </p:nvSpPr>
        <p:spPr>
          <a:xfrm>
            <a:off x="3589020" y="7249922"/>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6</a:t>
            </a:r>
          </a:p>
        </p:txBody>
      </p:sp>
      <p:sp>
        <p:nvSpPr>
          <p:cNvPr id="32" name="TextBox 31"/>
          <p:cNvSpPr txBox="1"/>
          <p:nvPr/>
        </p:nvSpPr>
        <p:spPr>
          <a:xfrm>
            <a:off x="1028700" y="7926578"/>
            <a:ext cx="2194560" cy="530352"/>
          </a:xfrm>
          <a:prstGeom prst="rect">
            <a:avLst/>
          </a:prstGeom>
          <a:noFill/>
        </p:spPr>
        <p:txBody>
          <a:bodyPr anchor="ctr" rtlCol="false" lIns="0" tIns="0" rIns="0" bIns="0" wrap="square"/>
          <a:lstStyle/>
          <a:p>
            <a:pPr algn="r">
              <a:lnSpc>
                <a:spcPts val="2300"/>
              </a:lnSpc>
              <a:spcBef>
                <a:spcPts val="0"/>
              </a:spcBef>
              <a:buNone/>
            </a:pPr>
            <a:r>
              <a:rPr lang="en-US" sz="1900" b="true">
                <a:solidFill>
                  <a:srgbClr val="111111"/>
                </a:solidFill>
                <a:latin typeface="Nunito Bold"/>
                <a:ea typeface="Nunito Bold"/>
                <a:cs typeface="Nunito Bold"/>
                <a:sym typeface="Nunito Bold"/>
              </a:rPr>
              <a:t>PM2.5</a:t>
            </a:r>
          </a:p>
        </p:txBody>
      </p:sp>
      <p:sp>
        <p:nvSpPr>
          <p:cNvPr id="33" name="Rounded Rectangle 32"/>
          <p:cNvSpPr/>
          <p:nvPr/>
        </p:nvSpPr>
        <p:spPr>
          <a:xfrm>
            <a:off x="3451860" y="7926578"/>
            <a:ext cx="2036368" cy="530352"/>
          </a:xfrm>
          <a:prstGeom prst="roundRect">
            <a:avLst>
              <a:gd name="adj" fmla="val 13793"/>
            </a:avLst>
          </a:prstGeom>
          <a:solidFill>
            <a:srgbClr val="DF8330"/>
          </a:solidFill>
          <a:ln>
            <a:noFill/>
          </a:ln>
        </p:spPr>
        <p:txBody>
          <a:bodyPr anchor="ctr" rtlCol="false" lIns="0" tIns="0" rIns="0" bIns="0" wrap="square"/>
          <a:lstStyle/>
          <a:p>
            <a:endParaRPr lang="en-US" sz="1800"/>
          </a:p>
        </p:txBody>
      </p:sp>
      <p:sp>
        <p:nvSpPr>
          <p:cNvPr id="34" name="TextBox 33"/>
          <p:cNvSpPr txBox="1"/>
          <p:nvPr/>
        </p:nvSpPr>
        <p:spPr>
          <a:xfrm>
            <a:off x="3589020" y="7926578"/>
            <a:ext cx="1097280" cy="530352"/>
          </a:xfrm>
          <a:prstGeom prst="rect">
            <a:avLst/>
          </a:prstGeom>
          <a:noFill/>
        </p:spPr>
        <p:txBody>
          <a:bodyPr anchor="ctr" rtlCol="false" lIns="0" tIns="0" rIns="0" bIns="0" wrap="square"/>
          <a:lstStyle/>
          <a:p>
            <a:pPr algn="l">
              <a:lnSpc>
                <a:spcPts val="2000"/>
              </a:lnSpc>
              <a:spcBef>
                <a:spcPts val="0"/>
              </a:spcBef>
              <a:buNone/>
            </a:pPr>
            <a:r>
              <a:rPr lang="en-US" sz="1600" b="true">
                <a:solidFill>
                  <a:srgbClr val="FFFFFF"/>
                </a:solidFill>
                <a:latin typeface="Nunito Ultra-Bold"/>
                <a:ea typeface="Nunito Ultra-Bold"/>
                <a:cs typeface="Nunito Ultra-Bold"/>
                <a:sym typeface="Nunito Ultra-Bold"/>
              </a:rPr>
              <a:t>7</a:t>
            </a:r>
          </a:p>
        </p:txBody>
      </p:sp>
      <p:sp>
        <p:nvSpPr>
          <p:cNvPr id="35" name="Rounded Rectangle 34"/>
          <p:cNvSpPr/>
          <p:nvPr/>
        </p:nvSpPr>
        <p:spPr>
          <a:xfrm>
            <a:off x="3451860" y="8722106"/>
            <a:ext cx="274320" cy="274320"/>
          </a:xfrm>
          <a:prstGeom prst="roundRect">
            <a:avLst>
              <a:gd name="adj" fmla="val 16666"/>
            </a:avLst>
          </a:prstGeom>
          <a:solidFill>
            <a:srgbClr val="124944"/>
          </a:solidFill>
          <a:ln>
            <a:noFill/>
          </a:ln>
        </p:spPr>
        <p:txBody>
          <a:bodyPr anchor="ctr" rtlCol="false" lIns="0" tIns="0" rIns="0" bIns="0" wrap="square"/>
          <a:lstStyle/>
          <a:p>
            <a:endParaRPr lang="en-US" sz="1800"/>
          </a:p>
        </p:txBody>
      </p:sp>
      <p:sp>
        <p:nvSpPr>
          <p:cNvPr id="36" name="TextBox 35"/>
          <p:cNvSpPr txBox="1"/>
          <p:nvPr/>
        </p:nvSpPr>
        <p:spPr>
          <a:xfrm>
            <a:off x="3817620" y="8648954"/>
            <a:ext cx="2286000" cy="411480"/>
          </a:xfrm>
          <a:prstGeom prst="rect">
            <a:avLst/>
          </a:prstGeom>
          <a:noFill/>
        </p:spPr>
        <p:txBody>
          <a:bodyPr anchor="ctr" rtlCol="false" lIns="0" tIns="0" rIns="0" bIns="0" wrap="square"/>
          <a:lstStyle/>
          <a:p>
            <a:pPr algn="l">
              <a:lnSpc>
                <a:spcPts val="1900"/>
              </a:lnSpc>
              <a:spcBef>
                <a:spcPts val="0"/>
              </a:spcBef>
              <a:buNone/>
            </a:pPr>
            <a:r>
              <a:rPr lang="en-US" sz="1500" b="true">
                <a:solidFill>
                  <a:srgbClr val="8A8378"/>
                </a:solidFill>
                <a:latin typeface="Nunito Semi-Bold"/>
                <a:ea typeface="Nunito Semi-Bold"/>
                <a:cs typeface="Nunito Semi-Bold"/>
                <a:sym typeface="Nunito Semi-Bold"/>
              </a:rPr>
              <a:t>meteorological</a:t>
            </a:r>
          </a:p>
        </p:txBody>
      </p:sp>
      <p:sp>
        <p:nvSpPr>
          <p:cNvPr id="37" name="Rounded Rectangle 36"/>
          <p:cNvSpPr/>
          <p:nvPr/>
        </p:nvSpPr>
        <p:spPr>
          <a:xfrm>
            <a:off x="6149340" y="8722106"/>
            <a:ext cx="274320" cy="274320"/>
          </a:xfrm>
          <a:prstGeom prst="roundRect">
            <a:avLst>
              <a:gd name="adj" fmla="val 16666"/>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6515100" y="8648954"/>
            <a:ext cx="2286000" cy="411480"/>
          </a:xfrm>
          <a:prstGeom prst="rect">
            <a:avLst/>
          </a:prstGeom>
          <a:noFill/>
        </p:spPr>
        <p:txBody>
          <a:bodyPr anchor="ctr" rtlCol="false" lIns="0" tIns="0" rIns="0" bIns="0" wrap="square"/>
          <a:lstStyle/>
          <a:p>
            <a:pPr algn="l">
              <a:lnSpc>
                <a:spcPts val="1900"/>
              </a:lnSpc>
              <a:spcBef>
                <a:spcPts val="0"/>
              </a:spcBef>
              <a:buNone/>
            </a:pPr>
            <a:r>
              <a:rPr lang="en-US" sz="1500" b="true">
                <a:solidFill>
                  <a:srgbClr val="8A8378"/>
                </a:solidFill>
                <a:latin typeface="Nunito Semi-Bold"/>
                <a:ea typeface="Nunito Semi-Bold"/>
                <a:cs typeface="Nunito Semi-Bold"/>
                <a:sym typeface="Nunito Semi-Bold"/>
              </a:rPr>
              <a:t>pollutant</a:t>
            </a:r>
          </a:p>
        </p:txBody>
      </p:sp>
      <p:sp>
        <p:nvSpPr>
          <p:cNvPr id="39" name="Rounded Rectangle 38"/>
          <p:cNvSpPr/>
          <p:nvPr/>
        </p:nvSpPr>
        <p:spPr>
          <a:xfrm>
            <a:off x="9989820" y="3592322"/>
            <a:ext cx="726948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0447020" y="3354578"/>
            <a:ext cx="3356612"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Reading the ranking</a:t>
            </a:r>
          </a:p>
        </p:txBody>
      </p:sp>
      <p:sp>
        <p:nvSpPr>
          <p:cNvPr id="41" name="TextBox 40"/>
          <p:cNvSpPr txBox="1"/>
          <p:nvPr/>
        </p:nvSpPr>
        <p:spPr>
          <a:xfrm>
            <a:off x="10492740" y="4232402"/>
            <a:ext cx="6309360" cy="480187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It is </a:t>
            </a:r>
            <a:r>
              <a:rPr lang="en-US" sz="2000" b="true">
                <a:solidFill>
                  <a:srgbClr val="FFFFFF"/>
                </a:solidFill>
                <a:latin typeface="Nunito Bold"/>
                <a:ea typeface="Nunito Bold"/>
                <a:cs typeface="Nunito Bold"/>
                <a:sym typeface="Nunito Bold"/>
              </a:rPr>
              <a:t>NOT simply pollutant concentrations</a:t>
            </a:r>
            <a:r>
              <a:rPr lang="en-US" sz="2000" b="true">
                <a:solidFill>
                  <a:srgbClr val="FFFFFF"/>
                </a:solidFill>
                <a:latin typeface="Nunito Semi-Bold"/>
                <a:ea typeface="Nunito Semi-Bold"/>
                <a:cs typeface="Nunito Semi-Bold"/>
                <a:sym typeface="Nunito Semi-Bold"/>
              </a:rPr>
              <a:t> that matter — meteorological variables play a </a:t>
            </a:r>
            <a:r>
              <a:rPr lang="en-US" sz="2000" b="true">
                <a:solidFill>
                  <a:srgbClr val="FFFFFF"/>
                </a:solidFill>
                <a:latin typeface="Nunito Bold"/>
                <a:ea typeface="Nunito Bold"/>
                <a:cs typeface="Nunito Bold"/>
                <a:sym typeface="Nunito Bold"/>
              </a:rPr>
              <a:t>structurally central role</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Temperature, dew point and pressure condition </a:t>
            </a:r>
            <a:r>
              <a:rPr lang="en-US" sz="2000" b="true">
                <a:solidFill>
                  <a:srgbClr val="FFFFFF"/>
                </a:solidFill>
                <a:latin typeface="Nunito Bold"/>
                <a:ea typeface="Nunito Bold"/>
                <a:cs typeface="Nunito Bold"/>
                <a:sym typeface="Nunito Bold"/>
              </a:rPr>
              <a:t>dispersion, trapping and photochemical behaviour</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This is the kind of insight flat descriptive summaries often fail to make explicit.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Atmospheric Regimes</a:t>
            </a:r>
          </a:p>
        </p:txBody>
      </p:sp>
      <p:pic>
        <p:nvPicPr>
          <p:cNvPr id="8" name="Picture 7" descr="image.png"/>
          <p:cNvPicPr>
            <a:picLocks noChangeAspect="1"/>
          </p:cNvPicPr>
          <p:nvPr/>
        </p:nvPicPr>
        <p:blipFill>
          <a:blip r:embed="rId2"/>
          <a:stretch>
            <a:fillRect/>
          </a:stretch>
        </p:blipFill>
        <p:spPr>
          <a:xfrm>
            <a:off x="8656120" y="1673352"/>
            <a:ext cx="457200" cy="539881"/>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3840480"/>
          </a:xfrm>
          <a:prstGeom prst="roundRect">
            <a:avLst>
              <a:gd name="adj" fmla="val 7142"/>
            </a:avLst>
          </a:prstGeom>
          <a:solidFill>
            <a:srgbClr val="124944"/>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REGIME A</a:t>
            </a:r>
          </a:p>
          <a:p>
            <a:pPr algn="l">
              <a:lnSpc>
                <a:spcPts val="3400"/>
              </a:lnSpc>
              <a:spcBef>
                <a:spcPts val="800"/>
              </a:spcBef>
              <a:buNone/>
            </a:pPr>
            <a:r>
              <a:rPr lang="en-US" sz="3000" b="true" spc="-120">
                <a:solidFill>
                  <a:srgbClr val="FFFFFF"/>
                </a:solidFill>
                <a:latin typeface="Roca Two Bold"/>
                <a:ea typeface="Roca Two Bold"/>
                <a:cs typeface="Roca Two Bold"/>
                <a:sym typeface="Roca Two Bold"/>
              </a:rPr>
              <a:t>Warm photochemical</a:t>
            </a:r>
          </a:p>
          <a:p>
            <a:pPr algn="l">
              <a:lnSpc>
                <a:spcPts val="2400"/>
              </a:lnSpc>
              <a:spcBef>
                <a:spcPts val="1400"/>
              </a:spcBef>
              <a:buNone/>
            </a:pPr>
            <a:r>
              <a:rPr lang="en-US" sz="1900" b="true">
                <a:solidFill>
                  <a:srgbClr val="F7F2EA"/>
                </a:solidFill>
                <a:latin typeface="Nunito Semi-Bold"/>
                <a:ea typeface="Nunito Semi-Bold"/>
                <a:cs typeface="Nunito Semi-Bold"/>
                <a:sym typeface="Nunito Semi-Bold"/>
              </a:rPr>
              <a:t>Ozone, temperature and dew point prominent — summer photochemical smog.</a:t>
            </a:r>
          </a:p>
        </p:txBody>
      </p:sp>
      <p:sp>
        <p:nvSpPr>
          <p:cNvPr id="14" name="Rounded Rectangle 13"/>
          <p:cNvSpPr/>
          <p:nvPr/>
        </p:nvSpPr>
        <p:spPr>
          <a:xfrm>
            <a:off x="6545580" y="3455162"/>
            <a:ext cx="5196840" cy="3840480"/>
          </a:xfrm>
          <a:prstGeom prst="roundRect">
            <a:avLst>
              <a:gd name="adj" fmla="val 7142"/>
            </a:avLst>
          </a:prstGeom>
          <a:solidFill>
            <a:srgbClr val="1E5F58"/>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REGIME B</a:t>
            </a:r>
          </a:p>
          <a:p>
            <a:pPr algn="l">
              <a:lnSpc>
                <a:spcPts val="3400"/>
              </a:lnSpc>
              <a:spcBef>
                <a:spcPts val="800"/>
              </a:spcBef>
              <a:buNone/>
            </a:pPr>
            <a:r>
              <a:rPr lang="en-US" sz="3000" b="true" spc="-120">
                <a:solidFill>
                  <a:srgbClr val="FFFFFF"/>
                </a:solidFill>
                <a:latin typeface="Roca Two Bold"/>
                <a:ea typeface="Roca Two Bold"/>
                <a:cs typeface="Roca Two Bold"/>
                <a:sym typeface="Roca Two Bold"/>
              </a:rPr>
              <a:t>Wintertime smog</a:t>
            </a:r>
          </a:p>
          <a:p>
            <a:pPr algn="l">
              <a:lnSpc>
                <a:spcPts val="2400"/>
              </a:lnSpc>
              <a:spcBef>
                <a:spcPts val="1400"/>
              </a:spcBef>
              <a:buNone/>
            </a:pPr>
            <a:r>
              <a:rPr lang="en-US" sz="1900" b="true">
                <a:solidFill>
                  <a:srgbClr val="F7F2EA"/>
                </a:solidFill>
                <a:latin typeface="Nunito Semi-Bold"/>
                <a:ea typeface="Nunito Semi-Bold"/>
                <a:cs typeface="Nunito Semi-Bold"/>
                <a:sym typeface="Nunito Semi-Bold"/>
              </a:rPr>
              <a:t>CO, SO₂ and particulate matter dominate; low wind speed suppresses dispersion.</a:t>
            </a:r>
          </a:p>
        </p:txBody>
      </p:sp>
      <p:sp>
        <p:nvSpPr>
          <p:cNvPr id="15" name="Rounded Rectangle 14"/>
          <p:cNvSpPr/>
          <p:nvPr/>
        </p:nvSpPr>
        <p:spPr>
          <a:xfrm>
            <a:off x="12062460" y="3455162"/>
            <a:ext cx="5196840" cy="3840480"/>
          </a:xfrm>
          <a:prstGeom prst="roundRect">
            <a:avLst>
              <a:gd name="adj" fmla="val 7142"/>
            </a:avLst>
          </a:prstGeom>
          <a:solidFill>
            <a:srgbClr val="DF8330"/>
          </a:solidFill>
          <a:ln>
            <a:noFill/>
          </a:ln>
        </p:spPr>
        <p:txBody>
          <a:bodyPr anchor="t" rtlCol="false" lIns="411480" tIns="411480" rIns="365760" bIns="274320" wrap="square"/>
          <a:lstStyle/>
          <a:p>
            <a:pPr algn="l">
              <a:lnSpc>
                <a:spcPts val="1800"/>
              </a:lnSpc>
              <a:spcBef>
                <a:spcPts val="0"/>
              </a:spcBef>
              <a:buNone/>
            </a:pPr>
            <a:r>
              <a:rPr lang="en-US" sz="1400" b="true" spc="160">
                <a:solidFill>
                  <a:srgbClr val="FFFFFF"/>
                </a:solidFill>
                <a:latin typeface="Nunito Ultra-Bold"/>
                <a:ea typeface="Nunito Ultra-Bold"/>
                <a:cs typeface="Nunito Ultra-Bold"/>
                <a:sym typeface="Nunito Ultra-Bold"/>
              </a:rPr>
              <a:t>REGIME C</a:t>
            </a:r>
          </a:p>
          <a:p>
            <a:pPr algn="l">
              <a:lnSpc>
                <a:spcPts val="3400"/>
              </a:lnSpc>
              <a:spcBef>
                <a:spcPts val="800"/>
              </a:spcBef>
              <a:buNone/>
            </a:pPr>
            <a:r>
              <a:rPr lang="en-US" sz="3000" b="true" spc="-120">
                <a:solidFill>
                  <a:srgbClr val="FFFFFF"/>
                </a:solidFill>
                <a:latin typeface="Roca Two Bold"/>
                <a:ea typeface="Roca Two Bold"/>
                <a:cs typeface="Roca Two Bold"/>
                <a:sym typeface="Roca Two Bold"/>
              </a:rPr>
              <a:t>Comparatively clean air</a:t>
            </a:r>
          </a:p>
          <a:p>
            <a:pPr algn="l">
              <a:lnSpc>
                <a:spcPts val="2400"/>
              </a:lnSpc>
              <a:spcBef>
                <a:spcPts val="1400"/>
              </a:spcBef>
              <a:buNone/>
            </a:pPr>
            <a:r>
              <a:rPr lang="en-US" sz="1900" b="true">
                <a:solidFill>
                  <a:srgbClr val="F7F2EA"/>
                </a:solidFill>
                <a:latin typeface="Nunito Semi-Bold"/>
                <a:ea typeface="Nunito Semi-Bold"/>
                <a:cs typeface="Nunito Semi-Bold"/>
                <a:sym typeface="Nunito Semi-Bold"/>
              </a:rPr>
              <a:t>Favourable meteorology, weak pollutant pushes.</a:t>
            </a:r>
          </a:p>
        </p:txBody>
      </p:sp>
      <p:sp>
        <p:nvSpPr>
          <p:cNvPr id="16" name="Rounded Rectangle 15"/>
          <p:cNvSpPr/>
          <p:nvPr/>
        </p:nvSpPr>
        <p:spPr>
          <a:xfrm>
            <a:off x="1028700" y="7707122"/>
            <a:ext cx="16230600" cy="1647190"/>
          </a:xfrm>
          <a:prstGeom prst="roundRect">
            <a:avLst>
              <a:gd name="adj" fmla="val 13878"/>
            </a:avLst>
          </a:prstGeom>
          <a:solidFill>
            <a:srgbClr val="F6ECDF"/>
          </a:solidFill>
          <a:ln>
            <a:noFill/>
          </a:ln>
        </p:spPr>
        <p:txBody>
          <a:bodyPr anchor="ctr" rtlCol="false" lIns="457200" tIns="91440" rIns="457200" bIns="91440" wrap="square"/>
          <a:lstStyle/>
          <a:p>
            <a:pPr algn="ctr">
              <a:lnSpc>
                <a:spcPts val="2800"/>
              </a:lnSpc>
              <a:spcBef>
                <a:spcPts val="0"/>
              </a:spcBef>
              <a:buNone/>
            </a:pPr>
            <a:r>
              <a:rPr lang="en-US" sz="2200" b="true">
                <a:solidFill>
                  <a:srgbClr val="111111"/>
                </a:solidFill>
                <a:latin typeface="Nunito Semi-Bold"/>
                <a:ea typeface="Nunito Semi-Bold"/>
                <a:cs typeface="Nunito Semi-Bold"/>
                <a:sym typeface="Nunito Semi-Bold"/>
              </a:rPr>
              <a:t>The framework shows not only </a:t>
            </a:r>
            <a:r>
              <a:rPr lang="en-US" sz="2200" b="true">
                <a:solidFill>
                  <a:srgbClr val="111111"/>
                </a:solidFill>
                <a:latin typeface="Nunito Bold"/>
                <a:ea typeface="Nunito Bold"/>
                <a:cs typeface="Nunito Bold"/>
                <a:sym typeface="Nunito Bold"/>
              </a:rPr>
              <a:t>that these regimes exist</a:t>
            </a:r>
            <a:r>
              <a:rPr lang="en-US" sz="2200" b="true">
                <a:solidFill>
                  <a:srgbClr val="111111"/>
                </a:solidFill>
                <a:latin typeface="Nunito Semi-Bold"/>
                <a:ea typeface="Nunito Semi-Bold"/>
                <a:cs typeface="Nunito Semi-Bold"/>
                <a:sym typeface="Nunito Semi-Bold"/>
              </a:rPr>
              <a:t>, but </a:t>
            </a:r>
            <a:r>
              <a:rPr lang="en-US" sz="2200" b="true">
                <a:solidFill>
                  <a:srgbClr val="111111"/>
                </a:solidFill>
                <a:latin typeface="Nunito Bold"/>
                <a:ea typeface="Nunito Bold"/>
                <a:cs typeface="Nunito Bold"/>
                <a:sym typeface="Nunito Bold"/>
              </a:rPr>
              <a:t>which variable combinations define them</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Reconfigures Across Levels</a:t>
            </a:r>
          </a:p>
        </p:txBody>
      </p:sp>
      <p:pic>
        <p:nvPicPr>
          <p:cNvPr id="8" name="Picture 7" descr="image.png"/>
          <p:cNvPicPr>
            <a:picLocks noChangeAspect="1"/>
          </p:cNvPicPr>
          <p:nvPr/>
        </p:nvPicPr>
        <p:blipFill>
          <a:blip r:embed="rId2"/>
          <a:stretch>
            <a:fillRect/>
          </a:stretch>
        </p:blipFill>
        <p:spPr>
          <a:xfrm>
            <a:off x="12852137" y="1673352"/>
            <a:ext cx="457200" cy="373212"/>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3108960"/>
          </a:xfrm>
          <a:prstGeom prst="roundRect">
            <a:avLst>
              <a:gd name="adj" fmla="val 10000"/>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95581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15" name="TextBox 14"/>
          <p:cNvSpPr txBox="1"/>
          <p:nvPr/>
        </p:nvSpPr>
        <p:spPr>
          <a:xfrm>
            <a:off x="1531620" y="4232402"/>
            <a:ext cx="6972300" cy="219456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Temperature and dew point dominate</a:t>
            </a:r>
            <a:r>
              <a:rPr lang="en-US" sz="2000" b="true">
                <a:solidFill>
                  <a:srgbClr val="FFFFFF"/>
                </a:solidFill>
                <a:latin typeface="Nunito Semi-Bold"/>
                <a:ea typeface="Nunito Semi-Bold"/>
                <a:cs typeface="Nunito Semi-Bold"/>
                <a:sym typeface="Nunito Semi-Bold"/>
              </a:rPr>
              <a:t> — they differentiate broad atmospheric regimes.</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Parent-level story = which regime the observation belongs to.</a:t>
            </a:r>
          </a:p>
        </p:txBody>
      </p:sp>
      <p:sp>
        <p:nvSpPr>
          <p:cNvPr id="16" name="Rounded Rectangle 15"/>
          <p:cNvSpPr/>
          <p:nvPr/>
        </p:nvSpPr>
        <p:spPr>
          <a:xfrm>
            <a:off x="9326880" y="3592322"/>
            <a:ext cx="7932420" cy="3108960"/>
          </a:xfrm>
          <a:prstGeom prst="roundRect">
            <a:avLst>
              <a:gd name="adj" fmla="val 10000"/>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641947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18" name="TextBox 17"/>
          <p:cNvSpPr txBox="1"/>
          <p:nvPr/>
        </p:nvSpPr>
        <p:spPr>
          <a:xfrm>
            <a:off x="9829800" y="4232402"/>
            <a:ext cx="6972300" cy="2194560"/>
          </a:xfrm>
          <a:prstGeom prst="rect">
            <a:avLst/>
          </a:prstGeom>
          <a:noFill/>
        </p:spPr>
        <p:txBody>
          <a:bodyPr anchor="t" rtlCol="false" lIns="0" tIns="0" rIns="0" bIns="0" wrap="square"/>
          <a:lstStyle/>
          <a:p>
            <a:pPr algn="l" marL="274320" indent="-274320">
              <a:lnSpc>
                <a:spcPts val="268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CO, SO₂, PM10, wind speed, pressure or ozone</a:t>
            </a:r>
            <a:r>
              <a:rPr lang="en-US" sz="2000" b="true">
                <a:solidFill>
                  <a:srgbClr val="111111"/>
                </a:solidFill>
                <a:latin typeface="Nunito Semi-Bold"/>
                <a:ea typeface="Nunito Semi-Bold"/>
                <a:cs typeface="Nunito Semi-Bold"/>
                <a:sym typeface="Nunito Semi-Bold"/>
              </a:rPr>
              <a:t> become more discriminative.</a:t>
            </a:r>
          </a:p>
          <a:p>
            <a:pPr algn="l" marL="274320" indent="-274320">
              <a:lnSpc>
                <a:spcPts val="268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Cluster-level story = what varies once the regime is fixed.</a:t>
            </a:r>
          </a:p>
        </p:txBody>
      </p:sp>
      <p:sp>
        <p:nvSpPr>
          <p:cNvPr id="19" name="Rounded Rectangle 18"/>
          <p:cNvSpPr/>
          <p:nvPr/>
        </p:nvSpPr>
        <p:spPr>
          <a:xfrm>
            <a:off x="1028700" y="7067042"/>
            <a:ext cx="16230600" cy="2287270"/>
          </a:xfrm>
          <a:prstGeom prst="roundRect">
            <a:avLst>
              <a:gd name="adj" fmla="val 11993"/>
            </a:avLst>
          </a:prstGeom>
          <a:noFill/>
          <a:ln w="31750">
            <a:solidFill>
              <a:srgbClr val="DF8330"/>
            </a:solidFill>
          </a:ln>
        </p:spPr>
        <p:txBody>
          <a:bodyPr anchor="ctr" rtlCol="false" lIns="0" tIns="0" rIns="0" bIns="0" wrap="square"/>
          <a:lstStyle/>
          <a:p>
            <a:endParaRPr lang="en-US" sz="1800"/>
          </a:p>
        </p:txBody>
      </p:sp>
      <p:sp>
        <p:nvSpPr>
          <p:cNvPr id="20" name="TextBox 19"/>
          <p:cNvSpPr txBox="1"/>
          <p:nvPr/>
        </p:nvSpPr>
        <p:spPr>
          <a:xfrm>
            <a:off x="1485900" y="7295642"/>
            <a:ext cx="15316200" cy="1830070"/>
          </a:xfrm>
          <a:prstGeom prst="rect">
            <a:avLst/>
          </a:prstGeom>
          <a:noFill/>
        </p:spPr>
        <p:txBody>
          <a:bodyPr anchor="ctr" rtlCol="false" lIns="0" tIns="0" rIns="0" bIns="0" wrap="square"/>
          <a:lstStyle/>
          <a:p>
            <a:pPr algn="l">
              <a:lnSpc>
                <a:spcPts val="3128"/>
              </a:lnSpc>
              <a:spcBef>
                <a:spcPts val="0"/>
              </a:spcBef>
              <a:buNone/>
            </a:pPr>
            <a:r>
              <a:rPr lang="en-US" sz="2300" b="true">
                <a:solidFill>
                  <a:srgbClr val="111111"/>
                </a:solidFill>
                <a:latin typeface="Nunito Bold"/>
                <a:ea typeface="Nunito Bold"/>
                <a:cs typeface="Nunito Bold"/>
                <a:sym typeface="Nunito Bold"/>
              </a:rPr>
              <a:t>This change is NOT contradictory — it is exactly what a multi-level explanation should reveal.</a:t>
            </a:r>
          </a:p>
          <a:p>
            <a:pPr algn="l">
              <a:lnSpc>
                <a:spcPts val="2720"/>
              </a:lnSpc>
              <a:spcBef>
                <a:spcPts val="1000"/>
              </a:spcBef>
              <a:buNone/>
            </a:pPr>
            <a:r>
              <a:rPr lang="en-US" sz="2000" b="true">
                <a:solidFill>
                  <a:srgbClr val="111111"/>
                </a:solidFill>
                <a:latin typeface="Nunito Semi-Bold"/>
                <a:ea typeface="Nunito Semi-Bold"/>
                <a:cs typeface="Nunito Semi-Bold"/>
                <a:sym typeface="Nunito Semi-Bold"/>
              </a:rPr>
              <a:t>A variable can be </a:t>
            </a:r>
            <a:r>
              <a:rPr lang="en-US" sz="2000" b="true">
                <a:solidFill>
                  <a:srgbClr val="111111"/>
                </a:solidFill>
                <a:latin typeface="Nunito Bold"/>
                <a:ea typeface="Nunito Bold"/>
                <a:cs typeface="Nunito Bold"/>
                <a:sym typeface="Nunito Bold"/>
              </a:rPr>
              <a:t>globally important yet locally uninformative</a:t>
            </a:r>
            <a:r>
              <a:rPr lang="en-US" sz="2000" b="true">
                <a:solidFill>
                  <a:srgbClr val="111111"/>
                </a:solidFill>
                <a:latin typeface="Nunito Semi-Bold"/>
                <a:ea typeface="Nunito Semi-Bold"/>
                <a:cs typeface="Nunito Semi-Bold"/>
                <a:sym typeface="Nunito Semi-Bold"/>
              </a:rPr>
              <a:t> within a sub-cluster; Proposition 6.1 guarantees the two readings are consistent up to surrogate residual.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Generalisation and Comparison</a:t>
            </a:r>
          </a:p>
        </p:txBody>
      </p:sp>
      <p:pic>
        <p:nvPicPr>
          <p:cNvPr id="8" name="Picture 7" descr="image.png"/>
          <p:cNvPicPr>
            <a:picLocks noChangeAspect="1"/>
          </p:cNvPicPr>
          <p:nvPr/>
        </p:nvPicPr>
        <p:blipFill>
          <a:blip r:embed="rId2"/>
          <a:stretch>
            <a:fillRect/>
          </a:stretch>
        </p:blipFill>
        <p:spPr>
          <a:xfrm>
            <a:off x="9506856" y="1673352"/>
            <a:ext cx="457200" cy="427074"/>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16230599" cy="3182112"/>
        </p:xfrm>
        <a:graphic>
          <a:graphicData uri="http://schemas.openxmlformats.org/drawingml/2006/table">
            <a:tbl>
              <a:tblPr firstRow="0" bandRow="0" firstCol="0" lastRow="0" lastCol="0" bandCol="0">
                <a:tableStyleId>{2D5ABB26-0587-4C30-8999-92F81FD0307C}</a:tableStyleId>
              </a:tblPr>
              <a:tblGrid>
                <a:gridCol w="3416968"/>
                <a:gridCol w="6264442"/>
                <a:gridCol w="6549189"/>
              </a:tblGrid>
              <a:tr h="530352">
                <a:tc>
                  <a:txBody>
                    <a:bodyPr anchor="ctr" rtlCol="false" lIns="0" tIns="0" rIns="0" bIns="0" wrap="square"/>
                    <a:lstStyle/>
                    <a:p>
                      <a:pPr algn="l">
                        <a:lnSpc>
                          <a:spcPts val="2340"/>
                        </a:lnSpc>
                        <a:spcBef>
                          <a:spcPts val="0"/>
                        </a:spcBef>
                        <a:buNone/>
                      </a:pP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Wine Quality (C1)</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Beijing Air Quality (C2)</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Scale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4,898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383,585 × 11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Nature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small, dense, chemically correlated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large, noisy, temporally &amp; meteorologically variable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Structure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single-level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multi-level (nested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Silhouette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0.144 (k* = 3, chosen for semantics)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 0.63 (k = 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Explanatory logic</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Shapley in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same logic — remains productive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4" name="Rounded Rectangle 13"/>
          <p:cNvSpPr/>
          <p:nvPr/>
        </p:nvSpPr>
        <p:spPr>
          <a:xfrm>
            <a:off x="1028700" y="7140194"/>
            <a:ext cx="7932420" cy="2168398"/>
          </a:xfrm>
          <a:prstGeom prst="roundRect">
            <a:avLst>
              <a:gd name="adj" fmla="val 1433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1485900" y="6902450"/>
            <a:ext cx="278910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vs the literature</a:t>
            </a:r>
          </a:p>
        </p:txBody>
      </p:sp>
      <p:sp>
        <p:nvSpPr>
          <p:cNvPr id="16" name="TextBox 15"/>
          <p:cNvSpPr txBox="1"/>
          <p:nvPr/>
        </p:nvSpPr>
        <p:spPr>
          <a:xfrm>
            <a:off x="1531620" y="7780274"/>
            <a:ext cx="6972300" cy="1253998"/>
          </a:xfrm>
          <a:prstGeom prst="rect">
            <a:avLst/>
          </a:prstGeom>
          <a:noFill/>
        </p:spPr>
        <p:txBody>
          <a:bodyPr anchor="t" rtlCol="false" lIns="0" tIns="0" rIns="0" bIns="0" wrap="square"/>
          <a:lstStyle/>
          <a:p>
            <a:pPr algn="l" marL="274320" indent="-274320">
              <a:lnSpc>
                <a:spcPts val="2164"/>
              </a:lnSpc>
              <a:spcBef>
                <a:spcPts val="0"/>
              </a:spcBef>
              <a:buClr>
                <a:srgbClr val="ECC665"/>
              </a:buClr>
              <a:buSzPct val="100000"/>
              <a:buFont typeface="Arial"/>
              <a:buChar char="•"/>
            </a:pPr>
            <a:r>
              <a:rPr lang="en-US" sz="1615" b="true">
                <a:solidFill>
                  <a:srgbClr val="FFFFFF"/>
                </a:solidFill>
                <a:latin typeface="Nunito Semi-Bold"/>
                <a:ea typeface="Nunito Semi-Bold"/>
                <a:cs typeface="Nunito Semi-Bold"/>
                <a:sym typeface="Nunito Semi-Bold"/>
              </a:rPr>
              <a:t>The same explanatory logic is productive on </a:t>
            </a:r>
            <a:r>
              <a:rPr lang="en-US" sz="1615" b="true">
                <a:solidFill>
                  <a:srgbClr val="FFFFFF"/>
                </a:solidFill>
                <a:latin typeface="Nunito Bold"/>
                <a:ea typeface="Nunito Bold"/>
                <a:cs typeface="Nunito Bold"/>
                <a:sym typeface="Nunito Bold"/>
              </a:rPr>
              <a:t>both datasets</a:t>
            </a:r>
            <a:r>
              <a:rPr lang="en-US" sz="1615" b="true">
                <a:solidFill>
                  <a:srgbClr val="FFFFFF"/>
                </a:solidFill>
                <a:latin typeface="Calibri"/>
                <a:ea typeface="Calibri"/>
                <a:cs typeface="Calibri"/>
                <a:sym typeface="Calibri"/>
              </a:rPr>
              <a:t> → </a:t>
            </a:r>
            <a:r>
              <a:rPr lang="en-US" sz="1615" b="true">
                <a:solidFill>
                  <a:srgbClr val="FFFFFF"/>
                </a:solidFill>
                <a:latin typeface="Nunito Semi-Bold"/>
                <a:ea typeface="Nunito Semi-Bold"/>
                <a:cs typeface="Nunito Semi-Bold"/>
                <a:sym typeface="Nunito Semi-Bold"/>
              </a:rPr>
              <a:t>not tied to one domain-specific peculiarity.</a:t>
            </a:r>
          </a:p>
          <a:p>
            <a:pPr algn="l" marL="274320" indent="-274320">
              <a:lnSpc>
                <a:spcPts val="2164"/>
              </a:lnSpc>
              <a:spcBef>
                <a:spcPts val="680"/>
              </a:spcBef>
              <a:buClr>
                <a:srgbClr val="ECC665"/>
              </a:buClr>
              <a:buSzPct val="100000"/>
              <a:buFont typeface="Arial"/>
              <a:buChar char="•"/>
            </a:pPr>
            <a:r>
              <a:rPr lang="en-US" sz="1615" b="true">
                <a:solidFill>
                  <a:srgbClr val="FFFFFF"/>
                </a:solidFill>
                <a:latin typeface="Nunito Semi-Bold"/>
                <a:ea typeface="Nunito Semi-Bold"/>
                <a:cs typeface="Nunito Semi-Bold"/>
                <a:sym typeface="Nunito Semi-Bold"/>
              </a:rPr>
              <a:t>Beijing Silhouette ≈ 0.63 vs </a:t>
            </a:r>
            <a:r>
              <a:rPr lang="en-US" sz="1615" b="true">
                <a:solidFill>
                  <a:srgbClr val="FFFFFF"/>
                </a:solidFill>
                <a:latin typeface="Nunito Bold"/>
                <a:ea typeface="Nunito Bold"/>
                <a:cs typeface="Nunito Bold"/>
                <a:sym typeface="Nunito Bold"/>
              </a:rPr>
              <a:t>0.37</a:t>
            </a:r>
            <a:r>
              <a:rPr lang="en-US" sz="1615" b="true">
                <a:solidFill>
                  <a:srgbClr val="FFFFFF"/>
                </a:solidFill>
                <a:latin typeface="Nunito Semi-Bold"/>
                <a:ea typeface="Nunito Semi-Bold"/>
                <a:cs typeface="Nunito Semi-Bold"/>
                <a:sym typeface="Nunito Semi-Bold"/>
              </a:rPr>
              <a:t> in Gramegna &amp; Giudici's SHAP-based credit-risk clustering.</a:t>
            </a:r>
          </a:p>
        </p:txBody>
      </p:sp>
      <p:sp>
        <p:nvSpPr>
          <p:cNvPr id="17" name="Rounded Rectangle 16"/>
          <p:cNvSpPr/>
          <p:nvPr/>
        </p:nvSpPr>
        <p:spPr>
          <a:xfrm>
            <a:off x="9326880" y="7140194"/>
            <a:ext cx="7932420" cy="2168398"/>
          </a:xfrm>
          <a:prstGeom prst="roundRect">
            <a:avLst>
              <a:gd name="adj" fmla="val 14337"/>
            </a:avLst>
          </a:prstGeom>
          <a:solidFill>
            <a:srgbClr val="F6ECDF"/>
          </a:solidFill>
          <a:ln>
            <a:noFill/>
          </a:ln>
        </p:spPr>
        <p:txBody>
          <a:bodyPr anchor="ctr" rtlCol="false" lIns="0" tIns="0" rIns="0" bIns="0" wrap="square"/>
          <a:lstStyle/>
          <a:p>
            <a:endParaRPr lang="en-US" sz="1800"/>
          </a:p>
        </p:txBody>
      </p:sp>
      <p:sp>
        <p:nvSpPr>
          <p:cNvPr id="18" name="Rounded Rectangle 17"/>
          <p:cNvSpPr/>
          <p:nvPr/>
        </p:nvSpPr>
        <p:spPr>
          <a:xfrm>
            <a:off x="9784080" y="6902450"/>
            <a:ext cx="169294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vs LIME</a:t>
            </a:r>
          </a:p>
        </p:txBody>
      </p:sp>
      <p:sp>
        <p:nvSpPr>
          <p:cNvPr id="19" name="TextBox 18"/>
          <p:cNvSpPr txBox="1"/>
          <p:nvPr/>
        </p:nvSpPr>
        <p:spPr>
          <a:xfrm>
            <a:off x="9829800" y="7780274"/>
            <a:ext cx="6972300" cy="1253998"/>
          </a:xfrm>
          <a:prstGeom prst="rect">
            <a:avLst/>
          </a:prstGeom>
          <a:noFill/>
        </p:spPr>
        <p:txBody>
          <a:bodyPr anchor="t" rtlCol="false" lIns="0" tIns="0" rIns="0" bIns="0" wrap="square"/>
          <a:lstStyle/>
          <a:p>
            <a:pPr algn="l" marL="274320" indent="-274320">
              <a:lnSpc>
                <a:spcPts val="2546"/>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Weaker </a:t>
            </a:r>
            <a:r>
              <a:rPr lang="en-US" sz="1900" b="true">
                <a:solidFill>
                  <a:srgbClr val="111111"/>
                </a:solidFill>
                <a:latin typeface="Nunito Bold"/>
                <a:ea typeface="Nunito Bold"/>
                <a:cs typeface="Nunito Bold"/>
                <a:sym typeface="Nunito Bold"/>
              </a:rPr>
              <a:t>structural coherence</a:t>
            </a:r>
            <a:r>
              <a:rPr lang="en-US" sz="1900" b="true">
                <a:solidFill>
                  <a:srgbClr val="111111"/>
                </a:solidFill>
                <a:latin typeface="Nunito Semi-Bold"/>
                <a:ea typeface="Nunito Semi-Bold"/>
                <a:cs typeface="Nunito Semi-Bold"/>
                <a:sym typeface="Nunito Semi-Bold"/>
              </a:rPr>
              <a:t> across levels.</a:t>
            </a:r>
          </a:p>
          <a:p>
            <a:pPr algn="l" marL="274320" indent="-274320">
              <a:lnSpc>
                <a:spcPts val="2546"/>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Less stable local narratives for </a:t>
            </a:r>
            <a:r>
              <a:rPr lang="en-US" sz="1900" b="true">
                <a:solidFill>
                  <a:srgbClr val="111111"/>
                </a:solidFill>
                <a:latin typeface="Nunito Bold"/>
                <a:ea typeface="Nunito Bold"/>
                <a:cs typeface="Nunito Bold"/>
                <a:sym typeface="Nunito Bold"/>
              </a:rPr>
              <a:t>hierarchical reasoning</a:t>
            </a:r>
            <a:r>
              <a:rPr lang="en-US" sz="19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Key Findings and Limitations</a:t>
            </a:r>
          </a:p>
        </p:txBody>
      </p:sp>
      <p:pic>
        <p:nvPicPr>
          <p:cNvPr id="8" name="Picture 7" descr="image.png"/>
          <p:cNvPicPr>
            <a:picLocks noChangeAspect="1"/>
          </p:cNvPicPr>
          <p:nvPr/>
        </p:nvPicPr>
        <p:blipFill>
          <a:blip r:embed="rId2"/>
          <a:stretch>
            <a:fillRect/>
          </a:stretch>
        </p:blipFill>
        <p:spPr>
          <a:xfrm>
            <a:off x="11313629" y="1673352"/>
            <a:ext cx="457200" cy="39900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802428"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RQ2 answered · objectives met</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546"/>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RQ2 — yes, with bounds:</a:t>
            </a:r>
            <a:r>
              <a:rPr lang="en-US" sz="1900" b="true">
                <a:solidFill>
                  <a:srgbClr val="FFFFFF"/>
                </a:solidFill>
                <a:latin typeface="Nunito Semi-Bold"/>
                <a:ea typeface="Nunito Semi-Bold"/>
                <a:cs typeface="Nunito Semi-Bold"/>
                <a:sym typeface="Nunito Semi-Bold"/>
              </a:rPr>
              <a:t> coherence retained under scale and hierarchy.</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O1 met</a:t>
            </a:r>
            <a:r>
              <a:rPr lang="en-US" sz="1900" b="true">
                <a:solidFill>
                  <a:srgbClr val="FFFFFF"/>
                </a:solidFill>
                <a:latin typeface="Nunito Semi-Bold"/>
                <a:ea typeface="Nunito Semi-Bold"/>
                <a:cs typeface="Nunito Semi-Bold"/>
                <a:sym typeface="Nunito Semi-Bold"/>
              </a:rPr>
              <a:t> · a multi-granular explanation that does not collapse into a single flat summary.</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O2 met</a:t>
            </a:r>
            <a:r>
              <a:rPr lang="en-US" sz="1900" b="true">
                <a:solidFill>
                  <a:srgbClr val="FFFFFF"/>
                </a:solidFill>
                <a:latin typeface="Nunito Semi-Bold"/>
                <a:ea typeface="Nunito Semi-Bold"/>
                <a:cs typeface="Nunito Semi-Bold"/>
                <a:sym typeface="Nunito Semi-Bold"/>
              </a:rPr>
              <a:t> · Proposition 6.1 provides a formal cross-level consistency argument.</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O3 met</a:t>
            </a:r>
            <a:r>
              <a:rPr lang="en-US" sz="1900" b="true">
                <a:solidFill>
                  <a:srgbClr val="FFFFFF"/>
                </a:solidFill>
                <a:latin typeface="Nunito Semi-Bold"/>
                <a:ea typeface="Nunito Semi-Bold"/>
                <a:cs typeface="Nunito Semi-Bold"/>
                <a:sym typeface="Nunito Semi-Bold"/>
              </a:rPr>
              <a:t> · validated on a structurally different large-scale dataset (Beijing).</a:t>
            </a:r>
          </a:p>
          <a:p>
            <a:pPr algn="l" marL="274320" indent="-274320">
              <a:lnSpc>
                <a:spcPts val="2546"/>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Differences across levels are </a:t>
            </a:r>
            <a:r>
              <a:rPr lang="en-US" sz="1900" b="true">
                <a:solidFill>
                  <a:srgbClr val="FFFFFF"/>
                </a:solidFill>
                <a:latin typeface="Nunito Bold"/>
                <a:ea typeface="Nunito Bold"/>
                <a:cs typeface="Nunito Bold"/>
                <a:sym typeface="Nunito Bold"/>
              </a:rPr>
              <a:t>interpretable</a:t>
            </a:r>
            <a:r>
              <a:rPr lang="en-US" sz="1900" b="true">
                <a:solidFill>
                  <a:srgbClr val="FFFFFF"/>
                </a:solidFill>
                <a:latin typeface="Nunito Semi-Bold"/>
                <a:ea typeface="Nunito Semi-Bold"/>
                <a:cs typeface="Nunito Semi-Bold"/>
                <a:sym typeface="Nunito Semi-Bold"/>
              </a:rPr>
              <a:t>, not dismissed as inconsistency.</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214562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Limitations</a:t>
            </a:r>
          </a:p>
        </p:txBody>
      </p:sp>
      <p:sp>
        <p:nvSpPr>
          <p:cNvPr id="18" name="TextBox 17"/>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546"/>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Clustering remains </a:t>
            </a:r>
            <a:r>
              <a:rPr lang="en-US" sz="1900" b="true">
                <a:solidFill>
                  <a:srgbClr val="111111"/>
                </a:solidFill>
                <a:latin typeface="Nunito Bold"/>
                <a:ea typeface="Nunito Bold"/>
                <a:cs typeface="Nunito Bold"/>
                <a:sym typeface="Nunito Bold"/>
              </a:rPr>
              <a:t>static</a:t>
            </a:r>
            <a:r>
              <a:rPr lang="en-US" sz="1900" b="true">
                <a:solidFill>
                  <a:srgbClr val="111111"/>
                </a:solidFill>
                <a:latin typeface="Nunito Semi-Bold"/>
                <a:ea typeface="Nunito Semi-Bold"/>
                <a:cs typeface="Nunito Semi-Bold"/>
                <a:sym typeface="Nunito Semi-Bold"/>
              </a:rPr>
              <a:t>, even though the Beijing data are temporal.</a:t>
            </a:r>
          </a:p>
          <a:p>
            <a:pPr algn="l" marL="274320" indent="-274320">
              <a:lnSpc>
                <a:spcPts val="2546"/>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Surrogate-based SHAP plus representative-instance reporting </a:t>
            </a:r>
            <a:r>
              <a:rPr lang="en-US" sz="1900" b="true">
                <a:solidFill>
                  <a:srgbClr val="111111"/>
                </a:solidFill>
                <a:latin typeface="Nunito Bold"/>
                <a:ea typeface="Nunito Bold"/>
                <a:cs typeface="Nunito Bold"/>
                <a:sym typeface="Nunito Bold"/>
              </a:rPr>
              <a:t>compress observation-level variation</a:t>
            </a:r>
            <a:r>
              <a:rPr lang="en-US" sz="1900" b="true">
                <a:solidFill>
                  <a:srgbClr val="111111"/>
                </a:solidFill>
                <a:latin typeface="Nunito Semi-Bold"/>
                <a:ea typeface="Nunito Semi-Bold"/>
                <a:cs typeface="Nunito Semi-Bold"/>
                <a:sym typeface="Nunito Semi-Bold"/>
              </a:rPr>
              <a:t>.</a:t>
            </a:r>
          </a:p>
          <a:p>
            <a:pPr algn="l" marL="274320" indent="-274320">
              <a:lnSpc>
                <a:spcPts val="2546"/>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Confined to </a:t>
            </a:r>
            <a:r>
              <a:rPr lang="en-US" sz="1900" b="true">
                <a:solidFill>
                  <a:srgbClr val="111111"/>
                </a:solidFill>
                <a:latin typeface="Nunito Bold"/>
                <a:ea typeface="Nunito Bold"/>
                <a:cs typeface="Nunito Bold"/>
                <a:sym typeface="Nunito Bold"/>
              </a:rPr>
              <a:t>tabular data</a:t>
            </a:r>
            <a:r>
              <a:rPr lang="en-US" sz="1900" b="true">
                <a:solidFill>
                  <a:srgbClr val="111111"/>
                </a:solidFill>
                <a:latin typeface="Nunito Semi-Bold"/>
                <a:ea typeface="Nunito Semi-Bold"/>
                <a:cs typeface="Nunito Semi-Bold"/>
                <a:sym typeface="Nunito Semi-Bold"/>
              </a:rPr>
              <a:t>.</a:t>
            </a:r>
          </a:p>
          <a:p>
            <a:pPr algn="l" marL="274320" indent="-274320">
              <a:lnSpc>
                <a:spcPts val="2546"/>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Still an explanation of a </a:t>
            </a:r>
            <a:r>
              <a:rPr lang="en-US" sz="1900" b="true">
                <a:solidFill>
                  <a:srgbClr val="111111"/>
                </a:solidFill>
                <a:latin typeface="Nunito Bold"/>
                <a:ea typeface="Nunito Bold"/>
                <a:cs typeface="Nunito Bold"/>
                <a:sym typeface="Nunito Bold"/>
              </a:rPr>
              <a:t>pre-computed partition</a:t>
            </a:r>
            <a:r>
              <a:rPr lang="en-US" sz="1900" b="true">
                <a:solidFill>
                  <a:srgbClr val="111111"/>
                </a:solidFill>
                <a:latin typeface="Nunito Semi-Bold"/>
                <a:ea typeface="Nunito Semi-Bold"/>
                <a:cs typeface="Nunito Semi-Bold"/>
                <a:sym typeface="Nunito Semi-Bold"/>
              </a:rPr>
              <a:t> — it does not influence learning.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 MULTI-LEVEL XAI FOR LARGE-SCALE CLUSTERING</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Takeaways — and the Next Step</a:t>
            </a:r>
          </a:p>
        </p:txBody>
      </p:sp>
      <p:pic>
        <p:nvPicPr>
          <p:cNvPr id="8" name="Picture 7" descr="image.png"/>
          <p:cNvPicPr>
            <a:picLocks noChangeAspect="1"/>
          </p:cNvPicPr>
          <p:nvPr/>
        </p:nvPicPr>
        <p:blipFill>
          <a:blip r:embed="rId2"/>
          <a:stretch>
            <a:fillRect/>
          </a:stretch>
        </p:blipFill>
        <p:spPr>
          <a:xfrm>
            <a:off x="9356424" y="1673352"/>
            <a:ext cx="457200" cy="44671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455162"/>
            <a:ext cx="5196840" cy="3291840"/>
          </a:xfrm>
          <a:prstGeom prst="roundRect">
            <a:avLst>
              <a:gd name="adj" fmla="val 8333"/>
            </a:avLst>
          </a:prstGeom>
          <a:solidFill>
            <a:srgbClr val="124944"/>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Coherent</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Shapley attribution stays coherent across granularity — when the hierarchy is explicit.</a:t>
            </a:r>
          </a:p>
        </p:txBody>
      </p:sp>
      <p:sp>
        <p:nvSpPr>
          <p:cNvPr id="14" name="Rounded Rectangle 13"/>
          <p:cNvSpPr/>
          <p:nvPr/>
        </p:nvSpPr>
        <p:spPr>
          <a:xfrm>
            <a:off x="6545580" y="3455162"/>
            <a:ext cx="5196840" cy="3291840"/>
          </a:xfrm>
          <a:prstGeom prst="roundRect">
            <a:avLst>
              <a:gd name="adj" fmla="val 8333"/>
            </a:avLst>
          </a:prstGeom>
          <a:solidFill>
            <a:srgbClr val="1E5F58"/>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Against scale</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Explanations become interpretable against scale, not just against a single flat partition.</a:t>
            </a:r>
          </a:p>
        </p:txBody>
      </p:sp>
      <p:sp>
        <p:nvSpPr>
          <p:cNvPr id="15" name="Rounded Rectangle 14"/>
          <p:cNvSpPr/>
          <p:nvPr/>
        </p:nvSpPr>
        <p:spPr>
          <a:xfrm>
            <a:off x="12062460" y="3455162"/>
            <a:ext cx="5196840" cy="3291840"/>
          </a:xfrm>
          <a:prstGeom prst="roundRect">
            <a:avLst>
              <a:gd name="adj" fmla="val 8333"/>
            </a:avLst>
          </a:prstGeom>
          <a:solidFill>
            <a:srgbClr val="DF8330"/>
          </a:solidFill>
          <a:ln>
            <a:noFill/>
          </a:ln>
        </p:spPr>
        <p:txBody>
          <a:bodyPr anchor="t" rtlCol="false" lIns="411480" tIns="411480" rIns="36576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Still post-hoc</a:t>
            </a:r>
          </a:p>
          <a:p>
            <a:pPr algn="l">
              <a:lnSpc>
                <a:spcPts val="2500"/>
              </a:lnSpc>
              <a:spcBef>
                <a:spcPts val="1200"/>
              </a:spcBef>
              <a:buNone/>
            </a:pPr>
            <a:r>
              <a:rPr lang="en-US" sz="2000" b="true">
                <a:solidFill>
                  <a:srgbClr val="F7F2EA"/>
                </a:solidFill>
                <a:latin typeface="Nunito Semi-Bold"/>
                <a:ea typeface="Nunito Semi-Bold"/>
                <a:cs typeface="Nunito Semi-Bold"/>
                <a:sym typeface="Nunito Semi-Bold"/>
              </a:rPr>
              <a:t>The attribution explains a partition that was already computed.</a:t>
            </a:r>
          </a:p>
        </p:txBody>
      </p:sp>
      <p:sp>
        <p:nvSpPr>
          <p:cNvPr id="16" name="Rounded Rectangle 15"/>
          <p:cNvSpPr/>
          <p:nvPr/>
        </p:nvSpPr>
        <p:spPr>
          <a:xfrm>
            <a:off x="1028700" y="7204202"/>
            <a:ext cx="16230600" cy="2150110"/>
          </a:xfrm>
          <a:prstGeom prst="roundRect">
            <a:avLst>
              <a:gd name="adj" fmla="val 12758"/>
            </a:avLst>
          </a:prstGeom>
          <a:noFill/>
          <a:ln w="31750">
            <a:solidFill>
              <a:srgbClr val="124944"/>
            </a:solidFill>
          </a:ln>
        </p:spPr>
        <p:txBody>
          <a:bodyPr anchor="ctr" rtlCol="false" lIns="457200" tIns="91440" rIns="457200" bIns="91440" wrap="square"/>
          <a:lstStyle/>
          <a:p>
            <a:pPr algn="ctr">
              <a:lnSpc>
                <a:spcPts val="1800"/>
              </a:lnSpc>
              <a:spcBef>
                <a:spcPts val="0"/>
              </a:spcBef>
              <a:buNone/>
            </a:pPr>
            <a:r>
              <a:rPr lang="en-US" sz="1400" b="true" spc="180">
                <a:solidFill>
                  <a:srgbClr val="DF8330"/>
                </a:solidFill>
                <a:latin typeface="Nunito Ultra-Bold"/>
                <a:ea typeface="Nunito Ultra-Bold"/>
                <a:cs typeface="Nunito Ultra-Bold"/>
                <a:sym typeface="Nunito Ultra-Bold"/>
              </a:rPr>
              <a:t>NEXT</a:t>
            </a:r>
          </a:p>
          <a:p>
            <a:pPr algn="ctr">
              <a:lnSpc>
                <a:spcPts val="3200"/>
              </a:lnSpc>
              <a:spcBef>
                <a:spcPts val="800"/>
              </a:spcBef>
              <a:buNone/>
            </a:pPr>
            <a:r>
              <a:rPr lang="en-US" sz="2600" b="true">
                <a:solidFill>
                  <a:srgbClr val="111111"/>
                </a:solidFill>
                <a:latin typeface="Nunito Bold"/>
                <a:ea typeface="Nunito Bold"/>
                <a:cs typeface="Nunito Bold"/>
                <a:sym typeface="Nunito Bold"/>
              </a:rPr>
              <a:t>So the next step is to let attribution </a:t>
            </a:r>
            <a:r>
              <a:rPr lang="en-US" sz="2600" b="true">
                <a:solidFill>
                  <a:srgbClr val="111111"/>
                </a:solidFill>
                <a:latin typeface="Nunito Bold"/>
                <a:ea typeface="Nunito Bold"/>
                <a:cs typeface="Nunito Bold"/>
                <a:sym typeface="Nunito Bold"/>
              </a:rPr>
              <a:t>shape the learning itself</a:t>
            </a:r>
            <a:r>
              <a:rPr lang="en-US" sz="2600" b="true">
                <a:solidFill>
                  <a:srgbClr val="111111"/>
                </a:solidFill>
                <a:latin typeface="Nunito Bold"/>
                <a:ea typeface="Nunito Bold"/>
                <a:cs typeface="Nunito Bold"/>
                <a:sym typeface="Nunito Bold"/>
              </a:rPr>
              <a:t> — Contribution III.</a:t>
            </a:r>
          </a:p>
        </p:txBody>
      </p:sp>
      <p:pic>
        <p:nvPicPr>
          <p:cNvPr id="17" name="Picture 16" descr="image.png"/>
          <p:cNvPicPr>
            <a:picLocks noChangeAspect="1"/>
          </p:cNvPicPr>
          <p:nvPr/>
        </p:nvPicPr>
        <p:blipFill>
          <a:blip r:embed="rId4"/>
          <a:stretch>
            <a:fillRect/>
          </a:stretch>
        </p:blipFill>
        <p:spPr>
          <a:xfrm>
            <a:off x="15979140" y="7432802"/>
            <a:ext cx="256032" cy="842772"/>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7" name="Oval 6"/>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 a Dynamic Hypergraph Cooperative Game for recommendation  ·  answers RQ3 &amp; RQ4</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Gap and Objectives</a:t>
            </a:r>
          </a:p>
        </p:txBody>
      </p:sp>
      <p:pic>
        <p:nvPicPr>
          <p:cNvPr id="8" name="Picture 7" descr="image.png"/>
          <p:cNvPicPr>
            <a:picLocks noChangeAspect="1"/>
          </p:cNvPicPr>
          <p:nvPr/>
        </p:nvPicPr>
        <p:blipFill>
          <a:blip r:embed="rId2"/>
          <a:stretch>
            <a:fillRect/>
          </a:stretch>
        </p:blipFill>
        <p:spPr>
          <a:xfrm>
            <a:off x="6247896"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120026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Gap</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Graph and hypergraph recommenders treat message importance as </a:t>
            </a:r>
            <a:r>
              <a:rPr lang="en-US" sz="2000" b="true">
                <a:solidFill>
                  <a:srgbClr val="FFFFFF"/>
                </a:solidFill>
                <a:latin typeface="Nunito Bold"/>
                <a:ea typeface="Nunito Bold"/>
                <a:cs typeface="Nunito Bold"/>
                <a:sym typeface="Nunito Bold"/>
              </a:rPr>
              <a:t>uniform or attention-weighted</a:t>
            </a:r>
            <a:r>
              <a:rPr lang="en-US" sz="2000" b="true">
                <a:solidFill>
                  <a:srgbClr val="FFFFFF"/>
                </a:solidFill>
                <a:latin typeface="Nunito Semi-Bold"/>
                <a:ea typeface="Nunito Semi-Bold"/>
                <a:cs typeface="Nunito Semi-Bold"/>
                <a:sym typeface="Nunito Semi-Bold"/>
              </a:rPr>
              <a:t>, without a principled </a:t>
            </a:r>
            <a:r>
              <a:rPr lang="en-US" sz="2000" b="true">
                <a:solidFill>
                  <a:srgbClr val="FFFFFF"/>
                </a:solidFill>
                <a:latin typeface="Nunito Bold"/>
                <a:ea typeface="Nunito Bold"/>
                <a:cs typeface="Nunito Bold"/>
                <a:sym typeface="Nunito Bold"/>
              </a:rPr>
              <a:t>marginal-contribution</a:t>
            </a:r>
            <a:r>
              <a:rPr lang="en-US" sz="2000" b="true">
                <a:solidFill>
                  <a:srgbClr val="FFFFFF"/>
                </a:solidFill>
                <a:latin typeface="Nunito Semi-Bold"/>
                <a:ea typeface="Nunito Semi-Bold"/>
                <a:cs typeface="Nunito Semi-Bold"/>
                <a:sym typeface="Nunito Semi-Bold"/>
              </a:rPr>
              <a:t> account.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Diversity is often a secondary objective or a </a:t>
            </a:r>
            <a:r>
              <a:rPr lang="en-US" sz="2000" b="true">
                <a:solidFill>
                  <a:srgbClr val="FFFFFF"/>
                </a:solidFill>
                <a:latin typeface="Nunito Bold"/>
                <a:ea typeface="Nunito Bold"/>
                <a:cs typeface="Nunito Bold"/>
                <a:sym typeface="Nunito Bold"/>
              </a:rPr>
              <a:t>re-ranking heuristic</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Interpretability is </a:t>
            </a:r>
            <a:r>
              <a:rPr lang="en-US" sz="2000" b="true">
                <a:solidFill>
                  <a:srgbClr val="FFFFFF"/>
                </a:solidFill>
                <a:latin typeface="Nunito Bold"/>
                <a:ea typeface="Nunito Bold"/>
                <a:cs typeface="Nunito Bold"/>
                <a:sym typeface="Nunito Bold"/>
              </a:rPr>
              <a:t>added after prediction</a:t>
            </a:r>
            <a:r>
              <a:rPr lang="en-US" sz="2000" b="true">
                <a:solidFill>
                  <a:srgbClr val="FFFFFF"/>
                </a:solidFill>
                <a:latin typeface="Nunito Semi-Bold"/>
                <a:ea typeface="Nunito Semi-Bold"/>
                <a:cs typeface="Nunito Semi-Bold"/>
                <a:sym typeface="Nunito Semi-Bold"/>
              </a:rPr>
              <a:t>, not integrated into the learning objective.</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3871710"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RQ3 · RQ4 </a:t>
            </a:r>
            <a:r>
              <a:rPr lang="en-US" sz="2200" b="true">
                <a:solidFill>
                  <a:srgbClr val="FFFFFF"/>
                </a:solidFill>
                <a:latin typeface="Calibri"/>
                <a:ea typeface="Calibri"/>
                <a:cs typeface="Calibri"/>
                <a:sym typeface="Calibri"/>
              </a:rPr>
              <a:t>→ </a:t>
            </a:r>
            <a:r>
              <a:rPr lang="en-US" sz="2200" b="true">
                <a:solidFill>
                  <a:srgbClr val="FFFFFF"/>
                </a:solidFill>
                <a:latin typeface="Nunito Bold"/>
                <a:ea typeface="Nunito Bold"/>
                <a:cs typeface="Nunito Bold"/>
                <a:sym typeface="Nunito Bold"/>
              </a:rPr>
              <a:t>Objectives</a:t>
            </a:r>
          </a:p>
        </p:txBody>
      </p:sp>
      <p:sp>
        <p:nvSpPr>
          <p:cNvPr id="18" name="TextBox 17"/>
          <p:cNvSpPr txBox="1"/>
          <p:nvPr/>
        </p:nvSpPr>
        <p:spPr>
          <a:xfrm>
            <a:off x="9784080" y="4140962"/>
            <a:ext cx="7018020" cy="1417320"/>
          </a:xfrm>
          <a:prstGeom prst="rect">
            <a:avLst/>
          </a:prstGeom>
          <a:noFill/>
        </p:spPr>
        <p:txBody>
          <a:bodyPr anchor="t" rtlCol="false" lIns="0" tIns="0" rIns="0" bIns="0" wrap="square"/>
          <a:lstStyle/>
          <a:p>
            <a:pPr algn="l">
              <a:lnSpc>
                <a:spcPts val="2154"/>
              </a:lnSpc>
              <a:spcBef>
                <a:spcPts val="0"/>
              </a:spcBef>
              <a:buNone/>
            </a:pPr>
            <a:r>
              <a:rPr lang="en-US" sz="1584" b="true">
                <a:solidFill>
                  <a:srgbClr val="124944"/>
                </a:solidFill>
                <a:latin typeface="Nunito Bold"/>
                <a:ea typeface="Nunito Bold"/>
                <a:cs typeface="Nunito Bold"/>
                <a:sym typeface="Nunito Bold"/>
              </a:rPr>
              <a:t>RQ3 ·</a:t>
            </a:r>
            <a:r>
              <a:rPr lang="en-US" sz="1584" b="true">
                <a:solidFill>
                  <a:srgbClr val="124944"/>
                </a:solidFill>
                <a:latin typeface="Nunito Semi-Bold"/>
                <a:ea typeface="Nunito Semi-Bold"/>
                <a:cs typeface="Nunito Semi-Bold"/>
                <a:sym typeface="Nunito Semi-Bold"/>
              </a:rPr>
              <a:t> Can cooperative attribution move beyond post-hoc and enter the learning dynamics of graph recommenders?</a:t>
            </a:r>
          </a:p>
          <a:p>
            <a:pPr algn="l">
              <a:lnSpc>
                <a:spcPts val="2154"/>
              </a:lnSpc>
              <a:spcBef>
                <a:spcPts val="528"/>
              </a:spcBef>
              <a:buNone/>
            </a:pPr>
            <a:r>
              <a:rPr lang="en-US" sz="1584" b="true">
                <a:solidFill>
                  <a:srgbClr val="124944"/>
                </a:solidFill>
                <a:latin typeface="Nunito Bold"/>
                <a:ea typeface="Nunito Bold"/>
                <a:cs typeface="Nunito Bold"/>
                <a:sym typeface="Nunito Bold"/>
              </a:rPr>
              <a:t>RQ4 ·</a:t>
            </a:r>
            <a:r>
              <a:rPr lang="en-US" sz="1584" b="true">
                <a:solidFill>
                  <a:srgbClr val="124944"/>
                </a:solidFill>
                <a:latin typeface="Nunito Semi-Bold"/>
                <a:ea typeface="Nunito Semi-Bold"/>
                <a:cs typeface="Nunito Semi-Bold"/>
                <a:sym typeface="Nunito Semi-Bold"/>
              </a:rPr>
              <a:t> Can a recommender jointly optimise ranking accuracy, context and diversity when importance is estimated by a cooperative-game utility?</a:t>
            </a:r>
          </a:p>
        </p:txBody>
      </p:sp>
      <p:sp>
        <p:nvSpPr>
          <p:cNvPr id="19" name="Oval 18"/>
          <p:cNvSpPr/>
          <p:nvPr/>
        </p:nvSpPr>
        <p:spPr>
          <a:xfrm>
            <a:off x="9784080" y="5878322"/>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O1</a:t>
            </a:r>
          </a:p>
        </p:txBody>
      </p:sp>
      <p:sp>
        <p:nvSpPr>
          <p:cNvPr id="20" name="TextBox 19"/>
          <p:cNvSpPr txBox="1"/>
          <p:nvPr/>
        </p:nvSpPr>
        <p:spPr>
          <a:xfrm>
            <a:off x="10515600" y="5741162"/>
            <a:ext cx="6240780" cy="731520"/>
          </a:xfrm>
          <a:prstGeom prst="rect">
            <a:avLst/>
          </a:prstGeom>
          <a:noFill/>
        </p:spPr>
        <p:txBody>
          <a:bodyPr anchor="ctr" rtlCol="false" lIns="0" tIns="0" rIns="0" bIns="0" wrap="square"/>
          <a:lstStyle/>
          <a:p>
            <a:pPr algn="l">
              <a:lnSpc>
                <a:spcPts val="2448"/>
              </a:lnSpc>
              <a:spcBef>
                <a:spcPts val="0"/>
              </a:spcBef>
              <a:buNone/>
            </a:pPr>
            <a:r>
              <a:rPr lang="en-US" sz="1800" b="true">
                <a:solidFill>
                  <a:srgbClr val="111111"/>
                </a:solidFill>
                <a:latin typeface="Nunito Semi-Bold"/>
                <a:ea typeface="Nunito Semi-Bold"/>
                <a:cs typeface="Nunito Semi-Bold"/>
                <a:sym typeface="Nunito Semi-Bold"/>
              </a:rPr>
              <a:t>Formulate recommendation as a </a:t>
            </a:r>
            <a:r>
              <a:rPr lang="en-US" sz="1800" b="true">
                <a:solidFill>
                  <a:srgbClr val="111111"/>
                </a:solidFill>
                <a:latin typeface="Nunito Bold"/>
                <a:ea typeface="Nunito Bold"/>
                <a:cs typeface="Nunito Bold"/>
                <a:sym typeface="Nunito Bold"/>
              </a:rPr>
              <a:t>cooperative game</a:t>
            </a:r>
            <a:r>
              <a:rPr lang="en-US" sz="1800" b="true">
                <a:solidFill>
                  <a:srgbClr val="111111"/>
                </a:solidFill>
                <a:latin typeface="Nunito Semi-Bold"/>
                <a:ea typeface="Nunito Semi-Bold"/>
                <a:cs typeface="Nunito Semi-Bold"/>
                <a:sym typeface="Nunito Semi-Bold"/>
              </a:rPr>
              <a:t> with users, items and contexts as players.</a:t>
            </a:r>
          </a:p>
        </p:txBody>
      </p:sp>
      <p:sp>
        <p:nvSpPr>
          <p:cNvPr id="21" name="Oval 20"/>
          <p:cNvSpPr/>
          <p:nvPr/>
        </p:nvSpPr>
        <p:spPr>
          <a:xfrm>
            <a:off x="9784080" y="6719570"/>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O2</a:t>
            </a:r>
          </a:p>
        </p:txBody>
      </p:sp>
      <p:sp>
        <p:nvSpPr>
          <p:cNvPr id="22" name="TextBox 21"/>
          <p:cNvSpPr txBox="1"/>
          <p:nvPr/>
        </p:nvSpPr>
        <p:spPr>
          <a:xfrm>
            <a:off x="10515600" y="6582410"/>
            <a:ext cx="6240780" cy="731520"/>
          </a:xfrm>
          <a:prstGeom prst="rect">
            <a:avLst/>
          </a:prstGeom>
          <a:noFill/>
        </p:spPr>
        <p:txBody>
          <a:bodyPr anchor="ctr" rtlCol="false" lIns="0" tIns="0" rIns="0" bIns="0" wrap="square"/>
          <a:lstStyle/>
          <a:p>
            <a:pPr algn="l">
              <a:lnSpc>
                <a:spcPts val="2448"/>
              </a:lnSpc>
              <a:spcBef>
                <a:spcPts val="0"/>
              </a:spcBef>
              <a:buNone/>
            </a:pPr>
            <a:r>
              <a:rPr lang="en-US" sz="1800" b="true">
                <a:solidFill>
                  <a:srgbClr val="111111"/>
                </a:solidFill>
                <a:latin typeface="Nunito Semi-Bold"/>
                <a:ea typeface="Nunito Semi-Bold"/>
                <a:cs typeface="Nunito Semi-Bold"/>
                <a:sym typeface="Nunito Semi-Bold"/>
              </a:rPr>
              <a:t>Embed </a:t>
            </a: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into hypergraph message passing.</a:t>
            </a:r>
          </a:p>
        </p:txBody>
      </p:sp>
      <p:sp>
        <p:nvSpPr>
          <p:cNvPr id="23" name="Oval 22"/>
          <p:cNvSpPr/>
          <p:nvPr/>
        </p:nvSpPr>
        <p:spPr>
          <a:xfrm>
            <a:off x="9784080" y="7560818"/>
            <a:ext cx="457200" cy="457200"/>
          </a:xfrm>
          <a:prstGeom prst="ellipse">
            <a:avLst/>
          </a:prstGeom>
          <a:solidFill>
            <a:srgbClr val="ECC665"/>
          </a:solidFill>
          <a:ln>
            <a:noFill/>
          </a:ln>
        </p:spPr>
        <p:txBody>
          <a:bodyPr anchor="ctr" rtlCol="false" lIns="0" tIns="0" rIns="0" bIns="0" wrap="square"/>
          <a:lstStyle/>
          <a:p>
            <a:pPr algn="ctr">
              <a:lnSpc>
                <a:spcPts val="1870"/>
              </a:lnSpc>
              <a:spcBef>
                <a:spcPts val="0"/>
              </a:spcBef>
              <a:buNone/>
            </a:pPr>
            <a:r>
              <a:rPr lang="en-US" sz="1700" b="true">
                <a:solidFill>
                  <a:srgbClr val="111111"/>
                </a:solidFill>
                <a:latin typeface="Nunito Bold"/>
                <a:ea typeface="Nunito Bold"/>
                <a:cs typeface="Nunito Bold"/>
                <a:sym typeface="Nunito Bold"/>
              </a:rPr>
              <a:t>O3</a:t>
            </a:r>
          </a:p>
        </p:txBody>
      </p:sp>
      <p:sp>
        <p:nvSpPr>
          <p:cNvPr id="24" name="TextBox 23"/>
          <p:cNvSpPr txBox="1"/>
          <p:nvPr/>
        </p:nvSpPr>
        <p:spPr>
          <a:xfrm>
            <a:off x="10515600" y="7423658"/>
            <a:ext cx="6240780" cy="731520"/>
          </a:xfrm>
          <a:prstGeom prst="rect">
            <a:avLst/>
          </a:prstGeom>
          <a:noFill/>
        </p:spPr>
        <p:txBody>
          <a:bodyPr anchor="ctr" rtlCol="false" lIns="0" tIns="0" rIns="0" bIns="0" wrap="square"/>
          <a:lstStyle/>
          <a:p>
            <a:pPr algn="l">
              <a:lnSpc>
                <a:spcPts val="2448"/>
              </a:lnSpc>
              <a:spcBef>
                <a:spcPts val="0"/>
              </a:spcBef>
              <a:buNone/>
            </a:pPr>
            <a:r>
              <a:rPr lang="en-US" sz="1800" b="true">
                <a:solidFill>
                  <a:srgbClr val="111111"/>
                </a:solidFill>
                <a:latin typeface="Nunito Semi-Bold"/>
                <a:ea typeface="Nunito Semi-Bold"/>
                <a:cs typeface="Nunito Semi-Bold"/>
                <a:sym typeface="Nunito Semi-Bold"/>
              </a:rPr>
              <a:t>Improve </a:t>
            </a:r>
            <a:r>
              <a:rPr lang="en-US" sz="1800" b="true">
                <a:solidFill>
                  <a:srgbClr val="111111"/>
                </a:solidFill>
                <a:latin typeface="Nunito Bold"/>
                <a:ea typeface="Nunito Bold"/>
                <a:cs typeface="Nunito Bold"/>
                <a:sym typeface="Nunito Bold"/>
              </a:rPr>
              <a:t>ranking, coverage and diversity jointly</a:t>
            </a:r>
            <a:r>
              <a:rPr lang="en-US" sz="18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8" name="Picture 7" descr="image.png"/>
          <p:cNvPicPr>
            <a:picLocks noChangeAspect="1"/>
          </p:cNvPicPr>
          <p:nvPr/>
        </p:nvPicPr>
        <p:blipFill>
          <a:blip r:embed="rId2"/>
          <a:stretch>
            <a:fillRect/>
          </a:stretch>
        </p:blipFill>
        <p:spPr>
          <a:xfrm>
            <a:off x="11933734"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Player set N = U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I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C</a:t>
            </a:r>
            <a:r>
              <a:rPr lang="en-US" sz="2100" b="true">
                <a:solidFill>
                  <a:srgbClr val="111111"/>
                </a:solidFill>
                <a:latin typeface="Nunito Semi-Bold"/>
                <a:ea typeface="Nunito Semi-Bold"/>
                <a:cs typeface="Nunito Semi-Bold"/>
                <a:sym typeface="Nunito Semi-Bold"/>
              </a:rPr>
              <a:t> (users, items, contexts).</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 H = (V, E, W)</a:t>
            </a:r>
            <a:r>
              <a:rPr lang="en-US" sz="2100" b="true">
                <a:solidFill>
                  <a:srgbClr val="111111"/>
                </a:solidFill>
                <a:latin typeface="Nunito Semi-Bold"/>
                <a:ea typeface="Nunito Semi-Bold"/>
                <a:cs typeface="Nunito Semi-Bold"/>
                <a:sym typeface="Nunito Semi-Bold"/>
              </a:rPr>
              <a:t>; V = U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Semi-Bold"/>
                <a:ea typeface="Nunito Semi-Bold"/>
                <a:cs typeface="Nunito Semi-Bold"/>
                <a:sym typeface="Nunito Semi-Bold"/>
              </a:rPr>
              <a:t>I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Semi-Bold"/>
                <a:ea typeface="Nunito Semi-Bold"/>
                <a:cs typeface="Nunito Semi-Bold"/>
                <a:sym typeface="Nunito Semi-Bold"/>
              </a:rPr>
              <a:t>C; </a:t>
            </a:r>
            <a:r>
              <a:rPr lang="en-US" sz="2100" b="true">
                <a:solidFill>
                  <a:srgbClr val="111111"/>
                </a:solidFill>
                <a:latin typeface="Nunito Bold"/>
                <a:ea typeface="Nunito Bold"/>
                <a:cs typeface="Nunito Bold"/>
                <a:sym typeface="Nunito Bold"/>
              </a:rPr>
              <a:t>W = dynamic edge weights</a:t>
            </a:r>
            <a:r>
              <a:rPr lang="en-US" sz="2100" b="true">
                <a:solidFill>
                  <a:srgbClr val="111111"/>
                </a:solidFill>
                <a:latin typeface="Nunito Semi-Bold"/>
                <a:ea typeface="Nunito Semi-Bold"/>
                <a:cs typeface="Nunito Semi-Bold"/>
                <a:sym typeface="Nunito Semi-Bold"/>
              </a:rPr>
              <a:t> from Shapley estimates.</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a:t>
            </a:r>
            <a:r>
              <a:rPr lang="en-US" sz="2100" b="true">
                <a:solidFill>
                  <a:srgbClr val="111111"/>
                </a:solidFill>
                <a:latin typeface="Nunito Bold"/>
                <a:ea typeface="Nunito Bold"/>
                <a:cs typeface="Nunito Bold"/>
                <a:sym typeface="Nunito Bold"/>
              </a:rPr>
              <a:t>coalition S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N</a:t>
            </a:r>
            <a:r>
              <a:rPr lang="en-US" sz="2100" b="true">
                <a:solidFill>
                  <a:srgbClr val="111111"/>
                </a:solidFill>
                <a:latin typeface="Nunito Semi-Bold"/>
                <a:ea typeface="Nunito Semi-Bold"/>
                <a:cs typeface="Nunito Semi-Bold"/>
                <a:sym typeface="Nunito Semi-Bold"/>
              </a:rPr>
              <a:t> represents the entities participating in a recommendation episode.</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Coalition value v(S)</a:t>
            </a:r>
            <a:r>
              <a:rPr lang="en-US" sz="2100" b="true">
                <a:solidFill>
                  <a:srgbClr val="111111"/>
                </a:solidFill>
                <a:latin typeface="Nunito Semi-Bold"/>
                <a:ea typeface="Nunito Semi-Bold"/>
                <a:cs typeface="Nunito Semi-Bold"/>
                <a:sym typeface="Nunito Semi-Bold"/>
              </a:rPr>
              <a:t> measures the quality of the recommendation outcome achievable by S.</a:t>
            </a:r>
          </a:p>
          <a:p>
            <a:pPr algn="l" marL="274320" indent="-274320">
              <a:lnSpc>
                <a:spcPts val="2814"/>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Top-N task:</a:t>
            </a:r>
            <a:r>
              <a:rPr lang="en-US" sz="2100" b="true">
                <a:solidFill>
                  <a:srgbClr val="111111"/>
                </a:solidFill>
                <a:latin typeface="Nunito Semi-Bold"/>
                <a:ea typeface="Nunito Semi-Bold"/>
                <a:cs typeface="Nunito Semi-Bold"/>
                <a:sym typeface="Nunito Semi-Bold"/>
              </a:rPr>
              <a:t> produce a ranked list L_u balancing relevance, diversity and contextual fit.</a:t>
            </a:r>
          </a:p>
        </p:txBody>
      </p:sp>
      <p:sp>
        <p:nvSpPr>
          <p:cNvPr id="14" name="TextBox 13"/>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15" name="Rounded Rectangle 14"/>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16" name="TextBox 15"/>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17" name="Oval 16"/>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18" name="Oval 17"/>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19" name="Oval 18"/>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20" name="Rounded Rectangle 19"/>
          <p:cNvSpPr/>
          <p:nvPr/>
        </p:nvSpPr>
        <p:spPr>
          <a:xfrm>
            <a:off x="9441180" y="7067042"/>
            <a:ext cx="7818120" cy="2241550"/>
          </a:xfrm>
          <a:prstGeom prst="roundRect">
            <a:avLst>
              <a:gd name="adj" fmla="val 10198"/>
            </a:avLst>
          </a:prstGeom>
          <a:solidFill>
            <a:srgbClr val="124944"/>
          </a:solidFill>
          <a:ln>
            <a:noFill/>
          </a:ln>
        </p:spPr>
        <p:txBody>
          <a:bodyPr anchor="ctr" rtlCol="false" lIns="274320" tIns="137160" rIns="274320" bIns="137160" wrap="square"/>
          <a:lstStyle/>
          <a:p>
            <a:pPr algn="ctr">
              <a:lnSpc>
                <a:spcPts val="2500"/>
              </a:lnSpc>
              <a:spcBef>
                <a:spcPts val="0"/>
              </a:spcBef>
              <a:buNone/>
            </a:pPr>
            <a:r>
              <a:rPr lang="en-US" sz="1900" b="true">
                <a:solidFill>
                  <a:srgbClr val="FFFFFF"/>
                </a:solidFill>
                <a:latin typeface="Nunito Bold"/>
                <a:ea typeface="Nunito Bold"/>
                <a:cs typeface="Nunito Bold"/>
                <a:sym typeface="Nunito Bold"/>
              </a:rPr>
              <a:t>v(S)  </a:t>
            </a:r>
            <a:r>
              <a:rPr lang="en-US" sz="1900" b="true">
                <a:solidFill>
                  <a:srgbClr val="FFFFFF"/>
                </a:solidFill>
                <a:latin typeface="Calibri"/>
                <a:ea typeface="Calibri"/>
                <a:cs typeface="Calibri"/>
                <a:sym typeface="Calibri"/>
              </a:rPr>
              <a:t>→  </a:t>
            </a:r>
            <a:r>
              <a:rPr lang="en-US" sz="1900" b="true">
                <a:solidFill>
                  <a:srgbClr val="FFFFFF"/>
                </a:solidFill>
                <a:latin typeface="Nunito Bold"/>
                <a:ea typeface="Nunito Bold"/>
                <a:cs typeface="Nunito Bold"/>
                <a:sym typeface="Nunito Bold"/>
              </a:rPr>
              <a:t>quality of the recommendation outcome achievable by S</a:t>
            </a:r>
          </a:p>
          <a:p>
            <a:pPr algn="ctr">
              <a:lnSpc>
                <a:spcPts val="2500"/>
              </a:lnSpc>
              <a:spcBef>
                <a:spcPts val="800"/>
              </a:spcBef>
              <a:buNone/>
            </a:pPr>
            <a:r>
              <a:rPr lang="en-US" sz="1900" b="true">
                <a:solidFill>
                  <a:srgbClr val="ECC665"/>
                </a:solidFill>
                <a:latin typeface="Cambria Math"/>
                <a:ea typeface="Cambria Math"/>
                <a:cs typeface="Cambria Math"/>
                <a:sym typeface="Cambria Math"/>
              </a:rPr>
              <a:t>φ̂</a:t>
            </a:r>
            <a:r>
              <a:rPr lang="en-US" sz="1900" b="true" baseline="-25000">
                <a:solidFill>
                  <a:srgbClr val="ECC665"/>
                </a:solidFill>
                <a:latin typeface="Nunito Bold"/>
                <a:ea typeface="Nunito Bold"/>
                <a:cs typeface="Nunito Bold"/>
                <a:sym typeface="Nunito Bold"/>
              </a:rPr>
              <a:t>j</a:t>
            </a:r>
            <a:r>
              <a:rPr lang="en-US" sz="1900" b="true">
                <a:solidFill>
                  <a:srgbClr val="ECC665"/>
                </a:solidFill>
                <a:latin typeface="Calibri"/>
                <a:ea typeface="Calibri"/>
                <a:cs typeface="Calibri"/>
                <a:sym typeface="Calibri"/>
              </a:rPr>
              <a:t>  →  </a:t>
            </a:r>
            <a:r>
              <a:rPr lang="en-US" sz="1900" b="true">
                <a:solidFill>
                  <a:srgbClr val="ECC665"/>
                </a:solidFill>
                <a:latin typeface="Nunito Bold"/>
                <a:ea typeface="Nunito Bold"/>
                <a:cs typeface="Nunito Bold"/>
                <a:sym typeface="Nunito Bold"/>
              </a:rPr>
              <a:t>marginal contribution of player j  </a:t>
            </a:r>
            <a:r>
              <a:rPr lang="en-US" sz="1900" b="true">
                <a:solidFill>
                  <a:srgbClr val="ECC665"/>
                </a:solidFill>
                <a:latin typeface="Calibri"/>
                <a:ea typeface="Calibri"/>
                <a:cs typeface="Calibri"/>
                <a:sym typeface="Calibri"/>
              </a:rPr>
              <a:t>→  </a:t>
            </a:r>
            <a:r>
              <a:rPr lang="en-US" sz="1900" b="true">
                <a:solidFill>
                  <a:srgbClr val="ECC665"/>
                </a:solidFill>
                <a:latin typeface="Nunito Bold"/>
                <a:ea typeface="Nunito Bold"/>
                <a:cs typeface="Nunito Bold"/>
                <a:sym typeface="Nunito Bold"/>
              </a:rPr>
              <a:t>dynamic edge weight w</a:t>
            </a:r>
            <a:r>
              <a:rPr lang="en-US" sz="1900" b="true" baseline="-25000">
                <a:solidFill>
                  <a:srgbClr val="ECC665"/>
                </a:solidFill>
                <a:latin typeface="Nunito Bold"/>
                <a:ea typeface="Nunito Bold"/>
                <a:cs typeface="Nunito Bold"/>
                <a:sym typeface="Nunito Bold"/>
              </a:rPr>
              <a:t>jk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Coalition Value Aligned with the Objective</a:t>
            </a:r>
          </a:p>
        </p:txBody>
      </p:sp>
      <p:pic>
        <p:nvPicPr>
          <p:cNvPr id="8" name="Picture 7" descr="image.png"/>
          <p:cNvPicPr>
            <a:picLocks noChangeAspect="1"/>
          </p:cNvPicPr>
          <p:nvPr/>
        </p:nvPicPr>
        <p:blipFill>
          <a:blip r:embed="rId2"/>
          <a:stretch>
            <a:fillRect/>
          </a:stretch>
        </p:blipFill>
        <p:spPr>
          <a:xfrm>
            <a:off x="12053319"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16230600" cy="1325880"/>
          </a:xfrm>
          <a:prstGeom prst="roundRect">
            <a:avLst>
              <a:gd name="adj" fmla="val 20689"/>
            </a:avLst>
          </a:prstGeom>
          <a:solidFill>
            <a:srgbClr val="124944"/>
          </a:solidFill>
          <a:ln>
            <a:noFill/>
          </a:ln>
        </p:spPr>
        <p:txBody>
          <a:bodyPr anchor="ctr" rtlCol="false" lIns="365760" tIns="91440" rIns="365760" bIns="91440" wrap="square"/>
          <a:lstStyle/>
          <a:p>
            <a:pPr algn="ctr">
              <a:lnSpc>
                <a:spcPts val="3400"/>
              </a:lnSpc>
              <a:spcBef>
                <a:spcPts val="0"/>
              </a:spcBef>
              <a:buNone/>
            </a:pPr>
            <a:r>
              <a:rPr lang="en-US" sz="2600" b="true">
                <a:solidFill>
                  <a:srgbClr val="FFFFFF"/>
                </a:solidFill>
                <a:latin typeface="Nunito Bold"/>
                <a:ea typeface="Nunito Bold"/>
                <a:cs typeface="Nunito Bold"/>
                <a:sym typeface="Nunito Bold"/>
              </a:rPr>
              <a:t>v(S) = </a:t>
            </a:r>
            <a:r>
              <a:rPr lang="en-US" sz="2600" b="true">
                <a:solidFill>
                  <a:srgbClr val="FFFFFF"/>
                </a:solidFill>
                <a:latin typeface="Calibri"/>
                <a:ea typeface="Calibri"/>
                <a:cs typeface="Calibri"/>
                <a:sym typeface="Calibri"/>
              </a:rPr>
              <a:t>α </a:t>
            </a:r>
            <a:r>
              <a:rPr lang="en-US" sz="2600" b="true">
                <a:solidFill>
                  <a:srgbClr val="FFFFFF"/>
                </a:solidFill>
                <a:latin typeface="Nunito Bold"/>
                <a:ea typeface="Nunito Bold"/>
                <a:cs typeface="Nunito Bold"/>
                <a:sym typeface="Nunito Bold"/>
              </a:rPr>
              <a:t>· NDCG@20(S) + </a:t>
            </a:r>
            <a:r>
              <a:rPr lang="en-US" sz="2600" b="true">
                <a:solidFill>
                  <a:srgbClr val="FFFFFF"/>
                </a:solidFill>
                <a:latin typeface="Calibri"/>
                <a:ea typeface="Calibri"/>
                <a:cs typeface="Calibri"/>
                <a:sym typeface="Calibri"/>
              </a:rPr>
              <a:t>β </a:t>
            </a:r>
            <a:r>
              <a:rPr lang="en-US" sz="2600" b="true">
                <a:solidFill>
                  <a:srgbClr val="FFFFFF"/>
                </a:solidFill>
                <a:latin typeface="Nunito Bold"/>
                <a:ea typeface="Nunito Bold"/>
                <a:cs typeface="Nunito Bold"/>
                <a:sym typeface="Nunito Bold"/>
              </a:rPr>
              <a:t>· Diversity(S) + </a:t>
            </a:r>
            <a:r>
              <a:rPr lang="en-US" sz="2600" b="true">
                <a:solidFill>
                  <a:srgbClr val="FFFFFF"/>
                </a:solidFill>
                <a:latin typeface="Calibri"/>
                <a:ea typeface="Calibri"/>
                <a:cs typeface="Calibri"/>
                <a:sym typeface="Calibri"/>
              </a:rPr>
              <a:t>γ </a:t>
            </a:r>
            <a:r>
              <a:rPr lang="en-US" sz="2600" b="true">
                <a:solidFill>
                  <a:srgbClr val="FFFFFF"/>
                </a:solidFill>
                <a:latin typeface="Nunito Bold"/>
                <a:ea typeface="Nunito Bold"/>
                <a:cs typeface="Nunito Bold"/>
                <a:sym typeface="Nunito Bold"/>
              </a:rPr>
              <a:t>· ContextScore(S),   with </a:t>
            </a:r>
            <a:r>
              <a:rPr lang="en-US" sz="2600" b="true">
                <a:solidFill>
                  <a:srgbClr val="FFFFFF"/>
                </a:solidFill>
                <a:latin typeface="Calibri"/>
                <a:ea typeface="Calibri"/>
                <a:cs typeface="Calibri"/>
                <a:sym typeface="Calibri"/>
              </a:rPr>
              <a:t>α </a:t>
            </a:r>
            <a:r>
              <a:rPr lang="en-US" sz="2600" b="true">
                <a:solidFill>
                  <a:srgbClr val="FFFFFF"/>
                </a:solidFill>
                <a:latin typeface="Nunito Bold"/>
                <a:ea typeface="Nunito Bold"/>
                <a:cs typeface="Nunito Bold"/>
                <a:sym typeface="Nunito Bold"/>
              </a:rPr>
              <a:t>+ </a:t>
            </a:r>
            <a:r>
              <a:rPr lang="en-US" sz="2600" b="true">
                <a:solidFill>
                  <a:srgbClr val="FFFFFF"/>
                </a:solidFill>
                <a:latin typeface="Calibri"/>
                <a:ea typeface="Calibri"/>
                <a:cs typeface="Calibri"/>
                <a:sym typeface="Calibri"/>
              </a:rPr>
              <a:t>β </a:t>
            </a:r>
            <a:r>
              <a:rPr lang="en-US" sz="2600" b="true">
                <a:solidFill>
                  <a:srgbClr val="FFFFFF"/>
                </a:solidFill>
                <a:latin typeface="Nunito Bold"/>
                <a:ea typeface="Nunito Bold"/>
                <a:cs typeface="Nunito Bold"/>
                <a:sym typeface="Nunito Bold"/>
              </a:rPr>
              <a:t>+ </a:t>
            </a:r>
            <a:r>
              <a:rPr lang="en-US" sz="2600" b="true">
                <a:solidFill>
                  <a:srgbClr val="FFFFFF"/>
                </a:solidFill>
                <a:latin typeface="Calibri"/>
                <a:ea typeface="Calibri"/>
                <a:cs typeface="Calibri"/>
                <a:sym typeface="Calibri"/>
              </a:rPr>
              <a:t>γ </a:t>
            </a:r>
            <a:r>
              <a:rPr lang="en-US" sz="2600" b="true">
                <a:solidFill>
                  <a:srgbClr val="FFFFFF"/>
                </a:solidFill>
                <a:latin typeface="Nunito Bold"/>
                <a:ea typeface="Nunito Bold"/>
                <a:cs typeface="Nunito Bold"/>
                <a:sym typeface="Nunito Bold"/>
              </a:rPr>
              <a:t>= 1</a:t>
            </a:r>
          </a:p>
          <a:p>
            <a:pPr algn="ctr">
              <a:lnSpc>
                <a:spcPts val="2800"/>
              </a:lnSpc>
              <a:spcBef>
                <a:spcPts val="800"/>
              </a:spcBef>
              <a:buNone/>
            </a:pPr>
            <a:r>
              <a:rPr lang="en-US" sz="2200" b="true">
                <a:solidFill>
                  <a:srgbClr val="ECC665"/>
                </a:solidFill>
                <a:latin typeface="Nunito Bold"/>
                <a:ea typeface="Nunito Bold"/>
                <a:cs typeface="Nunito Bold"/>
                <a:sym typeface="Nunito Bold"/>
              </a:rPr>
              <a:t>v</a:t>
            </a:r>
            <a:r>
              <a:rPr lang="en-US" sz="2200" b="true" baseline="-25000">
                <a:solidFill>
                  <a:srgbClr val="ECC665"/>
                </a:solidFill>
                <a:latin typeface="Nunito Bold"/>
                <a:ea typeface="Nunito Bold"/>
                <a:cs typeface="Nunito Bold"/>
                <a:sym typeface="Nunito Bold"/>
              </a:rPr>
              <a:t>pref</a:t>
            </a:r>
            <a:r>
              <a:rPr lang="en-US" sz="2200" b="true">
                <a:solidFill>
                  <a:srgbClr val="ECC665"/>
                </a:solidFill>
                <a:latin typeface="Nunito Bold"/>
                <a:ea typeface="Nunito Bold"/>
                <a:cs typeface="Nunito Bold"/>
                <a:sym typeface="Nunito Bold"/>
              </a:rPr>
              <a:t>(S) = v(S) + </a:t>
            </a:r>
            <a:r>
              <a:rPr lang="en-US" sz="2200" b="true">
                <a:solidFill>
                  <a:srgbClr val="ECC665"/>
                </a:solidFill>
                <a:latin typeface="Calibri"/>
                <a:ea typeface="Calibri"/>
                <a:cs typeface="Calibri"/>
                <a:sym typeface="Calibri"/>
              </a:rPr>
              <a:t>λ</a:t>
            </a:r>
            <a:r>
              <a:rPr lang="en-US" sz="2200" b="true" baseline="-25000">
                <a:solidFill>
                  <a:srgbClr val="ECC665"/>
                </a:solidFill>
                <a:latin typeface="Nunito Bold"/>
                <a:ea typeface="Nunito Bold"/>
                <a:cs typeface="Nunito Bold"/>
                <a:sym typeface="Nunito Bold"/>
              </a:rPr>
              <a:t>pref</a:t>
            </a:r>
            <a:r>
              <a:rPr lang="en-US" sz="2200" b="true">
                <a:solidFill>
                  <a:srgbClr val="ECC665"/>
                </a:solidFill>
                <a:latin typeface="Nunito Bold"/>
                <a:ea typeface="Nunito Bold"/>
                <a:cs typeface="Nunito Bold"/>
                <a:sym typeface="Nunito Bold"/>
              </a:rPr>
              <a:t> · Σ</a:t>
            </a:r>
            <a:r>
              <a:rPr lang="en-US" sz="2200" b="true" baseline="-25000">
                <a:solidFill>
                  <a:srgbClr val="ECC665"/>
                </a:solidFill>
                <a:latin typeface="Nunito Bold"/>
                <a:ea typeface="Nunito Bold"/>
                <a:cs typeface="Nunito Bold"/>
                <a:sym typeface="Nunito Bold"/>
              </a:rPr>
              <a:t>(u,i)</a:t>
            </a:r>
            <a:r>
              <a:rPr lang="en-US" sz="2200" b="true" baseline="-25000">
                <a:solidFill>
                  <a:srgbClr val="ECC665"/>
                </a:solidFill>
                <a:latin typeface="Cambria Math"/>
                <a:ea typeface="Cambria Math"/>
                <a:cs typeface="Cambria Math"/>
                <a:sym typeface="Cambria Math"/>
              </a:rPr>
              <a:t>∈</a:t>
            </a:r>
            <a:r>
              <a:rPr lang="en-US" sz="2200" b="true" baseline="-25000">
                <a:solidFill>
                  <a:srgbClr val="ECC665"/>
                </a:solidFill>
                <a:latin typeface="Nunito Bold"/>
                <a:ea typeface="Nunito Bold"/>
                <a:cs typeface="Nunito Bold"/>
                <a:sym typeface="Nunito Bold"/>
              </a:rPr>
              <a:t>S</a:t>
            </a:r>
            <a:r>
              <a:rPr lang="en-US" sz="2200" b="true">
                <a:solidFill>
                  <a:srgbClr val="ECC665"/>
                </a:solidFill>
                <a:latin typeface="Nunito Bold"/>
                <a:ea typeface="Nunito Bold"/>
                <a:cs typeface="Nunito Bold"/>
                <a:sym typeface="Nunito Bold"/>
              </a:rPr>
              <a:t> sim(u,i)</a:t>
            </a:r>
          </a:p>
        </p:txBody>
      </p:sp>
      <p:sp>
        <p:nvSpPr>
          <p:cNvPr id="14" name="Rounded Rectangle 13"/>
          <p:cNvSpPr/>
          <p:nvPr/>
        </p:nvSpPr>
        <p:spPr>
          <a:xfrm>
            <a:off x="1028700" y="5055362"/>
            <a:ext cx="3851910" cy="1280160"/>
          </a:xfrm>
          <a:prstGeom prst="roundRect">
            <a:avLst>
              <a:gd name="adj" fmla="val 21428"/>
            </a:avLst>
          </a:prstGeom>
          <a:solidFill>
            <a:srgbClr val="F6ECD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Calibri"/>
                <a:ea typeface="Calibri"/>
                <a:cs typeface="Calibri"/>
                <a:sym typeface="Calibri"/>
              </a:rPr>
              <a:t>α </a:t>
            </a:r>
            <a:r>
              <a:rPr lang="en-US" sz="3000" b="true">
                <a:solidFill>
                  <a:srgbClr val="124944"/>
                </a:solidFill>
                <a:latin typeface="Nunito Ultra-Bold"/>
                <a:ea typeface="Nunito Ultra-Bold"/>
                <a:cs typeface="Nunito Ultra-Bold"/>
                <a:sym typeface="Nunito Ultra-Bold"/>
              </a:rPr>
              <a:t>= 0.60</a:t>
            </a:r>
          </a:p>
          <a:p>
            <a:pPr algn="ctr">
              <a:lnSpc>
                <a:spcPts val="2000"/>
              </a:lnSpc>
              <a:spcBef>
                <a:spcPts val="400"/>
              </a:spcBef>
              <a:buNone/>
            </a:pPr>
            <a:r>
              <a:rPr lang="en-US" sz="1600" b="true">
                <a:solidFill>
                  <a:srgbClr val="111111"/>
                </a:solidFill>
                <a:latin typeface="Nunito Semi-Bold"/>
                <a:ea typeface="Nunito Semi-Bold"/>
                <a:cs typeface="Nunito Semi-Bold"/>
                <a:sym typeface="Nunito Semi-Bold"/>
              </a:rPr>
              <a:t>ranking accuracy</a:t>
            </a:r>
          </a:p>
        </p:txBody>
      </p:sp>
      <p:sp>
        <p:nvSpPr>
          <p:cNvPr id="15" name="Rounded Rectangle 14"/>
          <p:cNvSpPr/>
          <p:nvPr/>
        </p:nvSpPr>
        <p:spPr>
          <a:xfrm>
            <a:off x="5154930" y="5055362"/>
            <a:ext cx="3851910" cy="1280160"/>
          </a:xfrm>
          <a:prstGeom prst="roundRect">
            <a:avLst>
              <a:gd name="adj" fmla="val 21428"/>
            </a:avLst>
          </a:prstGeom>
          <a:solidFill>
            <a:srgbClr val="F6ECD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Calibri"/>
                <a:ea typeface="Calibri"/>
                <a:cs typeface="Calibri"/>
                <a:sym typeface="Calibri"/>
              </a:rPr>
              <a:t>β </a:t>
            </a:r>
            <a:r>
              <a:rPr lang="en-US" sz="3000" b="true">
                <a:solidFill>
                  <a:srgbClr val="124944"/>
                </a:solidFill>
                <a:latin typeface="Nunito Ultra-Bold"/>
                <a:ea typeface="Nunito Ultra-Bold"/>
                <a:cs typeface="Nunito Ultra-Bold"/>
                <a:sym typeface="Nunito Ultra-Bold"/>
              </a:rPr>
              <a:t>= 0.25</a:t>
            </a:r>
          </a:p>
          <a:p>
            <a:pPr algn="ctr">
              <a:lnSpc>
                <a:spcPts val="2000"/>
              </a:lnSpc>
              <a:spcBef>
                <a:spcPts val="400"/>
              </a:spcBef>
              <a:buNone/>
            </a:pPr>
            <a:r>
              <a:rPr lang="en-US" sz="1600" b="true">
                <a:solidFill>
                  <a:srgbClr val="111111"/>
                </a:solidFill>
                <a:latin typeface="Nunito Semi-Bold"/>
                <a:ea typeface="Nunito Semi-Bold"/>
                <a:cs typeface="Nunito Semi-Bold"/>
                <a:sym typeface="Nunito Semi-Bold"/>
              </a:rPr>
              <a:t>diversity</a:t>
            </a:r>
          </a:p>
        </p:txBody>
      </p:sp>
      <p:sp>
        <p:nvSpPr>
          <p:cNvPr id="16" name="Rounded Rectangle 15"/>
          <p:cNvSpPr/>
          <p:nvPr/>
        </p:nvSpPr>
        <p:spPr>
          <a:xfrm>
            <a:off x="9281160" y="5055362"/>
            <a:ext cx="3851910" cy="1280160"/>
          </a:xfrm>
          <a:prstGeom prst="roundRect">
            <a:avLst>
              <a:gd name="adj" fmla="val 21428"/>
            </a:avLst>
          </a:prstGeom>
          <a:solidFill>
            <a:srgbClr val="F6ECD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Calibri"/>
                <a:ea typeface="Calibri"/>
                <a:cs typeface="Calibri"/>
                <a:sym typeface="Calibri"/>
              </a:rPr>
              <a:t>γ </a:t>
            </a:r>
            <a:r>
              <a:rPr lang="en-US" sz="3000" b="true">
                <a:solidFill>
                  <a:srgbClr val="124944"/>
                </a:solidFill>
                <a:latin typeface="Nunito Ultra-Bold"/>
                <a:ea typeface="Nunito Ultra-Bold"/>
                <a:cs typeface="Nunito Ultra-Bold"/>
                <a:sym typeface="Nunito Ultra-Bold"/>
              </a:rPr>
              <a:t>= 0.15</a:t>
            </a:r>
          </a:p>
          <a:p>
            <a:pPr algn="ctr">
              <a:lnSpc>
                <a:spcPts val="2000"/>
              </a:lnSpc>
              <a:spcBef>
                <a:spcPts val="400"/>
              </a:spcBef>
              <a:buNone/>
            </a:pPr>
            <a:r>
              <a:rPr lang="en-US" sz="1600" b="true">
                <a:solidFill>
                  <a:srgbClr val="111111"/>
                </a:solidFill>
                <a:latin typeface="Nunito Semi-Bold"/>
                <a:ea typeface="Nunito Semi-Bold"/>
                <a:cs typeface="Nunito Semi-Bold"/>
                <a:sym typeface="Nunito Semi-Bold"/>
              </a:rPr>
              <a:t>context</a:t>
            </a:r>
          </a:p>
        </p:txBody>
      </p:sp>
      <p:sp>
        <p:nvSpPr>
          <p:cNvPr id="17" name="Rounded Rectangle 16"/>
          <p:cNvSpPr/>
          <p:nvPr/>
        </p:nvSpPr>
        <p:spPr>
          <a:xfrm>
            <a:off x="13407390" y="5055362"/>
            <a:ext cx="3851910" cy="1280160"/>
          </a:xfrm>
          <a:prstGeom prst="roundRect">
            <a:avLst>
              <a:gd name="adj" fmla="val 21428"/>
            </a:avLst>
          </a:prstGeom>
          <a:solidFill>
            <a:srgbClr val="F6ECDF"/>
          </a:solidFill>
          <a:ln>
            <a:noFill/>
          </a:ln>
        </p:spPr>
        <p:txBody>
          <a:bodyPr anchor="ctr" rtlCol="false" lIns="137160" tIns="91440" rIns="137160" bIns="91440" wrap="square"/>
          <a:lstStyle/>
          <a:p>
            <a:pPr algn="ctr">
              <a:lnSpc>
                <a:spcPts val="3300"/>
              </a:lnSpc>
              <a:spcBef>
                <a:spcPts val="0"/>
              </a:spcBef>
              <a:buNone/>
            </a:pPr>
            <a:r>
              <a:rPr lang="en-US" sz="3000" b="true">
                <a:solidFill>
                  <a:srgbClr val="DF8330"/>
                </a:solidFill>
                <a:latin typeface="Calibri"/>
                <a:ea typeface="Calibri"/>
                <a:cs typeface="Calibri"/>
                <a:sym typeface="Calibri"/>
              </a:rPr>
              <a:t>λ </a:t>
            </a:r>
            <a:r>
              <a:rPr lang="en-US" sz="3000" b="true">
                <a:solidFill>
                  <a:srgbClr val="DF8330"/>
                </a:solidFill>
                <a:latin typeface="Nunito Ultra-Bold"/>
                <a:ea typeface="Nunito Ultra-Bold"/>
                <a:cs typeface="Nunito Ultra-Bold"/>
                <a:sym typeface="Nunito Ultra-Bold"/>
              </a:rPr>
              <a:t>= 0.20</a:t>
            </a:r>
          </a:p>
          <a:p>
            <a:pPr algn="ctr">
              <a:lnSpc>
                <a:spcPts val="2000"/>
              </a:lnSpc>
              <a:spcBef>
                <a:spcPts val="400"/>
              </a:spcBef>
              <a:buNone/>
            </a:pPr>
            <a:r>
              <a:rPr lang="en-US" sz="1600" b="true">
                <a:solidFill>
                  <a:srgbClr val="111111"/>
                </a:solidFill>
                <a:latin typeface="Nunito Semi-Bold"/>
                <a:ea typeface="Nunito Semi-Bold"/>
                <a:cs typeface="Nunito Semi-Bold"/>
                <a:sym typeface="Nunito Semi-Bold"/>
              </a:rPr>
              <a:t>preference weighting </a:t>
            </a:r>
            <a:r>
              <a:rPr lang="en-US" sz="1600" b="true">
                <a:solidFill>
                  <a:srgbClr val="111111"/>
                </a:solidFill>
                <a:latin typeface="Calibri"/>
                <a:ea typeface="Calibri"/>
                <a:cs typeface="Calibri"/>
                <a:sym typeface="Calibri"/>
              </a:rPr>
              <a:t>λ</a:t>
            </a:r>
            <a:r>
              <a:rPr lang="en-US" sz="1600" b="true">
                <a:solidFill>
                  <a:srgbClr val="111111"/>
                </a:solidFill>
                <a:latin typeface="Nunito Semi-Bold"/>
                <a:ea typeface="Nunito Semi-Bold"/>
                <a:cs typeface="Nunito Semi-Bold"/>
                <a:sym typeface="Nunito Semi-Bold"/>
              </a:rPr>
              <a:t>_pref</a:t>
            </a:r>
          </a:p>
        </p:txBody>
      </p:sp>
      <p:sp>
        <p:nvSpPr>
          <p:cNvPr id="18" name="Rounded Rectangle 17"/>
          <p:cNvSpPr/>
          <p:nvPr/>
        </p:nvSpPr>
        <p:spPr>
          <a:xfrm>
            <a:off x="1028700" y="6975602"/>
            <a:ext cx="7932420" cy="2378710"/>
          </a:xfrm>
          <a:prstGeom prst="roundRect">
            <a:avLst>
              <a:gd name="adj" fmla="val 13069"/>
            </a:avLst>
          </a:prstGeom>
          <a:solidFill>
            <a:srgbClr val="F6ECDF"/>
          </a:solidFill>
          <a:ln>
            <a:noFill/>
          </a:ln>
        </p:spPr>
        <p:txBody>
          <a:bodyPr anchor="ctr" rtlCol="false" lIns="0" tIns="0" rIns="0" bIns="0" wrap="square"/>
          <a:lstStyle/>
          <a:p>
            <a:endParaRPr lang="en-US" sz="1800"/>
          </a:p>
        </p:txBody>
      </p:sp>
      <p:sp>
        <p:nvSpPr>
          <p:cNvPr id="19" name="Rounded Rectangle 18"/>
          <p:cNvSpPr/>
          <p:nvPr/>
        </p:nvSpPr>
        <p:spPr>
          <a:xfrm>
            <a:off x="1485900" y="6737858"/>
            <a:ext cx="343172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Alignment by design</a:t>
            </a:r>
          </a:p>
        </p:txBody>
      </p:sp>
      <p:sp>
        <p:nvSpPr>
          <p:cNvPr id="20" name="TextBox 19"/>
          <p:cNvSpPr txBox="1"/>
          <p:nvPr/>
        </p:nvSpPr>
        <p:spPr>
          <a:xfrm>
            <a:off x="1531620" y="7615682"/>
            <a:ext cx="6972300" cy="1464310"/>
          </a:xfrm>
          <a:prstGeom prst="rect">
            <a:avLst/>
          </a:prstGeom>
          <a:noFill/>
        </p:spPr>
        <p:txBody>
          <a:bodyPr anchor="t" rtlCol="false" lIns="0" tIns="0" rIns="0" bIns="0" wrap="square"/>
          <a:lstStyle/>
          <a:p>
            <a:pPr algn="l" marL="274320" indent="-274320">
              <a:lnSpc>
                <a:spcPts val="2439"/>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a:t>
            </a:r>
            <a:r>
              <a:rPr lang="en-US" sz="1820" b="true">
                <a:solidFill>
                  <a:srgbClr val="111111"/>
                </a:solidFill>
                <a:latin typeface="Nunito Bold"/>
                <a:ea typeface="Nunito Bold"/>
                <a:cs typeface="Nunito Bold"/>
                <a:sym typeface="Nunito Bold"/>
              </a:rPr>
              <a:t>same trade-off</a:t>
            </a:r>
            <a:r>
              <a:rPr lang="en-US" sz="1820" b="true">
                <a:solidFill>
                  <a:srgbClr val="111111"/>
                </a:solidFill>
                <a:latin typeface="Nunito Semi-Bold"/>
                <a:ea typeface="Nunito Semi-Bold"/>
                <a:cs typeface="Nunito Semi-Bold"/>
                <a:sym typeface="Nunito Semi-Bold"/>
              </a:rPr>
              <a:t> the recommender must satisfy is the one from which attribution is computed.</a:t>
            </a:r>
          </a:p>
          <a:p>
            <a:pPr algn="l" marL="274320" indent="-274320">
              <a:lnSpc>
                <a:spcPts val="2439"/>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Explanatory game and predictive objective are </a:t>
            </a:r>
            <a:r>
              <a:rPr lang="en-US" sz="1820" b="true">
                <a:solidFill>
                  <a:srgbClr val="111111"/>
                </a:solidFill>
                <a:latin typeface="Nunito Bold"/>
                <a:ea typeface="Nunito Bold"/>
                <a:cs typeface="Nunito Bold"/>
                <a:sym typeface="Nunito Bold"/>
              </a:rPr>
              <a:t>aligned by design</a:t>
            </a:r>
            <a:r>
              <a:rPr lang="en-US" sz="1820" b="true">
                <a:solidFill>
                  <a:srgbClr val="111111"/>
                </a:solidFill>
                <a:latin typeface="Nunito Semi-Bold"/>
                <a:ea typeface="Nunito Semi-Bold"/>
                <a:cs typeface="Nunito Semi-Bold"/>
                <a:sym typeface="Nunito Semi-Bold"/>
              </a:rPr>
              <a:t>.</a:t>
            </a:r>
          </a:p>
        </p:txBody>
      </p:sp>
      <p:sp>
        <p:nvSpPr>
          <p:cNvPr id="21" name="Rounded Rectangle 20"/>
          <p:cNvSpPr/>
          <p:nvPr/>
        </p:nvSpPr>
        <p:spPr>
          <a:xfrm>
            <a:off x="9326880" y="6975602"/>
            <a:ext cx="7932420" cy="2378710"/>
          </a:xfrm>
          <a:prstGeom prst="roundRect">
            <a:avLst>
              <a:gd name="adj" fmla="val 13069"/>
            </a:avLst>
          </a:prstGeom>
          <a:solidFill>
            <a:srgbClr val="124944"/>
          </a:solidFill>
          <a:ln>
            <a:noFill/>
          </a:ln>
        </p:spPr>
        <p:txBody>
          <a:bodyPr anchor="ctr" rtlCol="false" lIns="0" tIns="0" rIns="0" bIns="0" wrap="square"/>
          <a:lstStyle/>
          <a:p>
            <a:endParaRPr lang="en-US" sz="1800"/>
          </a:p>
        </p:txBody>
      </p:sp>
      <p:sp>
        <p:nvSpPr>
          <p:cNvPr id="22" name="Rounded Rectangle 21"/>
          <p:cNvSpPr/>
          <p:nvPr/>
        </p:nvSpPr>
        <p:spPr>
          <a:xfrm>
            <a:off x="9784080" y="6737858"/>
            <a:ext cx="272320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Tuning &amp; scope</a:t>
            </a:r>
          </a:p>
        </p:txBody>
      </p:sp>
      <p:sp>
        <p:nvSpPr>
          <p:cNvPr id="23" name="TextBox 22"/>
          <p:cNvSpPr txBox="1"/>
          <p:nvPr/>
        </p:nvSpPr>
        <p:spPr>
          <a:xfrm>
            <a:off x="9829800" y="7615682"/>
            <a:ext cx="6972300" cy="1464310"/>
          </a:xfrm>
          <a:prstGeom prst="rect">
            <a:avLst/>
          </a:prstGeom>
          <a:noFill/>
        </p:spPr>
        <p:txBody>
          <a:bodyPr anchor="t" rtlCol="false" lIns="0" tIns="0" rIns="0" bIns="0" wrap="square"/>
          <a:lstStyle/>
          <a:p>
            <a:pPr algn="l" marL="274320" indent="-274320">
              <a:lnSpc>
                <a:spcPts val="2439"/>
              </a:lnSpc>
              <a:spcBef>
                <a:spcPts val="0"/>
              </a:spcBef>
              <a:buClr>
                <a:srgbClr val="ECC665"/>
              </a:buClr>
              <a:buSzPct val="100000"/>
              <a:buFont typeface="Arial"/>
              <a:buChar char="•"/>
            </a:pPr>
            <a:r>
              <a:rPr lang="en-US" sz="1820" b="true">
                <a:solidFill>
                  <a:srgbClr val="FFFFFF"/>
                </a:solidFill>
                <a:latin typeface="Nunito Semi-Bold"/>
                <a:ea typeface="Nunito Semi-Bold"/>
                <a:cs typeface="Nunito Semi-Bold"/>
                <a:sym typeface="Nunito Semi-Bold"/>
              </a:rPr>
              <a:t>Weights </a:t>
            </a:r>
            <a:r>
              <a:rPr lang="en-US" sz="1820" b="true">
                <a:solidFill>
                  <a:srgbClr val="FFFFFF"/>
                </a:solidFill>
                <a:latin typeface="Nunito Bold"/>
                <a:ea typeface="Nunito Bold"/>
                <a:cs typeface="Nunito Bold"/>
                <a:sym typeface="Nunito Bold"/>
              </a:rPr>
              <a:t>grid-searched</a:t>
            </a:r>
            <a:r>
              <a:rPr lang="en-US" sz="1820" b="true">
                <a:solidFill>
                  <a:srgbClr val="FFFFFF"/>
                </a:solidFill>
                <a:latin typeface="Nunito Semi-Bold"/>
                <a:ea typeface="Nunito Semi-Bold"/>
                <a:cs typeface="Nunito Semi-Bold"/>
                <a:sym typeface="Nunito Semi-Bold"/>
              </a:rPr>
              <a:t>; stable — </a:t>
            </a:r>
            <a:r>
              <a:rPr lang="en-US" sz="1820" b="true">
                <a:solidFill>
                  <a:srgbClr val="FFFFFF"/>
                </a:solidFill>
                <a:latin typeface="Nunito Bold"/>
                <a:ea typeface="Nunito Bold"/>
                <a:cs typeface="Nunito Bold"/>
                <a:sym typeface="Nunito Bold"/>
              </a:rPr>
              <a:t>&lt; 1.5 % variance</a:t>
            </a:r>
            <a:r>
              <a:rPr lang="en-US" sz="1820" b="true">
                <a:solidFill>
                  <a:srgbClr val="FFFFFF"/>
                </a:solidFill>
                <a:latin typeface="Nunito Semi-Bold"/>
                <a:ea typeface="Nunito Semi-Bold"/>
                <a:cs typeface="Nunito Semi-Bold"/>
                <a:sym typeface="Nunito Semi-Bold"/>
              </a:rPr>
              <a:t> in NDCG@20 around the optimum.</a:t>
            </a:r>
          </a:p>
          <a:p>
            <a:pPr algn="l" marL="274320" indent="-274320">
              <a:lnSpc>
                <a:spcPts val="2439"/>
              </a:lnSpc>
              <a:spcBef>
                <a:spcPts val="910"/>
              </a:spcBef>
              <a:buClr>
                <a:srgbClr val="ECC665"/>
              </a:buClr>
              <a:buSzPct val="100000"/>
              <a:buFont typeface="Arial"/>
              <a:buChar char="•"/>
            </a:pPr>
            <a:r>
              <a:rPr lang="en-US" sz="1820" b="true">
                <a:solidFill>
                  <a:srgbClr val="FFFFFF"/>
                </a:solidFill>
                <a:latin typeface="Nunito Semi-Bold"/>
                <a:ea typeface="Nunito Semi-Bold"/>
                <a:cs typeface="Nunito Semi-Bold"/>
                <a:sym typeface="Nunito Semi-Bold"/>
              </a:rPr>
              <a:t>Coalition evaluation scoped to the </a:t>
            </a:r>
            <a:r>
              <a:rPr lang="en-US" sz="1820" b="true">
                <a:solidFill>
                  <a:srgbClr val="FFFFFF"/>
                </a:solidFill>
                <a:latin typeface="Nunito Bold"/>
                <a:ea typeface="Nunito Bold"/>
                <a:cs typeface="Nunito Bold"/>
                <a:sym typeface="Nunito Bold"/>
              </a:rPr>
              <a:t>interaction episode</a:t>
            </a:r>
            <a:r>
              <a:rPr lang="en-US" sz="1820" b="true">
                <a:solidFill>
                  <a:srgbClr val="FFFFFF"/>
                </a:solidFill>
                <a:latin typeface="Nunito Semi-Bold"/>
                <a:ea typeface="Nunito Semi-Bold"/>
                <a:cs typeface="Nunito Semi-Bold"/>
                <a:sym typeface="Nunito Semi-Bold"/>
              </a:rPr>
              <a:t> (a few dozen players), not the full catalogue.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8" name="Picture 7" descr="image.png"/>
          <p:cNvPicPr>
            <a:picLocks noChangeAspect="1"/>
          </p:cNvPicPr>
          <p:nvPr/>
        </p:nvPicPr>
        <p:blipFill>
          <a:blip r:embed="rId2"/>
          <a:stretch>
            <a:fillRect/>
          </a:stretch>
        </p:blipFill>
        <p:spPr>
          <a:xfrm>
            <a:off x="11509517"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TextBox 12"/>
          <p:cNvSpPr txBox="1"/>
          <p:nvPr/>
        </p:nvSpPr>
        <p:spPr>
          <a:xfrm>
            <a:off x="1028700" y="3363722"/>
            <a:ext cx="8595360" cy="594487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infeasible</a:t>
            </a:r>
            <a:r>
              <a:rPr lang="en-US" sz="2100" b="true">
                <a:solidFill>
                  <a:srgbClr val="111111"/>
                </a:solidFill>
                <a:latin typeface="Nunito Semi-Bold"/>
                <a:ea typeface="Nunito Semi-Bold"/>
                <a:cs typeface="Nunito Semi-Bold"/>
                <a:sym typeface="Nunito Semi-Bold"/>
              </a:rPr>
              <a:t> for realistic systems.</a:t>
            </a:r>
          </a:p>
          <a:p>
            <a:pPr algn="ctr">
              <a:lnSpc>
                <a:spcPts val="3200"/>
              </a:lnSpc>
              <a:spcBef>
                <a:spcPts val="1600"/>
              </a:spcBef>
              <a:buNone/>
            </a:pPr>
            <a:r>
              <a:rPr lang="en-US" sz="2500" b="true">
                <a:solidFill>
                  <a:srgbClr val="124944"/>
                </a:solidFill>
                <a:latin typeface="Cambria Math"/>
                <a:ea typeface="Cambria Math"/>
                <a:cs typeface="Cambria Math"/>
                <a:sym typeface="Cambria Math"/>
              </a:rPr>
              <a:t>φ̂</a:t>
            </a:r>
            <a:r>
              <a:rPr lang="en-US" sz="2500" b="true" baseline="-25000">
                <a:solidFill>
                  <a:srgbClr val="124944"/>
                </a:solidFill>
                <a:latin typeface="Nunito Bold"/>
                <a:ea typeface="Nunito Bold"/>
                <a:cs typeface="Nunito Bold"/>
                <a:sym typeface="Nunito Bold"/>
              </a:rPr>
              <a:t>j</a:t>
            </a:r>
            <a:r>
              <a:rPr lang="en-US" sz="2500" b="true">
                <a:solidFill>
                  <a:srgbClr val="124944"/>
                </a:solidFill>
                <a:latin typeface="Nunito Bold"/>
                <a:ea typeface="Nunito Bold"/>
                <a:cs typeface="Nunito Bold"/>
                <a:sym typeface="Nunito Bold"/>
              </a:rPr>
              <a:t> = (1/M) Σ</a:t>
            </a:r>
            <a:r>
              <a:rPr lang="en-US" sz="2500" b="true" baseline="-25000">
                <a:solidFill>
                  <a:srgbClr val="124944"/>
                </a:solidFill>
                <a:latin typeface="Nunito Bold"/>
                <a:ea typeface="Nunito Bold"/>
                <a:cs typeface="Nunito Bold"/>
                <a:sym typeface="Nunito Bold"/>
              </a:rPr>
              <a:t>m</a:t>
            </a:r>
            <a:r>
              <a:rPr lang="en-US" sz="2500" b="true">
                <a:solidFill>
                  <a:srgbClr val="124944"/>
                </a:solidFill>
                <a:latin typeface="Nunito Bold"/>
                <a:ea typeface="Nunito Bold"/>
                <a:cs typeface="Nunito Bold"/>
                <a:sym typeface="Nunito Bold"/>
              </a:rPr>
              <a:t> [ v(S</a:t>
            </a:r>
            <a:r>
              <a:rPr lang="en-US" sz="2500" b="true" baseline="-25000">
                <a:solidFill>
                  <a:srgbClr val="124944"/>
                </a:solidFill>
                <a:latin typeface="Nunito Bold"/>
                <a:ea typeface="Nunito Bold"/>
                <a:cs typeface="Nunito Bold"/>
                <a:sym typeface="Nunito Bold"/>
              </a:rPr>
              <a:t>m</a:t>
            </a:r>
            <a:r>
              <a:rPr lang="en-US" sz="2500" b="true">
                <a:solidFill>
                  <a:srgbClr val="124944"/>
                </a:solidFill>
                <a:latin typeface="Cambria Math"/>
                <a:ea typeface="Cambria Math"/>
                <a:cs typeface="Cambria Math"/>
                <a:sym typeface="Cambria Math"/>
              </a:rPr>
              <a:t> ∪ </a:t>
            </a:r>
            <a:r>
              <a:rPr lang="en-US" sz="2500" b="true">
                <a:solidFill>
                  <a:srgbClr val="124944"/>
                </a:solidFill>
                <a:latin typeface="Nunito Bold"/>
                <a:ea typeface="Nunito Bold"/>
                <a:cs typeface="Nunito Bold"/>
                <a:sym typeface="Nunito Bold"/>
              </a:rPr>
              <a:t>{j}) − v(S</a:t>
            </a:r>
            <a:r>
              <a:rPr lang="en-US" sz="2500" b="true" baseline="-25000">
                <a:solidFill>
                  <a:srgbClr val="124944"/>
                </a:solidFill>
                <a:latin typeface="Nunito Bold"/>
                <a:ea typeface="Nunito Bold"/>
                <a:cs typeface="Nunito Bold"/>
                <a:sym typeface="Nunito Bold"/>
              </a:rPr>
              <a:t>m</a:t>
            </a:r>
            <a:r>
              <a:rPr lang="en-US" sz="2500" b="true">
                <a:solidFill>
                  <a:srgbClr val="124944"/>
                </a:solidFill>
                <a:latin typeface="Nunito Bold"/>
                <a:ea typeface="Nunito Bold"/>
                <a:cs typeface="Nunito Bold"/>
                <a:sym typeface="Nunito Bold"/>
              </a:rPr>
              <a:t>) ]</a:t>
            </a:r>
          </a:p>
          <a:p>
            <a:pPr algn="ctr">
              <a:lnSpc>
                <a:spcPts val="3200"/>
              </a:lnSpc>
              <a:spcBef>
                <a:spcPts val="800"/>
              </a:spcBef>
              <a:buNone/>
            </a:pPr>
            <a:r>
              <a:rPr lang="en-US" sz="2500" b="true">
                <a:solidFill>
                  <a:srgbClr val="DF8330"/>
                </a:solidFill>
                <a:latin typeface="Cambria Math"/>
                <a:ea typeface="Cambria Math"/>
                <a:cs typeface="Cambria Math"/>
                <a:sym typeface="Cambria Math"/>
              </a:rPr>
              <a:t>φ̂</a:t>
            </a:r>
            <a:r>
              <a:rPr lang="en-US" sz="2500" b="true" baseline="-25000">
                <a:solidFill>
                  <a:srgbClr val="DF8330"/>
                </a:solidFill>
                <a:latin typeface="Nunito Bold"/>
                <a:ea typeface="Nunito Bold"/>
                <a:cs typeface="Nunito Bold"/>
                <a:sym typeface="Nunito Bold"/>
              </a:rPr>
              <a:t>j</a:t>
            </a:r>
            <a:r>
              <a:rPr lang="en-US" sz="2500" b="true" baseline="30000">
                <a:solidFill>
                  <a:srgbClr val="DF8330"/>
                </a:solidFill>
                <a:latin typeface="Nunito Bold"/>
                <a:ea typeface="Nunito Bold"/>
                <a:cs typeface="Nunito Bold"/>
                <a:sym typeface="Nunito Bold"/>
              </a:rPr>
              <a:t>pref</a:t>
            </a:r>
            <a:r>
              <a:rPr lang="en-US" sz="2500" b="true">
                <a:solidFill>
                  <a:srgbClr val="DF8330"/>
                </a:solidFill>
                <a:latin typeface="Nunito Bold"/>
                <a:ea typeface="Nunito Bold"/>
                <a:cs typeface="Nunito Bold"/>
                <a:sym typeface="Nunito Bold"/>
              </a:rPr>
              <a:t> = (1/M) Σ</a:t>
            </a:r>
            <a:r>
              <a:rPr lang="en-US" sz="2500" b="true" baseline="-25000">
                <a:solidFill>
                  <a:srgbClr val="DF8330"/>
                </a:solidFill>
                <a:latin typeface="Nunito Bold"/>
                <a:ea typeface="Nunito Bold"/>
                <a:cs typeface="Nunito Bold"/>
                <a:sym typeface="Nunito Bold"/>
              </a:rPr>
              <a:t>m</a:t>
            </a:r>
            <a:r>
              <a:rPr lang="en-US" sz="2500" b="true">
                <a:solidFill>
                  <a:srgbClr val="DF8330"/>
                </a:solidFill>
                <a:latin typeface="Nunito Bold"/>
                <a:ea typeface="Nunito Bold"/>
                <a:cs typeface="Nunito Bold"/>
                <a:sym typeface="Nunito Bold"/>
              </a:rPr>
              <a:t> [ v</a:t>
            </a:r>
            <a:r>
              <a:rPr lang="en-US" sz="2500" b="true" baseline="-25000">
                <a:solidFill>
                  <a:srgbClr val="DF8330"/>
                </a:solidFill>
                <a:latin typeface="Nunito Bold"/>
                <a:ea typeface="Nunito Bold"/>
                <a:cs typeface="Nunito Bold"/>
                <a:sym typeface="Nunito Bold"/>
              </a:rPr>
              <a:t>pref</a:t>
            </a:r>
            <a:r>
              <a:rPr lang="en-US" sz="2500" b="true">
                <a:solidFill>
                  <a:srgbClr val="DF8330"/>
                </a:solidFill>
                <a:latin typeface="Nunito Bold"/>
                <a:ea typeface="Nunito Bold"/>
                <a:cs typeface="Nunito Bold"/>
                <a:sym typeface="Nunito Bold"/>
              </a:rPr>
              <a:t>(S</a:t>
            </a:r>
            <a:r>
              <a:rPr lang="en-US" sz="2500" b="true" baseline="-25000">
                <a:solidFill>
                  <a:srgbClr val="DF8330"/>
                </a:solidFill>
                <a:latin typeface="Nunito Bold"/>
                <a:ea typeface="Nunito Bold"/>
                <a:cs typeface="Nunito Bold"/>
                <a:sym typeface="Nunito Bold"/>
              </a:rPr>
              <a:t>m</a:t>
            </a:r>
            <a:r>
              <a:rPr lang="en-US" sz="2500" b="true">
                <a:solidFill>
                  <a:srgbClr val="DF8330"/>
                </a:solidFill>
                <a:latin typeface="Cambria Math"/>
                <a:ea typeface="Cambria Math"/>
                <a:cs typeface="Cambria Math"/>
                <a:sym typeface="Cambria Math"/>
              </a:rPr>
              <a:t> ∪ </a:t>
            </a:r>
            <a:r>
              <a:rPr lang="en-US" sz="2500" b="true">
                <a:solidFill>
                  <a:srgbClr val="DF8330"/>
                </a:solidFill>
                <a:latin typeface="Nunito Bold"/>
                <a:ea typeface="Nunito Bold"/>
                <a:cs typeface="Nunito Bold"/>
                <a:sym typeface="Nunito Bold"/>
              </a:rPr>
              <a:t>{j}) − v</a:t>
            </a:r>
            <a:r>
              <a:rPr lang="en-US" sz="2500" b="true" baseline="-25000">
                <a:solidFill>
                  <a:srgbClr val="DF8330"/>
                </a:solidFill>
                <a:latin typeface="Nunito Bold"/>
                <a:ea typeface="Nunito Bold"/>
                <a:cs typeface="Nunito Bold"/>
                <a:sym typeface="Nunito Bold"/>
              </a:rPr>
              <a:t>pref</a:t>
            </a:r>
            <a:r>
              <a:rPr lang="en-US" sz="2500" b="true">
                <a:solidFill>
                  <a:srgbClr val="DF8330"/>
                </a:solidFill>
                <a:latin typeface="Nunito Bold"/>
                <a:ea typeface="Nunito Bold"/>
                <a:cs typeface="Nunito Bold"/>
                <a:sym typeface="Nunito Bold"/>
              </a:rPr>
              <a:t>(S</a:t>
            </a:r>
            <a:r>
              <a:rPr lang="en-US" sz="2500" b="true" baseline="-25000">
                <a:solidFill>
                  <a:srgbClr val="DF8330"/>
                </a:solidFill>
                <a:latin typeface="Nunito Bold"/>
                <a:ea typeface="Nunito Bold"/>
                <a:cs typeface="Nunito Bold"/>
                <a:sym typeface="Nunito Bold"/>
              </a:rPr>
              <a:t>m</a:t>
            </a:r>
            <a:r>
              <a:rPr lang="en-US" sz="2500" b="true">
                <a:solidFill>
                  <a:srgbClr val="DF8330"/>
                </a:solidFill>
                <a:latin typeface="Nunito Bold"/>
                <a:ea typeface="Nunito Bold"/>
                <a:cs typeface="Nunito Bold"/>
                <a:sym typeface="Nunito Bold"/>
              </a:rPr>
              <a:t>) ]</a:t>
            </a:r>
          </a:p>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Unbiased</a:t>
            </a:r>
            <a:r>
              <a:rPr lang="en-US" sz="2100" b="true">
                <a:solidFill>
                  <a:srgbClr val="111111"/>
                </a:solidFill>
                <a:latin typeface="Nunito Semi-Bold"/>
                <a:ea typeface="Nunito Semi-Bold"/>
                <a:cs typeface="Nunito Semi-Bold"/>
                <a:sym typeface="Nunito Semi-Bold"/>
              </a:rPr>
              <a:t>; variance = </a:t>
            </a:r>
            <a:r>
              <a:rPr lang="en-US" sz="2100" b="true">
                <a:solidFill>
                  <a:srgbClr val="111111"/>
                </a:solidFill>
                <a:latin typeface="Calibri"/>
                <a:ea typeface="Calibri"/>
                <a:cs typeface="Calibri"/>
                <a:sym typeface="Calibri"/>
              </a:rPr>
              <a:t>σ</a:t>
            </a:r>
            <a:r>
              <a:rPr lang="en-US" sz="2100" b="true">
                <a:solidFill>
                  <a:srgbClr val="111111"/>
                </a:solidFill>
                <a:latin typeface="Nunito Semi-Bold"/>
                <a:ea typeface="Nunito Semi-Bold"/>
                <a:cs typeface="Nunito Semi-Bold"/>
                <a:sym typeface="Nunito Semi-Bold"/>
              </a:rPr>
              <a:t>²/M </a:t>
            </a:r>
            <a:r>
              <a:rPr lang="en-US" sz="2100" b="true">
                <a:solidFill>
                  <a:srgbClr val="111111"/>
                </a:solidFill>
                <a:latin typeface="Calibri"/>
                <a:ea typeface="Calibri"/>
                <a:cs typeface="Calibri"/>
                <a:sym typeface="Calibri"/>
              </a:rPr>
              <a:t>→ </a:t>
            </a:r>
            <a:r>
              <a:rPr lang="en-US" sz="2100" b="true">
                <a:solidFill>
                  <a:srgbClr val="111111"/>
                </a:solidFill>
                <a:latin typeface="Nunito Semi-Bold"/>
                <a:ea typeface="Nunito Semi-Bold"/>
                <a:cs typeface="Nunito Semi-Bold"/>
                <a:sym typeface="Nunito Semi-Bold"/>
              </a:rPr>
              <a:t>MSE decays </a:t>
            </a:r>
            <a:r>
              <a:rPr lang="en-US" sz="2100" b="true">
                <a:solidFill>
                  <a:srgbClr val="111111"/>
                </a:solidFill>
                <a:latin typeface="Nunito Bold"/>
                <a:ea typeface="Nunito Bold"/>
                <a:cs typeface="Nunito Bold"/>
                <a:sym typeface="Nunito Bold"/>
              </a:rPr>
              <a:t>O(1/M)</a:t>
            </a:r>
            <a:r>
              <a:rPr lang="en-US" sz="2100" b="true">
                <a:solidFill>
                  <a:srgbClr val="111111"/>
                </a:solidFill>
                <a:latin typeface="Nunito Semi-Bold"/>
                <a:ea typeface="Nunito Semi-Bold"/>
                <a:cs typeface="Nunito Semi-Bold"/>
                <a:sym typeface="Nunito Semi-Bold"/>
              </a:rPr>
              <a:t>, absolute error </a:t>
            </a:r>
            <a:r>
              <a:rPr lang="en-US" sz="2100" b="true">
                <a:solidFill>
                  <a:srgbClr val="111111"/>
                </a:solidFill>
                <a:latin typeface="Nunito Bold"/>
                <a:ea typeface="Nunito Bold"/>
                <a:cs typeface="Nunito Bold"/>
                <a:sym typeface="Nunito Bold"/>
              </a:rPr>
              <a:t>O(1/√M)</a:t>
            </a:r>
            <a:r>
              <a:rPr lang="en-US" sz="2100" b="true">
                <a:solidFill>
                  <a:srgbClr val="111111"/>
                </a:solidFill>
                <a:latin typeface="Nunito Semi-Bold"/>
                <a:ea typeface="Nunito Semi-Bold"/>
                <a:cs typeface="Nunito Semi-Bold"/>
                <a:sym typeface="Nunito Semi-Bold"/>
              </a:rPr>
              <a:t>.</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 = 50 selected:</a:t>
            </a:r>
            <a:r>
              <a:rPr lang="en-US" sz="2100" b="true">
                <a:solidFill>
                  <a:srgbClr val="111111"/>
                </a:solidFill>
                <a:latin typeface="Nunito Semi-Bold"/>
                <a:ea typeface="Nunito Semi-Bold"/>
                <a:cs typeface="Nunito Semi-Bold"/>
                <a:sym typeface="Nunito Semi-Bold"/>
              </a:rPr>
              <a:t> MSE ≈ 1.4×10</a:t>
            </a:r>
            <a:r>
              <a:rPr lang="en-US" sz="2100" b="true" baseline="30000">
                <a:solidFill>
                  <a:srgbClr val="111111"/>
                </a:solidFill>
                <a:latin typeface="Nunito Semi-Bold"/>
                <a:ea typeface="Nunito Semi-Bold"/>
                <a:cs typeface="Nunito Semi-Bold"/>
                <a:sym typeface="Nunito Semi-Bold"/>
              </a:rPr>
              <a:t>−5</a:t>
            </a:r>
            <a:r>
              <a:rPr lang="en-US" sz="2100" b="true">
                <a:solidFill>
                  <a:srgbClr val="111111"/>
                </a:solidFill>
                <a:latin typeface="Nunito Semi-Bold"/>
                <a:ea typeface="Nunito Semi-Bold"/>
                <a:cs typeface="Nunito Semi-Bold"/>
                <a:sym typeface="Nunito Semi-Bold"/>
              </a:rPr>
              <a:t>, ≈ 99 % accuracy on MovieLens-1M; M = 100 </a:t>
            </a:r>
            <a:r>
              <a:rPr lang="en-US" sz="2100" b="true">
                <a:solidFill>
                  <a:srgbClr val="111111"/>
                </a:solidFill>
                <a:latin typeface="Calibri"/>
                <a:ea typeface="Calibri"/>
                <a:cs typeface="Calibri"/>
                <a:sym typeface="Calibri"/>
              </a:rPr>
              <a:t>→ </a:t>
            </a:r>
            <a:r>
              <a:rPr lang="en-US" sz="2100" b="true">
                <a:solidFill>
                  <a:srgbClr val="111111"/>
                </a:solidFill>
                <a:latin typeface="Nunito Semi-Bold"/>
                <a:ea typeface="Nunito Semi-Bold"/>
                <a:cs typeface="Nunito Semi-Bold"/>
                <a:sym typeface="Nunito Semi-Bold"/>
              </a:rPr>
              <a:t>MSE 3.5×10</a:t>
            </a:r>
            <a:r>
              <a:rPr lang="en-US" sz="2100" b="true" baseline="30000">
                <a:solidFill>
                  <a:srgbClr val="111111"/>
                </a:solidFill>
                <a:latin typeface="Nunito Semi-Bold"/>
                <a:ea typeface="Nunito Semi-Bold"/>
                <a:cs typeface="Nunito Semi-Bold"/>
                <a:sym typeface="Nunito Semi-Bold"/>
              </a:rPr>
              <a:t>−6</a:t>
            </a:r>
            <a:r>
              <a:rPr lang="en-US" sz="2100" b="true">
                <a:solidFill>
                  <a:srgbClr val="111111"/>
                </a:solidFill>
                <a:latin typeface="Nunito Semi-Bold"/>
                <a:ea typeface="Nunito Semi-Bold"/>
                <a:cs typeface="Nunito Semi-Bold"/>
                <a:sym typeface="Nunito Semi-Bold"/>
              </a:rPr>
              <a:t> (diminishing returns).</a:t>
            </a:r>
          </a:p>
          <a:p>
            <a:pPr algn="l" marL="274320" indent="-274320">
              <a:lnSpc>
                <a:spcPts val="2814"/>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Refreshed </a:t>
            </a:r>
            <a:r>
              <a:rPr lang="en-US" sz="2100" b="true">
                <a:solidFill>
                  <a:srgbClr val="111111"/>
                </a:solidFill>
                <a:latin typeface="Nunito Bold"/>
                <a:ea typeface="Nunito Bold"/>
                <a:cs typeface="Nunito Bold"/>
                <a:sym typeface="Nunito Bold"/>
              </a:rPr>
              <a:t>every 10 batches</a:t>
            </a:r>
            <a:r>
              <a:rPr lang="en-US" sz="2100" b="true">
                <a:solidFill>
                  <a:srgbClr val="111111"/>
                </a:solidFill>
                <a:latin typeface="Nunito Semi-Bold"/>
                <a:ea typeface="Nunito Semi-Bold"/>
                <a:cs typeface="Nunito Semi-Bold"/>
                <a:sym typeface="Nunito Semi-Bold"/>
              </a:rPr>
              <a:t> (≈ 49 updates / epoch), smoothed by an </a:t>
            </a:r>
            <a:r>
              <a:rPr lang="en-US" sz="2100" b="true">
                <a:solidFill>
                  <a:srgbClr val="111111"/>
                </a:solidFill>
                <a:latin typeface="Nunito Bold"/>
                <a:ea typeface="Nunito Bold"/>
                <a:cs typeface="Nunito Bold"/>
                <a:sym typeface="Nunito Bold"/>
              </a:rPr>
              <a:t>exponential moving average</a:t>
            </a:r>
            <a:r>
              <a:rPr lang="en-US" sz="2100" b="true">
                <a:solidFill>
                  <a:srgbClr val="111111"/>
                </a:solidFill>
                <a:latin typeface="Nunito Semi-Bold"/>
                <a:ea typeface="Nunito Semi-Bold"/>
                <a:cs typeface="Nunito Semi-Bold"/>
                <a:sym typeface="Nunito Semi-Bold"/>
              </a:rPr>
              <a:t>.</a:t>
            </a:r>
          </a:p>
        </p:txBody>
      </p:sp>
      <p:graphicFrame>
        <p:nvGraphicFramePr>
          <p:cNvPr id="14" name="Table 13"/>
          <p:cNvGraphicFramePr>
            <a:graphicFrameLocks noGrp="1"/>
          </p:cNvGraphicFramePr>
          <p:nvPr/>
        </p:nvGraphicFramePr>
        <p:xfrm>
          <a:off x="10172700" y="3363722"/>
          <a:ext cx="7086598" cy="263347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65836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5836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5836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5836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172700" y="607034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illustrate the O(1/M) trend.</a:t>
            </a:r>
          </a:p>
        </p:txBody>
      </p:sp>
      <p:sp>
        <p:nvSpPr>
          <p:cNvPr id="16" name="Rounded Rectangle 15"/>
          <p:cNvSpPr/>
          <p:nvPr/>
        </p:nvSpPr>
        <p:spPr>
          <a:xfrm>
            <a:off x="10172700" y="6865874"/>
            <a:ext cx="7086600" cy="2442718"/>
          </a:xfrm>
          <a:prstGeom prst="roundRect">
            <a:avLst>
              <a:gd name="adj" fmla="val 12727"/>
            </a:avLst>
          </a:prstGeom>
          <a:solidFill>
            <a:srgbClr val="124944"/>
          </a:solidFill>
          <a:ln>
            <a:noFill/>
          </a:ln>
        </p:spPr>
        <p:txBody>
          <a:bodyPr anchor="ctr" rtlCol="false" lIns="0" tIns="0" rIns="0" bIns="0" wrap="square"/>
          <a:lstStyle/>
          <a:p>
            <a:endParaRPr lang="en-US" sz="1800"/>
          </a:p>
        </p:txBody>
      </p:sp>
      <p:sp>
        <p:nvSpPr>
          <p:cNvPr id="17" name="Rounded Rectangle 16"/>
          <p:cNvSpPr/>
          <p:nvPr/>
        </p:nvSpPr>
        <p:spPr>
          <a:xfrm>
            <a:off x="10629900" y="662813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18" name="TextBox 17"/>
          <p:cNvSpPr txBox="1"/>
          <p:nvPr/>
        </p:nvSpPr>
        <p:spPr>
          <a:xfrm>
            <a:off x="10629900" y="7505954"/>
            <a:ext cx="6217920" cy="1528318"/>
          </a:xfrm>
          <a:prstGeom prst="rect">
            <a:avLst/>
          </a:prstGeom>
          <a:noFill/>
        </p:spPr>
        <p:txBody>
          <a:bodyPr anchor="t" rtlCol="false" lIns="0" tIns="0" rIns="0" bIns="0" wrap="square"/>
          <a:lstStyle/>
          <a:p>
            <a:pPr algn="l" marL="274320" indent="-274320">
              <a:lnSpc>
                <a:spcPts val="2267"/>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players in the episode.</a:t>
            </a:r>
          </a:p>
          <a:p>
            <a:pPr algn="l" marL="274320" indent="-274320">
              <a:lnSpc>
                <a:spcPts val="2267"/>
              </a:lnSpc>
              <a:spcBef>
                <a:spcPts val="752"/>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267"/>
              </a:lnSpc>
              <a:spcBef>
                <a:spcPts val="752"/>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 </a:t>
            </a:r>
            <a:r>
              <a:rPr lang="en-US" sz="1692" b="true">
                <a:solidFill>
                  <a:srgbClr val="FFFFFF"/>
                </a:solidFill>
                <a:latin typeface="Nunito Bold"/>
                <a:ea typeface="Nunito Bold"/>
                <a:cs typeface="Nunito Bold"/>
                <a:sym typeface="Nunito Bold"/>
              </a:rPr>
              <a:t>O((L+1)md) + O((M/f)m)</a:t>
            </a:r>
            <a:r>
              <a:rPr lang="en-US" sz="1692"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8" name="Picture 7" descr="image.png"/>
          <p:cNvPicPr>
            <a:picLocks noChangeAspect="1"/>
          </p:cNvPicPr>
          <p:nvPr/>
        </p:nvPicPr>
        <p:blipFill>
          <a:blip r:embed="rId2"/>
          <a:stretch>
            <a:fillRect/>
          </a:stretch>
        </p:blipFill>
        <p:spPr>
          <a:xfrm>
            <a:off x="13838915"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16230600" cy="2606040"/>
          </a:xfrm>
          <a:prstGeom prst="roundRect">
            <a:avLst>
              <a:gd name="adj" fmla="val 8771"/>
            </a:avLst>
          </a:prstGeom>
          <a:solidFill>
            <a:srgbClr val="FFFFFF"/>
          </a:solidFill>
          <a:ln w="15875">
            <a:solidFill>
              <a:srgbClr val="E3D6C4"/>
            </a:solidFill>
          </a:ln>
        </p:spPr>
        <p:txBody>
          <a:bodyPr anchor="ctr" rtlCol="false" lIns="0" tIns="0" rIns="0" bIns="0" wrap="square"/>
          <a:lstStyle/>
          <a:p>
            <a:endParaRPr lang="en-US" sz="1800"/>
          </a:p>
        </p:txBody>
      </p:sp>
      <p:pic>
        <p:nvPicPr>
          <p:cNvPr id="14" name="Picture 13" descr="dyhucog_arch.png"/>
          <p:cNvPicPr>
            <a:picLocks noChangeAspect="1"/>
          </p:cNvPicPr>
          <p:nvPr/>
        </p:nvPicPr>
        <p:blipFill>
          <a:blip r:embed="rId4"/>
          <a:stretch>
            <a:fillRect/>
          </a:stretch>
        </p:blipFill>
        <p:spPr>
          <a:xfrm>
            <a:off x="4308935" y="3500882"/>
            <a:ext cx="9670128" cy="2331720"/>
          </a:xfrm>
          <a:prstGeom prst="rect">
            <a:avLst/>
          </a:prstGeom>
        </p:spPr>
      </p:pic>
      <p:sp>
        <p:nvSpPr>
          <p:cNvPr id="15" name="Rounded Rectangle 14"/>
          <p:cNvSpPr/>
          <p:nvPr/>
        </p:nvSpPr>
        <p:spPr>
          <a:xfrm>
            <a:off x="1028700" y="6244082"/>
            <a:ext cx="16230600" cy="534263"/>
          </a:xfrm>
          <a:prstGeom prst="roundRect">
            <a:avLst>
              <a:gd name="adj" fmla="val 27384"/>
            </a:avLst>
          </a:prstGeom>
          <a:solidFill>
            <a:srgbClr val="F6ECDF"/>
          </a:solidFill>
          <a:ln>
            <a:noFill/>
          </a:ln>
        </p:spPr>
        <p:txBody>
          <a:bodyPr anchor="ctr" rtlCol="false" lIns="0" tIns="0" rIns="0" bIns="0" wrap="square"/>
          <a:lstStyle/>
          <a:p>
            <a:endParaRPr lang="en-US" sz="1800"/>
          </a:p>
        </p:txBody>
      </p:sp>
      <p:sp>
        <p:nvSpPr>
          <p:cNvPr id="16" name="TextBox 15"/>
          <p:cNvSpPr txBox="1"/>
          <p:nvPr/>
        </p:nvSpPr>
        <p:spPr>
          <a:xfrm>
            <a:off x="1348740" y="6244082"/>
            <a:ext cx="3291840" cy="534263"/>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p:sp>
        <p:nvSpPr>
          <p:cNvPr id="17" name="TextBox 16"/>
          <p:cNvSpPr txBox="1"/>
          <p:nvPr/>
        </p:nvSpPr>
        <p:spPr>
          <a:xfrm>
            <a:off x="4686300" y="6244082"/>
            <a:ext cx="12298680" cy="534263"/>
          </a:xfrm>
          <a:prstGeom prst="rect">
            <a:avLst/>
          </a:prstGeom>
          <a:noFill/>
        </p:spPr>
        <p:txBody>
          <a:bodyPr anchor="ctr" rtlCol="false" lIns="0" tIns="0" rIns="0" bIns="0" wrap="square"/>
          <a:lstStyle/>
          <a:p>
            <a:pPr algn="l">
              <a:lnSpc>
                <a:spcPts val="2600"/>
              </a:lnSpc>
              <a:spcBef>
                <a:spcPts val="0"/>
              </a:spcBef>
              <a:buNone/>
            </a:pPr>
            <a:r>
              <a:rPr lang="en-US" sz="2100" b="true">
                <a:solidFill>
                  <a:srgbClr val="111111"/>
                </a:solidFill>
                <a:latin typeface="Nunito Bold"/>
                <a:ea typeface="Nunito Bold"/>
                <a:cs typeface="Nunito Bold"/>
                <a:sym typeface="Nunito Bold"/>
              </a:rPr>
              <a:t>e</a:t>
            </a:r>
            <a:r>
              <a:rPr lang="en-US" sz="2100" b="true" baseline="30000">
                <a:solidFill>
                  <a:srgbClr val="111111"/>
                </a:solidFill>
                <a:latin typeface="Nunito Bold"/>
                <a:ea typeface="Nunito Bold"/>
                <a:cs typeface="Nunito Bold"/>
                <a:sym typeface="Nunito Bold"/>
              </a:rPr>
              <a:t>(l+1)</a:t>
            </a:r>
            <a:r>
              <a:rPr lang="en-US" sz="2100" b="true">
                <a:solidFill>
                  <a:srgbClr val="111111"/>
                </a:solidFill>
                <a:latin typeface="Nunito Bold"/>
                <a:ea typeface="Nunito Bold"/>
                <a:cs typeface="Nunito Bold"/>
                <a:sym typeface="Nunito Bold"/>
              </a:rPr>
              <a:t> = </a:t>
            </a:r>
            <a:r>
              <a:rPr lang="en-US" sz="2100" b="true">
                <a:solidFill>
                  <a:srgbClr val="111111"/>
                </a:solidFill>
                <a:latin typeface="Calibri"/>
                <a:ea typeface="Calibri"/>
                <a:cs typeface="Calibri"/>
                <a:sym typeface="Calibri"/>
              </a:rPr>
              <a:t>σ</a:t>
            </a:r>
            <a:r>
              <a:rPr lang="en-US" sz="2100" b="true">
                <a:solidFill>
                  <a:srgbClr val="111111"/>
                </a:solidFill>
                <a:latin typeface="Nunito Bold"/>
                <a:ea typeface="Nunito Bold"/>
                <a:cs typeface="Nunito Bold"/>
                <a:sym typeface="Nunito Bold"/>
              </a:rPr>
              <a:t>( D</a:t>
            </a:r>
            <a:r>
              <a:rPr lang="en-US" sz="2100" b="true" baseline="30000">
                <a:solidFill>
                  <a:srgbClr val="111111"/>
                </a:solidFill>
                <a:latin typeface="Nunito Bold"/>
                <a:ea typeface="Nunito Bold"/>
                <a:cs typeface="Nunito Bold"/>
                <a:sym typeface="Nunito Bold"/>
              </a:rPr>
              <a:t>−1/2</a:t>
            </a:r>
            <a:r>
              <a:rPr lang="en-US" sz="2100" b="true">
                <a:solidFill>
                  <a:srgbClr val="111111"/>
                </a:solidFill>
                <a:latin typeface="Nunito Bold"/>
                <a:ea typeface="Nunito Bold"/>
                <a:cs typeface="Nunito Bold"/>
                <a:sym typeface="Nunito Bold"/>
              </a:rPr>
              <a:t> A D</a:t>
            </a:r>
            <a:r>
              <a:rPr lang="en-US" sz="2100" b="true" baseline="30000">
                <a:solidFill>
                  <a:srgbClr val="111111"/>
                </a:solidFill>
                <a:latin typeface="Nunito Bold"/>
                <a:ea typeface="Nunito Bold"/>
                <a:cs typeface="Nunito Bold"/>
                <a:sym typeface="Nunito Bold"/>
              </a:rPr>
              <a:t>−1/2</a:t>
            </a:r>
            <a:r>
              <a:rPr lang="en-US" sz="2100" b="true">
                <a:solidFill>
                  <a:srgbClr val="111111"/>
                </a:solidFill>
                <a:latin typeface="Nunito Bold"/>
                <a:ea typeface="Nunito Bold"/>
                <a:cs typeface="Nunito Bold"/>
                <a:sym typeface="Nunito Bold"/>
              </a:rPr>
              <a:t> e</a:t>
            </a:r>
            <a:r>
              <a:rPr lang="en-US" sz="2100" b="true" baseline="30000">
                <a:solidFill>
                  <a:srgbClr val="111111"/>
                </a:solidFill>
                <a:latin typeface="Nunito Bold"/>
                <a:ea typeface="Nunito Bold"/>
                <a:cs typeface="Nunito Bold"/>
                <a:sym typeface="Nunito Bold"/>
              </a:rPr>
              <a:t>(l)</a:t>
            </a:r>
            <a:r>
              <a:rPr lang="en-US" sz="2100" b="true">
                <a:solidFill>
                  <a:srgbClr val="111111"/>
                </a:solidFill>
                <a:latin typeface="Nunito Bold"/>
                <a:ea typeface="Nunito Bold"/>
                <a:cs typeface="Nunito Bold"/>
                <a:sym typeface="Nunito Bold"/>
              </a:rPr>
              <a:t> )</a:t>
            </a:r>
          </a:p>
        </p:txBody>
      </p:sp>
      <p:sp>
        <p:nvSpPr>
          <p:cNvPr id="18" name="Rounded Rectangle 17"/>
          <p:cNvSpPr/>
          <p:nvPr/>
        </p:nvSpPr>
        <p:spPr>
          <a:xfrm>
            <a:off x="1028700" y="6888073"/>
            <a:ext cx="16230600" cy="534263"/>
          </a:xfrm>
          <a:prstGeom prst="roundRect">
            <a:avLst>
              <a:gd name="adj" fmla="val 27384"/>
            </a:avLst>
          </a:prstGeom>
          <a:solidFill>
            <a:srgbClr val="FBF4EB"/>
          </a:solidFill>
          <a:ln>
            <a:noFill/>
          </a:ln>
        </p:spPr>
        <p:txBody>
          <a:bodyPr anchor="ctr" rtlCol="false" lIns="0" tIns="0" rIns="0" bIns="0" wrap="square"/>
          <a:lstStyle/>
          <a:p>
            <a:endParaRPr lang="en-US" sz="1800"/>
          </a:p>
        </p:txBody>
      </p:sp>
      <p:sp>
        <p:nvSpPr>
          <p:cNvPr id="19" name="TextBox 18"/>
          <p:cNvSpPr txBox="1"/>
          <p:nvPr/>
        </p:nvSpPr>
        <p:spPr>
          <a:xfrm>
            <a:off x="1348740" y="6888073"/>
            <a:ext cx="3291840" cy="534263"/>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p:sp>
        <p:nvSpPr>
          <p:cNvPr id="20" name="TextBox 19"/>
          <p:cNvSpPr txBox="1"/>
          <p:nvPr/>
        </p:nvSpPr>
        <p:spPr>
          <a:xfrm>
            <a:off x="4686300" y="6888073"/>
            <a:ext cx="12298680" cy="534263"/>
          </a:xfrm>
          <a:prstGeom prst="rect">
            <a:avLst/>
          </a:prstGeom>
          <a:noFill/>
        </p:spPr>
        <p:txBody>
          <a:bodyPr anchor="ctr" rtlCol="false" lIns="0" tIns="0" rIns="0" bIns="0" wrap="square"/>
          <a:lstStyle/>
          <a:p>
            <a:pPr algn="l">
              <a:lnSpc>
                <a:spcPts val="2600"/>
              </a:lnSpc>
              <a:spcBef>
                <a:spcPts val="0"/>
              </a:spcBef>
              <a:buNone/>
            </a:pPr>
            <a:r>
              <a:rPr lang="en-US" sz="2100" b="true">
                <a:solidFill>
                  <a:srgbClr val="111111"/>
                </a:solidFill>
                <a:latin typeface="Nunito Bold"/>
                <a:ea typeface="Nunito Bold"/>
                <a:cs typeface="Nunito Bold"/>
                <a:sym typeface="Nunito Bold"/>
              </a:rPr>
              <a:t>e</a:t>
            </a:r>
            <a:r>
              <a:rPr lang="en-US" sz="2100" b="true" baseline="-25000">
                <a:solidFill>
                  <a:srgbClr val="111111"/>
                </a:solidFill>
                <a:latin typeface="Nunito Bold"/>
                <a:ea typeface="Nunito Bold"/>
                <a:cs typeface="Nunito Bold"/>
                <a:sym typeface="Nunito Bold"/>
              </a:rPr>
              <a:t>j</a:t>
            </a:r>
            <a:r>
              <a:rPr lang="en-US" sz="2100" b="true" baseline="30000">
                <a:solidFill>
                  <a:srgbClr val="111111"/>
                </a:solidFill>
                <a:latin typeface="Nunito Bold"/>
                <a:ea typeface="Nunito Bold"/>
                <a:cs typeface="Nunito Bold"/>
                <a:sym typeface="Nunito Bold"/>
              </a:rPr>
              <a:t>(l+1)</a:t>
            </a:r>
            <a:r>
              <a:rPr lang="en-US" sz="2100" b="true">
                <a:solidFill>
                  <a:srgbClr val="111111"/>
                </a:solidFill>
                <a:latin typeface="Nunito Bold"/>
                <a:ea typeface="Nunito Bold"/>
                <a:cs typeface="Nunito Bold"/>
                <a:sym typeface="Nunito Bold"/>
              </a:rPr>
              <a:t> = </a:t>
            </a:r>
            <a:r>
              <a:rPr lang="en-US" sz="2100" b="true">
                <a:solidFill>
                  <a:srgbClr val="111111"/>
                </a:solidFill>
                <a:latin typeface="Calibri"/>
                <a:ea typeface="Calibri"/>
                <a:cs typeface="Calibri"/>
                <a:sym typeface="Calibri"/>
              </a:rPr>
              <a:t>σ</a:t>
            </a:r>
            <a:r>
              <a:rPr lang="en-US" sz="2100" b="true">
                <a:solidFill>
                  <a:srgbClr val="111111"/>
                </a:solidFill>
                <a:latin typeface="Nunito Bold"/>
                <a:ea typeface="Nunito Bold"/>
                <a:cs typeface="Nunito Bold"/>
                <a:sym typeface="Nunito Bold"/>
              </a:rPr>
              <a:t>( W</a:t>
            </a:r>
            <a:r>
              <a:rPr lang="en-US" sz="2100" b="true" baseline="30000">
                <a:solidFill>
                  <a:srgbClr val="111111"/>
                </a:solidFill>
                <a:latin typeface="Nunito Bold"/>
                <a:ea typeface="Nunito Bold"/>
                <a:cs typeface="Nunito Bold"/>
                <a:sym typeface="Nunito Bold"/>
              </a:rPr>
              <a:t>(l)</a:t>
            </a:r>
            <a:r>
              <a:rPr lang="en-US" sz="2100" b="true">
                <a:solidFill>
                  <a:srgbClr val="111111"/>
                </a:solidFill>
                <a:latin typeface="Nunito Bold"/>
                <a:ea typeface="Nunito Bold"/>
                <a:cs typeface="Nunito Bold"/>
                <a:sym typeface="Nunito Bold"/>
              </a:rPr>
              <a:t> e</a:t>
            </a:r>
            <a:r>
              <a:rPr lang="en-US" sz="2100" b="true" baseline="-25000">
                <a:solidFill>
                  <a:srgbClr val="111111"/>
                </a:solidFill>
                <a:latin typeface="Nunito Bold"/>
                <a:ea typeface="Nunito Bold"/>
                <a:cs typeface="Nunito Bold"/>
                <a:sym typeface="Nunito Bold"/>
              </a:rPr>
              <a:t>j</a:t>
            </a:r>
            <a:r>
              <a:rPr lang="en-US" sz="2100" b="true" baseline="30000">
                <a:solidFill>
                  <a:srgbClr val="111111"/>
                </a:solidFill>
                <a:latin typeface="Nunito Bold"/>
                <a:ea typeface="Nunito Bold"/>
                <a:cs typeface="Nunito Bold"/>
                <a:sym typeface="Nunito Bold"/>
              </a:rPr>
              <a:t>(l)</a:t>
            </a:r>
            <a:r>
              <a:rPr lang="en-US" sz="2100" b="true">
                <a:solidFill>
                  <a:srgbClr val="111111"/>
                </a:solidFill>
                <a:latin typeface="Nunito Bold"/>
                <a:ea typeface="Nunito Bold"/>
                <a:cs typeface="Nunito Bold"/>
                <a:sym typeface="Nunito Bold"/>
              </a:rPr>
              <a:t> + Σ</a:t>
            </a:r>
            <a:r>
              <a:rPr lang="en-US" sz="2100" b="true" baseline="-25000">
                <a:solidFill>
                  <a:srgbClr val="111111"/>
                </a:solidFill>
                <a:latin typeface="Nunito Bold"/>
                <a:ea typeface="Nunito Bold"/>
                <a:cs typeface="Nunito Bold"/>
                <a:sym typeface="Nunito Bold"/>
              </a:rPr>
              <a:t>k</a:t>
            </a:r>
            <a:r>
              <a:rPr lang="en-US" sz="2100" b="true" baseline="-25000">
                <a:solidFill>
                  <a:srgbClr val="111111"/>
                </a:solidFill>
                <a:latin typeface="Cambria Math"/>
                <a:ea typeface="Cambria Math"/>
                <a:cs typeface="Cambria Math"/>
                <a:sym typeface="Cambria Math"/>
              </a:rPr>
              <a:t>∈</a:t>
            </a:r>
            <a:r>
              <a:rPr lang="en-US" sz="2100" b="true" baseline="-25000">
                <a:solidFill>
                  <a:srgbClr val="111111"/>
                </a:solidFill>
                <a:latin typeface="Nunito Bold"/>
                <a:ea typeface="Nunito Bold"/>
                <a:cs typeface="Nunito Bold"/>
                <a:sym typeface="Nunito Bold"/>
              </a:rPr>
              <a:t>N(j)</a:t>
            </a:r>
            <a:r>
              <a:rPr lang="en-US" sz="2100" b="true">
                <a:solidFill>
                  <a:srgbClr val="111111"/>
                </a:solidFill>
                <a:latin typeface="Nunito Bold"/>
                <a:ea typeface="Nunito Bold"/>
                <a:cs typeface="Nunito Bold"/>
                <a:sym typeface="Nunito Bold"/>
              </a:rPr>
              <a:t> w</a:t>
            </a:r>
            <a:r>
              <a:rPr lang="en-US" sz="2100" b="true" baseline="-25000">
                <a:solidFill>
                  <a:srgbClr val="111111"/>
                </a:solidFill>
                <a:latin typeface="Nunito Bold"/>
                <a:ea typeface="Nunito Bold"/>
                <a:cs typeface="Nunito Bold"/>
                <a:sym typeface="Nunito Bold"/>
              </a:rPr>
              <a:t>jk</a:t>
            </a:r>
            <a:r>
              <a:rPr lang="en-US" sz="2100" b="true">
                <a:solidFill>
                  <a:srgbClr val="111111"/>
                </a:solidFill>
                <a:latin typeface="Nunito Bold"/>
                <a:ea typeface="Nunito Bold"/>
                <a:cs typeface="Nunito Bold"/>
                <a:sym typeface="Nunito Bold"/>
              </a:rPr>
              <a:t> e</a:t>
            </a:r>
            <a:r>
              <a:rPr lang="en-US" sz="2100" b="true" baseline="-25000">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(l)</a:t>
            </a:r>
            <a:r>
              <a:rPr lang="en-US" sz="2100" b="true">
                <a:solidFill>
                  <a:srgbClr val="111111"/>
                </a:solidFill>
                <a:latin typeface="Nunito Bold"/>
                <a:ea typeface="Nunito Bold"/>
                <a:cs typeface="Nunito Bold"/>
                <a:sym typeface="Nunito Bold"/>
              </a:rPr>
              <a:t> )</a:t>
            </a:r>
          </a:p>
        </p:txBody>
      </p:sp>
      <p:sp>
        <p:nvSpPr>
          <p:cNvPr id="21" name="Rounded Rectangle 20"/>
          <p:cNvSpPr/>
          <p:nvPr/>
        </p:nvSpPr>
        <p:spPr>
          <a:xfrm>
            <a:off x="1028700" y="7532065"/>
            <a:ext cx="16230600" cy="534263"/>
          </a:xfrm>
          <a:prstGeom prst="roundRect">
            <a:avLst>
              <a:gd name="adj" fmla="val 27384"/>
            </a:avLst>
          </a:prstGeom>
          <a:solidFill>
            <a:srgbClr val="F6ECDF"/>
          </a:solidFill>
          <a:ln>
            <a:noFill/>
          </a:ln>
        </p:spPr>
        <p:txBody>
          <a:bodyPr anchor="ctr" rtlCol="false" lIns="0" tIns="0" rIns="0" bIns="0" wrap="square"/>
          <a:lstStyle/>
          <a:p>
            <a:endParaRPr lang="en-US" sz="1800"/>
          </a:p>
        </p:txBody>
      </p:sp>
      <p:sp>
        <p:nvSpPr>
          <p:cNvPr id="22" name="TextBox 21"/>
          <p:cNvSpPr txBox="1"/>
          <p:nvPr/>
        </p:nvSpPr>
        <p:spPr>
          <a:xfrm>
            <a:off x="1348740" y="7532065"/>
            <a:ext cx="3291840" cy="534263"/>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p:sp>
        <p:nvSpPr>
          <p:cNvPr id="23" name="TextBox 22"/>
          <p:cNvSpPr txBox="1"/>
          <p:nvPr/>
        </p:nvSpPr>
        <p:spPr>
          <a:xfrm>
            <a:off x="4686300" y="7532065"/>
            <a:ext cx="12298680" cy="534263"/>
          </a:xfrm>
          <a:prstGeom prst="rect">
            <a:avLst/>
          </a:prstGeom>
          <a:noFill/>
        </p:spPr>
        <p:txBody>
          <a:bodyPr anchor="ctr" rtlCol="false" lIns="0" tIns="0" rIns="0" bIns="0" wrap="square"/>
          <a:lstStyle/>
          <a:p>
            <a:pPr algn="l">
              <a:lnSpc>
                <a:spcPts val="2600"/>
              </a:lnSpc>
              <a:spcBef>
                <a:spcPts val="0"/>
              </a:spcBef>
              <a:buNone/>
            </a:pPr>
            <a:r>
              <a:rPr lang="en-US" sz="2100" b="true">
                <a:solidFill>
                  <a:srgbClr val="111111"/>
                </a:solidFill>
                <a:latin typeface="Nunito Bold"/>
                <a:ea typeface="Nunito Bold"/>
                <a:cs typeface="Nunito Bold"/>
                <a:sym typeface="Nunito Bold"/>
              </a:rPr>
              <a:t>w</a:t>
            </a:r>
            <a:r>
              <a:rPr lang="en-US" sz="2100" b="true" baseline="-25000">
                <a:solidFill>
                  <a:srgbClr val="111111"/>
                </a:solidFill>
                <a:latin typeface="Nunito Bold"/>
                <a:ea typeface="Nunito Bold"/>
                <a:cs typeface="Nunito Bold"/>
                <a:sym typeface="Nunito Bold"/>
              </a:rPr>
              <a:t>jk</a:t>
            </a:r>
            <a:r>
              <a:rPr lang="en-US" sz="2100" b="true">
                <a:solidFill>
                  <a:srgbClr val="111111"/>
                </a:solidFill>
                <a:latin typeface="Nunito Bold"/>
                <a:ea typeface="Nunito Bold"/>
                <a:cs typeface="Nunito Bold"/>
                <a:sym typeface="Nunito Bold"/>
              </a:rPr>
              <a:t> = </a:t>
            </a:r>
            <a:r>
              <a:rPr lang="en-US" sz="2100" b="true">
                <a:solidFill>
                  <a:srgbClr val="111111"/>
                </a:solidFill>
                <a:latin typeface="Cambria Math"/>
                <a:ea typeface="Cambria Math"/>
                <a:cs typeface="Cambria Math"/>
                <a:sym typeface="Cambria Math"/>
              </a:rPr>
              <a:t>φ̂</a:t>
            </a:r>
            <a:r>
              <a:rPr lang="en-US" sz="2100" b="true" baseline="-25000">
                <a:solidFill>
                  <a:srgbClr val="111111"/>
                </a:solidFill>
                <a:latin typeface="Nunito Bold"/>
                <a:ea typeface="Nunito Bold"/>
                <a:cs typeface="Nunito Bold"/>
                <a:sym typeface="Nunito Bold"/>
              </a:rPr>
              <a:t>jk</a:t>
            </a:r>
            <a:r>
              <a:rPr lang="en-US" sz="2100" b="true">
                <a:solidFill>
                  <a:srgbClr val="111111"/>
                </a:solidFill>
                <a:latin typeface="Nunito Bold"/>
                <a:ea typeface="Nunito Bold"/>
                <a:cs typeface="Nunito Bold"/>
                <a:sym typeface="Nunito Bold"/>
              </a:rPr>
              <a:t> / Σ</a:t>
            </a:r>
            <a:r>
              <a:rPr lang="en-US" sz="2100" b="true" baseline="-25000">
                <a:solidFill>
                  <a:srgbClr val="111111"/>
                </a:solidFill>
                <a:latin typeface="Nunito Bold"/>
                <a:ea typeface="Nunito Bold"/>
                <a:cs typeface="Nunito Bold"/>
                <a:sym typeface="Nunito Bold"/>
              </a:rPr>
              <a:t>k′</a:t>
            </a:r>
            <a:r>
              <a:rPr lang="en-US" sz="2100" b="true" baseline="-25000">
                <a:solidFill>
                  <a:srgbClr val="111111"/>
                </a:solidFill>
                <a:latin typeface="Cambria Math"/>
                <a:ea typeface="Cambria Math"/>
                <a:cs typeface="Cambria Math"/>
                <a:sym typeface="Cambria Math"/>
              </a:rPr>
              <a:t>∈</a:t>
            </a:r>
            <a:r>
              <a:rPr lang="en-US" sz="2100" b="true" baseline="-25000">
                <a:solidFill>
                  <a:srgbClr val="111111"/>
                </a:solidFill>
                <a:latin typeface="Nunito Bold"/>
                <a:ea typeface="Nunito Bold"/>
                <a:cs typeface="Nunito Bold"/>
                <a:sym typeface="Nunito Bold"/>
              </a:rPr>
              <a:t>N(j)</a:t>
            </a:r>
            <a:r>
              <a:rPr lang="en-US" sz="2100" b="true">
                <a:solidFill>
                  <a:srgbClr val="111111"/>
                </a:solidFill>
                <a:latin typeface="Cambria Math"/>
                <a:ea typeface="Cambria Math"/>
                <a:cs typeface="Cambria Math"/>
                <a:sym typeface="Cambria Math"/>
              </a:rPr>
              <a:t> φ̂</a:t>
            </a:r>
            <a:r>
              <a:rPr lang="en-US" sz="2100" b="true" baseline="-25000">
                <a:solidFill>
                  <a:srgbClr val="111111"/>
                </a:solidFill>
                <a:latin typeface="Nunito Bold"/>
                <a:ea typeface="Nunito Bold"/>
                <a:cs typeface="Nunito Bold"/>
                <a:sym typeface="Nunito Bold"/>
              </a:rPr>
              <a:t>jk′</a:t>
            </a:r>
            <a:r>
              <a:rPr lang="en-US" sz="2100" b="true">
                <a:solidFill>
                  <a:srgbClr val="111111"/>
                </a:solidFill>
                <a:latin typeface="Nunito Bold"/>
                <a:ea typeface="Nunito Bold"/>
                <a:cs typeface="Nunito Bold"/>
                <a:sym typeface="Nunito Bold"/>
              </a:rPr>
              <a:t>    (clipped + EMA-smoothed)</a:t>
            </a:r>
          </a:p>
        </p:txBody>
      </p:sp>
      <p:sp>
        <p:nvSpPr>
          <p:cNvPr id="24" name="Rounded Rectangle 23"/>
          <p:cNvSpPr/>
          <p:nvPr/>
        </p:nvSpPr>
        <p:spPr>
          <a:xfrm>
            <a:off x="1028700" y="8176056"/>
            <a:ext cx="16230600" cy="534263"/>
          </a:xfrm>
          <a:prstGeom prst="roundRect">
            <a:avLst>
              <a:gd name="adj" fmla="val 27384"/>
            </a:avLst>
          </a:prstGeom>
          <a:solidFill>
            <a:srgbClr val="FBF4EB"/>
          </a:solidFill>
          <a:ln>
            <a:noFill/>
          </a:ln>
        </p:spPr>
        <p:txBody>
          <a:bodyPr anchor="ctr" rtlCol="false" lIns="0" tIns="0" rIns="0" bIns="0" wrap="square"/>
          <a:lstStyle/>
          <a:p>
            <a:endParaRPr lang="en-US" sz="1800"/>
          </a:p>
        </p:txBody>
      </p:sp>
      <p:sp>
        <p:nvSpPr>
          <p:cNvPr id="25" name="TextBox 24"/>
          <p:cNvSpPr txBox="1"/>
          <p:nvPr/>
        </p:nvSpPr>
        <p:spPr>
          <a:xfrm>
            <a:off x="1348740" y="8176056"/>
            <a:ext cx="3291840" cy="534263"/>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p:sp>
        <p:nvSpPr>
          <p:cNvPr id="26" name="TextBox 25"/>
          <p:cNvSpPr txBox="1"/>
          <p:nvPr/>
        </p:nvSpPr>
        <p:spPr>
          <a:xfrm>
            <a:off x="4686300" y="8176056"/>
            <a:ext cx="12298680" cy="534263"/>
          </a:xfrm>
          <a:prstGeom prst="rect">
            <a:avLst/>
          </a:prstGeom>
          <a:noFill/>
        </p:spPr>
        <p:txBody>
          <a:bodyPr anchor="ctr" rtlCol="false" lIns="0" tIns="0" rIns="0" bIns="0" wrap="square"/>
          <a:lstStyle/>
          <a:p>
            <a:pPr algn="l">
              <a:lnSpc>
                <a:spcPts val="2600"/>
              </a:lnSpc>
              <a:spcBef>
                <a:spcPts val="0"/>
              </a:spcBef>
              <a:buNone/>
            </a:pPr>
            <a:r>
              <a:rPr lang="en-US" sz="2100" b="true">
                <a:solidFill>
                  <a:srgbClr val="111111"/>
                </a:solidFill>
                <a:latin typeface="Nunito Bold"/>
                <a:ea typeface="Nunito Bold"/>
                <a:cs typeface="Nunito Bold"/>
                <a:sym typeface="Nunito Bold"/>
              </a:rPr>
              <a:t>a</a:t>
            </a:r>
            <a:r>
              <a:rPr lang="en-US" sz="2100" b="true" baseline="-25000">
                <a:solidFill>
                  <a:srgbClr val="111111"/>
                </a:solidFill>
                <a:latin typeface="Nunito Bold"/>
                <a:ea typeface="Nunito Bold"/>
                <a:cs typeface="Nunito Bold"/>
                <a:sym typeface="Nunito Bold"/>
              </a:rPr>
              <a:t>ui</a:t>
            </a:r>
            <a:r>
              <a:rPr lang="en-US" sz="2100" b="true">
                <a:solidFill>
                  <a:srgbClr val="111111"/>
                </a:solidFill>
                <a:latin typeface="Nunito Bold"/>
                <a:ea typeface="Nunito Bold"/>
                <a:cs typeface="Nunito Bold"/>
                <a:sym typeface="Nunito Bold"/>
              </a:rPr>
              <a:t> = </a:t>
            </a:r>
            <a:r>
              <a:rPr lang="en-US" sz="2100" b="true">
                <a:solidFill>
                  <a:srgbClr val="111111"/>
                </a:solidFill>
                <a:latin typeface="Calibri"/>
                <a:ea typeface="Calibri"/>
                <a:cs typeface="Calibri"/>
                <a:sym typeface="Calibri"/>
              </a:rPr>
              <a:t>σ</a:t>
            </a:r>
            <a:r>
              <a:rPr lang="en-US" sz="2100" b="true">
                <a:solidFill>
                  <a:srgbClr val="111111"/>
                </a:solidFill>
                <a:latin typeface="Nunito Bold"/>
                <a:ea typeface="Nunito Bold"/>
                <a:cs typeface="Nunito Bold"/>
                <a:sym typeface="Nunito Bold"/>
              </a:rPr>
              <a:t>( W</a:t>
            </a:r>
            <a:r>
              <a:rPr lang="en-US" sz="2100" b="true" baseline="-25000">
                <a:solidFill>
                  <a:srgbClr val="111111"/>
                </a:solidFill>
                <a:latin typeface="Nunito Bold"/>
                <a:ea typeface="Nunito Bold"/>
                <a:cs typeface="Nunito Bold"/>
                <a:sym typeface="Nunito Bold"/>
              </a:rPr>
              <a:t>a</a:t>
            </a:r>
            <a:r>
              <a:rPr lang="en-US" sz="2100" b="true">
                <a:solidFill>
                  <a:srgbClr val="111111"/>
                </a:solidFill>
                <a:latin typeface="Nunito Bold"/>
                <a:ea typeface="Nunito Bold"/>
                <a:cs typeface="Nunito Bold"/>
                <a:sym typeface="Nunito Bold"/>
              </a:rPr>
              <a:t> [e</a:t>
            </a:r>
            <a:r>
              <a:rPr lang="en-US" sz="2100" b="true" baseline="-25000">
                <a:solidFill>
                  <a:srgbClr val="111111"/>
                </a:solidFill>
                <a:latin typeface="Nunito Bold"/>
                <a:ea typeface="Nunito Bold"/>
                <a:cs typeface="Nunito Bold"/>
                <a:sym typeface="Nunito Bold"/>
              </a:rPr>
              <a:t>u</a:t>
            </a:r>
            <a:r>
              <a:rPr lang="en-US" sz="2100" b="true">
                <a:solidFill>
                  <a:srgbClr val="111111"/>
                </a:solidFill>
                <a:latin typeface="Nunito Bold"/>
                <a:ea typeface="Nunito Bold"/>
                <a:cs typeface="Nunito Bold"/>
                <a:sym typeface="Nunito Bold"/>
              </a:rPr>
              <a:t>, e</a:t>
            </a:r>
            <a:r>
              <a:rPr lang="en-US" sz="2100" b="true" baseline="-25000">
                <a:solidFill>
                  <a:srgbClr val="111111"/>
                </a:solidFill>
                <a:latin typeface="Nunito Bold"/>
                <a:ea typeface="Nunito Bold"/>
                <a:cs typeface="Nunito Bold"/>
                <a:sym typeface="Nunito Bold"/>
              </a:rPr>
              <a:t>i</a:t>
            </a:r>
            <a:r>
              <a:rPr lang="en-US" sz="2100" b="true">
                <a:solidFill>
                  <a:srgbClr val="111111"/>
                </a:solidFill>
                <a:latin typeface="Nunito Bold"/>
                <a:ea typeface="Nunito Bold"/>
                <a:cs typeface="Nunito Bold"/>
                <a:sym typeface="Nunito Bold"/>
              </a:rPr>
              <a:t>, l</a:t>
            </a:r>
            <a:r>
              <a:rPr lang="en-US" sz="2100" b="true" baseline="-25000">
                <a:solidFill>
                  <a:srgbClr val="111111"/>
                </a:solidFill>
                <a:latin typeface="Nunito Bold"/>
                <a:ea typeface="Nunito Bold"/>
                <a:cs typeface="Nunito Bold"/>
                <a:sym typeface="Nunito Bold"/>
              </a:rPr>
              <a:t>i</a:t>
            </a:r>
            <a:r>
              <a:rPr lang="en-US" sz="2100" b="true">
                <a:solidFill>
                  <a:srgbClr val="111111"/>
                </a:solidFill>
                <a:latin typeface="Nunito Bold"/>
                <a:ea typeface="Nunito Bold"/>
                <a:cs typeface="Nunito Bold"/>
                <a:sym typeface="Nunito Bold"/>
              </a:rPr>
              <a:t>] ) ;    y</a:t>
            </a:r>
            <a:r>
              <a:rPr lang="en-US" sz="2100" b="true" baseline="-25000">
                <a:solidFill>
                  <a:srgbClr val="111111"/>
                </a:solidFill>
                <a:latin typeface="Nunito Bold"/>
                <a:ea typeface="Nunito Bold"/>
                <a:cs typeface="Nunito Bold"/>
                <a:sym typeface="Nunito Bold"/>
              </a:rPr>
              <a:t>ui</a:t>
            </a:r>
            <a:r>
              <a:rPr lang="en-US" sz="2100" b="true">
                <a:solidFill>
                  <a:srgbClr val="111111"/>
                </a:solidFill>
                <a:latin typeface="Nunito Bold"/>
                <a:ea typeface="Nunito Bold"/>
                <a:cs typeface="Nunito Bold"/>
                <a:sym typeface="Nunito Bold"/>
              </a:rPr>
              <a:t> = (1 + a</a:t>
            </a:r>
            <a:r>
              <a:rPr lang="en-US" sz="2100" b="true" baseline="-25000">
                <a:solidFill>
                  <a:srgbClr val="111111"/>
                </a:solidFill>
                <a:latin typeface="Nunito Bold"/>
                <a:ea typeface="Nunito Bold"/>
                <a:cs typeface="Nunito Bold"/>
                <a:sym typeface="Nunito Bold"/>
              </a:rPr>
              <a:t>ui</a:t>
            </a:r>
            <a:r>
              <a:rPr lang="en-US" sz="2100" b="true">
                <a:solidFill>
                  <a:srgbClr val="111111"/>
                </a:solidFill>
                <a:latin typeface="Nunito Bold"/>
                <a:ea typeface="Nunito Bold"/>
                <a:cs typeface="Nunito Bold"/>
                <a:sym typeface="Nunito Bold"/>
              </a:rPr>
              <a:t>) ⟨e</a:t>
            </a:r>
            <a:r>
              <a:rPr lang="en-US" sz="2100" b="true" baseline="-25000">
                <a:solidFill>
                  <a:srgbClr val="111111"/>
                </a:solidFill>
                <a:latin typeface="Nunito Bold"/>
                <a:ea typeface="Nunito Bold"/>
                <a:cs typeface="Nunito Bold"/>
                <a:sym typeface="Nunito Bold"/>
              </a:rPr>
              <a:t>u</a:t>
            </a:r>
            <a:r>
              <a:rPr lang="en-US" sz="2100" b="true">
                <a:solidFill>
                  <a:srgbClr val="111111"/>
                </a:solidFill>
                <a:latin typeface="Nunito Bold"/>
                <a:ea typeface="Nunito Bold"/>
                <a:cs typeface="Nunito Bold"/>
                <a:sym typeface="Nunito Bold"/>
              </a:rPr>
              <a:t>, e</a:t>
            </a:r>
            <a:r>
              <a:rPr lang="en-US" sz="2100" b="true" baseline="-25000">
                <a:solidFill>
                  <a:srgbClr val="111111"/>
                </a:solidFill>
                <a:latin typeface="Nunito Bold"/>
                <a:ea typeface="Nunito Bold"/>
                <a:cs typeface="Nunito Bold"/>
                <a:sym typeface="Nunito Bold"/>
              </a:rPr>
              <a:t>i</a:t>
            </a:r>
            <a:r>
              <a:rPr lang="en-US" sz="2100" b="true">
                <a:solidFill>
                  <a:srgbClr val="111111"/>
                </a:solidFill>
                <a:latin typeface="Nunito Bold"/>
                <a:ea typeface="Nunito Bold"/>
                <a:cs typeface="Nunito Bold"/>
                <a:sym typeface="Nunito Bold"/>
              </a:rPr>
              <a:t>⟩</a:t>
            </a:r>
          </a:p>
        </p:txBody>
      </p:sp>
      <p:sp>
        <p:nvSpPr>
          <p:cNvPr id="27" name="Rounded Rectangle 26"/>
          <p:cNvSpPr/>
          <p:nvPr/>
        </p:nvSpPr>
        <p:spPr>
          <a:xfrm>
            <a:off x="1028700" y="8820048"/>
            <a:ext cx="16230600" cy="534263"/>
          </a:xfrm>
          <a:prstGeom prst="roundRect">
            <a:avLst>
              <a:gd name="adj" fmla="val 27384"/>
            </a:avLst>
          </a:prstGeom>
          <a:solidFill>
            <a:srgbClr val="F6ECDF"/>
          </a:solidFill>
          <a:ln>
            <a:noFill/>
          </a:ln>
        </p:spPr>
        <p:txBody>
          <a:bodyPr anchor="ctr" rtlCol="false" lIns="0" tIns="0" rIns="0" bIns="0" wrap="square"/>
          <a:lstStyle/>
          <a:p>
            <a:endParaRPr lang="en-US" sz="1800"/>
          </a:p>
        </p:txBody>
      </p:sp>
      <p:sp>
        <p:nvSpPr>
          <p:cNvPr id="28" name="TextBox 27"/>
          <p:cNvSpPr txBox="1"/>
          <p:nvPr/>
        </p:nvSpPr>
        <p:spPr>
          <a:xfrm>
            <a:off x="1348740" y="8820048"/>
            <a:ext cx="3291840" cy="534263"/>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p:sp>
        <p:nvSpPr>
          <p:cNvPr id="29" name="TextBox 28"/>
          <p:cNvSpPr txBox="1"/>
          <p:nvPr/>
        </p:nvSpPr>
        <p:spPr>
          <a:xfrm>
            <a:off x="4686300" y="8820048"/>
            <a:ext cx="12298680" cy="534263"/>
          </a:xfrm>
          <a:prstGeom prst="rect">
            <a:avLst/>
          </a:prstGeom>
          <a:noFill/>
        </p:spPr>
        <p:txBody>
          <a:bodyPr anchor="ctr" rtlCol="false" lIns="0" tIns="0" rIns="0" bIns="0" wrap="square"/>
          <a:lstStyle/>
          <a:p>
            <a:pPr algn="l">
              <a:lnSpc>
                <a:spcPts val="2600"/>
              </a:lnSpc>
              <a:spcBef>
                <a:spcPts val="0"/>
              </a:spcBef>
              <a:buNone/>
            </a:pPr>
            <a:r>
              <a:rPr lang="en-US" sz="2100" b="true">
                <a:solidFill>
                  <a:srgbClr val="111111"/>
                </a:solidFill>
                <a:latin typeface="Nunito Bold"/>
                <a:ea typeface="Nunito Bold"/>
                <a:cs typeface="Nunito Bold"/>
                <a:sym typeface="Nunito Bold"/>
              </a:rPr>
              <a:t>f(u,i,c) = y</a:t>
            </a:r>
            <a:r>
              <a:rPr lang="en-US" sz="2100" b="true" baseline="-25000">
                <a:solidFill>
                  <a:srgbClr val="111111"/>
                </a:solidFill>
                <a:latin typeface="Nunito Bold"/>
                <a:ea typeface="Nunito Bold"/>
                <a:cs typeface="Nunito Bold"/>
                <a:sym typeface="Nunito Bold"/>
              </a:rPr>
              <a:t>ui</a:t>
            </a:r>
            <a:r>
              <a:rPr lang="en-US" sz="2100" b="true">
                <a:solidFill>
                  <a:srgbClr val="111111"/>
                </a:solidFill>
                <a:latin typeface="Nunito Bold"/>
                <a:ea typeface="Nunito Bold"/>
                <a:cs typeface="Nunito Bold"/>
                <a:sym typeface="Nunito Bold"/>
              </a:rPr>
              <a:t> + </a:t>
            </a:r>
            <a:r>
              <a:rPr lang="en-US" sz="2100" b="true">
                <a:solidFill>
                  <a:srgbClr val="111111"/>
                </a:solidFill>
                <a:latin typeface="Calibri"/>
                <a:ea typeface="Calibri"/>
                <a:cs typeface="Calibri"/>
                <a:sym typeface="Calibri"/>
              </a:rPr>
              <a:t>λ</a:t>
            </a:r>
            <a:r>
              <a:rPr lang="en-US" sz="2100" b="true" baseline="-25000">
                <a:solidFill>
                  <a:srgbClr val="111111"/>
                </a:solidFill>
                <a:latin typeface="Nunito Bold"/>
                <a:ea typeface="Nunito Bold"/>
                <a:cs typeface="Nunito Bold"/>
                <a:sym typeface="Nunito Bold"/>
              </a:rPr>
              <a:t>c</a:t>
            </a:r>
            <a:r>
              <a:rPr lang="en-US" sz="2100" b="true">
                <a:solidFill>
                  <a:srgbClr val="111111"/>
                </a:solidFill>
                <a:latin typeface="Nunito Bold"/>
                <a:ea typeface="Nunito Bold"/>
                <a:cs typeface="Nunito Bold"/>
                <a:sym typeface="Nunito Bold"/>
              </a:rPr>
              <a:t> ⟨ g(c</a:t>
            </a:r>
            <a:r>
              <a:rPr lang="en-US" sz="2100" b="true" baseline="-25000">
                <a:solidFill>
                  <a:srgbClr val="111111"/>
                </a:solidFill>
                <a:latin typeface="Nunito Bold"/>
                <a:ea typeface="Nunito Bold"/>
                <a:cs typeface="Nunito Bold"/>
                <a:sym typeface="Nunito Bold"/>
              </a:rPr>
              <a:t>ui</a:t>
            </a:r>
            <a:r>
              <a:rPr lang="en-US" sz="2100" b="true">
                <a:solidFill>
                  <a:srgbClr val="111111"/>
                </a:solidFill>
                <a:latin typeface="Nunito Bold"/>
                <a:ea typeface="Nunito Bold"/>
                <a:cs typeface="Nunito Bold"/>
                <a:sym typeface="Nunito Bold"/>
              </a:rPr>
              <a:t>), e</a:t>
            </a:r>
            <a:r>
              <a:rPr lang="en-US" sz="2100" b="true" baseline="-25000">
                <a:solidFill>
                  <a:srgbClr val="111111"/>
                </a:solidFill>
                <a:latin typeface="Nunito Bold"/>
                <a:ea typeface="Nunito Bold"/>
                <a:cs typeface="Nunito Bold"/>
                <a:sym typeface="Nunito Bold"/>
              </a:rPr>
              <a:t>cui</a:t>
            </a:r>
            <a:r>
              <a:rPr lang="en-US" sz="2100" b="true">
                <a:solidFill>
                  <a:srgbClr val="111111"/>
                </a:solidFill>
                <a:latin typeface="Nunito Bold"/>
                <a:ea typeface="Nunito Bold"/>
                <a:cs typeface="Nunito Bold"/>
                <a:sym typeface="Nunito Bold"/>
              </a:rPr>
              <a:t>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Multi-Objective Learning</a:t>
            </a:r>
          </a:p>
        </p:txBody>
      </p:sp>
      <p:pic>
        <p:nvPicPr>
          <p:cNvPr id="8" name="Picture 7" descr="image.png"/>
          <p:cNvPicPr>
            <a:picLocks noChangeAspect="1"/>
          </p:cNvPicPr>
          <p:nvPr/>
        </p:nvPicPr>
        <p:blipFill>
          <a:blip r:embed="rId2"/>
          <a:stretch>
            <a:fillRect/>
          </a:stretch>
        </p:blipFill>
        <p:spPr>
          <a:xfrm>
            <a:off x="7693686" y="1673352"/>
            <a:ext cx="457200" cy="61711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363722"/>
            <a:ext cx="16230600" cy="1188720"/>
          </a:xfrm>
          <a:prstGeom prst="roundRect">
            <a:avLst>
              <a:gd name="adj" fmla="val 23076"/>
            </a:avLst>
          </a:prstGeom>
          <a:solidFill>
            <a:srgbClr val="124944"/>
          </a:solidFill>
          <a:ln>
            <a:noFill/>
          </a:ln>
        </p:spPr>
        <p:txBody>
          <a:bodyPr anchor="ctr" rtlCol="false" lIns="365760" tIns="91440" rIns="365760" bIns="91440" wrap="square"/>
          <a:lstStyle/>
          <a:p>
            <a:pPr algn="ctr">
              <a:lnSpc>
                <a:spcPts val="3800"/>
              </a:lnSpc>
              <a:spcBef>
                <a:spcPts val="0"/>
              </a:spcBef>
              <a:buNone/>
            </a:pPr>
            <a:r>
              <a:rPr lang="en-US" sz="3000" b="true">
                <a:solidFill>
                  <a:srgbClr val="FFFFFF"/>
                </a:solidFill>
                <a:latin typeface="Nunito Bold"/>
                <a:ea typeface="Nunito Bold"/>
                <a:cs typeface="Nunito Bold"/>
                <a:sym typeface="Nunito Bold"/>
              </a:rPr>
              <a:t>L  =  L</a:t>
            </a:r>
            <a:r>
              <a:rPr lang="en-US" sz="3000" b="true" baseline="-25000">
                <a:solidFill>
                  <a:srgbClr val="FFFFFF"/>
                </a:solidFill>
                <a:latin typeface="Nunito Bold"/>
                <a:ea typeface="Nunito Bold"/>
                <a:cs typeface="Nunito Bold"/>
                <a:sym typeface="Nunito Bold"/>
              </a:rPr>
              <a:t>rec</a:t>
            </a:r>
            <a:r>
              <a:rPr lang="en-US" sz="3000" b="true">
                <a:solidFill>
                  <a:srgbClr val="FFFFFF"/>
                </a:solidFill>
                <a:latin typeface="Nunito Bold"/>
                <a:ea typeface="Nunito Bold"/>
                <a:cs typeface="Nunito Bold"/>
                <a:sym typeface="Nunito Bold"/>
              </a:rPr>
              <a:t>  +  </a:t>
            </a:r>
            <a:r>
              <a:rPr lang="en-US" sz="3000" b="true">
                <a:solidFill>
                  <a:srgbClr val="FFFFFF"/>
                </a:solidFill>
                <a:latin typeface="Calibri"/>
                <a:ea typeface="Calibri"/>
                <a:cs typeface="Calibri"/>
                <a:sym typeface="Calibri"/>
              </a:rPr>
              <a:t>λ</a:t>
            </a:r>
            <a:r>
              <a:rPr lang="en-US" sz="3000" b="true" baseline="-25000">
                <a:solidFill>
                  <a:srgbClr val="FFFFFF"/>
                </a:solidFill>
                <a:latin typeface="Nunito Bold"/>
                <a:ea typeface="Nunito Bold"/>
                <a:cs typeface="Nunito Bold"/>
                <a:sym typeface="Nunito Bold"/>
              </a:rPr>
              <a:t>div</a:t>
            </a:r>
            <a:r>
              <a:rPr lang="en-US" sz="3000" b="true">
                <a:solidFill>
                  <a:srgbClr val="FFFFFF"/>
                </a:solidFill>
                <a:latin typeface="Nunito Bold"/>
                <a:ea typeface="Nunito Bold"/>
                <a:cs typeface="Nunito Bold"/>
                <a:sym typeface="Nunito Bold"/>
              </a:rPr>
              <a:t> · L</a:t>
            </a:r>
            <a:r>
              <a:rPr lang="en-US" sz="3000" b="true" baseline="-25000">
                <a:solidFill>
                  <a:srgbClr val="FFFFFF"/>
                </a:solidFill>
                <a:latin typeface="Nunito Bold"/>
                <a:ea typeface="Nunito Bold"/>
                <a:cs typeface="Nunito Bold"/>
                <a:sym typeface="Nunito Bold"/>
              </a:rPr>
              <a:t>div</a:t>
            </a:r>
            <a:r>
              <a:rPr lang="en-US" sz="3000" b="true">
                <a:solidFill>
                  <a:srgbClr val="FFFFFF"/>
                </a:solidFill>
                <a:latin typeface="Nunito Bold"/>
                <a:ea typeface="Nunito Bold"/>
                <a:cs typeface="Nunito Bold"/>
                <a:sym typeface="Nunito Bold"/>
              </a:rPr>
              <a:t>  +  </a:t>
            </a:r>
            <a:r>
              <a:rPr lang="en-US" sz="3000" b="true">
                <a:solidFill>
                  <a:srgbClr val="FFFFFF"/>
                </a:solidFill>
                <a:latin typeface="Calibri"/>
                <a:ea typeface="Calibri"/>
                <a:cs typeface="Calibri"/>
                <a:sym typeface="Calibri"/>
              </a:rPr>
              <a:t>λ</a:t>
            </a:r>
            <a:r>
              <a:rPr lang="en-US" sz="3000" b="true" baseline="-25000">
                <a:solidFill>
                  <a:srgbClr val="FFFFFF"/>
                </a:solidFill>
                <a:latin typeface="Nunito Bold"/>
                <a:ea typeface="Nunito Bold"/>
                <a:cs typeface="Nunito Bold"/>
                <a:sym typeface="Nunito Bold"/>
              </a:rPr>
              <a:t>ctx</a:t>
            </a:r>
            <a:r>
              <a:rPr lang="en-US" sz="3000" b="true">
                <a:solidFill>
                  <a:srgbClr val="FFFFFF"/>
                </a:solidFill>
                <a:latin typeface="Nunito Bold"/>
                <a:ea typeface="Nunito Bold"/>
                <a:cs typeface="Nunito Bold"/>
                <a:sym typeface="Nunito Bold"/>
              </a:rPr>
              <a:t> · L</a:t>
            </a:r>
            <a:r>
              <a:rPr lang="en-US" sz="3000" b="true" baseline="-25000">
                <a:solidFill>
                  <a:srgbClr val="FFFFFF"/>
                </a:solidFill>
                <a:latin typeface="Nunito Bold"/>
                <a:ea typeface="Nunito Bold"/>
                <a:cs typeface="Nunito Bold"/>
                <a:sym typeface="Nunito Bold"/>
              </a:rPr>
              <a:t>ctx</a:t>
            </a:r>
            <a:r>
              <a:rPr lang="en-US" sz="3000" b="true">
                <a:solidFill>
                  <a:srgbClr val="FFFFFF"/>
                </a:solidFill>
                <a:latin typeface="Nunito Bold"/>
                <a:ea typeface="Nunito Bold"/>
                <a:cs typeface="Nunito Bold"/>
                <a:sym typeface="Nunito Bold"/>
              </a:rPr>
              <a:t>  +  </a:t>
            </a:r>
            <a:r>
              <a:rPr lang="en-US" sz="3000" b="true">
                <a:solidFill>
                  <a:srgbClr val="FFFFFF"/>
                </a:solidFill>
                <a:latin typeface="Calibri"/>
                <a:ea typeface="Calibri"/>
                <a:cs typeface="Calibri"/>
                <a:sym typeface="Calibri"/>
              </a:rPr>
              <a:t>λ</a:t>
            </a:r>
            <a:r>
              <a:rPr lang="en-US" sz="3000" b="true" baseline="-25000">
                <a:solidFill>
                  <a:srgbClr val="FFFFFF"/>
                </a:solidFill>
                <a:latin typeface="Nunito Bold"/>
                <a:ea typeface="Nunito Bold"/>
                <a:cs typeface="Nunito Bold"/>
                <a:sym typeface="Nunito Bold"/>
              </a:rPr>
              <a:t>reg</a:t>
            </a:r>
            <a:r>
              <a:rPr lang="en-US" sz="3000" b="true">
                <a:solidFill>
                  <a:srgbClr val="FFFFFF"/>
                </a:solidFill>
                <a:latin typeface="Nunito Bold"/>
                <a:ea typeface="Nunito Bold"/>
                <a:cs typeface="Nunito Bold"/>
                <a:sym typeface="Nunito Bold"/>
              </a:rPr>
              <a:t> · L</a:t>
            </a:r>
            <a:r>
              <a:rPr lang="en-US" sz="3000" b="true" baseline="-25000">
                <a:solidFill>
                  <a:srgbClr val="FFFFFF"/>
                </a:solidFill>
                <a:latin typeface="Nunito Bold"/>
                <a:ea typeface="Nunito Bold"/>
                <a:cs typeface="Nunito Bold"/>
                <a:sym typeface="Nunito Bold"/>
              </a:rPr>
              <a:t>reg</a:t>
            </a:r>
          </a:p>
        </p:txBody>
      </p:sp>
      <p:sp>
        <p:nvSpPr>
          <p:cNvPr id="14" name="Rounded Rectangle 13"/>
          <p:cNvSpPr/>
          <p:nvPr/>
        </p:nvSpPr>
        <p:spPr>
          <a:xfrm>
            <a:off x="1028700" y="4918202"/>
            <a:ext cx="3851910" cy="3200400"/>
          </a:xfrm>
          <a:prstGeom prst="roundRect">
            <a:avLst>
              <a:gd name="adj" fmla="val 8571"/>
            </a:avLst>
          </a:prstGeom>
          <a:solidFill>
            <a:srgbClr val="124944"/>
          </a:solidFill>
          <a:ln>
            <a:noFill/>
          </a:ln>
        </p:spPr>
        <p:txBody>
          <a:bodyPr anchor="t" rtlCol="false" lIns="365760" tIns="365760" rIns="320040" bIns="274320" wrap="square"/>
          <a:lstStyle/>
          <a:p>
            <a:pPr algn="l">
              <a:lnSpc>
                <a:spcPts val="3800"/>
              </a:lnSpc>
              <a:spcBef>
                <a:spcPts val="0"/>
              </a:spcBef>
              <a:buNone/>
            </a:pPr>
            <a:r>
              <a:rPr lang="en-US" sz="3400" b="true" spc="-100">
                <a:solidFill>
                  <a:srgbClr val="ECC665"/>
                </a:solidFill>
                <a:latin typeface="Roca Two Bold"/>
                <a:ea typeface="Roca Two Bold"/>
                <a:cs typeface="Roca Two Bold"/>
                <a:sym typeface="Roca Two Bold"/>
              </a:rPr>
              <a:t>L</a:t>
            </a:r>
            <a:r>
              <a:rPr lang="en-US" sz="3400" b="true" spc="-100" baseline="-25000">
                <a:solidFill>
                  <a:srgbClr val="ECC665"/>
                </a:solidFill>
                <a:latin typeface="Roca Two Bold"/>
                <a:ea typeface="Roca Two Bold"/>
                <a:cs typeface="Roca Two Bold"/>
                <a:sym typeface="Roca Two Bold"/>
              </a:rPr>
              <a:t>rec</a:t>
            </a:r>
          </a:p>
          <a:p>
            <a:pPr algn="l">
              <a:lnSpc>
                <a:spcPts val="2500"/>
              </a:lnSpc>
              <a:spcBef>
                <a:spcPts val="1000"/>
              </a:spcBef>
              <a:buNone/>
            </a:pPr>
            <a:r>
              <a:rPr lang="en-US" sz="2000" b="true">
                <a:solidFill>
                  <a:srgbClr val="FFFFFF"/>
                </a:solidFill>
                <a:latin typeface="Nunito Ultra-Bold"/>
                <a:ea typeface="Nunito Ultra-Bold"/>
                <a:cs typeface="Nunito Ultra-Bold"/>
                <a:sym typeface="Nunito Ultra-Bold"/>
              </a:rPr>
              <a:t>Bayesian Personalised Ranking</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pairwise loss for implicit feedback</a:t>
            </a:r>
          </a:p>
        </p:txBody>
      </p:sp>
      <p:sp>
        <p:nvSpPr>
          <p:cNvPr id="15" name="Rounded Rectangle 14"/>
          <p:cNvSpPr/>
          <p:nvPr/>
        </p:nvSpPr>
        <p:spPr>
          <a:xfrm>
            <a:off x="5154930" y="4918202"/>
            <a:ext cx="3851910" cy="3200400"/>
          </a:xfrm>
          <a:prstGeom prst="roundRect">
            <a:avLst>
              <a:gd name="adj" fmla="val 8571"/>
            </a:avLst>
          </a:prstGeom>
          <a:solidFill>
            <a:srgbClr val="1E5F58"/>
          </a:solidFill>
          <a:ln>
            <a:noFill/>
          </a:ln>
        </p:spPr>
        <p:txBody>
          <a:bodyPr anchor="t" rtlCol="false" lIns="365760" tIns="365760" rIns="320040" bIns="274320" wrap="square"/>
          <a:lstStyle/>
          <a:p>
            <a:pPr algn="l">
              <a:lnSpc>
                <a:spcPts val="3800"/>
              </a:lnSpc>
              <a:spcBef>
                <a:spcPts val="0"/>
              </a:spcBef>
              <a:buNone/>
            </a:pPr>
            <a:r>
              <a:rPr lang="en-US" sz="3400" b="true" spc="-100">
                <a:solidFill>
                  <a:srgbClr val="ECC665"/>
                </a:solidFill>
                <a:latin typeface="Roca Two Bold"/>
                <a:ea typeface="Roca Two Bold"/>
                <a:cs typeface="Roca Two Bold"/>
                <a:sym typeface="Roca Two Bold"/>
              </a:rPr>
              <a:t>L</a:t>
            </a:r>
            <a:r>
              <a:rPr lang="en-US" sz="3400" b="true" spc="-100" baseline="-25000">
                <a:solidFill>
                  <a:srgbClr val="ECC665"/>
                </a:solidFill>
                <a:latin typeface="Roca Two Bold"/>
                <a:ea typeface="Roca Two Bold"/>
                <a:cs typeface="Roca Two Bold"/>
                <a:sym typeface="Roca Two Bold"/>
              </a:rPr>
              <a:t>div</a:t>
            </a:r>
          </a:p>
          <a:p>
            <a:pPr algn="l">
              <a:lnSpc>
                <a:spcPts val="2500"/>
              </a:lnSpc>
              <a:spcBef>
                <a:spcPts val="1000"/>
              </a:spcBef>
              <a:buNone/>
            </a:pPr>
            <a:r>
              <a:rPr lang="en-US" sz="2000" b="true">
                <a:solidFill>
                  <a:srgbClr val="FFFFFF"/>
                </a:solidFill>
                <a:latin typeface="Nunito Ultra-Bold"/>
                <a:ea typeface="Nunito Ultra-Bold"/>
                <a:cs typeface="Nunito Ultra-Bold"/>
                <a:sym typeface="Nunito Ultra-Bold"/>
              </a:rPr>
              <a:t>Intra-List Diversity regulariser</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penalises redundant ranked lists</a:t>
            </a:r>
          </a:p>
        </p:txBody>
      </p:sp>
      <p:sp>
        <p:nvSpPr>
          <p:cNvPr id="16" name="Rounded Rectangle 15"/>
          <p:cNvSpPr/>
          <p:nvPr/>
        </p:nvSpPr>
        <p:spPr>
          <a:xfrm>
            <a:off x="9281160" y="4918202"/>
            <a:ext cx="3851910" cy="3200400"/>
          </a:xfrm>
          <a:prstGeom prst="roundRect">
            <a:avLst>
              <a:gd name="adj" fmla="val 8571"/>
            </a:avLst>
          </a:prstGeom>
          <a:solidFill>
            <a:srgbClr val="DF8330"/>
          </a:solidFill>
          <a:ln>
            <a:noFill/>
          </a:ln>
        </p:spPr>
        <p:txBody>
          <a:bodyPr anchor="t" rtlCol="false" lIns="365760" tIns="365760" rIns="320040" bIns="274320" wrap="square"/>
          <a:lstStyle/>
          <a:p>
            <a:pPr algn="l">
              <a:lnSpc>
                <a:spcPts val="3800"/>
              </a:lnSpc>
              <a:spcBef>
                <a:spcPts val="0"/>
              </a:spcBef>
              <a:buNone/>
            </a:pPr>
            <a:r>
              <a:rPr lang="en-US" sz="3400" b="true" spc="-100">
                <a:solidFill>
                  <a:srgbClr val="FFFFFF"/>
                </a:solidFill>
                <a:latin typeface="Roca Two Bold"/>
                <a:ea typeface="Roca Two Bold"/>
                <a:cs typeface="Roca Two Bold"/>
                <a:sym typeface="Roca Two Bold"/>
              </a:rPr>
              <a:t>L</a:t>
            </a:r>
            <a:r>
              <a:rPr lang="en-US" sz="3400" b="true" spc="-100" baseline="-25000">
                <a:solidFill>
                  <a:srgbClr val="FFFFFF"/>
                </a:solidFill>
                <a:latin typeface="Roca Two Bold"/>
                <a:ea typeface="Roca Two Bold"/>
                <a:cs typeface="Roca Two Bold"/>
                <a:sym typeface="Roca Two Bold"/>
              </a:rPr>
              <a:t>ctx</a:t>
            </a:r>
          </a:p>
          <a:p>
            <a:pPr algn="l">
              <a:lnSpc>
                <a:spcPts val="2500"/>
              </a:lnSpc>
              <a:spcBef>
                <a:spcPts val="1000"/>
              </a:spcBef>
              <a:buNone/>
            </a:pPr>
            <a:r>
              <a:rPr lang="en-US" sz="2000" b="true">
                <a:solidFill>
                  <a:srgbClr val="FFFFFF"/>
                </a:solidFill>
                <a:latin typeface="Nunito Ultra-Bold"/>
                <a:ea typeface="Nunito Ultra-Bold"/>
                <a:cs typeface="Nunito Ultra-Bold"/>
                <a:sym typeface="Nunito Ultra-Bold"/>
              </a:rPr>
              <a:t>Context alignment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match context embedding to context-node representation</a:t>
            </a:r>
          </a:p>
        </p:txBody>
      </p:sp>
      <p:sp>
        <p:nvSpPr>
          <p:cNvPr id="17" name="Rounded Rectangle 16"/>
          <p:cNvSpPr/>
          <p:nvPr/>
        </p:nvSpPr>
        <p:spPr>
          <a:xfrm>
            <a:off x="13407390" y="4918202"/>
            <a:ext cx="3851910" cy="3200400"/>
          </a:xfrm>
          <a:prstGeom prst="roundRect">
            <a:avLst>
              <a:gd name="adj" fmla="val 8571"/>
            </a:avLst>
          </a:prstGeom>
          <a:solidFill>
            <a:srgbClr val="111111"/>
          </a:solidFill>
          <a:ln>
            <a:noFill/>
          </a:ln>
        </p:spPr>
        <p:txBody>
          <a:bodyPr anchor="t" rtlCol="false" lIns="365760" tIns="365760" rIns="320040" bIns="274320" wrap="square"/>
          <a:lstStyle/>
          <a:p>
            <a:pPr algn="l">
              <a:lnSpc>
                <a:spcPts val="3800"/>
              </a:lnSpc>
              <a:spcBef>
                <a:spcPts val="0"/>
              </a:spcBef>
              <a:buNone/>
            </a:pPr>
            <a:r>
              <a:rPr lang="en-US" sz="3400" b="true" spc="-100">
                <a:solidFill>
                  <a:srgbClr val="ECC665"/>
                </a:solidFill>
                <a:latin typeface="Roca Two Bold"/>
                <a:ea typeface="Roca Two Bold"/>
                <a:cs typeface="Roca Two Bold"/>
                <a:sym typeface="Roca Two Bold"/>
              </a:rPr>
              <a:t>L</a:t>
            </a:r>
            <a:r>
              <a:rPr lang="en-US" sz="3400" b="true" spc="-100" baseline="-25000">
                <a:solidFill>
                  <a:srgbClr val="ECC665"/>
                </a:solidFill>
                <a:latin typeface="Roca Two Bold"/>
                <a:ea typeface="Roca Two Bold"/>
                <a:cs typeface="Roca Two Bold"/>
                <a:sym typeface="Roca Two Bold"/>
              </a:rPr>
              <a:t>reg</a:t>
            </a:r>
          </a:p>
          <a:p>
            <a:pPr algn="l">
              <a:lnSpc>
                <a:spcPts val="2500"/>
              </a:lnSpc>
              <a:spcBef>
                <a:spcPts val="1000"/>
              </a:spcBef>
              <a:buNone/>
            </a:pPr>
            <a:r>
              <a:rPr lang="en-US" sz="2000" b="true">
                <a:solidFill>
                  <a:srgbClr val="FFFFFF"/>
                </a:solidFill>
                <a:latin typeface="Nunito Ultra-Bold"/>
                <a:ea typeface="Nunito Ultra-Bold"/>
                <a:cs typeface="Nunito Ultra-Bold"/>
                <a:sym typeface="Nunito Ultra-Bold"/>
              </a:rPr>
              <a:t>L2 weight decay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regularisation</a:t>
            </a:r>
          </a:p>
        </p:txBody>
      </p:sp>
      <p:sp>
        <p:nvSpPr>
          <p:cNvPr id="18" name="Rounded Rectangle 17"/>
          <p:cNvSpPr/>
          <p:nvPr/>
        </p:nvSpPr>
        <p:spPr>
          <a:xfrm>
            <a:off x="1028700" y="8530082"/>
            <a:ext cx="16230600" cy="824230"/>
          </a:xfrm>
          <a:prstGeom prst="roundRect">
            <a:avLst>
              <a:gd name="adj" fmla="val 27734"/>
            </a:avLst>
          </a:prstGeom>
          <a:solidFill>
            <a:srgbClr val="F6ECDF"/>
          </a:solidFill>
          <a:ln>
            <a:noFill/>
          </a:ln>
        </p:spPr>
        <p:txBody>
          <a:bodyPr anchor="ctr" rtlCol="false" lIns="457200" tIns="91440" rIns="457200" bIns="91440" wrap="square"/>
          <a:lstStyle/>
          <a:p>
            <a:pPr algn="ctr">
              <a:lnSpc>
                <a:spcPts val="2800"/>
              </a:lnSpc>
              <a:spcBef>
                <a:spcPts val="0"/>
              </a:spcBef>
              <a:buNone/>
            </a:pPr>
            <a:r>
              <a:rPr lang="en-US" sz="2200" b="true">
                <a:solidFill>
                  <a:srgbClr val="111111"/>
                </a:solidFill>
                <a:latin typeface="Nunito Semi-Bold"/>
                <a:ea typeface="Nunito Semi-Bold"/>
                <a:cs typeface="Nunito Semi-Bold"/>
                <a:sym typeface="Nunito Semi-Bold"/>
              </a:rPr>
              <a:t>The learning objective and the coalition value are </a:t>
            </a:r>
            <a:r>
              <a:rPr lang="en-US" sz="2200" b="true">
                <a:solidFill>
                  <a:srgbClr val="111111"/>
                </a:solidFill>
                <a:latin typeface="Nunito Bold"/>
                <a:ea typeface="Nunito Bold"/>
                <a:cs typeface="Nunito Bold"/>
                <a:sym typeface="Nunito Bold"/>
              </a:rPr>
              <a:t>aligned</a:t>
            </a:r>
            <a:r>
              <a:rPr lang="en-US" sz="2200" b="true">
                <a:solidFill>
                  <a:srgbClr val="111111"/>
                </a:solidFill>
                <a:latin typeface="Nunito Semi-Bold"/>
                <a:ea typeface="Nunito Semi-Bold"/>
                <a:cs typeface="Nunito Semi-Bold"/>
                <a:sym typeface="Nunito Semi-Bold"/>
              </a:rPr>
              <a:t>: DyHuCoG trains to optimise the </a:t>
            </a:r>
            <a:r>
              <a:rPr lang="en-US" sz="2200" b="true">
                <a:solidFill>
                  <a:srgbClr val="111111"/>
                </a:solidFill>
                <a:latin typeface="Nunito Bold"/>
                <a:ea typeface="Nunito Bold"/>
                <a:cs typeface="Nunito Bold"/>
                <a:sym typeface="Nunito Bold"/>
              </a:rPr>
              <a:t>same balance</a:t>
            </a:r>
            <a:r>
              <a:rPr lang="en-US" sz="2200" b="true">
                <a:solidFill>
                  <a:srgbClr val="111111"/>
                </a:solidFill>
                <a:latin typeface="Nunito Semi-Bold"/>
                <a:ea typeface="Nunito Semi-Bold"/>
                <a:cs typeface="Nunito Semi-Bold"/>
                <a:sym typeface="Nunito Semi-Bold"/>
              </a:rPr>
              <a:t> that later determines attribution.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vs the Strongest Baseline (HPCF)</a:t>
            </a:r>
          </a:p>
        </p:txBody>
      </p:sp>
      <p:pic>
        <p:nvPicPr>
          <p:cNvPr id="8" name="Picture 7" descr="image.png"/>
          <p:cNvPicPr>
            <a:picLocks noChangeAspect="1"/>
          </p:cNvPicPr>
          <p:nvPr/>
        </p:nvPicPr>
        <p:blipFill>
          <a:blip r:embed="rId2"/>
          <a:stretch>
            <a:fillRect/>
          </a:stretch>
        </p:blipFill>
        <p:spPr>
          <a:xfrm>
            <a:off x="13133038" y="1673352"/>
            <a:ext cx="457200" cy="25098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16230598" cy="3566160"/>
        </p:xfrm>
        <a:graphic>
          <a:graphicData uri="http://schemas.openxmlformats.org/drawingml/2006/table">
            <a:tbl>
              <a:tblPr firstRow="0" bandRow="0" firstCol="0" lastRow="0" lastCol="0" bandCol="0">
                <a:tableStyleId>{2D5ABB26-0587-4C30-8999-92F81FD0307C}</a:tableStyleId>
              </a:tblPr>
              <a:tblGrid>
                <a:gridCol w="3301138"/>
                <a:gridCol w="2750949"/>
                <a:gridCol w="2475854"/>
                <a:gridCol w="2475854"/>
                <a:gridCol w="2475854"/>
                <a:gridCol w="2750949"/>
              </a:tblGrid>
              <a:tr h="713232">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Dataset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FFFFFF"/>
                          </a:solidFill>
                          <a:latin typeface="Nunito Bold"/>
                          <a:ea typeface="Nunito Bold"/>
                          <a:cs typeface="Nunito Bold"/>
                          <a:sym typeface="Nunito Bold"/>
                        </a:rPr>
                        <a:t>Model</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NDCG@20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Recall@20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Coverage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470"/>
                        </a:lnSpc>
                        <a:spcBef>
                          <a:spcPts val="0"/>
                        </a:spcBef>
                        <a:buNone/>
                      </a:pPr>
                      <a:r>
                        <a:rPr lang="en-US" sz="1900" b="true">
                          <a:solidFill>
                            <a:srgbClr val="FFFFFF"/>
                          </a:solidFill>
                          <a:latin typeface="Nunito Bold"/>
                          <a:ea typeface="Nunito Bold"/>
                          <a:cs typeface="Nunito Bold"/>
                          <a:sym typeface="Nunito Bold"/>
                        </a:rPr>
                        <a:t>Diversity (ILD)</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MovieLens-1M</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0.2528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0.2098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0.342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0.461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MovieLens-1M</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0.2362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0.397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0.516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Amazon-Book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0.0359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0.259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0.535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13232">
                <a:tc>
                  <a:txBody>
                    <a:bodyPr anchor="ctr" rtlCol="false" lIns="0" tIns="0" rIns="0" bIns="0" wrap="square"/>
                    <a:lstStyle/>
                    <a:p>
                      <a:pPr algn="l">
                        <a:lnSpc>
                          <a:spcPts val="2600"/>
                        </a:lnSpc>
                        <a:spcBef>
                          <a:spcPts val="0"/>
                        </a:spcBef>
                        <a:buNone/>
                      </a:pPr>
                      <a:r>
                        <a:rPr lang="en-US" sz="2000" b="true">
                          <a:solidFill>
                            <a:srgbClr val="111111"/>
                          </a:solidFill>
                          <a:latin typeface="Nunito Bold"/>
                          <a:ea typeface="Nunito Bold"/>
                          <a:cs typeface="Nunito Bold"/>
                          <a:sym typeface="Nunito Bold"/>
                        </a:rPr>
                        <a:t>Amazon-Book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l">
                        <a:lnSpc>
                          <a:spcPts val="2600"/>
                        </a:lnSpc>
                        <a:spcBef>
                          <a:spcPts val="0"/>
                        </a:spcBef>
                        <a:buNone/>
                      </a:pPr>
                      <a:r>
                        <a:rPr lang="en-US" sz="2000" b="true">
                          <a:solidFill>
                            <a:srgbClr val="111111"/>
                          </a:solidFill>
                          <a:latin typeface="Nunito Semi-Bold"/>
                          <a:ea typeface="Nunito Semi-Bold"/>
                          <a:cs typeface="Nunito Semi-Bold"/>
                          <a:sym typeface="Nunito Semi-Bold"/>
                        </a:rPr>
                        <a:t>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0.0306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0.0417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0.336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600"/>
                        </a:lnSpc>
                        <a:spcBef>
                          <a:spcPts val="0"/>
                        </a:spcBef>
                        <a:buNone/>
                      </a:pPr>
                      <a:r>
                        <a:rPr lang="en-US" sz="2000" b="true">
                          <a:solidFill>
                            <a:srgbClr val="111111"/>
                          </a:solidFill>
                          <a:latin typeface="Nunito Semi-Bold"/>
                          <a:ea typeface="Nunito Semi-Bold"/>
                          <a:cs typeface="Nunito Semi-Bold"/>
                          <a:sym typeface="Nunito Semi-Bold"/>
                        </a:rPr>
                        <a:t>0.602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TextBox 13"/>
          <p:cNvSpPr txBox="1"/>
          <p:nvPr/>
        </p:nvSpPr>
        <p:spPr>
          <a:xfrm>
            <a:off x="1028700" y="734136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RELATIVE IMPROVEMENT OVER HPCF</a:t>
            </a:r>
          </a:p>
        </p:txBody>
      </p:sp>
      <p:sp>
        <p:nvSpPr>
          <p:cNvPr id="15" name="Rounded Rectangle 14"/>
          <p:cNvSpPr/>
          <p:nvPr/>
        </p:nvSpPr>
        <p:spPr>
          <a:xfrm>
            <a:off x="1028700" y="7798562"/>
            <a:ext cx="3851910" cy="1555750"/>
          </a:xfrm>
          <a:prstGeom prst="roundRect">
            <a:avLst>
              <a:gd name="adj" fmla="val 14693"/>
            </a:avLst>
          </a:prstGeom>
          <a:solidFill>
            <a:srgbClr val="124944"/>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NDCG@20</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+9.77 %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+13.33 %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
        <p:nvSpPr>
          <p:cNvPr id="16" name="Rounded Rectangle 15"/>
          <p:cNvSpPr/>
          <p:nvPr/>
        </p:nvSpPr>
        <p:spPr>
          <a:xfrm>
            <a:off x="5154930" y="7798562"/>
            <a:ext cx="3851910" cy="1555750"/>
          </a:xfrm>
          <a:prstGeom prst="roundRect">
            <a:avLst>
              <a:gd name="adj" fmla="val 14693"/>
            </a:avLst>
          </a:prstGeom>
          <a:solidFill>
            <a:srgbClr val="1E5F58"/>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RECALL@20</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+12.58 %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+16.16 %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
        <p:nvSpPr>
          <p:cNvPr id="17" name="Rounded Rectangle 16"/>
          <p:cNvSpPr/>
          <p:nvPr/>
        </p:nvSpPr>
        <p:spPr>
          <a:xfrm>
            <a:off x="9281160" y="7798562"/>
            <a:ext cx="3851910" cy="1555750"/>
          </a:xfrm>
          <a:prstGeom prst="roundRect">
            <a:avLst>
              <a:gd name="adj" fmla="val 14693"/>
            </a:avLst>
          </a:prstGeom>
          <a:solidFill>
            <a:srgbClr val="124944"/>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COVERAGE</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+16.1 %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+29.7 %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
        <p:nvSpPr>
          <p:cNvPr id="18" name="Rounded Rectangle 17"/>
          <p:cNvSpPr/>
          <p:nvPr/>
        </p:nvSpPr>
        <p:spPr>
          <a:xfrm>
            <a:off x="13407390" y="7798562"/>
            <a:ext cx="3851910" cy="1555750"/>
          </a:xfrm>
          <a:prstGeom prst="roundRect">
            <a:avLst>
              <a:gd name="adj" fmla="val 14693"/>
            </a:avLst>
          </a:prstGeom>
          <a:solidFill>
            <a:srgbClr val="1E5F58"/>
          </a:solidFill>
          <a:ln>
            <a:noFill/>
          </a:ln>
        </p:spPr>
        <p:txBody>
          <a:bodyPr anchor="ctr" rtlCol="false" lIns="91440" tIns="91440" rIns="91440" bIns="91440" wrap="square"/>
          <a:lstStyle/>
          <a:p>
            <a:pPr algn="ctr">
              <a:lnSpc>
                <a:spcPts val="1600"/>
              </a:lnSpc>
              <a:spcBef>
                <a:spcPts val="0"/>
              </a:spcBef>
              <a:buNone/>
            </a:pPr>
            <a:r>
              <a:rPr lang="en-US" sz="1300" b="true" spc="140">
                <a:solidFill>
                  <a:srgbClr val="ECC665"/>
                </a:solidFill>
                <a:latin typeface="Nunito Ultra-Bold"/>
                <a:ea typeface="Nunito Ultra-Bold"/>
                <a:cs typeface="Nunito Ultra-Bold"/>
                <a:sym typeface="Nunito Ultra-Bold"/>
              </a:rPr>
              <a:t>INTRA-LIST DIVERSITY</a:t>
            </a:r>
          </a:p>
          <a:p>
            <a:pPr algn="ctr">
              <a:lnSpc>
                <a:spcPts val="3000"/>
              </a:lnSpc>
              <a:spcBef>
                <a:spcPts val="600"/>
              </a:spcBef>
              <a:buNone/>
            </a:pPr>
            <a:r>
              <a:rPr lang="en-US" sz="2600" b="true">
                <a:solidFill>
                  <a:srgbClr val="FFFFFF"/>
                </a:solidFill>
                <a:latin typeface="Nunito Ultra-Bold"/>
                <a:ea typeface="Nunito Ultra-Bold"/>
                <a:cs typeface="Nunito Ultra-Bold"/>
                <a:sym typeface="Nunito Ultra-Bold"/>
              </a:rPr>
              <a:t>+11.9 %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MovieLens-1M</a:t>
            </a:r>
          </a:p>
          <a:p>
            <a:pPr algn="ctr">
              <a:lnSpc>
                <a:spcPts val="3000"/>
              </a:lnSpc>
              <a:spcBef>
                <a:spcPts val="600"/>
              </a:spcBef>
              <a:buNone/>
            </a:pPr>
            <a:r>
              <a:rPr lang="en-US" sz="2600" b="true">
                <a:solidFill>
                  <a:srgbClr val="ECC665"/>
                </a:solidFill>
                <a:latin typeface="Nunito Ultra-Bold"/>
                <a:ea typeface="Nunito Ultra-Bold"/>
                <a:cs typeface="Nunito Ultra-Bold"/>
                <a:sym typeface="Nunito Ultra-Bold"/>
              </a:rPr>
              <a:t>+12.5 %</a:t>
            </a:r>
          </a:p>
          <a:p>
            <a:pPr algn="ctr">
              <a:lnSpc>
                <a:spcPts val="1500"/>
              </a:lnSpc>
              <a:spcBef>
                <a:spcPts val="0"/>
              </a:spcBef>
              <a:buNone/>
            </a:pPr>
            <a:r>
              <a:rPr lang="en-US" sz="1300" b="true">
                <a:solidFill>
                  <a:srgbClr val="DCE7E3"/>
                </a:solidFill>
                <a:latin typeface="Nunito Semi-Bold"/>
                <a:ea typeface="Nunito Semi-Bold"/>
                <a:cs typeface="Nunito Semi-Bold"/>
                <a:sym typeface="Nunito Semi-Bold"/>
              </a:rPr>
              <a:t>Amazon-Book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Coverage &amp; Diversity — No Accuracy Trade-Off</a:t>
            </a:r>
          </a:p>
        </p:txBody>
      </p:sp>
      <p:pic>
        <p:nvPicPr>
          <p:cNvPr id="8" name="Picture 7" descr="image.png"/>
          <p:cNvPicPr>
            <a:picLocks noChangeAspect="1"/>
          </p:cNvPicPr>
          <p:nvPr/>
        </p:nvPicPr>
        <p:blipFill>
          <a:blip r:embed="rId2"/>
          <a:stretch>
            <a:fillRect/>
          </a:stretch>
        </p:blipFill>
        <p:spPr>
          <a:xfrm>
            <a:off x="13344571" y="1673352"/>
            <a:ext cx="457200" cy="539881"/>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14" name="TextBox 13"/>
          <p:cNvSpPr txBox="1"/>
          <p:nvPr/>
        </p:nvSpPr>
        <p:spPr>
          <a:xfrm>
            <a:off x="102870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Coverage · MovieLens-1M</a:t>
            </a:r>
          </a:p>
        </p:txBody>
      </p:sp>
      <p:sp>
        <p:nvSpPr>
          <p:cNvPr id="15" name="Rounded Rectangle 14"/>
          <p:cNvSpPr/>
          <p:nvPr/>
        </p:nvSpPr>
        <p:spPr>
          <a:xfrm>
            <a:off x="1971675" y="5472720"/>
            <a:ext cx="822960" cy="1228561"/>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16" name="Rounded Rectangle 15"/>
          <p:cNvSpPr/>
          <p:nvPr/>
        </p:nvSpPr>
        <p:spPr>
          <a:xfrm>
            <a:off x="3114675" y="5275144"/>
            <a:ext cx="822960" cy="1426137"/>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17" name="TextBox 16"/>
          <p:cNvSpPr txBox="1"/>
          <p:nvPr/>
        </p:nvSpPr>
        <p:spPr>
          <a:xfrm>
            <a:off x="1788795" y="5106960"/>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0.342</a:t>
            </a:r>
          </a:p>
        </p:txBody>
      </p:sp>
      <p:sp>
        <p:nvSpPr>
          <p:cNvPr id="18" name="TextBox 17"/>
          <p:cNvSpPr txBox="1"/>
          <p:nvPr/>
        </p:nvSpPr>
        <p:spPr>
          <a:xfrm>
            <a:off x="2931795" y="4909384"/>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0.397</a:t>
            </a:r>
          </a:p>
        </p:txBody>
      </p:sp>
      <p:sp>
        <p:nvSpPr>
          <p:cNvPr id="19" name="TextBox 18"/>
          <p:cNvSpPr txBox="1"/>
          <p:nvPr/>
        </p:nvSpPr>
        <p:spPr>
          <a:xfrm>
            <a:off x="178879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20" name="TextBox 19"/>
          <p:cNvSpPr txBox="1"/>
          <p:nvPr/>
        </p:nvSpPr>
        <p:spPr>
          <a:xfrm>
            <a:off x="293179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21" name="Rounded Rectangle 20"/>
          <p:cNvSpPr/>
          <p:nvPr/>
        </p:nvSpPr>
        <p:spPr>
          <a:xfrm>
            <a:off x="226885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+16.1 %</a:t>
            </a:r>
          </a:p>
        </p:txBody>
      </p:sp>
      <p:sp>
        <p:nvSpPr>
          <p:cNvPr id="22" name="Rounded Rectangle 21"/>
          <p:cNvSpPr/>
          <p:nvPr/>
        </p:nvSpPr>
        <p:spPr>
          <a:xfrm>
            <a:off x="515493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23" name="TextBox 22"/>
          <p:cNvSpPr txBox="1"/>
          <p:nvPr/>
        </p:nvSpPr>
        <p:spPr>
          <a:xfrm>
            <a:off x="515493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ILD · MovieLens-1M</a:t>
            </a:r>
          </a:p>
        </p:txBody>
      </p:sp>
      <p:sp>
        <p:nvSpPr>
          <p:cNvPr id="24" name="Rounded Rectangle 23"/>
          <p:cNvSpPr/>
          <p:nvPr/>
        </p:nvSpPr>
        <p:spPr>
          <a:xfrm>
            <a:off x="6097905" y="5045238"/>
            <a:ext cx="822960" cy="1656043"/>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25" name="Rounded Rectangle 24"/>
          <p:cNvSpPr/>
          <p:nvPr/>
        </p:nvSpPr>
        <p:spPr>
          <a:xfrm>
            <a:off x="7240905" y="4847662"/>
            <a:ext cx="822960" cy="1853619"/>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26" name="TextBox 25"/>
          <p:cNvSpPr txBox="1"/>
          <p:nvPr/>
        </p:nvSpPr>
        <p:spPr>
          <a:xfrm>
            <a:off x="5915025" y="4679478"/>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0.461</a:t>
            </a:r>
          </a:p>
        </p:txBody>
      </p:sp>
      <p:sp>
        <p:nvSpPr>
          <p:cNvPr id="27" name="TextBox 26"/>
          <p:cNvSpPr txBox="1"/>
          <p:nvPr/>
        </p:nvSpPr>
        <p:spPr>
          <a:xfrm>
            <a:off x="7058025" y="4481902"/>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0.516</a:t>
            </a:r>
          </a:p>
        </p:txBody>
      </p:sp>
      <p:sp>
        <p:nvSpPr>
          <p:cNvPr id="28" name="TextBox 27"/>
          <p:cNvSpPr txBox="1"/>
          <p:nvPr/>
        </p:nvSpPr>
        <p:spPr>
          <a:xfrm>
            <a:off x="591502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29" name="TextBox 28"/>
          <p:cNvSpPr txBox="1"/>
          <p:nvPr/>
        </p:nvSpPr>
        <p:spPr>
          <a:xfrm>
            <a:off x="705802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30" name="Rounded Rectangle 29"/>
          <p:cNvSpPr/>
          <p:nvPr/>
        </p:nvSpPr>
        <p:spPr>
          <a:xfrm>
            <a:off x="639508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+11.9 %</a:t>
            </a:r>
          </a:p>
        </p:txBody>
      </p:sp>
      <p:sp>
        <p:nvSpPr>
          <p:cNvPr id="31" name="Rounded Rectangle 30"/>
          <p:cNvSpPr/>
          <p:nvPr/>
        </p:nvSpPr>
        <p:spPr>
          <a:xfrm>
            <a:off x="928116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928116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Coverage · Amazon-Book</a:t>
            </a:r>
          </a:p>
        </p:txBody>
      </p:sp>
      <p:sp>
        <p:nvSpPr>
          <p:cNvPr id="33" name="Rounded Rectangle 32"/>
          <p:cNvSpPr/>
          <p:nvPr/>
        </p:nvSpPr>
        <p:spPr>
          <a:xfrm>
            <a:off x="10224135" y="5770880"/>
            <a:ext cx="822960" cy="930402"/>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34" name="Rounded Rectangle 33"/>
          <p:cNvSpPr/>
          <p:nvPr/>
        </p:nvSpPr>
        <p:spPr>
          <a:xfrm>
            <a:off x="11367135" y="5494274"/>
            <a:ext cx="822960" cy="1207008"/>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10041255" y="5405120"/>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0.259</a:t>
            </a:r>
          </a:p>
        </p:txBody>
      </p:sp>
      <p:sp>
        <p:nvSpPr>
          <p:cNvPr id="36" name="TextBox 35"/>
          <p:cNvSpPr txBox="1"/>
          <p:nvPr/>
        </p:nvSpPr>
        <p:spPr>
          <a:xfrm>
            <a:off x="11184255" y="5128514"/>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0.336</a:t>
            </a:r>
          </a:p>
        </p:txBody>
      </p:sp>
      <p:sp>
        <p:nvSpPr>
          <p:cNvPr id="37" name="TextBox 36"/>
          <p:cNvSpPr txBox="1"/>
          <p:nvPr/>
        </p:nvSpPr>
        <p:spPr>
          <a:xfrm>
            <a:off x="1004125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38" name="TextBox 37"/>
          <p:cNvSpPr txBox="1"/>
          <p:nvPr/>
        </p:nvSpPr>
        <p:spPr>
          <a:xfrm>
            <a:off x="1118425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39" name="Rounded Rectangle 38"/>
          <p:cNvSpPr/>
          <p:nvPr/>
        </p:nvSpPr>
        <p:spPr>
          <a:xfrm>
            <a:off x="1052131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+29.7 %</a:t>
            </a:r>
          </a:p>
        </p:txBody>
      </p:sp>
      <p:sp>
        <p:nvSpPr>
          <p:cNvPr id="40" name="Rounded Rectangle 39"/>
          <p:cNvSpPr/>
          <p:nvPr/>
        </p:nvSpPr>
        <p:spPr>
          <a:xfrm>
            <a:off x="13407390" y="3455162"/>
            <a:ext cx="3851910" cy="3931920"/>
          </a:xfrm>
          <a:prstGeom prst="roundRect">
            <a:avLst>
              <a:gd name="adj" fmla="val 5934"/>
            </a:avLst>
          </a:prstGeom>
          <a:solidFill>
            <a:srgbClr val="F6ECDF"/>
          </a:solidFill>
          <a:ln>
            <a:noFill/>
          </a:ln>
        </p:spPr>
        <p:txBody>
          <a:bodyPr anchor="ctr" rtlCol="false" lIns="0" tIns="0" rIns="0" bIns="0" wrap="square"/>
          <a:lstStyle/>
          <a:p>
            <a:endParaRPr lang="en-US" sz="1800"/>
          </a:p>
        </p:txBody>
      </p:sp>
      <p:sp>
        <p:nvSpPr>
          <p:cNvPr id="41" name="TextBox 40"/>
          <p:cNvSpPr txBox="1"/>
          <p:nvPr/>
        </p:nvSpPr>
        <p:spPr>
          <a:xfrm>
            <a:off x="13407390" y="3592322"/>
            <a:ext cx="385191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111111"/>
                </a:solidFill>
                <a:latin typeface="Nunito Ultra-Bold"/>
                <a:ea typeface="Nunito Ultra-Bold"/>
                <a:cs typeface="Nunito Ultra-Bold"/>
                <a:sym typeface="Nunito Ultra-Bold"/>
              </a:rPr>
              <a:t>ILD · Amazon-Book</a:t>
            </a:r>
          </a:p>
        </p:txBody>
      </p:sp>
      <p:sp>
        <p:nvSpPr>
          <p:cNvPr id="42" name="Rounded Rectangle 41"/>
          <p:cNvSpPr/>
          <p:nvPr/>
        </p:nvSpPr>
        <p:spPr>
          <a:xfrm>
            <a:off x="14350365" y="4779409"/>
            <a:ext cx="822960" cy="1921872"/>
          </a:xfrm>
          <a:prstGeom prst="roundRect">
            <a:avLst>
              <a:gd name="adj" fmla="val 5555"/>
            </a:avLst>
          </a:prstGeom>
          <a:solidFill>
            <a:srgbClr val="B9B2A6"/>
          </a:solidFill>
          <a:ln>
            <a:noFill/>
          </a:ln>
        </p:spPr>
        <p:txBody>
          <a:bodyPr anchor="ctr" rtlCol="false" lIns="0" tIns="0" rIns="0" bIns="0" wrap="square"/>
          <a:lstStyle/>
          <a:p>
            <a:endParaRPr lang="en-US" sz="1800"/>
          </a:p>
        </p:txBody>
      </p:sp>
      <p:sp>
        <p:nvSpPr>
          <p:cNvPr id="43" name="Rounded Rectangle 42"/>
          <p:cNvSpPr/>
          <p:nvPr/>
        </p:nvSpPr>
        <p:spPr>
          <a:xfrm>
            <a:off x="15493365" y="4538726"/>
            <a:ext cx="822960" cy="2162556"/>
          </a:xfrm>
          <a:prstGeom prst="roundRect">
            <a:avLst>
              <a:gd name="adj" fmla="val 5555"/>
            </a:avLst>
          </a:prstGeom>
          <a:solidFill>
            <a:srgbClr val="124944"/>
          </a:solidFill>
          <a:ln>
            <a:noFill/>
          </a:ln>
        </p:spPr>
        <p:txBody>
          <a:bodyPr anchor="ctr" rtlCol="false" lIns="0" tIns="0" rIns="0" bIns="0" wrap="square"/>
          <a:lstStyle/>
          <a:p>
            <a:endParaRPr lang="en-US" sz="1800"/>
          </a:p>
        </p:txBody>
      </p:sp>
      <p:sp>
        <p:nvSpPr>
          <p:cNvPr id="44" name="TextBox 43"/>
          <p:cNvSpPr txBox="1"/>
          <p:nvPr/>
        </p:nvSpPr>
        <p:spPr>
          <a:xfrm>
            <a:off x="14167485" y="4413649"/>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0.535</a:t>
            </a:r>
          </a:p>
        </p:txBody>
      </p:sp>
      <p:sp>
        <p:nvSpPr>
          <p:cNvPr id="45" name="TextBox 44"/>
          <p:cNvSpPr txBox="1"/>
          <p:nvPr/>
        </p:nvSpPr>
        <p:spPr>
          <a:xfrm>
            <a:off x="15310485" y="4172966"/>
            <a:ext cx="1188720" cy="32004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124944"/>
                </a:solidFill>
                <a:latin typeface="Nunito Ultra-Bold"/>
                <a:ea typeface="Nunito Ultra-Bold"/>
                <a:cs typeface="Nunito Ultra-Bold"/>
                <a:sym typeface="Nunito Ultra-Bold"/>
              </a:rPr>
              <a:t>0.602</a:t>
            </a:r>
          </a:p>
        </p:txBody>
      </p:sp>
      <p:sp>
        <p:nvSpPr>
          <p:cNvPr id="46" name="TextBox 45"/>
          <p:cNvSpPr txBox="1"/>
          <p:nvPr/>
        </p:nvSpPr>
        <p:spPr>
          <a:xfrm>
            <a:off x="1416748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8A8378"/>
                </a:solidFill>
                <a:latin typeface="Nunito Semi-Bold"/>
                <a:ea typeface="Nunito Semi-Bold"/>
                <a:cs typeface="Nunito Semi-Bold"/>
                <a:sym typeface="Nunito Semi-Bold"/>
              </a:rPr>
              <a:t>HPCF</a:t>
            </a:r>
          </a:p>
        </p:txBody>
      </p:sp>
      <p:sp>
        <p:nvSpPr>
          <p:cNvPr id="47" name="TextBox 46"/>
          <p:cNvSpPr txBox="1"/>
          <p:nvPr/>
        </p:nvSpPr>
        <p:spPr>
          <a:xfrm>
            <a:off x="15310485" y="6747002"/>
            <a:ext cx="1188720" cy="274320"/>
          </a:xfrm>
          <a:prstGeom prst="rect">
            <a:avLst/>
          </a:prstGeom>
          <a:noFill/>
        </p:spPr>
        <p:txBody>
          <a:bodyPr anchor="t" rtlCol="false" lIns="0" tIns="0" rIns="0" bIns="0" wrap="square"/>
          <a:lstStyle/>
          <a:p>
            <a:pPr algn="ctr">
              <a:lnSpc>
                <a:spcPts val="1500"/>
              </a:lnSpc>
              <a:spcBef>
                <a:spcPts val="0"/>
              </a:spcBef>
              <a:buNone/>
            </a:pPr>
            <a:r>
              <a:rPr lang="en-US" sz="1300" b="true">
                <a:solidFill>
                  <a:srgbClr val="124944"/>
                </a:solidFill>
                <a:latin typeface="Nunito Bold"/>
                <a:ea typeface="Nunito Bold"/>
                <a:cs typeface="Nunito Bold"/>
                <a:sym typeface="Nunito Bold"/>
              </a:rPr>
              <a:t>DyHuCoG</a:t>
            </a:r>
          </a:p>
        </p:txBody>
      </p:sp>
      <p:sp>
        <p:nvSpPr>
          <p:cNvPr id="48" name="Rounded Rectangle 47"/>
          <p:cNvSpPr/>
          <p:nvPr/>
        </p:nvSpPr>
        <p:spPr>
          <a:xfrm>
            <a:off x="14647545" y="7021322"/>
            <a:ext cx="1371600" cy="310896"/>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+12.5 %</a:t>
            </a:r>
          </a:p>
        </p:txBody>
      </p:sp>
      <p:sp>
        <p:nvSpPr>
          <p:cNvPr id="49" name="Rounded Rectangle 48"/>
          <p:cNvSpPr/>
          <p:nvPr/>
        </p:nvSpPr>
        <p:spPr>
          <a:xfrm>
            <a:off x="1028700" y="7798562"/>
            <a:ext cx="16230600" cy="1555750"/>
          </a:xfrm>
          <a:prstGeom prst="roundRect">
            <a:avLst>
              <a:gd name="adj" fmla="val 14693"/>
            </a:avLst>
          </a:prstGeom>
          <a:solidFill>
            <a:srgbClr val="124944"/>
          </a:solidFill>
          <a:ln>
            <a:noFill/>
          </a:ln>
        </p:spPr>
        <p:txBody>
          <a:bodyPr anchor="ctr" rtlCol="false" lIns="457200" tIns="91440" rIns="457200" bIns="91440" wrap="square"/>
          <a:lstStyle/>
          <a:p>
            <a:pPr algn="ctr">
              <a:lnSpc>
                <a:spcPts val="2800"/>
              </a:lnSpc>
              <a:spcBef>
                <a:spcPts val="0"/>
              </a:spcBef>
              <a:buNone/>
            </a:pPr>
            <a:r>
              <a:rPr lang="en-US" sz="2200" b="true">
                <a:solidFill>
                  <a:srgbClr val="FFFFFF"/>
                </a:solidFill>
                <a:latin typeface="Nunito Bold"/>
                <a:ea typeface="Nunito Bold"/>
                <a:cs typeface="Nunito Bold"/>
                <a:sym typeface="Nunito Bold"/>
              </a:rPr>
              <a:t>Reduced filter-bubble effect and greater discovery opportunity</a:t>
            </a:r>
            <a:r>
              <a:rPr lang="en-US" sz="2200" b="true">
                <a:solidFill>
                  <a:srgbClr val="FFFFFF"/>
                </a:solidFill>
                <a:latin typeface="Nunito Semi-Bold"/>
                <a:ea typeface="Nunito Semi-Bold"/>
                <a:cs typeface="Nunito Semi-Bold"/>
                <a:sym typeface="Nunito Semi-Bold"/>
              </a:rPr>
              <a:t> — while NDCG and Recall also improve, so </a:t>
            </a:r>
            <a:r>
              <a:rPr lang="en-US" sz="2200" b="true">
                <a:solidFill>
                  <a:srgbClr val="FFFFFF"/>
                </a:solidFill>
                <a:latin typeface="Nunito Bold"/>
                <a:ea typeface="Nunito Bold"/>
                <a:cs typeface="Nunito Bold"/>
                <a:sym typeface="Nunito Bold"/>
              </a:rPr>
              <a:t>accuracy is not traded off for diversity</a:t>
            </a:r>
            <a:r>
              <a:rPr lang="en-US" sz="220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 Every Component Contributes</a:t>
            </a:r>
          </a:p>
        </p:txBody>
      </p:sp>
      <p:pic>
        <p:nvPicPr>
          <p:cNvPr id="8" name="Picture 7" descr="image.png"/>
          <p:cNvPicPr>
            <a:picLocks noChangeAspect="1"/>
          </p:cNvPicPr>
          <p:nvPr/>
        </p:nvPicPr>
        <p:blipFill>
          <a:blip r:embed="rId2"/>
          <a:stretch>
            <a:fillRect/>
          </a:stretch>
        </p:blipFill>
        <p:spPr>
          <a:xfrm>
            <a:off x="11955343" y="1673352"/>
            <a:ext cx="457200" cy="373212"/>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13" name="Table 12"/>
          <p:cNvGraphicFramePr>
            <a:graphicFrameLocks noGrp="1"/>
          </p:cNvGraphicFramePr>
          <p:nvPr/>
        </p:nvGraphicFramePr>
        <p:xfrm>
          <a:off x="1028700" y="3363722"/>
          <a:ext cx="9692640" cy="4650232"/>
        </p:xfrm>
        <a:graphic>
          <a:graphicData uri="http://schemas.openxmlformats.org/drawingml/2006/table">
            <a:tbl>
              <a:tblPr firstRow="0" bandRow="0" firstCol="0" lastRow="0" lastCol="0" bandCol="0">
                <a:tableStyleId>{2D5ABB26-0587-4C30-8999-92F81FD0307C}</a:tableStyleId>
              </a:tblPr>
              <a:tblGrid>
                <a:gridCol w="2743200"/>
                <a:gridCol w="2011680"/>
                <a:gridCol w="1371600"/>
                <a:gridCol w="2194560"/>
                <a:gridCol w="1371600"/>
              </a:tblGrid>
              <a:tr h="809752">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Variant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ML-1M NDCG@20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 drop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Amazon NDCG@20</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 drop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Full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0.0306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Shapley value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0.2647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4.6 %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0.0287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6.1 %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0.2586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6.8 %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0.0279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8.9 %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Attention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0.2678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3.5 %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3.5 %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Context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0.2547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8.2 %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11.0 %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40080">
                <a:tc>
                  <a:txBody>
                    <a:bodyPr anchor="ctr" rtlCol="false" lIns="0" tIns="0" rIns="0" bIns="0" wrap="square"/>
                    <a:lstStyle/>
                    <a:p>
                      <a:pPr algn="l">
                        <a:lnSpc>
                          <a:spcPts val="2470"/>
                        </a:lnSpc>
                        <a:spcBef>
                          <a:spcPts val="0"/>
                        </a:spcBef>
                        <a:buNone/>
                      </a:pPr>
                      <a:r>
                        <a:rPr lang="en-US" sz="1900" b="true">
                          <a:solidFill>
                            <a:srgbClr val="111111"/>
                          </a:solidFill>
                          <a:latin typeface="Nunito Bold"/>
                          <a:ea typeface="Nunito Bold"/>
                          <a:cs typeface="Nunito Bold"/>
                          <a:sym typeface="Nunito Bold"/>
                        </a:rPr>
                        <a:t>w/o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0.2614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5.8 %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0.0288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470"/>
                        </a:lnSpc>
                        <a:spcBef>
                          <a:spcPts val="0"/>
                        </a:spcBef>
                        <a:buNone/>
                      </a:pPr>
                      <a:r>
                        <a:rPr lang="en-US" sz="1900" b="true">
                          <a:solidFill>
                            <a:srgbClr val="111111"/>
                          </a:solidFill>
                          <a:latin typeface="Nunito Semi-Bold"/>
                          <a:ea typeface="Nunito Semi-Bold"/>
                          <a:cs typeface="Nunito Semi-Bold"/>
                          <a:sym typeface="Nunito Semi-Bold"/>
                        </a:rPr>
                        <a:t>5.8 %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1178540" y="3592322"/>
            <a:ext cx="608076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11635740" y="3354578"/>
            <a:ext cx="175740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Reading</a:t>
            </a:r>
          </a:p>
        </p:txBody>
      </p:sp>
      <p:sp>
        <p:nvSpPr>
          <p:cNvPr id="16" name="TextBox 15"/>
          <p:cNvSpPr txBox="1"/>
          <p:nvPr/>
        </p:nvSpPr>
        <p:spPr>
          <a:xfrm>
            <a:off x="11635740" y="4232402"/>
            <a:ext cx="5212080" cy="4801870"/>
          </a:xfrm>
          <a:prstGeom prst="rect">
            <a:avLst/>
          </a:prstGeom>
          <a:noFill/>
        </p:spPr>
        <p:txBody>
          <a:bodyPr anchor="t" rtlCol="false" lIns="0" tIns="0" rIns="0" bIns="0" wrap="square"/>
          <a:lstStyle/>
          <a:p>
            <a:pPr algn="l" marL="274320" indent="-274320">
              <a:lnSpc>
                <a:spcPts val="2412"/>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Context</a:t>
            </a:r>
            <a:r>
              <a:rPr lang="en-US" sz="1800" b="true">
                <a:solidFill>
                  <a:srgbClr val="FFFFFF"/>
                </a:solidFill>
                <a:latin typeface="Nunito Semi-Bold"/>
                <a:ea typeface="Nunito Semi-Bold"/>
                <a:cs typeface="Nunito Semi-Bold"/>
                <a:sym typeface="Nunito Semi-Bold"/>
              </a:rPr>
              <a:t> is the most influential component (−8.2 % / −11.0 %).</a:t>
            </a:r>
          </a:p>
          <a:p>
            <a:pPr algn="l" marL="274320" indent="-274320">
              <a:lnSpc>
                <a:spcPts val="2412"/>
              </a:lnSpc>
              <a:spcBef>
                <a:spcPts val="8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Hypergraph</a:t>
            </a:r>
            <a:r>
              <a:rPr lang="en-US" sz="1800" b="true">
                <a:solidFill>
                  <a:srgbClr val="FFFFFF"/>
                </a:solidFill>
                <a:latin typeface="Nunito Semi-Bold"/>
                <a:ea typeface="Nunito Semi-Bold"/>
                <a:cs typeface="Nunito Semi-Bold"/>
                <a:sym typeface="Nunito Semi-Bold"/>
              </a:rPr>
              <a:t> structure second (−6.8 % / −8.9 %).</a:t>
            </a:r>
          </a:p>
          <a:p>
            <a:pPr algn="l" marL="274320" indent="-274320">
              <a:lnSpc>
                <a:spcPts val="2412"/>
              </a:lnSpc>
              <a:spcBef>
                <a:spcPts val="8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Removing </a:t>
            </a:r>
            <a:r>
              <a:rPr lang="en-US" sz="1800" b="true">
                <a:solidFill>
                  <a:srgbClr val="FFFFFF"/>
                </a:solidFill>
                <a:latin typeface="Nunito Bold"/>
                <a:ea typeface="Nunito Bold"/>
                <a:cs typeface="Nunito Bold"/>
                <a:sym typeface="Nunito Bold"/>
              </a:rPr>
              <a:t>Shapley</a:t>
            </a:r>
            <a:r>
              <a:rPr lang="en-US" sz="1800" b="true">
                <a:solidFill>
                  <a:srgbClr val="FFFFFF"/>
                </a:solidFill>
                <a:latin typeface="Nunito Semi-Bold"/>
                <a:ea typeface="Nunito Semi-Bold"/>
                <a:cs typeface="Nunito Semi-Bold"/>
                <a:sym typeface="Nunito Semi-Bold"/>
              </a:rPr>
              <a:t> weighting costs 4.6 % / 6.1 % — larger on the sparser dataset.</a:t>
            </a:r>
          </a:p>
          <a:p>
            <a:pPr algn="l" marL="274320" indent="-274320">
              <a:lnSpc>
                <a:spcPts val="2412"/>
              </a:lnSpc>
              <a:spcBef>
                <a:spcPts val="8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Ablation is component-wise; it does not test factorial interactions.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8" name="Picture 7" descr="image.png"/>
          <p:cNvPicPr>
            <a:picLocks noChangeAspect="1"/>
          </p:cNvPicPr>
          <p:nvPr/>
        </p:nvPicPr>
        <p:blipFill>
          <a:blip r:embed="rId2"/>
          <a:stretch>
            <a:fillRect/>
          </a:stretch>
        </p:blipFill>
        <p:spPr>
          <a:xfrm>
            <a:off x="10646093" y="1673352"/>
            <a:ext cx="457200" cy="427074"/>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14" name="Rounded Rectangle 13"/>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15" name="Rounded Rectangle 14"/>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16" name="Rounded Rectangle 15"/>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17" name="Rounded Rectangle 16"/>
          <p:cNvSpPr/>
          <p:nvPr/>
        </p:nvSpPr>
        <p:spPr>
          <a:xfrm>
            <a:off x="1028700" y="6198362"/>
            <a:ext cx="7932420" cy="3155950"/>
          </a:xfrm>
          <a:prstGeom prst="roundRect">
            <a:avLst>
              <a:gd name="adj" fmla="val 9851"/>
            </a:avLst>
          </a:prstGeom>
          <a:solidFill>
            <a:srgbClr val="F6ECDF"/>
          </a:solidFill>
          <a:ln>
            <a:noFill/>
          </a:ln>
        </p:spPr>
        <p:txBody>
          <a:bodyPr anchor="ctr" rtlCol="false" lIns="0" tIns="0" rIns="0" bIns="0" wrap="square"/>
          <a:lstStyle/>
          <a:p>
            <a:endParaRPr lang="en-US" sz="1800"/>
          </a:p>
        </p:txBody>
      </p:sp>
      <p:sp>
        <p:nvSpPr>
          <p:cNvPr id="18" name="Rounded Rectangle 17"/>
          <p:cNvSpPr/>
          <p:nvPr/>
        </p:nvSpPr>
        <p:spPr>
          <a:xfrm>
            <a:off x="1485900" y="596061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19" name="TextBox 18"/>
          <p:cNvSpPr txBox="1"/>
          <p:nvPr/>
        </p:nvSpPr>
        <p:spPr>
          <a:xfrm>
            <a:off x="1531620" y="6838442"/>
            <a:ext cx="6972300" cy="2241550"/>
          </a:xfrm>
          <a:prstGeom prst="rect">
            <a:avLst/>
          </a:prstGeom>
          <a:noFill/>
        </p:spPr>
        <p:txBody>
          <a:bodyPr anchor="t" rtlCol="false" lIns="0" tIns="0" rIns="0" bIns="0" wrap="square"/>
          <a:lstStyle/>
          <a:p>
            <a:pPr algn="l" marL="274320" indent="-274320">
              <a:lnSpc>
                <a:spcPts val="2680"/>
              </a:lnSpc>
              <a:spcBef>
                <a:spcPts val="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Per-epoch cost: </a:t>
            </a:r>
            <a:r>
              <a:rPr lang="en-US" sz="2000" b="true">
                <a:solidFill>
                  <a:srgbClr val="111111"/>
                </a:solidFill>
                <a:latin typeface="Nunito Bold"/>
                <a:ea typeface="Nunito Bold"/>
                <a:cs typeface="Nunito Bold"/>
                <a:sym typeface="Nunito Bold"/>
              </a:rPr>
              <a:t>O((L+1)md) + O((M/f)m)</a:t>
            </a:r>
            <a:r>
              <a:rPr lang="en-US" sz="2000" b="true">
                <a:solidFill>
                  <a:srgbClr val="111111"/>
                </a:solidFill>
                <a:latin typeface="Nunito Semi-Bold"/>
                <a:ea typeface="Nunito Semi-Bold"/>
                <a:cs typeface="Nunito Semi-Bold"/>
                <a:sym typeface="Nunito Semi-Bold"/>
              </a:rPr>
              <a:t> — propagation plus periodic Shapley refresh.</a:t>
            </a:r>
          </a:p>
          <a:p>
            <a:pPr algn="l" marL="274320" indent="-274320">
              <a:lnSpc>
                <a:spcPts val="268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Refresh every f = 10 batches keeps the overhead bounded.</a:t>
            </a:r>
          </a:p>
          <a:p>
            <a:pPr algn="l" marL="274320" indent="-274320">
              <a:lnSpc>
                <a:spcPts val="268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Inference latency is </a:t>
            </a:r>
            <a:r>
              <a:rPr lang="en-US" sz="2000" b="true">
                <a:solidFill>
                  <a:srgbClr val="111111"/>
                </a:solidFill>
                <a:latin typeface="Nunito Bold"/>
                <a:ea typeface="Nunito Bold"/>
                <a:cs typeface="Nunito Bold"/>
                <a:sym typeface="Nunito Bold"/>
              </a:rPr>
              <a:t>suitable for real-time deployment</a:t>
            </a:r>
            <a:r>
              <a:rPr lang="en-US" sz="2000" b="true">
                <a:solidFill>
                  <a:srgbClr val="111111"/>
                </a:solidFill>
                <a:latin typeface="Nunito Semi-Bold"/>
                <a:ea typeface="Nunito Semi-Bold"/>
                <a:cs typeface="Nunito Semi-Bold"/>
                <a:sym typeface="Nunito Semi-Bold"/>
              </a:rPr>
              <a:t>.</a:t>
            </a:r>
          </a:p>
        </p:txBody>
      </p:sp>
      <p:sp>
        <p:nvSpPr>
          <p:cNvPr id="20" name="Rounded Rectangle 19"/>
          <p:cNvSpPr/>
          <p:nvPr/>
        </p:nvSpPr>
        <p:spPr>
          <a:xfrm>
            <a:off x="9326880" y="6198362"/>
            <a:ext cx="7932420" cy="3155950"/>
          </a:xfrm>
          <a:prstGeom prst="roundRect">
            <a:avLst>
              <a:gd name="adj" fmla="val 9851"/>
            </a:avLst>
          </a:prstGeom>
          <a:solidFill>
            <a:srgbClr val="124944"/>
          </a:solidFill>
          <a:ln>
            <a:noFill/>
          </a:ln>
        </p:spPr>
        <p:txBody>
          <a:bodyPr anchor="ctr" rtlCol="false" lIns="0" tIns="0" rIns="0" bIns="0" wrap="square"/>
          <a:lstStyle/>
          <a:p>
            <a:endParaRPr lang="en-US" sz="1800"/>
          </a:p>
        </p:txBody>
      </p:sp>
      <p:sp>
        <p:nvSpPr>
          <p:cNvPr id="21" name="Rounded Rectangle 20"/>
          <p:cNvSpPr/>
          <p:nvPr/>
        </p:nvSpPr>
        <p:spPr>
          <a:xfrm>
            <a:off x="9784080" y="596061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22" name="TextBox 21"/>
          <p:cNvSpPr txBox="1"/>
          <p:nvPr/>
        </p:nvSpPr>
        <p:spPr>
          <a:xfrm>
            <a:off x="9829800" y="6838442"/>
            <a:ext cx="6972300" cy="224155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 measurable, but modest.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8" name="Picture 7" descr="image.png"/>
          <p:cNvPicPr>
            <a:picLocks noChangeAspect="1"/>
          </p:cNvPicPr>
          <p:nvPr/>
        </p:nvPicPr>
        <p:blipFill>
          <a:blip r:embed="rId2"/>
          <a:stretch>
            <a:fillRect/>
          </a:stretch>
        </p:blipFill>
        <p:spPr>
          <a:xfrm>
            <a:off x="7141903" y="1673352"/>
            <a:ext cx="457200" cy="399005"/>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455162"/>
            <a:ext cx="5196840" cy="2194560"/>
          </a:xfrm>
          <a:prstGeom prst="roundRect">
            <a:avLst>
              <a:gd name="adj" fmla="val 12500"/>
            </a:avLst>
          </a:prstGeom>
          <a:solidFill>
            <a:srgbClr val="124944"/>
          </a:solidFill>
          <a:ln>
            <a:noFill/>
          </a:ln>
        </p:spPr>
        <p:txBody>
          <a:bodyPr anchor="ctr" rtlCol="false" lIns="137160" tIns="91440" rIns="137160" bIns="91440" wrap="square"/>
          <a:lstStyle/>
          <a:p>
            <a:pPr algn="ctr">
              <a:lnSpc>
                <a:spcPts val="4180"/>
              </a:lnSpc>
              <a:spcBef>
                <a:spcPts val="0"/>
              </a:spcBef>
              <a:buNone/>
            </a:pPr>
            <a:r>
              <a:rPr lang="en-US" sz="3800" b="true">
                <a:solidFill>
                  <a:srgbClr val="ECC665"/>
                </a:solidFill>
                <a:latin typeface="Nunito Ultra-Bold"/>
                <a:ea typeface="Nunito Ultra-Bold"/>
                <a:cs typeface="Nunito Ultra-Bold"/>
                <a:sym typeface="Nunito Ultra-Bold"/>
              </a:rPr>
              <a:t>t = 46.38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14" name="Rounded Rectangle 13"/>
          <p:cNvSpPr/>
          <p:nvPr/>
        </p:nvSpPr>
        <p:spPr>
          <a:xfrm>
            <a:off x="6545580" y="3455162"/>
            <a:ext cx="5196840" cy="2194560"/>
          </a:xfrm>
          <a:prstGeom prst="roundRect">
            <a:avLst>
              <a:gd name="adj" fmla="val 12500"/>
            </a:avLst>
          </a:prstGeom>
          <a:solidFill>
            <a:srgbClr val="1E5F58"/>
          </a:solidFill>
          <a:ln>
            <a:noFill/>
          </a:ln>
        </p:spPr>
        <p:txBody>
          <a:bodyPr anchor="ctr" rtlCol="false" lIns="137160" tIns="91440" rIns="137160" bIns="91440" wrap="square"/>
          <a:lstStyle/>
          <a:p>
            <a:pPr algn="ctr">
              <a:lnSpc>
                <a:spcPts val="4180"/>
              </a:lnSpc>
              <a:spcBef>
                <a:spcPts val="0"/>
              </a:spcBef>
              <a:buNone/>
            </a:pPr>
            <a:r>
              <a:rPr lang="en-US" sz="3800" b="true">
                <a:solidFill>
                  <a:srgbClr val="ECC665"/>
                </a:solidFill>
                <a:latin typeface="Nunito Ultra-Bold"/>
                <a:ea typeface="Nunito Ultra-Bold"/>
                <a:cs typeface="Nunito Ultra-Bold"/>
                <a:sym typeface="Nunito Ultra-Bold"/>
              </a:rPr>
              <a:t>d</a:t>
            </a:r>
            <a:r>
              <a:rPr lang="en-US" sz="3800" b="true" baseline="-25000">
                <a:solidFill>
                  <a:srgbClr val="ECC665"/>
                </a:solidFill>
                <a:latin typeface="Nunito Ultra-Bold"/>
                <a:ea typeface="Nunito Ultra-Bold"/>
                <a:cs typeface="Nunito Ultra-Bold"/>
                <a:sym typeface="Nunito Ultra-Bold"/>
              </a:rPr>
              <a:t>z</a:t>
            </a:r>
            <a:r>
              <a:rPr lang="en-US" sz="3800" b="true">
                <a:solidFill>
                  <a:srgbClr val="ECC665"/>
                </a:solidFill>
                <a:latin typeface="Nunito Ultra-Bold"/>
                <a:ea typeface="Nunito Ultra-Bold"/>
                <a:cs typeface="Nunito Ultra-Bold"/>
                <a:sym typeface="Nunito Ultra-Bold"/>
              </a:rPr>
              <a:t> = 1.33</a:t>
            </a:r>
          </a:p>
          <a:p>
            <a:pPr algn="ctr">
              <a:lnSpc>
                <a:spcPts val="2125"/>
              </a:lnSpc>
              <a:spcBef>
                <a:spcPts val="40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15" name="Rounded Rectangle 14"/>
          <p:cNvSpPr/>
          <p:nvPr/>
        </p:nvSpPr>
        <p:spPr>
          <a:xfrm>
            <a:off x="12062460" y="3455162"/>
            <a:ext cx="5196840" cy="2194560"/>
          </a:xfrm>
          <a:prstGeom prst="roundRect">
            <a:avLst>
              <a:gd name="adj" fmla="val 12500"/>
            </a:avLst>
          </a:prstGeom>
          <a:solidFill>
            <a:srgbClr val="DF8330"/>
          </a:solidFill>
          <a:ln>
            <a:noFill/>
          </a:ln>
        </p:spPr>
        <p:txBody>
          <a:bodyPr anchor="ctr" rtlCol="false" lIns="137160" tIns="91440" rIns="137160" bIns="91440" wrap="square"/>
          <a:lstStyle/>
          <a:p>
            <a:pPr algn="ctr">
              <a:lnSpc>
                <a:spcPts val="3740"/>
              </a:lnSpc>
              <a:spcBef>
                <a:spcPts val="0"/>
              </a:spcBef>
              <a:buNone/>
            </a:pPr>
            <a:r>
              <a:rPr lang="en-US" sz="3400" b="true">
                <a:solidFill>
                  <a:srgbClr val="FFFFFF"/>
                </a:solidFill>
                <a:latin typeface="Nunito Ultra-Bold"/>
                <a:ea typeface="Nunito Ultra-Bold"/>
                <a:cs typeface="Nunito Ultra-Bold"/>
                <a:sym typeface="Nunito Ultra-Bold"/>
              </a:rPr>
              <a:t>p = 1.8×10</a:t>
            </a:r>
            <a:r>
              <a:rPr lang="en-US" sz="3400" b="true" baseline="30000">
                <a:solidFill>
                  <a:srgbClr val="FFFFFF"/>
                </a:solidFill>
                <a:latin typeface="Nunito Ultra-Bold"/>
                <a:ea typeface="Nunito Ultra-Bold"/>
                <a:cs typeface="Nunito Ultra-Bold"/>
                <a:sym typeface="Nunito Ultra-Bold"/>
              </a:rPr>
              <a:t>−270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16" name="Rounded Rectangle 15"/>
          <p:cNvSpPr/>
          <p:nvPr/>
        </p:nvSpPr>
        <p:spPr>
          <a:xfrm>
            <a:off x="1028700" y="6289802"/>
            <a:ext cx="16230600" cy="3018790"/>
          </a:xfrm>
          <a:prstGeom prst="roundRect">
            <a:avLst>
              <a:gd name="adj" fmla="val 1029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1485900" y="605205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18" name="TextBox 17"/>
          <p:cNvSpPr txBox="1"/>
          <p:nvPr/>
        </p:nvSpPr>
        <p:spPr>
          <a:xfrm>
            <a:off x="1531620" y="6929882"/>
            <a:ext cx="15270480" cy="210439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814"/>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outperforms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extremely small p-values after Holm–Bonferroni correction.</a:t>
            </a:r>
          </a:p>
          <a:p>
            <a:pPr algn="l" marL="274320" indent="-274320">
              <a:lnSpc>
                <a:spcPts val="2814"/>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 the result does not depend on normality.</a:t>
            </a:r>
          </a:p>
          <a:p>
            <a:pPr algn="l" marL="274320" indent="-274320">
              <a:lnSpc>
                <a:spcPts val="2814"/>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 improvements are substantively meaningful, not merely statistically visible.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Cold-Start, Cross-Dataset Robustness and Interpretability</a:t>
            </a:r>
          </a:p>
        </p:txBody>
      </p:sp>
      <p:pic>
        <p:nvPicPr>
          <p:cNvPr id="8" name="Picture 7" descr="image.png"/>
          <p:cNvPicPr>
            <a:picLocks noChangeAspect="1"/>
          </p:cNvPicPr>
          <p:nvPr/>
        </p:nvPicPr>
        <p:blipFill>
          <a:blip r:embed="rId2"/>
          <a:stretch>
            <a:fillRect/>
          </a:stretch>
        </p:blipFill>
        <p:spPr>
          <a:xfrm>
            <a:off x="16119690" y="1673352"/>
            <a:ext cx="457200" cy="446713"/>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13" name="Rounded Rectangle 12"/>
          <p:cNvSpPr/>
          <p:nvPr/>
        </p:nvSpPr>
        <p:spPr>
          <a:xfrm>
            <a:off x="1028700" y="3592322"/>
            <a:ext cx="7932420" cy="2926080"/>
          </a:xfrm>
          <a:prstGeom prst="roundRect">
            <a:avLst>
              <a:gd name="adj" fmla="val 10625"/>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4398958"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Cold-start (≤ 5 interactions)</a:t>
            </a:r>
          </a:p>
        </p:txBody>
      </p:sp>
      <p:sp>
        <p:nvSpPr>
          <p:cNvPr id="15" name="TextBox 14"/>
          <p:cNvSpPr txBox="1"/>
          <p:nvPr/>
        </p:nvSpPr>
        <p:spPr>
          <a:xfrm>
            <a:off x="1531620" y="4232402"/>
            <a:ext cx="6972300" cy="2011680"/>
          </a:xfrm>
          <a:prstGeom prst="rect">
            <a:avLst/>
          </a:prstGeom>
          <a:noFill/>
        </p:spPr>
        <p:txBody>
          <a:bodyPr anchor="t" rtlCol="false" lIns="0" tIns="0" rIns="0" bIns="0" wrap="square"/>
          <a:lstStyle/>
          <a:p>
            <a:pPr algn="l" marL="274320" indent="-274320">
              <a:lnSpc>
                <a:spcPts val="268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NDCG@20 ≈ </a:t>
            </a:r>
            <a:r>
              <a:rPr lang="en-US" sz="2000" b="true">
                <a:solidFill>
                  <a:srgbClr val="FFFFFF"/>
                </a:solidFill>
                <a:latin typeface="Nunito Bold"/>
                <a:ea typeface="Nunito Bold"/>
                <a:cs typeface="Nunito Bold"/>
                <a:sym typeface="Nunito Bold"/>
              </a:rPr>
              <a:t>0.061</a:t>
            </a:r>
            <a:r>
              <a:rPr lang="en-US" sz="2000" b="true">
                <a:solidFill>
                  <a:srgbClr val="FFFFFF"/>
                </a:solidFill>
                <a:latin typeface="Nunito Semi-Bold"/>
                <a:ea typeface="Nunito Semi-Bold"/>
                <a:cs typeface="Nunito Semi-Bold"/>
                <a:sym typeface="Nunito Semi-Bold"/>
              </a:rPr>
              <a:t> (user) and </a:t>
            </a:r>
            <a:r>
              <a:rPr lang="en-US" sz="2000" b="true">
                <a:solidFill>
                  <a:srgbClr val="FFFFFF"/>
                </a:solidFill>
                <a:latin typeface="Nunito Bold"/>
                <a:ea typeface="Nunito Bold"/>
                <a:cs typeface="Nunito Bold"/>
                <a:sym typeface="Nunito Bold"/>
              </a:rPr>
              <a:t>0.057</a:t>
            </a:r>
            <a:r>
              <a:rPr lang="en-US" sz="2000" b="true">
                <a:solidFill>
                  <a:srgbClr val="FFFFFF"/>
                </a:solidFill>
                <a:latin typeface="Nunito Semi-Bold"/>
                <a:ea typeface="Nunito Semi-Bold"/>
                <a:cs typeface="Nunito Semi-Bold"/>
                <a:sym typeface="Nunito Semi-Bold"/>
              </a:rPr>
              <a:t> (item).</a:t>
            </a:r>
          </a:p>
          <a:p>
            <a:pPr algn="l" marL="274320" indent="-274320">
              <a:lnSpc>
                <a:spcPts val="268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Improving over HPCF by </a:t>
            </a:r>
            <a:r>
              <a:rPr lang="en-US" sz="2000" b="true">
                <a:solidFill>
                  <a:srgbClr val="FFFFFF"/>
                </a:solidFill>
                <a:latin typeface="Nunito Bold"/>
                <a:ea typeface="Nunito Bold"/>
                <a:cs typeface="Nunito Bold"/>
                <a:sym typeface="Nunito Bold"/>
              </a:rPr>
              <a:t>≈ 10 %</a:t>
            </a:r>
            <a:r>
              <a:rPr lang="en-US" sz="2000" b="true">
                <a:solidFill>
                  <a:srgbClr val="FFFFFF"/>
                </a:solidFill>
                <a:latin typeface="Nunito Semi-Bold"/>
                <a:ea typeface="Nunito Semi-Bold"/>
                <a:cs typeface="Nunito Semi-Bold"/>
                <a:sym typeface="Nunito Semi-Bold"/>
              </a:rPr>
              <a:t> — Shapley weighting helps exactly where the signal is weakest.</a:t>
            </a:r>
          </a:p>
        </p:txBody>
      </p:sp>
      <p:sp>
        <p:nvSpPr>
          <p:cNvPr id="16" name="Rounded Rectangle 15"/>
          <p:cNvSpPr/>
          <p:nvPr/>
        </p:nvSpPr>
        <p:spPr>
          <a:xfrm>
            <a:off x="9326880" y="3592322"/>
            <a:ext cx="7932420" cy="2926080"/>
          </a:xfrm>
          <a:prstGeom prst="roundRect">
            <a:avLst>
              <a:gd name="adj" fmla="val 10625"/>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4733073" cy="438912"/>
          </a:xfrm>
          <a:prstGeom prst="roundRect">
            <a:avLst>
              <a:gd name="adj" fmla="val 50000"/>
            </a:avLst>
          </a:prstGeom>
          <a:solidFill>
            <a:srgbClr val="124944"/>
          </a:solidFill>
          <a:ln>
            <a:no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Cross-dataset NDCG@20 gain</a:t>
            </a:r>
          </a:p>
        </p:txBody>
      </p:sp>
      <p:sp>
        <p:nvSpPr>
          <p:cNvPr id="18" name="Rounded Rectangle 17"/>
          <p:cNvSpPr/>
          <p:nvPr/>
        </p:nvSpPr>
        <p:spPr>
          <a:xfrm>
            <a:off x="9784080" y="4278122"/>
            <a:ext cx="2186940" cy="1783080"/>
          </a:xfrm>
          <a:prstGeom prst="roundRect">
            <a:avLst>
              <a:gd name="adj" fmla="val 15384"/>
            </a:avLst>
          </a:prstGeom>
          <a:solidFill>
            <a:srgbClr val="FFFFF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Nunito Ultra-Bold"/>
                <a:ea typeface="Nunito Ultra-Bold"/>
                <a:cs typeface="Nunito Ultra-Bold"/>
                <a:sym typeface="Nunito Ultra-Bold"/>
              </a:rPr>
              <a:t>+9.9 %</a:t>
            </a:r>
          </a:p>
          <a:p>
            <a:pPr algn="ctr">
              <a:lnSpc>
                <a:spcPts val="1875"/>
              </a:lnSpc>
              <a:spcBef>
                <a:spcPts val="400"/>
              </a:spcBef>
              <a:buNone/>
            </a:pPr>
            <a:r>
              <a:rPr lang="en-US" sz="1500" b="true">
                <a:solidFill>
                  <a:srgbClr val="111111"/>
                </a:solidFill>
                <a:latin typeface="Nunito Semi-Bold"/>
                <a:ea typeface="Nunito Semi-Bold"/>
                <a:cs typeface="Nunito Semi-Bold"/>
                <a:sym typeface="Nunito Semi-Bold"/>
              </a:rPr>
              <a:t>MovieLens-1M</a:t>
            </a:r>
          </a:p>
        </p:txBody>
      </p:sp>
      <p:sp>
        <p:nvSpPr>
          <p:cNvPr id="19" name="Rounded Rectangle 18"/>
          <p:cNvSpPr/>
          <p:nvPr/>
        </p:nvSpPr>
        <p:spPr>
          <a:xfrm>
            <a:off x="12199620" y="4278122"/>
            <a:ext cx="2186940" cy="1783080"/>
          </a:xfrm>
          <a:prstGeom prst="roundRect">
            <a:avLst>
              <a:gd name="adj" fmla="val 15384"/>
            </a:avLst>
          </a:prstGeom>
          <a:solidFill>
            <a:srgbClr val="FFFFF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Nunito Ultra-Bold"/>
                <a:ea typeface="Nunito Ultra-Bold"/>
                <a:cs typeface="Nunito Ultra-Bold"/>
                <a:sym typeface="Nunito Ultra-Bold"/>
              </a:rPr>
              <a:t>+14.8 %</a:t>
            </a:r>
          </a:p>
          <a:p>
            <a:pPr algn="ctr">
              <a:lnSpc>
                <a:spcPts val="1875"/>
              </a:lnSpc>
              <a:spcBef>
                <a:spcPts val="400"/>
              </a:spcBef>
              <a:buNone/>
            </a:pPr>
            <a:r>
              <a:rPr lang="en-US" sz="1500" b="true">
                <a:solidFill>
                  <a:srgbClr val="111111"/>
                </a:solidFill>
                <a:latin typeface="Nunito Semi-Bold"/>
                <a:ea typeface="Nunito Semi-Bold"/>
                <a:cs typeface="Nunito Semi-Bold"/>
                <a:sym typeface="Nunito Semi-Bold"/>
              </a:rPr>
              <a:t>Amazon-Book</a:t>
            </a:r>
          </a:p>
        </p:txBody>
      </p:sp>
      <p:sp>
        <p:nvSpPr>
          <p:cNvPr id="20" name="Rounded Rectangle 19"/>
          <p:cNvSpPr/>
          <p:nvPr/>
        </p:nvSpPr>
        <p:spPr>
          <a:xfrm>
            <a:off x="14615160" y="4278122"/>
            <a:ext cx="2186940" cy="1783080"/>
          </a:xfrm>
          <a:prstGeom prst="roundRect">
            <a:avLst>
              <a:gd name="adj" fmla="val 15384"/>
            </a:avLst>
          </a:prstGeom>
          <a:solidFill>
            <a:srgbClr val="FFFFFF"/>
          </a:solidFill>
          <a:ln>
            <a:noFill/>
          </a:ln>
        </p:spPr>
        <p:txBody>
          <a:bodyPr anchor="ctr" rtlCol="false" lIns="137160" tIns="91440" rIns="137160" bIns="91440" wrap="square"/>
          <a:lstStyle/>
          <a:p>
            <a:pPr algn="ctr">
              <a:lnSpc>
                <a:spcPts val="3300"/>
              </a:lnSpc>
              <a:spcBef>
                <a:spcPts val="0"/>
              </a:spcBef>
              <a:buNone/>
            </a:pPr>
            <a:r>
              <a:rPr lang="en-US" sz="3000" b="true">
                <a:solidFill>
                  <a:srgbClr val="124944"/>
                </a:solidFill>
                <a:latin typeface="Nunito Ultra-Bold"/>
                <a:ea typeface="Nunito Ultra-Bold"/>
                <a:cs typeface="Nunito Ultra-Bold"/>
                <a:sym typeface="Nunito Ultra-Bold"/>
              </a:rPr>
              <a:t>+11.8 %</a:t>
            </a:r>
          </a:p>
          <a:p>
            <a:pPr algn="ctr">
              <a:lnSpc>
                <a:spcPts val="1875"/>
              </a:lnSpc>
              <a:spcBef>
                <a:spcPts val="400"/>
              </a:spcBef>
              <a:buNone/>
            </a:pPr>
            <a:r>
              <a:rPr lang="en-US" sz="1500" b="true">
                <a:solidFill>
                  <a:srgbClr val="111111"/>
                </a:solidFill>
                <a:latin typeface="Nunito Semi-Bold"/>
                <a:ea typeface="Nunito Semi-Bold"/>
                <a:cs typeface="Nunito Semi-Bold"/>
                <a:sym typeface="Nunito Semi-Bold"/>
              </a:rPr>
              <a:t>Yelp2018</a:t>
            </a:r>
          </a:p>
        </p:txBody>
      </p:sp>
      <p:sp>
        <p:nvSpPr>
          <p:cNvPr id="21" name="Rounded Rectangle 20"/>
          <p:cNvSpPr/>
          <p:nvPr/>
        </p:nvSpPr>
        <p:spPr>
          <a:xfrm>
            <a:off x="1028700" y="7112762"/>
            <a:ext cx="16230600" cy="2195830"/>
          </a:xfrm>
          <a:prstGeom prst="roundRect">
            <a:avLst>
              <a:gd name="adj" fmla="val 14158"/>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485900" y="6875018"/>
            <a:ext cx="503150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Interpretability &amp; popularity bias</a:t>
            </a:r>
          </a:p>
        </p:txBody>
      </p:sp>
      <p:sp>
        <p:nvSpPr>
          <p:cNvPr id="23" name="TextBox 22"/>
          <p:cNvSpPr txBox="1"/>
          <p:nvPr/>
        </p:nvSpPr>
        <p:spPr>
          <a:xfrm>
            <a:off x="1531620" y="7752842"/>
            <a:ext cx="15270480" cy="1281430"/>
          </a:xfrm>
          <a:prstGeom prst="rect">
            <a:avLst/>
          </a:prstGeom>
          <a:noFill/>
        </p:spPr>
        <p:txBody>
          <a:bodyPr anchor="t" rtlCol="false" lIns="0" tIns="0" rIns="0" bIns="0" wrap="square"/>
          <a:lstStyle/>
          <a:p>
            <a:pPr algn="l" marL="274320" indent="-274320">
              <a:lnSpc>
                <a:spcPts val="2814"/>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a:t>
            </a:r>
            <a:r>
              <a:rPr lang="en-US" sz="2100" b="true">
                <a:solidFill>
                  <a:srgbClr val="111111"/>
                </a:solidFill>
                <a:latin typeface="Nunito Bold"/>
                <a:ea typeface="Nunito Bold"/>
                <a:cs typeface="Nunito Bold"/>
                <a:sym typeface="Nunito Bold"/>
              </a:rPr>
              <a:t>SHAP waterfall</a:t>
            </a:r>
            <a:r>
              <a:rPr lang="en-US" sz="2100" b="true">
                <a:solidFill>
                  <a:srgbClr val="111111"/>
                </a:solidFill>
                <a:latin typeface="Nunito Semi-Bold"/>
                <a:ea typeface="Nunito Semi-Bold"/>
                <a:cs typeface="Nunito Semi-Bold"/>
                <a:sym typeface="Nunito Semi-Bold"/>
              </a:rPr>
              <a:t> decomposes a recommendation into ranking, diversity, context and preference contributions.</a:t>
            </a:r>
          </a:p>
          <a:p>
            <a:pPr algn="l" marL="274320" indent="-274320">
              <a:lnSpc>
                <a:spcPts val="2814"/>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measures </a:t>
            </a:r>
            <a:r>
              <a:rPr lang="en-US" sz="2100" b="true">
                <a:solidFill>
                  <a:srgbClr val="111111"/>
                </a:solidFill>
                <a:latin typeface="Nunito Bold"/>
                <a:ea typeface="Nunito Bold"/>
                <a:cs typeface="Nunito Bold"/>
                <a:sym typeface="Nunito Bold"/>
              </a:rPr>
              <a:t>marginal utility, not raw frequency</a:t>
            </a:r>
            <a:r>
              <a:rPr lang="en-US" sz="2100" b="true">
                <a:solidFill>
                  <a:srgbClr val="111111"/>
                </a:solidFill>
                <a:latin typeface="Nunito Semi-Bold"/>
                <a:ea typeface="Nunito Semi-Bold"/>
                <a:cs typeface="Nunito Semi-Bold"/>
                <a:sym typeface="Nunito Semi-Bold"/>
              </a:rPr>
              <a:t> — weak but informative interactions retain influence, which counters popularity bias.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Key Findings and Limitations</a:t>
            </a:r>
          </a:p>
        </p:txBody>
      </p:sp>
      <p:pic>
        <p:nvPicPr>
          <p:cNvPr id="8" name="Picture 7" descr="image.png"/>
          <p:cNvPicPr>
            <a:picLocks noChangeAspect="1"/>
          </p:cNvPicPr>
          <p:nvPr/>
        </p:nvPicPr>
        <p:blipFill>
          <a:blip r:embed="rId2"/>
          <a:stretch>
            <a:fillRect/>
          </a:stretch>
        </p:blipFill>
        <p:spPr>
          <a:xfrm>
            <a:off x="11313629" y="1673352"/>
            <a:ext cx="457200" cy="452148"/>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14" name="Rounded Rectangle 13"/>
          <p:cNvSpPr/>
          <p:nvPr/>
        </p:nvSpPr>
        <p:spPr>
          <a:xfrm>
            <a:off x="1485900" y="3354578"/>
            <a:ext cx="5763332"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RQ3 &amp; RQ4 answered · objectives met</a:t>
            </a:r>
          </a:p>
        </p:txBody>
      </p:sp>
      <p:sp>
        <p:nvSpPr>
          <p:cNvPr id="15" name="TextBox 14"/>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412"/>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RQ3 — yes:</a:t>
            </a:r>
            <a:r>
              <a:rPr lang="en-US" sz="1800" b="true">
                <a:solidFill>
                  <a:srgbClr val="FFFFFF"/>
                </a:solidFill>
                <a:latin typeface="Nunito Semi-Bold"/>
                <a:ea typeface="Nunito Semi-Bold"/>
                <a:cs typeface="Nunito Semi-Bold"/>
                <a:sym typeface="Nunito Semi-Bold"/>
              </a:rPr>
              <a:t> attribution becomes an </a:t>
            </a:r>
            <a:r>
              <a:rPr lang="en-US" sz="1800" b="true">
                <a:solidFill>
                  <a:srgbClr val="FFFFFF"/>
                </a:solidFill>
                <a:latin typeface="Nunito Bold"/>
                <a:ea typeface="Nunito Bold"/>
                <a:cs typeface="Nunito Bold"/>
                <a:sym typeface="Nunito Bold"/>
              </a:rPr>
              <a:t>in-training signal</a:t>
            </a:r>
            <a:r>
              <a:rPr lang="en-US" sz="1800" b="true">
                <a:solidFill>
                  <a:srgbClr val="FFFFFF"/>
                </a:solidFill>
                <a:latin typeface="Nunito Semi-Bold"/>
                <a:ea typeface="Nunito Semi-Bold"/>
                <a:cs typeface="Nunito Semi-Bold"/>
                <a:sym typeface="Nunito Semi-Bold"/>
              </a:rPr>
              <a:t>, not a post-hoc diagnostic.</a:t>
            </a:r>
          </a:p>
          <a:p>
            <a:pPr algn="l" marL="274320" indent="-274320">
              <a:lnSpc>
                <a:spcPts val="2412"/>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RQ4 — yes:</a:t>
            </a:r>
            <a:r>
              <a:rPr lang="en-US" sz="1800" b="true">
                <a:solidFill>
                  <a:srgbClr val="FFFFFF"/>
                </a:solidFill>
                <a:latin typeface="Nunito Semi-Bold"/>
                <a:ea typeface="Nunito Semi-Bold"/>
                <a:cs typeface="Nunito Semi-Bold"/>
                <a:sym typeface="Nunito Semi-Bold"/>
              </a:rPr>
              <a:t> ranking, coverage and diversity </a:t>
            </a:r>
            <a:r>
              <a:rPr lang="en-US" sz="1800" b="true">
                <a:solidFill>
                  <a:srgbClr val="FFFFFF"/>
                </a:solidFill>
                <a:latin typeface="Nunito Bold"/>
                <a:ea typeface="Nunito Bold"/>
                <a:cs typeface="Nunito Bold"/>
                <a:sym typeface="Nunito Bold"/>
              </a:rPr>
              <a:t>improve together</a:t>
            </a:r>
            <a:r>
              <a:rPr lang="en-US" sz="1800" b="true">
                <a:solidFill>
                  <a:srgbClr val="FFFFFF"/>
                </a:solidFill>
                <a:latin typeface="Nunito Semi-Bold"/>
                <a:ea typeface="Nunito Semi-Bold"/>
                <a:cs typeface="Nunito Semi-Bold"/>
                <a:sym typeface="Nunito Semi-Bold"/>
              </a:rPr>
              <a:t>.</a:t>
            </a:r>
          </a:p>
          <a:p>
            <a:pPr algn="l" marL="274320" indent="-274320">
              <a:lnSpc>
                <a:spcPts val="2412"/>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O1 met</a:t>
            </a:r>
            <a:r>
              <a:rPr lang="en-US" sz="1800" b="true">
                <a:solidFill>
                  <a:srgbClr val="FFFFFF"/>
                </a:solidFill>
                <a:latin typeface="Nunito Semi-Bold"/>
                <a:ea typeface="Nunito Semi-Bold"/>
                <a:cs typeface="Nunito Semi-Bold"/>
                <a:sym typeface="Nunito Semi-Bold"/>
              </a:rPr>
              <a:t> · recommendation formulated as a cooperative game over users, items and contexts.</a:t>
            </a:r>
          </a:p>
          <a:p>
            <a:pPr algn="l" marL="274320" indent="-274320">
              <a:lnSpc>
                <a:spcPts val="2412"/>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O2 met</a:t>
            </a:r>
            <a:r>
              <a:rPr lang="en-US" sz="1800" b="true">
                <a:solidFill>
                  <a:srgbClr val="FFFFFF"/>
                </a:solidFill>
                <a:latin typeface="Nunito Semi-Bold"/>
                <a:ea typeface="Nunito Semi-Bold"/>
                <a:cs typeface="Nunito Semi-Bold"/>
                <a:sym typeface="Nunito Semi-Bold"/>
              </a:rPr>
              <a:t> · preference-aware Monte Carlo Shapley embedded in message passing.</a:t>
            </a:r>
          </a:p>
          <a:p>
            <a:pPr algn="l" marL="274320" indent="-274320">
              <a:lnSpc>
                <a:spcPts val="2412"/>
              </a:lnSpc>
              <a:spcBef>
                <a:spcPts val="70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O3 met</a:t>
            </a:r>
            <a:r>
              <a:rPr lang="en-US" sz="1800" b="true">
                <a:solidFill>
                  <a:srgbClr val="FFFFFF"/>
                </a:solidFill>
                <a:latin typeface="Nunito Semi-Bold"/>
                <a:ea typeface="Nunito Semi-Bold"/>
                <a:cs typeface="Nunito Semi-Bold"/>
                <a:sym typeface="Nunito Semi-Bold"/>
              </a:rPr>
              <a:t> · +9.9 % (MovieLens) / +14.8 % (Amazon) NDCG with higher coverage and diversity.</a:t>
            </a:r>
          </a:p>
          <a:p>
            <a:pPr algn="l" marL="274320" indent="-274320">
              <a:lnSpc>
                <a:spcPts val="2412"/>
              </a:lnSpc>
              <a:spcBef>
                <a:spcPts val="7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The accuracy–diversity–context trade-off is </a:t>
            </a:r>
            <a:r>
              <a:rPr lang="en-US" sz="1800" b="true">
                <a:solidFill>
                  <a:srgbClr val="FFFFFF"/>
                </a:solidFill>
                <a:latin typeface="Nunito Bold"/>
                <a:ea typeface="Nunito Bold"/>
                <a:cs typeface="Nunito Bold"/>
                <a:sym typeface="Nunito Bold"/>
              </a:rPr>
              <a:t>not structurally fixed</a:t>
            </a:r>
            <a:r>
              <a:rPr lang="en-US" sz="1800" b="true">
                <a:solidFill>
                  <a:srgbClr val="FFFFFF"/>
                </a:solidFill>
                <a:latin typeface="Nunito Semi-Bold"/>
                <a:ea typeface="Nunito Semi-Bold"/>
                <a:cs typeface="Nunito Semi-Bold"/>
                <a:sym typeface="Nunito Semi-Bold"/>
              </a:rPr>
              <a:t>; largest gains on the sparsest data.</a:t>
            </a:r>
          </a:p>
        </p:txBody>
      </p:sp>
      <p:sp>
        <p:nvSpPr>
          <p:cNvPr id="16" name="Rounded Rectangle 15"/>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17" name="Rounded Rectangle 16"/>
          <p:cNvSpPr/>
          <p:nvPr/>
        </p:nvSpPr>
        <p:spPr>
          <a:xfrm>
            <a:off x="9784080" y="3354578"/>
            <a:ext cx="214562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Limitations</a:t>
            </a:r>
          </a:p>
        </p:txBody>
      </p:sp>
      <p:sp>
        <p:nvSpPr>
          <p:cNvPr id="18" name="TextBox 17"/>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412"/>
              </a:lnSpc>
              <a:spcBef>
                <a:spcPts val="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Measurable computational overhead — roughly </a:t>
            </a:r>
            <a:r>
              <a:rPr lang="en-US" sz="1800" b="true">
                <a:solidFill>
                  <a:srgbClr val="111111"/>
                </a:solidFill>
                <a:latin typeface="Nunito Bold"/>
                <a:ea typeface="Nunito Bold"/>
                <a:cs typeface="Nunito Bold"/>
                <a:sym typeface="Nunito Bold"/>
              </a:rPr>
              <a:t>1.78× training time</a:t>
            </a:r>
            <a:r>
              <a:rPr lang="en-US" sz="1800" b="true">
                <a:solidFill>
                  <a:srgbClr val="111111"/>
                </a:solidFill>
                <a:latin typeface="Nunito Semi-Bold"/>
                <a:ea typeface="Nunito Semi-Bold"/>
                <a:cs typeface="Nunito Semi-Bold"/>
                <a:sym typeface="Nunito Semi-Bold"/>
              </a:rPr>
              <a:t> over HPCF.</a:t>
            </a:r>
          </a:p>
          <a:p>
            <a:pPr algn="l" marL="274320" indent="-274320">
              <a:lnSpc>
                <a:spcPts val="2412"/>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Depends on the availability of </a:t>
            </a:r>
            <a:r>
              <a:rPr lang="en-US" sz="1800" b="true">
                <a:solidFill>
                  <a:srgbClr val="111111"/>
                </a:solidFill>
                <a:latin typeface="Nunito Bold"/>
                <a:ea typeface="Nunito Bold"/>
                <a:cs typeface="Nunito Bold"/>
                <a:sym typeface="Nunito Bold"/>
              </a:rPr>
              <a:t>meaningful context</a:t>
            </a:r>
            <a:r>
              <a:rPr lang="en-US" sz="1800" b="true">
                <a:solidFill>
                  <a:srgbClr val="111111"/>
                </a:solidFill>
                <a:latin typeface="Nunito Semi-Bold"/>
                <a:ea typeface="Nunito Semi-Bold"/>
                <a:cs typeface="Nunito Semi-Bold"/>
                <a:sym typeface="Nunito Semi-Bold"/>
              </a:rPr>
              <a:t>.</a:t>
            </a:r>
          </a:p>
          <a:p>
            <a:pPr algn="l" marL="274320" indent="-274320">
              <a:lnSpc>
                <a:spcPts val="2412"/>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Monte Carlo Shapley could be improved by </a:t>
            </a:r>
            <a:r>
              <a:rPr lang="en-US" sz="1800" b="true">
                <a:solidFill>
                  <a:srgbClr val="111111"/>
                </a:solidFill>
                <a:latin typeface="Nunito Bold"/>
                <a:ea typeface="Nunito Bold"/>
                <a:cs typeface="Nunito Bold"/>
                <a:sym typeface="Nunito Bold"/>
              </a:rPr>
              <a:t>variance reduction</a:t>
            </a:r>
            <a:r>
              <a:rPr lang="en-US" sz="1800" b="true">
                <a:solidFill>
                  <a:srgbClr val="111111"/>
                </a:solidFill>
                <a:latin typeface="Nunito Semi-Bold"/>
                <a:ea typeface="Nunito Semi-Bold"/>
                <a:cs typeface="Nunito Semi-Bold"/>
                <a:sym typeface="Nunito Semi-Bold"/>
              </a:rPr>
              <a:t>.</a:t>
            </a:r>
          </a:p>
          <a:p>
            <a:pPr algn="l" marL="274320" indent="-274320">
              <a:lnSpc>
                <a:spcPts val="2412"/>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Ablation is component-wise, so it does not test factorial interactions.</a:t>
            </a:r>
          </a:p>
          <a:p>
            <a:pPr algn="l" marL="274320" indent="-274320">
              <a:lnSpc>
                <a:spcPts val="2412"/>
              </a:lnSpc>
              <a:spcBef>
                <a:spcPts val="7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Baselines finalised through early 2026 — superiority is claimed </a:t>
            </a:r>
            <a:r>
              <a:rPr lang="en-US" sz="1800" b="true">
                <a:solidFill>
                  <a:srgbClr val="111111"/>
                </a:solidFill>
                <a:latin typeface="Nunito Bold"/>
                <a:ea typeface="Nunito Bold"/>
                <a:cs typeface="Nunito Bold"/>
                <a:sym typeface="Nunito Bold"/>
              </a:rPr>
              <a:t>only against the tested baselines</a:t>
            </a:r>
            <a:r>
              <a:rPr lang="en-US" sz="18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 DYHUCOG: A DYNAMIC HYPERGRAPH COOPERATIVE GAME</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Takeaways</a:t>
            </a:r>
          </a:p>
        </p:txBody>
      </p:sp>
      <p:pic>
        <p:nvPicPr>
          <p:cNvPr id="8" name="Picture 7" descr="image.png"/>
          <p:cNvPicPr>
            <a:picLocks noChangeAspect="1"/>
          </p:cNvPicPr>
          <p:nvPr/>
        </p:nvPicPr>
        <p:blipFill>
          <a:blip r:embed="rId2"/>
          <a:stretch>
            <a:fillRect/>
          </a:stretch>
        </p:blipFill>
        <p:spPr>
          <a:xfrm>
            <a:off x="4275374" y="1673352"/>
            <a:ext cx="457200" cy="415247"/>
          </a:xfrm>
          <a:prstGeom prst="rect">
            <a:avLst/>
          </a:prstGeom>
        </p:spPr>
      </p:pic>
      <p:sp>
        <p:nvSpPr>
          <p:cNvPr id="9" name="Rounded Rectangle 8"/>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10" name="Rounded Rectangle 9"/>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11" name="Rounded Rectangle 10"/>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12" name="Rounded Rectangle 11"/>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13" name="Rounded Rectangle 12"/>
          <p:cNvSpPr/>
          <p:nvPr/>
        </p:nvSpPr>
        <p:spPr>
          <a:xfrm>
            <a:off x="1028700" y="3455162"/>
            <a:ext cx="3851910" cy="3840480"/>
          </a:xfrm>
          <a:prstGeom prst="roundRect">
            <a:avLst>
              <a:gd name="adj" fmla="val 7142"/>
            </a:avLst>
          </a:prstGeom>
          <a:solidFill>
            <a:srgbClr val="124944"/>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Attribution is a first-class part of the learning objective, not a post-hoc diagnostic.</a:t>
            </a:r>
          </a:p>
        </p:txBody>
      </p:sp>
      <p:sp>
        <p:nvSpPr>
          <p:cNvPr id="14" name="Rounded Rectangle 13"/>
          <p:cNvSpPr/>
          <p:nvPr/>
        </p:nvSpPr>
        <p:spPr>
          <a:xfrm>
            <a:off x="5154930" y="3455162"/>
            <a:ext cx="3851910" cy="3840480"/>
          </a:xfrm>
          <a:prstGeom prst="roundRect">
            <a:avLst>
              <a:gd name="adj" fmla="val 7142"/>
            </a:avLst>
          </a:prstGeom>
          <a:solidFill>
            <a:srgbClr val="1E5F58"/>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The explanation is a direct read-out of the objective the model already optimises.</a:t>
            </a:r>
          </a:p>
        </p:txBody>
      </p:sp>
      <p:sp>
        <p:nvSpPr>
          <p:cNvPr id="15" name="Rounded Rectangle 14"/>
          <p:cNvSpPr/>
          <p:nvPr/>
        </p:nvSpPr>
        <p:spPr>
          <a:xfrm>
            <a:off x="9281160" y="3455162"/>
            <a:ext cx="3851910" cy="3840480"/>
          </a:xfrm>
          <a:prstGeom prst="roundRect">
            <a:avLst>
              <a:gd name="adj" fmla="val 7142"/>
            </a:avLst>
          </a:prstGeom>
          <a:solidFill>
            <a:srgbClr val="DF8330"/>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Faithful</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This makes the explanation structurally faithful rather than an external approximation.</a:t>
            </a:r>
          </a:p>
        </p:txBody>
      </p:sp>
      <p:sp>
        <p:nvSpPr>
          <p:cNvPr id="16" name="Rounded Rectangle 15"/>
          <p:cNvSpPr/>
          <p:nvPr/>
        </p:nvSpPr>
        <p:spPr>
          <a:xfrm>
            <a:off x="13407390" y="3455162"/>
            <a:ext cx="3851910" cy="3840480"/>
          </a:xfrm>
          <a:prstGeom prst="roundRect">
            <a:avLst>
              <a:gd name="adj" fmla="val 7142"/>
            </a:avLst>
          </a:prstGeom>
          <a:solidFill>
            <a:srgbClr val="111111"/>
          </a:solidFill>
          <a:ln>
            <a:noFill/>
          </a:ln>
        </p:spPr>
        <p:txBody>
          <a:bodyPr anchor="t" rtlCol="false" lIns="365760" tIns="365760" rIns="320040" bIns="27432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Axiomatic</a:t>
            </a:r>
          </a:p>
          <a:p>
            <a:pPr algn="l">
              <a:lnSpc>
                <a:spcPts val="2400"/>
              </a:lnSpc>
              <a:spcBef>
                <a:spcPts val="1200"/>
              </a:spcBef>
              <a:buNone/>
            </a:pPr>
            <a:r>
              <a:rPr lang="en-US" sz="1900" b="true">
                <a:solidFill>
                  <a:srgbClr val="F7F2EA"/>
                </a:solidFill>
                <a:latin typeface="Nunito Semi-Bold"/>
                <a:ea typeface="Nunito Semi-Bold"/>
                <a:cs typeface="Nunito Semi-Bold"/>
                <a:sym typeface="Nunito Semi-Bold"/>
              </a:rPr>
              <a:t>Built on a principled, axiomatic basis — aligned with trustworthy-AI expectations.</a:t>
            </a:r>
          </a:p>
        </p:txBody>
      </p:sp>
      <p:sp>
        <p:nvSpPr>
          <p:cNvPr id="17" name="Rounded Rectangle 16"/>
          <p:cNvSpPr/>
          <p:nvPr/>
        </p:nvSpPr>
        <p:spPr>
          <a:xfrm>
            <a:off x="1028700" y="7752842"/>
            <a:ext cx="16230600" cy="1601470"/>
          </a:xfrm>
          <a:prstGeom prst="roundRect">
            <a:avLst>
              <a:gd name="adj" fmla="val 17129"/>
            </a:avLst>
          </a:prstGeom>
          <a:noFill/>
          <a:ln w="31750">
            <a:solidFill>
              <a:srgbClr val="124944"/>
            </a:solidFill>
          </a:ln>
        </p:spPr>
        <p:txBody>
          <a:bodyPr anchor="ctr" rtlCol="false" lIns="457200" tIns="91440" rIns="457200" bIns="91440" wrap="square"/>
          <a:lstStyle/>
          <a:p>
            <a:pPr algn="ctr">
              <a:lnSpc>
                <a:spcPts val="3200"/>
              </a:lnSpc>
              <a:spcBef>
                <a:spcPts val="0"/>
              </a:spcBef>
              <a:buNone/>
            </a:pPr>
            <a:r>
              <a:rPr lang="en-US" sz="2600" b="true">
                <a:solidFill>
                  <a:srgbClr val="111111"/>
                </a:solidFill>
                <a:latin typeface="Nunito Bold"/>
                <a:ea typeface="Nunito Bold"/>
                <a:cs typeface="Nunito Bold"/>
                <a:sym typeface="Nunito Bold"/>
              </a:rPr>
              <a:t>From </a:t>
            </a:r>
            <a:r>
              <a:rPr lang="en-US" sz="2600" b="true">
                <a:solidFill>
                  <a:srgbClr val="111111"/>
                </a:solidFill>
                <a:latin typeface="Nunito Bold"/>
                <a:ea typeface="Nunito Bold"/>
                <a:cs typeface="Nunito Bold"/>
                <a:sym typeface="Nunito Bold"/>
              </a:rPr>
              <a:t>post-hoc description</a:t>
            </a:r>
            <a:r>
              <a:rPr lang="en-US" sz="2600" b="true">
                <a:solidFill>
                  <a:srgbClr val="111111"/>
                </a:solidFill>
                <a:latin typeface="Nunito Bold"/>
                <a:ea typeface="Nunito Bold"/>
                <a:cs typeface="Nunito Bold"/>
                <a:sym typeface="Nunito Bold"/>
              </a:rPr>
              <a:t> (C1, C2) to </a:t>
            </a:r>
            <a:r>
              <a:rPr lang="en-US" sz="2600" b="true">
                <a:solidFill>
                  <a:srgbClr val="111111"/>
                </a:solidFill>
                <a:latin typeface="Nunito Bold"/>
                <a:ea typeface="Nunito Bold"/>
                <a:cs typeface="Nunito Bold"/>
                <a:sym typeface="Nunito Bold"/>
              </a:rPr>
              <a:t>in-training guidance</a:t>
            </a:r>
            <a:r>
              <a:rPr lang="en-US" sz="2600" b="true">
                <a:solidFill>
                  <a:srgbClr val="111111"/>
                </a:solidFill>
                <a:latin typeface="Nunito Bold"/>
                <a:ea typeface="Nunito Bold"/>
                <a:cs typeface="Nunito Bold"/>
                <a:sym typeface="Nunito Bold"/>
              </a:rPr>
              <a:t> (C3) — the strongest claim of the thesis.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6" name="TextBox 5"/>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7" name="Oval 6"/>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8" name="TextBox 7"/>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9" name="TextBox 8"/>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0" name="Rectangle 9"/>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1" name="TextBox 10"/>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2" name="Connector 11"/>
          <p:cNvCxnSpPr/>
          <p:nvPr/>
        </p:nvCxnSpPr>
        <p:spPr>
          <a:xfrm>
            <a:off x="1028700" y="6464808"/>
            <a:ext cx="640080" cy="0"/>
          </a:xfrm>
          <a:prstGeom prst="line">
            <a:avLst/>
          </a:prstGeom>
          <a:ln w="31750">
            <a:solidFill>
              <a:srgbClr val="ECC665"/>
            </a:solidFill>
          </a:ln>
        </p:spPr>
      </p:cxnSp>
      <p:sp>
        <p:nvSpPr>
          <p:cNvPr id="13" name="TextBox 12"/>
          <p:cNvSpPr txBox="1"/>
          <p:nvPr/>
        </p:nvSpPr>
        <p:spPr>
          <a:xfrm>
            <a:off x="102870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hierarchical coherence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4" name="TextBox 13"/>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5" name="Connector 14"/>
          <p:cNvCxnSpPr/>
          <p:nvPr/>
        </p:nvCxnSpPr>
        <p:spPr>
          <a:xfrm>
            <a:off x="6576060" y="6464808"/>
            <a:ext cx="640080" cy="0"/>
          </a:xfrm>
          <a:prstGeom prst="line">
            <a:avLst/>
          </a:prstGeom>
          <a:ln w="31750">
            <a:solidFill>
              <a:srgbClr val="ECC665"/>
            </a:solidFill>
          </a:ln>
        </p:spPr>
      </p:cxnSp>
      <p:sp>
        <p:nvSpPr>
          <p:cNvPr id="16" name="TextBox 15"/>
          <p:cNvSpPr txBox="1"/>
          <p:nvPr/>
        </p:nvSpPr>
        <p:spPr>
          <a:xfrm>
            <a:off x="657606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human-subject actionability study yet.</a:t>
            </a:r>
          </a:p>
        </p:txBody>
      </p:sp>
      <p:sp>
        <p:nvSpPr>
          <p:cNvPr id="17" name="TextBox 16"/>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8" name="Connector 17"/>
          <p:cNvCxnSpPr/>
          <p:nvPr/>
        </p:nvCxnSpPr>
        <p:spPr>
          <a:xfrm>
            <a:off x="12123420" y="6464808"/>
            <a:ext cx="640080" cy="0"/>
          </a:xfrm>
          <a:prstGeom prst="line">
            <a:avLst/>
          </a:prstGeom>
          <a:ln w="31750">
            <a:solidFill>
              <a:srgbClr val="ECC665"/>
            </a:solidFill>
          </a:ln>
        </p:spPr>
      </p:cxnSp>
      <p:sp>
        <p:nvSpPr>
          <p:cNvPr id="19" name="TextBox 18"/>
          <p:cNvSpPr txBox="1"/>
          <p:nvPr/>
        </p:nvSpPr>
        <p:spPr>
          <a:xfrm>
            <a:off x="12123420" y="6675120"/>
            <a:ext cx="5135880" cy="3108960"/>
          </a:xfrm>
          <a:prstGeom prst="rect">
            <a:avLst/>
          </a:prstGeom>
          <a:noFill/>
        </p:spPr>
        <p:txBody>
          <a:bodyPr anchor="t" rtlCol="false" lIns="0" tIns="0" rIns="0" bIns="0" wrap="square"/>
          <a:lstStyle/>
          <a:p>
            <a:pPr algn="l">
              <a:lnSpc>
                <a:spcPts val="2856"/>
              </a:lnSpc>
              <a:spcBef>
                <a:spcPts val="0"/>
              </a:spcBef>
              <a:buNone/>
            </a:pPr>
            <a:r>
              <a:rPr lang="en-US" sz="2100" b="true">
                <a:solidFill>
                  <a:srgbClr val="FFFFFF"/>
                </a:solidFill>
                <a:latin typeface="Nunito Semi-Bold"/>
                <a:ea typeface="Nunito Semi-Bold"/>
                <a:cs typeface="Nunito Semi-Bold"/>
                <a:sym typeface="Nunito Semi-Bold"/>
              </a:rPr>
              <a:t>Scalable attribution, online/streaming recommendation, human-centred and trustworthy-AI evaluation.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8" name="Picture 7" descr="image.png"/>
          <p:cNvPicPr>
            <a:picLocks noChangeAspect="1"/>
          </p:cNvPicPr>
          <p:nvPr/>
        </p:nvPicPr>
        <p:blipFill>
          <a:blip r:embed="rId2"/>
          <a:stretch>
            <a:fillRect/>
          </a:stretch>
        </p:blipFill>
        <p:spPr>
          <a:xfrm>
            <a:off x="10723663" y="1673352"/>
            <a:ext cx="457200" cy="250983"/>
          </a:xfrm>
          <a:prstGeom prst="rect">
            <a:avLst/>
          </a:prstGeom>
        </p:spPr>
      </p:pic>
      <p:sp>
        <p:nvSpPr>
          <p:cNvPr id="9" name="Rounded Rectangle 8"/>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14" name="Table 13"/>
          <p:cNvGraphicFramePr>
            <a:graphicFrameLocks noGrp="1"/>
          </p:cNvGraphicFramePr>
          <p:nvPr/>
        </p:nvGraphicFramePr>
        <p:xfrm>
          <a:off x="1028700" y="3363722"/>
          <a:ext cx="16230598" cy="3840480"/>
        </p:xfrm>
        <a:graphic>
          <a:graphicData uri="http://schemas.openxmlformats.org/drawingml/2006/table">
            <a:tbl>
              <a:tblPr firstRow="0" bandRow="0" firstCol="0" lastRow="0" lastCol="0" bandCol="0">
                <a:tableStyleId>{2D5ABB26-0587-4C30-8999-92F81FD0307C}</a:tableStyleId>
              </a:tblPr>
              <a:tblGrid>
                <a:gridCol w="1288142"/>
                <a:gridCol w="4637314"/>
                <a:gridCol w="4894942"/>
                <a:gridCol w="5410200"/>
              </a:tblGrid>
              <a:tr h="960120">
                <a:tc>
                  <a:txBody>
                    <a:bodyPr anchor="ctr" rtlCol="false" lIns="0" tIns="0" rIns="0" bIns="0" wrap="square"/>
                    <a:lstStyle/>
                    <a:p>
                      <a:pPr algn="ctr">
                        <a:lnSpc>
                          <a:spcPts val="2340"/>
                        </a:lnSpc>
                        <a:spcBef>
                          <a:spcPts val="0"/>
                        </a:spcBef>
                        <a:buNone/>
                      </a:pP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Main idea</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Achievement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340"/>
                        </a:lnSpc>
                        <a:spcBef>
                          <a:spcPts val="0"/>
                        </a:spcBef>
                        <a:buNone/>
                      </a:pPr>
                      <a:r>
                        <a:rPr lang="en-US" sz="1800" b="true">
                          <a:solidFill>
                            <a:srgbClr val="FFFFFF"/>
                          </a:solidFill>
                          <a:latin typeface="Nunito Bold"/>
                          <a:ea typeface="Nunito Bold"/>
                          <a:cs typeface="Nunito Bold"/>
                          <a:sym typeface="Nunito Bold"/>
                        </a:rPr>
                        <a:t>Key finding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960120">
                <a:tc>
                  <a:txBody>
                    <a:bodyPr anchor="ctr" rtlCol="false" lIns="0" tIns="0" rIns="0" bIns="0" wrap="square"/>
                    <a:lstStyle/>
                    <a:p>
                      <a:pPr algn="ctr">
                        <a:lnSpc>
                          <a:spcPts val="3000"/>
                        </a:lnSpc>
                        <a:spcBef>
                          <a:spcPts val="0"/>
                        </a:spcBef>
                        <a:buNone/>
                      </a:pPr>
                      <a:r>
                        <a:rPr lang="en-US" sz="2600" b="true" spc="-130">
                          <a:solidFill>
                            <a:srgbClr val="FFFFFF"/>
                          </a:solidFill>
                          <a:latin typeface="Roca Two Bold"/>
                          <a:ea typeface="Roca Two Bold"/>
                          <a:cs typeface="Roca Two Bold"/>
                          <a:sym typeface="Roca Two Bold"/>
                        </a:rPr>
                        <a:t>C1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Explain black-box clustering via Shapley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PCA–K-Means–LightGBM–TreeSHAP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Faithful, chemistry-consistent cluster attribution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960120">
                <a:tc>
                  <a:txBody>
                    <a:bodyPr anchor="ctr" rtlCol="false" lIns="0" tIns="0" rIns="0" bIns="0" wrap="square"/>
                    <a:lstStyle/>
                    <a:p>
                      <a:pPr algn="ctr">
                        <a:lnSpc>
                          <a:spcPts val="3000"/>
                        </a:lnSpc>
                        <a:spcBef>
                          <a:spcPts val="0"/>
                        </a:spcBef>
                        <a:buNone/>
                      </a:pPr>
                      <a:r>
                        <a:rPr lang="en-US" sz="2600" b="true" spc="-130">
                          <a:solidFill>
                            <a:srgbClr val="FFFFFF"/>
                          </a:solidFill>
                          <a:latin typeface="Roca Two Bold"/>
                          <a:ea typeface="Roca Two Bold"/>
                          <a:cs typeface="Roca Two Bold"/>
                          <a:sym typeface="Roca Two Bold"/>
                        </a:rPr>
                        <a:t>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Multi-level, large-scale clustering XAI</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Cross-level SHAP aggregation +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Coherent under hierarchy; interprets differences across levels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960120">
                <a:tc>
                  <a:txBody>
                    <a:bodyPr anchor="ctr" rtlCol="false" lIns="0" tIns="0" rIns="0" bIns="0" wrap="square"/>
                    <a:lstStyle/>
                    <a:p>
                      <a:pPr algn="ctr">
                        <a:lnSpc>
                          <a:spcPts val="3000"/>
                        </a:lnSpc>
                        <a:spcBef>
                          <a:spcPts val="0"/>
                        </a:spcBef>
                        <a:buNone/>
                      </a:pPr>
                      <a:r>
                        <a:rPr lang="en-US" sz="2600" b="true" spc="-130">
                          <a:solidFill>
                            <a:srgbClr val="FFFFFF"/>
                          </a:solidFill>
                          <a:latin typeface="Roca Two Bold"/>
                          <a:ea typeface="Roca Two Bold"/>
                          <a:cs typeface="Roca Two Bold"/>
                          <a:sym typeface="Roca Two 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DyHuCoG hypergraph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Preference-aware Shapley as an in-training signal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470"/>
                        </a:lnSpc>
                        <a:spcBef>
                          <a:spcPts val="0"/>
                        </a:spcBef>
                        <a:buNone/>
                      </a:pPr>
                      <a:r>
                        <a:rPr lang="en-US" sz="1900" b="true">
                          <a:solidFill>
                            <a:srgbClr val="111111"/>
                          </a:solidFill>
                          <a:latin typeface="Nunito Semi-Bold"/>
                          <a:ea typeface="Nunito Semi-Bold"/>
                          <a:cs typeface="Nunito Semi-Bold"/>
                          <a:sym typeface="Nunito Semi-Bold"/>
                        </a:rPr>
                        <a:t>Accuracy + coverage + diversity improve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Rounded Rectangle 14"/>
          <p:cNvSpPr/>
          <p:nvPr/>
        </p:nvSpPr>
        <p:spPr>
          <a:xfrm>
            <a:off x="1028700" y="7615682"/>
            <a:ext cx="4023360" cy="1234440"/>
          </a:xfrm>
          <a:prstGeom prst="roundRect">
            <a:avLst>
              <a:gd name="adj" fmla="val 18518"/>
            </a:avLst>
          </a:prstGeom>
          <a:solidFill>
            <a:srgbClr val="124944"/>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Explain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post-hoc, single level</a:t>
            </a:r>
          </a:p>
        </p:txBody>
      </p:sp>
      <p:cxnSp>
        <p:nvCxnSpPr>
          <p:cNvPr id="16" name="Connector 15"/>
          <p:cNvCxnSpPr/>
          <p:nvPr/>
        </p:nvCxnSpPr>
        <p:spPr>
          <a:xfrm>
            <a:off x="5143500" y="8232902"/>
            <a:ext cx="1897380" cy="0"/>
          </a:xfrm>
          <a:prstGeom prst="line">
            <a:avLst/>
          </a:prstGeom>
          <a:ln w="38100">
            <a:solidFill>
              <a:srgbClr val="124944"/>
            </a:solidFill>
            <a:tailEnd type="triangle" w="med" len="med"/>
          </a:ln>
        </p:spPr>
      </p:cxnSp>
      <p:sp>
        <p:nvSpPr>
          <p:cNvPr id="17" name="Rounded Rectangle 16"/>
          <p:cNvSpPr/>
          <p:nvPr/>
        </p:nvSpPr>
        <p:spPr>
          <a:xfrm>
            <a:off x="7132320" y="7615682"/>
            <a:ext cx="4023360" cy="1234440"/>
          </a:xfrm>
          <a:prstGeom prst="roundRect">
            <a:avLst>
              <a:gd name="adj" fmla="val 18518"/>
            </a:avLst>
          </a:prstGeom>
          <a:solidFill>
            <a:srgbClr val="1E5F58"/>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Scale</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post-hoc, hierarchical</a:t>
            </a:r>
          </a:p>
        </p:txBody>
      </p:sp>
      <p:cxnSp>
        <p:nvCxnSpPr>
          <p:cNvPr id="18" name="Connector 17"/>
          <p:cNvCxnSpPr/>
          <p:nvPr/>
        </p:nvCxnSpPr>
        <p:spPr>
          <a:xfrm>
            <a:off x="11247120" y="8232902"/>
            <a:ext cx="1897380" cy="0"/>
          </a:xfrm>
          <a:prstGeom prst="line">
            <a:avLst/>
          </a:prstGeom>
          <a:ln w="38100">
            <a:solidFill>
              <a:srgbClr val="124944"/>
            </a:solidFill>
            <a:tailEnd type="triangle" w="med" len="med"/>
          </a:ln>
        </p:spPr>
      </p:cxnSp>
      <p:sp>
        <p:nvSpPr>
          <p:cNvPr id="19" name="Rounded Rectangle 18"/>
          <p:cNvSpPr/>
          <p:nvPr/>
        </p:nvSpPr>
        <p:spPr>
          <a:xfrm>
            <a:off x="13235940" y="7615682"/>
            <a:ext cx="4023360" cy="1234440"/>
          </a:xfrm>
          <a:prstGeom prst="roundRect">
            <a:avLst>
              <a:gd name="adj" fmla="val 18518"/>
            </a:avLst>
          </a:prstGeom>
          <a:solidFill>
            <a:srgbClr val="DF8330"/>
          </a:solidFill>
          <a:ln>
            <a:noFill/>
          </a:ln>
        </p:spPr>
        <p:txBody>
          <a:bodyPr anchor="ctr" rtlCol="false" lIns="91440" tIns="45720" rIns="91440" bIns="45720" wrap="square"/>
          <a:lstStyle/>
          <a:p>
            <a:pPr algn="ctr">
              <a:lnSpc>
                <a:spcPts val="2990"/>
              </a:lnSpc>
              <a:spcBef>
                <a:spcPts val="0"/>
              </a:spcBef>
              <a:buNone/>
            </a:pPr>
            <a:r>
              <a:rPr lang="en-US" sz="2600" b="true">
                <a:solidFill>
                  <a:srgbClr val="FFFFFF"/>
                </a:solidFill>
                <a:latin typeface="Nunito Bold"/>
                <a:ea typeface="Nunito Bold"/>
                <a:cs typeface="Nunito Bold"/>
                <a:sym typeface="Nunito Bold"/>
              </a:rPr>
              <a:t>Guide</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in-training signal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8" name="Picture 7" descr="image.png"/>
          <p:cNvPicPr>
            <a:picLocks noChangeAspect="1"/>
          </p:cNvPicPr>
          <p:nvPr/>
        </p:nvPicPr>
        <p:blipFill>
          <a:blip r:embed="rId2"/>
          <a:stretch>
            <a:fillRect/>
          </a:stretch>
        </p:blipFill>
        <p:spPr>
          <a:xfrm>
            <a:off x="10279040" y="1673352"/>
            <a:ext cx="457200" cy="415247"/>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14" name="Rounded Rectangle 13"/>
          <p:cNvSpPr/>
          <p:nvPr/>
        </p:nvSpPr>
        <p:spPr>
          <a:xfrm>
            <a:off x="1028700" y="3363722"/>
            <a:ext cx="16230600" cy="1798743"/>
          </a:xfrm>
          <a:prstGeom prst="roundRect">
            <a:avLst>
              <a:gd name="adj" fmla="val 15250"/>
            </a:avLst>
          </a:prstGeom>
          <a:solidFill>
            <a:srgbClr val="F6ECDF"/>
          </a:solidFill>
          <a:ln>
            <a:noFill/>
          </a:ln>
        </p:spPr>
        <p:txBody>
          <a:bodyPr anchor="ctr" rtlCol="false" lIns="0" tIns="0" rIns="0" bIns="0" wrap="square"/>
          <a:lstStyle/>
          <a:p>
            <a:endParaRPr lang="en-US" sz="1800"/>
          </a:p>
        </p:txBody>
      </p:sp>
      <p:sp>
        <p:nvSpPr>
          <p:cNvPr id="15" name="Rounded Rectangle 14"/>
          <p:cNvSpPr/>
          <p:nvPr/>
        </p:nvSpPr>
        <p:spPr>
          <a:xfrm>
            <a:off x="1028700" y="3363722"/>
            <a:ext cx="1554480" cy="1798743"/>
          </a:xfrm>
          <a:prstGeom prst="roundRect">
            <a:avLst>
              <a:gd name="adj" fmla="val 17647"/>
            </a:avLst>
          </a:prstGeom>
          <a:solidFill>
            <a:srgbClr val="124944"/>
          </a:solidFill>
          <a:ln>
            <a:noFill/>
          </a:ln>
        </p:spPr>
        <p:txBody>
          <a:bodyPr anchor="ctr" rtlCol="false" lIns="0" tIns="0" rIns="0" bIns="0" wrap="square"/>
          <a:lstStyle/>
          <a:p>
            <a:endParaRPr lang="en-US" sz="1800"/>
          </a:p>
        </p:txBody>
      </p:sp>
      <p:sp>
        <p:nvSpPr>
          <p:cNvPr id="16" name="Rectangle 15"/>
          <p:cNvSpPr/>
          <p:nvPr/>
        </p:nvSpPr>
        <p:spPr>
          <a:xfrm>
            <a:off x="2125980" y="3363722"/>
            <a:ext cx="457200" cy="1798743"/>
          </a:xfrm>
          <a:prstGeom prst="rect">
            <a:avLst/>
          </a:prstGeom>
          <a:solidFill>
            <a:srgbClr val="124944"/>
          </a:solidFill>
          <a:ln>
            <a:noFill/>
          </a:ln>
        </p:spPr>
        <p:txBody>
          <a:bodyPr anchor="ctr" rtlCol="false" lIns="0" tIns="0" rIns="0" bIns="0" wrap="square"/>
          <a:lstStyle/>
          <a:p>
            <a:endParaRPr lang="en-US" sz="1800"/>
          </a:p>
        </p:txBody>
      </p:sp>
      <p:sp>
        <p:nvSpPr>
          <p:cNvPr id="17" name="TextBox 16"/>
          <p:cNvSpPr txBox="1"/>
          <p:nvPr/>
        </p:nvSpPr>
        <p:spPr>
          <a:xfrm>
            <a:off x="1028700" y="3363722"/>
            <a:ext cx="1554480" cy="1798743"/>
          </a:xfrm>
          <a:prstGeom prst="rect">
            <a:avLst/>
          </a:prstGeom>
          <a:noFill/>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I</a:t>
            </a:r>
          </a:p>
        </p:txBody>
      </p:sp>
      <p:sp>
        <p:nvSpPr>
          <p:cNvPr id="18" name="TextBox 17"/>
          <p:cNvSpPr txBox="1"/>
          <p:nvPr/>
        </p:nvSpPr>
        <p:spPr>
          <a:xfrm>
            <a:off x="2948940" y="3546602"/>
            <a:ext cx="11109960" cy="1432983"/>
          </a:xfrm>
          <a:prstGeom prst="rect">
            <a:avLst/>
          </a:prstGeom>
          <a:noFill/>
        </p:spPr>
        <p:txBody>
          <a:bodyPr anchor="ctr" rtlCol="false" lIns="0" tIns="0" rIns="0" bIns="0" wrap="square"/>
          <a:lstStyle/>
          <a:p>
            <a:pPr algn="l">
              <a:lnSpc>
                <a:spcPts val="1900"/>
              </a:lnSpc>
              <a:spcBef>
                <a:spcPts val="0"/>
              </a:spcBef>
              <a:buNone/>
            </a:pPr>
            <a:r>
              <a:rPr lang="en-US" sz="1500" b="true">
                <a:solidFill>
                  <a:srgbClr val="DF8330"/>
                </a:solidFill>
                <a:latin typeface="Nunito Ultra-Bold"/>
                <a:ea typeface="Nunito Ultra-Bold"/>
                <a:cs typeface="Nunito Ultra-Bold"/>
                <a:sym typeface="Nunito Ultra-Bold"/>
              </a:rPr>
              <a:t>Louhichi, M. &amp; Lazaar, M.</a:t>
            </a:r>
          </a:p>
          <a:p>
            <a:pPr algn="l">
              <a:lnSpc>
                <a:spcPts val="2856"/>
              </a:lnSpc>
              <a:spcBef>
                <a:spcPts val="400"/>
              </a:spcBef>
              <a:buNone/>
            </a:pPr>
            <a:r>
              <a:rPr lang="en-US" sz="2100" b="true">
                <a:solidFill>
                  <a:srgbClr val="111111"/>
                </a:solidFill>
                <a:latin typeface="Nunito Bold"/>
                <a:ea typeface="Nunito Bold"/>
                <a:cs typeface="Nunito Bold"/>
                <a:sym typeface="Nunito Bold"/>
              </a:rPr>
              <a:t>Shapley Values for Explaining the Black Box Nature of ML Model Clustering</a:t>
            </a:r>
          </a:p>
          <a:p>
            <a:pPr algn="l">
              <a:lnSpc>
                <a:spcPts val="2100"/>
              </a:lnSpc>
              <a:spcBef>
                <a:spcPts val="400"/>
              </a:spcBef>
              <a:buNone/>
            </a:pPr>
            <a:r>
              <a:rPr lang="en-US" sz="1700" b="true">
                <a:solidFill>
                  <a:srgbClr val="8A8378"/>
                </a:solidFill>
                <a:latin typeface="Nunito Semi-Bold"/>
                <a:ea typeface="Nunito Semi-Bold"/>
                <a:cs typeface="Nunito Semi-Bold"/>
                <a:sym typeface="Nunito Semi-Bold"/>
              </a:rPr>
              <a:t>Procedia Computer Science 220, 806–811</a:t>
            </a:r>
          </a:p>
        </p:txBody>
      </p:sp>
      <p:sp>
        <p:nvSpPr>
          <p:cNvPr id="19" name="Rounded Rectangle 18"/>
          <p:cNvSpPr/>
          <p:nvPr/>
        </p:nvSpPr>
        <p:spPr>
          <a:xfrm>
            <a:off x="14241780" y="4043637"/>
            <a:ext cx="274320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920"/>
              </a:lnSpc>
              <a:spcBef>
                <a:spcPts val="0"/>
              </a:spcBef>
              <a:buNone/>
            </a:pPr>
            <a:r>
              <a:rPr lang="en-US" sz="1600" b="true">
                <a:solidFill>
                  <a:srgbClr val="FFFFFF"/>
                </a:solidFill>
                <a:latin typeface="Nunito Bold"/>
                <a:ea typeface="Nunito Bold"/>
                <a:cs typeface="Nunito Bold"/>
                <a:sym typeface="Nunito Bold"/>
              </a:rPr>
              <a:t>Published · 2023</a:t>
            </a:r>
          </a:p>
        </p:txBody>
      </p:sp>
      <p:sp>
        <p:nvSpPr>
          <p:cNvPr id="20" name="Rounded Rectangle 19"/>
          <p:cNvSpPr/>
          <p:nvPr/>
        </p:nvSpPr>
        <p:spPr>
          <a:xfrm>
            <a:off x="1028700" y="5436785"/>
            <a:ext cx="16230600" cy="1798743"/>
          </a:xfrm>
          <a:prstGeom prst="roundRect">
            <a:avLst>
              <a:gd name="adj" fmla="val 15250"/>
            </a:avLst>
          </a:prstGeom>
          <a:solidFill>
            <a:srgbClr val="F6ECDF"/>
          </a:solidFill>
          <a:ln>
            <a:noFill/>
          </a:ln>
        </p:spPr>
        <p:txBody>
          <a:bodyPr anchor="ctr" rtlCol="false" lIns="0" tIns="0" rIns="0" bIns="0" wrap="square"/>
          <a:lstStyle/>
          <a:p>
            <a:endParaRPr lang="en-US" sz="1800"/>
          </a:p>
        </p:txBody>
      </p:sp>
      <p:sp>
        <p:nvSpPr>
          <p:cNvPr id="21" name="Rounded Rectangle 20"/>
          <p:cNvSpPr/>
          <p:nvPr/>
        </p:nvSpPr>
        <p:spPr>
          <a:xfrm>
            <a:off x="1028700" y="5436785"/>
            <a:ext cx="1554480" cy="1798743"/>
          </a:xfrm>
          <a:prstGeom prst="roundRect">
            <a:avLst>
              <a:gd name="adj" fmla="val 17647"/>
            </a:avLst>
          </a:prstGeom>
          <a:solidFill>
            <a:srgbClr val="1E5F58"/>
          </a:solidFill>
          <a:ln>
            <a:noFill/>
          </a:ln>
        </p:spPr>
        <p:txBody>
          <a:bodyPr anchor="ctr" rtlCol="false" lIns="0" tIns="0" rIns="0" bIns="0" wrap="square"/>
          <a:lstStyle/>
          <a:p>
            <a:endParaRPr lang="en-US" sz="1800"/>
          </a:p>
        </p:txBody>
      </p:sp>
      <p:sp>
        <p:nvSpPr>
          <p:cNvPr id="22" name="Rectangle 21"/>
          <p:cNvSpPr/>
          <p:nvPr/>
        </p:nvSpPr>
        <p:spPr>
          <a:xfrm>
            <a:off x="2125980" y="5436785"/>
            <a:ext cx="457200" cy="1798743"/>
          </a:xfrm>
          <a:prstGeom prst="rect">
            <a:avLst/>
          </a:prstGeom>
          <a:solidFill>
            <a:srgbClr val="1E5F58"/>
          </a:solidFill>
          <a:ln>
            <a:noFill/>
          </a:ln>
        </p:spPr>
        <p:txBody>
          <a:bodyPr anchor="ctr" rtlCol="false" lIns="0" tIns="0" rIns="0" bIns="0" wrap="square"/>
          <a:lstStyle/>
          <a:p>
            <a:endParaRPr lang="en-US" sz="1800"/>
          </a:p>
        </p:txBody>
      </p:sp>
      <p:sp>
        <p:nvSpPr>
          <p:cNvPr id="23" name="TextBox 22"/>
          <p:cNvSpPr txBox="1"/>
          <p:nvPr/>
        </p:nvSpPr>
        <p:spPr>
          <a:xfrm>
            <a:off x="1028700" y="5436785"/>
            <a:ext cx="1554480" cy="1798743"/>
          </a:xfrm>
          <a:prstGeom prst="rect">
            <a:avLst/>
          </a:prstGeom>
          <a:noFill/>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II</a:t>
            </a:r>
          </a:p>
        </p:txBody>
      </p:sp>
      <p:sp>
        <p:nvSpPr>
          <p:cNvPr id="24" name="TextBox 23"/>
          <p:cNvSpPr txBox="1"/>
          <p:nvPr/>
        </p:nvSpPr>
        <p:spPr>
          <a:xfrm>
            <a:off x="2948940" y="5619665"/>
            <a:ext cx="11109960" cy="1432983"/>
          </a:xfrm>
          <a:prstGeom prst="rect">
            <a:avLst/>
          </a:prstGeom>
          <a:noFill/>
        </p:spPr>
        <p:txBody>
          <a:bodyPr anchor="ctr" rtlCol="false" lIns="0" tIns="0" rIns="0" bIns="0" wrap="square"/>
          <a:lstStyle/>
          <a:p>
            <a:pPr algn="l">
              <a:lnSpc>
                <a:spcPts val="1900"/>
              </a:lnSpc>
              <a:spcBef>
                <a:spcPts val="0"/>
              </a:spcBef>
              <a:buNone/>
            </a:pPr>
            <a:r>
              <a:rPr lang="en-US" sz="1500" b="true">
                <a:solidFill>
                  <a:srgbClr val="DF8330"/>
                </a:solidFill>
                <a:latin typeface="Nunito Ultra-Bold"/>
                <a:ea typeface="Nunito Ultra-Bold"/>
                <a:cs typeface="Nunito Ultra-Bold"/>
                <a:sym typeface="Nunito Ultra-Bold"/>
              </a:rPr>
              <a:t>Louhichi, M. &amp; Lazaar, M.</a:t>
            </a:r>
          </a:p>
          <a:p>
            <a:pPr algn="l">
              <a:lnSpc>
                <a:spcPts val="2856"/>
              </a:lnSpc>
              <a:spcBef>
                <a:spcPts val="400"/>
              </a:spcBef>
              <a:buNone/>
            </a:pPr>
            <a:r>
              <a:rPr lang="en-US" sz="2100" b="true">
                <a:solidFill>
                  <a:srgbClr val="111111"/>
                </a:solidFill>
                <a:latin typeface="Nunito Bold"/>
                <a:ea typeface="Nunito Bold"/>
                <a:cs typeface="Nunito Bold"/>
                <a:sym typeface="Nunito Bold"/>
              </a:rPr>
              <a:t>Game Theory Meets Explainable AI: An Enhanced Approach to Understanding Black Box Models Through Shapley Values</a:t>
            </a:r>
          </a:p>
          <a:p>
            <a:pPr algn="l">
              <a:lnSpc>
                <a:spcPts val="2100"/>
              </a:lnSpc>
              <a:spcBef>
                <a:spcPts val="400"/>
              </a:spcBef>
              <a:buNone/>
            </a:pPr>
            <a:r>
              <a:rPr lang="en-US" sz="1700" b="true">
                <a:solidFill>
                  <a:srgbClr val="8A8378"/>
                </a:solidFill>
                <a:latin typeface="Nunito Semi-Bold"/>
                <a:ea typeface="Nunito Semi-Bold"/>
                <a:cs typeface="Nunito Semi-Bold"/>
                <a:sym typeface="Nunito Semi-Bold"/>
              </a:rPr>
              <a:t>IJACSA 16(7), 716–725</a:t>
            </a:r>
          </a:p>
        </p:txBody>
      </p:sp>
      <p:sp>
        <p:nvSpPr>
          <p:cNvPr id="25" name="Rounded Rectangle 24"/>
          <p:cNvSpPr/>
          <p:nvPr/>
        </p:nvSpPr>
        <p:spPr>
          <a:xfrm>
            <a:off x="14241780" y="6116701"/>
            <a:ext cx="2743200" cy="438912"/>
          </a:xfrm>
          <a:prstGeom prst="roundRect">
            <a:avLst>
              <a:gd name="adj" fmla="val 50000"/>
            </a:avLst>
          </a:prstGeom>
          <a:solidFill>
            <a:srgbClr val="1E5F58"/>
          </a:solidFill>
          <a:ln w="28575">
            <a:solidFill>
              <a:srgbClr val="1E5F58"/>
            </a:solidFill>
          </a:ln>
        </p:spPr>
        <p:txBody>
          <a:bodyPr anchor="ctr" rtlCol="false" lIns="45720" tIns="0" rIns="45720" bIns="0" wrap="square"/>
          <a:lstStyle/>
          <a:p>
            <a:pPr algn="ctr">
              <a:lnSpc>
                <a:spcPts val="1920"/>
              </a:lnSpc>
              <a:spcBef>
                <a:spcPts val="0"/>
              </a:spcBef>
              <a:buNone/>
            </a:pPr>
            <a:r>
              <a:rPr lang="en-US" sz="1600" b="true">
                <a:solidFill>
                  <a:srgbClr val="FFFFFF"/>
                </a:solidFill>
                <a:latin typeface="Nunito Bold"/>
                <a:ea typeface="Nunito Bold"/>
                <a:cs typeface="Nunito Bold"/>
                <a:sym typeface="Nunito Bold"/>
              </a:rPr>
              <a:t>Published · 2025</a:t>
            </a:r>
          </a:p>
        </p:txBody>
      </p:sp>
      <p:sp>
        <p:nvSpPr>
          <p:cNvPr id="26" name="Rounded Rectangle 25"/>
          <p:cNvSpPr/>
          <p:nvPr/>
        </p:nvSpPr>
        <p:spPr>
          <a:xfrm>
            <a:off x="1028700" y="7509848"/>
            <a:ext cx="16230600" cy="1798743"/>
          </a:xfrm>
          <a:prstGeom prst="roundRect">
            <a:avLst>
              <a:gd name="adj" fmla="val 15250"/>
            </a:avLst>
          </a:prstGeom>
          <a:solidFill>
            <a:srgbClr val="F6ECDF"/>
          </a:solidFill>
          <a:ln>
            <a:noFill/>
          </a:ln>
        </p:spPr>
        <p:txBody>
          <a:bodyPr anchor="ctr" rtlCol="false" lIns="0" tIns="0" rIns="0" bIns="0" wrap="square"/>
          <a:lstStyle/>
          <a:p>
            <a:endParaRPr lang="en-US" sz="1800"/>
          </a:p>
        </p:txBody>
      </p:sp>
      <p:sp>
        <p:nvSpPr>
          <p:cNvPr id="27" name="Rounded Rectangle 26"/>
          <p:cNvSpPr/>
          <p:nvPr/>
        </p:nvSpPr>
        <p:spPr>
          <a:xfrm>
            <a:off x="1028700" y="7509848"/>
            <a:ext cx="1554480" cy="1798743"/>
          </a:xfrm>
          <a:prstGeom prst="roundRect">
            <a:avLst>
              <a:gd name="adj" fmla="val 17647"/>
            </a:avLst>
          </a:prstGeom>
          <a:solidFill>
            <a:srgbClr val="DF8330"/>
          </a:solidFill>
          <a:ln>
            <a:noFill/>
          </a:ln>
        </p:spPr>
        <p:txBody>
          <a:bodyPr anchor="ctr" rtlCol="false" lIns="0" tIns="0" rIns="0" bIns="0" wrap="square"/>
          <a:lstStyle/>
          <a:p>
            <a:endParaRPr lang="en-US" sz="1800"/>
          </a:p>
        </p:txBody>
      </p:sp>
      <p:sp>
        <p:nvSpPr>
          <p:cNvPr id="28" name="Rectangle 27"/>
          <p:cNvSpPr/>
          <p:nvPr/>
        </p:nvSpPr>
        <p:spPr>
          <a:xfrm>
            <a:off x="2125980" y="7509848"/>
            <a:ext cx="457200" cy="1798743"/>
          </a:xfrm>
          <a:prstGeom prst="rect">
            <a:avLst/>
          </a:prstGeom>
          <a:solidFill>
            <a:srgbClr val="DF8330"/>
          </a:solidFill>
          <a:ln>
            <a:noFill/>
          </a:ln>
        </p:spPr>
        <p:txBody>
          <a:bodyPr anchor="ctr" rtlCol="false" lIns="0" tIns="0" rIns="0" bIns="0" wrap="square"/>
          <a:lstStyle/>
          <a:p>
            <a:endParaRPr lang="en-US" sz="1800"/>
          </a:p>
        </p:txBody>
      </p:sp>
      <p:sp>
        <p:nvSpPr>
          <p:cNvPr id="29" name="TextBox 28"/>
          <p:cNvSpPr txBox="1"/>
          <p:nvPr/>
        </p:nvSpPr>
        <p:spPr>
          <a:xfrm>
            <a:off x="1028700" y="7509848"/>
            <a:ext cx="1554480" cy="1798743"/>
          </a:xfrm>
          <a:prstGeom prst="rect">
            <a:avLst/>
          </a:prstGeom>
          <a:noFill/>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III</a:t>
            </a:r>
          </a:p>
        </p:txBody>
      </p:sp>
      <p:sp>
        <p:nvSpPr>
          <p:cNvPr id="30" name="TextBox 29"/>
          <p:cNvSpPr txBox="1"/>
          <p:nvPr/>
        </p:nvSpPr>
        <p:spPr>
          <a:xfrm>
            <a:off x="2948940" y="7692728"/>
            <a:ext cx="11109960" cy="1432983"/>
          </a:xfrm>
          <a:prstGeom prst="rect">
            <a:avLst/>
          </a:prstGeom>
          <a:noFill/>
        </p:spPr>
        <p:txBody>
          <a:bodyPr anchor="ctr" rtlCol="false" lIns="0" tIns="0" rIns="0" bIns="0" wrap="square"/>
          <a:lstStyle/>
          <a:p>
            <a:pPr algn="l">
              <a:lnSpc>
                <a:spcPts val="1900"/>
              </a:lnSpc>
              <a:spcBef>
                <a:spcPts val="0"/>
              </a:spcBef>
              <a:buNone/>
            </a:pPr>
            <a:r>
              <a:rPr lang="en-US" sz="1500" b="true">
                <a:solidFill>
                  <a:srgbClr val="DF8330"/>
                </a:solidFill>
                <a:latin typeface="Nunito Ultra-Bold"/>
                <a:ea typeface="Nunito Ultra-Bold"/>
                <a:cs typeface="Nunito Ultra-Bold"/>
                <a:sym typeface="Nunito Ultra-Bold"/>
              </a:rPr>
              <a:t>Louhichi, M. &amp; Lazaar, M.</a:t>
            </a:r>
          </a:p>
          <a:p>
            <a:pPr algn="l">
              <a:lnSpc>
                <a:spcPts val="2856"/>
              </a:lnSpc>
              <a:spcBef>
                <a:spcPts val="400"/>
              </a:spcBef>
              <a:buNone/>
            </a:pPr>
            <a:r>
              <a:rPr lang="en-US" sz="2100" b="true">
                <a:solidFill>
                  <a:srgbClr val="111111"/>
                </a:solidFill>
                <a:latin typeface="Nunito Bold"/>
                <a:ea typeface="Nunito Bold"/>
                <a:cs typeface="Nunito Bold"/>
                <a:sym typeface="Nunito Bold"/>
              </a:rPr>
              <a:t>DyHuCoG: A Dynamic Hypergraph Cooperative Game for Preference-aware Recommendation</a:t>
            </a:r>
          </a:p>
          <a:p>
            <a:pPr algn="l">
              <a:lnSpc>
                <a:spcPts val="2100"/>
              </a:lnSpc>
              <a:spcBef>
                <a:spcPts val="400"/>
              </a:spcBef>
              <a:buNone/>
            </a:pPr>
            <a:r>
              <a:rPr lang="en-US" sz="1700" b="true">
                <a:solidFill>
                  <a:srgbClr val="8A8378"/>
                </a:solidFill>
                <a:latin typeface="Nunito Semi-Bold"/>
                <a:ea typeface="Nunito Semi-Bold"/>
                <a:cs typeface="Nunito Semi-Bold"/>
                <a:sym typeface="Nunito Semi-Bold"/>
              </a:rPr>
              <a:t>IJIES 19(2), 887–902</a:t>
            </a:r>
          </a:p>
        </p:txBody>
      </p:sp>
      <p:sp>
        <p:nvSpPr>
          <p:cNvPr id="31" name="Rounded Rectangle 30"/>
          <p:cNvSpPr/>
          <p:nvPr/>
        </p:nvSpPr>
        <p:spPr>
          <a:xfrm>
            <a:off x="14241780" y="8189764"/>
            <a:ext cx="2743200" cy="438912"/>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920"/>
              </a:lnSpc>
              <a:spcBef>
                <a:spcPts val="0"/>
              </a:spcBef>
              <a:buNone/>
            </a:pPr>
            <a:r>
              <a:rPr lang="en-US" sz="1600" b="true">
                <a:solidFill>
                  <a:srgbClr val="FFFFFF"/>
                </a:solidFill>
                <a:latin typeface="Nunito Bold"/>
                <a:ea typeface="Nunito Bold"/>
                <a:cs typeface="Nunito Bold"/>
                <a:sym typeface="Nunito Bold"/>
              </a:rPr>
              <a:t>Published ·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 Stated Honestly</a:t>
            </a:r>
          </a:p>
        </p:txBody>
      </p:sp>
      <p:pic>
        <p:nvPicPr>
          <p:cNvPr id="8" name="Picture 7" descr="image.png"/>
          <p:cNvPicPr>
            <a:picLocks noChangeAspect="1"/>
          </p:cNvPicPr>
          <p:nvPr/>
        </p:nvPicPr>
        <p:blipFill>
          <a:blip r:embed="rId2"/>
          <a:stretch>
            <a:fillRect/>
          </a:stretch>
        </p:blipFill>
        <p:spPr>
          <a:xfrm>
            <a:off x="8939428" y="1673352"/>
            <a:ext cx="457200" cy="452148"/>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14" name="Rounded Rectangle 13"/>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intractable; every contribution relies on approximation, surrogates or restricted reporting.</a:t>
            </a:r>
          </a:p>
        </p:txBody>
      </p:sp>
      <p:sp>
        <p:nvSpPr>
          <p:cNvPr id="15" name="Rounded Rectangle 14"/>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adequate context.</a:t>
            </a:r>
          </a:p>
        </p:txBody>
      </p:sp>
      <p:sp>
        <p:nvSpPr>
          <p:cNvPr id="16" name="Rounded Rectangle 15"/>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deployment; no dedicated human-subject actionability study.</a:t>
            </a:r>
          </a:p>
        </p:txBody>
      </p:sp>
      <p:sp>
        <p:nvSpPr>
          <p:cNvPr id="17" name="Rounded Rectangle 16"/>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coherent and productive perspective — not one fully unified framework eliminating all tension.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 Turning Limitations into an Agenda</a:t>
            </a:r>
          </a:p>
        </p:txBody>
      </p:sp>
      <p:pic>
        <p:nvPicPr>
          <p:cNvPr id="8" name="Picture 7" descr="image.png"/>
          <p:cNvPicPr>
            <a:picLocks noChangeAspect="1"/>
          </p:cNvPicPr>
          <p:nvPr/>
        </p:nvPicPr>
        <p:blipFill>
          <a:blip r:embed="rId2"/>
          <a:stretch>
            <a:fillRect/>
          </a:stretch>
        </p:blipFill>
        <p:spPr>
          <a:xfrm>
            <a:off x="14280424" y="1673352"/>
            <a:ext cx="457200" cy="617115"/>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14" name="Rounded Rectangle 13"/>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15" name="Oval 14"/>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16" name="TextBox 15"/>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584"/>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policies.</a:t>
            </a:r>
          </a:p>
        </p:txBody>
      </p:sp>
      <p:sp>
        <p:nvSpPr>
          <p:cNvPr id="17" name="Rounded Rectangle 16"/>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18" name="Oval 17"/>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19" name="TextBox 18"/>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584"/>
              </a:lnSpc>
              <a:spcBef>
                <a:spcPts val="800"/>
              </a:spcBef>
              <a:buNone/>
            </a:pPr>
            <a:r>
              <a:rPr lang="en-US" sz="1900" b="true">
                <a:solidFill>
                  <a:srgbClr val="111111"/>
                </a:solidFill>
                <a:latin typeface="Nunito Semi-Bold"/>
                <a:ea typeface="Nunito Semi-Bold"/>
                <a:cs typeface="Nunito Semi-Bold"/>
                <a:sym typeface="Nunito Semi-Bold"/>
              </a:rPr>
              <a:t>Truly incremental settings with evolving graphs and delayed feedback — also addresses the static-graph limitation.</a:t>
            </a:r>
          </a:p>
        </p:txBody>
      </p:sp>
      <p:sp>
        <p:nvSpPr>
          <p:cNvPr id="20" name="Rounded Rectangle 19"/>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21" name="Oval 20"/>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22" name="TextBox 21"/>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human-centred evaluation</a:t>
            </a:r>
          </a:p>
          <a:p>
            <a:pPr algn="l">
              <a:lnSpc>
                <a:spcPts val="2584"/>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intervention quality or perceived fairness?</a:t>
            </a:r>
          </a:p>
        </p:txBody>
      </p:sp>
      <p:sp>
        <p:nvSpPr>
          <p:cNvPr id="23" name="Rounded Rectangle 22"/>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24" name="Oval 23"/>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25" name="TextBox 24"/>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584"/>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governance-oriented auditing.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8" name="Picture 7" descr="image.png"/>
          <p:cNvPicPr>
            <a:picLocks noChangeAspect="1"/>
          </p:cNvPicPr>
          <p:nvPr/>
        </p:nvPicPr>
        <p:blipFill>
          <a:blip r:embed="rId2"/>
          <a:stretch>
            <a:fillRect/>
          </a:stretch>
        </p:blipFill>
        <p:spPr>
          <a:xfrm>
            <a:off x="4224502" y="1673352"/>
            <a:ext cx="457200" cy="250983"/>
          </a:xfrm>
          <a:prstGeom prst="rect">
            <a:avLst/>
          </a:prstGeom>
        </p:spPr>
      </p:pic>
      <p:sp>
        <p:nvSpPr>
          <p:cNvPr id="9" name="Rounded Rectangle 8"/>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10" name="Rounded Rectangle 9"/>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11" name="Rounded Rectangle 10"/>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12" name="Rounded Rectangle 11"/>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13" name="Rounded Rectangle 12"/>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14" name="Rounded Rectangle 13"/>
          <p:cNvSpPr/>
          <p:nvPr/>
        </p:nvSpPr>
        <p:spPr>
          <a:xfrm>
            <a:off x="1028700" y="3363722"/>
            <a:ext cx="16230600" cy="1463040"/>
          </a:xfrm>
          <a:prstGeom prst="roundRect">
            <a:avLst>
              <a:gd name="adj" fmla="val 18750"/>
            </a:avLst>
          </a:prstGeom>
          <a:solidFill>
            <a:srgbClr val="124944"/>
          </a:solidFill>
          <a:ln>
            <a:noFill/>
          </a:ln>
        </p:spPr>
        <p:txBody>
          <a:bodyPr anchor="ctr" rtlCol="false" lIns="457200" tIns="91440" rIns="457200" bIns="91440" wrap="square"/>
          <a:lstStyle/>
          <a:p>
            <a:pPr algn="ctr">
              <a:lnSpc>
                <a:spcPts val="1800"/>
              </a:lnSpc>
              <a:spcBef>
                <a:spcPts val="0"/>
              </a:spcBef>
              <a:buNone/>
            </a:pPr>
            <a:r>
              <a:rPr lang="en-US" sz="1400" b="true" spc="180">
                <a:solidFill>
                  <a:srgbClr val="ECC665"/>
                </a:solidFill>
                <a:latin typeface="Nunito Ultra-Bold"/>
                <a:ea typeface="Nunito Ultra-Bold"/>
                <a:cs typeface="Nunito Ultra-Bold"/>
                <a:sym typeface="Nunito Ultra-Bold"/>
              </a:rPr>
              <a:t>THESIS ANSWER</a:t>
            </a:r>
          </a:p>
          <a:p>
            <a:pPr algn="ctr">
              <a:lnSpc>
                <a:spcPts val="3000"/>
              </a:lnSpc>
              <a:spcBef>
                <a:spcPts val="800"/>
              </a:spcBef>
              <a:buNone/>
            </a:pPr>
            <a:r>
              <a:rPr lang="en-US" sz="2400" b="true">
                <a:solidFill>
                  <a:srgbClr val="FFFFFF"/>
                </a:solidFill>
                <a:latin typeface="Nunito Bold"/>
                <a:ea typeface="Nunito Bold"/>
                <a:cs typeface="Nunito Bold"/>
                <a:sym typeface="Nunito Bold"/>
              </a:rPr>
              <a:t>Cooperative game theory can function as a </a:t>
            </a:r>
            <a:r>
              <a:rPr lang="en-US" sz="2400" b="true">
                <a:solidFill>
                  <a:srgbClr val="FFFFFF"/>
                </a:solidFill>
                <a:latin typeface="Nunito Ultra-Bold"/>
                <a:ea typeface="Nunito Ultra-Bold"/>
                <a:cs typeface="Nunito Ultra-Bold"/>
                <a:sym typeface="Nunito Ultra-Bold"/>
              </a:rPr>
              <a:t>shared methodological perspective for actionable explanation</a:t>
            </a:r>
            <a:r>
              <a:rPr lang="en-US" sz="2400" b="true">
                <a:solidFill>
                  <a:srgbClr val="FFFFFF"/>
                </a:solidFill>
                <a:latin typeface="Nunito Bold"/>
                <a:ea typeface="Nunito Bold"/>
                <a:cs typeface="Nunito Bold"/>
                <a:sym typeface="Nunito Bold"/>
              </a:rPr>
              <a:t> across clustering and recommendation.</a:t>
            </a:r>
          </a:p>
        </p:txBody>
      </p:sp>
      <p:sp>
        <p:nvSpPr>
          <p:cNvPr id="15" name="Rounded Rectangle 14"/>
          <p:cNvSpPr/>
          <p:nvPr/>
        </p:nvSpPr>
        <p:spPr>
          <a:xfrm>
            <a:off x="1028700" y="5192522"/>
            <a:ext cx="3851910" cy="4116070"/>
          </a:xfrm>
          <a:prstGeom prst="roundRect">
            <a:avLst>
              <a:gd name="adj" fmla="val 7121"/>
            </a:avLst>
          </a:prstGeom>
          <a:solidFill>
            <a:srgbClr val="F6ECDF"/>
          </a:solidFill>
          <a:ln>
            <a:noFill/>
          </a:ln>
        </p:spPr>
        <p:txBody>
          <a:bodyPr anchor="ctr" rtlCol="false" lIns="0" tIns="0" rIns="0" bIns="0" wrap="square"/>
          <a:lstStyle/>
          <a:p>
            <a:endParaRPr lang="en-US" sz="1800"/>
          </a:p>
        </p:txBody>
      </p:sp>
      <p:sp>
        <p:nvSpPr>
          <p:cNvPr id="16" name="Oval 15"/>
          <p:cNvSpPr/>
          <p:nvPr/>
        </p:nvSpPr>
        <p:spPr>
          <a:xfrm>
            <a:off x="134874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1</a:t>
            </a:r>
          </a:p>
        </p:txBody>
      </p:sp>
      <p:sp>
        <p:nvSpPr>
          <p:cNvPr id="17" name="TextBox 16"/>
          <p:cNvSpPr txBox="1"/>
          <p:nvPr/>
        </p:nvSpPr>
        <p:spPr>
          <a:xfrm>
            <a:off x="134874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Common language</a:t>
            </a:r>
          </a:p>
          <a:p>
            <a:pPr algn="l">
              <a:lnSpc>
                <a:spcPts val="2448"/>
              </a:lnSpc>
              <a:spcBef>
                <a:spcPts val="800"/>
              </a:spcBef>
              <a:buNone/>
            </a:pPr>
            <a:r>
              <a:rPr lang="en-US" sz="1800" b="true">
                <a:solidFill>
                  <a:srgbClr val="111111"/>
                </a:solidFill>
                <a:latin typeface="Nunito Semi-Bold"/>
                <a:ea typeface="Nunito Semi-Bold"/>
                <a:cs typeface="Nunito Semi-Bold"/>
                <a:sym typeface="Nunito Semi-Bold"/>
              </a:rPr>
              <a:t>Shapley attribution as a common formal language for feature, interaction and context importance allocation.</a:t>
            </a:r>
          </a:p>
        </p:txBody>
      </p:sp>
      <p:sp>
        <p:nvSpPr>
          <p:cNvPr id="18" name="Rounded Rectangle 17"/>
          <p:cNvSpPr/>
          <p:nvPr/>
        </p:nvSpPr>
        <p:spPr>
          <a:xfrm>
            <a:off x="5154930" y="5192522"/>
            <a:ext cx="3851910" cy="4116070"/>
          </a:xfrm>
          <a:prstGeom prst="roundRect">
            <a:avLst>
              <a:gd name="adj" fmla="val 7121"/>
            </a:avLst>
          </a:prstGeom>
          <a:solidFill>
            <a:srgbClr val="FBF4EB"/>
          </a:solidFill>
          <a:ln>
            <a:noFill/>
          </a:ln>
        </p:spPr>
        <p:txBody>
          <a:bodyPr anchor="ctr" rtlCol="false" lIns="0" tIns="0" rIns="0" bIns="0" wrap="square"/>
          <a:lstStyle/>
          <a:p>
            <a:endParaRPr lang="en-US" sz="1800"/>
          </a:p>
        </p:txBody>
      </p:sp>
      <p:sp>
        <p:nvSpPr>
          <p:cNvPr id="19" name="Oval 18"/>
          <p:cNvSpPr/>
          <p:nvPr/>
        </p:nvSpPr>
        <p:spPr>
          <a:xfrm>
            <a:off x="547497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2</a:t>
            </a:r>
          </a:p>
        </p:txBody>
      </p:sp>
      <p:sp>
        <p:nvSpPr>
          <p:cNvPr id="20" name="TextBox 19"/>
          <p:cNvSpPr txBox="1"/>
          <p:nvPr/>
        </p:nvSpPr>
        <p:spPr>
          <a:xfrm>
            <a:off x="547497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Three achievements</a:t>
            </a:r>
          </a:p>
          <a:p>
            <a:pPr algn="l">
              <a:lnSpc>
                <a:spcPts val="2448"/>
              </a:lnSpc>
              <a:spcBef>
                <a:spcPts val="800"/>
              </a:spcBef>
              <a:buNone/>
            </a:pPr>
            <a:r>
              <a:rPr lang="en-US" sz="1800" b="true">
                <a:solidFill>
                  <a:srgbClr val="111111"/>
                </a:solidFill>
                <a:latin typeface="Nunito Semi-Bold"/>
                <a:ea typeface="Nunito Semi-Bold"/>
                <a:cs typeface="Nunito Semi-Bold"/>
                <a:sym typeface="Nunito Semi-Bold"/>
              </a:rPr>
              <a:t>Faithful clustering explanation, hierarchical explanatory coherence, contribution-aware recommendation learning.</a:t>
            </a:r>
          </a:p>
        </p:txBody>
      </p:sp>
      <p:sp>
        <p:nvSpPr>
          <p:cNvPr id="21" name="Rounded Rectangle 20"/>
          <p:cNvSpPr/>
          <p:nvPr/>
        </p:nvSpPr>
        <p:spPr>
          <a:xfrm>
            <a:off x="9281160" y="5192522"/>
            <a:ext cx="3851910" cy="4116070"/>
          </a:xfrm>
          <a:prstGeom prst="roundRect">
            <a:avLst>
              <a:gd name="adj" fmla="val 7121"/>
            </a:avLst>
          </a:prstGeom>
          <a:solidFill>
            <a:srgbClr val="F6ECDF"/>
          </a:solidFill>
          <a:ln>
            <a:noFill/>
          </a:ln>
        </p:spPr>
        <p:txBody>
          <a:bodyPr anchor="ctr" rtlCol="false" lIns="0" tIns="0" rIns="0" bIns="0" wrap="square"/>
          <a:lstStyle/>
          <a:p>
            <a:endParaRPr lang="en-US" sz="1800"/>
          </a:p>
        </p:txBody>
      </p:sp>
      <p:sp>
        <p:nvSpPr>
          <p:cNvPr id="22" name="Oval 21"/>
          <p:cNvSpPr/>
          <p:nvPr/>
        </p:nvSpPr>
        <p:spPr>
          <a:xfrm>
            <a:off x="960120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3</a:t>
            </a:r>
          </a:p>
        </p:txBody>
      </p:sp>
      <p:sp>
        <p:nvSpPr>
          <p:cNvPr id="23" name="TextBox 22"/>
          <p:cNvSpPr txBox="1"/>
          <p:nvPr/>
        </p:nvSpPr>
        <p:spPr>
          <a:xfrm>
            <a:off x="960120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Explanation as method</a:t>
            </a:r>
          </a:p>
          <a:p>
            <a:pPr algn="l">
              <a:lnSpc>
                <a:spcPts val="2448"/>
              </a:lnSpc>
              <a:spcBef>
                <a:spcPts val="800"/>
              </a:spcBef>
              <a:buNone/>
            </a:pPr>
            <a:r>
              <a:rPr lang="en-US" sz="1800" b="true">
                <a:solidFill>
                  <a:srgbClr val="111111"/>
                </a:solidFill>
                <a:latin typeface="Nunito Semi-Bold"/>
                <a:ea typeface="Nunito Semi-Bold"/>
                <a:cs typeface="Nunito Semi-Bold"/>
                <a:sym typeface="Nunito Semi-Bold"/>
              </a:rPr>
              <a:t>Not commentary — from post-hoc description to in-training guidance.</a:t>
            </a:r>
          </a:p>
        </p:txBody>
      </p:sp>
      <p:sp>
        <p:nvSpPr>
          <p:cNvPr id="24" name="Rounded Rectangle 23"/>
          <p:cNvSpPr/>
          <p:nvPr/>
        </p:nvSpPr>
        <p:spPr>
          <a:xfrm>
            <a:off x="13407390" y="5192522"/>
            <a:ext cx="3851910" cy="4116070"/>
          </a:xfrm>
          <a:prstGeom prst="roundRect">
            <a:avLst>
              <a:gd name="adj" fmla="val 7121"/>
            </a:avLst>
          </a:prstGeom>
          <a:solidFill>
            <a:srgbClr val="FBF4EB"/>
          </a:solidFill>
          <a:ln>
            <a:noFill/>
          </a:ln>
        </p:spPr>
        <p:txBody>
          <a:bodyPr anchor="ctr" rtlCol="false" lIns="0" tIns="0" rIns="0" bIns="0" wrap="square"/>
          <a:lstStyle/>
          <a:p>
            <a:endParaRPr lang="en-US" sz="1800"/>
          </a:p>
        </p:txBody>
      </p:sp>
      <p:sp>
        <p:nvSpPr>
          <p:cNvPr id="25" name="Oval 24"/>
          <p:cNvSpPr/>
          <p:nvPr/>
        </p:nvSpPr>
        <p:spPr>
          <a:xfrm>
            <a:off x="13727430" y="5512562"/>
            <a:ext cx="548640" cy="548640"/>
          </a:xfrm>
          <a:prstGeom prst="ellipse">
            <a:avLst/>
          </a:prstGeom>
          <a:solidFill>
            <a:srgbClr val="DF8330"/>
          </a:solidFill>
          <a:ln>
            <a:noFill/>
          </a:ln>
        </p:spPr>
        <p:txBody>
          <a:bodyPr anchor="ctr" rtlCol="false" lIns="0" tIns="0" rIns="0" bIns="0" wrap="square"/>
          <a:lstStyle/>
          <a:p>
            <a:pPr algn="ctr">
              <a:lnSpc>
                <a:spcPts val="1980"/>
              </a:lnSpc>
              <a:spcBef>
                <a:spcPts val="0"/>
              </a:spcBef>
              <a:buNone/>
            </a:pPr>
            <a:r>
              <a:rPr lang="en-US" sz="1800" b="true">
                <a:solidFill>
                  <a:srgbClr val="FFFFFF"/>
                </a:solidFill>
                <a:latin typeface="Nunito Ultra-Bold"/>
                <a:ea typeface="Nunito Ultra-Bold"/>
                <a:cs typeface="Nunito Ultra-Bold"/>
                <a:sym typeface="Nunito Ultra-Bold"/>
              </a:rPr>
              <a:t>4</a:t>
            </a:r>
          </a:p>
        </p:txBody>
      </p:sp>
      <p:sp>
        <p:nvSpPr>
          <p:cNvPr id="26" name="TextBox 25"/>
          <p:cNvSpPr txBox="1"/>
          <p:nvPr/>
        </p:nvSpPr>
        <p:spPr>
          <a:xfrm>
            <a:off x="13727430" y="6244082"/>
            <a:ext cx="3211830" cy="28816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Trustworthy AI</a:t>
            </a:r>
          </a:p>
          <a:p>
            <a:pPr algn="l">
              <a:lnSpc>
                <a:spcPts val="2448"/>
              </a:lnSpc>
              <a:spcBef>
                <a:spcPts val="800"/>
              </a:spcBef>
              <a:buNone/>
            </a:pPr>
            <a:r>
              <a:rPr lang="en-US" sz="18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4" name="TextBox 3"/>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5" name="TextBox 4"/>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6" name="TextBox 5"/>
          <p:cNvSpPr txBox="1"/>
          <p:nvPr/>
        </p:nvSpPr>
        <p:spPr>
          <a:xfrm>
            <a:off x="1028700" y="1389888"/>
            <a:ext cx="1623060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7" name="TextBox 6"/>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a:t>
            </a:r>
          </a:p>
        </p:txBody>
      </p:sp>
      <p:pic>
        <p:nvPicPr>
          <p:cNvPr id="8" name="Picture 7" descr="image.png"/>
          <p:cNvPicPr>
            <a:picLocks noChangeAspect="1"/>
          </p:cNvPicPr>
          <p:nvPr/>
        </p:nvPicPr>
        <p:blipFill>
          <a:blip r:embed="rId2"/>
          <a:stretch>
            <a:fillRect/>
          </a:stretch>
        </p:blipFill>
        <p:spPr>
          <a:xfrm>
            <a:off x="4189602" y="1673352"/>
            <a:ext cx="457200" cy="539881"/>
          </a:xfrm>
          <a:prstGeom prst="rect">
            <a:avLst/>
          </a:prstGeom>
        </p:spPr>
      </p:pic>
      <p:sp>
        <p:nvSpPr>
          <p:cNvPr id="9" name="Rounded Rectangle 8"/>
          <p:cNvSpPr/>
          <p:nvPr/>
        </p:nvSpPr>
        <p:spPr>
          <a:xfrm>
            <a:off x="1028700" y="2760218"/>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10" name="Rounded Rectangle 9"/>
          <p:cNvSpPr/>
          <p:nvPr/>
        </p:nvSpPr>
        <p:spPr>
          <a:xfrm>
            <a:off x="1165860" y="2851658"/>
            <a:ext cx="822960" cy="473597"/>
          </a:xfrm>
          <a:prstGeom prst="roundRect">
            <a:avLst>
              <a:gd name="adj" fmla="val 19307"/>
            </a:avLst>
          </a:prstGeom>
          <a:solidFill>
            <a:srgbClr val="124944"/>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R1</a:t>
            </a:r>
          </a:p>
        </p:txBody>
      </p:sp>
      <p:sp>
        <p:nvSpPr>
          <p:cNvPr id="11" name="TextBox 10"/>
          <p:cNvSpPr txBox="1"/>
          <p:nvPr/>
        </p:nvSpPr>
        <p:spPr>
          <a:xfrm>
            <a:off x="2217420" y="2760218"/>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Louhichi, M. &amp; Lazaar, M. Shapley Values for Explaining the Black Box Nature of ML Model Clustering. Procedia Computer Science 220, 806–811 (2023).</a:t>
            </a:r>
          </a:p>
        </p:txBody>
      </p:sp>
      <p:sp>
        <p:nvSpPr>
          <p:cNvPr id="12" name="Rounded Rectangle 11"/>
          <p:cNvSpPr/>
          <p:nvPr/>
        </p:nvSpPr>
        <p:spPr>
          <a:xfrm>
            <a:off x="1028700" y="3508135"/>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13" name="Rounded Rectangle 12"/>
          <p:cNvSpPr/>
          <p:nvPr/>
        </p:nvSpPr>
        <p:spPr>
          <a:xfrm>
            <a:off x="1165860" y="3599575"/>
            <a:ext cx="822960" cy="473597"/>
          </a:xfrm>
          <a:prstGeom prst="roundRect">
            <a:avLst>
              <a:gd name="adj" fmla="val 19307"/>
            </a:avLst>
          </a:prstGeom>
          <a:solidFill>
            <a:srgbClr val="124944"/>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R2</a:t>
            </a:r>
          </a:p>
        </p:txBody>
      </p:sp>
      <p:sp>
        <p:nvSpPr>
          <p:cNvPr id="14" name="TextBox 13"/>
          <p:cNvSpPr txBox="1"/>
          <p:nvPr/>
        </p:nvSpPr>
        <p:spPr>
          <a:xfrm>
            <a:off x="2217420" y="3508135"/>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Louhichi, M. &amp; Lazaar, M. Game Theory Meets Explainable AI: An Enhanced Approach to Understanding Black Box Models Through Shapley Values. IJACSA 16(7), 716–725 (2025).</a:t>
            </a:r>
          </a:p>
        </p:txBody>
      </p:sp>
      <p:sp>
        <p:nvSpPr>
          <p:cNvPr id="15" name="Rounded Rectangle 14"/>
          <p:cNvSpPr/>
          <p:nvPr/>
        </p:nvSpPr>
        <p:spPr>
          <a:xfrm>
            <a:off x="1028700" y="4256052"/>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16" name="Rounded Rectangle 15"/>
          <p:cNvSpPr/>
          <p:nvPr/>
        </p:nvSpPr>
        <p:spPr>
          <a:xfrm>
            <a:off x="1165860" y="4347492"/>
            <a:ext cx="822960" cy="473597"/>
          </a:xfrm>
          <a:prstGeom prst="roundRect">
            <a:avLst>
              <a:gd name="adj" fmla="val 19307"/>
            </a:avLst>
          </a:prstGeom>
          <a:solidFill>
            <a:srgbClr val="124944"/>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R3</a:t>
            </a:r>
          </a:p>
        </p:txBody>
      </p:sp>
      <p:sp>
        <p:nvSpPr>
          <p:cNvPr id="17" name="TextBox 16"/>
          <p:cNvSpPr txBox="1"/>
          <p:nvPr/>
        </p:nvSpPr>
        <p:spPr>
          <a:xfrm>
            <a:off x="2217420" y="4256052"/>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Louhichi, M. &amp; Lazaar, M. DyHuCoG: A Dynamic Hypergraph Cooperative Game for Preference-aware Recommendation. IJIES 19(2), 887–902 (2026).</a:t>
            </a:r>
          </a:p>
        </p:txBody>
      </p:sp>
      <p:sp>
        <p:nvSpPr>
          <p:cNvPr id="18" name="Rounded Rectangle 17"/>
          <p:cNvSpPr/>
          <p:nvPr/>
        </p:nvSpPr>
        <p:spPr>
          <a:xfrm>
            <a:off x="1028700" y="5003969"/>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19" name="Rounded Rectangle 18"/>
          <p:cNvSpPr/>
          <p:nvPr/>
        </p:nvSpPr>
        <p:spPr>
          <a:xfrm>
            <a:off x="1165860" y="5095409"/>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R4</a:t>
            </a:r>
          </a:p>
        </p:txBody>
      </p:sp>
      <p:sp>
        <p:nvSpPr>
          <p:cNvPr id="20" name="TextBox 19"/>
          <p:cNvSpPr txBox="1"/>
          <p:nvPr/>
        </p:nvSpPr>
        <p:spPr>
          <a:xfrm>
            <a:off x="2217420" y="5003969"/>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Lundberg, S.M. &amp; Lee, S.-I. A Unified Approach to Interpreting Model Predictions (SHAP). NeurIPS 30, 4765–4774 (2017).</a:t>
            </a:r>
          </a:p>
        </p:txBody>
      </p:sp>
      <p:sp>
        <p:nvSpPr>
          <p:cNvPr id="21" name="Rounded Rectangle 20"/>
          <p:cNvSpPr/>
          <p:nvPr/>
        </p:nvSpPr>
        <p:spPr>
          <a:xfrm>
            <a:off x="1028700" y="5751886"/>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22" name="Rounded Rectangle 21"/>
          <p:cNvSpPr/>
          <p:nvPr/>
        </p:nvSpPr>
        <p:spPr>
          <a:xfrm>
            <a:off x="1165860" y="5843326"/>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R5</a:t>
            </a:r>
          </a:p>
        </p:txBody>
      </p:sp>
      <p:sp>
        <p:nvSpPr>
          <p:cNvPr id="23" name="TextBox 22"/>
          <p:cNvSpPr txBox="1"/>
          <p:nvPr/>
        </p:nvSpPr>
        <p:spPr>
          <a:xfrm>
            <a:off x="2217420" y="5751886"/>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Lundberg, S.M. et al. Consistent Individualized Feature Attribution for Tree Ensembles. KDD 2018, 2713–2723 (2018).</a:t>
            </a:r>
          </a:p>
        </p:txBody>
      </p:sp>
      <p:sp>
        <p:nvSpPr>
          <p:cNvPr id="24" name="Rounded Rectangle 23"/>
          <p:cNvSpPr/>
          <p:nvPr/>
        </p:nvSpPr>
        <p:spPr>
          <a:xfrm>
            <a:off x="1028700" y="6499803"/>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25" name="Rounded Rectangle 24"/>
          <p:cNvSpPr/>
          <p:nvPr/>
        </p:nvSpPr>
        <p:spPr>
          <a:xfrm>
            <a:off x="1165860" y="6591243"/>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R6</a:t>
            </a:r>
          </a:p>
        </p:txBody>
      </p:sp>
      <p:sp>
        <p:nvSpPr>
          <p:cNvPr id="26" name="TextBox 25"/>
          <p:cNvSpPr txBox="1"/>
          <p:nvPr/>
        </p:nvSpPr>
        <p:spPr>
          <a:xfrm>
            <a:off x="2217420" y="6499803"/>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Shapley, L.S. A Value for n-Person Games. Contributions to the Theory of Games II, 307–317 (1953).</a:t>
            </a:r>
          </a:p>
        </p:txBody>
      </p:sp>
      <p:sp>
        <p:nvSpPr>
          <p:cNvPr id="27" name="Rounded Rectangle 26"/>
          <p:cNvSpPr/>
          <p:nvPr/>
        </p:nvSpPr>
        <p:spPr>
          <a:xfrm>
            <a:off x="1028700" y="7247720"/>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28" name="Rounded Rectangle 27"/>
          <p:cNvSpPr/>
          <p:nvPr/>
        </p:nvSpPr>
        <p:spPr>
          <a:xfrm>
            <a:off x="1165860" y="7339160"/>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R7</a:t>
            </a:r>
          </a:p>
        </p:txBody>
      </p:sp>
      <p:sp>
        <p:nvSpPr>
          <p:cNvPr id="29" name="TextBox 28"/>
          <p:cNvSpPr txBox="1"/>
          <p:nvPr/>
        </p:nvSpPr>
        <p:spPr>
          <a:xfrm>
            <a:off x="2217420" y="7247720"/>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Gramegna, A. &amp; Giudici, P. SHAP-based Clustering Explanations. Stats 4(4), 938–959 (2021).</a:t>
            </a:r>
          </a:p>
        </p:txBody>
      </p:sp>
      <p:sp>
        <p:nvSpPr>
          <p:cNvPr id="30" name="Rounded Rectangle 29"/>
          <p:cNvSpPr/>
          <p:nvPr/>
        </p:nvSpPr>
        <p:spPr>
          <a:xfrm>
            <a:off x="1028700" y="7995637"/>
            <a:ext cx="16230600" cy="656477"/>
          </a:xfrm>
          <a:prstGeom prst="roundRect">
            <a:avLst>
              <a:gd name="adj" fmla="val 19500"/>
            </a:avLst>
          </a:prstGeom>
          <a:solidFill>
            <a:srgbClr val="FBF4EB"/>
          </a:solidFill>
          <a:ln>
            <a:noFill/>
          </a:ln>
        </p:spPr>
        <p:txBody>
          <a:bodyPr anchor="ctr" rtlCol="false" lIns="0" tIns="0" rIns="0" bIns="0" wrap="square"/>
          <a:lstStyle/>
          <a:p>
            <a:endParaRPr lang="en-US" sz="1800"/>
          </a:p>
        </p:txBody>
      </p:sp>
      <p:sp>
        <p:nvSpPr>
          <p:cNvPr id="31" name="Rounded Rectangle 30"/>
          <p:cNvSpPr/>
          <p:nvPr/>
        </p:nvSpPr>
        <p:spPr>
          <a:xfrm>
            <a:off x="1165860" y="8087077"/>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R8</a:t>
            </a:r>
          </a:p>
        </p:txBody>
      </p:sp>
      <p:sp>
        <p:nvSpPr>
          <p:cNvPr id="32" name="TextBox 31"/>
          <p:cNvSpPr txBox="1"/>
          <p:nvPr/>
        </p:nvSpPr>
        <p:spPr>
          <a:xfrm>
            <a:off x="2217420" y="7995637"/>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Wang, X. et al. Hypergraph Learning: Methods and Practices. IEEE TPAMI 44(5), 2543–2563 (2022).</a:t>
            </a:r>
          </a:p>
        </p:txBody>
      </p:sp>
      <p:sp>
        <p:nvSpPr>
          <p:cNvPr id="33" name="Rounded Rectangle 32"/>
          <p:cNvSpPr/>
          <p:nvPr/>
        </p:nvSpPr>
        <p:spPr>
          <a:xfrm>
            <a:off x="1028700" y="8743554"/>
            <a:ext cx="16230600" cy="656477"/>
          </a:xfrm>
          <a:prstGeom prst="roundRect">
            <a:avLst>
              <a:gd name="adj" fmla="val 19500"/>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165860" y="8834994"/>
            <a:ext cx="822960" cy="473597"/>
          </a:xfrm>
          <a:prstGeom prst="roundRect">
            <a:avLst>
              <a:gd name="adj" fmla="val 19307"/>
            </a:avLst>
          </a:prstGeom>
          <a:solidFill>
            <a:srgbClr val="DF8330"/>
          </a:solidFill>
          <a:ln>
            <a:noFill/>
          </a:ln>
        </p:spPr>
        <p:txBody>
          <a:bodyPr anchor="ctr" rtlCol="false" lIns="91440" tIns="45720" rIns="91440" bIns="45720" wrap="square"/>
          <a:lstStyle/>
          <a:p>
            <a:pPr algn="ctr">
              <a:lnSpc>
                <a:spcPts val="1725"/>
              </a:lnSpc>
              <a:spcBef>
                <a:spcPts val="0"/>
              </a:spcBef>
              <a:buNone/>
            </a:pPr>
            <a:r>
              <a:rPr lang="en-US" sz="1500" b="true">
                <a:solidFill>
                  <a:srgbClr val="FFFFFF"/>
                </a:solidFill>
                <a:latin typeface="Nunito Bold"/>
                <a:ea typeface="Nunito Bold"/>
                <a:cs typeface="Nunito Bold"/>
                <a:sym typeface="Nunito Bold"/>
              </a:rPr>
              <a:t>R9</a:t>
            </a:r>
          </a:p>
        </p:txBody>
      </p:sp>
      <p:sp>
        <p:nvSpPr>
          <p:cNvPr id="35" name="TextBox 34"/>
          <p:cNvSpPr txBox="1"/>
          <p:nvPr/>
        </p:nvSpPr>
        <p:spPr>
          <a:xfrm>
            <a:off x="2217420" y="8743554"/>
            <a:ext cx="14859000" cy="656477"/>
          </a:xfrm>
          <a:prstGeom prst="rect">
            <a:avLst/>
          </a:prstGeom>
          <a:noFill/>
        </p:spPr>
        <p:txBody>
          <a:bodyPr anchor="ctr" rtlCol="false" lIns="0" tIns="0" rIns="0" bIns="0" wrap="square"/>
          <a:lstStyle/>
          <a:p>
            <a:pPr algn="l">
              <a:lnSpc>
                <a:spcPts val="2312"/>
              </a:lnSpc>
              <a:spcBef>
                <a:spcPts val="0"/>
              </a:spcBef>
              <a:buNone/>
            </a:pPr>
            <a:r>
              <a:rPr lang="en-US" sz="1700" b="true">
                <a:solidFill>
                  <a:srgbClr val="111111"/>
                </a:solidFill>
                <a:latin typeface="Nunito Semi-Bold"/>
                <a:ea typeface="Nunito Semi-Bold"/>
                <a:cs typeface="Nunito Semi-Bold"/>
                <a:sym typeface="Nunito Semi-Bold"/>
              </a:rPr>
              <a:t>European Commission. Proposal for a Regulation on Artificial Intelligence (EU AI Act). COM(2021) 206 final (2021).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sp>
        <p:nvSpPr>
          <p:cNvPr id="6" name="TextBox 5"/>
          <p:cNvSpPr txBox="1"/>
          <p:nvPr/>
        </p:nvSpPr>
        <p:spPr>
          <a:xfrm>
            <a:off x="102870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7" name="TextBox 6"/>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8" name="TextBox 7"/>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9" name="Picture 8" descr="image.png"/>
          <p:cNvPicPr>
            <a:picLocks noChangeAspect="1"/>
          </p:cNvPicPr>
          <p:nvPr/>
        </p:nvPicPr>
        <p:blipFill>
          <a:blip r:embed="rId3"/>
          <a:stretch>
            <a:fillRect/>
          </a:stretch>
        </p:blipFill>
        <p:spPr>
          <a:xfrm>
            <a:off x="13350240" y="2468880"/>
            <a:ext cx="822960" cy="747445"/>
          </a:xfrm>
          <a:prstGeom prst="rect">
            <a:avLst/>
          </a:prstGeom>
        </p:spPr>
      </p:pic>
      <p:pic>
        <p:nvPicPr>
          <p:cNvPr id="10" name="Picture 9" descr="image.png"/>
          <p:cNvPicPr>
            <a:picLocks noChangeAspect="1"/>
          </p:cNvPicPr>
          <p:nvPr/>
        </p:nvPicPr>
        <p:blipFill>
          <a:blip r:embed="rId4"/>
          <a:stretch>
            <a:fillRect/>
          </a:stretch>
        </p:blipFill>
        <p:spPr>
          <a:xfrm rot="20700000">
            <a:off x="3291840" y="4846320"/>
            <a:ext cx="685800" cy="925673"/>
          </a:xfrm>
          <a:prstGeom prst="rect">
            <a:avLst/>
          </a:prstGeom>
        </p:spPr>
      </p:pic>
      <p:sp>
        <p:nvSpPr>
          <p:cNvPr id="11" name="Oval 10"/>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2" name="TextBox 11"/>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3" name="Rounded Rectangle 12"/>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4" name="Rounded Rectangle 13"/>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5" name="Rounded Rectangle 14"/>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6" name="Rounded Rectangle 15"/>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