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President and Professors, for the time you are giving me to present and discuss my thesis. My name is Mouad Louhichi. My thesis is titled Cooperative Game Theory for Explainable AI in Recommendation Systems: A Shapley Framework for Actionable Insight, supervised by Professor Mohamed Lazaar. It advances one idea: that Shapley-value attribution is not just a post-hoc explanation, but a single formal mechanism that can explain black-box clustering, stay coherent under hierarchical scale, and finally act as an in-training signal inside a recommender.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walk you through five parts: introduction, context and problematic, the shared experimental protocol, then my three contributions, and finally the conclusion and perspectives. Each contribution follows the same structure: objectives, methodology, results, and findings. So you always know where we 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begin with the introduction. I will spend a few minutes establishing why explainability is not a nice-to-have but a first-class requirement for recommender systems, and I will define carefully what I mean by an actionable insight.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whole work. First, ubiquity: opaque systems mediate what billions of people see, buy and watch every day — not only on streaming platforms but in e-commerce, news feeds and search. Second, the black box: even strong recommenders and clustering pipelines are hard to interrogate — we observe their outputs without understanding why a particular item was chosen. Third, trust: transparency should be built into the modelling logic, not bolted on after the fact. The core tension of the thesis is that as models gain expressive power, they lose the transparency needed for trustworthy deployment. Throughout this work I hold accuracy and interpretability as objectives to be reconciled, not traded against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the whole thesis around actionable insight. An explanation is actionable when it identifies at least one modifiable factor whose change is associated with a specifiable change in model output, and when that factor is expressible in the semantic vocabulary of the task domain — a physicochemical variable for wine, a pollution indicator for air quality, a preference signal for recommendation. The crucial constraint is that it must not be an opaque latent code. This distinction separates explanations that let a designer intervene and act from those that merely describe what happened. By this definition, a credible explanation is evaluated by whether it supports a downstream decision, not by whether it looks plausible.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is the progression from simple to hypergraph recommenders. Matrix factorisation showed that latent factors could capture preferences, but those factors were immediately uninterpretable. Graph and graph-neural-network models improved ranking by exploiting connectivity, yet replaced an opaque latent code with an opaque message-passing mechanism. Finally, hypergraph models added higher-order user-item-context relations, but typically assume that every message contributes uniformly. Each step raised expressiveness while lowering transparency. The deficit matters for trust, debugging and regulation — the EU AI Act, the OECD principles and the GDPR all put a premium on meaningful explanation. That is why a principled attribution mechanism is needed, and why I will argue it should be part of the modelling logic rather than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is not a niche technique; it is infrastructure for everyday decisions. Streaming platforms decide what you watch next, music services what you hear, e-commerce what you buy, and social feeds what you read. Each system is remarkably accurate, yet its reasoning is hidden from the user. That ubiquity-plus-opacity is precisely what makes explainability a first-class requirement — and what motivates the three contributions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look more precisely at the problem this thesis addresses. I will quickly survey the paradigm landscape, then identify the structuring limitations and the five research questions, and finally map the three contributions to those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across the paradigms we build on. Collaborative filtering recommends on the principle that similar users will value similar items, computed from the user side or the item side. Content-based filtering recommends items sharing attributes with a profile, while hybrid methods combine both. Matrix factorisation factorises the interaction matrix into latent factors — compact and effective, but immediately opaque. Graph-based methods, including LightGCN and hypergraph extensions, propagate information over an interaction structure and capture multi-hop or higher-order relations. Each strengthens the modelling, but each complicates interpretation in a specific way: matrix factorisation made latent dimensions opaque; graph models kept importance implicit; hypergraph models added higher-order relations but assumed uniform message importance. That uniformity assumption is one of the things I will challenge.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limitations. Data sparsity and scalability are the most cited: the user-item matrix is overwhelmingly empty, so learning is starved of signal. Cold-start is the structural consequence, because a new user or item has no history to learn from. Popularity bias and the resulting lack of diversity create a filter-bubble loop, where exposure begets interaction. And the most fundamental limitation, and the one this thesis targets, is the absence of interpretability. For clustering specifically the situation is even harder: methods privilege a local explanation or a global one but not both, they struggle to scale, and their explanations rarely remain coherent across resolutions. That combination — no faithful local and global explanation, poor scaling, and incoherence across levels — is precisely the gap I work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structuring problems. First, lack of explainability: complex models remain hard to interpret faithfully and actionably. Second, difficulty of scaling: local explanations do not transfer naturally to hierarchical structures or large datasets, so a method that works on a toy partition may collapse on hundreds of thousands of records with nested structure. Third, weak integration into learning: most explanations are post-hoc and do not shape model dynamics, nor do they participate in the accuracy-diversity-context trade-off the model is trying to satisfy. The thesis gap follows directly: the literature still lacks a single cooperative-attribution framework that explains clustering faithfully, stays coherent under hierarchy, and then operates as an in-training signal in recommendation. My claim is that Shapley-value attribution can be that single framework.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overall aim is to develop, justify and evaluate a cooperative-game-theoretic perspective for explainable AI in clustering and recommendation, using Shapley attribution as both an explanatory mechanism and an in-training signal. Five research questions form the spine. RQ1 asks how Shapley values can explain black-box clustering faithfully at instance and cluster level. RQ2 asks how that extends to large-scale hierarchical clustering without losing tractability or consistency. RQ3 asks whether cooperative attribution can move beyond post-hoc analysis into the learning dynamics of graph recommenders. RQ4 asks whether a recommender can jointly optimise ranking accuracy, context and diversity when importance is estimated by a cooperative-game utility. RQ5 is the thesis-level question: what emerges when clustering explanation and recommendation learning are read as two stages of one shared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C1 establishes Shapley-based explanation for black-box clustering through a PCA-K-Means-LightGBM-TreeSHAP pipeline, and validates it on the wine quality dataset. C2 scales it to hierarchy and large data via multi-level clustering with cross-level SHAP aggregation, validated on the Beijing air-quality dataset. C3 is the strongest claim: DyHuCoG replaces post-hoc attribution with an in-training signal inside a hypergraph recommender, validated on MovieLens-1M and Amazon-Book. Each contribution answers a distinct research question, but they are deliberately designed to be read together as a cumulative argument. The thesis claim is that cooperative game theory functions as a shared attribution perspective for explanation, optimisation and intervention — not that these are three unrelated papers.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thesis is a single claim: that Shapley-value attribution can function as one shared, explainable perspective spanning clustering and recommendation. The three contributions are not separate fixes but one cumulative argument — each applies the same cooperative-game logic to a different stage, from faithful clustering explanation to an in-training signal inside a recommender. That is what makes explanation part of the modelling logic itself, not a by-product attached after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contributions, let me briefly cover the shared experimental setup. The purpose of this section is to establish that my comparisons are fair: the datasets, the splitting and preprocessing, the baselines, the evaluation metrics, and the hardware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clustering datasets and two recommendation datasets. For clustering I deliberately picked datasets with semantically interpretable features, because the whole point of the method is to return attribution to the original variables. Wine Quality is a small, dense, chemically correlated dataset of almost five thousand samples with eleven features. Beijing Multi-Site Air Quality is a large, noisy, temporally and meteorologically variable dataset of over three hundred and eighty thousand hourly records. For recommendation I used benchmark-standard datasets with established baselines: MovieLens-1M, with roughly a million interactions and a density of 0.0447, and Amazon-Book, which is far sparser at 0.0006. The sparsity contrast is deliberate, because it stress-tests whether a Shapley-guided model helps most precisely when interaction data are weak.</a:t>
            </a:r>
          </a:p>
          <a:p/>
          <a:p>
            <a:r>
              <a:t>Beyond scale, each dataset was chosen so that attribution lands in a vocabulary a domain expert can act on. Wine and Beijing give semantically interpretable features (chemistry, pollution); the two recommenders give a density contrast that isolates whether cooperative attribution helps most when interaction data are scarce. That is why the same explanatory logic can be validated across tabular clustering and recommendation without changing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is designed against leakage, because recommendation metrics are especially sensitive to how you split. For clustering I use five-fold cross-validation to test the stability of the surrogate and the attribution. For recommendation I use a user-level, temporal holdout: interactions sorted by time per user, split seventy percent train, ten percent validation, twenty percent test. Evaluation uses leave-one-out, where the latest test positive per user is the target, ranked against sampled negatives. Because MovieLens-1M contains explicit ratings, I convert ratings greater than three into positive implicit feedback. Negatives are drawn from a popularity-aware distribution to produce harder contrasts. Results are reported across five seeds, with early stopping on validation NDCG at twenty.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Baselines span classical, neural, graph and hypergraph methods, precisely so that I can isolate the contribution of cooperative attribution rather than a favourable model choice. For recommendation I compare against matrix factorisation, NCF, LightGCN, RecDCL, HCCF and HPCF, treating HPCF as the strongest reference. For clustering interpretability I compare against a LIME-based surrogate pipeline. Ranking is measured with Precision at K, Recall at K and NDCG at twenty as the principal measure. On the diversity side I measure system-level catalogue coverage, and list-level intra-list diversity, defined as the average pairwise dissimilarity inside a ranked list. I want to emphasise that ILD is not decorative: it is deliberately built into the DyHuCoG coalition utility. Clustering quality is measured with Silhouette and Davies-Bouldin.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matters mainly because it explains some runtime figures I will quote later. All clustering, preprocessing and data loading run on an Intel Core i9-14900K with twenty-four cores. DyHuCoG training and inference run on an NVIDIA RTX 4090 with twenty-four gigabytes, alongside forty-eight gigabytes of RAM and a two-terabyte SSD. The software stack is Python 3.8, with scikit-learn for PCA and K-Means, LightGBM for the surrogate, SHAP for TreeSHAP, and PyTorch 2.0.1 for the recommendation model. I use Altair for interactive SHAP visualisation and report metrics at K equal to five, ten and twenty. Everything stays within ordinary academic compute; nothing here needs industrial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move to the first contribution: explaining black-box clustering with Shapley values. This contribution answers RQ1, and I will present it in four steps: objectives, methodology, results, findings.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start with clustering? Here the model creates its own structure, so cluster meaning must be inferred after the fact — which makes clustering the hardest and most natural test bed for attribution. The gap is that explainable clustering is fragmented: methods favour a local or a global explanation, rarely both; they often fail to scale; and they rarely preserve coherence across clusters. And because Shapley explanation is well established in supervised problems, its near absence from unsupervised clustering is striking. Our objectives are threefold: build a pipeline yielding a cluster-level explanation while preserving feature-level attribution; preserve the semantics of the original feature space rather than a transformed latent space; and justify why Shapley is the right concept rather than an ad-hoc surrogate such as LIME.</a:t>
            </a:r>
          </a:p>
          <a:p/>
          <a:p>
            <a:r>
              <a:t>RQ1 asks how Shapley values can explain black-box clustering faithfully at both instance and cluster level, and it decomposes into three objectives. O1 is a pipeline that produces a cluster-level explanation while preserving feature-level attribution, so the explanation is coherent rather than a single summary number. O2 requires that attribution stays in the original feature space — density, pH, acidity, sulfur dioxide, alcohol — because that is what makes it actionable for a domain expert. O3 is a justificatory objective: we must show why Shapley is the right allocation rule rather than an ad-hoc surrogate such as LIME. The next methodology slide shows how these three objectives are met.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clustering as a cooperative game where features are the players. The value function measures how well the data cluster when we use only the features in a given coalition: concretely, the value of coalition S is the Silhouette of K-Means run on the feature subset X_S, with a fixed k. I choose Silhouette because it is bounded, normalised and semantically intuitive; Davies-Bouldin or Calinski-Harabasz would also be defensible. A feature then receives a high Shapley value when its presence consistently improves separation across all coalitions, in expectation. The problem is that evaluating Silhouette for every subset is combinatorial and infeasible even for a modest number of features, which is exactly why we need a bridge between the unsupervised partition and a tractable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is the heart of the method. TreeSHAP explains tree models; it cannot explain K-Means centroids. And explaining the PCA representation would move attribution away from the interpretable variables we care about. So we convert an unsupervised partition into a supervised task: once K-Means produces cluster labels, we train a LightGBM multiclass classifier to predict them from the original features, then apply TreeSHAP to that surrogate. This keeps attribution in the original semantic feature space, which is what makes the explanation actionable. The key validity condition is surrogate fidelity: if the surrogate does not reproduce the partition well, the attribution is not faithful. We require a macro-F1 of around 0.82 as the floor.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five stages. Stage one is feature standardisation. Stage two is PCA, which I want to stress is used only as a computational and visual diagnostic; it is deliberately not the explanatory space, because explaining principal components would defeat the purpose of actionable attribution. Stage three is K-Means-plus-plus with multi-criteria k selection, drawing on the elbow method, Silhouette and Davies-Bouldin. Stage four is the LightGBM surrogate trained on the original features to predict cluster labels. Stage five is TreeSHAP attribution in the original feature space, aggregated into global importance, cluster-specific profiles, and local force plots. Complexity is dominated by PCA and repeated K-Means; TreeSHAP scales with tree count and depth rather than exponentially in features, which is what makes the approach tractable.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honest and important point. We evaluate k from two to ten, and deliberately select k equal to three even though it is not geometrically optimal. With k equal to two we get a stronger Silhouette of 0.214 and a Davies-Bouldin of 1.775; with k equal to three the Silhouette drops to 0.144 and the Davies-Bouldin rises to 2.097. On raw geometry, two is the better partition. We choose three nonetheless, because three clusters support three distinct, chemically meaningful oenological narratives, far more actionable than a dichotomous split. I select the partition a domain expert would find useful, not the one that maximises a separation index. And to avoid a common confusion: the 0.63 Silhouette belongs to the Beijing dataset in Contribution II, not this 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SHAP ranking is dominated by density, followed by pH, fixed acidity, sulfur-dioxide-related variables and alcohol. These are precisely the variables that an oenologist would point to as governing structure, preservation and sensory balance. The important point is that this is not an arbitrary classifier artefact. Because the surrogate was trained to reproduce the partition from the original variables, and because TreeSHAP attributes in that original space, the recovered hierarchy corresponds to a chemically interpretable structure. This is the strongest evidence that the pipeline is faithful: it recovers domain knowledge without being told to. It also illustrates the value of keeping attribution in the semantic feature space rather than in a reduced or latent space.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cluster-specific profiles show that the solution is not only globally interpretable but internally differentiated. Each cluster exhibits a distinct signature. Cluster zero is driven primarily by density and sulfur-dioxide-related variables; cluster one by acidity and pH effects; cluster two by a different balance across acidity, alcohol and related chemical attributes. Crucially, the same small set of variables recurs across all three clusters, but with different relative weights within each. This is the actionable insight: a cluster is not just a label, it is a distinct, domain-meaningful combination of drivers. It also shows the method supports both a global reading, which variable matters most overall, and a local, per-cluster reading, where the practical value lies.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why we prefer Shapley over LIME. SHAP grounds attribution in a cooperative-game allocation rule and satisfies four axioms: efficiency, so explanatory mass is fully allocated; symmetry, so equal marginal contributors get equal credit; the null-player property, so zero marginal contributors get zero; and additivity, so explanations compose. LIME fits a local surrogate and has no equivalent guarantee; it is sensitive to perturbation design. SHAP supports both local and global explanation, whereas LIME is primarily local, and SHAP is much stronger for comparing clusters, which is central here. One caveat: in this surrogate pipeline, efficiency holds with respect to the LightGBM output, not directly to the Silhouette-based game. That is exactly why surrogate fidelity matters.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RQ1 directly: yes. Shapley values explain a black-box partition faithfully, provided the surrogate is high-fidelity, and coherently at cluster level. Each objective is met. O1 is met because the pipeline yields both a global reading — density, pH, acidity, sulfur dioxide, alcohol — and a per-cluster reading where the same drivers re-weigh differently. O2 is met because attribution is returned to the original chemical variables, which is what makes it actionable. O3 is met because Shapley satisfies efficiency, symmetry, the null-player property and additivity, whereas LIME has no equivalent guarantee. The honest caveat is that efficiency holds with respect to the surrogate output, not directly to the Silhouette-based game — which is why surrogate fidelity is the critical validity condition.</a:t>
            </a:r>
          </a:p>
          <a:p/>
          <a:p>
            <a:r>
              <a:t>C1 answers RQ1 in the affirmative. The key findings are fourfold. Shapley values explain the black-box partition at both cluster level and instance level, anchoring each cluster's meaning to individual feature contributions. They return attribution to the original chemical variables — density, pH, fixed acidity, sulfur dioxide, alcohol — rather than to a reduced or latent space, which is what makes the explanation actionable. Because the surrogate reproduces the partition from the original variables, the recovered ranking is chemically interpretable and faithful. And the approach is theoretically grounded: SHAP satisfies efficiency, symmetry, the null-player property and additivity, which LIME does not.</a:t>
            </a:r>
          </a:p>
          <a:p/>
          <a:p>
            <a:r>
              <a:t>Let me be clear about the scope. First, the explanation depends on the fidelity of the LightGBM surrogate; it is not a direct mechanism of the K-Means geometry. Second, the approach is confined to tabular data. Third, and most importantly for what follows, it is single-level: it cannot yet address hierarchical coherence, meaning it cannot explain how feature importance reconfigures between a partition and its sub-partitions. And the surrogate plus representative-instance reporting compresses some observation-level variation. These limits define the point of departure for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works as a single, principled lens for explaining an unsupervised partition, and that keeping attribution in the original feature space is what makes it actionable. But real data are rarely single-level: broad regimes contain nested sub-groups, and a variable can be globally important yet locally uninformative. That flat limitation directly motivates Contribution II: can the explanation logic be scaled to multi-level, large-scale clustering without losing coherence?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second contribution: scaling the explanation logic to multi-level, large-scale clustering. It answers RQ2, and the central concern is not merely scale but multi-granularity.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asks whether the C1 logic survives scale and hierarchy. Large real-world data contain structure at more than one granularity: broad regimes at the top, nested sub-groups within them. A variable can be globally important yet locally uninformative, or the reverse, so a flat explanation is true but incomplete — it cannot show how importance reconfigures as you zoom in. The chapter adds three things. First, a genuine multi-level workflow, not a rerun of the single-level pipeline. Second, a formal cross-level consistency argument, Proposition 6.1, so that differences across levels can be interpreted rather than dismissed as inconsistency. Third, validation on a structurally different large-scale dataset, Beijing air quality, testing whether the method generalises beyond the small, correlated wine dataset.</a:t>
            </a:r>
          </a:p>
          <a:p/>
          <a:p>
            <a:r>
              <a:t>RQ2 asks whether the C1 logic survives scale and hierarchy without losing tractability or consistency, and it decomposes into three objectives. O1 is a genuinely multi-level workflow: coarse clustering at the top and nested sub-groups within, so that attribution stays interpretable inside a cluster, across sub-clusters, and across the hierarchy. O2 is a formal cross-level consistency argument, Proposition 6.1, so that differences across levels can be interpreted rather than dismissed as inconsistency. O3 is an empirical check on generality: validation on a structurally different large-scale dataset, Beijing air quality, rather than the small, chemically correlated wine dataset.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multi-level architecture proceeds recursively: we learn a coarse clustering on the full dataset, then subdivide each cluster where appropriate, producing a nested structure. For each level we train a level-specific surrogate and compute SHAP values in the same original feature space. The cross-level aggregation is deliberately not a naive average: it respects cluster size and nesting structure. A parent-level attribution is an expectation over the explanatory structure of its descendants, so a coarse-level importance reflects the size-weighted contributions of the clusters it contains. One methodological point: the hierarchy here is a pragmatic analytical device. I am not claiming the data have a true, ontological hierarchy of levels; the nested structure is a computational and interpretive tool, and Proposition 6.1 is stated with that in mind.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mathematical heart of the contribution. Let Phi at level l in cluster c for feature j be the expected absolute SHAP importance over examples in that cluster, and let w sub c-prime be the relative size of a child cluster within its parent. For a strict nested hierarchy on a consistent feature space, the parent's expected absolute importance equals the sum over its children of the child's relative size times the child's expected absolute importance, plus a residual epsilon that comes from surrogate mismatch and vanishes under perfect fidelity. The derivation uses the law of total expectation and the fact that children partition the parent. Crucially, it does not claim explanations are identical across levels; it says differences can be interpreted rather than dismissed as inconsistency. That makes a hierarchical explanation self-consistent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Beijing, the multi-criteria evaluation converges much more strongly than on wine, and this is worth emphasising. The full dataset clusters cleanly into k equal to three, with a Silhouette of about 0.63 and a Davies-Bouldin of about 0.55. Recall that this is where the 0.63 figure comes from — it belongs to Beijing, not to the wine partition, whose Silhouette is 0.144. The low Davies-Bouldin indicates little between-cluster ambiguity. The PCA projection, using two components, is used only for visual inspection. I also tested sensitivity: the conclusions are robust to modest variation in k, in the number of projection dimensions, and in the surrogate depth; only low-ranked variables shift. So the finding is not an artefact of a particular parameter choice.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ranking is analytically rich. The dominant features are temperature, dew point and pressure, followed by carbon monoxide, nitrogen dioxide, PM10 and PM2.5. It is striking that it is not simply the pollutant concentrations that dominate. Meteorological variables play a structurally central role, because temperature, dew point and pressure condition dispersion, trapping and photochemical behaviour. In other words, they determine the atmospheric conditions under which pollution accumulates. This is exactly the kind of insight that flat, descriptive summaries often fail to make explicit: a naive ranking of pollutant concentrations would overlook the fact that the weather is what sets the regime. It is a good illustration of why attribution in the original variable space is valuable.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 plots reveal three representative regimes, and this is where the interpretation becomes concrete. Regime A is a warm, photochemical regime, where ozone, temperature and dew point are prominent — this is characteristic of summer photochemical smog. Regime B is a wintertime smog regime, dominated by carbon monoxide, sulfur dioxide and particulate matter, with low wind speed suppressing dispersion. Regime C is a comparatively clean-air regime, associated with favourable meteorology and weak pollutant pushes. The interpretative value is not merely showing that these regimes exist — it is showing which combinations of variables define each one. That is the actionable insight: an air-quality analyst can see the specific drivers of a given pollution episode and act on them.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payoff of the chapter, and the reason a flat explanation is insufficient. At the coarse level, temperature and dew point dominate, because they differentiate broad atmospheric regimes. Within individual clusters, the discriminative variables shift to carbon monoxide, sulfur dioxide, PM10, wind speed, pressure or ozone. This change is not a contradiction — it is exactly what a multi-level explanation should reveal. The parent-level story is regime selection; the cluster-level story is variation within a regime. A variable can be globally important yet locally uninformative within a sub-cluster. Proposition 6.1 lets us interpret these shifts as meaningful structure rather than noise; a flat, single-level explanation would present them as conflicting, whereas our framework makes them coherent.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logic works on both a small, dense, chemically correlated dataset and a large, noisy, environmentally variable one, which supports the generality of the approach. It is not tied to a domain-specific peculiarity of wine chemistry. I also compared against the SHAP-based clustering literature: our Beijing partition achieves a Silhouette of about 0.63, whereas Gramegna and Giudici, working on credit-risk data, report around 0.37. On the LIME comparator, we observe weaker structural coherence and less stable local narratives for hierarchical reasoning. I want to be careful here: these are comparative observations rather than a comprehensive benchmark, but they support the claim that a cooperative-attribution approach produces more structured, more coherent explanations for hierarchical clustering.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RQ2 directly: yes, with bounds. Shapley-based clustering explanation can scale to hierarchical, large-scale settings without losing interpretive coherence, provided the hierarchy is modelled explicitly and the approximation is transparent. O1 is met: we obtain a multi-granular explanation that does not collapse into a single flat summary. O2 is met: Proposition 6.1 gives a formal cross-level consistency argument, so regime-level and cluster-level stories are not at odds. O3 is met: the approach validates on Beijing air quality, a large, noisy, temporally variable dataset, which supports generality. The honest bound is that the model is still an explanation of a pre-computed partition; it does not yet influence learning itself. That is the bridge to Contribution III.</a:t>
            </a:r>
          </a:p>
          <a:p/>
          <a:p>
            <a:r>
              <a:t>C2 answers RQ2 in the affirmative. The key findings are fourfold. The explanation scales to a multi-granular structure without collapsing into a single flat summary, because the hierarchy is modelled explicitly rather than flattened. Proposition 6.1 provides a formal cross-level consistency argument, so that differences across levels can be interpreted as meaningful structure rather than dismissed as noise. The approach generalises to a structurally different large-scale dataset, Beijing air quality, which is far noisier and more temporally variable than the small correlated wine data. And the method produces parent-level regime-selection stories alongside cluster-level within-regime variation.</a:t>
            </a:r>
          </a:p>
          <a:p/>
          <a:p>
            <a:r>
              <a:t>The limitations are equally clear. The clustering remains static even though the Beijing data are temporal, so the dynamics are not exploited. The surrogate-based SHAP plus representative-instance reporting compresses observation-level variation, so some richness is lost. The whole approach is confined to tabular data. And, most importantly for what follows, the model is still an explanation of a pre-computed partition: it does not yet influence learning itself. This is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stays coherent across granularity, provided the hierarchy is made explicit. Explanations become interpretable against scale, not just against a single flat partition, which is precisely where the literature was weakest. But the attribution is still post-hoc: it explains a partition that was already computed, and it never influences how the model learns. That is the limit that motivates Contribution III — can cooperative attribution move beyond explanation and enter the learning dynamics of a recommender?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principal contribution introduces DyHuCoG, a Dynamic Hypergraph Cooperative Game, where Shapley attribution becomes an in-training signal inside a hypergraph recommender rather than a post-hoc explanation. It answers RQ3 and RQ4.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is the flagship contribution and the conceptual shift of the whole thesis. The gap is that graph and hypergraph recommenders treat message importance as either uniform or attention-weighted, without a principled account of marginal contribution. Diversity is typically a secondary objective or a re-ranking heuristic, not part of the core learning problem; and interpretability is added after prediction rather than integrated into the objective. Our objectives are threefold: formulate recommendation as a cooperative game in which users, items and contexts are players; embed preference-aware Monte Carlo Shapley estimates into hypergraph message passing so that attribution directly shapes how information flows; and improve ranking accuracy, coverage and intra-list diversity jointly. The strongest claim is not that we explain a recommender; it is that attribution becomes an in-training signal.</a:t>
            </a:r>
          </a:p>
          <a:p/>
          <a:p>
            <a:r>
              <a:t>C3 answers RQ3 and RQ4 together, and it is the conceptual shift of the thesis. RQ3 asks whether cooperative attribution can move beyond post-hoc explanation and enter the learning dynamics of a graph recommender. RQ4 asks whether a recommender can jointly optimise ranking accuracy, context and diversity when importance is estimated by a cooperative-game utility. Both map to three objectives. O1 is to formulate recommendation as a cooperative game in which users, items and contexts are players. O2 is to embed preference-aware Monte Carlo Shapley estimates into hypergraph message passing, so attribution directly shapes how information flows. O3 is to improve ranking, coverage and intra-list diversity jointly — not at the expense of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 recommendation as a cooperative game whose players are users, items and contexts. The hypergraph has vertices drawn from this same set, and hyperedges encode user-item-context interactions, with dynamic edge weights derived from Shapley estimates. A coalition represents the entities participating in a recommendation episode, and the coalition value measures the quality of the recommendation outcome achievable by that coalition. The task is top-N recommendation: we produce a ranked list for a user that balances relevance, diversity and contextual fit. This parallels the clustering formulation, but with a value function that is recommendation-oriented. That parallelism is deliberate and is one of the thesis-level contributions: the same cooperative-game logic applies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coalition utility combines ranking quality, diversity and context: a weighted sum of NDCG at twenty, a diversity term and a context score, with weights summing to one. The key point is that this is the same trade-off the recommender must satisfy and also the trade-off from which attribution is computed, so the explanatory game and the predictive objective are aligned by design. We add a preference-consistency bonus proportional to the sum of user-item similarities in the coalition. Alpha, beta, gamma were grid-searched to 0.60, 0.25, 0.15, with the preference coefficient at 0.20 and NDCG varying by under one and a half percent. One honest boundary: coalition evaluation is scoped to the interaction episode, a few dozen players, not the full catalogue.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Shapley computation is combinatorial and infeasible for a realistic recommender, so we use a Monte Carlo estimator that averages, over M sampled coalitions, the difference between the value including a player and the value excluding it; the preference-aware variant applies the same estimator to the preference-weighted utility. It is unbiased, with variance decaying as sigma squared over M, so mean squared error goes as one over M and absolute error as one over root M. We chose M equal to fifty: mean squared error about one point four times ten to the minus five, and roughly ninety-nine percent accuracy. Because preferences evolve, estimates are refreshed every ten batches, about forty-nine updates per epoch, and smoothed with an exponential moving average, so attribution is adaptive without making training hypersensitive to a single estimate.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the decisive move. The base propagation is standard hypergraph message passing; the Shapley-weighted version weights each message by a normalised Shapley coefficient, dividing by the sum of coefficients over the neighbourhood. I clip and exponentially smooth the estimates before normalising, which stabilises the sparse regime. Layer fusion combines embeddings across layers with learned coefficients. On top of that, an interaction-level attention gate interpolates between the Shapley-weighted score and the standard inner-product score, acting as a stabiliser; a context-aware score then adds a context term. The essential point is that the model is told not only who is connected to whom, but how much each coalition is worth, and that worth directly governs how information propagates. That is what distinguishes it from a post-hoc explainer.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composite loss combines four terms. The recommendation loss is Bayesian Personalised Ranking, which is a pairwise objective appropriate for implicit feedback. The diversity loss is an intra-list diversity regulariser that penalises redundant ranked lists. The context loss aligns the context embedding with the context-node representation. And the regularisation term is weight decay. Negatives are drawn from a popularity-aware distribution, with periodic hard-negative refresh, and optimisation uses Adam. The conceptual point I want to drive home is alignment: the model is trained to optimise the same accuracy-diversity-context balance that later determines cooperative attribution. So the explanation is not a separate diagnostic; it is a direct read-out of the objective the model is already optimising. This is what gives the explanation its structural faithfulness.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result, and I would ask you to read it carefully because it shows ranking and diversity improving together. On MovieLens-1M, the strongest baseline HPCF achieves NDCG at twenty of 0.2528 and recall of 0.2098; DyHuCoG improves these to 0.2775 and 0.2362, plus nine point seven seven percent in NDCG and plus twelve point five eight percent in recall. At the same time, coverage rises from 0.342 to 0.397 and intra-list diversity from 0.461 to 0.516. On Amazon-Book, which is much sparser, the relative gains are larger: plus thirteen point three three percent NDCG and plus sixteen point one six percent recall, with coverage up by nearly thirty percent. The sparser the data, the larger the gain — precisely the pattern you would expect if Shapley-driven weighting is most valuable when signal is weak.</a:t>
            </a:r>
          </a:p>
          <a:p/>
          <a:p>
            <a:r>
              <a:t>This slide summarises the relative gains over the strongest baseline, and the key message is that DyHuCoG improves ranking accuracy, coverage and diversity simultaneously — it does not sacrifice one for the others. The largest relative gains appear on the sparser Amazon-Book dataset, consistent with the hypothesis that Shapley-guided weighting helps most precisely when interaction data are weak. Together these results are evidence that the accuracy-diversity trade-off, often treated as structurally fixed, is in fact negotiable if attribution is handled as a first-class part of the learning objective. NDCG up, recall up, coverage up, diversity up: that combination is the core empirical claim of the third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levels of diversity improve. On MovieLens-1M, catalogue coverage rises from 0.342 to 0.397, a sixteen percent improvement, and intra-list diversity from 0.461 to 0.516, an eleven point nine percent improvement. On Amazon-Book, coverage rises from 0.259 to 0.336, nearly thirty percent, and intra-list diversity from 0.535 to 0.602. The practical consequence is a reduced filter-bubble effect and greater discovery opportunity for the user. The point I want to stress: both diversity metrics improve while NDCG and recall also improve — so we are not trading accuracy for diversity. The model surfaces more of the catalogue, recommends less redundant lists, and ranks better at the same time. That is the strongest evidence that diversity is a genuine objective here, not a post-hoc re-ranking heuristic.</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ablation isolates each component, and every component contributes. The full model achieves 0.2775 NDCG at twenty on MovieLens-1M. Removing the Shapley value drops it to 0.2647, a four point six percent loss. Removing the hypergraph structure drops it to 0.2586, a six point eight percent loss. Removing the attention gate costs three point five percent. Removing context causes the largest single loss at eight point two percent, consistent with context providing the representational substrate on which Shapley weighting operates. Removing diversity costs five point eight percent. The same pattern holds on Amazon-Book, with context removal again largest. The four to six percent drop when Shapley is removed supports the argument that marginal-contribution estimation is load-bearing rather than decorative.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attribution cost is proportionate, and I report it transparently because it bears on deployability. On MovieLens-1M, DyHuCoG takes about two thousand seconds to train versus roughly eleven hundred for HPCF, about one point seven eight times. Inference is one point eight four milliseconds per query on MovieLens and eight point five two on Amazon, comfortably within real-time requirements. Memory is modestly higher, four point four gigabytes versus four point one. The per-epoch cost scales with the number of layers, the embedding dimension and the Monte Carlo budget. On Shapley convergence, M equal to fifty gives ninety-nine percent accuracy, while M equal to one hundred gives ninety-nine point five with diminishing returns. So fifty is the right operating point, balancing accuracy against cost.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also validated that the improvements are statistically significant and substantively meaningful. I ran paired t-tests on per-user NDCG at twenty across six thousand and forty users, comparing DyHuCoG against every baseline, with Holm-Bonferroni correction. Against HPCF, the t-statistic is 46.38, Cohen's d is 1.33, and the p-value is on the order of ten to the minus two hundred and seventy. The Wilcoxon signed-rank test is also significant at p less than 0.001. The effect sizes are large, and that matters: with six thousand users, even a trivially small difference can appear significant, so reporting effect size shows the improvement is not merely a large-sample artefact. I should be scrupulous about scope: these tabulated paired tests apply only to MovieLens-1M; the Amazon-Book results remain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also improves the regimes where recommenders are at their most brittle: cold-start. For users with five or fewer interactions, NDCG at twenty is about 0.061, roughly ten percent over HPCF; for cold-start items about 0.057, a gain of roughly nine point six percent. Across datasets the improvement holds at plus nine point nine percent on MovieLens, plus fourteen point eight on Amazon, and plus eleven point eight on Yelp2018, which I use only as an auxiliary robustness benchmark. On interpretability, the model produces a SHAP waterfall that decomposes a recommendation into the same ranking, diversity, context and preference components used during training, so the explanation is structurally faithful rather than an external approximation. And Shapley measures marginal utility rather than raw frequency, so weak but informative interactions retain influence, mitigating popularity bias.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RQ3 and RQ4 directly: yes. RQ3 is answered in the affirmative because attribution is no longer a post-hoc diagnostic but an in-training signal that directly shapes message passing. RQ4 is answered in the affirmative because ranking, coverage and diversity improve together rather than trading against one another. Each objective is met. O1: recommendation is formulated as a cooperative game with users, items and contexts as players. O2: preference-aware Monte Carlo Shapley is embedded into hypergraph message passing. O3: we gain about nine point nine percent on MovieLens and fourteen point eight percent on Amazon, with higher coverage and diversity. The strongest claim is that the explanation is structurally faithful, because it reads out the same components the model already optimises. Within the stated edges — computational overhead, dependence on context, and the early-2026 baseline set — the claim stands.</a:t>
            </a:r>
          </a:p>
          <a:p/>
          <a:p>
            <a:r>
              <a:t>C3 answers RQ3 and RQ4, and makes the strongest claim of the thesis. Cooperative attribution can move beyond post-hoc analysis and enter the learning dynamics of a recommender, letting it balance accuracy, diversity and context more effectively. The key findings are that ranking, coverage and diversity improve together — NDCG, recall, coverage and intra-list diversity all rise on both datasets — so the accuracy-diversity trade-off is not structurally fixed. The largest gains appear on the sparsest data, Amazon-Book, precisely the regime where Shapley-driven weighting is most valuable, and the improvement is statistically large against the strongest baseline.</a:t>
            </a:r>
          </a:p>
          <a:p/>
          <a:p>
            <a:r>
              <a:t>The limitations must be stated honestly. There is a measurable computational overhead, roughly one point seven eight times the training time of the strongest baseline, HPCF. The method depends on the availability of meaningful context. The Monte Carlo Shapley estimator could be improved by variance reduction. The ablation is component-wise, so it does not test factorial interactions. And the baselines were finalised in early 2026, so I claim superiority only against the tested baselines. Within those bounds, the claim stands.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the conceptual shift of the thesis. Attribution is a first-class part of the learning objective, not a post-hoc diagnostic, and the explanation is a direct read-out of the objective the model already optimises. That is what makes it structurally faithful rather than an external approximation. And because Shapley values rest on an axiomatic, normative basis, the perspective is well aligned with the transparency and accountability requirements of emerging AI regulation. This is the central claim worth defending: explanation should be part of the modelling logic itself.</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now bring everything together. I will present a synthesis of the three contributions, the published papers, the honest limitations, the future directions, and finally a clear statement of the thesis answer.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The synthesis table shows how each contribution builds on the previous one. C1 makes hidden structure intelligible: it introduces a Shapley-based pipeline that explains black-box clustering faithfully, with faithful and chemistry-consistent cluster attribution on wine. C2 keeps that explanation coherent under scale and hierarchy: it introduces cross-level SHAP aggregation and Proposition 6.1, and shows that hierarchical differences can be interpreted rather than dismissed as inconsistency. C3 carries the same attribution logic inside the learning dynamics of a recommender, using preference-aware Shapley as an in-training signal, so that accuracy, coverage and diversity improve together. The common thread is that cooperative attribution is a single mechanism used for explanation, for interpretation and for optimisation — not three unrelated tools.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synthesises three peer-reviewed publications, and it is worth mapping them to the chapters. Paper I, on Shapley values for explaining the black-box nature of machine-learning model clustering, is published in Procedia Computer Science in 2023 and corresponds to Chapter five. Paper II, on game theory meeting explainable AI for understanding black-box models, is published in IJACSA in 2025 and corresponds to Chapter six. Paper III, DyHuCoG, is published in IJIES in 2026 and corresponds to Chapter seven. What the thesis adds on top of the three papers is the multi-level formalisation, the cross-chapter comparisons, and the explicit mapping to the five research questions. In other words, the thesis is a cumulative argument, not merely a bound collection of three papers.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state the limitations honestly. Computationally, exact Shapley is intractable, so every contribution relies on approximation, surrogates, or restricted reporting. Methodologically, the clustering chapters depend on surrogate fidelity, and the recommendation results depend on stable approximate contributions and meaningful context. Empirically, the clustering work is confined to tabular data and the recommendation work is offline: no multimodal, sequential or online deployment, and no dedicated human-subject study of actionability. And on the claim itself, I want to be precise. I am not claiming one fully unified framework that eliminates all tension between accuracy and interpretability; I am claiming a shared perspective, a common attribution language, coherent and productive across the three tasks. That is the honest boundary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turns the limitations into a concrete agenda. First, scalable cooperative attribution: lower-variance Shapley estimators, learned proposal distributions, and adaptive refresh policies, to close the computational gap. Second, online and streaming recommendation: truly incremental settings with continuously evolving graphs and delayed feedback, which would also address the static-graph limitation. Third, richer human-centred evaluation: I would like to test whether these explanations measurably improve analyst judgement, user trust, intervention quality, or perceived fairness — which is the natural test of the "actionable" part of my definition. Fourth, broader trustworthy-AI and fairness evaluation: exposure fairness, transparency requirements, and governance-oriented auditing, which connects the work to the EU AI Act, the OECD principles and the GDPR.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thesis answer is that cooperative game theory can function as a shared methodological perspective for actionable explanation across clustering and recommendation. The key outcomes are fourfold. Shapley attribution provides a common formal language for allocating importance to features, interactions and contexts. It yields faithful clustering explanation, hierarchical explanatory coherence, and contribution-aware recommendation learning. And crucially, it moves explanation from commentary to method: from post-hoc description to in-training guidance. Because Shapley values rest on an axiomatic, normative basis, this perspective is well aligned with the transparency and accountability requirements of emerging AI regulation. I believe this is the central claim worth defending: that explanation should be part of the modelling logic itself, not a by-product attached after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references underpinning the thesis: my three peer-reviewed papers (R1–R3), the SHAP and Shapley foundations (R4–R6), the closest clustering-explanation and hypergraph-learning literature (R7–R8), and the regulation that motivates actionable explanation (R9). I kept the list short and solid rather than exhaustive, so each entry is one I can defend in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am now happy to take your questions and comments; I will do my best to answer them directly, and I am happy to go deeper into any of the methodology, the mathematics, or the experimental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1.png"/><Relationship Id="rId4"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2.xml"/><Relationship Id="rId4" Type="http://schemas.openxmlformats.org/officeDocument/2006/relationships/image" Target="../media/image56.png"/><Relationship Id="rId5"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0.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3.xml"/><Relationship Id="rId4" Type="http://schemas.openxmlformats.org/officeDocument/2006/relationships/image" Target="../media/image59.png"/><Relationship Id="rId5" Type="http://schemas.openxmlformats.org/officeDocument/2006/relationships/image" Target="../media/image6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4.xml"/><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1.xml"/><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4.xml"/><Relationship Id="rId4" Type="http://schemas.openxmlformats.org/officeDocument/2006/relationships/image" Target="../media/image64.png"/><Relationship Id="rId5"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5.xml"/><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6.xml"/><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7.xml"/><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8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8.xml"/><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2.xml"/><Relationship Id="rId4" Type="http://schemas.openxmlformats.org/officeDocument/2006/relationships/image" Target="../media/image8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3.xml"/><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notesSlide" Target="../notesSlides/notesSlide64.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502920"/>
            <a:ext cx="1318393" cy="960120"/>
          </a:xfrm>
          <a:prstGeom prst="rect">
            <a:avLst/>
          </a:prstGeom>
        </p:spPr>
      </p:pic>
      <p:pic>
        <p:nvPicPr>
          <p:cNvPr id="3" name="Picture 2" descr="ministry_logo.png"/>
          <p:cNvPicPr>
            <a:picLocks noChangeAspect="1"/>
          </p:cNvPicPr>
          <p:nvPr/>
        </p:nvPicPr>
        <p:blipFill>
          <a:blip r:embed="rId3"/>
          <a:stretch>
            <a:fillRect/>
          </a:stretch>
        </p:blipFill>
        <p:spPr>
          <a:xfrm>
            <a:off x="7955280" y="411480"/>
            <a:ext cx="2253893" cy="1188720"/>
          </a:xfrm>
          <a:prstGeom prst="rect">
            <a:avLst/>
          </a:prstGeom>
        </p:spPr>
      </p:pic>
      <p:pic>
        <p:nvPicPr>
          <p:cNvPr id="4" name="Picture 3" descr="ensias_logo.jpg"/>
          <p:cNvPicPr>
            <a:picLocks noChangeAspect="1"/>
          </p:cNvPicPr>
          <p:nvPr/>
        </p:nvPicPr>
        <p:blipFill>
          <a:blip r:embed="rId4"/>
          <a:stretch>
            <a:fillRect/>
          </a:stretch>
        </p:blipFill>
        <p:spPr>
          <a:xfrm>
            <a:off x="15750540" y="457200"/>
            <a:ext cx="1486688" cy="1051560"/>
          </a:xfrm>
          <a:prstGeom prst="rect">
            <a:avLst/>
          </a:prstGeom>
        </p:spPr>
      </p:pic>
      <p:sp>
        <p:nvSpPr>
          <p:cNvPr id="5" name="TextBox 4"/>
          <p:cNvSpPr txBox="1"/>
          <p:nvPr/>
        </p:nvSpPr>
        <p:spPr>
          <a:xfrm>
            <a:off x="1028700" y="1691640"/>
            <a:ext cx="16230600" cy="3657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2286000"/>
            <a:ext cx="16230600" cy="365760"/>
          </a:xfrm>
          <a:prstGeom prst="rect">
            <a:avLst/>
          </a:prstGeom>
          <a:noFill/>
        </p:spPr>
        <p:txBody>
          <a:bodyPr anchor="t" rtlCol="false" lIns="0" tIns="0" rIns="0" bIns="0" wrap="square"/>
          <a:lstStyle/>
          <a:p>
            <a:pPr algn="ctr">
              <a:lnSpc>
                <a:spcPts val="2200"/>
              </a:lnSpc>
              <a:spcBef>
                <a:spcPts val="0"/>
              </a:spcBef>
              <a:buNone/>
            </a:pPr>
            <a:r>
              <a:rPr lang="en-US" sz="1600" b="true" spc="200">
                <a:solidFill>
                  <a:srgbClr val="DF8330"/>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697480"/>
            <a:ext cx="16230600" cy="2377440"/>
          </a:xfrm>
          <a:prstGeom prst="rect">
            <a:avLst/>
          </a:prstGeom>
          <a:noFill/>
        </p:spPr>
        <p:txBody>
          <a:bodyPr anchor="t" rtlCol="false" lIns="0" tIns="0" rIns="0" bIns="0" wrap="square"/>
          <a:lstStyle/>
          <a:p>
            <a:pPr algn="ctr">
              <a:lnSpc>
                <a:spcPts val="7000"/>
              </a:lnSpc>
              <a:spcBef>
                <a:spcPts val="0"/>
              </a:spcBef>
              <a:buNone/>
            </a:pPr>
            <a:r>
              <a:rPr lang="en-US" sz="6400" b="true" spc="-350">
                <a:solidFill>
                  <a:srgbClr val="111111"/>
                </a:solidFill>
                <a:latin typeface="Roca Two Bold"/>
                <a:ea typeface="Roca Two Bold"/>
                <a:cs typeface="Roca Two Bold"/>
                <a:sym typeface="Roca Two Bold"/>
              </a:rPr>
              <a:t>Cooperative Game Theory for</a:t>
            </a:r>
          </a:p>
          <a:p>
            <a:pPr algn="ctr">
              <a:lnSpc>
                <a:spcPts val="7000"/>
              </a:lnSpc>
              <a:spcBef>
                <a:spcPts val="0"/>
              </a:spcBef>
              <a:buNone/>
            </a:pPr>
            <a:r>
              <a:rPr lang="en-US" sz="6400" b="true" spc="-35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4800600"/>
            <a:ext cx="16230600" cy="548640"/>
          </a:xfrm>
          <a:prstGeom prst="rect">
            <a:avLst/>
          </a:prstGeom>
          <a:noFill/>
        </p:spPr>
        <p:txBody>
          <a:bodyPr anchor="t" rtlCol="false" lIns="0" tIns="0" rIns="0" bIns="0" wrap="square"/>
          <a:lstStyle/>
          <a:p>
            <a:pPr algn="ctr">
              <a:lnSpc>
                <a:spcPts val="3600"/>
              </a:lnSpc>
              <a:spcBef>
                <a:spcPts val="0"/>
              </a:spcBef>
              <a:buNone/>
            </a:pPr>
            <a:r>
              <a:rPr lang="en-US" sz="3000" b="true" spc="-12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33420" y="2560320"/>
            <a:ext cx="640080" cy="581346"/>
          </a:xfrm>
          <a:prstGeom prst="rect">
            <a:avLst/>
          </a:prstGeom>
        </p:spPr>
      </p:pic>
      <p:pic>
        <p:nvPicPr>
          <p:cNvPr id="10" name="Picture 9" descr="image.png"/>
          <p:cNvPicPr>
            <a:picLocks noChangeAspect="1"/>
          </p:cNvPicPr>
          <p:nvPr/>
        </p:nvPicPr>
        <p:blipFill>
          <a:blip r:embed="rId6"/>
          <a:stretch>
            <a:fillRect/>
          </a:stretch>
        </p:blipFill>
        <p:spPr>
          <a:xfrm rot="1200000">
            <a:off x="1120140" y="4480560"/>
            <a:ext cx="502920" cy="276082"/>
          </a:xfrm>
          <a:prstGeom prst="rect">
            <a:avLst/>
          </a:prstGeom>
        </p:spPr>
      </p:pic>
      <p:sp>
        <p:nvSpPr>
          <p:cNvPr id="11" name="Rounded Rectangle 10"/>
          <p:cNvSpPr/>
          <p:nvPr/>
        </p:nvSpPr>
        <p:spPr>
          <a:xfrm>
            <a:off x="2377440" y="5715000"/>
            <a:ext cx="6583680" cy="1051560"/>
          </a:xfrm>
          <a:prstGeom prst="roundRect">
            <a:avLst>
              <a:gd name="adj" fmla="val 26086"/>
            </a:avLst>
          </a:prstGeom>
          <a:solidFill>
            <a:srgbClr val="124944"/>
          </a:solidFill>
          <a:ln>
            <a:noFill/>
          </a:ln>
        </p:spPr>
        <p:txBody>
          <a:bodyPr anchor="ctr" rtlCol="false" lIns="91440" tIns="45720" rIns="91440" bIns="45720" wrap="square"/>
          <a:lstStyle/>
          <a:p>
            <a:pPr algn="ctr">
              <a:lnSpc>
                <a:spcPts val="1600"/>
              </a:lnSpc>
              <a:spcBef>
                <a:spcPts val="0"/>
              </a:spcBef>
              <a:buNone/>
            </a:pPr>
            <a:r>
              <a:rPr lang="en-US" sz="1300" b="true" spc="150">
                <a:solidFill>
                  <a:srgbClr val="ECC665"/>
                </a:solidFill>
                <a:latin typeface="Nunito Ultra-Bold"/>
                <a:ea typeface="Nunito Ultra-Bold"/>
                <a:cs typeface="Nunito Ultra-Bold"/>
                <a:sym typeface="Nunito Ultra-Bold"/>
              </a:rPr>
              <a:t>PRESENTED BY</a:t>
            </a:r>
          </a:p>
          <a:p>
            <a:pPr algn="ctr">
              <a:lnSpc>
                <a:spcPts val="3200"/>
              </a:lnSpc>
              <a:spcBef>
                <a:spcPts val="300"/>
              </a:spcBef>
              <a:buNone/>
            </a:pPr>
            <a:r>
              <a:rPr lang="en-US" sz="27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5715000"/>
            <a:ext cx="6583680" cy="1051560"/>
          </a:xfrm>
          <a:prstGeom prst="roundRect">
            <a:avLst>
              <a:gd name="adj" fmla="val 26086"/>
            </a:avLst>
          </a:prstGeom>
          <a:solidFill>
            <a:srgbClr val="F6ECDF"/>
          </a:solidFill>
          <a:ln>
            <a:no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SUPERVISED BY</a:t>
            </a:r>
          </a:p>
          <a:p>
            <a:pPr algn="ctr">
              <a:lnSpc>
                <a:spcPts val="2800"/>
              </a:lnSpc>
              <a:spcBef>
                <a:spcPts val="300"/>
              </a:spcBef>
              <a:buNone/>
            </a:pPr>
            <a:r>
              <a:rPr lang="en-US" sz="23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7086600"/>
            <a:ext cx="16230600" cy="320040"/>
          </a:xfrm>
          <a:prstGeom prst="rect">
            <a:avLst/>
          </a:prstGeom>
          <a:noFill/>
        </p:spPr>
        <p:txBody>
          <a:bodyPr anchor="t" rtlCol="false" lIns="0" tIns="0" rIns="0" bIns="0" wrap="square"/>
          <a:lstStyle/>
          <a:p>
            <a:pPr algn="ctr">
              <a:lnSpc>
                <a:spcPts val="18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sp>
        <p:nvSpPr>
          <p:cNvPr id="14" name="Rounded Rectangle 13"/>
          <p:cNvSpPr/>
          <p:nvPr/>
        </p:nvSpPr>
        <p:spPr>
          <a:xfrm>
            <a:off x="1028700" y="7452360"/>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PRESIDENT</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15" name="Rounded Rectangle 14"/>
          <p:cNvSpPr/>
          <p:nvPr/>
        </p:nvSpPr>
        <p:spPr>
          <a:xfrm>
            <a:off x="6499860" y="7452360"/>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REVIEWER</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16" name="Rounded Rectangle 15"/>
          <p:cNvSpPr/>
          <p:nvPr/>
        </p:nvSpPr>
        <p:spPr>
          <a:xfrm>
            <a:off x="11971020" y="7452360"/>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REVIEWER</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17" name="Rounded Rectangle 16"/>
          <p:cNvSpPr/>
          <p:nvPr/>
        </p:nvSpPr>
        <p:spPr>
          <a:xfrm>
            <a:off x="1028700" y="8119872"/>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REVIEWER</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18" name="Rounded Rectangle 17"/>
          <p:cNvSpPr/>
          <p:nvPr/>
        </p:nvSpPr>
        <p:spPr>
          <a:xfrm>
            <a:off x="6499860" y="8119872"/>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EXAMINER</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19" name="Rounded Rectangle 18"/>
          <p:cNvSpPr/>
          <p:nvPr/>
        </p:nvSpPr>
        <p:spPr>
          <a:xfrm>
            <a:off x="11971020" y="8119872"/>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EXAMINER</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20" name="Rounded Rectangle 19"/>
          <p:cNvSpPr/>
          <p:nvPr/>
        </p:nvSpPr>
        <p:spPr>
          <a:xfrm>
            <a:off x="1028700" y="8787384"/>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EXAMINER</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21" name="Rounded Rectangle 20"/>
          <p:cNvSpPr/>
          <p:nvPr/>
        </p:nvSpPr>
        <p:spPr>
          <a:xfrm>
            <a:off x="6499860" y="8787384"/>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GUEST</a:t>
            </a:r>
          </a:p>
          <a:p>
            <a:pPr algn="l">
              <a:lnSpc>
                <a:spcPts val="1900"/>
              </a:lnSpc>
              <a:spcBef>
                <a:spcPts val="100"/>
              </a:spcBef>
              <a:buNone/>
            </a:pPr>
            <a:r>
              <a:rPr lang="en-US" sz="1600" b="true">
                <a:solidFill>
                  <a:srgbClr val="111111"/>
                </a:solidFill>
                <a:latin typeface="Nunito Bold"/>
                <a:ea typeface="Nunito Bold"/>
                <a:cs typeface="Nunito Bold"/>
                <a:sym typeface="Nunito Bold"/>
              </a:rPr>
              <a:t>[to complete]</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[Institution]</a:t>
            </a:r>
          </a:p>
        </p:txBody>
      </p:sp>
      <p:sp>
        <p:nvSpPr>
          <p:cNvPr id="22" name="Rounded Rectangle 21"/>
          <p:cNvSpPr/>
          <p:nvPr/>
        </p:nvSpPr>
        <p:spPr>
          <a:xfrm>
            <a:off x="11971020" y="8787384"/>
            <a:ext cx="5288280" cy="539496"/>
          </a:xfrm>
          <a:prstGeom prst="roundRect">
            <a:avLst>
              <a:gd name="adj" fmla="val 23728"/>
            </a:avLst>
          </a:prstGeom>
          <a:solidFill>
            <a:srgbClr val="FFFFFF"/>
          </a:solidFill>
          <a:ln w="15875">
            <a:solidFill>
              <a:srgbClr val="E3D6C4"/>
            </a:solidFill>
          </a:ln>
        </p:spPr>
        <p:txBody>
          <a:bodyPr anchor="ctr" rtlCol="false" lIns="182880" tIns="45720" rIns="91440" bIns="45720" wrap="square"/>
          <a:lstStyle/>
          <a:p>
            <a:pPr algn="l">
              <a:lnSpc>
                <a:spcPts val="1300"/>
              </a:lnSpc>
              <a:spcBef>
                <a:spcPts val="0"/>
              </a:spcBef>
              <a:buNone/>
            </a:pPr>
            <a:r>
              <a:rPr lang="en-US" sz="1100" b="true" spc="120">
                <a:solidFill>
                  <a:srgbClr val="DF8330"/>
                </a:solidFill>
                <a:latin typeface="Nunito Ultra-Bold"/>
                <a:ea typeface="Nunito Ultra-Bold"/>
                <a:cs typeface="Nunito Ultra-Bold"/>
                <a:sym typeface="Nunito Ultra-Bold"/>
              </a:rPr>
              <a:t>SUPERVISOR</a:t>
            </a:r>
          </a:p>
          <a:p>
            <a:pPr algn="l">
              <a:lnSpc>
                <a:spcPts val="1900"/>
              </a:lnSpc>
              <a:spcBef>
                <a:spcPts val="100"/>
              </a:spcBef>
              <a:buNone/>
            </a:pPr>
            <a:r>
              <a:rPr lang="en-US" sz="1600" b="true">
                <a:solidFill>
                  <a:srgbClr val="111111"/>
                </a:solidFill>
                <a:latin typeface="Nunito Bold"/>
                <a:ea typeface="Nunito Bold"/>
                <a:cs typeface="Nunito Bold"/>
                <a:sym typeface="Nunito Bold"/>
              </a:rPr>
              <a:t>Pr. Mohamed LAZAAR</a:t>
            </a:r>
          </a:p>
          <a:p>
            <a:pPr algn="l">
              <a:lnSpc>
                <a:spcPts val="1500"/>
              </a:lnSpc>
              <a:spcBef>
                <a:spcPts val="0"/>
              </a:spcBef>
              <a:buNone/>
            </a:pPr>
            <a:r>
              <a:rPr lang="en-US" sz="1300" b="true">
                <a:solidFill>
                  <a:srgbClr val="8A8378"/>
                </a:solidFill>
                <a:latin typeface="Nunito Semi-Bold"/>
                <a:ea typeface="Nunito Semi-Bold"/>
                <a:cs typeface="Nunito Semi-Bold"/>
                <a:sym typeface="Nunito Semi-Bold"/>
              </a:rPr>
              <a:t>PES, ENSIAS · UM5 Rabat</a:t>
            </a:r>
          </a:p>
        </p:txBody>
      </p:sp>
      <p:sp>
        <p:nvSpPr>
          <p:cNvPr id="23" name="TextBox 22"/>
          <p:cNvSpPr txBox="1"/>
          <p:nvPr/>
        </p:nvSpPr>
        <p:spPr>
          <a:xfrm>
            <a:off x="1028700" y="9646920"/>
            <a:ext cx="1623060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6" name="TextBox 5"/>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7" name="Picture 6" descr="image.png"/>
          <p:cNvPicPr>
            <a:picLocks noChangeAspect="1"/>
          </p:cNvPicPr>
          <p:nvPr/>
        </p:nvPicPr>
        <p:blipFill>
          <a:blip r:embed="rId2"/>
          <a:stretch>
            <a:fillRect/>
          </a:stretch>
        </p:blipFill>
        <p:spPr>
          <a:xfrm>
            <a:off x="11612880" y="1554480"/>
            <a:ext cx="548640" cy="301180"/>
          </a:xfrm>
          <a:prstGeom prst="rect">
            <a:avLst/>
          </a:prstGeom>
        </p:spPr>
      </p:pic>
      <p:pic>
        <p:nvPicPr>
          <p:cNvPr id="8" name="Picture 7" descr="image.png"/>
          <p:cNvPicPr>
            <a:picLocks noChangeAspect="1"/>
          </p:cNvPicPr>
          <p:nvPr/>
        </p:nvPicPr>
        <p:blipFill>
          <a:blip r:embed="rId3"/>
          <a:stretch>
            <a:fillRect/>
          </a:stretch>
        </p:blipFill>
        <p:spPr>
          <a:xfrm rot="10800000">
            <a:off x="5943600" y="2651760"/>
            <a:ext cx="502920" cy="276082"/>
          </a:xfrm>
          <a:prstGeom prst="rect">
            <a:avLst/>
          </a:prstGeom>
        </p:spPr>
      </p:pic>
      <p:sp>
        <p:nvSpPr>
          <p:cNvPr id="9" name="TextBox 8"/>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Five parts  ·  each contribution follows the same rhythm: 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0" name="Rounded Rectangle 9"/>
          <p:cNvSpPr/>
          <p:nvPr/>
        </p:nvSpPr>
        <p:spPr>
          <a:xfrm>
            <a:off x="102870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Motivation · Actionable insight · Why XAI matters</a:t>
            </a:r>
          </a:p>
        </p:txBody>
      </p:sp>
      <p:sp>
        <p:nvSpPr>
          <p:cNvPr id="11" name="Rounded Rectangle 10"/>
          <p:cNvSpPr/>
          <p:nvPr/>
        </p:nvSpPr>
        <p:spPr>
          <a:xfrm>
            <a:off x="515493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Paradigms · Limitations · Research questions</a:t>
            </a:r>
          </a:p>
        </p:txBody>
      </p:sp>
      <p:sp>
        <p:nvSpPr>
          <p:cNvPr id="12" name="Rounded Rectangle 11"/>
          <p:cNvSpPr/>
          <p:nvPr/>
        </p:nvSpPr>
        <p:spPr>
          <a:xfrm>
            <a:off x="928116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Datasets · Baselines · Metrics · Hardware</a:t>
            </a:r>
          </a:p>
        </p:txBody>
      </p:sp>
      <p:sp>
        <p:nvSpPr>
          <p:cNvPr id="13" name="Rounded Rectangle 12"/>
          <p:cNvSpPr/>
          <p:nvPr/>
        </p:nvSpPr>
        <p:spPr>
          <a:xfrm>
            <a:off x="1340739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Explainable black-box clustering (Wine)</a:t>
            </a:r>
          </a:p>
        </p:txBody>
      </p:sp>
      <p:sp>
        <p:nvSpPr>
          <p:cNvPr id="14" name="Rounded Rectangle 13"/>
          <p:cNvSpPr/>
          <p:nvPr/>
        </p:nvSpPr>
        <p:spPr>
          <a:xfrm>
            <a:off x="102870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Multi-level XAI for large-scale clustering (Beijing)</a:t>
            </a:r>
          </a:p>
        </p:txBody>
      </p:sp>
      <p:sp>
        <p:nvSpPr>
          <p:cNvPr id="15" name="Rounded Rectangle 14"/>
          <p:cNvSpPr/>
          <p:nvPr/>
        </p:nvSpPr>
        <p:spPr>
          <a:xfrm>
            <a:off x="5154930" y="667512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 cooperative game on hypergraphs</a:t>
            </a:r>
          </a:p>
        </p:txBody>
      </p:sp>
      <p:sp>
        <p:nvSpPr>
          <p:cNvPr id="16" name="Rounded Rectangle 15"/>
          <p:cNvSpPr/>
          <p:nvPr/>
        </p:nvSpPr>
        <p:spPr>
          <a:xfrm>
            <a:off x="928116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Synthesis · Limitations · Future work</a:t>
            </a:r>
          </a:p>
        </p:txBody>
      </p:sp>
      <p:sp>
        <p:nvSpPr>
          <p:cNvPr id="17" name="Rounded Rectangle 16"/>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200"/>
              </a:lnSpc>
              <a:spcBef>
                <a:spcPts val="600"/>
              </a:spcBef>
              <a:buNone/>
            </a:pPr>
            <a:r>
              <a:rPr lang="en-US" sz="1800" b="true">
                <a:solidFill>
                  <a:srgbClr val="111111"/>
                </a:solidFill>
                <a:latin typeface="Nunito Bold"/>
                <a:ea typeface="Nunito Bold"/>
                <a:cs typeface="Nunito Bold"/>
                <a:sym typeface="Nunito Bold"/>
              </a:rPr>
              <a:t>Discussion with the jury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6" name="TextBox 5"/>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7" name="Oval 6"/>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8" name="TextBox 7"/>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9" name="TextBox 8"/>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Why explainability is a first-class requirement for recommender systems</a:t>
            </a:r>
          </a:p>
        </p:txBody>
      </p:sp>
      <p:sp>
        <p:nvSpPr>
          <p:cNvPr id="10" name="Rectangle 9"/>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1" name="TextBox 10"/>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2" name="Connector 11"/>
          <p:cNvCxnSpPr/>
          <p:nvPr/>
        </p:nvCxnSpPr>
        <p:spPr>
          <a:xfrm>
            <a:off x="1028700" y="6464808"/>
            <a:ext cx="640080" cy="0"/>
          </a:xfrm>
          <a:prstGeom prst="line">
            <a:avLst/>
          </a:prstGeom>
          <a:ln w="31750">
            <a:solidFill>
              <a:srgbClr val="ECC665"/>
            </a:solidFill>
          </a:ln>
        </p:spPr>
      </p:cxnSp>
      <p:sp>
        <p:nvSpPr>
          <p:cNvPr id="13" name="TextBox 12"/>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Opaque AI systems mediate what billions of people see, buy and watch every day — accuracy without transparency.</a:t>
            </a:r>
          </a:p>
        </p:txBody>
      </p:sp>
      <p:sp>
        <p:nvSpPr>
          <p:cNvPr id="14" name="TextBox 13"/>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5" name="Connector 14"/>
          <p:cNvCxnSpPr/>
          <p:nvPr/>
        </p:nvCxnSpPr>
        <p:spPr>
          <a:xfrm>
            <a:off x="6576060" y="6464808"/>
            <a:ext cx="640080" cy="0"/>
          </a:xfrm>
          <a:prstGeom prst="line">
            <a:avLst/>
          </a:prstGeom>
          <a:ln w="31750">
            <a:solidFill>
              <a:srgbClr val="ECC665"/>
            </a:solidFill>
          </a:ln>
        </p:spPr>
      </p:cxnSp>
      <p:sp>
        <p:nvSpPr>
          <p:cNvPr id="16" name="TextBox 15"/>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modifiable, domain-level factor a designer can act upon.</a:t>
            </a:r>
          </a:p>
        </p:txBody>
      </p:sp>
      <p:sp>
        <p:nvSpPr>
          <p:cNvPr id="17" name="TextBox 16"/>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8" name="Connector 17"/>
          <p:cNvCxnSpPr/>
          <p:nvPr/>
        </p:nvCxnSpPr>
        <p:spPr>
          <a:xfrm>
            <a:off x="12123420" y="6464808"/>
            <a:ext cx="640080" cy="0"/>
          </a:xfrm>
          <a:prstGeom prst="line">
            <a:avLst/>
          </a:prstGeom>
          <a:ln w="31750">
            <a:solidFill>
              <a:srgbClr val="ECC665"/>
            </a:solidFill>
          </a:ln>
        </p:spPr>
      </p:cxnSp>
      <p:sp>
        <p:nvSpPr>
          <p:cNvPr id="19" name="TextBox 18"/>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raised expressiveness and lowered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8" name="Picture 7" descr="image.png"/>
          <p:cNvPicPr>
            <a:picLocks noChangeAspect="1"/>
          </p:cNvPicPr>
          <p:nvPr/>
        </p:nvPicPr>
        <p:blipFill>
          <a:blip r:embed="rId2"/>
          <a:stretch>
            <a:fillRect/>
          </a:stretch>
        </p:blipFill>
        <p:spPr>
          <a:xfrm>
            <a:off x="8592285" y="1673352"/>
            <a:ext cx="457200" cy="250983"/>
          </a:xfrm>
          <a:prstGeom prst="rect">
            <a:avLst/>
          </a:prstGeom>
        </p:spPr>
      </p:pic>
      <p:sp>
        <p:nvSpPr>
          <p:cNvPr id="9" name="Rounded Rectangle 8"/>
          <p:cNvSpPr/>
          <p:nvPr/>
        </p:nvSpPr>
        <p:spPr>
          <a:xfrm>
            <a:off x="1028700" y="2559050"/>
            <a:ext cx="171580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10" name="Rounded Rectangle 9"/>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11" name="Rounded Rectangle 10"/>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12" name="Rounded Rectangle 11"/>
          <p:cNvSpPr/>
          <p:nvPr/>
        </p:nvSpPr>
        <p:spPr>
          <a:xfrm>
            <a:off x="102870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13" name="Rounded Rectangle 12"/>
          <p:cNvSpPr/>
          <p:nvPr/>
        </p:nvSpPr>
        <p:spPr>
          <a:xfrm>
            <a:off x="1485900" y="3354578"/>
            <a:ext cx="173986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Ubiquity</a:t>
            </a:r>
          </a:p>
        </p:txBody>
      </p:sp>
      <p:sp>
        <p:nvSpPr>
          <p:cNvPr id="14" name="TextBox 13"/>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opaque AI systems shape what billions of users see, buy and watch every day?</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Recommenders shape news, study, health and credit decisions — market &gt; $15B by 2029.</a:t>
            </a:r>
          </a:p>
        </p:txBody>
      </p:sp>
      <p:sp>
        <p:nvSpPr>
          <p:cNvPr id="15" name="Rounded Rectangle 14"/>
          <p:cNvSpPr/>
          <p:nvPr/>
        </p:nvSpPr>
        <p:spPr>
          <a:xfrm>
            <a:off x="654558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16" name="Rounded Rectangle 15"/>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The Black Box</a:t>
            </a:r>
          </a:p>
        </p:txBody>
      </p:sp>
      <p:sp>
        <p:nvSpPr>
          <p:cNvPr id="17" name="TextBox 16"/>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remain opaque to users and designers?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Deep &amp; graph models: opaque, non-auditable. EU AI Act: high-risk </a:t>
            </a:r>
            <a:r>
              <a:rPr lang="en-US" sz="1800" b="true">
                <a:solidFill>
                  <a:srgbClr val="CFDAD6"/>
                </a:solidFill>
                <a:latin typeface="Calibri"/>
                <a:ea typeface="Calibri"/>
                <a:cs typeface="Calibri"/>
                <a:sym typeface="Calibri"/>
              </a:rPr>
              <a:t>→ </a:t>
            </a:r>
            <a:r>
              <a:rPr lang="en-US" sz="1800" b="true">
                <a:solidFill>
                  <a:srgbClr val="CFDAD6"/>
                </a:solidFill>
                <a:latin typeface="Nunito Semi-Bold"/>
                <a:ea typeface="Nunito Semi-Bold"/>
                <a:cs typeface="Nunito Semi-Bold"/>
                <a:sym typeface="Nunito Semi-Bold"/>
              </a:rPr>
              <a:t>must explain.</a:t>
            </a:r>
          </a:p>
        </p:txBody>
      </p:sp>
      <p:sp>
        <p:nvSpPr>
          <p:cNvPr id="18" name="Rounded Rectangle 17"/>
          <p:cNvSpPr/>
          <p:nvPr/>
        </p:nvSpPr>
        <p:spPr>
          <a:xfrm>
            <a:off x="1206246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19" name="Rounded Rectangle 18"/>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Toward Trust</a:t>
            </a:r>
          </a:p>
        </p:txBody>
      </p:sp>
      <p:sp>
        <p:nvSpPr>
          <p:cNvPr id="20" name="TextBox 19"/>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as part of the model, instead of being bolted on afterwards?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Accountable, auditable, modifiable insight — actionable, not just accurate.</a:t>
            </a:r>
          </a:p>
        </p:txBody>
      </p:sp>
      <p:sp>
        <p:nvSpPr>
          <p:cNvPr id="21" name="Rounded Rectangle 20"/>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expressive power, they lose the transparency needed for trustworthy deployment — this thesis treats </a:t>
            </a:r>
            <a:r>
              <a:rPr lang="en-US" sz="2000" b="true">
                <a:solidFill>
                  <a:srgbClr val="111111"/>
                </a:solidFill>
                <a:latin typeface="Nunito Bold"/>
                <a:ea typeface="Nunito Bold"/>
                <a:cs typeface="Nunito Bold"/>
                <a:sym typeface="Nunito Bold"/>
              </a:rPr>
              <a:t>accuracy and interpretability as objectives to be reconciled</a:t>
            </a:r>
            <a:r>
              <a:rPr lang="en-US" sz="2000" b="true">
                <a:solidFill>
                  <a:srgbClr val="111111"/>
                </a:solidFill>
                <a:latin typeface="Nunito Semi-Bold"/>
                <a:ea typeface="Nunito Semi-Bold"/>
                <a:cs typeface="Nunito Semi-Bold"/>
                <a:sym typeface="Nunito Semi-Bold"/>
              </a:rPr>
              <a:t>, not traded against one another.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 the Definition</a:t>
            </a:r>
          </a:p>
        </p:txBody>
      </p:sp>
      <p:pic>
        <p:nvPicPr>
          <p:cNvPr id="8" name="Picture 7" descr="image.png"/>
          <p:cNvPicPr>
            <a:picLocks noChangeAspect="1"/>
          </p:cNvPicPr>
          <p:nvPr/>
        </p:nvPicPr>
        <p:blipFill>
          <a:blip r:embed="rId2"/>
          <a:stretch>
            <a:fillRect/>
          </a:stretch>
        </p:blipFill>
        <p:spPr>
          <a:xfrm>
            <a:off x="10065701" y="1673352"/>
            <a:ext cx="457200" cy="415247"/>
          </a:xfrm>
          <a:prstGeom prst="rect">
            <a:avLst/>
          </a:prstGeom>
        </p:spPr>
      </p:pic>
      <p:sp>
        <p:nvSpPr>
          <p:cNvPr id="9" name="Rounded Rectangle 8"/>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10" name="Rounded Rectangle 9"/>
          <p:cNvSpPr/>
          <p:nvPr/>
        </p:nvSpPr>
        <p:spPr>
          <a:xfrm>
            <a:off x="2872521" y="2559050"/>
            <a:ext cx="254485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11" name="Rounded Rectangle 10"/>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12" name="TextBox 11"/>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identifies </a:t>
            </a:r>
            <a:r>
              <a:rPr lang="en-US" sz="2100" b="true">
                <a:solidFill>
                  <a:srgbClr val="111111"/>
                </a:solidFill>
                <a:latin typeface="Nunito Bold"/>
                <a:ea typeface="Nunito Bold"/>
                <a:cs typeface="Nunito Bold"/>
                <a:sym typeface="Nunito Bold"/>
              </a:rPr>
              <a:t>at least one modifiable factor</a:t>
            </a:r>
            <a:r>
              <a:rPr lang="en-US" sz="2100" b="true">
                <a:solidFill>
                  <a:srgbClr val="111111"/>
                </a:solidFill>
                <a:latin typeface="Nunito Semi-Bold"/>
                <a:ea typeface="Nunito Semi-Bold"/>
                <a:cs typeface="Nunito Semi-Bold"/>
                <a:sym typeface="Nunito Semi-Bold"/>
              </a:rPr>
              <a:t> whose change is associated with a </a:t>
            </a:r>
            <a:r>
              <a:rPr lang="en-US" sz="2100" b="true">
                <a:solidFill>
                  <a:srgbClr val="111111"/>
                </a:solidFill>
                <a:latin typeface="Nunito Bold"/>
                <a:ea typeface="Nunito Bold"/>
                <a:cs typeface="Nunito Bold"/>
                <a:sym typeface="Nunito Bold"/>
              </a:rPr>
              <a:t>specifiable change in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expressible in the semantic vocabulary of the task domain</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Accessibility means the domain's own terms: a physicochemical variable (wine), a pollution indicator (air quality), a preference signal (recommendation) — </a:t>
            </a:r>
            <a:r>
              <a:rPr lang="en-US" sz="2100" b="true">
                <a:solidFill>
                  <a:srgbClr val="111111"/>
                </a:solidFill>
                <a:latin typeface="Nunito Bold"/>
                <a:ea typeface="Nunito Bold"/>
                <a:cs typeface="Nunito Bold"/>
                <a:sym typeface="Nunito Bold"/>
              </a:rPr>
              <a:t>not an opaque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identifies a modifiable driver supports </a:t>
            </a:r>
            <a:r>
              <a:rPr lang="en-US" sz="2100" b="true">
                <a:solidFill>
                  <a:srgbClr val="111111"/>
                </a:solidFill>
                <a:latin typeface="Nunito Bold"/>
                <a:ea typeface="Nunito Bold"/>
                <a:cs typeface="Nunito Bold"/>
                <a:sym typeface="Nunito Bold"/>
              </a:rPr>
              <a:t>intervention</a:t>
            </a:r>
            <a:r>
              <a:rPr lang="en-US" sz="2100" b="true">
                <a:solidFill>
                  <a:srgbClr val="111111"/>
                </a:solidFill>
                <a:latin typeface="Nunito Semi-Bold"/>
                <a:ea typeface="Nunito Semi-Bold"/>
                <a:cs typeface="Nunito Semi-Bold"/>
                <a:sym typeface="Nunito Semi-Bold"/>
              </a:rPr>
              <a:t>, not merely description.</a:t>
            </a:r>
          </a:p>
        </p:txBody>
      </p:sp>
      <p:sp>
        <p:nvSpPr>
          <p:cNvPr id="13" name="TextBox 1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FROM EXPLANATION TO ACTION</a:t>
            </a:r>
          </a:p>
        </p:txBody>
      </p:sp>
      <p:sp>
        <p:nvSpPr>
          <p:cNvPr id="14" name="Rounded Rectangle 13"/>
          <p:cNvSpPr/>
          <p:nvPr/>
        </p:nvSpPr>
        <p:spPr>
          <a:xfrm>
            <a:off x="944118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15" name="Connector 14"/>
          <p:cNvCxnSpPr/>
          <p:nvPr/>
        </p:nvCxnSpPr>
        <p:spPr>
          <a:xfrm>
            <a:off x="11087100" y="5352542"/>
            <a:ext cx="381000" cy="0"/>
          </a:xfrm>
          <a:prstGeom prst="line">
            <a:avLst/>
          </a:prstGeom>
          <a:ln w="28575">
            <a:solidFill>
              <a:srgbClr val="124944"/>
            </a:solidFill>
            <a:tailEnd type="triangle" w="med" len="med"/>
          </a:ln>
        </p:spPr>
      </p:cxnSp>
      <p:sp>
        <p:nvSpPr>
          <p:cNvPr id="16" name="Rounded Rectangle 15"/>
          <p:cNvSpPr/>
          <p:nvPr/>
        </p:nvSpPr>
        <p:spPr>
          <a:xfrm>
            <a:off x="1151382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17" name="Connector 16"/>
          <p:cNvCxnSpPr/>
          <p:nvPr/>
        </p:nvCxnSpPr>
        <p:spPr>
          <a:xfrm>
            <a:off x="13159740" y="5352542"/>
            <a:ext cx="381000" cy="0"/>
          </a:xfrm>
          <a:prstGeom prst="line">
            <a:avLst/>
          </a:prstGeom>
          <a:ln w="28575">
            <a:solidFill>
              <a:srgbClr val="124944"/>
            </a:solidFill>
            <a:tailEnd type="triangle" w="med" len="med"/>
          </a:ln>
        </p:spPr>
      </p:cxnSp>
      <p:sp>
        <p:nvSpPr>
          <p:cNvPr id="18" name="Rounded Rectangle 17"/>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19" name="Connector 18"/>
          <p:cNvCxnSpPr/>
          <p:nvPr/>
        </p:nvCxnSpPr>
        <p:spPr>
          <a:xfrm>
            <a:off x="15232380" y="5352542"/>
            <a:ext cx="381000" cy="0"/>
          </a:xfrm>
          <a:prstGeom prst="line">
            <a:avLst/>
          </a:prstGeom>
          <a:ln w="28575">
            <a:solidFill>
              <a:srgbClr val="124944"/>
            </a:solidFill>
            <a:tailEnd type="triangle" w="med" len="med"/>
          </a:ln>
        </p:spPr>
      </p:cxnSp>
      <p:sp>
        <p:nvSpPr>
          <p:cNvPr id="20" name="Rounded Rectangle 19"/>
          <p:cNvSpPr/>
          <p:nvPr/>
        </p:nvSpPr>
        <p:spPr>
          <a:xfrm>
            <a:off x="15659100" y="4643882"/>
            <a:ext cx="1600200" cy="1417320"/>
          </a:xfrm>
          <a:prstGeom prst="roundRect">
            <a:avLst>
              <a:gd name="adj" fmla="val 12903"/>
            </a:avLst>
          </a:prstGeom>
          <a:solidFill>
            <a:srgbClr val="DF8330"/>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Prescriptive lever</a:t>
            </a:r>
          </a:p>
        </p:txBody>
      </p:sp>
      <p:cxnSp>
        <p:nvCxnSpPr>
          <p:cNvPr id="21" name="Connector 20"/>
          <p:cNvCxnSpPr/>
          <p:nvPr/>
        </p:nvCxnSpPr>
        <p:spPr>
          <a:xfrm>
            <a:off x="10241280" y="6106922"/>
            <a:ext cx="0" cy="365760"/>
          </a:xfrm>
          <a:prstGeom prst="line">
            <a:avLst/>
          </a:prstGeom>
          <a:ln w="28575">
            <a:solidFill>
              <a:srgbClr val="DF8330"/>
            </a:solidFill>
          </a:ln>
        </p:spPr>
      </p:cxnSp>
      <p:cxnSp>
        <p:nvCxnSpPr>
          <p:cNvPr id="22" name="Connector 21"/>
          <p:cNvCxnSpPr/>
          <p:nvPr/>
        </p:nvCxnSpPr>
        <p:spPr>
          <a:xfrm>
            <a:off x="10241280" y="6472682"/>
            <a:ext cx="6217920" cy="0"/>
          </a:xfrm>
          <a:prstGeom prst="line">
            <a:avLst/>
          </a:prstGeom>
          <a:ln w="28575">
            <a:solidFill>
              <a:srgbClr val="DF8330"/>
            </a:solidFill>
            <a:prstDash val="dash"/>
          </a:ln>
        </p:spPr>
      </p:cxnSp>
      <p:cxnSp>
        <p:nvCxnSpPr>
          <p:cNvPr id="23" name="Connector 22"/>
          <p:cNvCxnSpPr/>
          <p:nvPr/>
        </p:nvCxnSpPr>
        <p:spPr>
          <a:xfrm>
            <a:off x="16459200" y="6106922"/>
            <a:ext cx="0" cy="365760"/>
          </a:xfrm>
          <a:prstGeom prst="line">
            <a:avLst/>
          </a:prstGeom>
          <a:ln w="28575">
            <a:solidFill>
              <a:srgbClr val="DF8330"/>
            </a:solidFill>
          </a:ln>
        </p:spPr>
      </p:cxnSp>
      <p:sp>
        <p:nvSpPr>
          <p:cNvPr id="24" name="TextBox 23"/>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Actionable</a:t>
            </a:r>
            <a:r>
              <a:rPr lang="en-US" sz="1800" b="true">
                <a:solidFill>
                  <a:srgbClr val="DF8330"/>
                </a:solidFill>
                <a:latin typeface="Nunito Semi-Bold"/>
                <a:ea typeface="Nunito Semi-Bold"/>
                <a:cs typeface="Nunito Semi-Bold"/>
                <a:sym typeface="Nunito Semi-Bold"/>
              </a:rPr>
              <a:t> = a real-world lever you can pull to change the outcome</a:t>
            </a:r>
          </a:p>
        </p:txBody>
      </p:sp>
      <p:sp>
        <p:nvSpPr>
          <p:cNvPr id="25" name="Rounded Rectangle 24"/>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26" name="Rounded Rectangle 25"/>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27" name="Rounded Rectangle 26"/>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8" name="Picture 7" descr="image.png"/>
          <p:cNvPicPr>
            <a:picLocks noChangeAspect="1"/>
          </p:cNvPicPr>
          <p:nvPr/>
        </p:nvPicPr>
        <p:blipFill>
          <a:blip r:embed="rId2"/>
          <a:stretch>
            <a:fillRect/>
          </a:stretch>
        </p:blipFill>
        <p:spPr>
          <a:xfrm>
            <a:off x="5880294" y="1673352"/>
            <a:ext cx="457200" cy="452148"/>
          </a:xfrm>
          <a:prstGeom prst="rect">
            <a:avLst/>
          </a:prstGeom>
        </p:spPr>
      </p:pic>
      <p:sp>
        <p:nvSpPr>
          <p:cNvPr id="9" name="Rounded Rectangle 8"/>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10" name="Rounded Rectangle 9"/>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11" name="Rounded Rectangle 10"/>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12" name="TextBox 11"/>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EVOLUTION OF RECOMMENDER SYSTEMS</a:t>
            </a:r>
          </a:p>
        </p:txBody>
      </p:sp>
      <p:sp>
        <p:nvSpPr>
          <p:cNvPr id="13" name="Rounded Rectangle 12"/>
          <p:cNvSpPr/>
          <p:nvPr/>
        </p:nvSpPr>
        <p:spPr>
          <a:xfrm>
            <a:off x="102870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14" name="Connector 13"/>
          <p:cNvCxnSpPr/>
          <p:nvPr/>
        </p:nvCxnSpPr>
        <p:spPr>
          <a:xfrm>
            <a:off x="3415284" y="4438142"/>
            <a:ext cx="1033272" cy="0"/>
          </a:xfrm>
          <a:prstGeom prst="line">
            <a:avLst/>
          </a:prstGeom>
          <a:ln w="28575">
            <a:solidFill>
              <a:srgbClr val="124944"/>
            </a:solidFill>
            <a:tailEnd type="triangle" w="med" len="med"/>
          </a:ln>
        </p:spPr>
      </p:cxnSp>
      <p:sp>
        <p:nvSpPr>
          <p:cNvPr id="15" name="Rounded Rectangle 14"/>
          <p:cNvSpPr/>
          <p:nvPr/>
        </p:nvSpPr>
        <p:spPr>
          <a:xfrm>
            <a:off x="450342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16" name="Connector 15"/>
          <p:cNvCxnSpPr/>
          <p:nvPr/>
        </p:nvCxnSpPr>
        <p:spPr>
          <a:xfrm>
            <a:off x="6890004" y="4438142"/>
            <a:ext cx="1033272" cy="0"/>
          </a:xfrm>
          <a:prstGeom prst="line">
            <a:avLst/>
          </a:prstGeom>
          <a:ln w="28575">
            <a:solidFill>
              <a:srgbClr val="124944"/>
            </a:solidFill>
            <a:tailEnd type="triangle" w="med" len="med"/>
          </a:ln>
        </p:spPr>
      </p:cxnSp>
      <p:sp>
        <p:nvSpPr>
          <p:cNvPr id="17" name="Rounded Rectangle 16"/>
          <p:cNvSpPr/>
          <p:nvPr/>
        </p:nvSpPr>
        <p:spPr>
          <a:xfrm>
            <a:off x="797814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18" name="Connector 17"/>
          <p:cNvCxnSpPr/>
          <p:nvPr/>
        </p:nvCxnSpPr>
        <p:spPr>
          <a:xfrm>
            <a:off x="10364724" y="4438142"/>
            <a:ext cx="1033272" cy="0"/>
          </a:xfrm>
          <a:prstGeom prst="line">
            <a:avLst/>
          </a:prstGeom>
          <a:ln w="28575">
            <a:solidFill>
              <a:srgbClr val="124944"/>
            </a:solidFill>
            <a:tailEnd type="triangle" w="med" len="med"/>
          </a:ln>
        </p:spPr>
      </p:cxnSp>
      <p:sp>
        <p:nvSpPr>
          <p:cNvPr id="19" name="Rounded Rectangle 18"/>
          <p:cNvSpPr/>
          <p:nvPr/>
        </p:nvSpPr>
        <p:spPr>
          <a:xfrm>
            <a:off x="1145286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20" name="Connector 19"/>
          <p:cNvCxnSpPr/>
          <p:nvPr/>
        </p:nvCxnSpPr>
        <p:spPr>
          <a:xfrm>
            <a:off x="13839444" y="4438142"/>
            <a:ext cx="1033272" cy="0"/>
          </a:xfrm>
          <a:prstGeom prst="line">
            <a:avLst/>
          </a:prstGeom>
          <a:ln w="28575">
            <a:solidFill>
              <a:srgbClr val="124944"/>
            </a:solidFill>
            <a:tailEnd type="triangle" w="med" len="med"/>
          </a:ln>
        </p:spPr>
      </p:cxnSp>
      <p:sp>
        <p:nvSpPr>
          <p:cNvPr id="21" name="Rounded Rectangle 20"/>
          <p:cNvSpPr/>
          <p:nvPr/>
        </p:nvSpPr>
        <p:spPr>
          <a:xfrm>
            <a:off x="14927580" y="3866642"/>
            <a:ext cx="2331720" cy="1143000"/>
          </a:xfrm>
          <a:prstGeom prst="roundRect">
            <a:avLst>
              <a:gd name="adj" fmla="val 16000"/>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22" name="Connector 21"/>
          <p:cNvCxnSpPr/>
          <p:nvPr/>
        </p:nvCxnSpPr>
        <p:spPr>
          <a:xfrm>
            <a:off x="1028700" y="5283962"/>
            <a:ext cx="16230600" cy="0"/>
          </a:xfrm>
          <a:prstGeom prst="line">
            <a:avLst/>
          </a:prstGeom>
          <a:ln w="50800">
            <a:solidFill>
              <a:srgbClr val="DF8330"/>
            </a:solidFill>
            <a:tailEnd type="triangle" w="med" len="med"/>
          </a:ln>
        </p:spPr>
      </p:cxnSp>
      <p:sp>
        <p:nvSpPr>
          <p:cNvPr id="23" name="TextBox 22"/>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Interpretability deficit grows:</a:t>
            </a:r>
            <a:r>
              <a:rPr lang="en-US" sz="1800" b="true">
                <a:solidFill>
                  <a:srgbClr val="DF8330"/>
                </a:solidFill>
                <a:latin typeface="Nunito Semi-Bold"/>
                <a:ea typeface="Nunito Semi-Bold"/>
                <a:cs typeface="Nunito Semi-Bold"/>
                <a:sym typeface="Nunito Semi-Bold"/>
              </a:rPr>
              <a:t> each step improved ranking but replaced an opaque latent code by an opaque message-passing mechanism — non-modifiable factors.</a:t>
            </a:r>
          </a:p>
        </p:txBody>
      </p:sp>
      <p:sp>
        <p:nvSpPr>
          <p:cNvPr id="24" name="Rounded Rectangle 23"/>
          <p:cNvSpPr/>
          <p:nvPr/>
        </p:nvSpPr>
        <p:spPr>
          <a:xfrm>
            <a:off x="1028700" y="628980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25" name="Rounded Rectangle 24"/>
          <p:cNvSpPr/>
          <p:nvPr/>
        </p:nvSpPr>
        <p:spPr>
          <a:xfrm>
            <a:off x="1485900" y="6052058"/>
            <a:ext cx="383375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the deficit matters</a:t>
            </a:r>
          </a:p>
        </p:txBody>
      </p:sp>
      <p:sp>
        <p:nvSpPr>
          <p:cNvPr id="26" name="TextBox 25"/>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ECC665"/>
              </a:buClr>
              <a:buSzPct val="100000"/>
              <a:buFont typeface="Arial"/>
              <a:buChar char="•"/>
            </a:pPr>
            <a:r>
              <a:rPr lang="en-US" sz="1786" b="true">
                <a:solidFill>
                  <a:srgbClr val="FFFFFF"/>
                </a:solidFill>
                <a:latin typeface="Nunito Bold"/>
                <a:ea typeface="Nunito Bold"/>
                <a:cs typeface="Nunito Bold"/>
                <a:sym typeface="Nunito Bold"/>
              </a:rPr>
              <a:t>Undermines user trust</a:t>
            </a:r>
            <a:r>
              <a:rPr lang="en-US" sz="1786" b="true">
                <a:solidFill>
                  <a:srgbClr val="FFFFFF"/>
                </a:solidFill>
                <a:latin typeface="Nunito Semi-Bold"/>
                <a:ea typeface="Nunito Semi-Bold"/>
                <a:cs typeface="Nunito Semi-Bold"/>
                <a:sym typeface="Nunito Semi-Bold"/>
              </a:rPr>
              <a:t> — outputs observed without understanding why.</a:t>
            </a:r>
          </a:p>
          <a:p>
            <a:pPr algn="l" marL="274320" indent="-274320">
              <a:lnSpc>
                <a:spcPts val="2500"/>
              </a:lnSpc>
              <a:spcBef>
                <a:spcPts val="564"/>
              </a:spcBef>
              <a:buClr>
                <a:srgbClr val="ECC665"/>
              </a:buClr>
              <a:buSzPct val="100000"/>
              <a:buFont typeface="Arial"/>
              <a:buChar char="•"/>
            </a:pPr>
            <a:r>
              <a:rPr lang="en-US" sz="1786" b="true">
                <a:solidFill>
                  <a:srgbClr val="FFFFFF"/>
                </a:solidFill>
                <a:latin typeface="Nunito Bold"/>
                <a:ea typeface="Nunito Bold"/>
                <a:cs typeface="Nunito Bold"/>
                <a:sym typeface="Nunito Bold"/>
              </a:rPr>
              <a:t>Constrains debugging</a:t>
            </a:r>
            <a:r>
              <a:rPr lang="en-US" sz="1786" b="true">
                <a:solidFill>
                  <a:srgbClr val="FFFFFF"/>
                </a:solidFill>
                <a:latin typeface="Nunito Semi-Bold"/>
                <a:ea typeface="Nunito Semi-Bold"/>
                <a:cs typeface="Nunito Semi-Bold"/>
                <a:sym typeface="Nunito Semi-Bold"/>
              </a:rPr>
              <a:t> and scientific learning.</a:t>
            </a:r>
          </a:p>
          <a:p>
            <a:pPr algn="l" marL="274320" indent="-274320">
              <a:lnSpc>
                <a:spcPts val="2500"/>
              </a:lnSpc>
              <a:spcBef>
                <a:spcPts val="564"/>
              </a:spcBef>
              <a:buClr>
                <a:srgbClr val="ECC665"/>
              </a:buClr>
              <a:buSzPct val="100000"/>
              <a:buFont typeface="Arial"/>
              <a:buChar char="•"/>
            </a:pPr>
            <a:r>
              <a:rPr lang="en-US" sz="1786" b="true">
                <a:solidFill>
                  <a:srgbClr val="FFFFFF"/>
                </a:solidFill>
                <a:latin typeface="Nunito Bold"/>
                <a:ea typeface="Nunito Bold"/>
                <a:cs typeface="Nunito Bold"/>
                <a:sym typeface="Nunito Bold"/>
              </a:rPr>
              <a:t>Collides with regulation</a:t>
            </a:r>
            <a:r>
              <a:rPr lang="en-US" sz="1786" b="true">
                <a:solidFill>
                  <a:srgbClr val="FFFFFF"/>
                </a:solidFill>
                <a:latin typeface="Nunito Semi-Bold"/>
                <a:ea typeface="Nunito Semi-Bold"/>
                <a:cs typeface="Nunito Semi-Bold"/>
                <a:sym typeface="Nunito Semi-Bold"/>
              </a:rPr>
              <a:t> — EU AI Act, OECD principles, GDPR.</a:t>
            </a:r>
          </a:p>
          <a:p>
            <a:pPr algn="l" marL="274320" indent="-274320">
              <a:lnSpc>
                <a:spcPts val="2500"/>
              </a:lnSpc>
              <a:spcBef>
                <a:spcPts val="564"/>
              </a:spcBef>
              <a:buClr>
                <a:srgbClr val="ECC665"/>
              </a:buClr>
              <a:buSzPct val="100000"/>
              <a:buFont typeface="Arial"/>
              <a:buChar char="•"/>
            </a:pPr>
            <a:r>
              <a:rPr lang="en-US" sz="1786" b="true">
                <a:solidFill>
                  <a:srgbClr val="FFFFFF"/>
                </a:solidFill>
                <a:latin typeface="Nunito Semi-Bold"/>
                <a:ea typeface="Nunito Semi-Bold"/>
                <a:cs typeface="Nunito Semi-Bold"/>
                <a:sym typeface="Nunito Semi-Bold"/>
              </a:rPr>
              <a:t>EU AI Act (Art. 13): high-risk systems must provide explanations </a:t>
            </a:r>
            <a:r>
              <a:rPr lang="en-US" sz="1786" b="true">
                <a:solidFill>
                  <a:srgbClr val="FFFFFF"/>
                </a:solidFill>
                <a:latin typeface="Nunito Bold"/>
                <a:ea typeface="Nunito Bold"/>
                <a:cs typeface="Nunito Bold"/>
                <a:sym typeface="Nunito Bold"/>
              </a:rPr>
              <a:t>in human-understandable terms</a:t>
            </a:r>
            <a:r>
              <a:rPr lang="en-US" sz="1786"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9784080" y="6052058"/>
            <a:ext cx="383778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29" name="TextBox 28"/>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Recommenders evolved from similarity filters to </a:t>
            </a:r>
            <a:r>
              <a:rPr lang="en-US" sz="1786" b="true">
                <a:solidFill>
                  <a:srgbClr val="111111"/>
                </a:solidFill>
                <a:latin typeface="Nunito Bold"/>
                <a:ea typeface="Nunito Bold"/>
                <a:cs typeface="Nunito Bold"/>
                <a:sym typeface="Nunito Bold"/>
              </a:rPr>
              <a:t>representation learning on sparse, high-dimensional, dynamic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uniform message importance</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A principled attribution mechanism is needed — and it should be </a:t>
            </a:r>
            <a:r>
              <a:rPr lang="en-US" sz="1786" b="true">
                <a:solidFill>
                  <a:srgbClr val="111111"/>
                </a:solidFill>
                <a:latin typeface="Nunito Bold"/>
                <a:ea typeface="Nunito Bold"/>
                <a:cs typeface="Nunito Bold"/>
                <a:sym typeface="Nunito Bold"/>
              </a:rPr>
              <a:t>part of the modelling logic</a:t>
            </a:r>
            <a:r>
              <a:rPr lang="en-US" sz="1786" b="true">
                <a:solidFill>
                  <a:srgbClr val="111111"/>
                </a:solidFill>
                <a:latin typeface="Nunito Semi-Bold"/>
                <a:ea typeface="Nunito Semi-Bold"/>
                <a:cs typeface="Nunito Semi-Bold"/>
                <a:sym typeface="Nunito Semi-Bold"/>
              </a:rPr>
              <a:t>, not an afterthought.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8" name="Picture 7" descr="image.png"/>
          <p:cNvPicPr>
            <a:picLocks noChangeAspect="1"/>
          </p:cNvPicPr>
          <p:nvPr/>
        </p:nvPicPr>
        <p:blipFill>
          <a:blip r:embed="rId2"/>
          <a:stretch>
            <a:fillRect/>
          </a:stretch>
        </p:blipFill>
        <p:spPr>
          <a:xfrm>
            <a:off x="12921990" y="1673352"/>
            <a:ext cx="457200" cy="617115"/>
          </a:xfrm>
          <a:prstGeom prst="rect">
            <a:avLst/>
          </a:prstGeom>
        </p:spPr>
      </p:pic>
      <p:sp>
        <p:nvSpPr>
          <p:cNvPr id="9" name="Rounded Rectangle 8"/>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10" name="Rounded Rectangle 9"/>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11" name="Rounded Rectangle 10"/>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12" name="Rounded Rectangle 11"/>
          <p:cNvSpPr/>
          <p:nvPr/>
        </p:nvSpPr>
        <p:spPr>
          <a:xfrm>
            <a:off x="1028700" y="3455162"/>
            <a:ext cx="5227320" cy="1874520"/>
          </a:xfrm>
          <a:prstGeom prst="roundRect">
            <a:avLst>
              <a:gd name="adj" fmla="val 14634"/>
            </a:avLst>
          </a:prstGeom>
          <a:solidFill>
            <a:srgbClr val="124944"/>
          </a:solidFill>
          <a:ln>
            <a:noFill/>
          </a:ln>
        </p:spPr>
        <p:txBody>
          <a:bodyPr anchor="ctr" rtlCol="false" lIns="91440" tIns="45720" rIns="91440" bIns="45720" wrap="square"/>
          <a:lstStyle/>
          <a:p>
            <a:pPr algn="ctr">
              <a:lnSpc>
                <a:spcPts val="2875"/>
              </a:lnSpc>
              <a:spcBef>
                <a:spcPts val="0"/>
              </a:spcBef>
              <a:buNone/>
            </a:pPr>
            <a:r>
              <a:rPr lang="en-US" sz="2500" b="true">
                <a:solidFill>
                  <a:srgbClr val="FFFFFF"/>
                </a:solidFill>
                <a:latin typeface="Nunito Bold"/>
                <a:ea typeface="Nunito Bold"/>
                <a:cs typeface="Nunito Bold"/>
                <a:sym typeface="Nunito Bold"/>
              </a:rPr>
              <a:t>Streaming &amp; Video</a:t>
            </a:r>
          </a:p>
          <a:p>
            <a:pPr algn="ctr">
              <a:lnSpc>
                <a:spcPts val="2040"/>
              </a:lnSpc>
              <a:spcBef>
                <a:spcPts val="300"/>
              </a:spcBef>
              <a:buNone/>
            </a:pPr>
            <a:r>
              <a:rPr lang="en-US" sz="1700" b="true">
                <a:solidFill>
                  <a:srgbClr val="F1EDE6"/>
                </a:solidFill>
                <a:latin typeface="Nunito Semi-Bold"/>
                <a:ea typeface="Nunito Semi-Bold"/>
                <a:cs typeface="Nunito Semi-Bold"/>
                <a:sym typeface="Nunito Semi-Bold"/>
              </a:rPr>
              <a:t>Netflix · Prime Video · YouTube</a:t>
            </a:r>
          </a:p>
        </p:txBody>
      </p:sp>
      <p:sp>
        <p:nvSpPr>
          <p:cNvPr id="13" name="Rounded Rectangle 12"/>
          <p:cNvSpPr/>
          <p:nvPr/>
        </p:nvSpPr>
        <p:spPr>
          <a:xfrm>
            <a:off x="6530340" y="3455162"/>
            <a:ext cx="5227320" cy="1874520"/>
          </a:xfrm>
          <a:prstGeom prst="roundRect">
            <a:avLst>
              <a:gd name="adj" fmla="val 14634"/>
            </a:avLst>
          </a:prstGeom>
          <a:solidFill>
            <a:srgbClr val="1E5F58"/>
          </a:solidFill>
          <a:ln>
            <a:noFill/>
          </a:ln>
        </p:spPr>
        <p:txBody>
          <a:bodyPr anchor="ctr" rtlCol="false" lIns="91440" tIns="45720" rIns="91440" bIns="45720" wrap="square"/>
          <a:lstStyle/>
          <a:p>
            <a:pPr algn="ctr">
              <a:lnSpc>
                <a:spcPts val="2875"/>
              </a:lnSpc>
              <a:spcBef>
                <a:spcPts val="0"/>
              </a:spcBef>
              <a:buNone/>
            </a:pPr>
            <a:r>
              <a:rPr lang="en-US" sz="2500" b="true">
                <a:solidFill>
                  <a:srgbClr val="FFFFFF"/>
                </a:solidFill>
                <a:latin typeface="Nunito Bold"/>
                <a:ea typeface="Nunito Bold"/>
                <a:cs typeface="Nunito Bold"/>
                <a:sym typeface="Nunito Bold"/>
              </a:rPr>
              <a:t>Music</a:t>
            </a:r>
          </a:p>
          <a:p>
            <a:pPr algn="ctr">
              <a:lnSpc>
                <a:spcPts val="2040"/>
              </a:lnSpc>
              <a:spcBef>
                <a:spcPts val="300"/>
              </a:spcBef>
              <a:buNone/>
            </a:pPr>
            <a:r>
              <a:rPr lang="en-US" sz="1700" b="true">
                <a:solidFill>
                  <a:srgbClr val="F1EDE6"/>
                </a:solidFill>
                <a:latin typeface="Nunito Semi-Bold"/>
                <a:ea typeface="Nunito Semi-Bold"/>
                <a:cs typeface="Nunito Semi-Bold"/>
                <a:sym typeface="Nunito Semi-Bold"/>
              </a:rPr>
              <a:t>Spotify · YouTube Music · Deezer</a:t>
            </a:r>
          </a:p>
        </p:txBody>
      </p:sp>
      <p:sp>
        <p:nvSpPr>
          <p:cNvPr id="14" name="Rounded Rectangle 13"/>
          <p:cNvSpPr/>
          <p:nvPr/>
        </p:nvSpPr>
        <p:spPr>
          <a:xfrm>
            <a:off x="12031980" y="3455162"/>
            <a:ext cx="5227320" cy="1874520"/>
          </a:xfrm>
          <a:prstGeom prst="roundRect">
            <a:avLst>
              <a:gd name="adj" fmla="val 14634"/>
            </a:avLst>
          </a:prstGeom>
          <a:solidFill>
            <a:srgbClr val="DF8330"/>
          </a:solidFill>
          <a:ln>
            <a:noFill/>
          </a:ln>
        </p:spPr>
        <p:txBody>
          <a:bodyPr anchor="ctr" rtlCol="false" lIns="91440" tIns="45720" rIns="91440" bIns="45720" wrap="square"/>
          <a:lstStyle/>
          <a:p>
            <a:pPr algn="ctr">
              <a:lnSpc>
                <a:spcPts val="2875"/>
              </a:lnSpc>
              <a:spcBef>
                <a:spcPts val="0"/>
              </a:spcBef>
              <a:buNone/>
            </a:pPr>
            <a:r>
              <a:rPr lang="en-US" sz="2500" b="true">
                <a:solidFill>
                  <a:srgbClr val="FFFFFF"/>
                </a:solidFill>
                <a:latin typeface="Nunito Bold"/>
                <a:ea typeface="Nunito Bold"/>
                <a:cs typeface="Nunito Bold"/>
                <a:sym typeface="Nunito Bold"/>
              </a:rPr>
              <a:t>Shopping &amp; E-commerce</a:t>
            </a:r>
          </a:p>
          <a:p>
            <a:pPr algn="ctr">
              <a:lnSpc>
                <a:spcPts val="2040"/>
              </a:lnSpc>
              <a:spcBef>
                <a:spcPts val="300"/>
              </a:spcBef>
              <a:buNone/>
            </a:pPr>
            <a:r>
              <a:rPr lang="en-US" sz="1700" b="true">
                <a:solidFill>
                  <a:srgbClr val="F1EDE6"/>
                </a:solidFill>
                <a:latin typeface="Nunito Semi-Bold"/>
                <a:ea typeface="Nunito Semi-Bold"/>
                <a:cs typeface="Nunito Semi-Bold"/>
                <a:sym typeface="Nunito Semi-Bold"/>
              </a:rPr>
              <a:t>Amazon · AliExpress · Noon</a:t>
            </a:r>
          </a:p>
        </p:txBody>
      </p:sp>
      <p:sp>
        <p:nvSpPr>
          <p:cNvPr id="15" name="Rounded Rectangle 14"/>
          <p:cNvSpPr/>
          <p:nvPr/>
        </p:nvSpPr>
        <p:spPr>
          <a:xfrm>
            <a:off x="1028700" y="5604002"/>
            <a:ext cx="5227320" cy="1874520"/>
          </a:xfrm>
          <a:prstGeom prst="roundRect">
            <a:avLst>
              <a:gd name="adj" fmla="val 14634"/>
            </a:avLst>
          </a:prstGeom>
          <a:solidFill>
            <a:srgbClr val="1E5F58"/>
          </a:solidFill>
          <a:ln>
            <a:noFill/>
          </a:ln>
        </p:spPr>
        <p:txBody>
          <a:bodyPr anchor="ctr" rtlCol="false" lIns="91440" tIns="45720" rIns="91440" bIns="45720" wrap="square"/>
          <a:lstStyle/>
          <a:p>
            <a:pPr algn="ctr">
              <a:lnSpc>
                <a:spcPts val="2875"/>
              </a:lnSpc>
              <a:spcBef>
                <a:spcPts val="0"/>
              </a:spcBef>
              <a:buNone/>
            </a:pPr>
            <a:r>
              <a:rPr lang="en-US" sz="2500" b="true">
                <a:solidFill>
                  <a:srgbClr val="FFFFFF"/>
                </a:solidFill>
                <a:latin typeface="Nunito Bold"/>
                <a:ea typeface="Nunito Bold"/>
                <a:cs typeface="Nunito Bold"/>
                <a:sym typeface="Nunito Bold"/>
              </a:rPr>
              <a:t>Social &amp; Feeds</a:t>
            </a:r>
          </a:p>
          <a:p>
            <a:pPr algn="ctr">
              <a:lnSpc>
                <a:spcPts val="2040"/>
              </a:lnSpc>
              <a:spcBef>
                <a:spcPts val="300"/>
              </a:spcBef>
              <a:buNone/>
            </a:pPr>
            <a:r>
              <a:rPr lang="en-US" sz="1700" b="true">
                <a:solidFill>
                  <a:srgbClr val="F1EDE6"/>
                </a:solidFill>
                <a:latin typeface="Nunito Semi-Bold"/>
                <a:ea typeface="Nunito Semi-Bold"/>
                <a:cs typeface="Nunito Semi-Bold"/>
                <a:sym typeface="Nunito Semi-Bold"/>
              </a:rPr>
              <a:t>TikTok · Instagram · LinkedIn</a:t>
            </a:r>
          </a:p>
        </p:txBody>
      </p:sp>
      <p:sp>
        <p:nvSpPr>
          <p:cNvPr id="16" name="Rounded Rectangle 15"/>
          <p:cNvSpPr/>
          <p:nvPr/>
        </p:nvSpPr>
        <p:spPr>
          <a:xfrm>
            <a:off x="6530340" y="5604002"/>
            <a:ext cx="5227320" cy="1874520"/>
          </a:xfrm>
          <a:prstGeom prst="roundRect">
            <a:avLst>
              <a:gd name="adj" fmla="val 14634"/>
            </a:avLst>
          </a:prstGeom>
          <a:solidFill>
            <a:srgbClr val="124944"/>
          </a:solidFill>
          <a:ln>
            <a:noFill/>
          </a:ln>
        </p:spPr>
        <p:txBody>
          <a:bodyPr anchor="ctr" rtlCol="false" lIns="91440" tIns="45720" rIns="91440" bIns="45720" wrap="square"/>
          <a:lstStyle/>
          <a:p>
            <a:pPr algn="ctr">
              <a:lnSpc>
                <a:spcPts val="2875"/>
              </a:lnSpc>
              <a:spcBef>
                <a:spcPts val="0"/>
              </a:spcBef>
              <a:buNone/>
            </a:pPr>
            <a:r>
              <a:rPr lang="en-US" sz="2500" b="true">
                <a:solidFill>
                  <a:srgbClr val="FFFFFF"/>
                </a:solidFill>
                <a:latin typeface="Nunito Bold"/>
                <a:ea typeface="Nunito Bold"/>
                <a:cs typeface="Nunito Bold"/>
                <a:sym typeface="Nunito Bold"/>
              </a:rPr>
              <a:t>Maps &amp; Mobility</a:t>
            </a:r>
          </a:p>
          <a:p>
            <a:pPr algn="ctr">
              <a:lnSpc>
                <a:spcPts val="2040"/>
              </a:lnSpc>
              <a:spcBef>
                <a:spcPts val="300"/>
              </a:spcBef>
              <a:buNone/>
            </a:pPr>
            <a:r>
              <a:rPr lang="en-US" sz="1700" b="true">
                <a:solidFill>
                  <a:srgbClr val="F1EDE6"/>
                </a:solidFill>
                <a:latin typeface="Nunito Semi-Bold"/>
                <a:ea typeface="Nunito Semi-Bold"/>
                <a:cs typeface="Nunito Semi-Bold"/>
                <a:sym typeface="Nunito Semi-Bold"/>
              </a:rPr>
              <a:t>Google Maps · Uber · Booking</a:t>
            </a:r>
          </a:p>
        </p:txBody>
      </p:sp>
      <p:sp>
        <p:nvSpPr>
          <p:cNvPr id="17" name="Rounded Rectangle 16"/>
          <p:cNvSpPr/>
          <p:nvPr/>
        </p:nvSpPr>
        <p:spPr>
          <a:xfrm>
            <a:off x="12031980" y="5604002"/>
            <a:ext cx="5227320" cy="1874520"/>
          </a:xfrm>
          <a:prstGeom prst="roundRect">
            <a:avLst>
              <a:gd name="adj" fmla="val 14634"/>
            </a:avLst>
          </a:prstGeom>
          <a:solidFill>
            <a:srgbClr val="DF8330"/>
          </a:solidFill>
          <a:ln>
            <a:noFill/>
          </a:ln>
        </p:spPr>
        <p:txBody>
          <a:bodyPr anchor="ctr" rtlCol="false" lIns="91440" tIns="45720" rIns="91440" bIns="45720" wrap="square"/>
          <a:lstStyle/>
          <a:p>
            <a:pPr algn="ctr">
              <a:lnSpc>
                <a:spcPts val="2875"/>
              </a:lnSpc>
              <a:spcBef>
                <a:spcPts val="0"/>
              </a:spcBef>
              <a:buNone/>
            </a:pPr>
            <a:r>
              <a:rPr lang="en-US" sz="2500" b="true">
                <a:solidFill>
                  <a:srgbClr val="FFFFFF"/>
                </a:solidFill>
                <a:latin typeface="Nunito Bold"/>
                <a:ea typeface="Nunito Bold"/>
                <a:cs typeface="Nunito Bold"/>
                <a:sym typeface="Nunito Bold"/>
              </a:rPr>
              <a:t>Ads &amp; Search</a:t>
            </a:r>
          </a:p>
          <a:p>
            <a:pPr algn="ctr">
              <a:lnSpc>
                <a:spcPts val="2040"/>
              </a:lnSpc>
              <a:spcBef>
                <a:spcPts val="300"/>
              </a:spcBef>
              <a:buNone/>
            </a:pPr>
            <a:r>
              <a:rPr lang="en-US" sz="1700" b="true">
                <a:solidFill>
                  <a:srgbClr val="F1EDE6"/>
                </a:solidFill>
                <a:latin typeface="Nunito Semi-Bold"/>
                <a:ea typeface="Nunito Semi-Bold"/>
                <a:cs typeface="Nunito Semi-Bold"/>
                <a:sym typeface="Nunito Semi-Bold"/>
              </a:rPr>
              <a:t>Google Ads · Bing · Meta</a:t>
            </a:r>
          </a:p>
        </p:txBody>
      </p:sp>
      <p:sp>
        <p:nvSpPr>
          <p:cNvPr id="18" name="Rounded Rectangle 17"/>
          <p:cNvSpPr/>
          <p:nvPr/>
        </p:nvSpPr>
        <p:spPr>
          <a:xfrm>
            <a:off x="1028700" y="7844282"/>
            <a:ext cx="16230600" cy="1555750"/>
          </a:xfrm>
          <a:prstGeom prst="roundRect">
            <a:avLst>
              <a:gd name="adj" fmla="val 17632"/>
            </a:avLst>
          </a:prstGeom>
          <a:solidFill>
            <a:srgbClr val="F6ECDF"/>
          </a:solidFill>
          <a:ln>
            <a:noFill/>
          </a:ln>
        </p:spPr>
        <p:txBody>
          <a:bodyPr anchor="ctr" rtlCol="false" lIns="548640" tIns="91440" rIns="548640" bIns="91440" wrap="square"/>
          <a:lstStyle/>
          <a:p>
            <a:pPr algn="ctr">
              <a:lnSpc>
                <a:spcPts val="2900"/>
              </a:lnSpc>
              <a:spcBef>
                <a:spcPts val="0"/>
              </a:spcBef>
              <a:buNone/>
            </a:pPr>
            <a:r>
              <a:rPr lang="en-US" sz="2200" b="true">
                <a:solidFill>
                  <a:srgbClr val="111111"/>
                </a:solidFill>
                <a:latin typeface="Nunito Semi-Bold"/>
                <a:ea typeface="Nunito Semi-Bold"/>
                <a:cs typeface="Nunito Semi-Bold"/>
                <a:sym typeface="Nunito Semi-Bold"/>
              </a:rPr>
              <a:t>AI recommendation mediates what </a:t>
            </a:r>
            <a:r>
              <a:rPr lang="en-US" sz="2200" b="true">
                <a:solidFill>
                  <a:srgbClr val="111111"/>
                </a:solidFill>
                <a:latin typeface="Nunito Bold"/>
                <a:ea typeface="Nunito Bold"/>
                <a:cs typeface="Nunito Bold"/>
                <a:sym typeface="Nunito Bold"/>
              </a:rPr>
              <a:t>billions</a:t>
            </a:r>
            <a:r>
              <a:rPr lang="en-US" sz="2200" b="true">
                <a:solidFill>
                  <a:srgbClr val="111111"/>
                </a:solidFill>
                <a:latin typeface="Nunito Semi-Bold"/>
                <a:ea typeface="Nunito Semi-Bold"/>
                <a:cs typeface="Nunito Semi-Bold"/>
                <a:sym typeface="Nunito Semi-Bold"/>
              </a:rPr>
              <a:t> see, buy and listen to every day. Each system is remarkably </a:t>
            </a:r>
            <a:r>
              <a:rPr lang="en-US" sz="2200" b="true">
                <a:solidFill>
                  <a:srgbClr val="111111"/>
                </a:solidFill>
                <a:latin typeface="Nunito Bold"/>
                <a:ea typeface="Nunito Bold"/>
                <a:cs typeface="Nunito Bold"/>
                <a:sym typeface="Nunito Bold"/>
              </a:rPr>
              <a:t>accurate yet opaque</a:t>
            </a:r>
            <a:r>
              <a:rPr lang="en-US" sz="2200" b="true">
                <a:solidFill>
                  <a:srgbClr val="111111"/>
                </a:solidFill>
                <a:latin typeface="Nunito Semi-Bold"/>
                <a:ea typeface="Nunito Semi-Bold"/>
                <a:cs typeface="Nunito Semi-Bold"/>
                <a:sym typeface="Nunito Semi-Bold"/>
              </a:rPr>
              <a:t> — its reasoning is hidden from the user. That ubiquity-plus-opacity is </a:t>
            </a:r>
            <a:r>
              <a:rPr lang="en-US" sz="2200" b="true">
                <a:solidFill>
                  <a:srgbClr val="111111"/>
                </a:solidFill>
                <a:latin typeface="Nunito Bold"/>
                <a:ea typeface="Nunito Bold"/>
                <a:cs typeface="Nunito Bold"/>
                <a:sym typeface="Nunito Bold"/>
              </a:rPr>
              <a:t>precisely the gap this thesis targets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6" name="TextBox 5"/>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7" name="Oval 6"/>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8" name="TextBox 7"/>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9" name="TextBox 8"/>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Paradigm landscape, structuring limitations and the five research questions</a:t>
            </a:r>
          </a:p>
        </p:txBody>
      </p:sp>
      <p:sp>
        <p:nvSpPr>
          <p:cNvPr id="10" name="Rectangle 9"/>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1" name="TextBox 10"/>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Paradigms</a:t>
            </a:r>
          </a:p>
        </p:txBody>
      </p:sp>
      <p:cxnSp>
        <p:nvCxnSpPr>
          <p:cNvPr id="12" name="Connector 11"/>
          <p:cNvCxnSpPr/>
          <p:nvPr/>
        </p:nvCxnSpPr>
        <p:spPr>
          <a:xfrm>
            <a:off x="1028700" y="6464808"/>
            <a:ext cx="640080" cy="0"/>
          </a:xfrm>
          <a:prstGeom prst="line">
            <a:avLst/>
          </a:prstGeom>
          <a:ln w="31750">
            <a:solidFill>
              <a:srgbClr val="ECC665"/>
            </a:solidFill>
          </a:ln>
        </p:spPr>
      </p:cxnSp>
      <p:sp>
        <p:nvSpPr>
          <p:cNvPr id="13" name="TextBox 12"/>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 each stronger, each less transparent.</a:t>
            </a:r>
          </a:p>
        </p:txBody>
      </p:sp>
      <p:sp>
        <p:nvSpPr>
          <p:cNvPr id="14" name="TextBox 13"/>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5" name="Connector 14"/>
          <p:cNvCxnSpPr/>
          <p:nvPr/>
        </p:nvCxnSpPr>
        <p:spPr>
          <a:xfrm>
            <a:off x="6576060" y="6464808"/>
            <a:ext cx="640080" cy="0"/>
          </a:xfrm>
          <a:prstGeom prst="line">
            <a:avLst/>
          </a:prstGeom>
          <a:ln w="31750">
            <a:solidFill>
              <a:srgbClr val="ECC665"/>
            </a:solidFill>
          </a:ln>
        </p:spPr>
      </p:cxnSp>
      <p:sp>
        <p:nvSpPr>
          <p:cNvPr id="16" name="TextBox 15"/>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structuring limitations: lack of explainability, difficulty of scaling, weak integration of explanation into learning.</a:t>
            </a:r>
          </a:p>
        </p:txBody>
      </p:sp>
      <p:sp>
        <p:nvSpPr>
          <p:cNvPr id="17" name="TextBox 16"/>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8" name="Connector 17"/>
          <p:cNvCxnSpPr/>
          <p:nvPr/>
        </p:nvCxnSpPr>
        <p:spPr>
          <a:xfrm>
            <a:off x="12123420" y="6464808"/>
            <a:ext cx="640080" cy="0"/>
          </a:xfrm>
          <a:prstGeom prst="line">
            <a:avLst/>
          </a:prstGeom>
          <a:ln w="31750">
            <a:solidFill>
              <a:srgbClr val="ECC665"/>
            </a:solidFill>
          </a:ln>
        </p:spPr>
      </p:cxnSp>
      <p:sp>
        <p:nvSpPr>
          <p:cNvPr id="19" name="TextBox 18"/>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cumulative contributions under one cooperative-game perspective.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&amp; Clustering Paradigms</a:t>
            </a:r>
          </a:p>
        </p:txBody>
      </p:sp>
      <p:pic>
        <p:nvPicPr>
          <p:cNvPr id="8" name="Picture 7" descr="image.png"/>
          <p:cNvPicPr>
            <a:picLocks noChangeAspect="1"/>
          </p:cNvPicPr>
          <p:nvPr/>
        </p:nvPicPr>
        <p:blipFill>
          <a:blip r:embed="rId2"/>
          <a:stretch>
            <a:fillRect/>
          </a:stretch>
        </p:blipFill>
        <p:spPr>
          <a:xfrm>
            <a:off x="12284814" y="1673352"/>
            <a:ext cx="457200" cy="250983"/>
          </a:xfrm>
          <a:prstGeom prst="rect">
            <a:avLst/>
          </a:prstGeom>
        </p:spPr>
      </p:pic>
      <p:sp>
        <p:nvSpPr>
          <p:cNvPr id="9" name="Rounded Rectangle 8"/>
          <p:cNvSpPr/>
          <p:nvPr/>
        </p:nvSpPr>
        <p:spPr>
          <a:xfrm>
            <a:off x="1028700" y="2559050"/>
            <a:ext cx="171698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Paradigms</a:t>
            </a:r>
          </a:p>
        </p:txBody>
      </p:sp>
      <p:sp>
        <p:nvSpPr>
          <p:cNvPr id="10" name="Rounded Rectangle 9"/>
          <p:cNvSpPr/>
          <p:nvPr/>
        </p:nvSpPr>
        <p:spPr>
          <a:xfrm>
            <a:off x="2873698"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11" name="Rounded Rectangle 10"/>
          <p:cNvSpPr/>
          <p:nvPr/>
        </p:nvSpPr>
        <p:spPr>
          <a:xfrm>
            <a:off x="4872686"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12" name="TextBox 11"/>
          <p:cNvSpPr txBox="1"/>
          <p:nvPr/>
        </p:nvSpPr>
        <p:spPr>
          <a:xfrm>
            <a:off x="1028700" y="3363722"/>
            <a:ext cx="795528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Collaborative filtering</a:t>
            </a:r>
            <a:r>
              <a:rPr lang="en-US" sz="2100" b="true">
                <a:solidFill>
                  <a:srgbClr val="111111"/>
                </a:solidFill>
                <a:latin typeface="Nunito Semi-Bold"/>
                <a:ea typeface="Nunito Semi-Bold"/>
                <a:cs typeface="Nunito Semi-Bold"/>
                <a:sym typeface="Nunito Semi-Bold"/>
              </a:rPr>
              <a:t> – users who behaved similarly will value similar items (user-/item-based).</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Content-based</a:t>
            </a:r>
            <a:r>
              <a:rPr lang="en-US" sz="2100" b="true">
                <a:solidFill>
                  <a:srgbClr val="111111"/>
                </a:solidFill>
                <a:latin typeface="Nunito Semi-Bold"/>
                <a:ea typeface="Nunito Semi-Bold"/>
                <a:cs typeface="Nunito Semi-Bold"/>
                <a:sym typeface="Nunito Semi-Bold"/>
              </a:rPr>
              <a:t> – recommends items sharing attributes with a user profile.</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 combines collaborative and content signals.</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Matrix factorisation</a:t>
            </a:r>
            <a:r>
              <a:rPr lang="en-US" sz="2100" b="true">
                <a:solidFill>
                  <a:srgbClr val="111111"/>
                </a:solidFill>
                <a:latin typeface="Nunito Semi-Bold"/>
                <a:ea typeface="Nunito Semi-Bold"/>
                <a:cs typeface="Nunito Semi-Bold"/>
                <a:sym typeface="Nunito Semi-Bold"/>
              </a:rPr>
              <a:t> – R ≈ PQ</a:t>
            </a:r>
            <a:r>
              <a:rPr lang="en-US" sz="2100" b="true" baseline="30000">
                <a:solidFill>
                  <a:srgbClr val="111111"/>
                </a:solidFill>
                <a:latin typeface="Nunito Semi-Bold"/>
                <a:ea typeface="Nunito Semi-Bold"/>
                <a:cs typeface="Nunito Semi-Bold"/>
                <a:sym typeface="Nunito Semi-Bold"/>
              </a:rPr>
              <a:t>T</a:t>
            </a:r>
            <a:r>
              <a:rPr lang="en-US" sz="2100" b="true">
                <a:solidFill>
                  <a:srgbClr val="111111"/>
                </a:solidFill>
                <a:latin typeface="Nunito Semi-Bold"/>
                <a:ea typeface="Nunito Semi-Bold"/>
                <a:cs typeface="Nunito Semi-Bold"/>
                <a:sym typeface="Nunito Semi-Bold"/>
              </a:rPr>
              <a:t>: compact but opaque latent factors.</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Graph-based</a:t>
            </a:r>
            <a:r>
              <a:rPr lang="en-US" sz="2100" b="true">
                <a:solidFill>
                  <a:srgbClr val="111111"/>
                </a:solidFill>
                <a:latin typeface="Nunito Semi-Bold"/>
                <a:ea typeface="Nunito Semi-Bold"/>
                <a:cs typeface="Nunito Semi-Bold"/>
                <a:sym typeface="Nunito Semi-Bold"/>
              </a:rPr>
              <a:t> – interaction graph with neighbourhood propagation (LightGCN, hypergraph).</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Each step strengthens the modelling but complicates interpretation: MF made latent dimensions opaque; graph models kept importance implicit; hypergraphs assumed </a:t>
            </a:r>
            <a:r>
              <a:rPr lang="en-US" sz="2100" b="true">
                <a:solidFill>
                  <a:srgbClr val="111111"/>
                </a:solidFill>
                <a:latin typeface="Nunito Bold"/>
                <a:ea typeface="Nunito Bold"/>
                <a:cs typeface="Nunito Bold"/>
                <a:sym typeface="Nunito Bold"/>
              </a:rPr>
              <a:t>uniform message importance</a:t>
            </a:r>
            <a:r>
              <a:rPr lang="en-US" sz="2100" b="true">
                <a:solidFill>
                  <a:srgbClr val="111111"/>
                </a:solidFill>
                <a:latin typeface="Nunito Semi-Bold"/>
                <a:ea typeface="Nunito Semi-Bold"/>
                <a:cs typeface="Nunito Semi-Bold"/>
                <a:sym typeface="Nunito Semi-Bold"/>
              </a:rPr>
              <a:t>.</a:t>
            </a:r>
          </a:p>
        </p:txBody>
      </p:sp>
      <p:sp>
        <p:nvSpPr>
          <p:cNvPr id="13" name="TextBox 12"/>
          <p:cNvSpPr txBox="1"/>
          <p:nvPr/>
        </p:nvSpPr>
        <p:spPr>
          <a:xfrm>
            <a:off x="9532620" y="3363722"/>
            <a:ext cx="772668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CONTENT-BASED FILTERING — AN EXPLAINABLE EXAMPLE</a:t>
            </a:r>
          </a:p>
        </p:txBody>
      </p:sp>
      <p:sp>
        <p:nvSpPr>
          <p:cNvPr id="14" name="Rounded Rectangle 13"/>
          <p:cNvSpPr/>
          <p:nvPr/>
        </p:nvSpPr>
        <p:spPr>
          <a:xfrm>
            <a:off x="9532620"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15" name="Connector 14"/>
          <p:cNvCxnSpPr/>
          <p:nvPr/>
        </p:nvCxnSpPr>
        <p:spPr>
          <a:xfrm>
            <a:off x="11151108" y="4552442"/>
            <a:ext cx="387096" cy="0"/>
          </a:xfrm>
          <a:prstGeom prst="line">
            <a:avLst/>
          </a:prstGeom>
          <a:ln w="28575">
            <a:solidFill>
              <a:srgbClr val="124944"/>
            </a:solidFill>
            <a:tailEnd type="triangle" w="med" len="med"/>
          </a:ln>
        </p:spPr>
      </p:cxnSp>
      <p:sp>
        <p:nvSpPr>
          <p:cNvPr id="16" name="Rounded Rectangle 15"/>
          <p:cNvSpPr/>
          <p:nvPr/>
        </p:nvSpPr>
        <p:spPr>
          <a:xfrm>
            <a:off x="11583924"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17" name="Connector 16"/>
          <p:cNvCxnSpPr/>
          <p:nvPr/>
        </p:nvCxnSpPr>
        <p:spPr>
          <a:xfrm>
            <a:off x="13202412" y="4552442"/>
            <a:ext cx="387096" cy="0"/>
          </a:xfrm>
          <a:prstGeom prst="line">
            <a:avLst/>
          </a:prstGeom>
          <a:ln w="28575">
            <a:solidFill>
              <a:srgbClr val="124944"/>
            </a:solidFill>
            <a:tailEnd type="triangle" w="med" len="med"/>
          </a:ln>
        </p:spPr>
      </p:cxnSp>
      <p:sp>
        <p:nvSpPr>
          <p:cNvPr id="18" name="Rounded Rectangle 17"/>
          <p:cNvSpPr/>
          <p:nvPr/>
        </p:nvSpPr>
        <p:spPr>
          <a:xfrm>
            <a:off x="1363522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19" name="Connector 18"/>
          <p:cNvCxnSpPr/>
          <p:nvPr/>
        </p:nvCxnSpPr>
        <p:spPr>
          <a:xfrm>
            <a:off x="15253716" y="4552442"/>
            <a:ext cx="387096" cy="0"/>
          </a:xfrm>
          <a:prstGeom prst="line">
            <a:avLst/>
          </a:prstGeom>
          <a:ln w="28575">
            <a:solidFill>
              <a:srgbClr val="124944"/>
            </a:solidFill>
            <a:tailEnd type="triangle" w="med" len="med"/>
          </a:ln>
        </p:spPr>
      </p:cxnSp>
      <p:sp>
        <p:nvSpPr>
          <p:cNvPr id="20" name="Rounded Rectangle 19"/>
          <p:cNvSpPr/>
          <p:nvPr/>
        </p:nvSpPr>
        <p:spPr>
          <a:xfrm>
            <a:off x="15686532" y="3958082"/>
            <a:ext cx="1572768" cy="1188720"/>
          </a:xfrm>
          <a:prstGeom prst="roundRect">
            <a:avLst>
              <a:gd name="adj" fmla="val 15384"/>
            </a:avLst>
          </a:prstGeom>
          <a:solidFill>
            <a:srgbClr val="DF8330"/>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21" name="TextBox 20"/>
          <p:cNvSpPr txBox="1"/>
          <p:nvPr/>
        </p:nvSpPr>
        <p:spPr>
          <a:xfrm>
            <a:off x="9532620" y="5512562"/>
            <a:ext cx="772668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surface films with similar genre / cast / keywords</a:t>
            </a:r>
          </a:p>
        </p:txBody>
      </p:sp>
      <p:sp>
        <p:nvSpPr>
          <p:cNvPr id="22" name="Rounded Rectangle 21"/>
          <p:cNvSpPr/>
          <p:nvPr/>
        </p:nvSpPr>
        <p:spPr>
          <a:xfrm>
            <a:off x="9532620" y="6198362"/>
            <a:ext cx="372618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23" name="Rounded Rectangle 22"/>
          <p:cNvSpPr/>
          <p:nvPr/>
        </p:nvSpPr>
        <p:spPr>
          <a:xfrm>
            <a:off x="9989820" y="5960618"/>
            <a:ext cx="285165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24" name="TextBox 23"/>
          <p:cNvSpPr txBox="1"/>
          <p:nvPr/>
        </p:nvSpPr>
        <p:spPr>
          <a:xfrm>
            <a:off x="9806940" y="6701282"/>
            <a:ext cx="317754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25" name="Rounded Rectangle 24"/>
          <p:cNvSpPr/>
          <p:nvPr/>
        </p:nvSpPr>
        <p:spPr>
          <a:xfrm>
            <a:off x="13533120" y="6198362"/>
            <a:ext cx="372618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26" name="Rounded Rectangle 25"/>
          <p:cNvSpPr/>
          <p:nvPr/>
        </p:nvSpPr>
        <p:spPr>
          <a:xfrm>
            <a:off x="13990320" y="5960618"/>
            <a:ext cx="244392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27" name="TextBox 26"/>
          <p:cNvSpPr txBox="1"/>
          <p:nvPr/>
        </p:nvSpPr>
        <p:spPr>
          <a:xfrm>
            <a:off x="13807440" y="6701282"/>
            <a:ext cx="317754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cos(f_user, f_item)</a:t>
            </a:r>
          </a:p>
        </p:txBody>
      </p:sp>
      <p:sp>
        <p:nvSpPr>
          <p:cNvPr id="28" name="Rounded Rectangle 27"/>
          <p:cNvSpPr/>
          <p:nvPr/>
        </p:nvSpPr>
        <p:spPr>
          <a:xfrm>
            <a:off x="9532620" y="8210042"/>
            <a:ext cx="7726680" cy="1098550"/>
          </a:xfrm>
          <a:prstGeom prst="roundRect">
            <a:avLst>
              <a:gd name="adj" fmla="val 20809"/>
            </a:avLst>
          </a:prstGeom>
          <a:solidFill>
            <a:srgbClr val="124944"/>
          </a:solidFill>
          <a:ln>
            <a:noFill/>
          </a:ln>
        </p:spPr>
        <p:txBody>
          <a:bodyPr anchor="ctr" rtlCol="false" lIns="320040" tIns="91440" rIns="320040" bIns="9144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Explainable because the factors are </a:t>
            </a:r>
            <a:r>
              <a:rPr lang="en-US" sz="1700" b="true">
                <a:solidFill>
                  <a:srgbClr val="FFFFFF"/>
                </a:solidFill>
                <a:latin typeface="Nunito Bold"/>
                <a:ea typeface="Nunito Bold"/>
                <a:cs typeface="Nunito Bold"/>
                <a:sym typeface="Nunito Bold"/>
              </a:rPr>
              <a:t>domain-level and modifiable</a:t>
            </a:r>
            <a:r>
              <a:rPr lang="en-US" sz="1700" b="true">
                <a:solidFill>
                  <a:srgbClr val="FFFFFF"/>
                </a:solidFill>
                <a:latin typeface="Nunito Semi-Bold"/>
                <a:ea typeface="Nunito Semi-Bold"/>
                <a:cs typeface="Nunito Semi-Bold"/>
                <a:sym typeface="Nunito Semi-Bold"/>
              </a:rPr>
              <a:t> — the property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7" name="TextBox 6"/>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8" name="Picture 7" descr="image.png"/>
          <p:cNvPicPr>
            <a:picLocks noChangeAspect="1"/>
          </p:cNvPicPr>
          <p:nvPr/>
        </p:nvPicPr>
        <p:blipFill>
          <a:blip r:embed="rId2"/>
          <a:stretch>
            <a:fillRect/>
          </a:stretch>
        </p:blipFill>
        <p:spPr>
          <a:xfrm>
            <a:off x="16315229" y="1673352"/>
            <a:ext cx="457200" cy="539881"/>
          </a:xfrm>
          <a:prstGeom prst="rect">
            <a:avLst/>
          </a:prstGeom>
        </p:spPr>
      </p:pic>
      <p:sp>
        <p:nvSpPr>
          <p:cNvPr id="9" name="Rounded Rectangle 8"/>
          <p:cNvSpPr/>
          <p:nvPr/>
        </p:nvSpPr>
        <p:spPr>
          <a:xfrm>
            <a:off x="1028700" y="2495550"/>
            <a:ext cx="171698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Paradigms</a:t>
            </a:r>
          </a:p>
        </p:txBody>
      </p:sp>
      <p:sp>
        <p:nvSpPr>
          <p:cNvPr id="10" name="Rounded Rectangle 9"/>
          <p:cNvSpPr/>
          <p:nvPr/>
        </p:nvSpPr>
        <p:spPr>
          <a:xfrm>
            <a:off x="2873698" y="24955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11" name="Rounded Rectangle 10"/>
          <p:cNvSpPr/>
          <p:nvPr/>
        </p:nvSpPr>
        <p:spPr>
          <a:xfrm>
            <a:off x="4872686" y="24955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12" name="Rounded Rectangle 11"/>
          <p:cNvSpPr/>
          <p:nvPr/>
        </p:nvSpPr>
        <p:spPr>
          <a:xfrm>
            <a:off x="102870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overwhelmingly empty — learning is starved of signal.</a:t>
            </a:r>
          </a:p>
        </p:txBody>
      </p:sp>
      <p:sp>
        <p:nvSpPr>
          <p:cNvPr id="13" name="Rounded Rectangle 12"/>
          <p:cNvSpPr/>
          <p:nvPr/>
        </p:nvSpPr>
        <p:spPr>
          <a:xfrm>
            <a:off x="515493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structurally disadvantaged: no history to learn from.</a:t>
            </a:r>
          </a:p>
        </p:txBody>
      </p:sp>
      <p:sp>
        <p:nvSpPr>
          <p:cNvPr id="14" name="Rounded Rectangle 13"/>
          <p:cNvSpPr/>
          <p:nvPr/>
        </p:nvSpPr>
        <p:spPr>
          <a:xfrm>
            <a:off x="928116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begets interaction, begets exposure — a filter-bubble loop.</a:t>
            </a:r>
          </a:p>
        </p:txBody>
      </p:sp>
      <p:sp>
        <p:nvSpPr>
          <p:cNvPr id="15" name="Rounded Rectangle 14"/>
          <p:cNvSpPr/>
          <p:nvPr/>
        </p:nvSpPr>
        <p:spPr>
          <a:xfrm>
            <a:off x="13407390" y="3391662"/>
            <a:ext cx="3851910" cy="3017520"/>
          </a:xfrm>
          <a:prstGeom prst="roundRect">
            <a:avLst>
              <a:gd name="adj" fmla="val 9090"/>
            </a:avLst>
          </a:prstGeom>
          <a:solidFill>
            <a:srgbClr val="DF8330"/>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fundamental limit — and the one this thesis targets.</a:t>
            </a:r>
          </a:p>
        </p:txBody>
      </p:sp>
      <p:sp>
        <p:nvSpPr>
          <p:cNvPr id="16" name="Rounded Rectangle 15"/>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1485900" y="6811518"/>
            <a:ext cx="785723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18" name="TextBox 17"/>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675"/>
              </a:lnSpc>
              <a:spcBef>
                <a:spcPts val="0"/>
              </a:spcBef>
              <a:buClr>
                <a:srgbClr val="DF8330"/>
              </a:buClr>
              <a:buSzPct val="100000"/>
              <a:buFont typeface="Arial"/>
              <a:buChar char="•"/>
            </a:pPr>
            <a:r>
              <a:rPr lang="en-US" sz="1911" b="true">
                <a:solidFill>
                  <a:srgbClr val="111111"/>
                </a:solidFill>
                <a:latin typeface="Nunito Semi-Bold"/>
                <a:ea typeface="Nunito Semi-Bold"/>
                <a:cs typeface="Nunito Semi-Bold"/>
                <a:sym typeface="Nunito Semi-Bold"/>
              </a:rPr>
              <a:t>Methods favour </a:t>
            </a:r>
            <a:r>
              <a:rPr lang="en-US" sz="1911" b="true">
                <a:solidFill>
                  <a:srgbClr val="111111"/>
                </a:solidFill>
                <a:latin typeface="Nunito Bold"/>
                <a:ea typeface="Nunito Bold"/>
                <a:cs typeface="Nunito Bold"/>
                <a:sym typeface="Nunito Bold"/>
              </a:rPr>
              <a:t>local OR global</a:t>
            </a:r>
            <a:r>
              <a:rPr lang="en-US" sz="1911" b="true">
                <a:solidFill>
                  <a:srgbClr val="111111"/>
                </a:solidFill>
                <a:latin typeface="Nunito Semi-Bold"/>
                <a:ea typeface="Nunito Semi-Bold"/>
                <a:cs typeface="Nunito Semi-Bold"/>
                <a:sym typeface="Nunito Semi-Bold"/>
              </a:rPr>
              <a:t> explanation — not both.</a:t>
            </a:r>
          </a:p>
          <a:p>
            <a:pPr algn="l" marL="274320" indent="-274320">
              <a:lnSpc>
                <a:spcPts val="2675"/>
              </a:lnSpc>
              <a:spcBef>
                <a:spcPts val="728"/>
              </a:spcBef>
              <a:buClr>
                <a:srgbClr val="DF8330"/>
              </a:buClr>
              <a:buSzPct val="100000"/>
              <a:buFont typeface="Arial"/>
              <a:buChar char="•"/>
            </a:pPr>
            <a:r>
              <a:rPr lang="en-US" sz="1911" b="true">
                <a:solidFill>
                  <a:srgbClr val="111111"/>
                </a:solidFill>
                <a:latin typeface="Nunito Semi-Bold"/>
                <a:ea typeface="Nunito Semi-Bold"/>
                <a:cs typeface="Nunito Semi-Bold"/>
                <a:sym typeface="Nunito Semi-Bold"/>
              </a:rPr>
              <a:t>They </a:t>
            </a:r>
            <a:r>
              <a:rPr lang="en-US" sz="1911" b="true">
                <a:solidFill>
                  <a:srgbClr val="111111"/>
                </a:solidFill>
                <a:latin typeface="Nunito Bold"/>
                <a:ea typeface="Nunito Bold"/>
                <a:cs typeface="Nunito Bold"/>
                <a:sym typeface="Nunito Bold"/>
              </a:rPr>
              <a:t>struggle to scale</a:t>
            </a:r>
            <a:r>
              <a:rPr lang="en-US" sz="1911" b="true">
                <a:solidFill>
                  <a:srgbClr val="111111"/>
                </a:solidFill>
                <a:latin typeface="Nunito Semi-Bold"/>
                <a:ea typeface="Nunito Semi-Bold"/>
                <a:cs typeface="Nunito Semi-Bold"/>
                <a:sym typeface="Nunito Semi-Bold"/>
              </a:rPr>
              <a:t>, and explanations rarely stay </a:t>
            </a:r>
            <a:r>
              <a:rPr lang="en-US" sz="1911" b="true">
                <a:solidFill>
                  <a:srgbClr val="111111"/>
                </a:solidFill>
                <a:latin typeface="Nunito Bold"/>
                <a:ea typeface="Nunito Bold"/>
                <a:cs typeface="Nunito Bold"/>
                <a:sym typeface="Nunito Bold"/>
              </a:rPr>
              <a:t>coherent across resolutions</a:t>
            </a:r>
            <a:r>
              <a:rPr lang="en-US" sz="1911" b="true">
                <a:solidFill>
                  <a:srgbClr val="111111"/>
                </a:solidFill>
                <a:latin typeface="Nunito Semi-Bold"/>
                <a:ea typeface="Nunito Semi-Bold"/>
                <a:cs typeface="Nunito Semi-Bold"/>
                <a:sym typeface="Nunito Semi-Bold"/>
              </a:rPr>
              <a:t>.</a:t>
            </a:r>
          </a:p>
          <a:p>
            <a:pPr algn="l" marL="274320" indent="-274320">
              <a:lnSpc>
                <a:spcPts val="2675"/>
              </a:lnSpc>
              <a:spcBef>
                <a:spcPts val="728"/>
              </a:spcBef>
              <a:buClr>
                <a:srgbClr val="DF8330"/>
              </a:buClr>
              <a:buSzPct val="100000"/>
              <a:buFont typeface="Arial"/>
              <a:buChar char="•"/>
            </a:pPr>
            <a:r>
              <a:rPr lang="en-US" sz="1911" b="true">
                <a:solidFill>
                  <a:srgbClr val="111111"/>
                </a:solidFill>
                <a:latin typeface="Nunito Bold"/>
                <a:ea typeface="Nunito Bold"/>
                <a:cs typeface="Nunito Bold"/>
                <a:sym typeface="Nunito Bold"/>
              </a:rPr>
              <a:t>The gap:</a:t>
            </a:r>
            <a:r>
              <a:rPr lang="en-US" sz="1911" b="true">
                <a:solidFill>
                  <a:srgbClr val="111111"/>
                </a:solidFill>
                <a:latin typeface="Nunito Semi-Bold"/>
                <a:ea typeface="Nunito Semi-Bold"/>
                <a:cs typeface="Nunito Semi-Bold"/>
                <a:sym typeface="Nunito Semi-Bold"/>
              </a:rPr>
              <a:t> no faithful local + global explanation, poor scaling, and incoherence across levels — precisely what this thesis works 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Structuring Limitations — Problem Statement</a:t>
            </a:r>
          </a:p>
        </p:txBody>
      </p:sp>
      <p:pic>
        <p:nvPicPr>
          <p:cNvPr id="8" name="Picture 7" descr="image.png"/>
          <p:cNvPicPr>
            <a:picLocks noChangeAspect="1"/>
          </p:cNvPicPr>
          <p:nvPr/>
        </p:nvPicPr>
        <p:blipFill>
          <a:blip r:embed="rId2"/>
          <a:stretch>
            <a:fillRect/>
          </a:stretch>
        </p:blipFill>
        <p:spPr>
          <a:xfrm>
            <a:off x="14665529" y="1673352"/>
            <a:ext cx="457200" cy="373212"/>
          </a:xfrm>
          <a:prstGeom prst="rect">
            <a:avLst/>
          </a:prstGeom>
        </p:spPr>
      </p:pic>
      <p:sp>
        <p:nvSpPr>
          <p:cNvPr id="9" name="Rounded Rectangle 8"/>
          <p:cNvSpPr/>
          <p:nvPr/>
        </p:nvSpPr>
        <p:spPr>
          <a:xfrm>
            <a:off x="1028700" y="2559050"/>
            <a:ext cx="171698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Paradigms</a:t>
            </a:r>
          </a:p>
        </p:txBody>
      </p:sp>
      <p:sp>
        <p:nvSpPr>
          <p:cNvPr id="10" name="Rounded Rectangle 9"/>
          <p:cNvSpPr/>
          <p:nvPr/>
        </p:nvSpPr>
        <p:spPr>
          <a:xfrm>
            <a:off x="2873698"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11" name="Rounded Rectangle 10"/>
          <p:cNvSpPr/>
          <p:nvPr/>
        </p:nvSpPr>
        <p:spPr>
          <a:xfrm>
            <a:off x="4872686"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12" name="Rounded Rectangle 11"/>
          <p:cNvSpPr/>
          <p:nvPr/>
        </p:nvSpPr>
        <p:spPr>
          <a:xfrm>
            <a:off x="102870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13" name="Oval 12"/>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14" name="TextBox 13"/>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remain hard to interpret </a:t>
            </a:r>
            <a:r>
              <a:rPr lang="en-US" sz="1900" b="true">
                <a:solidFill>
                  <a:srgbClr val="F1EDE6"/>
                </a:solidFill>
                <a:latin typeface="Nunito Bold"/>
                <a:ea typeface="Nunito Bold"/>
                <a:cs typeface="Nunito Bold"/>
                <a:sym typeface="Nunito Bold"/>
              </a:rPr>
              <a:t>faithfully and actionably</a:t>
            </a:r>
            <a:r>
              <a:rPr lang="en-US" sz="1900" b="true">
                <a:solidFill>
                  <a:srgbClr val="F1EDE6"/>
                </a:solidFill>
                <a:latin typeface="Nunito Semi-Bold"/>
                <a:ea typeface="Nunito Semi-Bold"/>
                <a:cs typeface="Nunito Semi-Bold"/>
                <a:sym typeface="Nunito Semi-Bold"/>
              </a:rPr>
              <a:t>.</a:t>
            </a:r>
          </a:p>
        </p:txBody>
      </p:sp>
      <p:sp>
        <p:nvSpPr>
          <p:cNvPr id="15" name="Rounded Rectangle 14"/>
          <p:cNvSpPr/>
          <p:nvPr/>
        </p:nvSpPr>
        <p:spPr>
          <a:xfrm>
            <a:off x="654558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16" name="Oval 15"/>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17" name="TextBox 16"/>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transfer naturally to </a:t>
            </a:r>
            <a:r>
              <a:rPr lang="en-US" sz="1786" b="true">
                <a:solidFill>
                  <a:srgbClr val="F1EDE6"/>
                </a:solidFill>
                <a:latin typeface="Nunito Bold"/>
                <a:ea typeface="Nunito Bold"/>
                <a:cs typeface="Nunito Bold"/>
                <a:sym typeface="Nunito Bold"/>
              </a:rPr>
              <a:t>hierarchical structures or large datasets</a:t>
            </a:r>
            <a:r>
              <a:rPr lang="en-US" sz="1786" b="true">
                <a:solidFill>
                  <a:srgbClr val="F1EDE6"/>
                </a:solidFill>
                <a:latin typeface="Nunito Semi-Bold"/>
                <a:ea typeface="Nunito Semi-Bold"/>
                <a:cs typeface="Nunito Semi-Bold"/>
                <a:sym typeface="Nunito Semi-Bold"/>
              </a:rPr>
              <a:t> — a method that works on a toy partition may collapse on hundreds of thousands of nested records.</a:t>
            </a:r>
          </a:p>
        </p:txBody>
      </p:sp>
      <p:sp>
        <p:nvSpPr>
          <p:cNvPr id="18" name="Rounded Rectangle 17"/>
          <p:cNvSpPr/>
          <p:nvPr/>
        </p:nvSpPr>
        <p:spPr>
          <a:xfrm>
            <a:off x="1206246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19" name="Oval 18"/>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20" name="TextBox 19"/>
          <p:cNvSpPr txBox="1"/>
          <p:nvPr/>
        </p:nvSpPr>
        <p:spPr>
          <a:xfrm>
            <a:off x="1238250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Weak integration into learning</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Most explanations stay </a:t>
            </a:r>
            <a:r>
              <a:rPr lang="en-US" sz="1900" b="true">
                <a:solidFill>
                  <a:srgbClr val="F1EDE6"/>
                </a:solidFill>
                <a:latin typeface="Nunito Bold"/>
                <a:ea typeface="Nunito Bold"/>
                <a:cs typeface="Nunito Bold"/>
                <a:sym typeface="Nunito Bold"/>
              </a:rPr>
              <a:t>post-hoc</a:t>
            </a:r>
            <a:r>
              <a:rPr lang="en-US" sz="1900" b="true">
                <a:solidFill>
                  <a:srgbClr val="F1EDE6"/>
                </a:solidFill>
                <a:latin typeface="Nunito Semi-Bold"/>
                <a:ea typeface="Nunito Semi-Bold"/>
                <a:cs typeface="Nunito Semi-Bold"/>
                <a:sym typeface="Nunito Semi-Bold"/>
              </a:rPr>
              <a:t>: they do not shape model dynamics or the </a:t>
            </a:r>
            <a:r>
              <a:rPr lang="en-US" sz="1900" b="true">
                <a:solidFill>
                  <a:srgbClr val="F1EDE6"/>
                </a:solidFill>
                <a:latin typeface="Nunito Bold"/>
                <a:ea typeface="Nunito Bold"/>
                <a:cs typeface="Nunito Bold"/>
                <a:sym typeface="Nunito Bold"/>
              </a:rPr>
              <a:t>accuracy–diversity–context trade-off</a:t>
            </a:r>
            <a:r>
              <a:rPr lang="en-US" sz="1900" b="true">
                <a:solidFill>
                  <a:srgbClr val="F1EDE6"/>
                </a:solidFill>
                <a:latin typeface="Nunito Semi-Bold"/>
                <a:ea typeface="Nunito Semi-Bold"/>
                <a:cs typeface="Nunito Semi-Bold"/>
                <a:sym typeface="Nunito Semi-Bold"/>
              </a:rPr>
              <a:t>.</a:t>
            </a:r>
          </a:p>
        </p:txBody>
      </p:sp>
      <p:sp>
        <p:nvSpPr>
          <p:cNvPr id="21" name="Rounded Rectangle 20"/>
          <p:cNvSpPr/>
          <p:nvPr/>
        </p:nvSpPr>
        <p:spPr>
          <a:xfrm>
            <a:off x="1028700" y="7387082"/>
            <a:ext cx="16230600" cy="1967230"/>
          </a:xfrm>
          <a:prstGeom prst="roundRect">
            <a:avLst>
              <a:gd name="adj" fmla="val 13944"/>
            </a:avLst>
          </a:prstGeom>
          <a:noFill/>
          <a:ln w="31750">
            <a:solidFill>
              <a:srgbClr val="DF8330"/>
            </a:solidFill>
          </a:ln>
        </p:spPr>
        <p:txBody>
          <a:bodyPr anchor="ctr" rtlCol="false" lIns="0" tIns="0" rIns="0" bIns="0" wrap="square"/>
          <a:lstStyle/>
          <a:p>
            <a:endParaRPr lang="en-US" sz="1800"/>
          </a:p>
        </p:txBody>
      </p:sp>
      <p:sp>
        <p:nvSpPr>
          <p:cNvPr id="22" name="TextBox 21"/>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DF8330"/>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a single cooperative-attribution framework</a:t>
            </a:r>
            <a:r>
              <a:rPr lang="en-US" sz="2100" b="true">
                <a:solidFill>
                  <a:srgbClr val="111111"/>
                </a:solidFill>
                <a:latin typeface="Nunito Semi-Bold"/>
                <a:ea typeface="Nunito Semi-Bold"/>
                <a:cs typeface="Nunito Semi-Bold"/>
                <a:sym typeface="Nunito Semi-Bold"/>
              </a:rPr>
              <a:t> that explains clustering faithfully, stays coherent under hierarchy, and then operates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single framework.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8" name="Picture 7" descr="image.png"/>
          <p:cNvPicPr>
            <a:picLocks noChangeAspect="1"/>
          </p:cNvPicPr>
          <p:nvPr/>
        </p:nvPicPr>
        <p:blipFill>
          <a:blip r:embed="rId2"/>
          <a:stretch>
            <a:fillRect/>
          </a:stretch>
        </p:blipFill>
        <p:spPr>
          <a:xfrm>
            <a:off x="13647239" y="1673352"/>
            <a:ext cx="457200" cy="427074"/>
          </a:xfrm>
          <a:prstGeom prst="rect">
            <a:avLst/>
          </a:prstGeom>
        </p:spPr>
      </p:pic>
      <p:sp>
        <p:nvSpPr>
          <p:cNvPr id="9" name="Rounded Rectangle 8"/>
          <p:cNvSpPr/>
          <p:nvPr/>
        </p:nvSpPr>
        <p:spPr>
          <a:xfrm>
            <a:off x="1028700" y="2559050"/>
            <a:ext cx="171698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Paradigms</a:t>
            </a:r>
          </a:p>
        </p:txBody>
      </p:sp>
      <p:sp>
        <p:nvSpPr>
          <p:cNvPr id="10" name="Rounded Rectangle 9"/>
          <p:cNvSpPr/>
          <p:nvPr/>
        </p:nvSpPr>
        <p:spPr>
          <a:xfrm>
            <a:off x="2873698"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11" name="Rounded Rectangle 10"/>
          <p:cNvSpPr/>
          <p:nvPr/>
        </p:nvSpPr>
        <p:spPr>
          <a:xfrm>
            <a:off x="4872686"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12" name="Rounded Rectangle 11"/>
          <p:cNvSpPr/>
          <p:nvPr/>
        </p:nvSpPr>
        <p:spPr>
          <a:xfrm>
            <a:off x="1028700" y="3363722"/>
            <a:ext cx="16230600" cy="868680"/>
          </a:xfrm>
          <a:prstGeom prst="roundRect">
            <a:avLst>
              <a:gd name="adj" fmla="val 26315"/>
            </a:avLst>
          </a:prstGeom>
          <a:solidFill>
            <a:srgbClr val="12494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 develop, justify and evaluate a cooperative-game-theoretic perspective for XAI in clustering and recommendation, using Shapley attribution as both an </a:t>
            </a:r>
            <a:r>
              <a:rPr lang="en-US" sz="2000" b="true">
                <a:solidFill>
                  <a:srgbClr val="FFFFFF"/>
                </a:solidFill>
                <a:latin typeface="Nunito Bold"/>
                <a:ea typeface="Nunito Bold"/>
                <a:cs typeface="Nunito Bold"/>
                <a:sym typeface="Nunito Bold"/>
              </a:rPr>
              <a:t>explanatory mechanism</a:t>
            </a:r>
            <a:r>
              <a:rPr lang="en-US" sz="2000" b="true">
                <a:solidFill>
                  <a:srgbClr val="FFFFFF"/>
                </a:solidFill>
                <a:latin typeface="Nunito Semi-Bold"/>
                <a:ea typeface="Nunito Semi-Bold"/>
                <a:cs typeface="Nunito Semi-Bold"/>
                <a:sym typeface="Nunito Semi-Bold"/>
              </a:rPr>
              <a:t> and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13" name="Rounded Rectangle 12"/>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14" name="Rounded Rectangle 13"/>
          <p:cNvSpPr/>
          <p:nvPr/>
        </p:nvSpPr>
        <p:spPr>
          <a:xfrm>
            <a:off x="1211580" y="458901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15" name="TextBox 14"/>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16" name="Rounded Rectangle 15"/>
          <p:cNvSpPr/>
          <p:nvPr/>
        </p:nvSpPr>
        <p:spPr>
          <a:xfrm>
            <a:off x="15339060" y="458901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17" name="Rounded Rectangle 16"/>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18" name="Rounded Rectangle 17"/>
          <p:cNvSpPr/>
          <p:nvPr/>
        </p:nvSpPr>
        <p:spPr>
          <a:xfrm>
            <a:off x="1211580" y="559328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19" name="TextBox 18"/>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hierarchical clustering</a:t>
            </a:r>
            <a:r>
              <a:rPr lang="en-US" sz="2000" b="true">
                <a:solidFill>
                  <a:srgbClr val="111111"/>
                </a:solidFill>
                <a:latin typeface="Nunito Semi-Bold"/>
                <a:ea typeface="Nunito Semi-Bold"/>
                <a:cs typeface="Nunito Semi-Bold"/>
                <a:sym typeface="Nunito Semi-Bold"/>
              </a:rPr>
              <a:t> without losing tractability or consistency?</a:t>
            </a:r>
          </a:p>
        </p:txBody>
      </p:sp>
      <p:sp>
        <p:nvSpPr>
          <p:cNvPr id="20" name="Rounded Rectangle 19"/>
          <p:cNvSpPr/>
          <p:nvPr/>
        </p:nvSpPr>
        <p:spPr>
          <a:xfrm>
            <a:off x="15339060" y="559328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21" name="Rounded Rectangle 20"/>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211580" y="659754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23" name="TextBox 22"/>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enter the learning dynamics of graph recommenders?</a:t>
            </a:r>
          </a:p>
        </p:txBody>
      </p:sp>
      <p:sp>
        <p:nvSpPr>
          <p:cNvPr id="24" name="Rounded Rectangle 23"/>
          <p:cNvSpPr/>
          <p:nvPr/>
        </p:nvSpPr>
        <p:spPr>
          <a:xfrm>
            <a:off x="15339060" y="659754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25" name="Rounded Rectangle 24"/>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26" name="Rounded Rectangle 25"/>
          <p:cNvSpPr/>
          <p:nvPr/>
        </p:nvSpPr>
        <p:spPr>
          <a:xfrm>
            <a:off x="1211580" y="760181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27" name="TextBox 26"/>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jointly optimise ranking accuracy, context and diversity</a:t>
            </a:r>
            <a:r>
              <a:rPr lang="en-US" sz="2000" b="true">
                <a:solidFill>
                  <a:srgbClr val="111111"/>
                </a:solidFill>
                <a:latin typeface="Nunito Semi-Bold"/>
                <a:ea typeface="Nunito Semi-Bold"/>
                <a:cs typeface="Nunito Semi-Bold"/>
                <a:sym typeface="Nunito Semi-Bold"/>
              </a:rPr>
              <a:t> when importance is estimated by a cooperative-game utility?</a:t>
            </a:r>
          </a:p>
        </p:txBody>
      </p:sp>
      <p:sp>
        <p:nvSpPr>
          <p:cNvPr id="28" name="Rounded Rectangle 27"/>
          <p:cNvSpPr/>
          <p:nvPr/>
        </p:nvSpPr>
        <p:spPr>
          <a:xfrm>
            <a:off x="15339060" y="760181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29" name="Rounded Rectangle 28"/>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31" name="TextBox 30"/>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emerges when clustering explanation and recommendation learning are </a:t>
            </a:r>
            <a:r>
              <a:rPr lang="en-US" sz="2000" b="true">
                <a:solidFill>
                  <a:srgbClr val="111111"/>
                </a:solidFill>
                <a:latin typeface="Nunito Bold"/>
                <a:ea typeface="Nunito Bold"/>
                <a:cs typeface="Nunito Bold"/>
                <a:sym typeface="Nunito Bold"/>
              </a:rPr>
              <a:t>two stages of one cooperative-game perspective</a:t>
            </a:r>
            <a:r>
              <a:rPr lang="en-US" sz="2000" b="true">
                <a:solidFill>
                  <a:srgbClr val="111111"/>
                </a:solidFill>
                <a:latin typeface="Nunito Semi-Bold"/>
                <a:ea typeface="Nunito Semi-Bold"/>
                <a:cs typeface="Nunito Semi-Bold"/>
                <a:sym typeface="Nunito Semi-Bold"/>
              </a:rPr>
              <a:t>?</a:t>
            </a:r>
          </a:p>
        </p:txBody>
      </p:sp>
      <p:sp>
        <p:nvSpPr>
          <p:cNvPr id="32" name="Rounded Rectangle 31"/>
          <p:cNvSpPr/>
          <p:nvPr/>
        </p:nvSpPr>
        <p:spPr>
          <a:xfrm>
            <a:off x="15339060" y="860607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8" name="Picture 7" descr="image.png"/>
          <p:cNvPicPr>
            <a:picLocks noChangeAspect="1"/>
          </p:cNvPicPr>
          <p:nvPr/>
        </p:nvPicPr>
        <p:blipFill>
          <a:blip r:embed="rId2"/>
          <a:stretch>
            <a:fillRect/>
          </a:stretch>
        </p:blipFill>
        <p:spPr>
          <a:xfrm>
            <a:off x="7638654" y="1673352"/>
            <a:ext cx="457200" cy="399005"/>
          </a:xfrm>
          <a:prstGeom prst="rect">
            <a:avLst/>
          </a:prstGeom>
        </p:spPr>
      </p:pic>
      <p:sp>
        <p:nvSpPr>
          <p:cNvPr id="9" name="Rounded Rectangle 8"/>
          <p:cNvSpPr/>
          <p:nvPr/>
        </p:nvSpPr>
        <p:spPr>
          <a:xfrm>
            <a:off x="1028700" y="2559050"/>
            <a:ext cx="171698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Paradigms</a:t>
            </a:r>
          </a:p>
        </p:txBody>
      </p:sp>
      <p:sp>
        <p:nvSpPr>
          <p:cNvPr id="10" name="Rounded Rectangle 9"/>
          <p:cNvSpPr/>
          <p:nvPr/>
        </p:nvSpPr>
        <p:spPr>
          <a:xfrm>
            <a:off x="2873698"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11" name="Rounded Rectangle 10"/>
          <p:cNvSpPr/>
          <p:nvPr/>
        </p:nvSpPr>
        <p:spPr>
          <a:xfrm>
            <a:off x="4872686"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12" name="Rounded Rectangle 11"/>
          <p:cNvSpPr/>
          <p:nvPr/>
        </p:nvSpPr>
        <p:spPr>
          <a:xfrm>
            <a:off x="1028700" y="3455162"/>
            <a:ext cx="5196840" cy="4480560"/>
          </a:xfrm>
          <a:prstGeom prst="roundRect">
            <a:avLst>
              <a:gd name="adj" fmla="val 6530"/>
            </a:avLst>
          </a:prstGeom>
          <a:solidFill>
            <a:srgbClr val="124944"/>
          </a:solidFill>
          <a:ln>
            <a:noFill/>
          </a:ln>
        </p:spPr>
        <p:txBody>
          <a:bodyPr anchor="ctr" rtlCol="false" lIns="0" tIns="0" rIns="0" bIns="0" wrap="square"/>
          <a:lstStyle/>
          <a:p>
            <a:endParaRPr lang="en-US" sz="1800"/>
          </a:p>
        </p:txBody>
      </p:sp>
      <p:sp>
        <p:nvSpPr>
          <p:cNvPr id="13" name="TextBox 12"/>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14" name="Rounded Rectangle 13"/>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24944"/>
                </a:solidFill>
                <a:latin typeface="Nunito Bold"/>
                <a:ea typeface="Nunito Bold"/>
                <a:cs typeface="Nunito Bold"/>
                <a:sym typeface="Nunito Bold"/>
              </a:rPr>
              <a:t>RQ1</a:t>
            </a:r>
          </a:p>
        </p:txBody>
      </p:sp>
      <p:sp>
        <p:nvSpPr>
          <p:cNvPr id="15" name="TextBox 14"/>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16" name="Rounded Rectangle 15"/>
          <p:cNvSpPr/>
          <p:nvPr/>
        </p:nvSpPr>
        <p:spPr>
          <a:xfrm>
            <a:off x="6545580" y="3455162"/>
            <a:ext cx="5196840" cy="4480560"/>
          </a:xfrm>
          <a:prstGeom prst="roundRect">
            <a:avLst>
              <a:gd name="adj" fmla="val 6530"/>
            </a:avLst>
          </a:prstGeom>
          <a:solidFill>
            <a:srgbClr val="1E5F58"/>
          </a:solidFill>
          <a:ln>
            <a:noFill/>
          </a:ln>
        </p:spPr>
        <p:txBody>
          <a:bodyPr anchor="ctr" rtlCol="false" lIns="0" tIns="0" rIns="0" bIns="0" wrap="square"/>
          <a:lstStyle/>
          <a:p>
            <a:endParaRPr lang="en-US" sz="1800"/>
          </a:p>
        </p:txBody>
      </p:sp>
      <p:sp>
        <p:nvSpPr>
          <p:cNvPr id="17" name="TextBox 16"/>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18" name="Rounded Rectangle 17"/>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E5F58"/>
                </a:solidFill>
                <a:latin typeface="Nunito Bold"/>
                <a:ea typeface="Nunito Bold"/>
                <a:cs typeface="Nunito Bold"/>
                <a:sym typeface="Nunito Bold"/>
              </a:rPr>
              <a:t>RQ2</a:t>
            </a:r>
          </a:p>
        </p:txBody>
      </p:sp>
      <p:sp>
        <p:nvSpPr>
          <p:cNvPr id="19" name="TextBox 18"/>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Hierarchical attribution consistency under scale.</a:t>
            </a:r>
          </a:p>
        </p:txBody>
      </p:sp>
      <p:sp>
        <p:nvSpPr>
          <p:cNvPr id="20" name="Rounded Rectangle 19"/>
          <p:cNvSpPr/>
          <p:nvPr/>
        </p:nvSpPr>
        <p:spPr>
          <a:xfrm>
            <a:off x="12062460" y="3455162"/>
            <a:ext cx="5196840" cy="4480560"/>
          </a:xfrm>
          <a:prstGeom prst="roundRect">
            <a:avLst>
              <a:gd name="adj" fmla="val 6530"/>
            </a:avLst>
          </a:prstGeom>
          <a:solidFill>
            <a:srgbClr val="DF8330"/>
          </a:solidFill>
          <a:ln>
            <a:noFill/>
          </a:ln>
        </p:spPr>
        <p:txBody>
          <a:bodyPr anchor="ctr" rtlCol="false" lIns="0" tIns="0" rIns="0" bIns="0" wrap="square"/>
          <a:lstStyle/>
          <a:p>
            <a:endParaRPr lang="en-US" sz="1800"/>
          </a:p>
        </p:txBody>
      </p:sp>
      <p:sp>
        <p:nvSpPr>
          <p:cNvPr id="21" name="TextBox 20"/>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22" name="Rounded Rectangle 21"/>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DF8330"/>
                </a:solidFill>
                <a:latin typeface="Nunito Bold"/>
                <a:ea typeface="Nunito Bold"/>
                <a:cs typeface="Nunito Bold"/>
                <a:sym typeface="Nunito Bold"/>
              </a:rPr>
              <a:t>RQ3 · RQ4</a:t>
            </a:r>
          </a:p>
        </p:txBody>
      </p:sp>
      <p:sp>
        <p:nvSpPr>
          <p:cNvPr id="23" name="TextBox 22"/>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24" name="Rounded Rectangle 23"/>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functions as a </a:t>
            </a:r>
            <a:r>
              <a:rPr lang="en-US" sz="2100" b="true">
                <a:solidFill>
                  <a:srgbClr val="111111"/>
                </a:solidFill>
                <a:latin typeface="Nunito Bold"/>
                <a:ea typeface="Nunito Bold"/>
                <a:cs typeface="Nunito Bold"/>
                <a:sym typeface="Nunito Bold"/>
              </a:rPr>
              <a:t>shared attribution perspective</a:t>
            </a:r>
            <a:r>
              <a:rPr lang="en-US" sz="2100" b="true">
                <a:solidFill>
                  <a:srgbClr val="111111"/>
                </a:solidFill>
                <a:latin typeface="Nunito Semi-Bold"/>
                <a:ea typeface="Nunito Semi-Bold"/>
                <a:cs typeface="Nunito Semi-Bold"/>
                <a:sym typeface="Nunito Semi-Bold"/>
              </a:rPr>
              <a:t> for explanation, optimisation and intervention — three cumulative steps, not three unrelated papers.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Our Thesis in One View</a:t>
            </a:r>
          </a:p>
        </p:txBody>
      </p:sp>
      <p:pic>
        <p:nvPicPr>
          <p:cNvPr id="8" name="Picture 7" descr="image.png"/>
          <p:cNvPicPr>
            <a:picLocks noChangeAspect="1"/>
          </p:cNvPicPr>
          <p:nvPr/>
        </p:nvPicPr>
        <p:blipFill>
          <a:blip r:embed="rId2"/>
          <a:stretch>
            <a:fillRect/>
          </a:stretch>
        </p:blipFill>
        <p:spPr>
          <a:xfrm>
            <a:off x="7298405" y="1673352"/>
            <a:ext cx="457200" cy="446713"/>
          </a:xfrm>
          <a:prstGeom prst="rect">
            <a:avLst/>
          </a:prstGeom>
        </p:spPr>
      </p:pic>
      <p:sp>
        <p:nvSpPr>
          <p:cNvPr id="9" name="Rounded Rectangle 8"/>
          <p:cNvSpPr/>
          <p:nvPr/>
        </p:nvSpPr>
        <p:spPr>
          <a:xfrm>
            <a:off x="1028700" y="2559050"/>
            <a:ext cx="171698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Paradigms</a:t>
            </a:r>
          </a:p>
        </p:txBody>
      </p:sp>
      <p:sp>
        <p:nvSpPr>
          <p:cNvPr id="10" name="Rounded Rectangle 9"/>
          <p:cNvSpPr/>
          <p:nvPr/>
        </p:nvSpPr>
        <p:spPr>
          <a:xfrm>
            <a:off x="2873698"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11" name="Rounded Rectangle 10"/>
          <p:cNvSpPr/>
          <p:nvPr/>
        </p:nvSpPr>
        <p:spPr>
          <a:xfrm>
            <a:off x="4872686"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12" name="TextBox 11"/>
          <p:cNvSpPr txBox="1"/>
          <p:nvPr/>
        </p:nvSpPr>
        <p:spPr>
          <a:xfrm>
            <a:off x="1028700" y="3363722"/>
            <a:ext cx="69494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Thesis</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Cooperative game theory (Shapley) is </a:t>
            </a:r>
            <a:r>
              <a:rPr lang="en-US" sz="2100" b="true">
                <a:solidFill>
                  <a:srgbClr val="111111"/>
                </a:solidFill>
                <a:latin typeface="Nunito Bold"/>
                <a:ea typeface="Nunito Bold"/>
                <a:cs typeface="Nunito Bold"/>
                <a:sym typeface="Nunito Bold"/>
              </a:rPr>
              <a:t>one shared, explainable attribution perspective</a:t>
            </a:r>
            <a:r>
              <a:rPr lang="en-US" sz="2100" b="true">
                <a:solidFill>
                  <a:srgbClr val="111111"/>
                </a:solidFill>
                <a:latin typeface="Nunito Semi-Bold"/>
                <a:ea typeface="Nunito Semi-Bold"/>
                <a:cs typeface="Nunito Semi-Bold"/>
                <a:sym typeface="Nunito Semi-Bold"/>
              </a:rPr>
              <a:t>.</a:t>
            </a:r>
          </a:p>
          <a:p>
            <a:pPr algn="l">
              <a:lnSpc>
                <a:spcPts val="2750"/>
              </a:lnSpc>
              <a:spcBef>
                <a:spcPts val="1800"/>
              </a:spcBef>
              <a:buNone/>
            </a:pPr>
            <a:r>
              <a:rPr lang="en-US" sz="2200" b="true">
                <a:solidFill>
                  <a:srgbClr val="124944"/>
                </a:solidFill>
                <a:latin typeface="Nunito Ultra-Bold"/>
                <a:ea typeface="Nunito Ultra-Bold"/>
                <a:cs typeface="Nunito Ultra-Bold"/>
                <a:sym typeface="Nunito Ultra-Bold"/>
              </a:rPr>
              <a:t>The same logic spans clustering and recommendation</a:t>
            </a:r>
          </a:p>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C1</a:t>
            </a:r>
            <a:r>
              <a:rPr lang="en-US" sz="2000" b="true">
                <a:solidFill>
                  <a:srgbClr val="111111"/>
                </a:solidFill>
                <a:latin typeface="Nunito Semi-Bold"/>
                <a:ea typeface="Nunito Semi-Bold"/>
                <a:cs typeface="Nunito Semi-Bold"/>
                <a:sym typeface="Nunito Semi-Bold"/>
              </a:rPr>
              <a:t> – explains black-box clustering faithfully (wine).</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C2</a:t>
            </a:r>
            <a:r>
              <a:rPr lang="en-US" sz="2000" b="true">
                <a:solidFill>
                  <a:srgbClr val="111111"/>
                </a:solidFill>
                <a:latin typeface="Nunito Semi-Bold"/>
                <a:ea typeface="Nunito Semi-Bold"/>
                <a:cs typeface="Nunito Semi-Bold"/>
                <a:sym typeface="Nunito Semi-Bold"/>
              </a:rPr>
              <a:t> – keeps explanation coherent under scale and hierarchy (Beijing).</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C3</a:t>
            </a:r>
            <a:r>
              <a:rPr lang="en-US" sz="2000" b="true">
                <a:solidFill>
                  <a:srgbClr val="111111"/>
                </a:solidFill>
                <a:latin typeface="Nunito Semi-Bold"/>
                <a:ea typeface="Nunito Semi-Bold"/>
                <a:cs typeface="Nunito Semi-Bold"/>
                <a:sym typeface="Nunito Semi-Bold"/>
              </a:rPr>
              <a:t> – DyHuCoG turns attribution into an </a:t>
            </a:r>
            <a:r>
              <a:rPr lang="en-US" sz="2000" b="true">
                <a:solidFill>
                  <a:srgbClr val="111111"/>
                </a:solidFill>
                <a:latin typeface="Nunito Bold"/>
                <a:ea typeface="Nunito Bold"/>
                <a:cs typeface="Nunito Bold"/>
                <a:sym typeface="Nunito Bold"/>
              </a:rPr>
              <a:t>in-training signal</a:t>
            </a:r>
            <a:r>
              <a:rPr lang="en-US" sz="2000" b="true">
                <a:solidFill>
                  <a:srgbClr val="111111"/>
                </a:solidFill>
                <a:latin typeface="Nunito Semi-Bold"/>
                <a:ea typeface="Nunito Semi-Bold"/>
                <a:cs typeface="Nunito Semi-Bold"/>
                <a:sym typeface="Nunito Semi-Bold"/>
              </a:rPr>
              <a:t>.</a:t>
            </a:r>
          </a:p>
          <a:p>
            <a:pPr algn="l">
              <a:lnSpc>
                <a:spcPts val="3080"/>
              </a:lnSpc>
              <a:spcBef>
                <a:spcPts val="1800"/>
              </a:spcBef>
              <a:buNone/>
            </a:pPr>
            <a:r>
              <a:rPr lang="en-US" sz="2200" b="true">
                <a:solidFill>
                  <a:srgbClr val="DF8330"/>
                </a:solidFill>
                <a:latin typeface="Nunito Bold"/>
                <a:ea typeface="Nunito Bold"/>
                <a:cs typeface="Nunito Bold"/>
                <a:sym typeface="Nunito Bold"/>
              </a:rPr>
              <a:t>From post-hoc description to in-training guidance.</a:t>
            </a:r>
          </a:p>
        </p:txBody>
      </p:sp>
      <p:sp>
        <p:nvSpPr>
          <p:cNvPr id="13" name="Rounded Rectangle 12"/>
          <p:cNvSpPr/>
          <p:nvPr/>
        </p:nvSpPr>
        <p:spPr>
          <a:xfrm>
            <a:off x="9914382" y="3409442"/>
            <a:ext cx="6048756" cy="914400"/>
          </a:xfrm>
          <a:prstGeom prst="roundRect">
            <a:avLst>
              <a:gd name="adj" fmla="val 20000"/>
            </a:avLst>
          </a:prstGeom>
          <a:solidFill>
            <a:srgbClr val="124944"/>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Everyday AI recommenders are powerful but opaque</a:t>
            </a:r>
          </a:p>
        </p:txBody>
      </p:sp>
      <p:sp>
        <p:nvSpPr>
          <p:cNvPr id="14" name="Rounded Rectangle 13"/>
          <p:cNvSpPr/>
          <p:nvPr/>
        </p:nvSpPr>
        <p:spPr>
          <a:xfrm>
            <a:off x="9309506" y="4872482"/>
            <a:ext cx="7258507" cy="1097280"/>
          </a:xfrm>
          <a:prstGeom prst="roundRect">
            <a:avLst>
              <a:gd name="adj" fmla="val 16666"/>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Our thesis: cooperative game theory (Shapley) as a shared, explainable attribution perspective</a:t>
            </a:r>
          </a:p>
        </p:txBody>
      </p:sp>
      <p:cxnSp>
        <p:nvCxnSpPr>
          <p:cNvPr id="15" name="Connector 14"/>
          <p:cNvCxnSpPr/>
          <p:nvPr/>
        </p:nvCxnSpPr>
        <p:spPr>
          <a:xfrm>
            <a:off x="12938760" y="4351274"/>
            <a:ext cx="0" cy="475488"/>
          </a:xfrm>
          <a:prstGeom prst="line">
            <a:avLst/>
          </a:prstGeom>
          <a:ln w="31750">
            <a:solidFill>
              <a:srgbClr val="124944"/>
            </a:solidFill>
            <a:tailEnd type="triangle" w="med" len="med"/>
          </a:ln>
        </p:spPr>
      </p:cxnSp>
      <p:sp>
        <p:nvSpPr>
          <p:cNvPr id="16" name="Rounded Rectangle 15"/>
          <p:cNvSpPr/>
          <p:nvPr/>
        </p:nvSpPr>
        <p:spPr>
          <a:xfrm>
            <a:off x="8618220" y="6792722"/>
            <a:ext cx="2697480" cy="1554480"/>
          </a:xfrm>
          <a:prstGeom prst="roundRect">
            <a:avLst>
              <a:gd name="adj" fmla="val 11764"/>
            </a:avLst>
          </a:prstGeom>
          <a:solidFill>
            <a:srgbClr val="124944"/>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C1</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Explainable clustering</a:t>
            </a:r>
          </a:p>
        </p:txBody>
      </p:sp>
      <p:cxnSp>
        <p:nvCxnSpPr>
          <p:cNvPr id="17" name="Connector 16"/>
          <p:cNvCxnSpPr/>
          <p:nvPr/>
        </p:nvCxnSpPr>
        <p:spPr>
          <a:xfrm flipH="1">
            <a:off x="9966960" y="6015482"/>
            <a:ext cx="2971800" cy="731520"/>
          </a:xfrm>
          <a:prstGeom prst="line">
            <a:avLst/>
          </a:prstGeom>
          <a:ln w="25400">
            <a:solidFill>
              <a:srgbClr val="124944"/>
            </a:solidFill>
            <a:tailEnd type="triangle" w="med" len="med"/>
          </a:ln>
        </p:spPr>
      </p:cxnSp>
      <p:sp>
        <p:nvSpPr>
          <p:cNvPr id="18" name="Rounded Rectangle 17"/>
          <p:cNvSpPr/>
          <p:nvPr/>
        </p:nvSpPr>
        <p:spPr>
          <a:xfrm>
            <a:off x="11590020" y="6792722"/>
            <a:ext cx="2697480" cy="1554480"/>
          </a:xfrm>
          <a:prstGeom prst="roundRect">
            <a:avLst>
              <a:gd name="adj" fmla="val 11764"/>
            </a:avLst>
          </a:prstGeom>
          <a:solidFill>
            <a:srgbClr val="1E5F58"/>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C2</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Multi-level XAI</a:t>
            </a:r>
          </a:p>
        </p:txBody>
      </p:sp>
      <p:cxnSp>
        <p:nvCxnSpPr>
          <p:cNvPr id="19" name="Connector 18"/>
          <p:cNvCxnSpPr/>
          <p:nvPr/>
        </p:nvCxnSpPr>
        <p:spPr>
          <a:xfrm>
            <a:off x="12938760" y="6015482"/>
            <a:ext cx="0" cy="731520"/>
          </a:xfrm>
          <a:prstGeom prst="line">
            <a:avLst/>
          </a:prstGeom>
          <a:ln w="25400">
            <a:solidFill>
              <a:srgbClr val="124944"/>
            </a:solidFill>
            <a:tailEnd type="triangle" w="med" len="med"/>
          </a:ln>
        </p:spPr>
      </p:cxnSp>
      <p:sp>
        <p:nvSpPr>
          <p:cNvPr id="20" name="Rounded Rectangle 19"/>
          <p:cNvSpPr/>
          <p:nvPr/>
        </p:nvSpPr>
        <p:spPr>
          <a:xfrm>
            <a:off x="14561820" y="6792722"/>
            <a:ext cx="2697480" cy="1554480"/>
          </a:xfrm>
          <a:prstGeom prst="roundRect">
            <a:avLst>
              <a:gd name="adj" fmla="val 11764"/>
            </a:avLst>
          </a:prstGeom>
          <a:solidFill>
            <a:srgbClr val="DF8330"/>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C3</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DyHuCoG recommender</a:t>
            </a:r>
          </a:p>
        </p:txBody>
      </p:sp>
      <p:cxnSp>
        <p:nvCxnSpPr>
          <p:cNvPr id="21" name="Connector 20"/>
          <p:cNvCxnSpPr/>
          <p:nvPr/>
        </p:nvCxnSpPr>
        <p:spPr>
          <a:xfrm>
            <a:off x="12938760" y="6015482"/>
            <a:ext cx="2971800" cy="731520"/>
          </a:xfrm>
          <a:prstGeom prst="line">
            <a:avLst/>
          </a:prstGeom>
          <a:ln w="25400">
            <a:solidFill>
              <a:srgbClr val="124944"/>
            </a:solidFill>
            <a:tailEnd type="triangle" w="med" len="med"/>
          </a:ln>
        </p:spPr>
      </p:cxnSp>
      <p:sp>
        <p:nvSpPr>
          <p:cNvPr id="22" name="Rounded Rectangle 21"/>
          <p:cNvSpPr/>
          <p:nvPr/>
        </p:nvSpPr>
        <p:spPr>
          <a:xfrm>
            <a:off x="8618220" y="8667242"/>
            <a:ext cx="8641080" cy="641350"/>
          </a:xfrm>
          <a:prstGeom prst="roundRect">
            <a:avLst>
              <a:gd name="adj" fmla="val 35643"/>
            </a:avLst>
          </a:prstGeom>
          <a:solidFill>
            <a:srgbClr val="F6ECDF"/>
          </a:solidFill>
          <a:ln>
            <a:noFill/>
          </a:ln>
        </p:spPr>
        <p:txBody>
          <a:bodyPr anchor="ctr" rtlCol="false" lIns="274320" tIns="91440" rIns="274320" bIns="9144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Same axioms · same vocabulary · same value function logic — </a:t>
            </a:r>
            <a:r>
              <a:rPr lang="en-US" sz="1700" b="true">
                <a:solidFill>
                  <a:srgbClr val="111111"/>
                </a:solidFill>
                <a:latin typeface="Nunito Bold"/>
                <a:ea typeface="Nunito Bold"/>
                <a:cs typeface="Nunito Bold"/>
                <a:sym typeface="Nunito Bold"/>
              </a:rPr>
              <a:t>explanation as method, not commentary.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6" name="TextBox 5"/>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7" name="Oval 6"/>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8" name="TextBox 7"/>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9" name="TextBox 8"/>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One shared protocol so that the three contributions can be read together</a:t>
            </a:r>
          </a:p>
        </p:txBody>
      </p:sp>
      <p:sp>
        <p:nvSpPr>
          <p:cNvPr id="10" name="Rectangle 9"/>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1" name="TextBox 10"/>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2" name="Connector 11"/>
          <p:cNvCxnSpPr/>
          <p:nvPr/>
        </p:nvCxnSpPr>
        <p:spPr>
          <a:xfrm>
            <a:off x="1028700" y="6464808"/>
            <a:ext cx="640080" cy="0"/>
          </a:xfrm>
          <a:prstGeom prst="line">
            <a:avLst/>
          </a:prstGeom>
          <a:ln w="31750">
            <a:solidFill>
              <a:srgbClr val="ECC665"/>
            </a:solidFill>
          </a:ln>
        </p:spPr>
      </p:cxnSp>
      <p:sp>
        <p:nvSpPr>
          <p:cNvPr id="13" name="TextBox 12"/>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4" name="TextBox 13"/>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5" name="Connector 14"/>
          <p:cNvCxnSpPr/>
          <p:nvPr/>
        </p:nvCxnSpPr>
        <p:spPr>
          <a:xfrm>
            <a:off x="6576060" y="6464808"/>
            <a:ext cx="640080" cy="0"/>
          </a:xfrm>
          <a:prstGeom prst="line">
            <a:avLst/>
          </a:prstGeom>
          <a:ln w="31750">
            <a:solidFill>
              <a:srgbClr val="ECC665"/>
            </a:solidFill>
          </a:ln>
        </p:spPr>
      </p:cxnSp>
      <p:sp>
        <p:nvSpPr>
          <p:cNvPr id="16" name="TextBox 15"/>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7" name="TextBox 16"/>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8" name="Connector 17"/>
          <p:cNvCxnSpPr/>
          <p:nvPr/>
        </p:nvCxnSpPr>
        <p:spPr>
          <a:xfrm>
            <a:off x="12123420" y="6464808"/>
            <a:ext cx="640080" cy="0"/>
          </a:xfrm>
          <a:prstGeom prst="line">
            <a:avLst/>
          </a:prstGeom>
          <a:ln w="31750">
            <a:solidFill>
              <a:srgbClr val="ECC665"/>
            </a:solidFill>
          </a:ln>
        </p:spPr>
      </p:cxnSp>
      <p:sp>
        <p:nvSpPr>
          <p:cNvPr id="19" name="TextBox 18"/>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temporal user-level splits, early stopping, ordinary academic hardware (i9-14900K + RTX 4090).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Datasets Used Throughout the Thesis</a:t>
            </a:r>
          </a:p>
        </p:txBody>
      </p:sp>
      <p:pic>
        <p:nvPicPr>
          <p:cNvPr id="8" name="Picture 7" descr="image.png"/>
          <p:cNvPicPr>
            <a:picLocks noChangeAspect="1"/>
          </p:cNvPicPr>
          <p:nvPr/>
        </p:nvPicPr>
        <p:blipFill>
          <a:blip r:embed="rId2"/>
          <a:stretch>
            <a:fillRect/>
          </a:stretch>
        </p:blipFill>
        <p:spPr>
          <a:xfrm>
            <a:off x="10935196" y="1673352"/>
            <a:ext cx="457200" cy="452148"/>
          </a:xfrm>
          <a:prstGeom prst="rect">
            <a:avLst/>
          </a:prstGeom>
        </p:spPr>
      </p:pic>
      <p:sp>
        <p:nvSpPr>
          <p:cNvPr id="9" name="Rounded Rectangle 8"/>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10" name="Rounded Rectangle 9"/>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11" name="Rounded Rectangle 10"/>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12" name="Table 11"/>
          <p:cNvGraphicFramePr>
            <a:graphicFrameLocks noGrp="1"/>
          </p:cNvGraphicFramePr>
          <p:nvPr/>
        </p:nvGraphicFramePr>
        <p:xfrm>
          <a:off x="1028700" y="3363722"/>
          <a:ext cx="16230597" cy="4532122"/>
        </p:xfrm>
        <a:graphic>
          <a:graphicData uri="http://schemas.openxmlformats.org/drawingml/2006/table">
            <a:tbl>
              <a:tblPr firstRow="0" bandRow="0" firstCol="0" lastRow="0" lastCol="0" bandCol="0">
                <a:tableStyleId>{2D5ABB26-0587-4C30-8999-92F81FD0307C}</a:tableStyleId>
              </a:tblPr>
              <a:tblGrid>
                <a:gridCol w="2870718"/>
                <a:gridCol w="2649893"/>
                <a:gridCol w="2539481"/>
                <a:gridCol w="2429069"/>
                <a:gridCol w="5741436"/>
              </a:tblGrid>
              <a:tr h="86868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Dataset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Scale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Type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Role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Why it was chosen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105740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Wine Quality (vinho verde)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numeric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C1 – single-level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interpretable physicochemical features; small, dense, chemically correlated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attribution in a trusted semantic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Beijing Multi-Site Air Quality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pollutant + meteorology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C2 – multi-level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Hourly records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tests scale, noise and temporal / meteorological 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MovieLens-1M</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 u / 3,706 i / 1.0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0.0447)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Benchmark-standard recommendation with established 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Amazon-Book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 u / 91,599 i / 3.0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0.0006)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Deliberately sparse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stress-tests Shapley weighting when the signal is weak.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3" name="Rounded Rectangle 12"/>
          <p:cNvSpPr/>
          <p:nvPr/>
        </p:nvSpPr>
        <p:spPr>
          <a:xfrm>
            <a:off x="1028700" y="8261604"/>
            <a:ext cx="16230600" cy="914400"/>
          </a:xfrm>
          <a:prstGeom prst="roundRect">
            <a:avLst>
              <a:gd name="adj" fmla="val 25000"/>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The </a:t>
            </a:r>
            <a:r>
              <a:rPr lang="en-US" sz="2100" b="true">
                <a:solidFill>
                  <a:srgbClr val="FFFFFF"/>
                </a:solidFill>
                <a:latin typeface="Nunito Bold"/>
                <a:ea typeface="Nunito Bold"/>
                <a:cs typeface="Nunito Bold"/>
                <a:sym typeface="Nunito Bold"/>
              </a:rPr>
              <a:t>0.0447 vs 0.0006</a:t>
            </a:r>
            <a:r>
              <a:rPr lang="en-US" sz="2100" b="true">
                <a:solidFill>
                  <a:srgbClr val="FFFFFF"/>
                </a:solidFill>
                <a:latin typeface="Nunito Semi-Bold"/>
                <a:ea typeface="Nunito Semi-Bold"/>
                <a:cs typeface="Nunito Semi-Bold"/>
                <a:sym typeface="Nunito Semi-Bold"/>
              </a:rPr>
              <a:t> density contrast is intentional: the claim is that </a:t>
            </a:r>
            <a:r>
              <a:rPr lang="en-US" sz="2100" b="true">
                <a:solidFill>
                  <a:srgbClr val="FFFFFF"/>
                </a:solidFill>
                <a:latin typeface="Nunito Bold"/>
                <a:ea typeface="Nunito Bold"/>
                <a:cs typeface="Nunito Bold"/>
                <a:sym typeface="Nunito Bold"/>
              </a:rPr>
              <a:t>gains are largest where data are weakest</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8" name="Picture 7" descr="image.png"/>
          <p:cNvPicPr>
            <a:picLocks noChangeAspect="1"/>
          </p:cNvPicPr>
          <p:nvPr/>
        </p:nvPicPr>
        <p:blipFill>
          <a:blip r:embed="rId2"/>
          <a:stretch>
            <a:fillRect/>
          </a:stretch>
        </p:blipFill>
        <p:spPr>
          <a:xfrm>
            <a:off x="9239964" y="1673352"/>
            <a:ext cx="457200" cy="415247"/>
          </a:xfrm>
          <a:prstGeom prst="rect">
            <a:avLst/>
          </a:prstGeom>
        </p:spPr>
      </p:pic>
      <p:sp>
        <p:nvSpPr>
          <p:cNvPr id="9" name="Rounded Rectangle 8"/>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10" name="Rounded Rectangle 9"/>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11" name="Rounded Rectangle 10"/>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12" name="Rounded Rectangle 11"/>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3" name="Rounded Rectangle 12"/>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Clustering (C1, C2)</a:t>
            </a:r>
          </a:p>
        </p:txBody>
      </p:sp>
      <p:sp>
        <p:nvSpPr>
          <p:cNvPr id="14" name="TextBox 13"/>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diagnostic.</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15" name="Rounded Rectangle 14"/>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16" name="Rounded Rectangle 15"/>
          <p:cNvSpPr/>
          <p:nvPr/>
        </p:nvSpPr>
        <p:spPr>
          <a:xfrm>
            <a:off x="9784080" y="3354578"/>
            <a:ext cx="364295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17" name="TextBox 16"/>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User-level temporal split</a:t>
            </a:r>
            <a:r>
              <a:rPr lang="en-US" sz="2000" b="true">
                <a:solidFill>
                  <a:srgbClr val="111111"/>
                </a:solidFill>
                <a:latin typeface="Nunito Semi-Bold"/>
                <a:ea typeface="Nunito Semi-Bold"/>
                <a:cs typeface="Nunito Semi-Bold"/>
                <a:sym typeface="Nunito Semi-Bold"/>
              </a:rPr>
              <a:t> — 70 % train / 10 % validation / 20 % test.</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contrasts.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 &amp; Evaluation Metrics</a:t>
            </a:r>
          </a:p>
        </p:txBody>
      </p:sp>
      <p:pic>
        <p:nvPicPr>
          <p:cNvPr id="8" name="Picture 7" descr="image.png"/>
          <p:cNvPicPr>
            <a:picLocks noChangeAspect="1"/>
          </p:cNvPicPr>
          <p:nvPr/>
        </p:nvPicPr>
        <p:blipFill>
          <a:blip r:embed="rId2"/>
          <a:stretch>
            <a:fillRect/>
          </a:stretch>
        </p:blipFill>
        <p:spPr>
          <a:xfrm>
            <a:off x="9253804" y="1673352"/>
            <a:ext cx="457200" cy="250983"/>
          </a:xfrm>
          <a:prstGeom prst="rect">
            <a:avLst/>
          </a:prstGeom>
        </p:spPr>
      </p:pic>
      <p:sp>
        <p:nvSpPr>
          <p:cNvPr id="9" name="Rounded Rectangle 8"/>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10" name="Rounded Rectangle 9"/>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11" name="Rounded Rectangle 10"/>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12" name="TextBox 11"/>
          <p:cNvSpPr txBox="1"/>
          <p:nvPr/>
        </p:nvSpPr>
        <p:spPr>
          <a:xfrm>
            <a:off x="1028700" y="3363722"/>
            <a:ext cx="6766560" cy="5944870"/>
          </a:xfrm>
          <a:prstGeom prst="rect">
            <a:avLst/>
          </a:prstGeom>
          <a:noFill/>
        </p:spPr>
        <p:txBody>
          <a:bodyPr anchor="t" rtlCol="false" lIns="0" tIns="0" rIns="0" bIns="0" wrap="square"/>
          <a:lstStyle/>
          <a:p>
            <a:pPr algn="l">
              <a:lnSpc>
                <a:spcPts val="2820"/>
              </a:lnSpc>
              <a:spcBef>
                <a:spcPts val="0"/>
              </a:spcBef>
              <a:buNone/>
            </a:pPr>
            <a:r>
              <a:rPr lang="en-US" sz="2256" b="true">
                <a:solidFill>
                  <a:srgbClr val="124944"/>
                </a:solidFill>
                <a:latin typeface="Nunito Ultra-Bold"/>
                <a:ea typeface="Nunito Ultra-Bold"/>
                <a:cs typeface="Nunito Ultra-Bold"/>
                <a:sym typeface="Nunito Ultra-Bold"/>
              </a:rPr>
              <a:t>Baselines</a:t>
            </a:r>
          </a:p>
          <a:p>
            <a:pPr algn="l" marL="274320" indent="-274320">
              <a:lnSpc>
                <a:spcPts val="2632"/>
              </a:lnSpc>
              <a:spcBef>
                <a:spcPts val="0"/>
              </a:spcBef>
              <a:buClr>
                <a:srgbClr val="DF8330"/>
              </a:buClr>
              <a:buSzPct val="100000"/>
              <a:buFont typeface="Arial"/>
              <a:buChar char="•"/>
            </a:pPr>
            <a:r>
              <a:rPr lang="en-US" sz="1880" b="true">
                <a:solidFill>
                  <a:srgbClr val="111111"/>
                </a:solidFill>
                <a:latin typeface="Nunito Bold"/>
                <a:ea typeface="Nunito Bold"/>
                <a:cs typeface="Nunito Bold"/>
                <a:sym typeface="Nunito Bold"/>
              </a:rPr>
              <a:t>Clustering benchmark:</a:t>
            </a:r>
            <a:r>
              <a:rPr lang="en-US" sz="1880" b="true">
                <a:solidFill>
                  <a:srgbClr val="111111"/>
                </a:solidFill>
                <a:latin typeface="Nunito Semi-Bold"/>
                <a:ea typeface="Nunito Semi-Bold"/>
                <a:cs typeface="Nunito Semi-Bold"/>
                <a:sym typeface="Nunito Semi-Bold"/>
              </a:rPr>
              <a:t> LIME-based surrogate explanation pipeline.</a:t>
            </a:r>
          </a:p>
          <a:p>
            <a:pPr algn="l" marL="274320" indent="-274320">
              <a:lnSpc>
                <a:spcPts val="2632"/>
              </a:lnSpc>
              <a:spcBef>
                <a:spcPts val="752"/>
              </a:spcBef>
              <a:buClr>
                <a:srgbClr val="DF8330"/>
              </a:buClr>
              <a:buSzPct val="100000"/>
              <a:buFont typeface="Arial"/>
              <a:buChar char="•"/>
            </a:pPr>
            <a:r>
              <a:rPr lang="en-US" sz="1880" b="true">
                <a:solidFill>
                  <a:srgbClr val="111111"/>
                </a:solidFill>
                <a:latin typeface="Nunito Bold"/>
                <a:ea typeface="Nunito Bold"/>
                <a:cs typeface="Nunito Bold"/>
                <a:sym typeface="Nunito Bold"/>
              </a:rPr>
              <a:t>Recommendation:</a:t>
            </a:r>
            <a:r>
              <a:rPr lang="en-US" sz="1880" b="true">
                <a:solidFill>
                  <a:srgbClr val="111111"/>
                </a:solidFill>
                <a:latin typeface="Nunito Semi-Bold"/>
                <a:ea typeface="Nunito Semi-Bold"/>
                <a:cs typeface="Nunito Semi-Bold"/>
                <a:sym typeface="Nunito Semi-Bold"/>
              </a:rPr>
              <a:t> MF, NCF, LightGCN, RecDCL, HCCF, </a:t>
            </a:r>
            <a:r>
              <a:rPr lang="en-US" sz="1880" b="true">
                <a:solidFill>
                  <a:srgbClr val="111111"/>
                </a:solidFill>
                <a:latin typeface="Nunito Bold"/>
                <a:ea typeface="Nunito Bold"/>
                <a:cs typeface="Nunito Bold"/>
                <a:sym typeface="Nunito Bold"/>
              </a:rPr>
              <a:t>HPCF (strongest reference)</a:t>
            </a:r>
            <a:r>
              <a:rPr lang="en-US" sz="1880" b="true">
                <a:solidFill>
                  <a:srgbClr val="111111"/>
                </a:solidFill>
                <a:latin typeface="Nunito Semi-Bold"/>
                <a:ea typeface="Nunito Semi-Bold"/>
                <a:cs typeface="Nunito Semi-Bold"/>
                <a:sym typeface="Nunito Semi-Bold"/>
              </a:rPr>
              <a:t> — classical, neural, graph and hypergraph families, to isolate the effect of cooperative attribution rather than a favourable model choice.</a:t>
            </a:r>
          </a:p>
          <a:p>
            <a:pPr algn="l">
              <a:lnSpc>
                <a:spcPts val="2820"/>
              </a:lnSpc>
              <a:spcBef>
                <a:spcPts val="1504"/>
              </a:spcBef>
              <a:buNone/>
            </a:pPr>
            <a:r>
              <a:rPr lang="en-US" sz="2256" b="true">
                <a:solidFill>
                  <a:srgbClr val="124944"/>
                </a:solidFill>
                <a:latin typeface="Nunito Ultra-Bold"/>
                <a:ea typeface="Nunito Ultra-Bold"/>
                <a:cs typeface="Nunito Ultra-Bold"/>
                <a:sym typeface="Nunito Ultra-Bold"/>
              </a:rPr>
              <a:t>Metrics</a:t>
            </a:r>
          </a:p>
          <a:p>
            <a:pPr algn="l" marL="274320" indent="-274320">
              <a:lnSpc>
                <a:spcPts val="2632"/>
              </a:lnSpc>
              <a:spcBef>
                <a:spcPts val="0"/>
              </a:spcBef>
              <a:buClr>
                <a:srgbClr val="DF8330"/>
              </a:buClr>
              <a:buSzPct val="100000"/>
              <a:buFont typeface="Arial"/>
              <a:buChar char="•"/>
            </a:pPr>
            <a:r>
              <a:rPr lang="en-US" sz="1880" b="true">
                <a:solidFill>
                  <a:srgbClr val="111111"/>
                </a:solidFill>
                <a:latin typeface="Nunito Bold"/>
                <a:ea typeface="Nunito Bold"/>
                <a:cs typeface="Nunito Bold"/>
                <a:sym typeface="Nunito Bold"/>
              </a:rPr>
              <a:t>Ranking:</a:t>
            </a:r>
            <a:r>
              <a:rPr lang="en-US" sz="1880" b="true">
                <a:solidFill>
                  <a:srgbClr val="111111"/>
                </a:solidFill>
                <a:latin typeface="Nunito Semi-Bold"/>
                <a:ea typeface="Nunito Semi-Bold"/>
                <a:cs typeface="Nunito Semi-Bold"/>
                <a:sym typeface="Nunito Semi-Bold"/>
              </a:rPr>
              <a:t> Precision@K, Recall@K, </a:t>
            </a:r>
            <a:r>
              <a:rPr lang="en-US" sz="1880" b="true">
                <a:solidFill>
                  <a:srgbClr val="111111"/>
                </a:solidFill>
                <a:latin typeface="Nunito Bold"/>
                <a:ea typeface="Nunito Bold"/>
                <a:cs typeface="Nunito Bold"/>
                <a:sym typeface="Nunito Bold"/>
              </a:rPr>
              <a:t>NDCG@20 (principal)</a:t>
            </a:r>
            <a:r>
              <a:rPr lang="en-US" sz="1880" b="true">
                <a:solidFill>
                  <a:srgbClr val="111111"/>
                </a:solidFill>
                <a:latin typeface="Nunito Semi-Bold"/>
                <a:ea typeface="Nunito Semi-Bold"/>
                <a:cs typeface="Nunito Semi-Bold"/>
                <a:sym typeface="Nunito Semi-Bold"/>
              </a:rPr>
              <a:t>, K </a:t>
            </a:r>
            <a:r>
              <a:rPr lang="en-US" sz="1880" b="true">
                <a:solidFill>
                  <a:srgbClr val="111111"/>
                </a:solidFill>
                <a:latin typeface="Cambria Math"/>
                <a:ea typeface="Cambria Math"/>
                <a:cs typeface="Cambria Math"/>
                <a:sym typeface="Cambria Math"/>
              </a:rPr>
              <a:t>∈ </a:t>
            </a:r>
            <a:r>
              <a:rPr lang="en-US" sz="1880" b="true">
                <a:solidFill>
                  <a:srgbClr val="111111"/>
                </a:solidFill>
                <a:latin typeface="Nunito Semi-Bold"/>
                <a:ea typeface="Nunito Semi-Bold"/>
                <a:cs typeface="Nunito Semi-Bold"/>
                <a:sym typeface="Nunito Semi-Bold"/>
              </a:rPr>
              <a:t>{5, 10, 20}.</a:t>
            </a:r>
          </a:p>
          <a:p>
            <a:pPr algn="l" marL="274320" indent="-274320">
              <a:lnSpc>
                <a:spcPts val="2782"/>
              </a:lnSpc>
              <a:spcBef>
                <a:spcPts val="752"/>
              </a:spcBef>
              <a:buClr>
                <a:srgbClr val="DF8330"/>
              </a:buClr>
              <a:buSzPct val="100000"/>
              <a:buFont typeface="Arial"/>
              <a:buChar char="•"/>
            </a:pPr>
            <a:r>
              <a:rPr lang="en-US" sz="1880" b="true">
                <a:solidFill>
                  <a:srgbClr val="111111"/>
                </a:solidFill>
                <a:latin typeface="Nunito Bold"/>
                <a:ea typeface="Nunito Bold"/>
                <a:cs typeface="Nunito Bold"/>
                <a:sym typeface="Nunito Bold"/>
              </a:rPr>
              <a:t>System diversity:</a:t>
            </a:r>
            <a:r>
              <a:rPr lang="en-US" sz="1880" b="true">
                <a:solidFill>
                  <a:srgbClr val="111111"/>
                </a:solidFill>
                <a:latin typeface="Nunito Semi-Bold"/>
                <a:ea typeface="Nunito Semi-Bold"/>
                <a:cs typeface="Nunito Semi-Bold"/>
                <a:sym typeface="Nunito Semi-Bold"/>
              </a:rPr>
              <a:t> Catalogue Coverage = |</a:t>
            </a:r>
            <a:r>
              <a:rPr lang="en-US" sz="1880" b="true">
                <a:solidFill>
                  <a:srgbClr val="111111"/>
                </a:solidFill>
                <a:latin typeface="Cambria Math"/>
                <a:ea typeface="Cambria Math"/>
                <a:cs typeface="Cambria Math"/>
                <a:sym typeface="Cambria Math"/>
              </a:rPr>
              <a:t>⋃</a:t>
            </a:r>
            <a:r>
              <a:rPr lang="en-US" sz="1880" b="true" baseline="-25000">
                <a:solidFill>
                  <a:srgbClr val="111111"/>
                </a:solidFill>
                <a:latin typeface="Nunito Semi-Bold"/>
                <a:ea typeface="Nunito Semi-Bold"/>
                <a:cs typeface="Nunito Semi-Bold"/>
                <a:sym typeface="Nunito Semi-Bold"/>
              </a:rPr>
              <a:t>u</a:t>
            </a:r>
            <a:r>
              <a:rPr lang="en-US" sz="1880" b="true">
                <a:solidFill>
                  <a:srgbClr val="111111"/>
                </a:solidFill>
                <a:latin typeface="Nunito Semi-Bold"/>
                <a:ea typeface="Nunito Semi-Bold"/>
                <a:cs typeface="Nunito Semi-Bold"/>
                <a:sym typeface="Nunito Semi-Bold"/>
              </a:rPr>
              <a:t> R</a:t>
            </a:r>
            <a:r>
              <a:rPr lang="en-US" sz="1880" b="true" baseline="-25000">
                <a:solidFill>
                  <a:srgbClr val="111111"/>
                </a:solidFill>
                <a:latin typeface="Nunito Semi-Bold"/>
                <a:ea typeface="Nunito Semi-Bold"/>
                <a:cs typeface="Nunito Semi-Bold"/>
                <a:sym typeface="Nunito Semi-Bold"/>
              </a:rPr>
              <a:t>u</a:t>
            </a:r>
            <a:r>
              <a:rPr lang="en-US" sz="1880" b="true">
                <a:solidFill>
                  <a:srgbClr val="111111"/>
                </a:solidFill>
                <a:latin typeface="Nunito Semi-Bold"/>
                <a:ea typeface="Nunito Semi-Bold"/>
                <a:cs typeface="Nunito Semi-Bold"/>
                <a:sym typeface="Nunito Semi-Bold"/>
              </a:rPr>
              <a:t>| / |I|.</a:t>
            </a:r>
          </a:p>
          <a:p>
            <a:pPr algn="l" marL="274320" indent="-274320">
              <a:lnSpc>
                <a:spcPts val="2632"/>
              </a:lnSpc>
              <a:spcBef>
                <a:spcPts val="752"/>
              </a:spcBef>
              <a:buClr>
                <a:srgbClr val="DF8330"/>
              </a:buClr>
              <a:buSzPct val="100000"/>
              <a:buFont typeface="Arial"/>
              <a:buChar char="•"/>
            </a:pPr>
            <a:r>
              <a:rPr lang="en-US" sz="1880" b="true">
                <a:solidFill>
                  <a:srgbClr val="111111"/>
                </a:solidFill>
                <a:latin typeface="Nunito Bold"/>
                <a:ea typeface="Nunito Bold"/>
                <a:cs typeface="Nunito Bold"/>
                <a:sym typeface="Nunito Bold"/>
              </a:rPr>
              <a:t>List diversity:</a:t>
            </a:r>
            <a:r>
              <a:rPr lang="en-US" sz="1880" b="true">
                <a:solidFill>
                  <a:srgbClr val="111111"/>
                </a:solidFill>
                <a:latin typeface="Nunito Semi-Bold"/>
                <a:ea typeface="Nunito Semi-Bold"/>
                <a:cs typeface="Nunito Semi-Bold"/>
                <a:sym typeface="Nunito Semi-Bold"/>
              </a:rPr>
              <a:t> Intra-List Diversity (ILD) — deliberately </a:t>
            </a:r>
            <a:r>
              <a:rPr lang="en-US" sz="1880" b="true">
                <a:solidFill>
                  <a:srgbClr val="111111"/>
                </a:solidFill>
                <a:latin typeface="Nunito Bold"/>
                <a:ea typeface="Nunito Bold"/>
                <a:cs typeface="Nunito Bold"/>
                <a:sym typeface="Nunito Bold"/>
              </a:rPr>
              <a:t>built into the coalition utility</a:t>
            </a:r>
            <a:r>
              <a:rPr lang="en-US" sz="1880" b="true">
                <a:solidFill>
                  <a:srgbClr val="111111"/>
                </a:solidFill>
                <a:latin typeface="Nunito Semi-Bold"/>
                <a:ea typeface="Nunito Semi-Bold"/>
                <a:cs typeface="Nunito Semi-Bold"/>
                <a:sym typeface="Nunito Semi-Bold"/>
              </a:rPr>
              <a:t>.</a:t>
            </a:r>
          </a:p>
          <a:p>
            <a:pPr algn="l" marL="274320" indent="-274320">
              <a:lnSpc>
                <a:spcPts val="2632"/>
              </a:lnSpc>
              <a:spcBef>
                <a:spcPts val="752"/>
              </a:spcBef>
              <a:buClr>
                <a:srgbClr val="DF8330"/>
              </a:buClr>
              <a:buSzPct val="100000"/>
              <a:buFont typeface="Arial"/>
              <a:buChar char="•"/>
            </a:pPr>
            <a:r>
              <a:rPr lang="en-US" sz="1880" b="true">
                <a:solidFill>
                  <a:srgbClr val="111111"/>
                </a:solidFill>
                <a:latin typeface="Nunito Bold"/>
                <a:ea typeface="Nunito Bold"/>
                <a:cs typeface="Nunito Bold"/>
                <a:sym typeface="Nunito Bold"/>
              </a:rPr>
              <a:t>Clustering quality:</a:t>
            </a:r>
            <a:r>
              <a:rPr lang="en-US" sz="1880" b="true">
                <a:solidFill>
                  <a:srgbClr val="111111"/>
                </a:solidFill>
                <a:latin typeface="Nunito Semi-Bold"/>
                <a:ea typeface="Nunito Semi-Bold"/>
                <a:cs typeface="Nunito Semi-Bold"/>
                <a:sym typeface="Nunito Semi-Bold"/>
              </a:rPr>
              <a:t> Silhouette, Davies–Bouldin.</a:t>
            </a:r>
          </a:p>
        </p:txBody>
      </p:sp>
      <p:sp>
        <p:nvSpPr>
          <p:cNvPr id="13" name="TextBox 12"/>
          <p:cNvSpPr txBox="1"/>
          <p:nvPr/>
        </p:nvSpPr>
        <p:spPr>
          <a:xfrm>
            <a:off x="8343900" y="3363722"/>
            <a:ext cx="891540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EVALUATION METRICS</a:t>
            </a:r>
          </a:p>
        </p:txBody>
      </p:sp>
      <p:sp>
        <p:nvSpPr>
          <p:cNvPr id="14" name="Rounded Rectangle 13"/>
          <p:cNvSpPr/>
          <p:nvPr/>
        </p:nvSpPr>
        <p:spPr>
          <a:xfrm>
            <a:off x="8343900" y="3912362"/>
            <a:ext cx="2788920" cy="5304790"/>
          </a:xfrm>
          <a:prstGeom prst="roundRect">
            <a:avLst>
              <a:gd name="adj" fmla="val 9836"/>
            </a:avLst>
          </a:prstGeom>
          <a:solidFill>
            <a:srgbClr val="124944"/>
          </a:solidFill>
          <a:ln>
            <a:noFill/>
          </a:ln>
        </p:spPr>
        <p:txBody>
          <a:bodyPr anchor="ctr" rtlCol="false" lIns="182880" tIns="182880" rIns="182880" bIns="182880" wrap="square"/>
          <a:lstStyle/>
          <a:p>
            <a:pPr algn="ctr">
              <a:lnSpc>
                <a:spcPts val="2700"/>
              </a:lnSpc>
              <a:spcBef>
                <a:spcPts val="0"/>
              </a:spcBef>
              <a:buNone/>
            </a:pPr>
            <a:r>
              <a:rPr lang="en-US" sz="2200" b="true">
                <a:solidFill>
                  <a:srgbClr val="FFFFFF"/>
                </a:solidFill>
                <a:latin typeface="Nunito Ultra-Bold"/>
                <a:ea typeface="Nunito Ultra-Bold"/>
                <a:cs typeface="Nunito Ultra-Bold"/>
                <a:sym typeface="Nunito Ultra-Bold"/>
              </a:rPr>
              <a:t>Ranking</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NDCG@K</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Recall@K</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Precision@K</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MAP@K / HR@K</a:t>
            </a:r>
          </a:p>
        </p:txBody>
      </p:sp>
      <p:sp>
        <p:nvSpPr>
          <p:cNvPr id="15" name="Rounded Rectangle 14"/>
          <p:cNvSpPr/>
          <p:nvPr/>
        </p:nvSpPr>
        <p:spPr>
          <a:xfrm>
            <a:off x="11407140" y="3912362"/>
            <a:ext cx="2788920" cy="5304790"/>
          </a:xfrm>
          <a:prstGeom prst="roundRect">
            <a:avLst>
              <a:gd name="adj" fmla="val 9836"/>
            </a:avLst>
          </a:prstGeom>
          <a:solidFill>
            <a:srgbClr val="1E5F58"/>
          </a:solidFill>
          <a:ln>
            <a:noFill/>
          </a:ln>
        </p:spPr>
        <p:txBody>
          <a:bodyPr anchor="ctr" rtlCol="false" lIns="182880" tIns="182880" rIns="182880" bIns="182880" wrap="square"/>
          <a:lstStyle/>
          <a:p>
            <a:pPr algn="ctr">
              <a:lnSpc>
                <a:spcPts val="2700"/>
              </a:lnSpc>
              <a:spcBef>
                <a:spcPts val="0"/>
              </a:spcBef>
              <a:buNone/>
            </a:pPr>
            <a:r>
              <a:rPr lang="en-US" sz="2200" b="true">
                <a:solidFill>
                  <a:srgbClr val="FFFFFF"/>
                </a:solidFill>
                <a:latin typeface="Nunito Ultra-Bold"/>
                <a:ea typeface="Nunito Ultra-Bold"/>
                <a:cs typeface="Nunito Ultra-Bold"/>
                <a:sym typeface="Nunito Ultra-Bold"/>
              </a:rPr>
              <a:t>Beyond accuracy</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Coverage</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Intra-List Diversity</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Novelty</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Fairness</a:t>
            </a:r>
          </a:p>
        </p:txBody>
      </p:sp>
      <p:sp>
        <p:nvSpPr>
          <p:cNvPr id="16" name="Rounded Rectangle 15"/>
          <p:cNvSpPr/>
          <p:nvPr/>
        </p:nvSpPr>
        <p:spPr>
          <a:xfrm>
            <a:off x="14470380" y="3912362"/>
            <a:ext cx="2788920" cy="5304790"/>
          </a:xfrm>
          <a:prstGeom prst="roundRect">
            <a:avLst>
              <a:gd name="adj" fmla="val 9836"/>
            </a:avLst>
          </a:prstGeom>
          <a:solidFill>
            <a:srgbClr val="DF8330"/>
          </a:solidFill>
          <a:ln>
            <a:noFill/>
          </a:ln>
        </p:spPr>
        <p:txBody>
          <a:bodyPr anchor="ctr" rtlCol="false" lIns="182880" tIns="182880" rIns="182880" bIns="182880" wrap="square"/>
          <a:lstStyle/>
          <a:p>
            <a:pPr algn="ctr">
              <a:lnSpc>
                <a:spcPts val="2700"/>
              </a:lnSpc>
              <a:spcBef>
                <a:spcPts val="0"/>
              </a:spcBef>
              <a:buNone/>
            </a:pPr>
            <a:r>
              <a:rPr lang="en-US" sz="2200" b="true">
                <a:solidFill>
                  <a:srgbClr val="FFFFFF"/>
                </a:solidFill>
                <a:latin typeface="Nunito Ultra-Bold"/>
                <a:ea typeface="Nunito Ultra-Bold"/>
                <a:cs typeface="Nunito Ultra-Bold"/>
                <a:sym typeface="Nunito Ultra-Bold"/>
              </a:rPr>
              <a:t>Clustering validity</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Silhouette</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Davies–Bouldin</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Calinski–Harabasz</a:t>
            </a:r>
          </a:p>
          <a:p>
            <a:pPr algn="ctr">
              <a:lnSpc>
                <a:spcPts val="2400"/>
              </a:lnSpc>
              <a:spcBef>
                <a:spcPts val="1200"/>
              </a:spcBef>
              <a:buNone/>
            </a:pPr>
            <a:r>
              <a:rPr lang="en-US" sz="1800" b="true">
                <a:solidFill>
                  <a:srgbClr val="F1EDE6"/>
                </a:solidFill>
                <a:latin typeface="Nunito Semi-Bold"/>
                <a:ea typeface="Nunito Semi-Bold"/>
                <a:cs typeface="Nunito Semi-Bold"/>
                <a:sym typeface="Nunito Semi-Bold"/>
              </a:rPr>
              <a:t>• Stability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8" name="Picture 7" descr="image.png"/>
          <p:cNvPicPr>
            <a:picLocks noChangeAspect="1"/>
          </p:cNvPicPr>
          <p:nvPr/>
        </p:nvPicPr>
        <p:blipFill>
          <a:blip r:embed="rId2"/>
          <a:stretch>
            <a:fillRect/>
          </a:stretch>
        </p:blipFill>
        <p:spPr>
          <a:xfrm>
            <a:off x="7035228" y="1673352"/>
            <a:ext cx="457200" cy="415247"/>
          </a:xfrm>
          <a:prstGeom prst="rect">
            <a:avLst/>
          </a:prstGeom>
        </p:spPr>
      </p:pic>
      <p:sp>
        <p:nvSpPr>
          <p:cNvPr id="9" name="Rounded Rectangle 8"/>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10" name="Rounded Rectangle 9"/>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11" name="Rounded Rectangle 10"/>
          <p:cNvSpPr/>
          <p:nvPr/>
        </p:nvSpPr>
        <p:spPr>
          <a:xfrm>
            <a:off x="4158071" y="2559050"/>
            <a:ext cx="164257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sp>
        <p:nvSpPr>
          <p:cNvPr id="12" name="Rounded Rectangle 11"/>
          <p:cNvSpPr/>
          <p:nvPr/>
        </p:nvSpPr>
        <p:spPr>
          <a:xfrm>
            <a:off x="1028700" y="3455162"/>
            <a:ext cx="3851910" cy="3108960"/>
          </a:xfrm>
          <a:prstGeom prst="roundRect">
            <a:avLst>
              <a:gd name="adj" fmla="val 8823"/>
            </a:avLst>
          </a:prstGeom>
          <a:solidFill>
            <a:srgbClr val="124944"/>
          </a:solidFill>
          <a:ln>
            <a:noFill/>
          </a:ln>
        </p:spPr>
        <p:txBody>
          <a:bodyPr anchor="t" rtlCol="false" lIns="365760" tIns="365760" rIns="32004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CPU</a:t>
            </a:r>
          </a:p>
          <a:p>
            <a:pPr algn="l">
              <a:lnSpc>
                <a:spcPts val="2700"/>
              </a:lnSpc>
              <a:spcBef>
                <a:spcPts val="800"/>
              </a:spcBef>
              <a:buNone/>
            </a:pPr>
            <a:r>
              <a:rPr lang="en-US" sz="2200" b="true">
                <a:solidFill>
                  <a:srgbClr val="FFFFFF"/>
                </a:solidFill>
                <a:latin typeface="Nunito Ultra-Bold"/>
                <a:ea typeface="Nunito Ultra-Bold"/>
                <a:cs typeface="Nunito Ultra-Bold"/>
                <a:sym typeface="Nunito Ultra-Bold"/>
              </a:rPr>
              <a:t>Intel Core i9-14900K · 24 cores</a:t>
            </a:r>
          </a:p>
          <a:p>
            <a:pPr algn="l">
              <a:lnSpc>
                <a:spcPts val="2100"/>
              </a:lnSpc>
              <a:spcBef>
                <a:spcPts val="800"/>
              </a:spcBef>
              <a:buNone/>
            </a:pPr>
            <a:r>
              <a:rPr lang="en-US" sz="1700" b="true">
                <a:solidFill>
                  <a:srgbClr val="DCE7E3"/>
                </a:solidFill>
                <a:latin typeface="Nunito Semi-Bold"/>
                <a:ea typeface="Nunito Semi-Bold"/>
                <a:cs typeface="Nunito Semi-Bold"/>
                <a:sym typeface="Nunito Semi-Bold"/>
              </a:rPr>
              <a:t>clustering, preprocessing, data loading</a:t>
            </a:r>
          </a:p>
        </p:txBody>
      </p:sp>
      <p:sp>
        <p:nvSpPr>
          <p:cNvPr id="13" name="Rounded Rectangle 12"/>
          <p:cNvSpPr/>
          <p:nvPr/>
        </p:nvSpPr>
        <p:spPr>
          <a:xfrm>
            <a:off x="5154930" y="3455162"/>
            <a:ext cx="3851910" cy="3108960"/>
          </a:xfrm>
          <a:prstGeom prst="roundRect">
            <a:avLst>
              <a:gd name="adj" fmla="val 8823"/>
            </a:avLst>
          </a:prstGeom>
          <a:solidFill>
            <a:srgbClr val="1E5F58"/>
          </a:solidFill>
          <a:ln>
            <a:noFill/>
          </a:ln>
        </p:spPr>
        <p:txBody>
          <a:bodyPr anchor="t" rtlCol="false" lIns="365760" tIns="365760" rIns="32004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GPU</a:t>
            </a:r>
          </a:p>
          <a:p>
            <a:pPr algn="l">
              <a:lnSpc>
                <a:spcPts val="2700"/>
              </a:lnSpc>
              <a:spcBef>
                <a:spcPts val="800"/>
              </a:spcBef>
              <a:buNone/>
            </a:pPr>
            <a:r>
              <a:rPr lang="en-US" sz="2200" b="true">
                <a:solidFill>
                  <a:srgbClr val="FFFFFF"/>
                </a:solidFill>
                <a:latin typeface="Nunito Ultra-Bold"/>
                <a:ea typeface="Nunito Ultra-Bold"/>
                <a:cs typeface="Nunito Ultra-Bold"/>
                <a:sym typeface="Nunito Ultra-Bold"/>
              </a:rPr>
              <a:t>NVIDIA GeForce RTX 4090 · 24 GB</a:t>
            </a:r>
          </a:p>
          <a:p>
            <a:pPr algn="l">
              <a:lnSpc>
                <a:spcPts val="2100"/>
              </a:lnSpc>
              <a:spcBef>
                <a:spcPts val="800"/>
              </a:spcBef>
              <a:buNone/>
            </a:pPr>
            <a:r>
              <a:rPr lang="en-US" sz="1700" b="true">
                <a:solidFill>
                  <a:srgbClr val="DCE7E3"/>
                </a:solidFill>
                <a:latin typeface="Nunito Semi-Bold"/>
                <a:ea typeface="Nunito Semi-Bold"/>
                <a:cs typeface="Nunito Semi-Bold"/>
                <a:sym typeface="Nunito Semi-Bold"/>
              </a:rPr>
              <a:t>DyHuCoG training &amp; inference</a:t>
            </a:r>
          </a:p>
        </p:txBody>
      </p:sp>
      <p:sp>
        <p:nvSpPr>
          <p:cNvPr id="14" name="Rounded Rectangle 13"/>
          <p:cNvSpPr/>
          <p:nvPr/>
        </p:nvSpPr>
        <p:spPr>
          <a:xfrm>
            <a:off x="9281160" y="3455162"/>
            <a:ext cx="3851910" cy="3108960"/>
          </a:xfrm>
          <a:prstGeom prst="roundRect">
            <a:avLst>
              <a:gd name="adj" fmla="val 8823"/>
            </a:avLst>
          </a:prstGeom>
          <a:solidFill>
            <a:srgbClr val="124944"/>
          </a:solidFill>
          <a:ln>
            <a:noFill/>
          </a:ln>
        </p:spPr>
        <p:txBody>
          <a:bodyPr anchor="t" rtlCol="false" lIns="365760" tIns="365760" rIns="32004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MEMORY</a:t>
            </a:r>
          </a:p>
          <a:p>
            <a:pPr algn="l">
              <a:lnSpc>
                <a:spcPts val="2700"/>
              </a:lnSpc>
              <a:spcBef>
                <a:spcPts val="800"/>
              </a:spcBef>
              <a:buNone/>
            </a:pPr>
            <a:r>
              <a:rPr lang="en-US" sz="2200" b="true">
                <a:solidFill>
                  <a:srgbClr val="FFFFFF"/>
                </a:solidFill>
                <a:latin typeface="Nunito Ultra-Bold"/>
                <a:ea typeface="Nunito Ultra-Bold"/>
                <a:cs typeface="Nunito Ultra-Bold"/>
                <a:sym typeface="Nunito Ultra-Bold"/>
              </a:rPr>
              <a:t>48 GB RAM · 2 TB SSD</a:t>
            </a:r>
          </a:p>
          <a:p>
            <a:pPr algn="l">
              <a:lnSpc>
                <a:spcPts val="2100"/>
              </a:lnSpc>
              <a:spcBef>
                <a:spcPts val="800"/>
              </a:spcBef>
              <a:buNone/>
            </a:pPr>
            <a:r>
              <a:rPr lang="en-US" sz="1700" b="true">
                <a:solidFill>
                  <a:srgbClr val="DCE7E3"/>
                </a:solidFill>
                <a:latin typeface="Nunito Semi-Bold"/>
                <a:ea typeface="Nunito Semi-Bold"/>
                <a:cs typeface="Nunito Semi-Bold"/>
                <a:sym typeface="Nunito Semi-Bold"/>
              </a:rPr>
              <a:t>full Beijing dataset in memory</a:t>
            </a:r>
          </a:p>
        </p:txBody>
      </p:sp>
      <p:sp>
        <p:nvSpPr>
          <p:cNvPr id="15" name="Rounded Rectangle 14"/>
          <p:cNvSpPr/>
          <p:nvPr/>
        </p:nvSpPr>
        <p:spPr>
          <a:xfrm>
            <a:off x="13407390" y="3455162"/>
            <a:ext cx="3851910" cy="3108960"/>
          </a:xfrm>
          <a:prstGeom prst="roundRect">
            <a:avLst>
              <a:gd name="adj" fmla="val 8823"/>
            </a:avLst>
          </a:prstGeom>
          <a:solidFill>
            <a:srgbClr val="1E5F58"/>
          </a:solidFill>
          <a:ln>
            <a:noFill/>
          </a:ln>
        </p:spPr>
        <p:txBody>
          <a:bodyPr anchor="t" rtlCol="false" lIns="365760" tIns="365760" rIns="32004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SOFTWARE</a:t>
            </a:r>
          </a:p>
          <a:p>
            <a:pPr algn="l">
              <a:lnSpc>
                <a:spcPts val="2700"/>
              </a:lnSpc>
              <a:spcBef>
                <a:spcPts val="800"/>
              </a:spcBef>
              <a:buNone/>
            </a:pPr>
            <a:r>
              <a:rPr lang="en-US" sz="2200" b="true">
                <a:solidFill>
                  <a:srgbClr val="FFFFFF"/>
                </a:solidFill>
                <a:latin typeface="Nunito Ultra-Bold"/>
                <a:ea typeface="Nunito Ultra-Bold"/>
                <a:cs typeface="Nunito Ultra-Bold"/>
                <a:sym typeface="Nunito Ultra-Bold"/>
              </a:rPr>
              <a:t>Python 3.8 · PyTorch 2.0.1</a:t>
            </a:r>
          </a:p>
          <a:p>
            <a:pPr algn="l">
              <a:lnSpc>
                <a:spcPts val="2100"/>
              </a:lnSpc>
              <a:spcBef>
                <a:spcPts val="800"/>
              </a:spcBef>
              <a:buNone/>
            </a:pPr>
            <a:r>
              <a:rPr lang="en-US" sz="1700" b="true">
                <a:solidFill>
                  <a:srgbClr val="DCE7E3"/>
                </a:solidFill>
                <a:latin typeface="Nunito Semi-Bold"/>
                <a:ea typeface="Nunito Semi-Bold"/>
                <a:cs typeface="Nunito Semi-Bold"/>
                <a:sym typeface="Nunito Semi-Bold"/>
              </a:rPr>
              <a:t>scikit-learn, LightGBM, SHAP, NumPy / SciPy / pandas</a:t>
            </a:r>
          </a:p>
        </p:txBody>
      </p:sp>
      <p:sp>
        <p:nvSpPr>
          <p:cNvPr id="16" name="Rounded Rectangle 15"/>
          <p:cNvSpPr/>
          <p:nvPr/>
        </p:nvSpPr>
        <p:spPr>
          <a:xfrm>
            <a:off x="1028700" y="7204202"/>
            <a:ext cx="16230600" cy="2104390"/>
          </a:xfrm>
          <a:prstGeom prst="roundRect">
            <a:avLst>
              <a:gd name="adj" fmla="val 14773"/>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1485900" y="6966458"/>
            <a:ext cx="144631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Notes</a:t>
            </a:r>
          </a:p>
        </p:txBody>
      </p:sp>
      <p:sp>
        <p:nvSpPr>
          <p:cNvPr id="18" name="TextBox 17"/>
          <p:cNvSpPr txBox="1"/>
          <p:nvPr/>
        </p:nvSpPr>
        <p:spPr>
          <a:xfrm>
            <a:off x="1531620" y="7844282"/>
            <a:ext cx="15270480" cy="118999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Altair for interactive SHAP visualisation; metrics reported at K </a:t>
            </a:r>
            <a:r>
              <a:rPr lang="en-US" sz="1760" b="true">
                <a:solidFill>
                  <a:srgbClr val="111111"/>
                </a:solidFill>
                <a:latin typeface="Cambria Math"/>
                <a:ea typeface="Cambria Math"/>
                <a:cs typeface="Cambria Math"/>
                <a:sym typeface="Cambria Math"/>
              </a:rPr>
              <a:t>∈ </a:t>
            </a:r>
            <a:r>
              <a:rPr lang="en-US" sz="1760" b="true">
                <a:solidFill>
                  <a:srgbClr val="111111"/>
                </a:solidFill>
                <a:latin typeface="Nunito Semi-Bold"/>
                <a:ea typeface="Nunito Semi-Bold"/>
                <a:cs typeface="Nunito Semi-Bold"/>
                <a:sym typeface="Nunito Semi-Bold"/>
              </a:rPr>
              <a:t>{5, 10, 20}.</a:t>
            </a:r>
          </a:p>
          <a:p>
            <a:pPr algn="l" marL="274320" indent="-274320">
              <a:lnSpc>
                <a:spcPts val="2464"/>
              </a:lnSpc>
              <a:spcBef>
                <a:spcPts val="704"/>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The hardware mainly explains the runtime figures quoted later (e.g. DyHuCoG ≈ 1.78× HPCF training time).</a:t>
            </a:r>
          </a:p>
          <a:p>
            <a:pPr algn="l" marL="274320" indent="-274320">
              <a:lnSpc>
                <a:spcPts val="2464"/>
              </a:lnSpc>
              <a:spcBef>
                <a:spcPts val="704"/>
              </a:spcBef>
              <a:buClr>
                <a:srgbClr val="DF8330"/>
              </a:buClr>
              <a:buSzPct val="100000"/>
              <a:buFont typeface="Arial"/>
              <a:buChar char="•"/>
            </a:pPr>
            <a:r>
              <a:rPr lang="en-US" sz="1760" b="true">
                <a:solidFill>
                  <a:srgbClr val="111111"/>
                </a:solidFill>
                <a:latin typeface="Nunito Bold"/>
                <a:ea typeface="Nunito Bold"/>
                <a:cs typeface="Nunito Bold"/>
                <a:sym typeface="Nunito Bold"/>
              </a:rPr>
              <a:t>Everything stays within ordinary academic compute — nothing requires industrial infrastructure.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6" name="TextBox 5"/>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7" name="Oval 6"/>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8" name="TextBox 7"/>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Explainable black-box clustering with Shapley values  ·  answers RQ1</a:t>
            </a:r>
          </a:p>
        </p:txBody>
      </p:sp>
      <p:sp>
        <p:nvSpPr>
          <p:cNvPr id="10" name="Rectangle 9"/>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1" name="TextBox 10"/>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2" name="Connector 11"/>
          <p:cNvCxnSpPr/>
          <p:nvPr/>
        </p:nvCxnSpPr>
        <p:spPr>
          <a:xfrm>
            <a:off x="1028700" y="6464808"/>
            <a:ext cx="640080" cy="0"/>
          </a:xfrm>
          <a:prstGeom prst="line">
            <a:avLst/>
          </a:prstGeom>
          <a:ln w="31750">
            <a:solidFill>
              <a:srgbClr val="ECC665"/>
            </a:solidFill>
          </a:ln>
        </p:spPr>
      </p:cxnSp>
      <p:sp>
        <p:nvSpPr>
          <p:cNvPr id="13" name="TextBox 12"/>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preserves feature-level attribution in the original semantic space; justify Shapley over LIME.</a:t>
            </a:r>
          </a:p>
        </p:txBody>
      </p:sp>
      <p:sp>
        <p:nvSpPr>
          <p:cNvPr id="14" name="TextBox 13"/>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5" name="Connector 14"/>
          <p:cNvCxnSpPr/>
          <p:nvPr/>
        </p:nvCxnSpPr>
        <p:spPr>
          <a:xfrm>
            <a:off x="6576060" y="6464808"/>
            <a:ext cx="640080" cy="0"/>
          </a:xfrm>
          <a:prstGeom prst="line">
            <a:avLst/>
          </a:prstGeom>
          <a:ln w="31750">
            <a:solidFill>
              <a:srgbClr val="ECC665"/>
            </a:solidFill>
          </a:ln>
        </p:spPr>
      </p:cxnSp>
      <p:sp>
        <p:nvSpPr>
          <p:cNvPr id="16" name="TextBox 15"/>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7" name="TextBox 16"/>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8" name="Connector 17"/>
          <p:cNvCxnSpPr/>
          <p:nvPr/>
        </p:nvCxnSpPr>
        <p:spPr>
          <a:xfrm>
            <a:off x="12123420" y="6464808"/>
            <a:ext cx="640080" cy="0"/>
          </a:xfrm>
          <a:prstGeom prst="line">
            <a:avLst/>
          </a:prstGeom>
          <a:ln w="31750">
            <a:solidFill>
              <a:srgbClr val="ECC665"/>
            </a:solidFill>
          </a:ln>
        </p:spPr>
      </p:cxnSp>
      <p:sp>
        <p:nvSpPr>
          <p:cNvPr id="19" name="TextBox 18"/>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on interpretability grounds;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hierarchy.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Gap and Objectives</a:t>
            </a:r>
          </a:p>
        </p:txBody>
      </p:sp>
      <p:pic>
        <p:nvPicPr>
          <p:cNvPr id="8" name="Picture 7" descr="image.png"/>
          <p:cNvPicPr>
            <a:picLocks noChangeAspect="1"/>
          </p:cNvPicPr>
          <p:nvPr/>
        </p:nvPicPr>
        <p:blipFill>
          <a:blip r:embed="rId2"/>
          <a:stretch>
            <a:fillRect/>
          </a:stretch>
        </p:blipFill>
        <p:spPr>
          <a:xfrm>
            <a:off x="6247896" y="1673352"/>
            <a:ext cx="457200" cy="452148"/>
          </a:xfrm>
          <a:prstGeom prst="rect">
            <a:avLst/>
          </a:prstGeom>
        </p:spPr>
      </p:pic>
      <p:sp>
        <p:nvSpPr>
          <p:cNvPr id="9" name="Rounded Rectangle 8"/>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120026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Gap</a:t>
            </a:r>
          </a:p>
        </p:txBody>
      </p:sp>
      <p:sp>
        <p:nvSpPr>
          <p:cNvPr id="15" name="TextBox 14"/>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Shapley explanation is </a:t>
            </a:r>
            <a:r>
              <a:rPr lang="en-US" sz="2000" b="true">
                <a:solidFill>
                  <a:srgbClr val="FFFFFF"/>
                </a:solidFill>
                <a:latin typeface="Nunito Bold"/>
                <a:ea typeface="Nunito Bold"/>
                <a:cs typeface="Nunito Bold"/>
                <a:sym typeface="Nunito Bold"/>
              </a:rPr>
              <a:t>dominant in supervised tasks</a:t>
            </a:r>
            <a:r>
              <a:rPr lang="en-US" sz="2000" b="true">
                <a:solidFill>
                  <a:srgbClr val="FFFFFF"/>
                </a:solidFill>
                <a:latin typeface="Nunito Semi-Bold"/>
                <a:ea typeface="Nunito Semi-Bold"/>
                <a:cs typeface="Nunito Semi-Bold"/>
                <a:sym typeface="Nunito Semi-Bold"/>
              </a:rPr>
              <a:t>, but clustering remains comparatively under-explained.</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Existing clustering-interpretability methods privilege </a:t>
            </a:r>
            <a:r>
              <a:rPr lang="en-US" sz="2000" b="true">
                <a:solidFill>
                  <a:srgbClr val="FFFFFF"/>
                </a:solidFill>
                <a:latin typeface="Nunito Bold"/>
                <a:ea typeface="Nunito Bold"/>
                <a:cs typeface="Nunito Bold"/>
                <a:sym typeface="Nunito Bold"/>
              </a:rPr>
              <a:t>local or global</a:t>
            </a:r>
            <a:r>
              <a:rPr lang="en-US" sz="2000" b="true">
                <a:solidFill>
                  <a:srgbClr val="FFFFFF"/>
                </a:solidFill>
                <a:latin typeface="Nunito Semi-Bold"/>
                <a:ea typeface="Nunito Semi-Bold"/>
                <a:cs typeface="Nunito Semi-Bold"/>
                <a:sym typeface="Nunito Semi-Bold"/>
              </a:rPr>
              <a:t> explanation, not both.</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They often fail to scale or to preserve </a:t>
            </a:r>
            <a:r>
              <a:rPr lang="en-US" sz="2000" b="true">
                <a:solidFill>
                  <a:srgbClr val="FFFFFF"/>
                </a:solidFill>
                <a:latin typeface="Nunito Bold"/>
                <a:ea typeface="Nunito Bold"/>
                <a:cs typeface="Nunito Bold"/>
                <a:sym typeface="Nunito Bold"/>
              </a:rPr>
              <a:t>coherence across clusters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Clustering is the hardest test bed: the model creates its own structure, so cluster meaning must be inferred after the fact.</a:t>
            </a:r>
          </a:p>
        </p:txBody>
      </p:sp>
      <p:sp>
        <p:nvSpPr>
          <p:cNvPr id="16" name="Rounded Rectangle 15"/>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3048366" cy="438912"/>
          </a:xfrm>
          <a:prstGeom prst="roundRect">
            <a:avLst>
              <a:gd name="adj" fmla="val 50000"/>
            </a:avLst>
          </a:prstGeom>
          <a:solidFill>
            <a:srgbClr val="124944"/>
          </a:solidFill>
          <a:ln>
            <a:no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RQ1 </a:t>
            </a:r>
            <a:r>
              <a:rPr lang="en-US" sz="2200" b="true">
                <a:solidFill>
                  <a:srgbClr val="FFFFFF"/>
                </a:solidFill>
                <a:latin typeface="Calibri"/>
                <a:ea typeface="Calibri"/>
                <a:cs typeface="Calibri"/>
                <a:sym typeface="Calibri"/>
              </a:rPr>
              <a:t>→ </a:t>
            </a:r>
            <a:r>
              <a:rPr lang="en-US" sz="2200" b="true">
                <a:solidFill>
                  <a:srgbClr val="FFFFFF"/>
                </a:solidFill>
                <a:latin typeface="Nunito Bold"/>
                <a:ea typeface="Nunito Bold"/>
                <a:cs typeface="Nunito Bold"/>
                <a:sym typeface="Nunito Bold"/>
              </a:rPr>
              <a:t>Objectives</a:t>
            </a:r>
          </a:p>
        </p:txBody>
      </p:sp>
      <p:sp>
        <p:nvSpPr>
          <p:cNvPr id="18" name="TextBox 17"/>
          <p:cNvSpPr txBox="1"/>
          <p:nvPr/>
        </p:nvSpPr>
        <p:spPr>
          <a:xfrm>
            <a:off x="9784080" y="4186682"/>
            <a:ext cx="7018020" cy="4847590"/>
          </a:xfrm>
          <a:prstGeom prst="rect">
            <a:avLst/>
          </a:prstGeom>
          <a:noFill/>
        </p:spPr>
        <p:txBody>
          <a:bodyPr anchor="t" rtlCol="false" lIns="0" tIns="0" rIns="0" bIns="0" wrap="square"/>
          <a:lstStyle/>
          <a:p>
            <a:pPr algn="l">
              <a:lnSpc>
                <a:spcPts val="2800"/>
              </a:lnSpc>
              <a:spcBef>
                <a:spcPts val="0"/>
              </a:spcBef>
              <a:buNone/>
            </a:pPr>
            <a:r>
              <a:rPr lang="en-US" sz="2000" b="true">
                <a:solidFill>
                  <a:srgbClr val="124944"/>
                </a:solidFill>
                <a:latin typeface="Nunito Bold"/>
                <a:ea typeface="Nunito Bold"/>
                <a:cs typeface="Nunito Bold"/>
                <a:sym typeface="Nunito Bold"/>
              </a:rPr>
              <a:t>RQ1 ·</a:t>
            </a:r>
            <a:r>
              <a:rPr lang="en-US" sz="2000" b="true">
                <a:solidFill>
                  <a:srgbClr val="124944"/>
                </a:solidFill>
                <a:latin typeface="Nunito Semi-Bold"/>
                <a:ea typeface="Nunito Semi-Bold"/>
                <a:cs typeface="Nunito Semi-Bold"/>
                <a:sym typeface="Nunito Semi-Bold"/>
              </a:rPr>
              <a:t> How can Shapley values explain black-box clustering faithfully at instance and cluster level?</a:t>
            </a:r>
          </a:p>
        </p:txBody>
      </p:sp>
      <p:sp>
        <p:nvSpPr>
          <p:cNvPr id="19" name="Oval 18"/>
          <p:cNvSpPr/>
          <p:nvPr/>
        </p:nvSpPr>
        <p:spPr>
          <a:xfrm>
            <a:off x="9784080" y="5421122"/>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O1</a:t>
            </a:r>
          </a:p>
        </p:txBody>
      </p:sp>
      <p:sp>
        <p:nvSpPr>
          <p:cNvPr id="20" name="TextBox 19"/>
          <p:cNvSpPr txBox="1"/>
          <p:nvPr/>
        </p:nvSpPr>
        <p:spPr>
          <a:xfrm>
            <a:off x="10515600" y="5238242"/>
            <a:ext cx="6240780" cy="82296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Build a pipeline that yields </a:t>
            </a:r>
            <a:r>
              <a:rPr lang="en-US" sz="1900" b="true">
                <a:solidFill>
                  <a:srgbClr val="111111"/>
                </a:solidFill>
                <a:latin typeface="Nunito Bold"/>
                <a:ea typeface="Nunito Bold"/>
                <a:cs typeface="Nunito Bold"/>
                <a:sym typeface="Nunito Bold"/>
              </a:rPr>
              <a:t>cluster-level explanation while keeping feature-level attribution</a:t>
            </a:r>
            <a:r>
              <a:rPr lang="en-US" sz="1900" b="true">
                <a:solidFill>
                  <a:srgbClr val="111111"/>
                </a:solidFill>
                <a:latin typeface="Nunito Semi-Bold"/>
                <a:ea typeface="Nunito Semi-Bold"/>
                <a:cs typeface="Nunito Semi-Bold"/>
                <a:sym typeface="Nunito Semi-Bold"/>
              </a:rPr>
              <a:t>.</a:t>
            </a:r>
          </a:p>
        </p:txBody>
      </p:sp>
      <p:sp>
        <p:nvSpPr>
          <p:cNvPr id="21" name="Oval 20"/>
          <p:cNvSpPr/>
          <p:nvPr/>
        </p:nvSpPr>
        <p:spPr>
          <a:xfrm>
            <a:off x="9784080" y="6487617"/>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O2</a:t>
            </a:r>
          </a:p>
        </p:txBody>
      </p:sp>
      <p:sp>
        <p:nvSpPr>
          <p:cNvPr id="22" name="TextBox 21"/>
          <p:cNvSpPr txBox="1"/>
          <p:nvPr/>
        </p:nvSpPr>
        <p:spPr>
          <a:xfrm>
            <a:off x="10515600" y="6189218"/>
            <a:ext cx="6240780" cy="1053998"/>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Preserve the semantics of the </a:t>
            </a:r>
            <a:r>
              <a:rPr lang="en-US" sz="1900" b="true">
                <a:solidFill>
                  <a:srgbClr val="111111"/>
                </a:solidFill>
                <a:latin typeface="Nunito Bold"/>
                <a:ea typeface="Nunito Bold"/>
                <a:cs typeface="Nunito Bold"/>
                <a:sym typeface="Nunito Bold"/>
              </a:rPr>
              <a:t>original feature space</a:t>
            </a:r>
            <a:r>
              <a:rPr lang="en-US" sz="1900" b="true">
                <a:solidFill>
                  <a:srgbClr val="111111"/>
                </a:solidFill>
                <a:latin typeface="Nunito Semi-Bold"/>
                <a:ea typeface="Nunito Semi-Bold"/>
                <a:cs typeface="Nunito Semi-Bold"/>
                <a:sym typeface="Nunito Semi-Bold"/>
              </a:rPr>
              <a:t> — density, pH, acidity, sulfur dioxide, alcohol — not a reduced latent space.</a:t>
            </a:r>
          </a:p>
        </p:txBody>
      </p:sp>
      <p:sp>
        <p:nvSpPr>
          <p:cNvPr id="23" name="Oval 22"/>
          <p:cNvSpPr/>
          <p:nvPr/>
        </p:nvSpPr>
        <p:spPr>
          <a:xfrm>
            <a:off x="9784080" y="7554112"/>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O3</a:t>
            </a:r>
          </a:p>
        </p:txBody>
      </p:sp>
      <p:sp>
        <p:nvSpPr>
          <p:cNvPr id="24" name="TextBox 23"/>
          <p:cNvSpPr txBox="1"/>
          <p:nvPr/>
        </p:nvSpPr>
        <p:spPr>
          <a:xfrm>
            <a:off x="10515600" y="7371232"/>
            <a:ext cx="6240780" cy="82296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Justify Shapley</a:t>
            </a:r>
            <a:r>
              <a:rPr lang="en-US" sz="1900" b="true">
                <a:solidFill>
                  <a:srgbClr val="111111"/>
                </a:solidFill>
                <a:latin typeface="Nunito Semi-Bold"/>
                <a:ea typeface="Nunito Semi-Bold"/>
                <a:cs typeface="Nunito Semi-Bold"/>
                <a:sym typeface="Nunito Semi-Bold"/>
              </a:rPr>
              <a:t> over an ad-hoc surrogate such as LIME.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Clustering as a Cooperative Game</a:t>
            </a:r>
          </a:p>
        </p:txBody>
      </p:sp>
      <p:pic>
        <p:nvPicPr>
          <p:cNvPr id="8" name="Picture 7" descr="image.png"/>
          <p:cNvPicPr>
            <a:picLocks noChangeAspect="1"/>
          </p:cNvPicPr>
          <p:nvPr/>
        </p:nvPicPr>
        <p:blipFill>
          <a:blip r:embed="rId2"/>
          <a:stretch>
            <a:fillRect/>
          </a:stretch>
        </p:blipFill>
        <p:spPr>
          <a:xfrm>
            <a:off x="9990865" y="1673352"/>
            <a:ext cx="457200" cy="617115"/>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TextBox 12"/>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F</a:t>
            </a:r>
            <a:r>
              <a:rPr lang="en-US" sz="2100" b="true">
                <a:solidFill>
                  <a:srgbClr val="111111"/>
                </a:solidFill>
                <a:latin typeface="Nunito Semi-Bold"/>
                <a:ea typeface="Nunito Semi-Bold"/>
                <a:cs typeface="Nunito Semi-Bold"/>
                <a:sym typeface="Nunito Semi-Bold"/>
              </a:rPr>
              <a:t> — each feature is a player.</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Value function v(S) = Silhouette( KMeans(X</a:t>
            </a:r>
            <a:r>
              <a:rPr lang="en-US" sz="2100" b="true" baseline="-25000">
                <a:solidFill>
                  <a:srgbClr val="111111"/>
                </a:solidFill>
                <a:latin typeface="Nunito Bold"/>
                <a:ea typeface="Nunito Bold"/>
                <a:cs typeface="Nunito Bold"/>
                <a:sym typeface="Nunito Bold"/>
              </a:rPr>
              <a:t>S</a:t>
            </a:r>
            <a:r>
              <a:rPr lang="en-US" sz="2100" b="true">
                <a:solidFill>
                  <a:srgbClr val="111111"/>
                </a:solidFill>
                <a:latin typeface="Nunito Bold"/>
                <a:ea typeface="Nunito Bold"/>
                <a:cs typeface="Nunito Bold"/>
                <a:sym typeface="Nunito Bold"/>
              </a:rPr>
              <a:t>, 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a:t>
            </a:r>
            <a:r>
              <a:rPr lang="en-US" sz="2100" b="true">
                <a:solidFill>
                  <a:srgbClr val="111111"/>
                </a:solidFill>
                <a:latin typeface="Nunito Semi-Bold"/>
                <a:ea typeface="Nunito Semi-Bold"/>
                <a:cs typeface="Nunito Semi-Bold"/>
                <a:sym typeface="Nunito Semi-Bold"/>
              </a:rPr>
              <a:t> — how well data cluster using only the features in 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feature's Shapley value = its </a:t>
            </a:r>
            <a:r>
              <a:rPr lang="en-US" sz="2100" b="true">
                <a:solidFill>
                  <a:srgbClr val="111111"/>
                </a:solidFill>
                <a:latin typeface="Nunito Bold"/>
                <a:ea typeface="Nunito Bold"/>
                <a:cs typeface="Nunito Bold"/>
                <a:sym typeface="Nunito Bold"/>
              </a:rPr>
              <a:t>expected marginal contribution to clustering quality</a:t>
            </a:r>
            <a:r>
              <a:rPr lang="en-US" sz="2100" b="true">
                <a:solidFill>
                  <a:srgbClr val="111111"/>
                </a:solidFill>
                <a:latin typeface="Nunito Semi-Bold"/>
                <a:ea typeface="Nunito Semi-Bold"/>
                <a:cs typeface="Nunito Semi-Bold"/>
                <a:sym typeface="Nunito Semi-Bold"/>
              </a:rPr>
              <a:t> over all coalition orders.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Silhouette:</a:t>
            </a:r>
            <a:r>
              <a:rPr lang="en-US" sz="2100" b="true">
                <a:solidFill>
                  <a:srgbClr val="111111"/>
                </a:solidFill>
                <a:latin typeface="Nunito Semi-Bold"/>
                <a:ea typeface="Nunito Semi-Bold"/>
                <a:cs typeface="Nunito Semi-Bold"/>
                <a:sym typeface="Nunito Semi-Bold"/>
              </a:rPr>
              <a:t> bounded, normalised, semantically intuitive (Davies–Bouldin or Calinski–Harabasz would also be defensible).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Direct evaluation for every coalition is </a:t>
            </a:r>
            <a:r>
              <a:rPr lang="en-US" sz="2100" b="true">
                <a:solidFill>
                  <a:srgbClr val="111111"/>
                </a:solidFill>
                <a:latin typeface="Nunito Bold"/>
                <a:ea typeface="Nunito Bold"/>
                <a:cs typeface="Nunito Bold"/>
                <a:sym typeface="Nunito Bold"/>
              </a:rPr>
              <a:t>intractable</a:t>
            </a:r>
            <a:r>
              <a:rPr lang="en-US" sz="2100" b="true">
                <a:solidFill>
                  <a:srgbClr val="111111"/>
                </a:solidFill>
                <a:latin typeface="Calibri"/>
                <a:ea typeface="Calibri"/>
                <a:cs typeface="Calibri"/>
                <a:sym typeface="Calibri"/>
              </a:rPr>
              <a:t> → </a:t>
            </a:r>
            <a:r>
              <a:rPr lang="en-US" sz="2100" b="true">
                <a:solidFill>
                  <a:srgbClr val="111111"/>
                </a:solidFill>
                <a:latin typeface="Nunito Semi-Bold"/>
                <a:ea typeface="Nunito Semi-Bold"/>
                <a:cs typeface="Nunito Semi-Bold"/>
                <a:sym typeface="Nunito Semi-Bold"/>
              </a:rPr>
              <a:t>we need a bridge.</a:t>
            </a:r>
          </a:p>
        </p:txBody>
      </p:sp>
      <p:sp>
        <p:nvSpPr>
          <p:cNvPr id="14" name="Rounded Rectangle 13"/>
          <p:cNvSpPr/>
          <p:nvPr/>
        </p:nvSpPr>
        <p:spPr>
          <a:xfrm>
            <a:off x="9258300" y="3363722"/>
            <a:ext cx="8001000" cy="2926080"/>
          </a:xfrm>
          <a:prstGeom prst="roundRect">
            <a:avLst>
              <a:gd name="adj" fmla="val 9375"/>
            </a:avLst>
          </a:prstGeom>
          <a:solidFill>
            <a:srgbClr val="124944"/>
          </a:solidFill>
          <a:ln>
            <a:noFill/>
          </a:ln>
        </p:spPr>
        <p:txBody>
          <a:bodyPr anchor="ctr" rtlCol="false" lIns="0" tIns="0" rIns="0" bIns="0" wrap="square"/>
          <a:lstStyle/>
          <a:p>
            <a:endParaRPr lang="en-US" sz="1800"/>
          </a:p>
        </p:txBody>
      </p:sp>
      <p:sp>
        <p:nvSpPr>
          <p:cNvPr id="15" name="TextBox 14"/>
          <p:cNvSpPr txBox="1"/>
          <p:nvPr/>
        </p:nvSpPr>
        <p:spPr>
          <a:xfrm>
            <a:off x="9258300" y="3564890"/>
            <a:ext cx="8001000" cy="27432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ECC665"/>
                </a:solidFill>
                <a:latin typeface="Nunito Ultra-Bold"/>
                <a:ea typeface="Nunito Ultra-Bold"/>
                <a:cs typeface="Nunito Ultra-Bold"/>
                <a:sym typeface="Nunito Ultra-Bold"/>
              </a:rPr>
              <a:t>SHAPLEY VALUE OF FEATURE j</a:t>
            </a:r>
          </a:p>
        </p:txBody>
      </p:sp>
      <mc:AlternateContent xmlns:mc="http://schemas.openxmlformats.org/markup-compatibility/2006">
        <mc:Choice xmlns:a14="http://schemas.microsoft.com/office/drawing/2010/main" Requires="a14">
          <p:sp>
            <p:nvSpPr>
              <p:cNvPr id="16" name="Equation"/>
              <p:cNvSpPr txBox="1"/>
              <p:nvPr/>
            </p:nvSpPr>
            <p:spPr>
              <a:xfrm>
                <a:off x="9441180" y="3866642"/>
                <a:ext cx="7635240" cy="1783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400" i="1">
                              <a:solidFill>
                                <a:srgbClr val="FFFFFF"/>
                              </a:solidFill>
                              <a:latin typeface="Cambria Math" panose="02040503050406030204" pitchFamily="18" charset="0"/>
                            </a:rPr>
                          </m:ctrlPr>
                        </m:sSubPr>
                        <m:e>
                          <m:r>
                            <a:rPr lang="en-US" sz="2400" i="1">
                              <a:solidFill>
                                <a:srgbClr val="FFFFFF"/>
                              </a:solidFill>
                              <a:latin typeface="Cambria Math" panose="02040503050406030204" pitchFamily="18" charset="0"/>
                            </a:rPr>
                            <m:t xml:space="preserve">φ</m:t>
                          </m:r>
                        </m:e>
                        <m:sub>
                          <m:r>
                            <a:rPr lang="en-US" sz="2400" i="1">
                              <a:solidFill>
                                <a:srgbClr val="FFFFFF"/>
                              </a:solidFill>
                              <a:latin typeface="Cambria Math" panose="02040503050406030204" pitchFamily="18" charset="0"/>
                            </a:rPr>
                            <m:t xml:space="preserve">j</m:t>
                          </m:r>
                        </m:sub>
                      </m:sSub>
                      <m:r>
                        <m:rPr>
                          <m:sty m:val="p"/>
                        </m:rPr>
                        <a:rPr lang="en-US" sz="2400">
                          <a:solidFill>
                            <a:srgbClr val="FFFFFF"/>
                          </a:solidFill>
                          <a:latin typeface="Cambria Math" panose="02040503050406030204" pitchFamily="18" charset="0"/>
                        </a:rPr>
                        <m:t xml:space="preserve">=</m:t>
                      </m:r>
                      <m:nary>
                        <m:naryPr>
                          <m:chr m:val="∑"/>
                          <m:limLoc m:val="undOvr"/>
                          <m:supHide m:val="1"/>
                          <m:ctrlPr>
                            <a:rPr lang="en-US" sz="2400" i="1">
                              <a:solidFill>
                                <a:srgbClr val="FFFFFF"/>
                              </a:solidFill>
                              <a:latin typeface="Cambria Math" panose="02040503050406030204" pitchFamily="18" charset="0"/>
                            </a:rPr>
                          </m:ctrlPr>
                        </m:naryPr>
                        <m:sub>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N</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j</m:t>
                          </m:r>
                          <m:r>
                            <m:rPr>
                              <m:sty m:val="p"/>
                            </m:rPr>
                            <a:rPr lang="en-US" sz="2400">
                              <a:solidFill>
                                <a:srgbClr val="FFFFFF"/>
                              </a:solidFill>
                              <a:latin typeface="Cambria Math" panose="02040503050406030204" pitchFamily="18" charset="0"/>
                            </a:rPr>
                            <m:t xml:space="preserve">}</m:t>
                          </m:r>
                        </m:sub>
                        <m:sup/>
                        <m:e>
                          <m:f>
                            <m:fPr>
                              <m:ctrlPr>
                                <a:rPr lang="en-US" sz="2400" i="1">
                                  <a:solidFill>
                                    <a:srgbClr val="FFFFFF"/>
                                  </a:solidFill>
                                  <a:latin typeface="Cambria Math" panose="02040503050406030204" pitchFamily="18" charset="0"/>
                                </a:rPr>
                              </m:ctrlPr>
                            </m:fPr>
                            <m:num>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 (</m:t>
                              </m:r>
                              <m:r>
                                <a:rPr lang="en-US" sz="2400" i="1">
                                  <a:solidFill>
                                    <a:srgbClr val="FFFFFF"/>
                                  </a:solidFill>
                                  <a:latin typeface="Cambria Math" panose="02040503050406030204" pitchFamily="18" charset="0"/>
                                </a:rPr>
                                <m:t xml:space="preserve">n</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|−1)!</m:t>
                              </m:r>
                            </m:num>
                            <m:den>
                              <m:r>
                                <a:rPr lang="en-US" sz="2400" i="1">
                                  <a:solidFill>
                                    <a:srgbClr val="FFFFFF"/>
                                  </a:solidFill>
                                  <a:latin typeface="Cambria Math" panose="02040503050406030204" pitchFamily="18" charset="0"/>
                                </a:rPr>
                                <m:t xml:space="preserve">n</m:t>
                              </m:r>
                              <m:r>
                                <m:rPr>
                                  <m:sty m:val="p"/>
                                </m:rPr>
                                <a:rPr lang="en-US" sz="2400">
                                  <a:solidFill>
                                    <a:srgbClr val="FFFFFF"/>
                                  </a:solidFill>
                                  <a:latin typeface="Cambria Math" panose="02040503050406030204" pitchFamily="18" charset="0"/>
                                </a:rPr>
                                <m:t xml:space="preserve">!</m:t>
                              </m:r>
                            </m:den>
                          </m:f>
                        </m:e>
                      </m:nary>
                      <m:r>
                        <m:rPr>
                          <m:sty m:val="p"/>
                        </m:rPr>
                        <a:rPr lang="en-US" sz="2400">
                          <a:solidFill>
                            <a:srgbClr val="FFFFFF"/>
                          </a:solidFill>
                          <a:latin typeface="Cambria Math" panose="02040503050406030204" pitchFamily="18" charset="0"/>
                        </a:rPr>
                        <m:t xml:space="preserve"> </m:t>
                      </m:r>
                      <m:d>
                        <m:dPr>
                          <m:begChr m:val="["/>
                          <m:endChr m:val="]"/>
                          <m:ctrlPr>
                            <a:rPr lang="en-US" sz="2400" i="1">
                              <a:solidFill>
                                <a:srgbClr val="FFFFFF"/>
                              </a:solidFill>
                              <a:latin typeface="Cambria Math" panose="02040503050406030204" pitchFamily="18" charset="0"/>
                            </a:rPr>
                          </m:ctrlPr>
                        </m:dPr>
                        <m:e>
                          <m:r>
                            <m:rPr>
                              <m:sty m:val="p"/>
                            </m:rPr>
                            <a:rPr lang="en-US" sz="2400">
                              <a:solidFill>
                                <a:srgbClr val="FFFFFF"/>
                              </a:solidFill>
                              <a:latin typeface="Cambria Math" panose="02040503050406030204" pitchFamily="18" charset="0"/>
                            </a:rPr>
                            <m:t xml:space="preserve"> </m:t>
                          </m:r>
                          <m:r>
                            <a:rPr lang="en-US" sz="2400" i="1">
                              <a:solidFill>
                                <a:srgbClr val="FFFFFF"/>
                              </a:solidFill>
                              <a:latin typeface="Cambria Math" panose="02040503050406030204" pitchFamily="18" charset="0"/>
                            </a:rPr>
                            <m:t xml:space="preserve">v</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j</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v</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 </m:t>
                          </m:r>
                        </m:e>
                      </m:d>
                    </m:oMath>
                  </m:oMathPara>
                </a14:m>
                <a:endParaRPr lang="en-US" sz="2400"/>
              </a:p>
            </p:txBody>
          </p:sp>
        </mc:Choice>
        <mc:Fallback>
          <p:sp>
            <p:nvSpPr>
              <p:cNvPr id="16" name="Equation"/>
              <p:cNvSpPr txBox="1"/>
              <p:nvPr/>
            </p:nvSpPr>
            <p:spPr>
              <a:xfrm>
                <a:off x="9441180" y="3866642"/>
                <a:ext cx="7635240" cy="1783080"/>
              </a:xfrm>
              <a:prstGeom prst="rect">
                <a:avLst/>
              </a:prstGeom>
              <a:blipFill>
                <a:blip r:embed="rId4"/>
                <a:stretch>
                  <a:fillRect/>
                </a:stretch>
              </a:blipFill>
            </p:spPr>
            <p:txBody>
              <a:bodyPr/>
              <a:lstStyle/>
              <a:p>
                <a:endParaRPr lang="en-US"/>
              </a:p>
            </p:txBody>
          </p:sp>
        </mc:Fallback>
      </mc:AlternateContent>
      <p:sp>
        <p:nvSpPr>
          <p:cNvPr id="17" name="TextBox 16"/>
          <p:cNvSpPr txBox="1"/>
          <p:nvPr/>
        </p:nvSpPr>
        <p:spPr>
          <a:xfrm>
            <a:off x="9258300" y="5741162"/>
            <a:ext cx="8001000" cy="36576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DCE7E3"/>
                </a:solidFill>
                <a:latin typeface="Nunito Semi-Bold"/>
                <a:ea typeface="Nunito Semi-Bold"/>
                <a:cs typeface="Nunito Semi-Bold"/>
                <a:sym typeface="Nunito Semi-Bold"/>
              </a:rPr>
              <a:t>expected marginal contribution over all orders of arrival</a:t>
            </a:r>
          </a:p>
        </p:txBody>
      </p:sp>
      <p:sp>
        <p:nvSpPr>
          <p:cNvPr id="18" name="Rounded Rectangle 17"/>
          <p:cNvSpPr/>
          <p:nvPr/>
        </p:nvSpPr>
        <p:spPr>
          <a:xfrm>
            <a:off x="9258300" y="6564122"/>
            <a:ext cx="3886200" cy="891540"/>
          </a:xfrm>
          <a:prstGeom prst="roundRect">
            <a:avLst>
              <a:gd name="adj" fmla="val 20512"/>
            </a:avLst>
          </a:prstGeom>
          <a:solidFill>
            <a:srgbClr val="F6ECDF"/>
          </a:solidFill>
          <a:ln>
            <a:noFill/>
          </a:ln>
        </p:spPr>
        <p:txBody>
          <a:bodyPr anchor="t" rtlCol="false" lIns="91440" tIns="201168" rIns="91440" bIns="45720" wrap="square"/>
          <a:lstStyle/>
          <a:p>
            <a:pPr algn="ctr">
              <a:lnSpc>
                <a:spcPts val="2200"/>
              </a:lnSpc>
              <a:spcBef>
                <a:spcPts val="0"/>
              </a:spcBef>
              <a:buNone/>
            </a:pPr>
            <a:r>
              <a:rPr lang="en-US" sz="1900" b="true">
                <a:solidFill>
                  <a:srgbClr val="111111"/>
                </a:solidFill>
                <a:latin typeface="Nunito Bold"/>
                <a:ea typeface="Nunito Bold"/>
                <a:cs typeface="Nunito Bold"/>
                <a:sym typeface="Nunito Bold"/>
              </a:rPr>
              <a:t>Efficiency</a:t>
            </a:r>
          </a:p>
        </p:txBody>
      </p:sp>
      <mc:AlternateContent xmlns:mc="http://schemas.openxmlformats.org/markup-compatibility/2006">
        <mc:Choice xmlns:a14="http://schemas.microsoft.com/office/drawing/2010/main" Requires="a14">
          <p:sp>
            <p:nvSpPr>
              <p:cNvPr id="19" name="Equation"/>
              <p:cNvSpPr txBox="1"/>
              <p:nvPr/>
            </p:nvSpPr>
            <p:spPr>
              <a:xfrm>
                <a:off x="9349740" y="7021322"/>
                <a:ext cx="3703320" cy="388620"/>
              </a:xfrm>
              <a:prstGeom prst="rect">
                <a:avLst/>
              </a:prstGeom>
              <a:noFill/>
            </p:spPr>
            <p:txBody>
              <a:bodyPr wrap="none" rtlCol="0" anchor="ctr" lIns="0" tIns="0" rIns="0" bIns="0"/>
              <a:lstStyle/>
              <a:p>
                <a:pPr algn="ctr"/>
                <a14:m xmlns:m="http://schemas.openxmlformats.org/officeDocument/2006/math">
                  <m:oMathPara>
                    <m:oMathParaPr>
                      <m:jc m:val="centerGroup"/>
                    </m:oMathParaPr>
                    <m:oMath>
                      <m:nary>
                        <m:naryPr>
                          <m:chr m:val="∑"/>
                          <m:limLoc m:val="subSup"/>
                          <m:supHide m:val="1"/>
                          <m:ctrlPr>
                            <a:rPr lang="en-US" sz="1400" i="1">
                              <a:solidFill>
                                <a:srgbClr val="8A8378"/>
                              </a:solidFill>
                              <a:latin typeface="Cambria Math" panose="02040503050406030204" pitchFamily="18" charset="0"/>
                            </a:rPr>
                          </m:ctrlPr>
                        </m:naryPr>
                        <m:sub>
                          <m:r>
                            <a:rPr lang="en-US" sz="1400" i="1">
                              <a:solidFill>
                                <a:srgbClr val="8A8378"/>
                              </a:solidFill>
                              <a:latin typeface="Cambria Math" panose="02040503050406030204" pitchFamily="18" charset="0"/>
                            </a:rPr>
                            <m:t xml:space="preserve">j</m:t>
                          </m:r>
                        </m:sub>
                        <m:sup/>
                        <m:e>
                          <m:r>
                            <m:rPr>
                              <m:sty m:val="p"/>
                            </m:rPr>
                            <a:rPr lang="en-US" sz="1400">
                              <a:solidFill>
                                <a:srgbClr val="8A8378"/>
                              </a:solidFill>
                              <a:latin typeface="Cambria Math" panose="02040503050406030204" pitchFamily="18" charset="0"/>
                            </a:rPr>
                            <m:t xml:space="preserve"> </m:t>
                          </m:r>
                        </m:e>
                      </m:nary>
                      <m:sSub>
                        <m:sSubPr>
                          <m:ctrlPr>
                            <a:rPr lang="en-US" sz="1400" i="1">
                              <a:solidFill>
                                <a:srgbClr val="8A8378"/>
                              </a:solidFill>
                              <a:latin typeface="Cambria Math" panose="02040503050406030204" pitchFamily="18" charset="0"/>
                            </a:rPr>
                          </m:ctrlPr>
                        </m:sSubPr>
                        <m:e>
                          <m:r>
                            <a:rPr lang="en-US" sz="1400" i="1">
                              <a:solidFill>
                                <a:srgbClr val="8A8378"/>
                              </a:solidFill>
                              <a:latin typeface="Cambria Math" panose="02040503050406030204" pitchFamily="18" charset="0"/>
                            </a:rPr>
                            <m:t xml:space="preserve">φ</m:t>
                          </m:r>
                        </m:e>
                        <m:sub>
                          <m:r>
                            <a:rPr lang="en-US" sz="1400" i="1">
                              <a:solidFill>
                                <a:srgbClr val="8A8378"/>
                              </a:solidFill>
                              <a:latin typeface="Cambria Math" panose="02040503050406030204" pitchFamily="18" charset="0"/>
                            </a:rPr>
                            <m:t xml:space="preserve">j</m:t>
                          </m:r>
                        </m:sub>
                      </m:sSub>
                      <m:r>
                        <m:rPr>
                          <m:sty m:val="p"/>
                        </m:rPr>
                        <a:rPr lang="en-US" sz="1400">
                          <a:solidFill>
                            <a:srgbClr val="8A8378"/>
                          </a:solidFill>
                          <a:latin typeface="Cambria Math" panose="02040503050406030204" pitchFamily="18" charset="0"/>
                        </a:rPr>
                        <m:t xml:space="preserve">=</m:t>
                      </m:r>
                      <m:r>
                        <a:rPr lang="en-US" sz="1400" i="1">
                          <a:solidFill>
                            <a:srgbClr val="8A8378"/>
                          </a:solidFill>
                          <a:latin typeface="Cambria Math" panose="02040503050406030204" pitchFamily="18" charset="0"/>
                        </a:rPr>
                        <m:t xml:space="preserve">v</m:t>
                      </m:r>
                      <m:r>
                        <m:rPr>
                          <m:sty m:val="p"/>
                        </m:rPr>
                        <a:rPr lang="en-US" sz="1400">
                          <a:solidFill>
                            <a:srgbClr val="8A8378"/>
                          </a:solidFill>
                          <a:latin typeface="Cambria Math" panose="02040503050406030204" pitchFamily="18" charset="0"/>
                        </a:rPr>
                        <m:t xml:space="preserve">(</m:t>
                      </m:r>
                      <m:r>
                        <a:rPr lang="en-US" sz="1400" i="1">
                          <a:solidFill>
                            <a:srgbClr val="8A8378"/>
                          </a:solidFill>
                          <a:latin typeface="Cambria Math" panose="02040503050406030204" pitchFamily="18" charset="0"/>
                        </a:rPr>
                        <m:t xml:space="preserve">N</m:t>
                      </m:r>
                      <m:r>
                        <m:rPr>
                          <m:sty m:val="p"/>
                        </m:rPr>
                        <a:rPr lang="en-US" sz="1400">
                          <a:solidFill>
                            <a:srgbClr val="8A8378"/>
                          </a:solidFill>
                          <a:latin typeface="Cambria Math" panose="02040503050406030204" pitchFamily="18" charset="0"/>
                        </a:rPr>
                        <m:t xml:space="preserve">)−</m:t>
                      </m:r>
                      <m:r>
                        <a:rPr lang="en-US" sz="1400" i="1">
                          <a:solidFill>
                            <a:srgbClr val="8A8378"/>
                          </a:solidFill>
                          <a:latin typeface="Cambria Math" panose="02040503050406030204" pitchFamily="18" charset="0"/>
                        </a:rPr>
                        <m:t xml:space="preserve">v</m:t>
                      </m:r>
                      <m:r>
                        <m:rPr>
                          <m:sty m:val="p"/>
                        </m:rPr>
                        <a:rPr lang="en-US" sz="1400">
                          <a:solidFill>
                            <a:srgbClr val="8A8378"/>
                          </a:solidFill>
                          <a:latin typeface="Cambria Math" panose="02040503050406030204" pitchFamily="18" charset="0"/>
                        </a:rPr>
                        <m:t xml:space="preserve">(∅)</m:t>
                      </m:r>
                    </m:oMath>
                  </m:oMathPara>
                </a14:m>
                <a:endParaRPr lang="en-US" sz="1400"/>
              </a:p>
            </p:txBody>
          </p:sp>
        </mc:Choice>
        <mc:Fallback>
          <p:sp>
            <p:nvSpPr>
              <p:cNvPr id="19" name="Equation"/>
              <p:cNvSpPr txBox="1"/>
              <p:nvPr/>
            </p:nvSpPr>
            <p:spPr>
              <a:xfrm>
                <a:off x="9349740" y="7021322"/>
                <a:ext cx="3703320" cy="388620"/>
              </a:xfrm>
              <a:prstGeom prst="rect">
                <a:avLst/>
              </a:prstGeom>
              <a:blipFill>
                <a:blip r:embed="rId5"/>
                <a:stretch>
                  <a:fillRect/>
                </a:stretch>
              </a:blipFill>
            </p:spPr>
            <p:txBody>
              <a:bodyPr/>
              <a:lstStyle/>
              <a:p>
                <a:endParaRPr lang="en-US"/>
              </a:p>
            </p:txBody>
          </p:sp>
        </mc:Fallback>
      </mc:AlternateContent>
      <p:sp>
        <p:nvSpPr>
          <p:cNvPr id="20" name="Rounded Rectangle 19"/>
          <p:cNvSpPr/>
          <p:nvPr/>
        </p:nvSpPr>
        <p:spPr>
          <a:xfrm>
            <a:off x="13373100" y="6564122"/>
            <a:ext cx="3886200" cy="891540"/>
          </a:xfrm>
          <a:prstGeom prst="roundRect">
            <a:avLst>
              <a:gd name="adj" fmla="val 20512"/>
            </a:avLst>
          </a:prstGeom>
          <a:solidFill>
            <a:srgbClr val="F6ECDF"/>
          </a:solidFill>
          <a:ln>
            <a:noFill/>
          </a:ln>
        </p:spPr>
        <p:txBody>
          <a:bodyPr anchor="ctr" rtlCol="false" lIns="91440" tIns="45720" rIns="91440" bIns="45720" wrap="square"/>
          <a:lstStyle/>
          <a:p>
            <a:pPr algn="ctr">
              <a:lnSpc>
                <a:spcPts val="2185"/>
              </a:lnSpc>
              <a:spcBef>
                <a:spcPts val="0"/>
              </a:spcBef>
              <a:buNone/>
            </a:pPr>
            <a:r>
              <a:rPr lang="en-US" sz="1900" b="true">
                <a:solidFill>
                  <a:srgbClr val="111111"/>
                </a:solidFill>
                <a:latin typeface="Nunito Bold"/>
                <a:ea typeface="Nunito Bold"/>
                <a:cs typeface="Nunito Bold"/>
                <a:sym typeface="Nunito Bold"/>
              </a:rPr>
              <a:t>Symmetry</a:t>
            </a:r>
          </a:p>
          <a:p>
            <a:pPr algn="ctr">
              <a:lnSpc>
                <a:spcPts val="1800"/>
              </a:lnSpc>
              <a:spcBef>
                <a:spcPts val="300"/>
              </a:spcBef>
              <a:buNone/>
            </a:pPr>
            <a:r>
              <a:rPr lang="en-US" sz="1500" b="true">
                <a:solidFill>
                  <a:srgbClr val="8A8378"/>
                </a:solidFill>
                <a:latin typeface="Nunito Semi-Bold"/>
                <a:ea typeface="Nunito Semi-Bold"/>
                <a:cs typeface="Nunito Semi-Bold"/>
                <a:sym typeface="Nunito Semi-Bold"/>
              </a:rPr>
              <a:t>equal contributors get equal credit</a:t>
            </a:r>
          </a:p>
        </p:txBody>
      </p:sp>
      <p:sp>
        <p:nvSpPr>
          <p:cNvPr id="21" name="Rounded Rectangle 20"/>
          <p:cNvSpPr/>
          <p:nvPr/>
        </p:nvSpPr>
        <p:spPr>
          <a:xfrm>
            <a:off x="9258300" y="7684262"/>
            <a:ext cx="3886200" cy="891540"/>
          </a:xfrm>
          <a:prstGeom prst="roundRect">
            <a:avLst>
              <a:gd name="adj" fmla="val 20512"/>
            </a:avLst>
          </a:prstGeom>
          <a:solidFill>
            <a:srgbClr val="F6ECDF"/>
          </a:solidFill>
          <a:ln>
            <a:noFill/>
          </a:ln>
        </p:spPr>
        <p:txBody>
          <a:bodyPr anchor="ctr" rtlCol="false" lIns="91440" tIns="45720" rIns="91440" bIns="45720" wrap="square"/>
          <a:lstStyle/>
          <a:p>
            <a:pPr algn="ctr">
              <a:lnSpc>
                <a:spcPts val="2185"/>
              </a:lnSpc>
              <a:spcBef>
                <a:spcPts val="0"/>
              </a:spcBef>
              <a:buNone/>
            </a:pPr>
            <a:r>
              <a:rPr lang="en-US" sz="1900" b="true">
                <a:solidFill>
                  <a:srgbClr val="111111"/>
                </a:solidFill>
                <a:latin typeface="Nunito Bold"/>
                <a:ea typeface="Nunito Bold"/>
                <a:cs typeface="Nunito Bold"/>
                <a:sym typeface="Nunito Bold"/>
              </a:rPr>
              <a:t>Null player</a:t>
            </a:r>
          </a:p>
          <a:p>
            <a:pPr algn="ctr">
              <a:lnSpc>
                <a:spcPts val="1800"/>
              </a:lnSpc>
              <a:spcBef>
                <a:spcPts val="300"/>
              </a:spcBef>
              <a:buNone/>
            </a:pPr>
            <a:r>
              <a:rPr lang="en-US" sz="1500" b="true">
                <a:solidFill>
                  <a:srgbClr val="8A8378"/>
                </a:solidFill>
                <a:latin typeface="Nunito Semi-Bold"/>
                <a:ea typeface="Nunito Semi-Bold"/>
                <a:cs typeface="Nunito Semi-Bold"/>
                <a:sym typeface="Nunito Semi-Bold"/>
              </a:rPr>
              <a:t>no marginal effect </a:t>
            </a:r>
            <a:r>
              <a:rPr lang="en-US" sz="1500" b="true">
                <a:solidFill>
                  <a:srgbClr val="8A8378"/>
                </a:solidFill>
                <a:latin typeface="Calibri"/>
                <a:ea typeface="Calibri"/>
                <a:cs typeface="Calibri"/>
                <a:sym typeface="Calibri"/>
              </a:rPr>
              <a:t>→ </a:t>
            </a:r>
            <a:r>
              <a:rPr lang="en-US" sz="1500" b="true">
                <a:solidFill>
                  <a:srgbClr val="8A8378"/>
                </a:solidFill>
                <a:latin typeface="Nunito Semi-Bold"/>
                <a:ea typeface="Nunito Semi-Bold"/>
                <a:cs typeface="Nunito Semi-Bold"/>
                <a:sym typeface="Nunito Semi-Bold"/>
              </a:rPr>
              <a:t>zero</a:t>
            </a:r>
          </a:p>
        </p:txBody>
      </p:sp>
      <p:sp>
        <p:nvSpPr>
          <p:cNvPr id="22" name="Rounded Rectangle 21"/>
          <p:cNvSpPr/>
          <p:nvPr/>
        </p:nvSpPr>
        <p:spPr>
          <a:xfrm>
            <a:off x="13373100" y="7684262"/>
            <a:ext cx="3886200" cy="891540"/>
          </a:xfrm>
          <a:prstGeom prst="roundRect">
            <a:avLst>
              <a:gd name="adj" fmla="val 20512"/>
            </a:avLst>
          </a:prstGeom>
          <a:solidFill>
            <a:srgbClr val="F6ECDF"/>
          </a:solidFill>
          <a:ln>
            <a:noFill/>
          </a:ln>
        </p:spPr>
        <p:txBody>
          <a:bodyPr anchor="ctr" rtlCol="false" lIns="91440" tIns="45720" rIns="91440" bIns="45720" wrap="square"/>
          <a:lstStyle/>
          <a:p>
            <a:pPr algn="ctr">
              <a:lnSpc>
                <a:spcPts val="2185"/>
              </a:lnSpc>
              <a:spcBef>
                <a:spcPts val="0"/>
              </a:spcBef>
              <a:buNone/>
            </a:pPr>
            <a:r>
              <a:rPr lang="en-US" sz="1900" b="true">
                <a:solidFill>
                  <a:srgbClr val="111111"/>
                </a:solidFill>
                <a:latin typeface="Nunito Bold"/>
                <a:ea typeface="Nunito Bold"/>
                <a:cs typeface="Nunito Bold"/>
                <a:sym typeface="Nunito Bold"/>
              </a:rPr>
              <a:t>Additivity</a:t>
            </a:r>
          </a:p>
          <a:p>
            <a:pPr algn="ctr">
              <a:lnSpc>
                <a:spcPts val="1800"/>
              </a:lnSpc>
              <a:spcBef>
                <a:spcPts val="300"/>
              </a:spcBef>
              <a:buNone/>
            </a:pPr>
            <a:r>
              <a:rPr lang="en-US" sz="1500" b="true">
                <a:solidFill>
                  <a:srgbClr val="8A8378"/>
                </a:solidFill>
                <a:latin typeface="Nunito Semi-Bold"/>
                <a:ea typeface="Nunito Semi-Bold"/>
                <a:cs typeface="Nunito Semi-Bold"/>
                <a:sym typeface="Nunito Semi-Bold"/>
              </a:rPr>
              <a:t>linear across games</a:t>
            </a:r>
          </a:p>
        </p:txBody>
      </p:sp>
      <p:sp>
        <p:nvSpPr>
          <p:cNvPr id="23" name="Rounded Rectangle 22"/>
          <p:cNvSpPr/>
          <p:nvPr/>
        </p:nvSpPr>
        <p:spPr>
          <a:xfrm>
            <a:off x="9258300" y="8850122"/>
            <a:ext cx="8001000" cy="458470"/>
          </a:xfrm>
          <a:prstGeom prst="roundRect">
            <a:avLst>
              <a:gd name="adj" fmla="val 49861"/>
            </a:avLst>
          </a:prstGeom>
          <a:noFill/>
          <a:ln w="31750">
            <a:solidFill>
              <a:srgbClr val="DF8330"/>
            </a:solidFill>
          </a:ln>
        </p:spPr>
        <p:txBody>
          <a:bodyPr anchor="ctr" rtlCol="false" lIns="274320" tIns="91440" rIns="274320" bIns="91440" wrap="square"/>
          <a:lstStyle/>
          <a:p>
            <a:pPr algn="ctr">
              <a:lnSpc>
                <a:spcPts val="2300"/>
              </a:lnSpc>
              <a:spcBef>
                <a:spcPts val="0"/>
              </a:spcBef>
              <a:buNone/>
            </a:pPr>
            <a:r>
              <a:rPr lang="en-US" sz="1700" b="true">
                <a:solidFill>
                  <a:srgbClr val="111111"/>
                </a:solidFill>
                <a:latin typeface="Nunito Bold"/>
                <a:ea typeface="Nunito Bold"/>
                <a:cs typeface="Nunito Bold"/>
                <a:sym typeface="Nunito Bold"/>
              </a:rPr>
              <a:t>2</a:t>
            </a:r>
            <a:r>
              <a:rPr lang="en-US" sz="1700" b="true" baseline="30000">
                <a:solidFill>
                  <a:srgbClr val="111111"/>
                </a:solidFill>
                <a:latin typeface="Nunito Bold"/>
                <a:ea typeface="Nunito Bold"/>
                <a:cs typeface="Nunito Bold"/>
                <a:sym typeface="Nunito Bold"/>
              </a:rPr>
              <a:t>|F|</a:t>
            </a:r>
            <a:r>
              <a:rPr lang="en-US" sz="1700" b="true">
                <a:solidFill>
                  <a:srgbClr val="111111"/>
                </a:solidFill>
                <a:latin typeface="Nunito Bold"/>
                <a:ea typeface="Nunito Bold"/>
                <a:cs typeface="Nunito Bold"/>
                <a:sym typeface="Nunito Bold"/>
              </a:rPr>
              <a:t> coalitions</a:t>
            </a:r>
            <a:r>
              <a:rPr lang="en-US" sz="1700" b="true">
                <a:solidFill>
                  <a:srgbClr val="111111"/>
                </a:solidFill>
                <a:latin typeface="Nunito Semi-Bold"/>
                <a:ea typeface="Nunito Semi-Bold"/>
                <a:cs typeface="Nunito Semi-Bold"/>
                <a:sym typeface="Nunito Semi-Bold"/>
              </a:rPr>
              <a:t> — for 11 wine features that is 2,048 K-Means runs per evaluation; for large data, infeasible.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8" name="Picture 7" descr="image.png"/>
          <p:cNvPicPr>
            <a:picLocks noChangeAspect="1"/>
          </p:cNvPicPr>
          <p:nvPr/>
        </p:nvPicPr>
        <p:blipFill>
          <a:blip r:embed="rId2"/>
          <a:stretch>
            <a:fillRect/>
          </a:stretch>
        </p:blipFill>
        <p:spPr>
          <a:xfrm>
            <a:off x="12801592" y="1673352"/>
            <a:ext cx="457200" cy="250983"/>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14" name="Connector 13"/>
          <p:cNvCxnSpPr/>
          <p:nvPr/>
        </p:nvCxnSpPr>
        <p:spPr>
          <a:xfrm>
            <a:off x="4027932" y="4049522"/>
            <a:ext cx="1362456" cy="0"/>
          </a:xfrm>
          <a:prstGeom prst="line">
            <a:avLst/>
          </a:prstGeom>
          <a:ln w="31750">
            <a:solidFill>
              <a:srgbClr val="124944"/>
            </a:solidFill>
            <a:tailEnd type="triangle" w="med" len="med"/>
          </a:ln>
        </p:spPr>
      </p:cxnSp>
      <p:sp>
        <p:nvSpPr>
          <p:cNvPr id="15" name="Rounded Rectangle 14"/>
          <p:cNvSpPr/>
          <p:nvPr/>
        </p:nvSpPr>
        <p:spPr>
          <a:xfrm>
            <a:off x="546354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16" name="Connector 15"/>
          <p:cNvCxnSpPr/>
          <p:nvPr/>
        </p:nvCxnSpPr>
        <p:spPr>
          <a:xfrm>
            <a:off x="8462772" y="4049522"/>
            <a:ext cx="1362456" cy="0"/>
          </a:xfrm>
          <a:prstGeom prst="line">
            <a:avLst/>
          </a:prstGeom>
          <a:ln w="31750">
            <a:solidFill>
              <a:srgbClr val="124944"/>
            </a:solidFill>
            <a:tailEnd type="triangle" w="med" len="med"/>
          </a:ln>
        </p:spPr>
      </p:cxnSp>
      <p:sp>
        <p:nvSpPr>
          <p:cNvPr id="17" name="Rounded Rectangle 16"/>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18" name="Connector 17"/>
          <p:cNvCxnSpPr/>
          <p:nvPr/>
        </p:nvCxnSpPr>
        <p:spPr>
          <a:xfrm>
            <a:off x="12897612" y="4049522"/>
            <a:ext cx="1362456" cy="0"/>
          </a:xfrm>
          <a:prstGeom prst="line">
            <a:avLst/>
          </a:prstGeom>
          <a:ln w="31750">
            <a:solidFill>
              <a:srgbClr val="124944"/>
            </a:solidFill>
            <a:tailEnd type="triangle" w="med" len="med"/>
          </a:ln>
        </p:spPr>
      </p:cxnSp>
      <p:sp>
        <p:nvSpPr>
          <p:cNvPr id="19" name="Rounded Rectangle 18"/>
          <p:cNvSpPr/>
          <p:nvPr/>
        </p:nvSpPr>
        <p:spPr>
          <a:xfrm>
            <a:off x="14333220" y="3455162"/>
            <a:ext cx="2926080" cy="1188720"/>
          </a:xfrm>
          <a:prstGeom prst="roundRect">
            <a:avLst>
              <a:gd name="adj" fmla="val 16923"/>
            </a:avLst>
          </a:prstGeom>
          <a:solidFill>
            <a:srgbClr val="DF8330"/>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20" name="Rounded Rectangle 19"/>
          <p:cNvSpPr/>
          <p:nvPr/>
        </p:nvSpPr>
        <p:spPr>
          <a:xfrm>
            <a:off x="1028700" y="5283962"/>
            <a:ext cx="7932420" cy="4070350"/>
          </a:xfrm>
          <a:prstGeom prst="roundRect">
            <a:avLst>
              <a:gd name="adj" fmla="val 7638"/>
            </a:avLst>
          </a:prstGeom>
          <a:solidFill>
            <a:srgbClr val="124944"/>
          </a:solidFill>
          <a:ln>
            <a:noFill/>
          </a:ln>
        </p:spPr>
        <p:txBody>
          <a:bodyPr anchor="ctr" rtlCol="false" lIns="0" tIns="0" rIns="0" bIns="0" wrap="square"/>
          <a:lstStyle/>
          <a:p>
            <a:endParaRPr lang="en-US" sz="1800"/>
          </a:p>
        </p:txBody>
      </p:sp>
      <p:sp>
        <p:nvSpPr>
          <p:cNvPr id="21" name="Rounded Rectangle 20"/>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How</a:t>
            </a:r>
          </a:p>
        </p:txBody>
      </p:sp>
      <p:sp>
        <p:nvSpPr>
          <p:cNvPr id="22" name="TextBox 21"/>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632"/>
              </a:lnSpc>
              <a:spcBef>
                <a:spcPts val="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Once K-Means produces cluster labels, train a </a:t>
            </a:r>
            <a:r>
              <a:rPr lang="en-US" sz="1880" b="true">
                <a:solidFill>
                  <a:srgbClr val="FFFFFF"/>
                </a:solidFill>
                <a:latin typeface="Nunito Bold"/>
                <a:ea typeface="Nunito Bold"/>
                <a:cs typeface="Nunito Bold"/>
                <a:sym typeface="Nunito Bold"/>
              </a:rPr>
              <a:t>LightGBM multiclass surrogate</a:t>
            </a:r>
            <a:r>
              <a:rPr lang="en-US" sz="188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632"/>
              </a:lnSpc>
              <a:spcBef>
                <a:spcPts val="94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Apply </a:t>
            </a:r>
            <a:r>
              <a:rPr lang="en-US" sz="1880" b="true">
                <a:solidFill>
                  <a:srgbClr val="FFFFFF"/>
                </a:solidFill>
                <a:latin typeface="Nunito Bold"/>
                <a:ea typeface="Nunito Bold"/>
                <a:cs typeface="Nunito Bold"/>
                <a:sym typeface="Nunito Bold"/>
              </a:rPr>
              <a:t>TreeSHAP</a:t>
            </a:r>
            <a:r>
              <a:rPr lang="en-US" sz="1880" b="true">
                <a:solidFill>
                  <a:srgbClr val="FFFFFF"/>
                </a:solidFill>
                <a:latin typeface="Nunito Semi-Bold"/>
                <a:ea typeface="Nunito Semi-Bold"/>
                <a:cs typeface="Nunito Semi-Bold"/>
                <a:sym typeface="Nunito Semi-Bold"/>
              </a:rPr>
              <a:t> to the surrogate — fast, exact tree-based attribution in the original semantic feature space.</a:t>
            </a:r>
          </a:p>
          <a:p>
            <a:pPr algn="l" marL="274320" indent="-274320">
              <a:lnSpc>
                <a:spcPts val="2632"/>
              </a:lnSpc>
              <a:spcBef>
                <a:spcPts val="94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Aggregate into </a:t>
            </a:r>
            <a:r>
              <a:rPr lang="en-US" sz="1880" b="true">
                <a:solidFill>
                  <a:srgbClr val="FFFFFF"/>
                </a:solidFill>
                <a:latin typeface="Nunito Bold"/>
                <a:ea typeface="Nunito Bold"/>
                <a:cs typeface="Nunito Bold"/>
                <a:sym typeface="Nunito Bold"/>
              </a:rPr>
              <a:t>global importance</a:t>
            </a:r>
            <a:r>
              <a:rPr lang="en-US" sz="1880" b="true">
                <a:solidFill>
                  <a:srgbClr val="FFFFFF"/>
                </a:solidFill>
                <a:latin typeface="Nunito Semi-Bold"/>
                <a:ea typeface="Nunito Semi-Bold"/>
                <a:cs typeface="Nunito Semi-Bold"/>
                <a:sym typeface="Nunito Semi-Bold"/>
              </a:rPr>
              <a:t>, </a:t>
            </a:r>
            <a:r>
              <a:rPr lang="en-US" sz="1880" b="true">
                <a:solidFill>
                  <a:srgbClr val="FFFFFF"/>
                </a:solidFill>
                <a:latin typeface="Nunito Bold"/>
                <a:ea typeface="Nunito Bold"/>
                <a:cs typeface="Nunito Bold"/>
                <a:sym typeface="Nunito Bold"/>
              </a:rPr>
              <a:t>cluster-specific profiles</a:t>
            </a:r>
            <a:r>
              <a:rPr lang="en-US" sz="1880" b="true">
                <a:solidFill>
                  <a:srgbClr val="FFFFFF"/>
                </a:solidFill>
                <a:latin typeface="Nunito Semi-Bold"/>
                <a:ea typeface="Nunito Semi-Bold"/>
                <a:cs typeface="Nunito Semi-Bold"/>
                <a:sym typeface="Nunito Semi-Bold"/>
              </a:rPr>
              <a:t> and </a:t>
            </a:r>
            <a:r>
              <a:rPr lang="en-US" sz="1880" b="true">
                <a:solidFill>
                  <a:srgbClr val="FFFFFF"/>
                </a:solidFill>
                <a:latin typeface="Nunito Bold"/>
                <a:ea typeface="Nunito Bold"/>
                <a:cs typeface="Nunito Bold"/>
                <a:sym typeface="Nunito Bold"/>
              </a:rPr>
              <a:t>local force plots</a:t>
            </a:r>
            <a:r>
              <a:rPr lang="en-US" sz="1880" b="true">
                <a:solidFill>
                  <a:srgbClr val="FFFFFF"/>
                </a:solidFill>
                <a:latin typeface="Nunito Semi-Bold"/>
                <a:ea typeface="Nunito Semi-Bold"/>
                <a:cs typeface="Nunito Semi-Bold"/>
                <a:sym typeface="Nunito Semi-Bold"/>
              </a:rPr>
              <a:t>.</a:t>
            </a:r>
          </a:p>
        </p:txBody>
      </p:sp>
      <p:sp>
        <p:nvSpPr>
          <p:cNvPr id="23" name="Rounded Rectangle 22"/>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24" name="Rounded Rectangle 23"/>
          <p:cNvSpPr/>
          <p:nvPr/>
        </p:nvSpPr>
        <p:spPr>
          <a:xfrm>
            <a:off x="9784080" y="5046218"/>
            <a:ext cx="129839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25" name="TextBox 24"/>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The surrogate preserves the </a:t>
            </a:r>
            <a:r>
              <a:rPr lang="en-US" sz="1820" b="true">
                <a:solidFill>
                  <a:srgbClr val="111111"/>
                </a:solidFill>
                <a:latin typeface="Nunito Bold"/>
                <a:ea typeface="Nunito Bold"/>
                <a:cs typeface="Nunito Bold"/>
                <a:sym typeface="Nunito Bold"/>
              </a:rPr>
              <a:t>chemistry / pollution vocabulary</a:t>
            </a:r>
            <a:r>
              <a:rPr lang="en-US" sz="1820" b="true">
                <a:solidFill>
                  <a:srgbClr val="111111"/>
                </a:solidFill>
                <a:latin typeface="Nunito Semi-Bold"/>
                <a:ea typeface="Nunito Semi-Bold"/>
                <a:cs typeface="Nunito Semi-Bold"/>
                <a:sym typeface="Nunito Semi-Bold"/>
              </a:rPr>
              <a:t> that makes the analysis actionable.</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Pipeline in Five Stages</a:t>
            </a:r>
          </a:p>
        </p:txBody>
      </p:sp>
      <p:pic>
        <p:nvPicPr>
          <p:cNvPr id="8" name="Picture 7" descr="image.png"/>
          <p:cNvPicPr>
            <a:picLocks noChangeAspect="1"/>
          </p:cNvPicPr>
          <p:nvPr/>
        </p:nvPicPr>
        <p:blipFill>
          <a:blip r:embed="rId2"/>
          <a:stretch>
            <a:fillRect/>
          </a:stretch>
        </p:blipFill>
        <p:spPr>
          <a:xfrm>
            <a:off x="6938245" y="1673352"/>
            <a:ext cx="457200" cy="539881"/>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363722"/>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14" name="Oval 13"/>
          <p:cNvSpPr/>
          <p:nvPr/>
        </p:nvSpPr>
        <p:spPr>
          <a:xfrm>
            <a:off x="1211580" y="3500882"/>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15" name="TextBox 14"/>
          <p:cNvSpPr txBox="1"/>
          <p:nvPr/>
        </p:nvSpPr>
        <p:spPr>
          <a:xfrm>
            <a:off x="1988820" y="3363722"/>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PCA</a:t>
            </a:r>
            <a:r>
              <a:rPr lang="en-US" sz="1900" b="true">
                <a:solidFill>
                  <a:srgbClr val="111111"/>
                </a:solidFill>
                <a:latin typeface="Nunito Semi-Bold"/>
                <a:ea typeface="Nunito Semi-Bold"/>
                <a:cs typeface="Nunito Semi-Bold"/>
                <a:sym typeface="Nunito Semi-Bold"/>
              </a:rPr>
              <a:t> — Stabilise geometry + visual diagnostic — </a:t>
            </a:r>
            <a:r>
              <a:rPr lang="en-US" sz="1900" b="true">
                <a:solidFill>
                  <a:srgbClr val="111111"/>
                </a:solidFill>
                <a:latin typeface="Nunito Bold"/>
                <a:ea typeface="Nunito Bold"/>
                <a:cs typeface="Nunito Bold"/>
                <a:sym typeface="Nunito Bold"/>
              </a:rPr>
              <a:t>NOT</a:t>
            </a:r>
            <a:r>
              <a:rPr lang="en-US" sz="1900" b="true">
                <a:solidFill>
                  <a:srgbClr val="111111"/>
                </a:solidFill>
                <a:latin typeface="Nunito Semi-Bold"/>
                <a:ea typeface="Nunito Semi-Bold"/>
                <a:cs typeface="Nunito Semi-Bold"/>
                <a:sym typeface="Nunito Semi-Bold"/>
              </a:rPr>
              <a:t> the explanatory space.</a:t>
            </a:r>
          </a:p>
        </p:txBody>
      </p:sp>
      <p:sp>
        <p:nvSpPr>
          <p:cNvPr id="16" name="Rounded Rectangle 15"/>
          <p:cNvSpPr/>
          <p:nvPr/>
        </p:nvSpPr>
        <p:spPr>
          <a:xfrm>
            <a:off x="1028700" y="4332986"/>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17" name="Oval 16"/>
          <p:cNvSpPr/>
          <p:nvPr/>
        </p:nvSpPr>
        <p:spPr>
          <a:xfrm>
            <a:off x="1211580" y="4470146"/>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18" name="TextBox 17"/>
          <p:cNvSpPr txBox="1"/>
          <p:nvPr/>
        </p:nvSpPr>
        <p:spPr>
          <a:xfrm>
            <a:off x="1988820" y="4332986"/>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K-Means++</a:t>
            </a:r>
            <a:r>
              <a:rPr lang="en-US" sz="1900" b="true">
                <a:solidFill>
                  <a:srgbClr val="111111"/>
                </a:solidFill>
                <a:latin typeface="Nunito Semi-Bold"/>
                <a:ea typeface="Nunito Semi-Bold"/>
                <a:cs typeface="Nunito Semi-Bold"/>
                <a:sym typeface="Nunito Semi-Bold"/>
              </a:rPr>
              <a:t> — Multi-criteria k selection: elbow, Silhouette, Davies–Bouldin.</a:t>
            </a:r>
          </a:p>
        </p:txBody>
      </p:sp>
      <p:sp>
        <p:nvSpPr>
          <p:cNvPr id="19" name="Rounded Rectangle 18"/>
          <p:cNvSpPr/>
          <p:nvPr/>
        </p:nvSpPr>
        <p:spPr>
          <a:xfrm>
            <a:off x="1028700" y="5302250"/>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20" name="Oval 19"/>
          <p:cNvSpPr/>
          <p:nvPr/>
        </p:nvSpPr>
        <p:spPr>
          <a:xfrm>
            <a:off x="1211580" y="543941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21" name="TextBox 20"/>
          <p:cNvSpPr txBox="1"/>
          <p:nvPr/>
        </p:nvSpPr>
        <p:spPr>
          <a:xfrm>
            <a:off x="1988820" y="5302250"/>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LightGBM surrogate</a:t>
            </a:r>
            <a:r>
              <a:rPr lang="en-US" sz="1900" b="true">
                <a:solidFill>
                  <a:srgbClr val="111111"/>
                </a:solidFill>
                <a:latin typeface="Nunito Semi-Bold"/>
                <a:ea typeface="Nunito Semi-Bold"/>
                <a:cs typeface="Nunito Semi-Bold"/>
                <a:sym typeface="Nunito Semi-Bold"/>
              </a:rPr>
              <a:t> — Trained on original features to predict cluster labels.</a:t>
            </a:r>
          </a:p>
        </p:txBody>
      </p:sp>
      <p:sp>
        <p:nvSpPr>
          <p:cNvPr id="22" name="Rounded Rectangle 21"/>
          <p:cNvSpPr/>
          <p:nvPr/>
        </p:nvSpPr>
        <p:spPr>
          <a:xfrm>
            <a:off x="1028700" y="6271514"/>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23" name="Oval 22"/>
          <p:cNvSpPr/>
          <p:nvPr/>
        </p:nvSpPr>
        <p:spPr>
          <a:xfrm>
            <a:off x="1211580" y="640867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24" name="TextBox 23"/>
          <p:cNvSpPr txBox="1"/>
          <p:nvPr/>
        </p:nvSpPr>
        <p:spPr>
          <a:xfrm>
            <a:off x="1988820" y="6271514"/>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TreeSHAP</a:t>
            </a:r>
            <a:r>
              <a:rPr lang="en-US" sz="1900" b="true">
                <a:solidFill>
                  <a:srgbClr val="111111"/>
                </a:solidFill>
                <a:latin typeface="Nunito Semi-Bold"/>
                <a:ea typeface="Nunito Semi-Bold"/>
                <a:cs typeface="Nunito Semi-Bold"/>
                <a:sym typeface="Nunito Semi-Bold"/>
              </a:rPr>
              <a:t> — Attribution in the original feature space.</a:t>
            </a:r>
          </a:p>
        </p:txBody>
      </p:sp>
      <p:sp>
        <p:nvSpPr>
          <p:cNvPr id="25" name="Rounded Rectangle 24"/>
          <p:cNvSpPr/>
          <p:nvPr/>
        </p:nvSpPr>
        <p:spPr>
          <a:xfrm>
            <a:off x="1028700" y="7240778"/>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211580" y="7377938"/>
            <a:ext cx="566928" cy="566928"/>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5</a:t>
            </a:r>
          </a:p>
        </p:txBody>
      </p:sp>
      <p:sp>
        <p:nvSpPr>
          <p:cNvPr id="27" name="TextBox 26"/>
          <p:cNvSpPr txBox="1"/>
          <p:nvPr/>
        </p:nvSpPr>
        <p:spPr>
          <a:xfrm>
            <a:off x="1988820" y="7240778"/>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Aggregate</a:t>
            </a:r>
            <a:r>
              <a:rPr lang="en-US" sz="1900" b="true">
                <a:solidFill>
                  <a:srgbClr val="111111"/>
                </a:solidFill>
                <a:latin typeface="Nunito Semi-Bold"/>
                <a:ea typeface="Nunito Semi-Bold"/>
                <a:cs typeface="Nunito Semi-Bold"/>
                <a:sym typeface="Nunito Semi-Bold"/>
              </a:rPr>
              <a:t> — Global importance, cluster-specific profiles, local force plots.</a:t>
            </a:r>
          </a:p>
        </p:txBody>
      </p:sp>
      <p:sp>
        <p:nvSpPr>
          <p:cNvPr id="28" name="Rounded Rectangle 27"/>
          <p:cNvSpPr/>
          <p:nvPr/>
        </p:nvSpPr>
        <p:spPr>
          <a:xfrm>
            <a:off x="1028700" y="8301482"/>
            <a:ext cx="8961120" cy="1052830"/>
          </a:xfrm>
          <a:prstGeom prst="roundRect">
            <a:avLst>
              <a:gd name="adj" fmla="val 19107"/>
            </a:avLst>
          </a:prstGeom>
          <a:solidFill>
            <a:srgbClr val="124944"/>
          </a:solidFill>
          <a:ln>
            <a:noFill/>
          </a:ln>
        </p:spPr>
        <p:txBody>
          <a:bodyPr anchor="ctr" rtlCol="false" lIns="365760" tIns="91440" rIns="365760" bIns="9144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Complexity:</a:t>
            </a:r>
            <a:r>
              <a:rPr lang="en-US" sz="1700" b="true">
                <a:solidFill>
                  <a:srgbClr val="FFFFFF"/>
                </a:solidFill>
                <a:latin typeface="Nunito Semi-Bold"/>
                <a:ea typeface="Nunito Semi-Bold"/>
                <a:cs typeface="Nunito Semi-Bold"/>
                <a:sym typeface="Nunito Semi-Bold"/>
              </a:rPr>
              <a:t> dominated by PCA and repeated K-Means; TreeSHAP scales with tree count and depth — </a:t>
            </a:r>
            <a:r>
              <a:rPr lang="en-US" sz="1700" b="true">
                <a:solidFill>
                  <a:srgbClr val="FFFFFF"/>
                </a:solidFill>
                <a:latin typeface="Nunito Bold"/>
                <a:ea typeface="Nunito Bold"/>
                <a:cs typeface="Nunito Bold"/>
                <a:sym typeface="Nunito Bold"/>
              </a:rPr>
              <a:t>not exponentially in features</a:t>
            </a:r>
            <a:r>
              <a:rPr lang="en-US" sz="17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447020" y="3363722"/>
            <a:ext cx="6812280" cy="5944870"/>
          </a:xfrm>
          <a:prstGeom prst="roundRect">
            <a:avLst>
              <a:gd name="adj" fmla="val 384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c1_pipeline.png"/>
          <p:cNvPicPr>
            <a:picLocks noChangeAspect="1"/>
          </p:cNvPicPr>
          <p:nvPr/>
        </p:nvPicPr>
        <p:blipFill>
          <a:blip r:embed="rId4"/>
          <a:stretch>
            <a:fillRect/>
          </a:stretch>
        </p:blipFill>
        <p:spPr>
          <a:xfrm>
            <a:off x="11292205" y="3546602"/>
            <a:ext cx="5121910" cy="5121910"/>
          </a:xfrm>
          <a:prstGeom prst="rect">
            <a:avLst/>
          </a:prstGeom>
        </p:spPr>
      </p:pic>
      <p:sp>
        <p:nvSpPr>
          <p:cNvPr id="31" name="TextBox 30"/>
          <p:cNvSpPr txBox="1"/>
          <p:nvPr/>
        </p:nvSpPr>
        <p:spPr>
          <a:xfrm>
            <a:off x="10447020" y="8759952"/>
            <a:ext cx="6812280" cy="4572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8A8378"/>
                </a:solidFill>
                <a:latin typeface="Nunito Semi-Bold"/>
                <a:ea typeface="Nunito Semi-Bold"/>
                <a:cs typeface="Nunito Semi-Bold"/>
                <a:sym typeface="Nunito Semi-Bold"/>
              </a:rPr>
              <a:t>Flowchart of the explainable clustering pipeline (Chapter 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 Interpretability over Geometry</a:t>
            </a:r>
          </a:p>
        </p:txBody>
      </p:sp>
      <p:pic>
        <p:nvPicPr>
          <p:cNvPr id="8" name="Picture 7" descr="image.png"/>
          <p:cNvPicPr>
            <a:picLocks noChangeAspect="1"/>
          </p:cNvPicPr>
          <p:nvPr/>
        </p:nvPicPr>
        <p:blipFill>
          <a:blip r:embed="rId2"/>
          <a:stretch>
            <a:fillRect/>
          </a:stretch>
        </p:blipFill>
        <p:spPr>
          <a:xfrm>
            <a:off x="12690822" y="1673352"/>
            <a:ext cx="457200" cy="373212"/>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TextBox 12"/>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 even though it is NOT geometrically optimal</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semantically richer oenological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14" name="Table 13"/>
          <p:cNvGraphicFramePr>
            <a:graphicFrameLocks noGrp="1"/>
          </p:cNvGraphicFramePr>
          <p:nvPr/>
        </p:nvGraphicFramePr>
        <p:xfrm>
          <a:off x="9441180" y="3363722"/>
          <a:ext cx="7818120" cy="2330196"/>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semantics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oenological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5" name="Rounded Rectangle 14"/>
          <p:cNvSpPr/>
          <p:nvPr/>
        </p:nvSpPr>
        <p:spPr>
          <a:xfrm>
            <a:off x="9441180" y="6059678"/>
            <a:ext cx="3771900" cy="3248914"/>
          </a:xfrm>
          <a:prstGeom prst="roundRect">
            <a:avLst>
              <a:gd name="adj" fmla="val 8443"/>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16" name="Rounded Rectangle 15"/>
          <p:cNvSpPr/>
          <p:nvPr/>
        </p:nvSpPr>
        <p:spPr>
          <a:xfrm>
            <a:off x="13487400" y="6059678"/>
            <a:ext cx="3771900" cy="3248914"/>
          </a:xfrm>
          <a:prstGeom prst="roundRect">
            <a:avLst>
              <a:gd name="adj" fmla="val 84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 Wine Quality</a:t>
            </a:r>
          </a:p>
        </p:txBody>
      </p:sp>
      <p:pic>
        <p:nvPicPr>
          <p:cNvPr id="8" name="Picture 7" descr="image.png"/>
          <p:cNvPicPr>
            <a:picLocks noChangeAspect="1"/>
          </p:cNvPicPr>
          <p:nvPr/>
        </p:nvPicPr>
        <p:blipFill>
          <a:blip r:embed="rId2"/>
          <a:stretch>
            <a:fillRect/>
          </a:stretch>
        </p:blipFill>
        <p:spPr>
          <a:xfrm>
            <a:off x="10908445" y="1673352"/>
            <a:ext cx="457200" cy="427074"/>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TextBox 12"/>
          <p:cNvSpPr txBox="1"/>
          <p:nvPr/>
        </p:nvSpPr>
        <p:spPr>
          <a:xfrm>
            <a:off x="1028700" y="3363722"/>
            <a:ext cx="841248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MEAN |SHAP| — RELATIVE RANKING (HIGH </a:t>
            </a:r>
            <a:r>
              <a:rPr lang="en-US" sz="1400" b="true" spc="160">
                <a:solidFill>
                  <a:srgbClr val="DF8330"/>
                </a:solidFill>
                <a:latin typeface="Calibri"/>
                <a:ea typeface="Calibri"/>
                <a:cs typeface="Calibri"/>
                <a:sym typeface="Calibri"/>
              </a:rPr>
              <a:t>→ </a:t>
            </a:r>
            <a:r>
              <a:rPr lang="en-US" sz="1400" b="true" spc="160">
                <a:solidFill>
                  <a:srgbClr val="DF8330"/>
                </a:solidFill>
                <a:latin typeface="Nunito Ultra-Bold"/>
                <a:ea typeface="Nunito Ultra-Bold"/>
                <a:cs typeface="Nunito Ultra-Bold"/>
                <a:sym typeface="Nunito Ultra-Bold"/>
              </a:rPr>
              <a:t>LOW)</a:t>
            </a:r>
          </a:p>
        </p:txBody>
      </p:sp>
      <p:sp>
        <p:nvSpPr>
          <p:cNvPr id="14" name="TextBox 13"/>
          <p:cNvSpPr txBox="1"/>
          <p:nvPr/>
        </p:nvSpPr>
        <p:spPr>
          <a:xfrm>
            <a:off x="1028700" y="3912362"/>
            <a:ext cx="2377440" cy="658368"/>
          </a:xfrm>
          <a:prstGeom prst="rect">
            <a:avLst/>
          </a:prstGeom>
          <a:noFill/>
        </p:spPr>
        <p:txBody>
          <a:bodyPr anchor="ctr" rtlCol="false" lIns="0" tIns="0" rIns="0" bIns="0" wrap="square"/>
          <a:lstStyle/>
          <a:p>
            <a:pPr algn="r">
              <a:lnSpc>
                <a:spcPts val="2400"/>
              </a:lnSpc>
              <a:spcBef>
                <a:spcPts val="0"/>
              </a:spcBef>
              <a:buNone/>
            </a:pPr>
            <a:r>
              <a:rPr lang="en-US" sz="2000" b="true">
                <a:solidFill>
                  <a:srgbClr val="111111"/>
                </a:solidFill>
                <a:latin typeface="Nunito Bold"/>
                <a:ea typeface="Nunito Bold"/>
                <a:cs typeface="Nunito Bold"/>
                <a:sym typeface="Nunito Bold"/>
              </a:rPr>
              <a:t>density</a:t>
            </a:r>
          </a:p>
        </p:txBody>
      </p:sp>
      <p:sp>
        <p:nvSpPr>
          <p:cNvPr id="15" name="Rounded Rectangle 14"/>
          <p:cNvSpPr/>
          <p:nvPr/>
        </p:nvSpPr>
        <p:spPr>
          <a:xfrm>
            <a:off x="3634740" y="3912362"/>
            <a:ext cx="5806440" cy="658368"/>
          </a:xfrm>
          <a:prstGeom prst="roundRect">
            <a:avLst>
              <a:gd name="adj" fmla="val 13888"/>
            </a:avLst>
          </a:prstGeom>
          <a:solidFill>
            <a:srgbClr val="124944"/>
          </a:solidFill>
          <a:ln>
            <a:noFill/>
          </a:ln>
        </p:spPr>
        <p:txBody>
          <a:bodyPr anchor="ctr" rtlCol="false" lIns="0" tIns="0" rIns="0" bIns="0" wrap="square"/>
          <a:lstStyle/>
          <a:p>
            <a:endParaRPr lang="en-US" sz="1800"/>
          </a:p>
        </p:txBody>
      </p:sp>
      <p:sp>
        <p:nvSpPr>
          <p:cNvPr id="16" name="TextBox 15"/>
          <p:cNvSpPr txBox="1"/>
          <p:nvPr/>
        </p:nvSpPr>
        <p:spPr>
          <a:xfrm>
            <a:off x="3771900" y="3912362"/>
            <a:ext cx="1097280" cy="658368"/>
          </a:xfrm>
          <a:prstGeom prst="rect">
            <a:avLst/>
          </a:prstGeom>
          <a:noFill/>
        </p:spPr>
        <p:txBody>
          <a:bodyPr anchor="ctr" rtlCol="false" lIns="0" tIns="0" rIns="0" bIns="0" wrap="square"/>
          <a:lstStyle/>
          <a:p>
            <a:pPr algn="l">
              <a:lnSpc>
                <a:spcPts val="2200"/>
              </a:lnSpc>
              <a:spcBef>
                <a:spcPts val="0"/>
              </a:spcBef>
              <a:buNone/>
            </a:pPr>
            <a:r>
              <a:rPr lang="en-US" sz="1800" b="true">
                <a:solidFill>
                  <a:srgbClr val="FFFFFF"/>
                </a:solidFill>
                <a:latin typeface="Nunito Ultra-Bold"/>
                <a:ea typeface="Nunito Ultra-Bold"/>
                <a:cs typeface="Nunito Ultra-Bold"/>
                <a:sym typeface="Nunito Ultra-Bold"/>
              </a:rPr>
              <a:t>1</a:t>
            </a:r>
          </a:p>
        </p:txBody>
      </p:sp>
      <p:sp>
        <p:nvSpPr>
          <p:cNvPr id="17" name="TextBox 16"/>
          <p:cNvSpPr txBox="1"/>
          <p:nvPr/>
        </p:nvSpPr>
        <p:spPr>
          <a:xfrm>
            <a:off x="1028700" y="4771898"/>
            <a:ext cx="2377440" cy="658368"/>
          </a:xfrm>
          <a:prstGeom prst="rect">
            <a:avLst/>
          </a:prstGeom>
          <a:noFill/>
        </p:spPr>
        <p:txBody>
          <a:bodyPr anchor="ctr" rtlCol="false" lIns="0" tIns="0" rIns="0" bIns="0" wrap="square"/>
          <a:lstStyle/>
          <a:p>
            <a:pPr algn="r">
              <a:lnSpc>
                <a:spcPts val="2400"/>
              </a:lnSpc>
              <a:spcBef>
                <a:spcPts val="0"/>
              </a:spcBef>
              <a:buNone/>
            </a:pPr>
            <a:r>
              <a:rPr lang="en-US" sz="2000" b="true">
                <a:solidFill>
                  <a:srgbClr val="111111"/>
                </a:solidFill>
                <a:latin typeface="Nunito Bold"/>
                <a:ea typeface="Nunito Bold"/>
                <a:cs typeface="Nunito Bold"/>
                <a:sym typeface="Nunito Bold"/>
              </a:rPr>
              <a:t>pH</a:t>
            </a:r>
          </a:p>
        </p:txBody>
      </p:sp>
      <p:sp>
        <p:nvSpPr>
          <p:cNvPr id="18" name="Rounded Rectangle 17"/>
          <p:cNvSpPr/>
          <p:nvPr/>
        </p:nvSpPr>
        <p:spPr>
          <a:xfrm>
            <a:off x="3634740" y="4771898"/>
            <a:ext cx="4761280" cy="658368"/>
          </a:xfrm>
          <a:prstGeom prst="roundRect">
            <a:avLst>
              <a:gd name="adj" fmla="val 13888"/>
            </a:avLst>
          </a:prstGeom>
          <a:solidFill>
            <a:srgbClr val="124944"/>
          </a:solidFill>
          <a:ln>
            <a:noFill/>
          </a:ln>
        </p:spPr>
        <p:txBody>
          <a:bodyPr anchor="ctr" rtlCol="false" lIns="0" tIns="0" rIns="0" bIns="0" wrap="square"/>
          <a:lstStyle/>
          <a:p>
            <a:endParaRPr lang="en-US" sz="1800"/>
          </a:p>
        </p:txBody>
      </p:sp>
      <p:sp>
        <p:nvSpPr>
          <p:cNvPr id="19" name="TextBox 18"/>
          <p:cNvSpPr txBox="1"/>
          <p:nvPr/>
        </p:nvSpPr>
        <p:spPr>
          <a:xfrm>
            <a:off x="3771900" y="4771898"/>
            <a:ext cx="1097280" cy="658368"/>
          </a:xfrm>
          <a:prstGeom prst="rect">
            <a:avLst/>
          </a:prstGeom>
          <a:noFill/>
        </p:spPr>
        <p:txBody>
          <a:bodyPr anchor="ctr" rtlCol="false" lIns="0" tIns="0" rIns="0" bIns="0" wrap="square"/>
          <a:lstStyle/>
          <a:p>
            <a:pPr algn="l">
              <a:lnSpc>
                <a:spcPts val="2200"/>
              </a:lnSpc>
              <a:spcBef>
                <a:spcPts val="0"/>
              </a:spcBef>
              <a:buNone/>
            </a:pPr>
            <a:r>
              <a:rPr lang="en-US" sz="1800" b="true">
                <a:solidFill>
                  <a:srgbClr val="FFFFFF"/>
                </a:solidFill>
                <a:latin typeface="Nunito Ultra-Bold"/>
                <a:ea typeface="Nunito Ultra-Bold"/>
                <a:cs typeface="Nunito Ultra-Bold"/>
                <a:sym typeface="Nunito Ultra-Bold"/>
              </a:rPr>
              <a:t>2</a:t>
            </a:r>
          </a:p>
        </p:txBody>
      </p:sp>
      <p:sp>
        <p:nvSpPr>
          <p:cNvPr id="20" name="TextBox 19"/>
          <p:cNvSpPr txBox="1"/>
          <p:nvPr/>
        </p:nvSpPr>
        <p:spPr>
          <a:xfrm>
            <a:off x="1028700" y="5631434"/>
            <a:ext cx="2377440" cy="658368"/>
          </a:xfrm>
          <a:prstGeom prst="rect">
            <a:avLst/>
          </a:prstGeom>
          <a:noFill/>
        </p:spPr>
        <p:txBody>
          <a:bodyPr anchor="ctr" rtlCol="false" lIns="0" tIns="0" rIns="0" bIns="0" wrap="square"/>
          <a:lstStyle/>
          <a:p>
            <a:pPr algn="r">
              <a:lnSpc>
                <a:spcPts val="2400"/>
              </a:lnSpc>
              <a:spcBef>
                <a:spcPts val="0"/>
              </a:spcBef>
              <a:buNone/>
            </a:pPr>
            <a:r>
              <a:rPr lang="en-US" sz="2000" b="true">
                <a:solidFill>
                  <a:srgbClr val="111111"/>
                </a:solidFill>
                <a:latin typeface="Nunito Bold"/>
                <a:ea typeface="Nunito Bold"/>
                <a:cs typeface="Nunito Bold"/>
                <a:sym typeface="Nunito Bold"/>
              </a:rPr>
              <a:t>fixed acidity</a:t>
            </a:r>
          </a:p>
        </p:txBody>
      </p:sp>
      <p:sp>
        <p:nvSpPr>
          <p:cNvPr id="21" name="Rounded Rectangle 20"/>
          <p:cNvSpPr/>
          <p:nvPr/>
        </p:nvSpPr>
        <p:spPr>
          <a:xfrm>
            <a:off x="3634740" y="5631434"/>
            <a:ext cx="3948379" cy="658368"/>
          </a:xfrm>
          <a:prstGeom prst="roundRect">
            <a:avLst>
              <a:gd name="adj" fmla="val 13888"/>
            </a:avLst>
          </a:prstGeom>
          <a:solidFill>
            <a:srgbClr val="124944"/>
          </a:solidFill>
          <a:ln>
            <a:noFill/>
          </a:ln>
        </p:spPr>
        <p:txBody>
          <a:bodyPr anchor="ctr" rtlCol="false" lIns="0" tIns="0" rIns="0" bIns="0" wrap="square"/>
          <a:lstStyle/>
          <a:p>
            <a:endParaRPr lang="en-US" sz="1800"/>
          </a:p>
        </p:txBody>
      </p:sp>
      <p:sp>
        <p:nvSpPr>
          <p:cNvPr id="22" name="TextBox 21"/>
          <p:cNvSpPr txBox="1"/>
          <p:nvPr/>
        </p:nvSpPr>
        <p:spPr>
          <a:xfrm>
            <a:off x="3771900" y="5631434"/>
            <a:ext cx="1097280" cy="658368"/>
          </a:xfrm>
          <a:prstGeom prst="rect">
            <a:avLst/>
          </a:prstGeom>
          <a:noFill/>
        </p:spPr>
        <p:txBody>
          <a:bodyPr anchor="ctr" rtlCol="false" lIns="0" tIns="0" rIns="0" bIns="0" wrap="square"/>
          <a:lstStyle/>
          <a:p>
            <a:pPr algn="l">
              <a:lnSpc>
                <a:spcPts val="2200"/>
              </a:lnSpc>
              <a:spcBef>
                <a:spcPts val="0"/>
              </a:spcBef>
              <a:buNone/>
            </a:pPr>
            <a:r>
              <a:rPr lang="en-US" sz="1800" b="true">
                <a:solidFill>
                  <a:srgbClr val="FFFFFF"/>
                </a:solidFill>
                <a:latin typeface="Nunito Ultra-Bold"/>
                <a:ea typeface="Nunito Ultra-Bold"/>
                <a:cs typeface="Nunito Ultra-Bold"/>
                <a:sym typeface="Nunito Ultra-Bold"/>
              </a:rPr>
              <a:t>3</a:t>
            </a:r>
          </a:p>
        </p:txBody>
      </p:sp>
      <p:sp>
        <p:nvSpPr>
          <p:cNvPr id="23" name="TextBox 22"/>
          <p:cNvSpPr txBox="1"/>
          <p:nvPr/>
        </p:nvSpPr>
        <p:spPr>
          <a:xfrm>
            <a:off x="1028700" y="6490970"/>
            <a:ext cx="2377440" cy="658368"/>
          </a:xfrm>
          <a:prstGeom prst="rect">
            <a:avLst/>
          </a:prstGeom>
          <a:noFill/>
        </p:spPr>
        <p:txBody>
          <a:bodyPr anchor="ctr" rtlCol="false" lIns="0" tIns="0" rIns="0" bIns="0" wrap="square"/>
          <a:lstStyle/>
          <a:p>
            <a:pPr algn="r">
              <a:lnSpc>
                <a:spcPts val="2400"/>
              </a:lnSpc>
              <a:spcBef>
                <a:spcPts val="0"/>
              </a:spcBef>
              <a:buNone/>
            </a:pPr>
            <a:r>
              <a:rPr lang="en-US" sz="2000" b="true">
                <a:solidFill>
                  <a:srgbClr val="111111"/>
                </a:solidFill>
                <a:latin typeface="Nunito Bold"/>
                <a:ea typeface="Nunito Bold"/>
                <a:cs typeface="Nunito Bold"/>
                <a:sym typeface="Nunito Bold"/>
              </a:rPr>
              <a:t>sulfur dioxide</a:t>
            </a:r>
          </a:p>
        </p:txBody>
      </p:sp>
      <p:sp>
        <p:nvSpPr>
          <p:cNvPr id="24" name="Rounded Rectangle 23"/>
          <p:cNvSpPr/>
          <p:nvPr/>
        </p:nvSpPr>
        <p:spPr>
          <a:xfrm>
            <a:off x="3634740" y="6490970"/>
            <a:ext cx="3193542" cy="658368"/>
          </a:xfrm>
          <a:prstGeom prst="roundRect">
            <a:avLst>
              <a:gd name="adj" fmla="val 13888"/>
            </a:avLst>
          </a:prstGeom>
          <a:solidFill>
            <a:srgbClr val="DF8330"/>
          </a:solidFill>
          <a:ln>
            <a:noFill/>
          </a:ln>
        </p:spPr>
        <p:txBody>
          <a:bodyPr anchor="ctr" rtlCol="false" lIns="0" tIns="0" rIns="0" bIns="0" wrap="square"/>
          <a:lstStyle/>
          <a:p>
            <a:endParaRPr lang="en-US" sz="1800"/>
          </a:p>
        </p:txBody>
      </p:sp>
      <p:sp>
        <p:nvSpPr>
          <p:cNvPr id="25" name="TextBox 24"/>
          <p:cNvSpPr txBox="1"/>
          <p:nvPr/>
        </p:nvSpPr>
        <p:spPr>
          <a:xfrm>
            <a:off x="3771900" y="6490970"/>
            <a:ext cx="1097280" cy="658368"/>
          </a:xfrm>
          <a:prstGeom prst="rect">
            <a:avLst/>
          </a:prstGeom>
          <a:noFill/>
        </p:spPr>
        <p:txBody>
          <a:bodyPr anchor="ctr" rtlCol="false" lIns="0" tIns="0" rIns="0" bIns="0" wrap="square"/>
          <a:lstStyle/>
          <a:p>
            <a:pPr algn="l">
              <a:lnSpc>
                <a:spcPts val="2200"/>
              </a:lnSpc>
              <a:spcBef>
                <a:spcPts val="0"/>
              </a:spcBef>
              <a:buNone/>
            </a:pPr>
            <a:r>
              <a:rPr lang="en-US" sz="1800" b="true">
                <a:solidFill>
                  <a:srgbClr val="FFFFFF"/>
                </a:solidFill>
                <a:latin typeface="Nunito Ultra-Bold"/>
                <a:ea typeface="Nunito Ultra-Bold"/>
                <a:cs typeface="Nunito Ultra-Bold"/>
                <a:sym typeface="Nunito Ultra-Bold"/>
              </a:rPr>
              <a:t>4</a:t>
            </a:r>
          </a:p>
        </p:txBody>
      </p:sp>
      <p:sp>
        <p:nvSpPr>
          <p:cNvPr id="26" name="TextBox 25"/>
          <p:cNvSpPr txBox="1"/>
          <p:nvPr/>
        </p:nvSpPr>
        <p:spPr>
          <a:xfrm>
            <a:off x="1028700" y="7350506"/>
            <a:ext cx="2377440" cy="658368"/>
          </a:xfrm>
          <a:prstGeom prst="rect">
            <a:avLst/>
          </a:prstGeom>
          <a:noFill/>
        </p:spPr>
        <p:txBody>
          <a:bodyPr anchor="ctr" rtlCol="false" lIns="0" tIns="0" rIns="0" bIns="0" wrap="square"/>
          <a:lstStyle/>
          <a:p>
            <a:pPr algn="r">
              <a:lnSpc>
                <a:spcPts val="2400"/>
              </a:lnSpc>
              <a:spcBef>
                <a:spcPts val="0"/>
              </a:spcBef>
              <a:buNone/>
            </a:pPr>
            <a:r>
              <a:rPr lang="en-US" sz="2000" b="true">
                <a:solidFill>
                  <a:srgbClr val="111111"/>
                </a:solidFill>
                <a:latin typeface="Nunito Bold"/>
                <a:ea typeface="Nunito Bold"/>
                <a:cs typeface="Nunito Bold"/>
                <a:sym typeface="Nunito Bold"/>
              </a:rPr>
              <a:t>alcohol</a:t>
            </a:r>
          </a:p>
        </p:txBody>
      </p:sp>
      <p:sp>
        <p:nvSpPr>
          <p:cNvPr id="27" name="Rounded Rectangle 26"/>
          <p:cNvSpPr/>
          <p:nvPr/>
        </p:nvSpPr>
        <p:spPr>
          <a:xfrm>
            <a:off x="3634740" y="7350506"/>
            <a:ext cx="2554833" cy="658368"/>
          </a:xfrm>
          <a:prstGeom prst="roundRect">
            <a:avLst>
              <a:gd name="adj" fmla="val 13888"/>
            </a:avLst>
          </a:prstGeom>
          <a:solidFill>
            <a:srgbClr val="DF8330"/>
          </a:solidFill>
          <a:ln>
            <a:noFill/>
          </a:ln>
        </p:spPr>
        <p:txBody>
          <a:bodyPr anchor="ctr" rtlCol="false" lIns="0" tIns="0" rIns="0" bIns="0" wrap="square"/>
          <a:lstStyle/>
          <a:p>
            <a:endParaRPr lang="en-US" sz="1800"/>
          </a:p>
        </p:txBody>
      </p:sp>
      <p:sp>
        <p:nvSpPr>
          <p:cNvPr id="28" name="TextBox 27"/>
          <p:cNvSpPr txBox="1"/>
          <p:nvPr/>
        </p:nvSpPr>
        <p:spPr>
          <a:xfrm>
            <a:off x="3771900" y="7350506"/>
            <a:ext cx="1097280" cy="658368"/>
          </a:xfrm>
          <a:prstGeom prst="rect">
            <a:avLst/>
          </a:prstGeom>
          <a:noFill/>
        </p:spPr>
        <p:txBody>
          <a:bodyPr anchor="ctr" rtlCol="false" lIns="0" tIns="0" rIns="0" bIns="0" wrap="square"/>
          <a:lstStyle/>
          <a:p>
            <a:pPr algn="l">
              <a:lnSpc>
                <a:spcPts val="2200"/>
              </a:lnSpc>
              <a:spcBef>
                <a:spcPts val="0"/>
              </a:spcBef>
              <a:buNone/>
            </a:pPr>
            <a:r>
              <a:rPr lang="en-US" sz="1800" b="true">
                <a:solidFill>
                  <a:srgbClr val="FFFFFF"/>
                </a:solidFill>
                <a:latin typeface="Nunito Ultra-Bold"/>
                <a:ea typeface="Nunito Ultra-Bold"/>
                <a:cs typeface="Nunito Ultra-Bold"/>
                <a:sym typeface="Nunito Ultra-Bold"/>
              </a:rPr>
              <a:t>5</a:t>
            </a:r>
          </a:p>
        </p:txBody>
      </p:sp>
      <p:sp>
        <p:nvSpPr>
          <p:cNvPr id="29" name="TextBox 28"/>
          <p:cNvSpPr txBox="1"/>
          <p:nvPr/>
        </p:nvSpPr>
        <p:spPr>
          <a:xfrm>
            <a:off x="1028700" y="8301482"/>
            <a:ext cx="8412480" cy="36576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Bar lengths are illustrative of rank order; exact values in Chapter 5, Fig. 5.6.</a:t>
            </a:r>
          </a:p>
        </p:txBody>
      </p:sp>
      <p:sp>
        <p:nvSpPr>
          <p:cNvPr id="30" name="Rounded Rectangle 29"/>
          <p:cNvSpPr/>
          <p:nvPr/>
        </p:nvSpPr>
        <p:spPr>
          <a:xfrm>
            <a:off x="9989820" y="3592322"/>
            <a:ext cx="726948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31" name="Rounded Rectangle 30"/>
          <p:cNvSpPr/>
          <p:nvPr/>
        </p:nvSpPr>
        <p:spPr>
          <a:xfrm>
            <a:off x="10447020" y="3354578"/>
            <a:ext cx="3356612"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Reading the ranking</a:t>
            </a:r>
          </a:p>
        </p:txBody>
      </p:sp>
      <p:sp>
        <p:nvSpPr>
          <p:cNvPr id="32" name="TextBox 31"/>
          <p:cNvSpPr txBox="1"/>
          <p:nvPr/>
        </p:nvSpPr>
        <p:spPr>
          <a:xfrm>
            <a:off x="10492740" y="4232402"/>
            <a:ext cx="630936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Dominant drivers relate to </a:t>
            </a:r>
            <a:r>
              <a:rPr lang="en-US" sz="2000" b="true">
                <a:solidFill>
                  <a:srgbClr val="FFFFFF"/>
                </a:solidFill>
                <a:latin typeface="Nunito Bold"/>
                <a:ea typeface="Nunito Bold"/>
                <a:cs typeface="Nunito Bold"/>
                <a:sym typeface="Nunito Bold"/>
              </a:rPr>
              <a:t>structure, preservation and sensory balance</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This is </a:t>
            </a:r>
            <a:r>
              <a:rPr lang="en-US" sz="2000" b="true">
                <a:solidFill>
                  <a:srgbClr val="FFFFFF"/>
                </a:solidFill>
                <a:latin typeface="Nunito Bold"/>
                <a:ea typeface="Nunito Bold"/>
                <a:cs typeface="Nunito Bold"/>
                <a:sym typeface="Nunito Bold"/>
              </a:rPr>
              <a:t>NOT an arbitrary classifier artefact</a:t>
            </a:r>
            <a:r>
              <a:rPr lang="en-US" sz="2000" b="true">
                <a:solidFill>
                  <a:srgbClr val="FFFFFF"/>
                </a:solidFill>
                <a:latin typeface="Nunito Semi-Bold"/>
                <a:ea typeface="Nunito Semi-Bold"/>
                <a:cs typeface="Nunito Semi-Bold"/>
                <a:sym typeface="Nunito Semi-Bold"/>
              </a:rPr>
              <a:t> — it recovers a chemically interpretable hierarchy.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Density and pH separate stylistic regimes; sulfur dioxide encodes preservation; alcohol modulates body.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Each driver is a </a:t>
            </a:r>
            <a:r>
              <a:rPr lang="en-US" sz="2000" b="true">
                <a:solidFill>
                  <a:srgbClr val="FFFFFF"/>
                </a:solidFill>
                <a:latin typeface="Nunito Bold"/>
                <a:ea typeface="Nunito Bold"/>
                <a:cs typeface="Nunito Bold"/>
                <a:sym typeface="Nunito Bold"/>
              </a:rPr>
              <a:t>modifiable, domain-level factor</a:t>
            </a:r>
            <a:r>
              <a:rPr lang="en-US" sz="2000" b="true">
                <a:solidFill>
                  <a:srgbClr val="FFFFFF"/>
                </a:solidFill>
                <a:latin typeface="Nunito Semi-Bold"/>
                <a:ea typeface="Nunito Semi-Bold"/>
                <a:cs typeface="Nunito Semi-Bold"/>
                <a:sym typeface="Nunito Semi-Bold"/>
              </a:rPr>
              <a:t> — exactly Definition 1.1.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Cluster-Specific Explanatory Signatures</a:t>
            </a:r>
          </a:p>
        </p:txBody>
      </p:sp>
      <p:pic>
        <p:nvPicPr>
          <p:cNvPr id="8" name="Picture 7" descr="image.png"/>
          <p:cNvPicPr>
            <a:picLocks noChangeAspect="1"/>
          </p:cNvPicPr>
          <p:nvPr/>
        </p:nvPicPr>
        <p:blipFill>
          <a:blip r:embed="rId2"/>
          <a:stretch>
            <a:fillRect/>
          </a:stretch>
        </p:blipFill>
        <p:spPr>
          <a:xfrm>
            <a:off x="11632491" y="1673352"/>
            <a:ext cx="457200" cy="399005"/>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455162"/>
            <a:ext cx="5196840" cy="3108960"/>
          </a:xfrm>
          <a:prstGeom prst="roundRect">
            <a:avLst>
              <a:gd name="adj" fmla="val 8823"/>
            </a:avLst>
          </a:prstGeom>
          <a:solidFill>
            <a:srgbClr val="124944"/>
          </a:solidFill>
          <a:ln>
            <a:noFill/>
          </a:ln>
        </p:spPr>
        <p:txBody>
          <a:bodyPr anchor="t" rtlCol="false" lIns="411480" tIns="411480" rIns="36576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CLUSTER 0</a:t>
            </a:r>
          </a:p>
          <a:p>
            <a:pPr algn="l">
              <a:lnSpc>
                <a:spcPts val="2800"/>
              </a:lnSpc>
              <a:spcBef>
                <a:spcPts val="1000"/>
              </a:spcBef>
              <a:buNone/>
            </a:pPr>
            <a:r>
              <a:rPr lang="en-US" sz="2300" b="true">
                <a:solidFill>
                  <a:srgbClr val="FFFFFF"/>
                </a:solidFill>
                <a:latin typeface="Nunito Ultra-Bold"/>
                <a:ea typeface="Nunito Ultra-Bold"/>
                <a:cs typeface="Nunito Ultra-Bold"/>
                <a:sym typeface="Nunito Ultra-Bold"/>
              </a:rPr>
              <a:t>density + sulfur-dioxide-related variables</a:t>
            </a:r>
          </a:p>
        </p:txBody>
      </p:sp>
      <p:sp>
        <p:nvSpPr>
          <p:cNvPr id="14" name="Rounded Rectangle 13"/>
          <p:cNvSpPr/>
          <p:nvPr/>
        </p:nvSpPr>
        <p:spPr>
          <a:xfrm>
            <a:off x="6545580" y="3455162"/>
            <a:ext cx="5196840" cy="3108960"/>
          </a:xfrm>
          <a:prstGeom prst="roundRect">
            <a:avLst>
              <a:gd name="adj" fmla="val 8823"/>
            </a:avLst>
          </a:prstGeom>
          <a:solidFill>
            <a:srgbClr val="1E5F58"/>
          </a:solidFill>
          <a:ln>
            <a:noFill/>
          </a:ln>
        </p:spPr>
        <p:txBody>
          <a:bodyPr anchor="t" rtlCol="false" lIns="411480" tIns="411480" rIns="36576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CLUSTER 1</a:t>
            </a:r>
          </a:p>
          <a:p>
            <a:pPr algn="l">
              <a:lnSpc>
                <a:spcPts val="2800"/>
              </a:lnSpc>
              <a:spcBef>
                <a:spcPts val="1000"/>
              </a:spcBef>
              <a:buNone/>
            </a:pPr>
            <a:r>
              <a:rPr lang="en-US" sz="2300" b="true">
                <a:solidFill>
                  <a:srgbClr val="FFFFFF"/>
                </a:solidFill>
                <a:latin typeface="Nunito Ultra-Bold"/>
                <a:ea typeface="Nunito Ultra-Bold"/>
                <a:cs typeface="Nunito Ultra-Bold"/>
                <a:sym typeface="Nunito Ultra-Bold"/>
              </a:rPr>
              <a:t>acidity and pH-related effects</a:t>
            </a:r>
          </a:p>
        </p:txBody>
      </p:sp>
      <p:sp>
        <p:nvSpPr>
          <p:cNvPr id="15" name="Rounded Rectangle 14"/>
          <p:cNvSpPr/>
          <p:nvPr/>
        </p:nvSpPr>
        <p:spPr>
          <a:xfrm>
            <a:off x="12062460" y="3455162"/>
            <a:ext cx="5196840" cy="3108960"/>
          </a:xfrm>
          <a:prstGeom prst="roundRect">
            <a:avLst>
              <a:gd name="adj" fmla="val 8823"/>
            </a:avLst>
          </a:prstGeom>
          <a:solidFill>
            <a:srgbClr val="DF8330"/>
          </a:solidFill>
          <a:ln>
            <a:noFill/>
          </a:ln>
        </p:spPr>
        <p:txBody>
          <a:bodyPr anchor="t" rtlCol="false" lIns="411480" tIns="411480" rIns="365760" bIns="274320" wrap="square"/>
          <a:lstStyle/>
          <a:p>
            <a:pPr algn="l">
              <a:lnSpc>
                <a:spcPts val="1800"/>
              </a:lnSpc>
              <a:spcBef>
                <a:spcPts val="0"/>
              </a:spcBef>
              <a:buNone/>
            </a:pPr>
            <a:r>
              <a:rPr lang="en-US" sz="1400" b="true" spc="160">
                <a:solidFill>
                  <a:srgbClr val="FFFFFF"/>
                </a:solidFill>
                <a:latin typeface="Nunito Ultra-Bold"/>
                <a:ea typeface="Nunito Ultra-Bold"/>
                <a:cs typeface="Nunito Ultra-Bold"/>
                <a:sym typeface="Nunito Ultra-Bold"/>
              </a:rPr>
              <a:t>CLUSTER 2</a:t>
            </a:r>
          </a:p>
          <a:p>
            <a:pPr algn="l">
              <a:lnSpc>
                <a:spcPts val="2800"/>
              </a:lnSpc>
              <a:spcBef>
                <a:spcPts val="1000"/>
              </a:spcBef>
              <a:buNone/>
            </a:pPr>
            <a:r>
              <a:rPr lang="en-US" sz="2300" b="true">
                <a:solidFill>
                  <a:srgbClr val="FFFFFF"/>
                </a:solidFill>
                <a:latin typeface="Nunito Ultra-Bold"/>
                <a:ea typeface="Nunito Ultra-Bold"/>
                <a:cs typeface="Nunito Ultra-Bold"/>
                <a:sym typeface="Nunito Ultra-Bold"/>
              </a:rPr>
              <a:t>a different balance of acidity, alcohol and related chemical attributes</a:t>
            </a:r>
          </a:p>
        </p:txBody>
      </p:sp>
      <p:sp>
        <p:nvSpPr>
          <p:cNvPr id="16" name="Rounded Rectangle 15"/>
          <p:cNvSpPr/>
          <p:nvPr/>
        </p:nvSpPr>
        <p:spPr>
          <a:xfrm>
            <a:off x="1028700" y="7204202"/>
            <a:ext cx="16230600" cy="2104390"/>
          </a:xfrm>
          <a:prstGeom prst="roundRect">
            <a:avLst>
              <a:gd name="adj" fmla="val 14773"/>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1485900" y="6966458"/>
            <a:ext cx="420355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the signatures show</a:t>
            </a:r>
          </a:p>
        </p:txBody>
      </p:sp>
      <p:sp>
        <p:nvSpPr>
          <p:cNvPr id="18" name="TextBox 17"/>
          <p:cNvSpPr txBox="1"/>
          <p:nvPr/>
        </p:nvSpPr>
        <p:spPr>
          <a:xfrm>
            <a:off x="1531620" y="7844282"/>
            <a:ext cx="15270480" cy="1189990"/>
          </a:xfrm>
          <a:prstGeom prst="rect">
            <a:avLst/>
          </a:prstGeom>
          <a:noFill/>
        </p:spPr>
        <p:txBody>
          <a:bodyPr anchor="t" rtlCol="false" lIns="0" tIns="0" rIns="0" bIns="0" wrap="square"/>
          <a:lstStyle/>
          <a:p>
            <a:pPr algn="l" marL="274320" indent="-274320">
              <a:lnSpc>
                <a:spcPts val="2499"/>
              </a:lnSpc>
              <a:spcBef>
                <a:spcPts val="0"/>
              </a:spcBef>
              <a:buClr>
                <a:srgbClr val="DF8330"/>
              </a:buClr>
              <a:buSzPct val="100000"/>
              <a:buFont typeface="Arial"/>
              <a:buChar char="•"/>
            </a:pPr>
            <a:r>
              <a:rPr lang="en-US" sz="1785" b="true">
                <a:solidFill>
                  <a:srgbClr val="111111"/>
                </a:solidFill>
                <a:latin typeface="Nunito Semi-Bold"/>
                <a:ea typeface="Nunito Semi-Bold"/>
                <a:cs typeface="Nunito Semi-Bold"/>
                <a:sym typeface="Nunito Semi-Bold"/>
              </a:rPr>
              <a:t>Three clusters show </a:t>
            </a:r>
            <a:r>
              <a:rPr lang="en-US" sz="1785" b="true">
                <a:solidFill>
                  <a:srgbClr val="111111"/>
                </a:solidFill>
                <a:latin typeface="Nunito Bold"/>
                <a:ea typeface="Nunito Bold"/>
                <a:cs typeface="Nunito Bold"/>
                <a:sym typeface="Nunito Bold"/>
              </a:rPr>
              <a:t>distinct explanatory signatures</a:t>
            </a:r>
            <a:r>
              <a:rPr lang="en-US" sz="1785" b="true">
                <a:solidFill>
                  <a:srgbClr val="111111"/>
                </a:solidFill>
                <a:latin typeface="Nunito Semi-Bold"/>
                <a:ea typeface="Nunito Semi-Bold"/>
                <a:cs typeface="Nunito Semi-Bold"/>
                <a:sym typeface="Nunito Semi-Bold"/>
              </a:rPr>
              <a:t> — the explanation is coherent, not a single summary number.</a:t>
            </a:r>
          </a:p>
          <a:p>
            <a:pPr algn="l" marL="274320" indent="-274320">
              <a:lnSpc>
                <a:spcPts val="2499"/>
              </a:lnSpc>
              <a:spcBef>
                <a:spcPts val="680"/>
              </a:spcBef>
              <a:buClr>
                <a:srgbClr val="DF8330"/>
              </a:buClr>
              <a:buSzPct val="100000"/>
              <a:buFont typeface="Arial"/>
              <a:buChar char="•"/>
            </a:pPr>
            <a:r>
              <a:rPr lang="en-US" sz="1785" b="true">
                <a:solidFill>
                  <a:srgbClr val="111111"/>
                </a:solidFill>
                <a:latin typeface="Nunito Semi-Bold"/>
                <a:ea typeface="Nunito Semi-Bold"/>
                <a:cs typeface="Nunito Semi-Bold"/>
                <a:sym typeface="Nunito Semi-Bold"/>
              </a:rPr>
              <a:t>The </a:t>
            </a:r>
            <a:r>
              <a:rPr lang="en-US" sz="1785" b="true">
                <a:solidFill>
                  <a:srgbClr val="111111"/>
                </a:solidFill>
                <a:latin typeface="Nunito Bold"/>
                <a:ea typeface="Nunito Bold"/>
                <a:cs typeface="Nunito Bold"/>
                <a:sym typeface="Nunito Bold"/>
              </a:rPr>
              <a:t>same small set of variables recurs</a:t>
            </a:r>
            <a:r>
              <a:rPr lang="en-US" sz="1785" b="true">
                <a:solidFill>
                  <a:srgbClr val="111111"/>
                </a:solidFill>
                <a:latin typeface="Nunito Semi-Bold"/>
                <a:ea typeface="Nunito Semi-Bold"/>
                <a:cs typeface="Nunito Semi-Bold"/>
                <a:sym typeface="Nunito Semi-Bold"/>
              </a:rPr>
              <a:t> across clusters, with </a:t>
            </a:r>
            <a:r>
              <a:rPr lang="en-US" sz="1785" b="true">
                <a:solidFill>
                  <a:srgbClr val="111111"/>
                </a:solidFill>
                <a:latin typeface="Nunito Bold"/>
                <a:ea typeface="Nunito Bold"/>
                <a:cs typeface="Nunito Bold"/>
                <a:sym typeface="Nunito Bold"/>
              </a:rPr>
              <a:t>different relative weights</a:t>
            </a:r>
            <a:r>
              <a:rPr lang="en-US" sz="1785" b="true">
                <a:solidFill>
                  <a:srgbClr val="111111"/>
                </a:solidFill>
                <a:latin typeface="Nunito Semi-Bold"/>
                <a:ea typeface="Nunito Semi-Bold"/>
                <a:cs typeface="Nunito Semi-Bold"/>
                <a:sym typeface="Nunito Semi-Bold"/>
              </a:rPr>
              <a:t> within each.</a:t>
            </a:r>
          </a:p>
          <a:p>
            <a:pPr algn="l" marL="274320" indent="-274320">
              <a:lnSpc>
                <a:spcPts val="2499"/>
              </a:lnSpc>
              <a:spcBef>
                <a:spcPts val="680"/>
              </a:spcBef>
              <a:buClr>
                <a:srgbClr val="DF8330"/>
              </a:buClr>
              <a:buSzPct val="100000"/>
              <a:buFont typeface="Arial"/>
              <a:buChar char="•"/>
            </a:pPr>
            <a:r>
              <a:rPr lang="en-US" sz="1785" b="true">
                <a:solidFill>
                  <a:srgbClr val="111111"/>
                </a:solidFill>
                <a:latin typeface="Nunito Semi-Bold"/>
                <a:ea typeface="Nunito Semi-Bold"/>
                <a:cs typeface="Nunito Semi-Bold"/>
                <a:sym typeface="Nunito Semi-Bold"/>
              </a:rPr>
              <a:t>Local force plots decompose any single wine into its per-feature contributions to cluster membership.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 vs LIME — Why the Cooperative Concept Wins</a:t>
            </a:r>
          </a:p>
        </p:txBody>
      </p:sp>
      <p:pic>
        <p:nvPicPr>
          <p:cNvPr id="8" name="Picture 7" descr="image.png"/>
          <p:cNvPicPr>
            <a:picLocks noChangeAspect="1"/>
          </p:cNvPicPr>
          <p:nvPr/>
        </p:nvPicPr>
        <p:blipFill>
          <a:blip r:embed="rId2"/>
          <a:stretch>
            <a:fillRect/>
          </a:stretch>
        </p:blipFill>
        <p:spPr>
          <a:xfrm>
            <a:off x="14706499" y="1673352"/>
            <a:ext cx="457200" cy="446713"/>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13" name="Table 12"/>
          <p:cNvGraphicFramePr>
            <a:graphicFrameLocks noGrp="1"/>
          </p:cNvGraphicFramePr>
          <p:nvPr/>
        </p:nvGraphicFramePr>
        <p:xfrm>
          <a:off x="1028700" y="3363722"/>
          <a:ext cx="16230599" cy="4498848"/>
        </p:xfrm>
        <a:graphic>
          <a:graphicData uri="http://schemas.openxmlformats.org/drawingml/2006/table">
            <a:tbl>
              <a:tblPr firstRow="0" bandRow="0" firstCol="0" lastRow="0" lastCol="0" bandCol="0">
                <a:tableStyleId>{2D5ABB26-0587-4C30-8999-92F81FD0307C}</a:tableStyleId>
              </a:tblPr>
              <a:tblGrid>
                <a:gridCol w="3701715"/>
                <a:gridCol w="6264442"/>
                <a:gridCol w="6264442"/>
              </a:tblGrid>
              <a:tr h="749808">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Criterion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SHAP (cooperative)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LIME (local surrogate)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Basis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Cooperative-game marginal contribution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Local surrogate approximation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Local / global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Both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Primarily local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Theoretical guarantee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Efficiency, symmetry, null player, additivity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None equivalent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Stability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Higher when surrogate faithful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Sensitive to perturbation design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Cluster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Strong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Limited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4" name="Rounded Rectangle 13"/>
          <p:cNvSpPr/>
          <p:nvPr/>
        </p:nvSpPr>
        <p:spPr>
          <a:xfrm>
            <a:off x="1028700" y="8228330"/>
            <a:ext cx="16230600" cy="1125982"/>
          </a:xfrm>
          <a:prstGeom prst="roundRect">
            <a:avLst>
              <a:gd name="adj" fmla="val 20302"/>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Shapley is grounded in </a:t>
            </a:r>
            <a:r>
              <a:rPr lang="en-US" sz="2100" b="true">
                <a:solidFill>
                  <a:srgbClr val="FFFFFF"/>
                </a:solidFill>
                <a:latin typeface="Nunito Bold"/>
                <a:ea typeface="Nunito Bold"/>
                <a:cs typeface="Nunito Bold"/>
                <a:sym typeface="Nunito Bold"/>
              </a:rPr>
              <a:t>four axioms</a:t>
            </a:r>
            <a:r>
              <a:rPr lang="en-US" sz="2100" b="true">
                <a:solidFill>
                  <a:srgbClr val="FFFFFF"/>
                </a:solidFill>
                <a:latin typeface="Nunito Semi-Bold"/>
                <a:ea typeface="Nunito Semi-Bold"/>
                <a:cs typeface="Nunito Semi-Bold"/>
                <a:sym typeface="Nunito Semi-Bold"/>
              </a:rPr>
              <a:t>; LIME has no equivalent guarantee — with a faithful surrogate, cooperative attribution is </a:t>
            </a:r>
            <a:r>
              <a:rPr lang="en-US" sz="2100" b="true">
                <a:solidFill>
                  <a:srgbClr val="FFFFFF"/>
                </a:solidFill>
                <a:latin typeface="Nunito Bold"/>
                <a:ea typeface="Nunito Bold"/>
                <a:cs typeface="Nunito Bold"/>
                <a:sym typeface="Nunito Bold"/>
              </a:rPr>
              <a:t>more stable and comparable across clusters</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Key Findings and Limitations</a:t>
            </a:r>
          </a:p>
        </p:txBody>
      </p:sp>
      <p:pic>
        <p:nvPicPr>
          <p:cNvPr id="8" name="Picture 7" descr="image.png"/>
          <p:cNvPicPr>
            <a:picLocks noChangeAspect="1"/>
          </p:cNvPicPr>
          <p:nvPr/>
        </p:nvPicPr>
        <p:blipFill>
          <a:blip r:embed="rId2"/>
          <a:stretch>
            <a:fillRect/>
          </a:stretch>
        </p:blipFill>
        <p:spPr>
          <a:xfrm>
            <a:off x="11313629" y="1673352"/>
            <a:ext cx="457200" cy="452148"/>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13" name="Rounded Rectangle 12"/>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4802428"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RQ1 answered · objectives met</a:t>
            </a:r>
          </a:p>
        </p:txBody>
      </p:sp>
      <p:sp>
        <p:nvSpPr>
          <p:cNvPr id="15" name="TextBox 14"/>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RQ1 — yes:</a:t>
            </a:r>
            <a:r>
              <a:rPr lang="en-US" sz="1900" b="true">
                <a:solidFill>
                  <a:srgbClr val="FFFFFF"/>
                </a:solidFill>
                <a:latin typeface="Nunito Semi-Bold"/>
                <a:ea typeface="Nunito Semi-Bold"/>
                <a:cs typeface="Nunito Semi-Bold"/>
                <a:sym typeface="Nunito Semi-Bold"/>
              </a:rPr>
              <a:t> faithful, coherent cluster-level explanation from Shapley values.</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O1 met</a:t>
            </a:r>
            <a:r>
              <a:rPr lang="en-US" sz="1900" b="true">
                <a:solidFill>
                  <a:srgbClr val="FFFFFF"/>
                </a:solidFill>
                <a:latin typeface="Nunito Semi-Bold"/>
                <a:ea typeface="Nunito Semi-Bold"/>
                <a:cs typeface="Nunito Semi-Bold"/>
                <a:sym typeface="Nunito Semi-Bold"/>
              </a:rPr>
              <a:t> · cluster-level explanation anchored to individual feature contributions.</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O2 met</a:t>
            </a:r>
            <a:r>
              <a:rPr lang="en-US" sz="1900" b="true">
                <a:solidFill>
                  <a:srgbClr val="FFFFFF"/>
                </a:solidFill>
                <a:latin typeface="Nunito Semi-Bold"/>
                <a:ea typeface="Nunito Semi-Bold"/>
                <a:cs typeface="Nunito Semi-Bold"/>
                <a:sym typeface="Nunito Semi-Bold"/>
              </a:rPr>
              <a:t> · attribution returned to the original chemical variables, not a latent space.</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O3 met</a:t>
            </a:r>
            <a:r>
              <a:rPr lang="en-US" sz="1900" b="true">
                <a:solidFill>
                  <a:srgbClr val="FFFFFF"/>
                </a:solidFill>
                <a:latin typeface="Nunito Semi-Bold"/>
                <a:ea typeface="Nunito Semi-Bold"/>
                <a:cs typeface="Nunito Semi-Bold"/>
                <a:sym typeface="Nunito Semi-Bold"/>
              </a:rPr>
              <a:t> · Shapley grounded in four axioms; LIME has no equivalent guarantee.</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Recovers an oenologically interpretable ranking — density, pH, acidity, sulfur dioxide, alcohol.</a:t>
            </a:r>
          </a:p>
        </p:txBody>
      </p:sp>
      <p:sp>
        <p:nvSpPr>
          <p:cNvPr id="16" name="Rounded Rectangle 15"/>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214562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Limitations</a:t>
            </a:r>
          </a:p>
        </p:txBody>
      </p:sp>
      <p:sp>
        <p:nvSpPr>
          <p:cNvPr id="18" name="TextBox 17"/>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Fidelity depends on the </a:t>
            </a:r>
            <a:r>
              <a:rPr lang="en-US" sz="1900" b="true">
                <a:solidFill>
                  <a:srgbClr val="111111"/>
                </a:solidFill>
                <a:latin typeface="Nunito Bold"/>
                <a:ea typeface="Nunito Bold"/>
                <a:cs typeface="Nunito Bold"/>
                <a:sym typeface="Nunito Bold"/>
              </a:rPr>
              <a:t>LightGBM surrogate</a:t>
            </a:r>
            <a:r>
              <a:rPr lang="en-US" sz="1900" b="true">
                <a:solidFill>
                  <a:srgbClr val="111111"/>
                </a:solidFill>
                <a:latin typeface="Nunito Semi-Bold"/>
                <a:ea typeface="Nunito Semi-Bold"/>
                <a:cs typeface="Nunito Semi-Bold"/>
                <a:sym typeface="Nunito Semi-Bold"/>
              </a:rPr>
              <a:t> — not a direct mechanism of the K-Means geometry.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Confined to </a:t>
            </a:r>
            <a:r>
              <a:rPr lang="en-US" sz="1900" b="true">
                <a:solidFill>
                  <a:srgbClr val="111111"/>
                </a:solidFill>
                <a:latin typeface="Nunito Bold"/>
                <a:ea typeface="Nunito Bold"/>
                <a:cs typeface="Nunito Bold"/>
                <a:sym typeface="Nunito Bold"/>
              </a:rPr>
              <a:t>tabular data</a:t>
            </a:r>
            <a:r>
              <a:rPr lang="en-US" sz="1900" b="true">
                <a:solidFill>
                  <a:srgbClr val="111111"/>
                </a:solidFill>
                <a:latin typeface="Nunito Semi-Bold"/>
                <a:ea typeface="Nunito Semi-Bold"/>
                <a:cs typeface="Nunito Semi-Bold"/>
                <a:sym typeface="Nunito Semi-Bold"/>
              </a:rPr>
              <a:t>; no structured, graph or image input.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Single-level structure:</a:t>
            </a:r>
            <a:r>
              <a:rPr lang="en-US" sz="1900" b="true">
                <a:solidFill>
                  <a:srgbClr val="111111"/>
                </a:solidFill>
                <a:latin typeface="Nunito Semi-Bold"/>
                <a:ea typeface="Nunito Semi-Bold"/>
                <a:cs typeface="Nunito Semi-Bold"/>
                <a:sym typeface="Nunito Semi-Bold"/>
              </a:rPr>
              <a:t> cannot explain how importance reconfigures between a partition and its sub-partitions.</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surrogate approximation compresses observation-level variation.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 EXPLAINABLE BLACK-BOX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Takeaways — and the Next Question</a:t>
            </a:r>
          </a:p>
        </p:txBody>
      </p:sp>
      <p:pic>
        <p:nvPicPr>
          <p:cNvPr id="8" name="Picture 7" descr="image.png"/>
          <p:cNvPicPr>
            <a:picLocks noChangeAspect="1"/>
          </p:cNvPicPr>
          <p:nvPr/>
        </p:nvPicPr>
        <p:blipFill>
          <a:blip r:embed="rId2"/>
          <a:stretch>
            <a:fillRect/>
          </a:stretch>
        </p:blipFill>
        <p:spPr>
          <a:xfrm>
            <a:off x="10568195" y="1673352"/>
            <a:ext cx="457200" cy="415247"/>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13" name="Rounded Rectangle 12"/>
          <p:cNvSpPr/>
          <p:nvPr/>
        </p:nvSpPr>
        <p:spPr>
          <a:xfrm>
            <a:off x="1028700" y="3455162"/>
            <a:ext cx="5196840" cy="3291840"/>
          </a:xfrm>
          <a:prstGeom prst="roundRect">
            <a:avLst>
              <a:gd name="adj" fmla="val 8333"/>
            </a:avLst>
          </a:prstGeom>
          <a:solidFill>
            <a:srgbClr val="124944"/>
          </a:solidFill>
          <a:ln>
            <a:noFill/>
          </a:ln>
        </p:spPr>
        <p:txBody>
          <a:bodyPr anchor="t" rtlCol="false" lIns="411480" tIns="411480" rIns="36576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Single lens</a:t>
            </a:r>
          </a:p>
          <a:p>
            <a:pPr algn="l">
              <a:lnSpc>
                <a:spcPts val="2500"/>
              </a:lnSpc>
              <a:spcBef>
                <a:spcPts val="1200"/>
              </a:spcBef>
              <a:buNone/>
            </a:pPr>
            <a:r>
              <a:rPr lang="en-US" sz="2000" b="true">
                <a:solidFill>
                  <a:srgbClr val="F7F2EA"/>
                </a:solidFill>
                <a:latin typeface="Nunito Semi-Bold"/>
                <a:ea typeface="Nunito Semi-Bold"/>
                <a:cs typeface="Nunito Semi-Bold"/>
                <a:sym typeface="Nunito Semi-Bold"/>
              </a:rPr>
              <a:t>Shapley attribution is a single, principled lens for explaining an unsupervised partition.</a:t>
            </a:r>
          </a:p>
        </p:txBody>
      </p:sp>
      <p:sp>
        <p:nvSpPr>
          <p:cNvPr id="14" name="Rounded Rectangle 13"/>
          <p:cNvSpPr/>
          <p:nvPr/>
        </p:nvSpPr>
        <p:spPr>
          <a:xfrm>
            <a:off x="6545580" y="3455162"/>
            <a:ext cx="5196840" cy="3291840"/>
          </a:xfrm>
          <a:prstGeom prst="roundRect">
            <a:avLst>
              <a:gd name="adj" fmla="val 8333"/>
            </a:avLst>
          </a:prstGeom>
          <a:solidFill>
            <a:srgbClr val="1E5F58"/>
          </a:solidFill>
          <a:ln>
            <a:noFill/>
          </a:ln>
        </p:spPr>
        <p:txBody>
          <a:bodyPr anchor="t" rtlCol="false" lIns="411480" tIns="411480" rIns="36576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Original space</a:t>
            </a:r>
          </a:p>
          <a:p>
            <a:pPr algn="l">
              <a:lnSpc>
                <a:spcPts val="2500"/>
              </a:lnSpc>
              <a:spcBef>
                <a:spcPts val="1200"/>
              </a:spcBef>
              <a:buNone/>
            </a:pPr>
            <a:r>
              <a:rPr lang="en-US" sz="2000" b="true">
                <a:solidFill>
                  <a:srgbClr val="F7F2EA"/>
                </a:solidFill>
                <a:latin typeface="Nunito Semi-Bold"/>
                <a:ea typeface="Nunito Semi-Bold"/>
                <a:cs typeface="Nunito Semi-Bold"/>
                <a:sym typeface="Nunito Semi-Bold"/>
              </a:rPr>
              <a:t>Keeping attribution in the original feature space is what makes it actionable.</a:t>
            </a:r>
          </a:p>
        </p:txBody>
      </p:sp>
      <p:sp>
        <p:nvSpPr>
          <p:cNvPr id="15" name="Rounded Rectangle 14"/>
          <p:cNvSpPr/>
          <p:nvPr/>
        </p:nvSpPr>
        <p:spPr>
          <a:xfrm>
            <a:off x="12062460" y="3455162"/>
            <a:ext cx="5196840" cy="3291840"/>
          </a:xfrm>
          <a:prstGeom prst="roundRect">
            <a:avLst>
              <a:gd name="adj" fmla="val 8333"/>
            </a:avLst>
          </a:prstGeom>
          <a:solidFill>
            <a:srgbClr val="DF8330"/>
          </a:solidFill>
          <a:ln>
            <a:noFill/>
          </a:ln>
        </p:spPr>
        <p:txBody>
          <a:bodyPr anchor="t" rtlCol="false" lIns="411480" tIns="411480" rIns="36576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But…</a:t>
            </a:r>
          </a:p>
          <a:p>
            <a:pPr algn="l">
              <a:lnSpc>
                <a:spcPts val="2500"/>
              </a:lnSpc>
              <a:spcBef>
                <a:spcPts val="1200"/>
              </a:spcBef>
              <a:buNone/>
            </a:pPr>
            <a:r>
              <a:rPr lang="en-US" sz="2000" b="true">
                <a:solidFill>
                  <a:srgbClr val="F7F2EA"/>
                </a:solidFill>
                <a:latin typeface="Nunito Semi-Bold"/>
                <a:ea typeface="Nunito Semi-Bold"/>
                <a:cs typeface="Nunito Semi-Bold"/>
                <a:sym typeface="Nunito Semi-Bold"/>
              </a:rPr>
              <a:t>Real data are rarely single-level: broad regimes contain nested sub-groups.</a:t>
            </a:r>
          </a:p>
        </p:txBody>
      </p:sp>
      <p:sp>
        <p:nvSpPr>
          <p:cNvPr id="16" name="Rounded Rectangle 15"/>
          <p:cNvSpPr/>
          <p:nvPr/>
        </p:nvSpPr>
        <p:spPr>
          <a:xfrm>
            <a:off x="1028700" y="7204202"/>
            <a:ext cx="16230600" cy="2150110"/>
          </a:xfrm>
          <a:prstGeom prst="roundRect">
            <a:avLst>
              <a:gd name="adj" fmla="val 12758"/>
            </a:avLst>
          </a:prstGeom>
          <a:noFill/>
          <a:ln w="31750">
            <a:solidFill>
              <a:srgbClr val="124944"/>
            </a:solidFill>
          </a:ln>
        </p:spPr>
        <p:txBody>
          <a:bodyPr anchor="ctr" rtlCol="false" lIns="457200" tIns="91440" rIns="457200" bIns="91440" wrap="square"/>
          <a:lstStyle/>
          <a:p>
            <a:pPr algn="ctr">
              <a:lnSpc>
                <a:spcPts val="1800"/>
              </a:lnSpc>
              <a:spcBef>
                <a:spcPts val="0"/>
              </a:spcBef>
              <a:buNone/>
            </a:pPr>
            <a:r>
              <a:rPr lang="en-US" sz="1400" b="true" spc="180">
                <a:solidFill>
                  <a:srgbClr val="DF8330"/>
                </a:solidFill>
                <a:latin typeface="Nunito Ultra-Bold"/>
                <a:ea typeface="Nunito Ultra-Bold"/>
                <a:cs typeface="Nunito Ultra-Bold"/>
                <a:sym typeface="Nunito Ultra-Bold"/>
              </a:rPr>
              <a:t>NEXT</a:t>
            </a:r>
          </a:p>
          <a:p>
            <a:pPr algn="ctr">
              <a:lnSpc>
                <a:spcPts val="3200"/>
              </a:lnSpc>
              <a:spcBef>
                <a:spcPts val="800"/>
              </a:spcBef>
              <a:buNone/>
            </a:pPr>
            <a:r>
              <a:rPr lang="en-US" sz="2600" b="true">
                <a:solidFill>
                  <a:srgbClr val="111111"/>
                </a:solidFill>
                <a:latin typeface="Nunito Bold"/>
                <a:ea typeface="Nunito Bold"/>
                <a:cs typeface="Nunito Bold"/>
                <a:sym typeface="Nunito Bold"/>
              </a:rPr>
              <a:t>So the next question is whether this logic </a:t>
            </a:r>
            <a:r>
              <a:rPr lang="en-US" sz="2600" b="true">
                <a:solidFill>
                  <a:srgbClr val="111111"/>
                </a:solidFill>
                <a:latin typeface="Nunito Bold"/>
                <a:ea typeface="Nunito Bold"/>
                <a:cs typeface="Nunito Bold"/>
                <a:sym typeface="Nunito Bold"/>
              </a:rPr>
              <a:t>survives scale and hierarchy</a:t>
            </a:r>
            <a:r>
              <a:rPr lang="en-US" sz="2600" b="true">
                <a:solidFill>
                  <a:srgbClr val="111111"/>
                </a:solidFill>
                <a:latin typeface="Nunito Bold"/>
                <a:ea typeface="Nunito Bold"/>
                <a:cs typeface="Nunito Bold"/>
                <a:sym typeface="Nunito Bold"/>
              </a:rPr>
              <a:t> — Contribution II.</a:t>
            </a:r>
          </a:p>
        </p:txBody>
      </p:sp>
      <p:pic>
        <p:nvPicPr>
          <p:cNvPr id="17" name="Picture 16" descr="image.png"/>
          <p:cNvPicPr>
            <a:picLocks noChangeAspect="1"/>
          </p:cNvPicPr>
          <p:nvPr/>
        </p:nvPicPr>
        <p:blipFill>
          <a:blip r:embed="rId4"/>
          <a:stretch>
            <a:fillRect/>
          </a:stretch>
        </p:blipFill>
        <p:spPr>
          <a:xfrm>
            <a:off x="15979140" y="7432802"/>
            <a:ext cx="256032" cy="842772"/>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6" name="TextBox 5"/>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7" name="Oval 6"/>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8" name="TextBox 7"/>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Enhanced multi-level XAI for large-scale clustering  ·  answers RQ2</a:t>
            </a:r>
          </a:p>
        </p:txBody>
      </p:sp>
      <p:sp>
        <p:nvSpPr>
          <p:cNvPr id="10" name="Rectangle 9"/>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1" name="TextBox 10"/>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2" name="Connector 11"/>
          <p:cNvCxnSpPr/>
          <p:nvPr/>
        </p:nvCxnSpPr>
        <p:spPr>
          <a:xfrm>
            <a:off x="1028700" y="6464808"/>
            <a:ext cx="640080" cy="0"/>
          </a:xfrm>
          <a:prstGeom prst="line">
            <a:avLst/>
          </a:prstGeom>
          <a:ln w="31750">
            <a:solidFill>
              <a:srgbClr val="ECC665"/>
            </a:solidFill>
          </a:ln>
        </p:spPr>
      </p:cxnSp>
      <p:sp>
        <p:nvSpPr>
          <p:cNvPr id="13" name="TextBox 12"/>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genuinely multi-level workflow, a formal cross-level consistency argument (Proposition 6.1), validation on a structurally different large dataset.</a:t>
            </a:r>
          </a:p>
        </p:txBody>
      </p:sp>
      <p:sp>
        <p:nvSpPr>
          <p:cNvPr id="14" name="TextBox 13"/>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5" name="Connector 14"/>
          <p:cNvCxnSpPr/>
          <p:nvPr/>
        </p:nvCxnSpPr>
        <p:spPr>
          <a:xfrm>
            <a:off x="6576060" y="6464808"/>
            <a:ext cx="640080" cy="0"/>
          </a:xfrm>
          <a:prstGeom prst="line">
            <a:avLst/>
          </a:prstGeom>
          <a:ln w="31750">
            <a:solidFill>
              <a:srgbClr val="ECC665"/>
            </a:solidFill>
          </a:ln>
        </p:spPr>
      </p:cxnSp>
      <p:sp>
        <p:nvSpPr>
          <p:cNvPr id="16" name="TextBox 15"/>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7" name="TextBox 16"/>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8" name="Connector 17"/>
          <p:cNvCxnSpPr/>
          <p:nvPr/>
        </p:nvCxnSpPr>
        <p:spPr>
          <a:xfrm>
            <a:off x="12123420" y="6464808"/>
            <a:ext cx="640080" cy="0"/>
          </a:xfrm>
          <a:prstGeom prst="line">
            <a:avLst/>
          </a:prstGeom>
          <a:ln w="31750">
            <a:solidFill>
              <a:srgbClr val="ECC665"/>
            </a:solidFill>
          </a:ln>
        </p:spPr>
      </p:cxnSp>
      <p:sp>
        <p:nvSpPr>
          <p:cNvPr id="19" name="TextBox 18"/>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meteorology structurally central.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Gap and Objectives</a:t>
            </a:r>
          </a:p>
        </p:txBody>
      </p:sp>
      <p:pic>
        <p:nvPicPr>
          <p:cNvPr id="8" name="Picture 7" descr="image.png"/>
          <p:cNvPicPr>
            <a:picLocks noChangeAspect="1"/>
          </p:cNvPicPr>
          <p:nvPr/>
        </p:nvPicPr>
        <p:blipFill>
          <a:blip r:embed="rId2"/>
          <a:stretch>
            <a:fillRect/>
          </a:stretch>
        </p:blipFill>
        <p:spPr>
          <a:xfrm>
            <a:off x="6247896" y="1673352"/>
            <a:ext cx="457200" cy="250983"/>
          </a:xfrm>
          <a:prstGeom prst="rect">
            <a:avLst/>
          </a:prstGeom>
        </p:spPr>
      </p:pic>
      <p:sp>
        <p:nvSpPr>
          <p:cNvPr id="9" name="Rounded Rectangle 8"/>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120026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Gap</a:t>
            </a:r>
          </a:p>
        </p:txBody>
      </p:sp>
      <p:sp>
        <p:nvSpPr>
          <p:cNvPr id="15" name="TextBox 14"/>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clustering is multi-level, feature importance must stay interpretable </a:t>
            </a:r>
            <a:r>
              <a:rPr lang="en-US" sz="2000" b="true">
                <a:solidFill>
                  <a:srgbClr val="FFFFFF"/>
                </a:solidFill>
                <a:latin typeface="Nunito Bold"/>
                <a:ea typeface="Nunito Bold"/>
                <a:cs typeface="Nunito Bold"/>
                <a:sym typeface="Nunito Bold"/>
              </a:rPr>
              <a:t>within a cluster, across sub-clusters and across the hierarchy</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Large-scale data make exact explanation </a:t>
            </a:r>
            <a:r>
              <a:rPr lang="en-US" sz="2000" b="true">
                <a:solidFill>
                  <a:srgbClr val="FFFFFF"/>
                </a:solidFill>
                <a:latin typeface="Nunito Bold"/>
                <a:ea typeface="Nunito Bold"/>
                <a:cs typeface="Nunito Bold"/>
                <a:sym typeface="Nunito Bold"/>
              </a:rPr>
              <a:t>computationally burdensome</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 flat explanation may be true yet </a:t>
            </a:r>
            <a:r>
              <a:rPr lang="en-US" sz="2000" b="true">
                <a:solidFill>
                  <a:srgbClr val="FFFFFF"/>
                </a:solidFill>
                <a:latin typeface="Nunito Bold"/>
                <a:ea typeface="Nunito Bold"/>
                <a:cs typeface="Nunito Bold"/>
                <a:sym typeface="Nunito Bold"/>
              </a:rPr>
              <a:t>incomplete</a:t>
            </a:r>
            <a:r>
              <a:rPr lang="en-US" sz="2000" b="true">
                <a:solidFill>
                  <a:srgbClr val="FFFFFF"/>
                </a:solidFill>
                <a:latin typeface="Nunito Semi-Bold"/>
                <a:ea typeface="Nunito Semi-Bold"/>
                <a:cs typeface="Nunito Semi-Bold"/>
                <a:sym typeface="Nunito Semi-Bold"/>
              </a:rPr>
              <a:t> — it cannot show how importance changes inside a cluster.</a:t>
            </a:r>
          </a:p>
        </p:txBody>
      </p:sp>
      <p:sp>
        <p:nvSpPr>
          <p:cNvPr id="16" name="Rounded Rectangle 15"/>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3048366" cy="438912"/>
          </a:xfrm>
          <a:prstGeom prst="roundRect">
            <a:avLst>
              <a:gd name="adj" fmla="val 50000"/>
            </a:avLst>
          </a:prstGeom>
          <a:solidFill>
            <a:srgbClr val="124944"/>
          </a:solidFill>
          <a:ln>
            <a:no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RQ2 </a:t>
            </a:r>
            <a:r>
              <a:rPr lang="en-US" sz="2200" b="true">
                <a:solidFill>
                  <a:srgbClr val="FFFFFF"/>
                </a:solidFill>
                <a:latin typeface="Calibri"/>
                <a:ea typeface="Calibri"/>
                <a:cs typeface="Calibri"/>
                <a:sym typeface="Calibri"/>
              </a:rPr>
              <a:t>→ </a:t>
            </a:r>
            <a:r>
              <a:rPr lang="en-US" sz="2200" b="true">
                <a:solidFill>
                  <a:srgbClr val="FFFFFF"/>
                </a:solidFill>
                <a:latin typeface="Nunito Bold"/>
                <a:ea typeface="Nunito Bold"/>
                <a:cs typeface="Nunito Bold"/>
                <a:sym typeface="Nunito Bold"/>
              </a:rPr>
              <a:t>Objectives</a:t>
            </a:r>
          </a:p>
        </p:txBody>
      </p:sp>
      <p:sp>
        <p:nvSpPr>
          <p:cNvPr id="18" name="TextBox 17"/>
          <p:cNvSpPr txBox="1"/>
          <p:nvPr/>
        </p:nvSpPr>
        <p:spPr>
          <a:xfrm>
            <a:off x="9784080" y="4186682"/>
            <a:ext cx="7018020" cy="1005840"/>
          </a:xfrm>
          <a:prstGeom prst="rect">
            <a:avLst/>
          </a:prstGeom>
          <a:noFill/>
        </p:spPr>
        <p:txBody>
          <a:bodyPr anchor="t" rtlCol="false" lIns="0" tIns="0" rIns="0" bIns="0" wrap="square"/>
          <a:lstStyle/>
          <a:p>
            <a:pPr algn="l">
              <a:lnSpc>
                <a:spcPts val="2800"/>
              </a:lnSpc>
              <a:spcBef>
                <a:spcPts val="0"/>
              </a:spcBef>
              <a:buNone/>
            </a:pPr>
            <a:r>
              <a:rPr lang="en-US" sz="2000" b="true">
                <a:solidFill>
                  <a:srgbClr val="124944"/>
                </a:solidFill>
                <a:latin typeface="Nunito Bold"/>
                <a:ea typeface="Nunito Bold"/>
                <a:cs typeface="Nunito Bold"/>
                <a:sym typeface="Nunito Bold"/>
              </a:rPr>
              <a:t>RQ2 ·</a:t>
            </a:r>
            <a:r>
              <a:rPr lang="en-US" sz="2000" b="true">
                <a:solidFill>
                  <a:srgbClr val="124944"/>
                </a:solidFill>
                <a:latin typeface="Nunito Semi-Bold"/>
                <a:ea typeface="Nunito Semi-Bold"/>
                <a:cs typeface="Nunito Semi-Bold"/>
                <a:sym typeface="Nunito Semi-Bold"/>
              </a:rPr>
              <a:t> How can this extend to large-scale, hierarchical clustering without losing tractability or consistency?</a:t>
            </a:r>
          </a:p>
        </p:txBody>
      </p:sp>
      <p:sp>
        <p:nvSpPr>
          <p:cNvPr id="19" name="Oval 18"/>
          <p:cNvSpPr/>
          <p:nvPr/>
        </p:nvSpPr>
        <p:spPr>
          <a:xfrm>
            <a:off x="9784080" y="5421122"/>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O1</a:t>
            </a:r>
          </a:p>
        </p:txBody>
      </p:sp>
      <p:sp>
        <p:nvSpPr>
          <p:cNvPr id="20" name="TextBox 19"/>
          <p:cNvSpPr txBox="1"/>
          <p:nvPr/>
        </p:nvSpPr>
        <p:spPr>
          <a:xfrm>
            <a:off x="10515600" y="5238242"/>
            <a:ext cx="6240780" cy="82296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A </a:t>
            </a:r>
            <a:r>
              <a:rPr lang="en-US" sz="1900" b="true">
                <a:solidFill>
                  <a:srgbClr val="111111"/>
                </a:solidFill>
                <a:latin typeface="Nunito Bold"/>
                <a:ea typeface="Nunito Bold"/>
                <a:cs typeface="Nunito Bold"/>
                <a:sym typeface="Nunito Bold"/>
              </a:rPr>
              <a:t>genuinely multi-level workflow</a:t>
            </a:r>
            <a:r>
              <a:rPr lang="en-US" sz="1900" b="true">
                <a:solidFill>
                  <a:srgbClr val="111111"/>
                </a:solidFill>
                <a:latin typeface="Nunito Semi-Bold"/>
                <a:ea typeface="Nunito Semi-Bold"/>
                <a:cs typeface="Nunito Semi-Bold"/>
                <a:sym typeface="Nunito Semi-Bold"/>
              </a:rPr>
              <a:t>, not a rerun of the single-level pipeline.</a:t>
            </a:r>
          </a:p>
        </p:txBody>
      </p:sp>
      <p:sp>
        <p:nvSpPr>
          <p:cNvPr id="21" name="Oval 20"/>
          <p:cNvSpPr/>
          <p:nvPr/>
        </p:nvSpPr>
        <p:spPr>
          <a:xfrm>
            <a:off x="9784080" y="6372098"/>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O2</a:t>
            </a:r>
          </a:p>
        </p:txBody>
      </p:sp>
      <p:sp>
        <p:nvSpPr>
          <p:cNvPr id="22" name="TextBox 21"/>
          <p:cNvSpPr txBox="1"/>
          <p:nvPr/>
        </p:nvSpPr>
        <p:spPr>
          <a:xfrm>
            <a:off x="10515600" y="6189218"/>
            <a:ext cx="6240780" cy="82296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A </a:t>
            </a:r>
            <a:r>
              <a:rPr lang="en-US" sz="1900" b="true">
                <a:solidFill>
                  <a:srgbClr val="111111"/>
                </a:solidFill>
                <a:latin typeface="Nunito Bold"/>
                <a:ea typeface="Nunito Bold"/>
                <a:cs typeface="Nunito Bold"/>
                <a:sym typeface="Nunito Bold"/>
              </a:rPr>
              <a:t>formal cross-level consistency argument</a:t>
            </a:r>
            <a:r>
              <a:rPr lang="en-US" sz="1900" b="true">
                <a:solidFill>
                  <a:srgbClr val="111111"/>
                </a:solidFill>
                <a:latin typeface="Nunito Semi-Bold"/>
                <a:ea typeface="Nunito Semi-Bold"/>
                <a:cs typeface="Nunito Semi-Bold"/>
                <a:sym typeface="Nunito Semi-Bold"/>
              </a:rPr>
              <a:t> (Proposition 6.1).</a:t>
            </a:r>
          </a:p>
        </p:txBody>
      </p:sp>
      <p:sp>
        <p:nvSpPr>
          <p:cNvPr id="23" name="Oval 22"/>
          <p:cNvSpPr/>
          <p:nvPr/>
        </p:nvSpPr>
        <p:spPr>
          <a:xfrm>
            <a:off x="9784080" y="7323074"/>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O3</a:t>
            </a:r>
          </a:p>
        </p:txBody>
      </p:sp>
      <p:sp>
        <p:nvSpPr>
          <p:cNvPr id="24" name="TextBox 23"/>
          <p:cNvSpPr txBox="1"/>
          <p:nvPr/>
        </p:nvSpPr>
        <p:spPr>
          <a:xfrm>
            <a:off x="10515600" y="7140194"/>
            <a:ext cx="6240780" cy="82296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Validation on a </a:t>
            </a:r>
            <a:r>
              <a:rPr lang="en-US" sz="1900" b="true">
                <a:solidFill>
                  <a:srgbClr val="111111"/>
                </a:solidFill>
                <a:latin typeface="Nunito Bold"/>
                <a:ea typeface="Nunito Bold"/>
                <a:cs typeface="Nunito Bold"/>
                <a:sym typeface="Nunito Bold"/>
              </a:rPr>
              <a:t>structurally different large-scale dataset</a:t>
            </a:r>
            <a:r>
              <a:rPr lang="en-US" sz="19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8" name="Picture 7" descr="image.png"/>
          <p:cNvPicPr>
            <a:picLocks noChangeAspect="1"/>
          </p:cNvPicPr>
          <p:nvPr/>
        </p:nvPicPr>
        <p:blipFill>
          <a:blip r:embed="rId2"/>
          <a:stretch>
            <a:fillRect/>
          </a:stretch>
        </p:blipFill>
        <p:spPr>
          <a:xfrm>
            <a:off x="14669741" y="1673352"/>
            <a:ext cx="457200" cy="415247"/>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TextBox 12"/>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subdivide each cluster.</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 it respects cluster size and nesting structure.</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explanatory structure of its descendants</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pragmatic analytical device, not a claim of true ontological hierarchy.</a:t>
            </a:r>
          </a:p>
        </p:txBody>
      </p:sp>
      <p:sp>
        <p:nvSpPr>
          <p:cNvPr id="14" name="Rounded Rectangle 13"/>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15" name="Rounded Rectangle 14"/>
          <p:cNvSpPr/>
          <p:nvPr/>
        </p:nvSpPr>
        <p:spPr>
          <a:xfrm>
            <a:off x="9258300" y="4826762"/>
            <a:ext cx="2514600" cy="1234440"/>
          </a:xfrm>
          <a:prstGeom prst="roundRect">
            <a:avLst>
              <a:gd name="adj" fmla="val 14814"/>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16" name="Connector 15"/>
          <p:cNvCxnSpPr/>
          <p:nvPr/>
        </p:nvCxnSpPr>
        <p:spPr>
          <a:xfrm flipH="1">
            <a:off x="10515600" y="4278122"/>
            <a:ext cx="2743200" cy="502920"/>
          </a:xfrm>
          <a:prstGeom prst="line">
            <a:avLst/>
          </a:prstGeom>
          <a:ln w="25400">
            <a:solidFill>
              <a:srgbClr val="124944"/>
            </a:solidFill>
            <a:tailEnd type="triangle" w="med" len="med"/>
          </a:ln>
        </p:spPr>
      </p:cxnSp>
      <p:sp>
        <p:nvSpPr>
          <p:cNvPr id="17" name="Rounded Rectangle 16"/>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18" name="Connector 17"/>
          <p:cNvCxnSpPr/>
          <p:nvPr/>
        </p:nvCxnSpPr>
        <p:spPr>
          <a:xfrm flipH="1">
            <a:off x="9859518" y="6088634"/>
            <a:ext cx="656082" cy="393192"/>
          </a:xfrm>
          <a:prstGeom prst="line">
            <a:avLst/>
          </a:prstGeom>
          <a:ln w="19050">
            <a:solidFill>
              <a:srgbClr val="124944"/>
            </a:solidFill>
            <a:tailEnd type="triangle" w="med" len="med"/>
          </a:ln>
        </p:spPr>
      </p:cxnSp>
      <p:sp>
        <p:nvSpPr>
          <p:cNvPr id="19" name="Rounded Rectangle 18"/>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20" name="Connector 19"/>
          <p:cNvCxnSpPr/>
          <p:nvPr/>
        </p:nvCxnSpPr>
        <p:spPr>
          <a:xfrm>
            <a:off x="10515600" y="6088634"/>
            <a:ext cx="656082" cy="393192"/>
          </a:xfrm>
          <a:prstGeom prst="line">
            <a:avLst/>
          </a:prstGeom>
          <a:ln w="19050">
            <a:solidFill>
              <a:srgbClr val="124944"/>
            </a:solidFill>
            <a:tailEnd type="triangle" w="med" len="med"/>
          </a:ln>
        </p:spPr>
      </p:cxnSp>
      <p:sp>
        <p:nvSpPr>
          <p:cNvPr id="21" name="Rounded Rectangle 20"/>
          <p:cNvSpPr/>
          <p:nvPr/>
        </p:nvSpPr>
        <p:spPr>
          <a:xfrm>
            <a:off x="12001500" y="4826762"/>
            <a:ext cx="2514600" cy="1234440"/>
          </a:xfrm>
          <a:prstGeom prst="roundRect">
            <a:avLst>
              <a:gd name="adj" fmla="val 14814"/>
            </a:avLst>
          </a:prstGeom>
          <a:solidFill>
            <a:srgbClr val="1E5F58"/>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22" name="Connector 21"/>
          <p:cNvCxnSpPr/>
          <p:nvPr/>
        </p:nvCxnSpPr>
        <p:spPr>
          <a:xfrm>
            <a:off x="13258800" y="4278122"/>
            <a:ext cx="0" cy="502920"/>
          </a:xfrm>
          <a:prstGeom prst="line">
            <a:avLst/>
          </a:prstGeom>
          <a:ln w="25400">
            <a:solidFill>
              <a:srgbClr val="124944"/>
            </a:solidFill>
            <a:tailEnd type="triangle" w="med" len="med"/>
          </a:ln>
        </p:spPr>
      </p:cxnSp>
      <p:sp>
        <p:nvSpPr>
          <p:cNvPr id="23" name="Rounded Rectangle 22"/>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24" name="Connector 23"/>
          <p:cNvCxnSpPr/>
          <p:nvPr/>
        </p:nvCxnSpPr>
        <p:spPr>
          <a:xfrm flipH="1">
            <a:off x="12602718" y="6088634"/>
            <a:ext cx="656082" cy="393192"/>
          </a:xfrm>
          <a:prstGeom prst="line">
            <a:avLst/>
          </a:prstGeom>
          <a:ln w="19050">
            <a:solidFill>
              <a:srgbClr val="124944"/>
            </a:solidFill>
            <a:tailEnd type="triangle" w="med" len="med"/>
          </a:ln>
        </p:spPr>
      </p:cxnSp>
      <p:sp>
        <p:nvSpPr>
          <p:cNvPr id="25" name="Rounded Rectangle 24"/>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26" name="Connector 25"/>
          <p:cNvCxnSpPr/>
          <p:nvPr/>
        </p:nvCxnSpPr>
        <p:spPr>
          <a:xfrm>
            <a:off x="13258800" y="6088634"/>
            <a:ext cx="656082" cy="393192"/>
          </a:xfrm>
          <a:prstGeom prst="line">
            <a:avLst/>
          </a:prstGeom>
          <a:ln w="19050">
            <a:solidFill>
              <a:srgbClr val="124944"/>
            </a:solidFill>
            <a:tailEnd type="triangle" w="med" len="med"/>
          </a:ln>
        </p:spPr>
      </p:cxnSp>
      <p:sp>
        <p:nvSpPr>
          <p:cNvPr id="27" name="Rounded Rectangle 26"/>
          <p:cNvSpPr/>
          <p:nvPr/>
        </p:nvSpPr>
        <p:spPr>
          <a:xfrm>
            <a:off x="14744700" y="4826762"/>
            <a:ext cx="2514600" cy="1234440"/>
          </a:xfrm>
          <a:prstGeom prst="roundRect">
            <a:avLst>
              <a:gd name="adj" fmla="val 148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meteorology</a:t>
            </a:r>
          </a:p>
        </p:txBody>
      </p:sp>
      <p:cxnSp>
        <p:nvCxnSpPr>
          <p:cNvPr id="28" name="Connector 27"/>
          <p:cNvCxnSpPr/>
          <p:nvPr/>
        </p:nvCxnSpPr>
        <p:spPr>
          <a:xfrm>
            <a:off x="13258800" y="4278122"/>
            <a:ext cx="2743200" cy="502920"/>
          </a:xfrm>
          <a:prstGeom prst="line">
            <a:avLst/>
          </a:prstGeom>
          <a:ln w="25400">
            <a:solidFill>
              <a:srgbClr val="124944"/>
            </a:solidFill>
            <a:tailEnd type="triangle" w="med" len="med"/>
          </a:ln>
        </p:spPr>
      </p:cxnSp>
      <p:sp>
        <p:nvSpPr>
          <p:cNvPr id="29" name="Rounded Rectangle 28"/>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15345918" y="6088634"/>
            <a:ext cx="656082" cy="393192"/>
          </a:xfrm>
          <a:prstGeom prst="line">
            <a:avLst/>
          </a:prstGeom>
          <a:ln w="19050">
            <a:solidFill>
              <a:srgbClr val="124944"/>
            </a:solidFill>
            <a:tailEnd type="triangle" w="med" len="med"/>
          </a:ln>
        </p:spPr>
      </p:cxnSp>
      <p:sp>
        <p:nvSpPr>
          <p:cNvPr id="31" name="Rounded Rectangle 30"/>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6002000" y="6088634"/>
            <a:ext cx="656082" cy="393192"/>
          </a:xfrm>
          <a:prstGeom prst="line">
            <a:avLst/>
          </a:prstGeom>
          <a:ln w="19050">
            <a:solidFill>
              <a:srgbClr val="124944"/>
            </a:solidFill>
            <a:tailEnd type="triangle" w="med" len="med"/>
          </a:ln>
        </p:spPr>
      </p:cxnSp>
      <p:sp>
        <p:nvSpPr>
          <p:cNvPr id="33" name="Rounded Rectangle 32"/>
          <p:cNvSpPr/>
          <p:nvPr/>
        </p:nvSpPr>
        <p:spPr>
          <a:xfrm>
            <a:off x="9258300" y="7341362"/>
            <a:ext cx="8001000" cy="1967230"/>
          </a:xfrm>
          <a:prstGeom prst="roundRect">
            <a:avLst>
              <a:gd name="adj" fmla="val 11620"/>
            </a:avLst>
          </a:prstGeom>
          <a:solidFill>
            <a:srgbClr val="124944"/>
          </a:solidFill>
          <a:ln>
            <a:noFill/>
          </a:ln>
        </p:spPr>
        <p:txBody>
          <a:bodyPr anchor="ctr" rtlCol="false" lIns="0" tIns="0" rIns="0" bIns="0" wrap="square"/>
          <a:lstStyle/>
          <a:p>
            <a:endParaRPr lang="en-US" sz="1800"/>
          </a:p>
        </p:txBody>
      </p:sp>
      <p:sp>
        <p:nvSpPr>
          <p:cNvPr id="34" name="TextBox 33"/>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35"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35"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6"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w</m:t>
                          </m:r>
                        </m:e>
                        <m:sub>
                          <m:r>
                            <a:rPr lang="en-US" sz="1400" i="1">
                              <a:solidFill>
                                <a:srgbClr val="DCE7E3"/>
                              </a:solidFill>
                              <a:latin typeface="Cambria Math" panose="02040503050406030204" pitchFamily="18" charset="0"/>
                            </a:rPr>
                            <m:t xml:space="preserve">c′</m:t>
                          </m:r>
                        </m:sub>
                      </m:sSub>
                      <m:r>
                        <m:rPr>
                          <m:sty m:val="p"/>
                        </m:rPr>
                        <a:rPr lang="en-US" sz="1400">
                          <a:solidFill>
                            <a:srgbClr val="DCE7E3"/>
                          </a:solidFill>
                          <a:latin typeface="Cambria Math" panose="02040503050406030204" pitchFamily="18" charset="0"/>
                        </a:rPr>
                        <m:t xml:space="preserve">=|</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 |</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m:t>
                      </m:r>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ε</m:t>
                          </m:r>
                        </m:e>
                        <m:sub>
                          <m:r>
                            <a:rPr lang="en-US" sz="1400" i="1">
                              <a:solidFill>
                                <a:srgbClr val="DCE7E3"/>
                              </a:solidFill>
                              <a:latin typeface="Cambria Math" panose="02040503050406030204" pitchFamily="18" charset="0"/>
                            </a:rPr>
                            <m:t xml:space="preserve">j</m:t>
                          </m:r>
                        </m:sub>
                      </m:sSub>
                      <m:r>
                        <m:rPr>
                          <m:sty m:val="p"/>
                        </m:rPr>
                        <a:rPr lang="en-US" sz="1400">
                          <a:solidFill>
                            <a:srgbClr val="DCE7E3"/>
                          </a:solidFill>
                          <a:latin typeface="Cambria Math" panose="02040503050406030204" pitchFamily="18" charset="0"/>
                        </a:rPr>
                        <m:t xml:space="preserve">→0</m:t>
                      </m:r>
                      <m:r>
                        <m:rPr>
                          <m:nor/>
                        </m:rPr>
                        <a:rPr lang="en-US" sz="1400">
                          <a:solidFill>
                            <a:srgbClr val="DCE7E3"/>
                          </a:solidFill>
                          <a:latin typeface="Cambria Math" panose="02040503050406030204" pitchFamily="18" charset="0"/>
                        </a:rPr>
                        <m:t xml:space="preserve">  under perfect surrogate fidelity</m:t>
                      </m:r>
                    </m:oMath>
                  </m:oMathPara>
                </a14:m>
                <a:endParaRPr lang="en-US" sz="1400"/>
              </a:p>
            </p:txBody>
          </p:sp>
        </mc:Choice>
        <mc:Fallback>
          <p:sp>
            <p:nvSpPr>
              <p:cNvPr id="36"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 Cross-Level Consistency</a:t>
            </a:r>
          </a:p>
        </p:txBody>
      </p:sp>
      <p:pic>
        <p:nvPicPr>
          <p:cNvPr id="8" name="Picture 7" descr="image.png"/>
          <p:cNvPicPr>
            <a:picLocks noChangeAspect="1"/>
          </p:cNvPicPr>
          <p:nvPr/>
        </p:nvPicPr>
        <p:blipFill>
          <a:blip r:embed="rId2"/>
          <a:stretch>
            <a:fillRect/>
          </a:stretch>
        </p:blipFill>
        <p:spPr>
          <a:xfrm>
            <a:off x="11927284" y="1673352"/>
            <a:ext cx="457200" cy="452148"/>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Oval 12"/>
          <p:cNvSpPr/>
          <p:nvPr/>
        </p:nvSpPr>
        <p:spPr>
          <a:xfrm>
            <a:off x="1028700" y="355574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14"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sSub>
                        <m:sSubPr>
                          <m:ctrlPr>
                            <a:rPr lang="en-US" sz="1800" i="1">
                              <a:solidFill>
                                <a:srgbClr val="124944"/>
                              </a:solidFill>
                              <a:latin typeface="Cambria Math" panose="02040503050406030204" pitchFamily="18" charset="0"/>
                            </a:rPr>
                          </m:ctrlPr>
                        </m:sSubPr>
                        <m:e>
                          <m:r>
                            <m:rPr>
                              <m:scr m:val="double-struck"/>
                              <m:sty m:val="p"/>
                            </m:rPr>
                            <a:rPr lang="en-US" sz="1800">
                              <a:solidFill>
                                <a:srgbClr val="124944"/>
                              </a:solidFill>
                              <a:latin typeface="Cambria Math" panose="02040503050406030204" pitchFamily="18" charset="0"/>
                            </a:rPr>
                            <m:t xml:space="preserve">E</m:t>
                          </m:r>
                        </m:e>
                        <m:sub>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sub>
                      </m:sSub>
                      <m:d>
                        <m:dPr>
                          <m:begChr m:val="["/>
                          <m:endChr m:val="]"/>
                          <m:ctrlPr>
                            <a:rPr lang="en-US" sz="1800" i="1">
                              <a:solidFill>
                                <a:srgbClr val="124944"/>
                              </a:solidFill>
                              <a:latin typeface="Cambria Math" panose="02040503050406030204" pitchFamily="18" charset="0"/>
                            </a:rPr>
                          </m:ctrlPr>
                        </m:dPr>
                        <m:e>
                          <m:r>
                            <m:rPr>
                              <m:sty m:val="p"/>
                            </m:rPr>
                            <a:rPr lang="en-US" sz="1800">
                              <a:solidFill>
                                <a:srgbClr val="124944"/>
                              </a:solidFill>
                              <a:latin typeface="Cambria Math" panose="02040503050406030204" pitchFamily="18" charset="0"/>
                            </a:rPr>
                            <m:t xml:space="preserve"> </m:t>
                          </m:r>
                          <m:d>
                            <m:dPr>
                              <m:begChr m:val="|"/>
                              <m:endChr m:val="|"/>
                              <m:ctrlPr>
                                <a:rPr lang="en-US" sz="1800" i="1">
                                  <a:solidFill>
                                    <a:srgbClr val="124944"/>
                                  </a:solidFill>
                                  <a:latin typeface="Cambria Math" panose="02040503050406030204" pitchFamily="18" charset="0"/>
                                </a:rPr>
                              </m:ctrlPr>
                            </m:dPr>
                            <m:e>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e>
                          </m:d>
                          <m:r>
                            <m:rPr>
                              <m:sty m:val="p"/>
                            </m:rPr>
                            <a:rPr lang="en-US" sz="1800">
                              <a:solidFill>
                                <a:srgbClr val="124944"/>
                              </a:solidFill>
                              <a:latin typeface="Cambria Math" panose="02040503050406030204" pitchFamily="18" charset="0"/>
                            </a:rPr>
                            <m:t xml:space="preserve"> </m:t>
                          </m:r>
                        </m:e>
                      </m:d>
                    </m:oMath>
                  </m:oMathPara>
                </a14:m>
                <a:endParaRPr lang="en-US" sz="1800"/>
              </a:p>
            </p:txBody>
          </p:sp>
        </mc:Choice>
        <mc:Fallback>
          <p:sp>
            <p:nvSpPr>
              <p:cNvPr id="14"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15" name="TextBox 14"/>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16" name="Oval 15"/>
          <p:cNvSpPr/>
          <p:nvPr/>
        </p:nvSpPr>
        <p:spPr>
          <a:xfrm>
            <a:off x="1028700" y="428726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17"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124944"/>
                              </a:solidFill>
                              <a:latin typeface="Cambria Math" panose="02040503050406030204" pitchFamily="18" charset="0"/>
                            </a:rPr>
                          </m:ctrlPr>
                        </m:sSubPr>
                        <m:e>
                          <m:r>
                            <a:rPr lang="en-US" sz="2100" i="1">
                              <a:solidFill>
                                <a:srgbClr val="124944"/>
                              </a:solidFill>
                              <a:latin typeface="Cambria Math" panose="02040503050406030204" pitchFamily="18" charset="0"/>
                            </a:rPr>
                            <m:t xml:space="preserve">w</m:t>
                          </m:r>
                        </m:e>
                        <m:sub>
                          <m:r>
                            <a:rPr lang="en-US" sz="2100" i="1">
                              <a:solidFill>
                                <a:srgbClr val="124944"/>
                              </a:solidFill>
                              <a:latin typeface="Cambria Math" panose="02040503050406030204" pitchFamily="18" charset="0"/>
                            </a:rPr>
                            <m:t xml:space="preserve">c′</m:t>
                          </m:r>
                        </m:sub>
                      </m:sSub>
                      <m:r>
                        <m:rPr>
                          <m:sty m:val="p"/>
                        </m:rPr>
                        <a:rPr lang="en-US" sz="2100">
                          <a:solidFill>
                            <a:srgbClr val="124944"/>
                          </a:solidFill>
                          <a:latin typeface="Cambria Math" panose="02040503050406030204" pitchFamily="18" charset="0"/>
                        </a:rPr>
                        <m:t xml:space="preserve">=|</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 / |</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m:t>
                      </m:r>
                    </m:oMath>
                  </m:oMathPara>
                </a14:m>
                <a:endParaRPr lang="en-US" sz="2100"/>
              </a:p>
            </p:txBody>
          </p:sp>
        </mc:Choice>
        <mc:Fallback>
          <p:sp>
            <p:nvSpPr>
              <p:cNvPr id="17"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18" name="TextBox 17"/>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19" name="TextBox 18"/>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20" name="Rounded Rectangle 19"/>
          <p:cNvSpPr/>
          <p:nvPr/>
        </p:nvSpPr>
        <p:spPr>
          <a:xfrm>
            <a:off x="1028700" y="5393690"/>
            <a:ext cx="8229600" cy="1508760"/>
          </a:xfrm>
          <a:prstGeom prst="roundRect">
            <a:avLst>
              <a:gd name="adj" fmla="val 1212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1"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nary>
                        <m:naryPr>
                          <m:chr m:val="∑"/>
                          <m:limLoc m:val="undOvr"/>
                          <m:supHide m:val="1"/>
                          <m:ctrlPr>
                            <a:rPr lang="en-US" sz="2550" i="1">
                              <a:solidFill>
                                <a:srgbClr val="124944"/>
                              </a:solidFill>
                              <a:latin typeface="Cambria Math" panose="02040503050406030204" pitchFamily="18" charset="0"/>
                            </a:rPr>
                          </m:ctrlPr>
                        </m:naryPr>
                        <m:sub>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∈child(</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b>
                        <m:sup/>
                        <m:e>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w</m:t>
                              </m:r>
                            </m:e>
                            <m:sub>
                              <m:r>
                                <a:rPr lang="en-US" sz="2550" i="1">
                                  <a:solidFill>
                                    <a:srgbClr val="124944"/>
                                  </a:solidFill>
                                  <a:latin typeface="Cambria Math" panose="02040503050406030204" pitchFamily="18" charset="0"/>
                                </a:rPr>
                                <m:t xml:space="preserve">c′</m:t>
                              </m:r>
                            </m:sub>
                          </m:sSub>
                        </m:e>
                      </m:nary>
                      <m:r>
                        <m:rPr>
                          <m:sty m:val="p"/>
                        </m:rPr>
                        <a:rPr lang="en-US" sz="2550">
                          <a:solidFill>
                            <a:srgbClr val="124944"/>
                          </a:solidFill>
                          <a:latin typeface="Cambria Math" panose="02040503050406030204" pitchFamily="18" charset="0"/>
                        </a:rPr>
                        <m:t xml:space="preserve"> </m:t>
                      </m:r>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+1, </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ε</m:t>
                          </m:r>
                        </m:e>
                        <m:sub>
                          <m:r>
                            <a:rPr lang="en-US" sz="2550" i="1">
                              <a:solidFill>
                                <a:srgbClr val="124944"/>
                              </a:solidFill>
                              <a:latin typeface="Cambria Math" panose="02040503050406030204" pitchFamily="18" charset="0"/>
                            </a:rPr>
                            <m:t xml:space="preserve">j</m:t>
                          </m:r>
                        </m:sub>
                      </m:sSub>
                    </m:oMath>
                  </m:oMathPara>
                </a14:m>
                <a:endParaRPr lang="en-US" sz="2550"/>
              </a:p>
            </p:txBody>
          </p:sp>
        </mc:Choice>
        <mc:Fallback>
          <p:sp>
            <p:nvSpPr>
              <p:cNvPr id="21"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22" name="TextBox 21"/>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DF8330"/>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vanishing under perfect fidelity.</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imply explanations are identical across levels — it implies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dismissed as inconsistency.</a:t>
            </a:r>
          </a:p>
        </p:txBody>
      </p:sp>
      <p:sp>
        <p:nvSpPr>
          <p:cNvPr id="23" name="Rounded Rectangle 22"/>
          <p:cNvSpPr/>
          <p:nvPr/>
        </p:nvSpPr>
        <p:spPr>
          <a:xfrm>
            <a:off x="9806940" y="3592322"/>
            <a:ext cx="7452360" cy="3017520"/>
          </a:xfrm>
          <a:prstGeom prst="roundRect">
            <a:avLst>
              <a:gd name="adj" fmla="val 10303"/>
            </a:avLst>
          </a:prstGeom>
          <a:solidFill>
            <a:srgbClr val="124944"/>
          </a:solidFill>
          <a:ln>
            <a:noFill/>
          </a:ln>
        </p:spPr>
        <p:txBody>
          <a:bodyPr anchor="ctr" rtlCol="false" lIns="0" tIns="0" rIns="0" bIns="0" wrap="square"/>
          <a:lstStyle/>
          <a:p>
            <a:endParaRPr lang="en-US" sz="1800"/>
          </a:p>
        </p:txBody>
      </p:sp>
      <p:sp>
        <p:nvSpPr>
          <p:cNvPr id="24" name="Rounded Rectangle 23"/>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25" name="TextBox 24"/>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children —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26" name="Rounded Rectangle 25"/>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2494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27" name="Rounded Rectangle 26"/>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DF8330"/>
                </a:solidFill>
                <a:latin typeface="Nunito Ultra-Bold"/>
                <a:ea typeface="Nunito Ultra-Bold"/>
                <a:cs typeface="Nunito Ultra-Bold"/>
                <a:sym typeface="Nunito Ultra-Bold"/>
              </a:rPr>
              <a:t>3 </a:t>
            </a:r>
            <a:r>
              <a:rPr lang="en-US" sz="3400" b="true">
                <a:solidFill>
                  <a:srgbClr val="DF8330"/>
                </a:solidFill>
                <a:latin typeface="Calibri"/>
                <a:ea typeface="Calibri"/>
                <a:cs typeface="Calibri"/>
                <a:sym typeface="Calibri"/>
              </a:rPr>
              <a:t>→ </a:t>
            </a:r>
            <a:r>
              <a:rPr lang="en-US" sz="3400" b="true">
                <a:solidFill>
                  <a:srgbClr val="DF8330"/>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 Beijing Air Quality</a:t>
            </a:r>
          </a:p>
        </p:txBody>
      </p:sp>
      <p:pic>
        <p:nvPicPr>
          <p:cNvPr id="8" name="Picture 7" descr="image.png"/>
          <p:cNvPicPr>
            <a:picLocks noChangeAspect="1"/>
          </p:cNvPicPr>
          <p:nvPr/>
        </p:nvPicPr>
        <p:blipFill>
          <a:blip r:embed="rId2"/>
          <a:stretch>
            <a:fillRect/>
          </a:stretch>
        </p:blipFill>
        <p:spPr>
          <a:xfrm>
            <a:off x="12700397" y="1673352"/>
            <a:ext cx="457200" cy="617115"/>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455162"/>
            <a:ext cx="519684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strong convergence on </a:t>
            </a:r>
            <a:r>
              <a:rPr lang="en-US" sz="1700" b="true">
                <a:solidFill>
                  <a:srgbClr val="FFFFFF"/>
                </a:solidFill>
                <a:latin typeface="Nunito Bold"/>
                <a:ea typeface="Nunito Bold"/>
                <a:cs typeface="Nunito Bold"/>
                <a:sym typeface="Nunito Bold"/>
              </a:rPr>
              <a:t>multi-criteria</a:t>
            </a:r>
            <a:r>
              <a:rPr lang="en-US" sz="1700" b="true">
                <a:solidFill>
                  <a:srgbClr val="FFFFFF"/>
                </a:solidFill>
                <a:latin typeface="Nunito Semi-Bold"/>
                <a:ea typeface="Nunito Semi-Bold"/>
                <a:cs typeface="Nunito Semi-Bold"/>
                <a:sym typeface="Nunito Semi-Bold"/>
              </a:rPr>
              <a:t> evaluation</a:t>
            </a:r>
          </a:p>
        </p:txBody>
      </p:sp>
      <p:sp>
        <p:nvSpPr>
          <p:cNvPr id="14" name="Rounded Rectangle 13"/>
          <p:cNvSpPr/>
          <p:nvPr/>
        </p:nvSpPr>
        <p:spPr>
          <a:xfrm>
            <a:off x="6545580" y="3455162"/>
            <a:ext cx="519684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materially stronger separation than wine</a:t>
            </a:r>
          </a:p>
        </p:txBody>
      </p:sp>
      <p:sp>
        <p:nvSpPr>
          <p:cNvPr id="15" name="Rounded Rectangle 14"/>
          <p:cNvSpPr/>
          <p:nvPr/>
        </p:nvSpPr>
        <p:spPr>
          <a:xfrm>
            <a:off x="12062460" y="3455162"/>
            <a:ext cx="519684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low between-cluster ambiguity</a:t>
            </a:r>
          </a:p>
        </p:txBody>
      </p:sp>
      <p:sp>
        <p:nvSpPr>
          <p:cNvPr id="16" name="Rounded Rectangle 15"/>
          <p:cNvSpPr/>
          <p:nvPr/>
        </p:nvSpPr>
        <p:spPr>
          <a:xfrm>
            <a:off x="1028700" y="6198362"/>
            <a:ext cx="7932420" cy="3155950"/>
          </a:xfrm>
          <a:prstGeom prst="roundRect">
            <a:avLst>
              <a:gd name="adj" fmla="val 9851"/>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1485900" y="5960618"/>
            <a:ext cx="144573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18" name="TextBox 17"/>
          <p:cNvSpPr txBox="1"/>
          <p:nvPr/>
        </p:nvSpPr>
        <p:spPr>
          <a:xfrm>
            <a:off x="1531620" y="6838442"/>
            <a:ext cx="6972300" cy="224155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Full dataset —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meteorological variables.</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19" name="Rounded Rectangle 18"/>
          <p:cNvSpPr/>
          <p:nvPr/>
        </p:nvSpPr>
        <p:spPr>
          <a:xfrm>
            <a:off x="9326880" y="6198362"/>
            <a:ext cx="7932420" cy="3155950"/>
          </a:xfrm>
          <a:prstGeom prst="roundRect">
            <a:avLst>
              <a:gd name="adj" fmla="val 9851"/>
            </a:avLst>
          </a:prstGeom>
          <a:solidFill>
            <a:srgbClr val="124944"/>
          </a:solidFill>
          <a:ln>
            <a:noFill/>
          </a:ln>
        </p:spPr>
        <p:txBody>
          <a:bodyPr anchor="ctr" rtlCol="false" lIns="0" tIns="0" rIns="0" bIns="0" wrap="square"/>
          <a:lstStyle/>
          <a:p>
            <a:endParaRPr lang="en-US" sz="1800"/>
          </a:p>
        </p:txBody>
      </p:sp>
      <p:sp>
        <p:nvSpPr>
          <p:cNvPr id="20" name="Rounded Rectangle 19"/>
          <p:cNvSpPr/>
          <p:nvPr/>
        </p:nvSpPr>
        <p:spPr>
          <a:xfrm>
            <a:off x="9784080" y="596061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Sensitivity</a:t>
            </a:r>
          </a:p>
        </p:txBody>
      </p:sp>
      <p:sp>
        <p:nvSpPr>
          <p:cNvPr id="21" name="TextBox 20"/>
          <p:cNvSpPr txBox="1"/>
          <p:nvPr/>
        </p:nvSpPr>
        <p:spPr>
          <a:xfrm>
            <a:off x="9829800" y="6838442"/>
            <a:ext cx="6972300" cy="224155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modest variation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 Meteorology Is Structurally Central</a:t>
            </a:r>
          </a:p>
        </p:txBody>
      </p:sp>
      <p:pic>
        <p:nvPicPr>
          <p:cNvPr id="8" name="Picture 7" descr="image.png"/>
          <p:cNvPicPr>
            <a:picLocks noChangeAspect="1"/>
          </p:cNvPicPr>
          <p:nvPr/>
        </p:nvPicPr>
        <p:blipFill>
          <a:blip r:embed="rId2"/>
          <a:stretch>
            <a:fillRect/>
          </a:stretch>
        </p:blipFill>
        <p:spPr>
          <a:xfrm>
            <a:off x="16599867" y="1673352"/>
            <a:ext cx="457200" cy="250983"/>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TextBox 12"/>
          <p:cNvSpPr txBox="1"/>
          <p:nvPr/>
        </p:nvSpPr>
        <p:spPr>
          <a:xfrm>
            <a:off x="1028700" y="3363722"/>
            <a:ext cx="841248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MEAN |SHAP| — RELATIVE RANKING (HIGH </a:t>
            </a:r>
            <a:r>
              <a:rPr lang="en-US" sz="1400" b="true" spc="160">
                <a:solidFill>
                  <a:srgbClr val="DF8330"/>
                </a:solidFill>
                <a:latin typeface="Calibri"/>
                <a:ea typeface="Calibri"/>
                <a:cs typeface="Calibri"/>
                <a:sym typeface="Calibri"/>
              </a:rPr>
              <a:t>→ </a:t>
            </a:r>
            <a:r>
              <a:rPr lang="en-US" sz="1400" b="true" spc="160">
                <a:solidFill>
                  <a:srgbClr val="DF8330"/>
                </a:solidFill>
                <a:latin typeface="Nunito Ultra-Bold"/>
                <a:ea typeface="Nunito Ultra-Bold"/>
                <a:cs typeface="Nunito Ultra-Bold"/>
                <a:sym typeface="Nunito Ultra-Bold"/>
              </a:rPr>
              <a:t>LOW)</a:t>
            </a:r>
          </a:p>
        </p:txBody>
      </p:sp>
      <p:sp>
        <p:nvSpPr>
          <p:cNvPr id="14" name="TextBox 13"/>
          <p:cNvSpPr txBox="1"/>
          <p:nvPr/>
        </p:nvSpPr>
        <p:spPr>
          <a:xfrm>
            <a:off x="1028700" y="3866642"/>
            <a:ext cx="2194560" cy="530352"/>
          </a:xfrm>
          <a:prstGeom prst="rect">
            <a:avLst/>
          </a:prstGeom>
          <a:noFill/>
        </p:spPr>
        <p:txBody>
          <a:bodyPr anchor="ctr" rtlCol="false" lIns="0" tIns="0" rIns="0" bIns="0" wrap="square"/>
          <a:lstStyle/>
          <a:p>
            <a:pPr algn="r">
              <a:lnSpc>
                <a:spcPts val="2300"/>
              </a:lnSpc>
              <a:spcBef>
                <a:spcPts val="0"/>
              </a:spcBef>
              <a:buNone/>
            </a:pPr>
            <a:r>
              <a:rPr lang="en-US" sz="1900" b="true">
                <a:solidFill>
                  <a:srgbClr val="111111"/>
                </a:solidFill>
                <a:latin typeface="Nunito Bold"/>
                <a:ea typeface="Nunito Bold"/>
                <a:cs typeface="Nunito Bold"/>
                <a:sym typeface="Nunito Bold"/>
              </a:rPr>
              <a:t>temperature</a:t>
            </a:r>
          </a:p>
        </p:txBody>
      </p:sp>
      <p:sp>
        <p:nvSpPr>
          <p:cNvPr id="15" name="Rounded Rectangle 14"/>
          <p:cNvSpPr/>
          <p:nvPr/>
        </p:nvSpPr>
        <p:spPr>
          <a:xfrm>
            <a:off x="3451860" y="3866642"/>
            <a:ext cx="5989320" cy="530352"/>
          </a:xfrm>
          <a:prstGeom prst="roundRect">
            <a:avLst>
              <a:gd name="adj" fmla="val 13793"/>
            </a:avLst>
          </a:prstGeom>
          <a:solidFill>
            <a:srgbClr val="124944"/>
          </a:solidFill>
          <a:ln>
            <a:noFill/>
          </a:ln>
        </p:spPr>
        <p:txBody>
          <a:bodyPr anchor="ctr" rtlCol="false" lIns="0" tIns="0" rIns="0" bIns="0" wrap="square"/>
          <a:lstStyle/>
          <a:p>
            <a:endParaRPr lang="en-US" sz="1800"/>
          </a:p>
        </p:txBody>
      </p:sp>
      <p:sp>
        <p:nvSpPr>
          <p:cNvPr id="16" name="TextBox 15"/>
          <p:cNvSpPr txBox="1"/>
          <p:nvPr/>
        </p:nvSpPr>
        <p:spPr>
          <a:xfrm>
            <a:off x="3589020" y="3866642"/>
            <a:ext cx="1097280" cy="530352"/>
          </a:xfrm>
          <a:prstGeom prst="rect">
            <a:avLst/>
          </a:prstGeom>
          <a:noFill/>
        </p:spPr>
        <p:txBody>
          <a:bodyPr anchor="ctr" rtlCol="false" lIns="0" tIns="0" rIns="0" bIns="0" wrap="square"/>
          <a:lstStyle/>
          <a:p>
            <a:pPr algn="l">
              <a:lnSpc>
                <a:spcPts val="2000"/>
              </a:lnSpc>
              <a:spcBef>
                <a:spcPts val="0"/>
              </a:spcBef>
              <a:buNone/>
            </a:pPr>
            <a:r>
              <a:rPr lang="en-US" sz="1600" b="true">
                <a:solidFill>
                  <a:srgbClr val="FFFFFF"/>
                </a:solidFill>
                <a:latin typeface="Nunito Ultra-Bold"/>
                <a:ea typeface="Nunito Ultra-Bold"/>
                <a:cs typeface="Nunito Ultra-Bold"/>
                <a:sym typeface="Nunito Ultra-Bold"/>
              </a:rPr>
              <a:t>1</a:t>
            </a:r>
          </a:p>
        </p:txBody>
      </p:sp>
      <p:sp>
        <p:nvSpPr>
          <p:cNvPr id="17" name="TextBox 16"/>
          <p:cNvSpPr txBox="1"/>
          <p:nvPr/>
        </p:nvSpPr>
        <p:spPr>
          <a:xfrm>
            <a:off x="1028700" y="4543298"/>
            <a:ext cx="2194560" cy="530352"/>
          </a:xfrm>
          <a:prstGeom prst="rect">
            <a:avLst/>
          </a:prstGeom>
          <a:noFill/>
        </p:spPr>
        <p:txBody>
          <a:bodyPr anchor="ctr" rtlCol="false" lIns="0" tIns="0" rIns="0" bIns="0" wrap="square"/>
          <a:lstStyle/>
          <a:p>
            <a:pPr algn="r">
              <a:lnSpc>
                <a:spcPts val="2300"/>
              </a:lnSpc>
              <a:spcBef>
                <a:spcPts val="0"/>
              </a:spcBef>
              <a:buNone/>
            </a:pPr>
            <a:r>
              <a:rPr lang="en-US" sz="1900" b="true">
                <a:solidFill>
                  <a:srgbClr val="111111"/>
                </a:solidFill>
                <a:latin typeface="Nunito Bold"/>
                <a:ea typeface="Nunito Bold"/>
                <a:cs typeface="Nunito Bold"/>
                <a:sym typeface="Nunito Bold"/>
              </a:rPr>
              <a:t>dew point</a:t>
            </a:r>
          </a:p>
        </p:txBody>
      </p:sp>
      <p:sp>
        <p:nvSpPr>
          <p:cNvPr id="18" name="Rounded Rectangle 17"/>
          <p:cNvSpPr/>
          <p:nvPr/>
        </p:nvSpPr>
        <p:spPr>
          <a:xfrm>
            <a:off x="3451860" y="4543298"/>
            <a:ext cx="5150815" cy="530352"/>
          </a:xfrm>
          <a:prstGeom prst="roundRect">
            <a:avLst>
              <a:gd name="adj" fmla="val 13793"/>
            </a:avLst>
          </a:prstGeom>
          <a:solidFill>
            <a:srgbClr val="124944"/>
          </a:solidFill>
          <a:ln>
            <a:noFill/>
          </a:ln>
        </p:spPr>
        <p:txBody>
          <a:bodyPr anchor="ctr" rtlCol="false" lIns="0" tIns="0" rIns="0" bIns="0" wrap="square"/>
          <a:lstStyle/>
          <a:p>
            <a:endParaRPr lang="en-US" sz="1800"/>
          </a:p>
        </p:txBody>
      </p:sp>
      <p:sp>
        <p:nvSpPr>
          <p:cNvPr id="19" name="TextBox 18"/>
          <p:cNvSpPr txBox="1"/>
          <p:nvPr/>
        </p:nvSpPr>
        <p:spPr>
          <a:xfrm>
            <a:off x="3589020" y="4543298"/>
            <a:ext cx="1097280" cy="530352"/>
          </a:xfrm>
          <a:prstGeom prst="rect">
            <a:avLst/>
          </a:prstGeom>
          <a:noFill/>
        </p:spPr>
        <p:txBody>
          <a:bodyPr anchor="ctr" rtlCol="false" lIns="0" tIns="0" rIns="0" bIns="0" wrap="square"/>
          <a:lstStyle/>
          <a:p>
            <a:pPr algn="l">
              <a:lnSpc>
                <a:spcPts val="2000"/>
              </a:lnSpc>
              <a:spcBef>
                <a:spcPts val="0"/>
              </a:spcBef>
              <a:buNone/>
            </a:pPr>
            <a:r>
              <a:rPr lang="en-US" sz="1600" b="true">
                <a:solidFill>
                  <a:srgbClr val="FFFFFF"/>
                </a:solidFill>
                <a:latin typeface="Nunito Ultra-Bold"/>
                <a:ea typeface="Nunito Ultra-Bold"/>
                <a:cs typeface="Nunito Ultra-Bold"/>
                <a:sym typeface="Nunito Ultra-Bold"/>
              </a:rPr>
              <a:t>2</a:t>
            </a:r>
          </a:p>
        </p:txBody>
      </p:sp>
      <p:sp>
        <p:nvSpPr>
          <p:cNvPr id="20" name="TextBox 19"/>
          <p:cNvSpPr txBox="1"/>
          <p:nvPr/>
        </p:nvSpPr>
        <p:spPr>
          <a:xfrm>
            <a:off x="1028700" y="5219954"/>
            <a:ext cx="2194560" cy="530352"/>
          </a:xfrm>
          <a:prstGeom prst="rect">
            <a:avLst/>
          </a:prstGeom>
          <a:noFill/>
        </p:spPr>
        <p:txBody>
          <a:bodyPr anchor="ctr" rtlCol="false" lIns="0" tIns="0" rIns="0" bIns="0" wrap="square"/>
          <a:lstStyle/>
          <a:p>
            <a:pPr algn="r">
              <a:lnSpc>
                <a:spcPts val="2300"/>
              </a:lnSpc>
              <a:spcBef>
                <a:spcPts val="0"/>
              </a:spcBef>
              <a:buNone/>
            </a:pPr>
            <a:r>
              <a:rPr lang="en-US" sz="1900" b="true">
                <a:solidFill>
                  <a:srgbClr val="111111"/>
                </a:solidFill>
                <a:latin typeface="Nunito Bold"/>
                <a:ea typeface="Nunito Bold"/>
                <a:cs typeface="Nunito Bold"/>
                <a:sym typeface="Nunito Bold"/>
              </a:rPr>
              <a:t>pressure</a:t>
            </a:r>
          </a:p>
        </p:txBody>
      </p:sp>
      <p:sp>
        <p:nvSpPr>
          <p:cNvPr id="21" name="Rounded Rectangle 20"/>
          <p:cNvSpPr/>
          <p:nvPr/>
        </p:nvSpPr>
        <p:spPr>
          <a:xfrm>
            <a:off x="3451860" y="5219954"/>
            <a:ext cx="4312310" cy="530352"/>
          </a:xfrm>
          <a:prstGeom prst="roundRect">
            <a:avLst>
              <a:gd name="adj" fmla="val 13793"/>
            </a:avLst>
          </a:prstGeom>
          <a:solidFill>
            <a:srgbClr val="124944"/>
          </a:solidFill>
          <a:ln>
            <a:noFill/>
          </a:ln>
        </p:spPr>
        <p:txBody>
          <a:bodyPr anchor="ctr" rtlCol="false" lIns="0" tIns="0" rIns="0" bIns="0" wrap="square"/>
          <a:lstStyle/>
          <a:p>
            <a:endParaRPr lang="en-US" sz="1800"/>
          </a:p>
        </p:txBody>
      </p:sp>
      <p:sp>
        <p:nvSpPr>
          <p:cNvPr id="22" name="TextBox 21"/>
          <p:cNvSpPr txBox="1"/>
          <p:nvPr/>
        </p:nvSpPr>
        <p:spPr>
          <a:xfrm>
            <a:off x="3589020" y="5219954"/>
            <a:ext cx="1097280" cy="530352"/>
          </a:xfrm>
          <a:prstGeom prst="rect">
            <a:avLst/>
          </a:prstGeom>
          <a:noFill/>
        </p:spPr>
        <p:txBody>
          <a:bodyPr anchor="ctr" rtlCol="false" lIns="0" tIns="0" rIns="0" bIns="0" wrap="square"/>
          <a:lstStyle/>
          <a:p>
            <a:pPr algn="l">
              <a:lnSpc>
                <a:spcPts val="2000"/>
              </a:lnSpc>
              <a:spcBef>
                <a:spcPts val="0"/>
              </a:spcBef>
              <a:buNone/>
            </a:pPr>
            <a:r>
              <a:rPr lang="en-US" sz="1600" b="true">
                <a:solidFill>
                  <a:srgbClr val="FFFFFF"/>
                </a:solidFill>
                <a:latin typeface="Nunito Ultra-Bold"/>
                <a:ea typeface="Nunito Ultra-Bold"/>
                <a:cs typeface="Nunito Ultra-Bold"/>
                <a:sym typeface="Nunito Ultra-Bold"/>
              </a:rPr>
              <a:t>3</a:t>
            </a:r>
          </a:p>
        </p:txBody>
      </p:sp>
      <p:sp>
        <p:nvSpPr>
          <p:cNvPr id="23" name="TextBox 22"/>
          <p:cNvSpPr txBox="1"/>
          <p:nvPr/>
        </p:nvSpPr>
        <p:spPr>
          <a:xfrm>
            <a:off x="1028700" y="5896610"/>
            <a:ext cx="2194560" cy="530352"/>
          </a:xfrm>
          <a:prstGeom prst="rect">
            <a:avLst/>
          </a:prstGeom>
          <a:noFill/>
        </p:spPr>
        <p:txBody>
          <a:bodyPr anchor="ctr" rtlCol="false" lIns="0" tIns="0" rIns="0" bIns="0" wrap="square"/>
          <a:lstStyle/>
          <a:p>
            <a:pPr algn="r">
              <a:lnSpc>
                <a:spcPts val="2300"/>
              </a:lnSpc>
              <a:spcBef>
                <a:spcPts val="0"/>
              </a:spcBef>
              <a:buNone/>
            </a:pPr>
            <a:r>
              <a:rPr lang="en-US" sz="1900" b="true">
                <a:solidFill>
                  <a:srgbClr val="111111"/>
                </a:solidFill>
                <a:latin typeface="Nunito Bold"/>
                <a:ea typeface="Nunito Bold"/>
                <a:cs typeface="Nunito Bold"/>
                <a:sym typeface="Nunito Bold"/>
              </a:rPr>
              <a:t>CO</a:t>
            </a:r>
          </a:p>
        </p:txBody>
      </p:sp>
      <p:sp>
        <p:nvSpPr>
          <p:cNvPr id="24" name="Rounded Rectangle 23"/>
          <p:cNvSpPr/>
          <p:nvPr/>
        </p:nvSpPr>
        <p:spPr>
          <a:xfrm>
            <a:off x="3451860" y="5896610"/>
            <a:ext cx="3473805" cy="530352"/>
          </a:xfrm>
          <a:prstGeom prst="roundRect">
            <a:avLst>
              <a:gd name="adj" fmla="val 13793"/>
            </a:avLst>
          </a:prstGeom>
          <a:solidFill>
            <a:srgbClr val="DF8330"/>
          </a:solidFill>
          <a:ln>
            <a:noFill/>
          </a:ln>
        </p:spPr>
        <p:txBody>
          <a:bodyPr anchor="ctr" rtlCol="false" lIns="0" tIns="0" rIns="0" bIns="0" wrap="square"/>
          <a:lstStyle/>
          <a:p>
            <a:endParaRPr lang="en-US" sz="1800"/>
          </a:p>
        </p:txBody>
      </p:sp>
      <p:sp>
        <p:nvSpPr>
          <p:cNvPr id="25" name="TextBox 24"/>
          <p:cNvSpPr txBox="1"/>
          <p:nvPr/>
        </p:nvSpPr>
        <p:spPr>
          <a:xfrm>
            <a:off x="3589020" y="5896610"/>
            <a:ext cx="1097280" cy="530352"/>
          </a:xfrm>
          <a:prstGeom prst="rect">
            <a:avLst/>
          </a:prstGeom>
          <a:noFill/>
        </p:spPr>
        <p:txBody>
          <a:bodyPr anchor="ctr" rtlCol="false" lIns="0" tIns="0" rIns="0" bIns="0" wrap="square"/>
          <a:lstStyle/>
          <a:p>
            <a:pPr algn="l">
              <a:lnSpc>
                <a:spcPts val="2000"/>
              </a:lnSpc>
              <a:spcBef>
                <a:spcPts val="0"/>
              </a:spcBef>
              <a:buNone/>
            </a:pPr>
            <a:r>
              <a:rPr lang="en-US" sz="1600" b="true">
                <a:solidFill>
                  <a:srgbClr val="FFFFFF"/>
                </a:solidFill>
                <a:latin typeface="Nunito Ultra-Bold"/>
                <a:ea typeface="Nunito Ultra-Bold"/>
                <a:cs typeface="Nunito Ultra-Bold"/>
                <a:sym typeface="Nunito Ultra-Bold"/>
              </a:rPr>
              <a:t>4</a:t>
            </a:r>
          </a:p>
        </p:txBody>
      </p:sp>
      <p:sp>
        <p:nvSpPr>
          <p:cNvPr id="26" name="TextBox 25"/>
          <p:cNvSpPr txBox="1"/>
          <p:nvPr/>
        </p:nvSpPr>
        <p:spPr>
          <a:xfrm>
            <a:off x="1028700" y="6573266"/>
            <a:ext cx="2194560" cy="530352"/>
          </a:xfrm>
          <a:prstGeom prst="rect">
            <a:avLst/>
          </a:prstGeom>
          <a:noFill/>
        </p:spPr>
        <p:txBody>
          <a:bodyPr anchor="ctr" rtlCol="false" lIns="0" tIns="0" rIns="0" bIns="0" wrap="square"/>
          <a:lstStyle/>
          <a:p>
            <a:pPr algn="r">
              <a:lnSpc>
                <a:spcPts val="2300"/>
              </a:lnSpc>
              <a:spcBef>
                <a:spcPts val="0"/>
              </a:spcBef>
              <a:buNone/>
            </a:pPr>
            <a:r>
              <a:rPr lang="en-US" sz="1900" b="true">
                <a:solidFill>
                  <a:srgbClr val="111111"/>
                </a:solidFill>
                <a:latin typeface="Nunito Bold"/>
                <a:ea typeface="Nunito Bold"/>
                <a:cs typeface="Nunito Bold"/>
                <a:sym typeface="Nunito Bold"/>
              </a:rPr>
              <a:t>NO₂</a:t>
            </a:r>
          </a:p>
        </p:txBody>
      </p:sp>
      <p:sp>
        <p:nvSpPr>
          <p:cNvPr id="27" name="Rounded Rectangle 26"/>
          <p:cNvSpPr/>
          <p:nvPr/>
        </p:nvSpPr>
        <p:spPr>
          <a:xfrm>
            <a:off x="3451860" y="6573266"/>
            <a:ext cx="2874873" cy="530352"/>
          </a:xfrm>
          <a:prstGeom prst="roundRect">
            <a:avLst>
              <a:gd name="adj" fmla="val 13793"/>
            </a:avLst>
          </a:prstGeom>
          <a:solidFill>
            <a:srgbClr val="DF8330"/>
          </a:solidFill>
          <a:ln>
            <a:noFill/>
          </a:ln>
        </p:spPr>
        <p:txBody>
          <a:bodyPr anchor="ctr" rtlCol="false" lIns="0" tIns="0" rIns="0" bIns="0" wrap="square"/>
          <a:lstStyle/>
          <a:p>
            <a:endParaRPr lang="en-US" sz="1800"/>
          </a:p>
        </p:txBody>
      </p:sp>
      <p:sp>
        <p:nvSpPr>
          <p:cNvPr id="28" name="TextBox 27"/>
          <p:cNvSpPr txBox="1"/>
          <p:nvPr/>
        </p:nvSpPr>
        <p:spPr>
          <a:xfrm>
            <a:off x="3589020" y="6573266"/>
            <a:ext cx="1097280" cy="530352"/>
          </a:xfrm>
          <a:prstGeom prst="rect">
            <a:avLst/>
          </a:prstGeom>
          <a:noFill/>
        </p:spPr>
        <p:txBody>
          <a:bodyPr anchor="ctr" rtlCol="false" lIns="0" tIns="0" rIns="0" bIns="0" wrap="square"/>
          <a:lstStyle/>
          <a:p>
            <a:pPr algn="l">
              <a:lnSpc>
                <a:spcPts val="2000"/>
              </a:lnSpc>
              <a:spcBef>
                <a:spcPts val="0"/>
              </a:spcBef>
              <a:buNone/>
            </a:pPr>
            <a:r>
              <a:rPr lang="en-US" sz="1600" b="true">
                <a:solidFill>
                  <a:srgbClr val="FFFFFF"/>
                </a:solidFill>
                <a:latin typeface="Nunito Ultra-Bold"/>
                <a:ea typeface="Nunito Ultra-Bold"/>
                <a:cs typeface="Nunito Ultra-Bold"/>
                <a:sym typeface="Nunito Ultra-Bold"/>
              </a:rPr>
              <a:t>5</a:t>
            </a:r>
          </a:p>
        </p:txBody>
      </p:sp>
      <p:sp>
        <p:nvSpPr>
          <p:cNvPr id="29" name="TextBox 28"/>
          <p:cNvSpPr txBox="1"/>
          <p:nvPr/>
        </p:nvSpPr>
        <p:spPr>
          <a:xfrm>
            <a:off x="1028700" y="7249922"/>
            <a:ext cx="2194560" cy="530352"/>
          </a:xfrm>
          <a:prstGeom prst="rect">
            <a:avLst/>
          </a:prstGeom>
          <a:noFill/>
        </p:spPr>
        <p:txBody>
          <a:bodyPr anchor="ctr" rtlCol="false" lIns="0" tIns="0" rIns="0" bIns="0" wrap="square"/>
          <a:lstStyle/>
          <a:p>
            <a:pPr algn="r">
              <a:lnSpc>
                <a:spcPts val="2300"/>
              </a:lnSpc>
              <a:spcBef>
                <a:spcPts val="0"/>
              </a:spcBef>
              <a:buNone/>
            </a:pPr>
            <a:r>
              <a:rPr lang="en-US" sz="1900" b="true">
                <a:solidFill>
                  <a:srgbClr val="111111"/>
                </a:solidFill>
                <a:latin typeface="Nunito Bold"/>
                <a:ea typeface="Nunito Bold"/>
                <a:cs typeface="Nunito Bold"/>
                <a:sym typeface="Nunito Bold"/>
              </a:rPr>
              <a:t>PM10</a:t>
            </a:r>
          </a:p>
        </p:txBody>
      </p:sp>
      <p:sp>
        <p:nvSpPr>
          <p:cNvPr id="30" name="Rounded Rectangle 29"/>
          <p:cNvSpPr/>
          <p:nvPr/>
        </p:nvSpPr>
        <p:spPr>
          <a:xfrm>
            <a:off x="3451860" y="7249922"/>
            <a:ext cx="2395728" cy="530352"/>
          </a:xfrm>
          <a:prstGeom prst="roundRect">
            <a:avLst>
              <a:gd name="adj" fmla="val 13793"/>
            </a:avLst>
          </a:prstGeom>
          <a:solidFill>
            <a:srgbClr val="DF8330"/>
          </a:solidFill>
          <a:ln>
            <a:noFill/>
          </a:ln>
        </p:spPr>
        <p:txBody>
          <a:bodyPr anchor="ctr" rtlCol="false" lIns="0" tIns="0" rIns="0" bIns="0" wrap="square"/>
          <a:lstStyle/>
          <a:p>
            <a:endParaRPr lang="en-US" sz="1800"/>
          </a:p>
        </p:txBody>
      </p:sp>
      <p:sp>
        <p:nvSpPr>
          <p:cNvPr id="31" name="TextBox 30"/>
          <p:cNvSpPr txBox="1"/>
          <p:nvPr/>
        </p:nvSpPr>
        <p:spPr>
          <a:xfrm>
            <a:off x="3589020" y="7249922"/>
            <a:ext cx="1097280" cy="530352"/>
          </a:xfrm>
          <a:prstGeom prst="rect">
            <a:avLst/>
          </a:prstGeom>
          <a:noFill/>
        </p:spPr>
        <p:txBody>
          <a:bodyPr anchor="ctr" rtlCol="false" lIns="0" tIns="0" rIns="0" bIns="0" wrap="square"/>
          <a:lstStyle/>
          <a:p>
            <a:pPr algn="l">
              <a:lnSpc>
                <a:spcPts val="2000"/>
              </a:lnSpc>
              <a:spcBef>
                <a:spcPts val="0"/>
              </a:spcBef>
              <a:buNone/>
            </a:pPr>
            <a:r>
              <a:rPr lang="en-US" sz="1600" b="true">
                <a:solidFill>
                  <a:srgbClr val="FFFFFF"/>
                </a:solidFill>
                <a:latin typeface="Nunito Ultra-Bold"/>
                <a:ea typeface="Nunito Ultra-Bold"/>
                <a:cs typeface="Nunito Ultra-Bold"/>
                <a:sym typeface="Nunito Ultra-Bold"/>
              </a:rPr>
              <a:t>6</a:t>
            </a:r>
          </a:p>
        </p:txBody>
      </p:sp>
      <p:sp>
        <p:nvSpPr>
          <p:cNvPr id="32" name="TextBox 31"/>
          <p:cNvSpPr txBox="1"/>
          <p:nvPr/>
        </p:nvSpPr>
        <p:spPr>
          <a:xfrm>
            <a:off x="1028700" y="7926578"/>
            <a:ext cx="2194560" cy="530352"/>
          </a:xfrm>
          <a:prstGeom prst="rect">
            <a:avLst/>
          </a:prstGeom>
          <a:noFill/>
        </p:spPr>
        <p:txBody>
          <a:bodyPr anchor="ctr" rtlCol="false" lIns="0" tIns="0" rIns="0" bIns="0" wrap="square"/>
          <a:lstStyle/>
          <a:p>
            <a:pPr algn="r">
              <a:lnSpc>
                <a:spcPts val="2300"/>
              </a:lnSpc>
              <a:spcBef>
                <a:spcPts val="0"/>
              </a:spcBef>
              <a:buNone/>
            </a:pPr>
            <a:r>
              <a:rPr lang="en-US" sz="1900" b="true">
                <a:solidFill>
                  <a:srgbClr val="111111"/>
                </a:solidFill>
                <a:latin typeface="Nunito Bold"/>
                <a:ea typeface="Nunito Bold"/>
                <a:cs typeface="Nunito Bold"/>
                <a:sym typeface="Nunito Bold"/>
              </a:rPr>
              <a:t>PM2.5</a:t>
            </a:r>
          </a:p>
        </p:txBody>
      </p:sp>
      <p:sp>
        <p:nvSpPr>
          <p:cNvPr id="33" name="Rounded Rectangle 32"/>
          <p:cNvSpPr/>
          <p:nvPr/>
        </p:nvSpPr>
        <p:spPr>
          <a:xfrm>
            <a:off x="3451860" y="7926578"/>
            <a:ext cx="2036368" cy="530352"/>
          </a:xfrm>
          <a:prstGeom prst="roundRect">
            <a:avLst>
              <a:gd name="adj" fmla="val 13793"/>
            </a:avLst>
          </a:prstGeom>
          <a:solidFill>
            <a:srgbClr val="DF8330"/>
          </a:solidFill>
          <a:ln>
            <a:noFill/>
          </a:ln>
        </p:spPr>
        <p:txBody>
          <a:bodyPr anchor="ctr" rtlCol="false" lIns="0" tIns="0" rIns="0" bIns="0" wrap="square"/>
          <a:lstStyle/>
          <a:p>
            <a:endParaRPr lang="en-US" sz="1800"/>
          </a:p>
        </p:txBody>
      </p:sp>
      <p:sp>
        <p:nvSpPr>
          <p:cNvPr id="34" name="TextBox 33"/>
          <p:cNvSpPr txBox="1"/>
          <p:nvPr/>
        </p:nvSpPr>
        <p:spPr>
          <a:xfrm>
            <a:off x="3589020" y="7926578"/>
            <a:ext cx="1097280" cy="530352"/>
          </a:xfrm>
          <a:prstGeom prst="rect">
            <a:avLst/>
          </a:prstGeom>
          <a:noFill/>
        </p:spPr>
        <p:txBody>
          <a:bodyPr anchor="ctr" rtlCol="false" lIns="0" tIns="0" rIns="0" bIns="0" wrap="square"/>
          <a:lstStyle/>
          <a:p>
            <a:pPr algn="l">
              <a:lnSpc>
                <a:spcPts val="2000"/>
              </a:lnSpc>
              <a:spcBef>
                <a:spcPts val="0"/>
              </a:spcBef>
              <a:buNone/>
            </a:pPr>
            <a:r>
              <a:rPr lang="en-US" sz="1600" b="true">
                <a:solidFill>
                  <a:srgbClr val="FFFFFF"/>
                </a:solidFill>
                <a:latin typeface="Nunito Ultra-Bold"/>
                <a:ea typeface="Nunito Ultra-Bold"/>
                <a:cs typeface="Nunito Ultra-Bold"/>
                <a:sym typeface="Nunito Ultra-Bold"/>
              </a:rPr>
              <a:t>7</a:t>
            </a:r>
          </a:p>
        </p:txBody>
      </p:sp>
      <p:sp>
        <p:nvSpPr>
          <p:cNvPr id="35" name="Rounded Rectangle 34"/>
          <p:cNvSpPr/>
          <p:nvPr/>
        </p:nvSpPr>
        <p:spPr>
          <a:xfrm>
            <a:off x="3451860" y="8722106"/>
            <a:ext cx="274320" cy="274320"/>
          </a:xfrm>
          <a:prstGeom prst="roundRect">
            <a:avLst>
              <a:gd name="adj" fmla="val 16666"/>
            </a:avLst>
          </a:prstGeom>
          <a:solidFill>
            <a:srgbClr val="124944"/>
          </a:solidFill>
          <a:ln>
            <a:noFill/>
          </a:ln>
        </p:spPr>
        <p:txBody>
          <a:bodyPr anchor="ctr" rtlCol="false" lIns="0" tIns="0" rIns="0" bIns="0" wrap="square"/>
          <a:lstStyle/>
          <a:p>
            <a:endParaRPr lang="en-US" sz="1800"/>
          </a:p>
        </p:txBody>
      </p:sp>
      <p:sp>
        <p:nvSpPr>
          <p:cNvPr id="36" name="TextBox 35"/>
          <p:cNvSpPr txBox="1"/>
          <p:nvPr/>
        </p:nvSpPr>
        <p:spPr>
          <a:xfrm>
            <a:off x="3817620" y="8648954"/>
            <a:ext cx="2286000" cy="411480"/>
          </a:xfrm>
          <a:prstGeom prst="rect">
            <a:avLst/>
          </a:prstGeom>
          <a:noFill/>
        </p:spPr>
        <p:txBody>
          <a:bodyPr anchor="ctr" rtlCol="false" lIns="0" tIns="0" rIns="0" bIns="0" wrap="square"/>
          <a:lstStyle/>
          <a:p>
            <a:pPr algn="l">
              <a:lnSpc>
                <a:spcPts val="1900"/>
              </a:lnSpc>
              <a:spcBef>
                <a:spcPts val="0"/>
              </a:spcBef>
              <a:buNone/>
            </a:pPr>
            <a:r>
              <a:rPr lang="en-US" sz="1500" b="true">
                <a:solidFill>
                  <a:srgbClr val="8A8378"/>
                </a:solidFill>
                <a:latin typeface="Nunito Semi-Bold"/>
                <a:ea typeface="Nunito Semi-Bold"/>
                <a:cs typeface="Nunito Semi-Bold"/>
                <a:sym typeface="Nunito Semi-Bold"/>
              </a:rPr>
              <a:t>meteorological</a:t>
            </a:r>
          </a:p>
        </p:txBody>
      </p:sp>
      <p:sp>
        <p:nvSpPr>
          <p:cNvPr id="37" name="Rounded Rectangle 36"/>
          <p:cNvSpPr/>
          <p:nvPr/>
        </p:nvSpPr>
        <p:spPr>
          <a:xfrm>
            <a:off x="6149340" y="8722106"/>
            <a:ext cx="274320" cy="274320"/>
          </a:xfrm>
          <a:prstGeom prst="roundRect">
            <a:avLst>
              <a:gd name="adj" fmla="val 16666"/>
            </a:avLst>
          </a:prstGeom>
          <a:solidFill>
            <a:srgbClr val="DF8330"/>
          </a:solidFill>
          <a:ln>
            <a:noFill/>
          </a:ln>
        </p:spPr>
        <p:txBody>
          <a:bodyPr anchor="ctr" rtlCol="false" lIns="0" tIns="0" rIns="0" bIns="0" wrap="square"/>
          <a:lstStyle/>
          <a:p>
            <a:endParaRPr lang="en-US" sz="1800"/>
          </a:p>
        </p:txBody>
      </p:sp>
      <p:sp>
        <p:nvSpPr>
          <p:cNvPr id="38" name="TextBox 37"/>
          <p:cNvSpPr txBox="1"/>
          <p:nvPr/>
        </p:nvSpPr>
        <p:spPr>
          <a:xfrm>
            <a:off x="6515100" y="8648954"/>
            <a:ext cx="2286000" cy="411480"/>
          </a:xfrm>
          <a:prstGeom prst="rect">
            <a:avLst/>
          </a:prstGeom>
          <a:noFill/>
        </p:spPr>
        <p:txBody>
          <a:bodyPr anchor="ctr" rtlCol="false" lIns="0" tIns="0" rIns="0" bIns="0" wrap="square"/>
          <a:lstStyle/>
          <a:p>
            <a:pPr algn="l">
              <a:lnSpc>
                <a:spcPts val="1900"/>
              </a:lnSpc>
              <a:spcBef>
                <a:spcPts val="0"/>
              </a:spcBef>
              <a:buNone/>
            </a:pPr>
            <a:r>
              <a:rPr lang="en-US" sz="1500" b="true">
                <a:solidFill>
                  <a:srgbClr val="8A8378"/>
                </a:solidFill>
                <a:latin typeface="Nunito Semi-Bold"/>
                <a:ea typeface="Nunito Semi-Bold"/>
                <a:cs typeface="Nunito Semi-Bold"/>
                <a:sym typeface="Nunito Semi-Bold"/>
              </a:rPr>
              <a:t>pollutant</a:t>
            </a:r>
          </a:p>
        </p:txBody>
      </p:sp>
      <p:sp>
        <p:nvSpPr>
          <p:cNvPr id="39" name="Rounded Rectangle 38"/>
          <p:cNvSpPr/>
          <p:nvPr/>
        </p:nvSpPr>
        <p:spPr>
          <a:xfrm>
            <a:off x="9989820" y="3592322"/>
            <a:ext cx="726948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40" name="Rounded Rectangle 39"/>
          <p:cNvSpPr/>
          <p:nvPr/>
        </p:nvSpPr>
        <p:spPr>
          <a:xfrm>
            <a:off x="10447020" y="3354578"/>
            <a:ext cx="3356612"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Reading the ranking</a:t>
            </a:r>
          </a:p>
        </p:txBody>
      </p:sp>
      <p:sp>
        <p:nvSpPr>
          <p:cNvPr id="41" name="TextBox 40"/>
          <p:cNvSpPr txBox="1"/>
          <p:nvPr/>
        </p:nvSpPr>
        <p:spPr>
          <a:xfrm>
            <a:off x="10492740" y="4232402"/>
            <a:ext cx="630936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It is </a:t>
            </a:r>
            <a:r>
              <a:rPr lang="en-US" sz="2000" b="true">
                <a:solidFill>
                  <a:srgbClr val="FFFFFF"/>
                </a:solidFill>
                <a:latin typeface="Nunito Bold"/>
                <a:ea typeface="Nunito Bold"/>
                <a:cs typeface="Nunito Bold"/>
                <a:sym typeface="Nunito Bold"/>
              </a:rPr>
              <a:t>NOT simply pollutant concentrations</a:t>
            </a:r>
            <a:r>
              <a:rPr lang="en-US" sz="2000" b="true">
                <a:solidFill>
                  <a:srgbClr val="FFFFFF"/>
                </a:solidFill>
                <a:latin typeface="Nunito Semi-Bold"/>
                <a:ea typeface="Nunito Semi-Bold"/>
                <a:cs typeface="Nunito Semi-Bold"/>
                <a:sym typeface="Nunito Semi-Bold"/>
              </a:rPr>
              <a:t> that matter — meteorological variables play a </a:t>
            </a:r>
            <a:r>
              <a:rPr lang="en-US" sz="2000" b="true">
                <a:solidFill>
                  <a:srgbClr val="FFFFFF"/>
                </a:solidFill>
                <a:latin typeface="Nunito Bold"/>
                <a:ea typeface="Nunito Bold"/>
                <a:cs typeface="Nunito Bold"/>
                <a:sym typeface="Nunito Bold"/>
              </a:rPr>
              <a:t>structurally central role</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Temperature, dew point and pressure condition </a:t>
            </a:r>
            <a:r>
              <a:rPr lang="en-US" sz="2000" b="true">
                <a:solidFill>
                  <a:srgbClr val="FFFFFF"/>
                </a:solidFill>
                <a:latin typeface="Nunito Bold"/>
                <a:ea typeface="Nunito Bold"/>
                <a:cs typeface="Nunito Bold"/>
                <a:sym typeface="Nunito Bold"/>
              </a:rPr>
              <a:t>dispersion, trapping and photochemical behaviour</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This is the kind of insight flat descriptive summaries often fail to make explicit.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Atmospheric Regimes</a:t>
            </a:r>
          </a:p>
        </p:txBody>
      </p:sp>
      <p:pic>
        <p:nvPicPr>
          <p:cNvPr id="8" name="Picture 7" descr="image.png"/>
          <p:cNvPicPr>
            <a:picLocks noChangeAspect="1"/>
          </p:cNvPicPr>
          <p:nvPr/>
        </p:nvPicPr>
        <p:blipFill>
          <a:blip r:embed="rId2"/>
          <a:stretch>
            <a:fillRect/>
          </a:stretch>
        </p:blipFill>
        <p:spPr>
          <a:xfrm>
            <a:off x="8656120" y="1673352"/>
            <a:ext cx="457200" cy="539881"/>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455162"/>
            <a:ext cx="5196840" cy="3840480"/>
          </a:xfrm>
          <a:prstGeom prst="roundRect">
            <a:avLst>
              <a:gd name="adj" fmla="val 7142"/>
            </a:avLst>
          </a:prstGeom>
          <a:solidFill>
            <a:srgbClr val="124944"/>
          </a:solidFill>
          <a:ln>
            <a:noFill/>
          </a:ln>
        </p:spPr>
        <p:txBody>
          <a:bodyPr anchor="t" rtlCol="false" lIns="411480" tIns="411480" rIns="36576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REGIME A</a:t>
            </a:r>
          </a:p>
          <a:p>
            <a:pPr algn="l">
              <a:lnSpc>
                <a:spcPts val="3400"/>
              </a:lnSpc>
              <a:spcBef>
                <a:spcPts val="800"/>
              </a:spcBef>
              <a:buNone/>
            </a:pPr>
            <a:r>
              <a:rPr lang="en-US" sz="3000" b="true" spc="-120">
                <a:solidFill>
                  <a:srgbClr val="FFFFFF"/>
                </a:solidFill>
                <a:latin typeface="Roca Two Bold"/>
                <a:ea typeface="Roca Two Bold"/>
                <a:cs typeface="Roca Two Bold"/>
                <a:sym typeface="Roca Two Bold"/>
              </a:rPr>
              <a:t>Warm photochemical</a:t>
            </a:r>
          </a:p>
          <a:p>
            <a:pPr algn="l">
              <a:lnSpc>
                <a:spcPts val="2400"/>
              </a:lnSpc>
              <a:spcBef>
                <a:spcPts val="1400"/>
              </a:spcBef>
              <a:buNone/>
            </a:pPr>
            <a:r>
              <a:rPr lang="en-US" sz="1900" b="true">
                <a:solidFill>
                  <a:srgbClr val="F7F2EA"/>
                </a:solidFill>
                <a:latin typeface="Nunito Semi-Bold"/>
                <a:ea typeface="Nunito Semi-Bold"/>
                <a:cs typeface="Nunito Semi-Bold"/>
                <a:sym typeface="Nunito Semi-Bold"/>
              </a:rPr>
              <a:t>Ozone, temperature and dew point prominent — summer photochemical smog.</a:t>
            </a:r>
          </a:p>
        </p:txBody>
      </p:sp>
      <p:sp>
        <p:nvSpPr>
          <p:cNvPr id="14" name="Rounded Rectangle 13"/>
          <p:cNvSpPr/>
          <p:nvPr/>
        </p:nvSpPr>
        <p:spPr>
          <a:xfrm>
            <a:off x="6545580" y="3455162"/>
            <a:ext cx="5196840" cy="3840480"/>
          </a:xfrm>
          <a:prstGeom prst="roundRect">
            <a:avLst>
              <a:gd name="adj" fmla="val 7142"/>
            </a:avLst>
          </a:prstGeom>
          <a:solidFill>
            <a:srgbClr val="1E5F58"/>
          </a:solidFill>
          <a:ln>
            <a:noFill/>
          </a:ln>
        </p:spPr>
        <p:txBody>
          <a:bodyPr anchor="t" rtlCol="false" lIns="411480" tIns="411480" rIns="365760" bIns="27432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REGIME B</a:t>
            </a:r>
          </a:p>
          <a:p>
            <a:pPr algn="l">
              <a:lnSpc>
                <a:spcPts val="3400"/>
              </a:lnSpc>
              <a:spcBef>
                <a:spcPts val="800"/>
              </a:spcBef>
              <a:buNone/>
            </a:pPr>
            <a:r>
              <a:rPr lang="en-US" sz="3000" b="true" spc="-120">
                <a:solidFill>
                  <a:srgbClr val="FFFFFF"/>
                </a:solidFill>
                <a:latin typeface="Roca Two Bold"/>
                <a:ea typeface="Roca Two Bold"/>
                <a:cs typeface="Roca Two Bold"/>
                <a:sym typeface="Roca Two Bold"/>
              </a:rPr>
              <a:t>Wintertime smog</a:t>
            </a:r>
          </a:p>
          <a:p>
            <a:pPr algn="l">
              <a:lnSpc>
                <a:spcPts val="2400"/>
              </a:lnSpc>
              <a:spcBef>
                <a:spcPts val="1400"/>
              </a:spcBef>
              <a:buNone/>
            </a:pPr>
            <a:r>
              <a:rPr lang="en-US" sz="1900" b="true">
                <a:solidFill>
                  <a:srgbClr val="F7F2EA"/>
                </a:solidFill>
                <a:latin typeface="Nunito Semi-Bold"/>
                <a:ea typeface="Nunito Semi-Bold"/>
                <a:cs typeface="Nunito Semi-Bold"/>
                <a:sym typeface="Nunito Semi-Bold"/>
              </a:rPr>
              <a:t>CO, SO₂ and particulate matter dominate; low wind speed suppresses dispersion.</a:t>
            </a:r>
          </a:p>
        </p:txBody>
      </p:sp>
      <p:sp>
        <p:nvSpPr>
          <p:cNvPr id="15" name="Rounded Rectangle 14"/>
          <p:cNvSpPr/>
          <p:nvPr/>
        </p:nvSpPr>
        <p:spPr>
          <a:xfrm>
            <a:off x="12062460" y="3455162"/>
            <a:ext cx="5196840" cy="3840480"/>
          </a:xfrm>
          <a:prstGeom prst="roundRect">
            <a:avLst>
              <a:gd name="adj" fmla="val 7142"/>
            </a:avLst>
          </a:prstGeom>
          <a:solidFill>
            <a:srgbClr val="DF8330"/>
          </a:solidFill>
          <a:ln>
            <a:noFill/>
          </a:ln>
        </p:spPr>
        <p:txBody>
          <a:bodyPr anchor="t" rtlCol="false" lIns="411480" tIns="411480" rIns="365760" bIns="274320" wrap="square"/>
          <a:lstStyle/>
          <a:p>
            <a:pPr algn="l">
              <a:lnSpc>
                <a:spcPts val="1800"/>
              </a:lnSpc>
              <a:spcBef>
                <a:spcPts val="0"/>
              </a:spcBef>
              <a:buNone/>
            </a:pPr>
            <a:r>
              <a:rPr lang="en-US" sz="1400" b="true" spc="160">
                <a:solidFill>
                  <a:srgbClr val="FFFFFF"/>
                </a:solidFill>
                <a:latin typeface="Nunito Ultra-Bold"/>
                <a:ea typeface="Nunito Ultra-Bold"/>
                <a:cs typeface="Nunito Ultra-Bold"/>
                <a:sym typeface="Nunito Ultra-Bold"/>
              </a:rPr>
              <a:t>REGIME C</a:t>
            </a:r>
          </a:p>
          <a:p>
            <a:pPr algn="l">
              <a:lnSpc>
                <a:spcPts val="3400"/>
              </a:lnSpc>
              <a:spcBef>
                <a:spcPts val="800"/>
              </a:spcBef>
              <a:buNone/>
            </a:pPr>
            <a:r>
              <a:rPr lang="en-US" sz="3000" b="true" spc="-120">
                <a:solidFill>
                  <a:srgbClr val="FFFFFF"/>
                </a:solidFill>
                <a:latin typeface="Roca Two Bold"/>
                <a:ea typeface="Roca Two Bold"/>
                <a:cs typeface="Roca Two Bold"/>
                <a:sym typeface="Roca Two Bold"/>
              </a:rPr>
              <a:t>Comparatively clean air</a:t>
            </a:r>
          </a:p>
          <a:p>
            <a:pPr algn="l">
              <a:lnSpc>
                <a:spcPts val="2400"/>
              </a:lnSpc>
              <a:spcBef>
                <a:spcPts val="1400"/>
              </a:spcBef>
              <a:buNone/>
            </a:pPr>
            <a:r>
              <a:rPr lang="en-US" sz="1900" b="true">
                <a:solidFill>
                  <a:srgbClr val="F7F2EA"/>
                </a:solidFill>
                <a:latin typeface="Nunito Semi-Bold"/>
                <a:ea typeface="Nunito Semi-Bold"/>
                <a:cs typeface="Nunito Semi-Bold"/>
                <a:sym typeface="Nunito Semi-Bold"/>
              </a:rPr>
              <a:t>Favourable meteorology, weak pollutant pushes.</a:t>
            </a:r>
          </a:p>
        </p:txBody>
      </p:sp>
      <p:sp>
        <p:nvSpPr>
          <p:cNvPr id="16" name="Rounded Rectangle 15"/>
          <p:cNvSpPr/>
          <p:nvPr/>
        </p:nvSpPr>
        <p:spPr>
          <a:xfrm>
            <a:off x="1028700" y="7707122"/>
            <a:ext cx="16230600" cy="1647190"/>
          </a:xfrm>
          <a:prstGeom prst="roundRect">
            <a:avLst>
              <a:gd name="adj" fmla="val 13878"/>
            </a:avLst>
          </a:prstGeom>
          <a:solidFill>
            <a:srgbClr val="F6ECDF"/>
          </a:solidFill>
          <a:ln>
            <a:noFill/>
          </a:ln>
        </p:spPr>
        <p:txBody>
          <a:bodyPr anchor="ctr" rtlCol="false" lIns="457200" tIns="91440" rIns="457200" bIns="91440" wrap="square"/>
          <a:lstStyle/>
          <a:p>
            <a:pPr algn="ctr">
              <a:lnSpc>
                <a:spcPts val="2800"/>
              </a:lnSpc>
              <a:spcBef>
                <a:spcPts val="0"/>
              </a:spcBef>
              <a:buNone/>
            </a:pPr>
            <a:r>
              <a:rPr lang="en-US" sz="2200" b="true">
                <a:solidFill>
                  <a:srgbClr val="111111"/>
                </a:solidFill>
                <a:latin typeface="Nunito Semi-Bold"/>
                <a:ea typeface="Nunito Semi-Bold"/>
                <a:cs typeface="Nunito Semi-Bold"/>
                <a:sym typeface="Nunito Semi-Bold"/>
              </a:rPr>
              <a:t>The framework shows not only </a:t>
            </a:r>
            <a:r>
              <a:rPr lang="en-US" sz="2200" b="true">
                <a:solidFill>
                  <a:srgbClr val="111111"/>
                </a:solidFill>
                <a:latin typeface="Nunito Bold"/>
                <a:ea typeface="Nunito Bold"/>
                <a:cs typeface="Nunito Bold"/>
                <a:sym typeface="Nunito Bold"/>
              </a:rPr>
              <a:t>that these regimes exist</a:t>
            </a:r>
            <a:r>
              <a:rPr lang="en-US" sz="2200" b="true">
                <a:solidFill>
                  <a:srgbClr val="111111"/>
                </a:solidFill>
                <a:latin typeface="Nunito Semi-Bold"/>
                <a:ea typeface="Nunito Semi-Bold"/>
                <a:cs typeface="Nunito Semi-Bold"/>
                <a:sym typeface="Nunito Semi-Bold"/>
              </a:rPr>
              <a:t>, but </a:t>
            </a:r>
            <a:r>
              <a:rPr lang="en-US" sz="2200" b="true">
                <a:solidFill>
                  <a:srgbClr val="111111"/>
                </a:solidFill>
                <a:latin typeface="Nunito Bold"/>
                <a:ea typeface="Nunito Bold"/>
                <a:cs typeface="Nunito Bold"/>
                <a:sym typeface="Nunito Bold"/>
              </a:rPr>
              <a:t>which variable combinations define them</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Reconfigures Across Levels</a:t>
            </a:r>
          </a:p>
        </p:txBody>
      </p:sp>
      <p:pic>
        <p:nvPicPr>
          <p:cNvPr id="8" name="Picture 7" descr="image.png"/>
          <p:cNvPicPr>
            <a:picLocks noChangeAspect="1"/>
          </p:cNvPicPr>
          <p:nvPr/>
        </p:nvPicPr>
        <p:blipFill>
          <a:blip r:embed="rId2"/>
          <a:stretch>
            <a:fillRect/>
          </a:stretch>
        </p:blipFill>
        <p:spPr>
          <a:xfrm>
            <a:off x="12852137" y="1673352"/>
            <a:ext cx="457200" cy="373212"/>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592322"/>
            <a:ext cx="7932420" cy="3108960"/>
          </a:xfrm>
          <a:prstGeom prst="roundRect">
            <a:avLst>
              <a:gd name="adj" fmla="val 10000"/>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495581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Coarse level — regime selection</a:t>
            </a:r>
          </a:p>
        </p:txBody>
      </p:sp>
      <p:sp>
        <p:nvSpPr>
          <p:cNvPr id="15" name="TextBox 14"/>
          <p:cNvSpPr txBox="1"/>
          <p:nvPr/>
        </p:nvSpPr>
        <p:spPr>
          <a:xfrm>
            <a:off x="1531620" y="4232402"/>
            <a:ext cx="6972300" cy="219456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Temperature and dew point dominate</a:t>
            </a:r>
            <a:r>
              <a:rPr lang="en-US" sz="2000" b="true">
                <a:solidFill>
                  <a:srgbClr val="FFFFFF"/>
                </a:solidFill>
                <a:latin typeface="Nunito Semi-Bold"/>
                <a:ea typeface="Nunito Semi-Bold"/>
                <a:cs typeface="Nunito Semi-Bold"/>
                <a:sym typeface="Nunito Semi-Bold"/>
              </a:rPr>
              <a:t> — they differentiate broad atmospheric regimes.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Parent-level story = which regime the observation belongs to.</a:t>
            </a:r>
          </a:p>
        </p:txBody>
      </p:sp>
      <p:sp>
        <p:nvSpPr>
          <p:cNvPr id="16" name="Rounded Rectangle 15"/>
          <p:cNvSpPr/>
          <p:nvPr/>
        </p:nvSpPr>
        <p:spPr>
          <a:xfrm>
            <a:off x="9326880" y="3592322"/>
            <a:ext cx="7932420" cy="3108960"/>
          </a:xfrm>
          <a:prstGeom prst="roundRect">
            <a:avLst>
              <a:gd name="adj" fmla="val 10000"/>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641947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18" name="TextBox 17"/>
          <p:cNvSpPr txBox="1"/>
          <p:nvPr/>
        </p:nvSpPr>
        <p:spPr>
          <a:xfrm>
            <a:off x="9829800" y="4232402"/>
            <a:ext cx="6972300" cy="219456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CO, SO₂, PM10, wind speed, pressure or ozone</a:t>
            </a:r>
            <a:r>
              <a:rPr lang="en-US" sz="2000" b="true">
                <a:solidFill>
                  <a:srgbClr val="111111"/>
                </a:solidFill>
                <a:latin typeface="Nunito Semi-Bold"/>
                <a:ea typeface="Nunito Semi-Bold"/>
                <a:cs typeface="Nunito Semi-Bold"/>
                <a:sym typeface="Nunito Semi-Bold"/>
              </a:rPr>
              <a:t> become more discriminative.</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Cluster-level story = what varies once the regime is fixed.</a:t>
            </a:r>
          </a:p>
        </p:txBody>
      </p:sp>
      <p:sp>
        <p:nvSpPr>
          <p:cNvPr id="19" name="Rounded Rectangle 18"/>
          <p:cNvSpPr/>
          <p:nvPr/>
        </p:nvSpPr>
        <p:spPr>
          <a:xfrm>
            <a:off x="1028700" y="7067042"/>
            <a:ext cx="16230600" cy="2287270"/>
          </a:xfrm>
          <a:prstGeom prst="roundRect">
            <a:avLst>
              <a:gd name="adj" fmla="val 11993"/>
            </a:avLst>
          </a:prstGeom>
          <a:noFill/>
          <a:ln w="31750">
            <a:solidFill>
              <a:srgbClr val="DF8330"/>
            </a:solidFill>
          </a:ln>
        </p:spPr>
        <p:txBody>
          <a:bodyPr anchor="ctr" rtlCol="false" lIns="0" tIns="0" rIns="0" bIns="0" wrap="square"/>
          <a:lstStyle/>
          <a:p>
            <a:endParaRPr lang="en-US" sz="1800"/>
          </a:p>
        </p:txBody>
      </p:sp>
      <p:sp>
        <p:nvSpPr>
          <p:cNvPr id="20" name="TextBox 19"/>
          <p:cNvSpPr txBox="1"/>
          <p:nvPr/>
        </p:nvSpPr>
        <p:spPr>
          <a:xfrm>
            <a:off x="1485900" y="7295642"/>
            <a:ext cx="15316200" cy="183007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Bold"/>
                <a:ea typeface="Nunito Bold"/>
                <a:cs typeface="Nunito Bold"/>
                <a:sym typeface="Nunito Bold"/>
              </a:rPr>
              <a:t>This change is NOT contradictory — it is exactly what a multi-level explanation should reveal.</a:t>
            </a:r>
          </a:p>
          <a:p>
            <a:pPr algn="l">
              <a:lnSpc>
                <a:spcPts val="2800"/>
              </a:lnSpc>
              <a:spcBef>
                <a:spcPts val="1000"/>
              </a:spcBef>
              <a:buNone/>
            </a:pPr>
            <a:r>
              <a:rPr lang="en-US" sz="2000" b="true">
                <a:solidFill>
                  <a:srgbClr val="111111"/>
                </a:solidFill>
                <a:latin typeface="Nunito Semi-Bold"/>
                <a:ea typeface="Nunito Semi-Bold"/>
                <a:cs typeface="Nunito Semi-Bold"/>
                <a:sym typeface="Nunito Semi-Bold"/>
              </a:rPr>
              <a:t>A variable can be </a:t>
            </a:r>
            <a:r>
              <a:rPr lang="en-US" sz="2000" b="true">
                <a:solidFill>
                  <a:srgbClr val="111111"/>
                </a:solidFill>
                <a:latin typeface="Nunito Bold"/>
                <a:ea typeface="Nunito Bold"/>
                <a:cs typeface="Nunito Bold"/>
                <a:sym typeface="Nunito Bold"/>
              </a:rPr>
              <a:t>globally important yet locally uninformative</a:t>
            </a:r>
            <a:r>
              <a:rPr lang="en-US" sz="2000" b="true">
                <a:solidFill>
                  <a:srgbClr val="111111"/>
                </a:solidFill>
                <a:latin typeface="Nunito Semi-Bold"/>
                <a:ea typeface="Nunito Semi-Bold"/>
                <a:cs typeface="Nunito Semi-Bold"/>
                <a:sym typeface="Nunito Semi-Bold"/>
              </a:rPr>
              <a:t> within a sub-cluster; Proposition 6.1 guarantees the two readings are consistent up to surrogate residual.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Generalisation and Comparison</a:t>
            </a:r>
          </a:p>
        </p:txBody>
      </p:sp>
      <p:pic>
        <p:nvPicPr>
          <p:cNvPr id="8" name="Picture 7" descr="image.png"/>
          <p:cNvPicPr>
            <a:picLocks noChangeAspect="1"/>
          </p:cNvPicPr>
          <p:nvPr/>
        </p:nvPicPr>
        <p:blipFill>
          <a:blip r:embed="rId2"/>
          <a:stretch>
            <a:fillRect/>
          </a:stretch>
        </p:blipFill>
        <p:spPr>
          <a:xfrm>
            <a:off x="9506856" y="1673352"/>
            <a:ext cx="457200" cy="427074"/>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13" name="Table 12"/>
          <p:cNvGraphicFramePr>
            <a:graphicFrameLocks noGrp="1"/>
          </p:cNvGraphicFramePr>
          <p:nvPr/>
        </p:nvGraphicFramePr>
        <p:xfrm>
          <a:off x="1028700" y="3363722"/>
          <a:ext cx="16230599" cy="3182112"/>
        </p:xfrm>
        <a:graphic>
          <a:graphicData uri="http://schemas.openxmlformats.org/drawingml/2006/table">
            <a:tbl>
              <a:tblPr firstRow="0" bandRow="0" firstCol="0" lastRow="0" lastCol="0" bandCol="0">
                <a:tableStyleId>{2D5ABB26-0587-4C30-8999-92F81FD0307C}</a:tableStyleId>
              </a:tblPr>
              <a:tblGrid>
                <a:gridCol w="3416968"/>
                <a:gridCol w="6264442"/>
                <a:gridCol w="6549189"/>
              </a:tblGrid>
              <a:tr h="530352">
                <a:tc>
                  <a:txBody>
                    <a:bodyPr anchor="ctr" rtlCol="false" lIns="0" tIns="0" rIns="0" bIns="0" wrap="square"/>
                    <a:lstStyle/>
                    <a:p>
                      <a:pPr algn="l">
                        <a:lnSpc>
                          <a:spcPts val="2340"/>
                        </a:lnSpc>
                        <a:spcBef>
                          <a:spcPts val="0"/>
                        </a:spcBef>
                        <a:buNone/>
                      </a:pP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Wine Quality (C1)</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Beijing Air Quality (C2)</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Scale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Nature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small, dense, chemically correlated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large, noisy, temporally &amp; meteorologically variable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single-level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multi-level (nested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Silhouette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0.144 (k* = 3, chosen for semantics)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 0.63 (k = 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Explanatory logic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Shapley in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same logic — remains productive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4" name="Rounded Rectangle 13"/>
          <p:cNvSpPr/>
          <p:nvPr/>
        </p:nvSpPr>
        <p:spPr>
          <a:xfrm>
            <a:off x="1028700" y="7140194"/>
            <a:ext cx="7932420" cy="2168398"/>
          </a:xfrm>
          <a:prstGeom prst="roundRect">
            <a:avLst>
              <a:gd name="adj" fmla="val 14337"/>
            </a:avLst>
          </a:prstGeom>
          <a:solidFill>
            <a:srgbClr val="124944"/>
          </a:solidFill>
          <a:ln>
            <a:noFill/>
          </a:ln>
        </p:spPr>
        <p:txBody>
          <a:bodyPr anchor="ctr" rtlCol="false" lIns="0" tIns="0" rIns="0" bIns="0" wrap="square"/>
          <a:lstStyle/>
          <a:p>
            <a:endParaRPr lang="en-US" sz="1800"/>
          </a:p>
        </p:txBody>
      </p:sp>
      <p:sp>
        <p:nvSpPr>
          <p:cNvPr id="15" name="Rounded Rectangle 14"/>
          <p:cNvSpPr/>
          <p:nvPr/>
        </p:nvSpPr>
        <p:spPr>
          <a:xfrm>
            <a:off x="1485900" y="6902450"/>
            <a:ext cx="278910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vs the literature</a:t>
            </a:r>
          </a:p>
        </p:txBody>
      </p:sp>
      <p:sp>
        <p:nvSpPr>
          <p:cNvPr id="16" name="TextBox 15"/>
          <p:cNvSpPr txBox="1"/>
          <p:nvPr/>
        </p:nvSpPr>
        <p:spPr>
          <a:xfrm>
            <a:off x="1531620" y="7780274"/>
            <a:ext cx="6972300" cy="1253998"/>
          </a:xfrm>
          <a:prstGeom prst="rect">
            <a:avLst/>
          </a:prstGeom>
          <a:noFill/>
        </p:spPr>
        <p:txBody>
          <a:bodyPr anchor="t" rtlCol="false" lIns="0" tIns="0" rIns="0" bIns="0" wrap="square"/>
          <a:lstStyle/>
          <a:p>
            <a:pPr algn="l" marL="274320" indent="-274320">
              <a:lnSpc>
                <a:spcPts val="2181"/>
              </a:lnSpc>
              <a:spcBef>
                <a:spcPts val="0"/>
              </a:spcBef>
              <a:buClr>
                <a:srgbClr val="ECC665"/>
              </a:buClr>
              <a:buSzPct val="100000"/>
              <a:buFont typeface="Arial"/>
              <a:buChar char="•"/>
            </a:pPr>
            <a:r>
              <a:rPr lang="en-US" sz="1558" b="true">
                <a:solidFill>
                  <a:srgbClr val="FFFFFF"/>
                </a:solidFill>
                <a:latin typeface="Nunito Semi-Bold"/>
                <a:ea typeface="Nunito Semi-Bold"/>
                <a:cs typeface="Nunito Semi-Bold"/>
                <a:sym typeface="Nunito Semi-Bold"/>
              </a:rPr>
              <a:t>The same explanatory logic is productive on </a:t>
            </a:r>
            <a:r>
              <a:rPr lang="en-US" sz="1558" b="true">
                <a:solidFill>
                  <a:srgbClr val="FFFFFF"/>
                </a:solidFill>
                <a:latin typeface="Nunito Bold"/>
                <a:ea typeface="Nunito Bold"/>
                <a:cs typeface="Nunito Bold"/>
                <a:sym typeface="Nunito Bold"/>
              </a:rPr>
              <a:t>both datasets</a:t>
            </a:r>
            <a:r>
              <a:rPr lang="en-US" sz="1558" b="true">
                <a:solidFill>
                  <a:srgbClr val="FFFFFF"/>
                </a:solidFill>
                <a:latin typeface="Calibri"/>
                <a:ea typeface="Calibri"/>
                <a:cs typeface="Calibri"/>
                <a:sym typeface="Calibri"/>
              </a:rPr>
              <a:t> → </a:t>
            </a:r>
            <a:r>
              <a:rPr lang="en-US" sz="1558" b="true">
                <a:solidFill>
                  <a:srgbClr val="FFFFFF"/>
                </a:solidFill>
                <a:latin typeface="Nunito Semi-Bold"/>
                <a:ea typeface="Nunito Semi-Bold"/>
                <a:cs typeface="Nunito Semi-Bold"/>
                <a:sym typeface="Nunito Semi-Bold"/>
              </a:rPr>
              <a:t>not tied to one domain-specific peculiarity.</a:t>
            </a:r>
          </a:p>
          <a:p>
            <a:pPr algn="l" marL="274320" indent="-274320">
              <a:lnSpc>
                <a:spcPts val="2181"/>
              </a:lnSpc>
              <a:spcBef>
                <a:spcPts val="656"/>
              </a:spcBef>
              <a:buClr>
                <a:srgbClr val="ECC665"/>
              </a:buClr>
              <a:buSzPct val="100000"/>
              <a:buFont typeface="Arial"/>
              <a:buChar char="•"/>
            </a:pPr>
            <a:r>
              <a:rPr lang="en-US" sz="1558" b="true">
                <a:solidFill>
                  <a:srgbClr val="FFFFFF"/>
                </a:solidFill>
                <a:latin typeface="Nunito Semi-Bold"/>
                <a:ea typeface="Nunito Semi-Bold"/>
                <a:cs typeface="Nunito Semi-Bold"/>
                <a:sym typeface="Nunito Semi-Bold"/>
              </a:rPr>
              <a:t>Beijing Silhouette ≈ 0.63 vs </a:t>
            </a:r>
            <a:r>
              <a:rPr lang="en-US" sz="1558" b="true">
                <a:solidFill>
                  <a:srgbClr val="FFFFFF"/>
                </a:solidFill>
                <a:latin typeface="Nunito Bold"/>
                <a:ea typeface="Nunito Bold"/>
                <a:cs typeface="Nunito Bold"/>
                <a:sym typeface="Nunito Bold"/>
              </a:rPr>
              <a:t>0.37</a:t>
            </a:r>
            <a:r>
              <a:rPr lang="en-US" sz="1558" b="true">
                <a:solidFill>
                  <a:srgbClr val="FFFFFF"/>
                </a:solidFill>
                <a:latin typeface="Nunito Semi-Bold"/>
                <a:ea typeface="Nunito Semi-Bold"/>
                <a:cs typeface="Nunito Semi-Bold"/>
                <a:sym typeface="Nunito Semi-Bold"/>
              </a:rPr>
              <a:t> in Gramegna &amp; Giudici's SHAP-based credit-risk clustering.</a:t>
            </a:r>
          </a:p>
        </p:txBody>
      </p:sp>
      <p:sp>
        <p:nvSpPr>
          <p:cNvPr id="17" name="Rounded Rectangle 16"/>
          <p:cNvSpPr/>
          <p:nvPr/>
        </p:nvSpPr>
        <p:spPr>
          <a:xfrm>
            <a:off x="9326880" y="7140194"/>
            <a:ext cx="7932420" cy="2168398"/>
          </a:xfrm>
          <a:prstGeom prst="roundRect">
            <a:avLst>
              <a:gd name="adj" fmla="val 14337"/>
            </a:avLst>
          </a:prstGeom>
          <a:solidFill>
            <a:srgbClr val="F6ECDF"/>
          </a:solidFill>
          <a:ln>
            <a:noFill/>
          </a:ln>
        </p:spPr>
        <p:txBody>
          <a:bodyPr anchor="ctr" rtlCol="false" lIns="0" tIns="0" rIns="0" bIns="0" wrap="square"/>
          <a:lstStyle/>
          <a:p>
            <a:endParaRPr lang="en-US" sz="1800"/>
          </a:p>
        </p:txBody>
      </p:sp>
      <p:sp>
        <p:nvSpPr>
          <p:cNvPr id="18" name="Rounded Rectangle 17"/>
          <p:cNvSpPr/>
          <p:nvPr/>
        </p:nvSpPr>
        <p:spPr>
          <a:xfrm>
            <a:off x="9784080" y="6902450"/>
            <a:ext cx="169294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vs LIME</a:t>
            </a:r>
          </a:p>
        </p:txBody>
      </p:sp>
      <p:sp>
        <p:nvSpPr>
          <p:cNvPr id="19" name="TextBox 18"/>
          <p:cNvSpPr txBox="1"/>
          <p:nvPr/>
        </p:nvSpPr>
        <p:spPr>
          <a:xfrm>
            <a:off x="9829800" y="7780274"/>
            <a:ext cx="6972300" cy="1253998"/>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Weaker </a:t>
            </a:r>
            <a:r>
              <a:rPr lang="en-US" sz="1900" b="true">
                <a:solidFill>
                  <a:srgbClr val="111111"/>
                </a:solidFill>
                <a:latin typeface="Nunito Bold"/>
                <a:ea typeface="Nunito Bold"/>
                <a:cs typeface="Nunito Bold"/>
                <a:sym typeface="Nunito Bold"/>
              </a:rPr>
              <a:t>structural coherence</a:t>
            </a:r>
            <a:r>
              <a:rPr lang="en-US" sz="1900" b="true">
                <a:solidFill>
                  <a:srgbClr val="111111"/>
                </a:solidFill>
                <a:latin typeface="Nunito Semi-Bold"/>
                <a:ea typeface="Nunito Semi-Bold"/>
                <a:cs typeface="Nunito Semi-Bold"/>
                <a:sym typeface="Nunito Semi-Bold"/>
              </a:rPr>
              <a:t> across levels.</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Less stable local narratives for </a:t>
            </a:r>
            <a:r>
              <a:rPr lang="en-US" sz="1900" b="true">
                <a:solidFill>
                  <a:srgbClr val="111111"/>
                </a:solidFill>
                <a:latin typeface="Nunito Bold"/>
                <a:ea typeface="Nunito Bold"/>
                <a:cs typeface="Nunito Bold"/>
                <a:sym typeface="Nunito Bold"/>
              </a:rPr>
              <a:t>hierarchical reasoning</a:t>
            </a:r>
            <a:r>
              <a:rPr lang="en-US" sz="19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Key Findings and Limitations</a:t>
            </a:r>
          </a:p>
        </p:txBody>
      </p:sp>
      <p:pic>
        <p:nvPicPr>
          <p:cNvPr id="8" name="Picture 7" descr="image.png"/>
          <p:cNvPicPr>
            <a:picLocks noChangeAspect="1"/>
          </p:cNvPicPr>
          <p:nvPr/>
        </p:nvPicPr>
        <p:blipFill>
          <a:blip r:embed="rId2"/>
          <a:stretch>
            <a:fillRect/>
          </a:stretch>
        </p:blipFill>
        <p:spPr>
          <a:xfrm>
            <a:off x="11313629" y="1673352"/>
            <a:ext cx="457200" cy="399005"/>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13" name="Rounded Rectangle 12"/>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4802428"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RQ2 answered · objectives met</a:t>
            </a:r>
          </a:p>
        </p:txBody>
      </p:sp>
      <p:sp>
        <p:nvSpPr>
          <p:cNvPr id="15" name="TextBox 14"/>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RQ2 — yes, with bounds:</a:t>
            </a:r>
            <a:r>
              <a:rPr lang="en-US" sz="1900" b="true">
                <a:solidFill>
                  <a:srgbClr val="FFFFFF"/>
                </a:solidFill>
                <a:latin typeface="Nunito Semi-Bold"/>
                <a:ea typeface="Nunito Semi-Bold"/>
                <a:cs typeface="Nunito Semi-Bold"/>
                <a:sym typeface="Nunito Semi-Bold"/>
              </a:rPr>
              <a:t> coherence retained under scale and hierarchy.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O1 met</a:t>
            </a:r>
            <a:r>
              <a:rPr lang="en-US" sz="1900" b="true">
                <a:solidFill>
                  <a:srgbClr val="FFFFFF"/>
                </a:solidFill>
                <a:latin typeface="Nunito Semi-Bold"/>
                <a:ea typeface="Nunito Semi-Bold"/>
                <a:cs typeface="Nunito Semi-Bold"/>
                <a:sym typeface="Nunito Semi-Bold"/>
              </a:rPr>
              <a:t> · a multi-granular explanation that does not collapse into a single flat summary.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O2 met</a:t>
            </a:r>
            <a:r>
              <a:rPr lang="en-US" sz="1900" b="true">
                <a:solidFill>
                  <a:srgbClr val="FFFFFF"/>
                </a:solidFill>
                <a:latin typeface="Nunito Semi-Bold"/>
                <a:ea typeface="Nunito Semi-Bold"/>
                <a:cs typeface="Nunito Semi-Bold"/>
                <a:sym typeface="Nunito Semi-Bold"/>
              </a:rPr>
              <a:t> · Proposition 6.1 provides a formal cross-level consistency argument.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O3 met</a:t>
            </a:r>
            <a:r>
              <a:rPr lang="en-US" sz="1900" b="true">
                <a:solidFill>
                  <a:srgbClr val="FFFFFF"/>
                </a:solidFill>
                <a:latin typeface="Nunito Semi-Bold"/>
                <a:ea typeface="Nunito Semi-Bold"/>
                <a:cs typeface="Nunito Semi-Bold"/>
                <a:sym typeface="Nunito Semi-Bold"/>
              </a:rPr>
              <a:t> · validated on a structurally different large-scale dataset (Beijing).</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Differences across levels are </a:t>
            </a:r>
            <a:r>
              <a:rPr lang="en-US" sz="1900" b="true">
                <a:solidFill>
                  <a:srgbClr val="FFFFFF"/>
                </a:solidFill>
                <a:latin typeface="Nunito Bold"/>
                <a:ea typeface="Nunito Bold"/>
                <a:cs typeface="Nunito Bold"/>
                <a:sym typeface="Nunito Bold"/>
              </a:rPr>
              <a:t>interpretable</a:t>
            </a:r>
            <a:r>
              <a:rPr lang="en-US" sz="1900" b="true">
                <a:solidFill>
                  <a:srgbClr val="FFFFFF"/>
                </a:solidFill>
                <a:latin typeface="Nunito Semi-Bold"/>
                <a:ea typeface="Nunito Semi-Bold"/>
                <a:cs typeface="Nunito Semi-Bold"/>
                <a:sym typeface="Nunito Semi-Bold"/>
              </a:rPr>
              <a:t>, not dismissed as inconsistency.</a:t>
            </a:r>
          </a:p>
        </p:txBody>
      </p:sp>
      <p:sp>
        <p:nvSpPr>
          <p:cNvPr id="16" name="Rounded Rectangle 15"/>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214562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Limitations</a:t>
            </a:r>
          </a:p>
        </p:txBody>
      </p:sp>
      <p:sp>
        <p:nvSpPr>
          <p:cNvPr id="18" name="TextBox 17"/>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Clustering remains </a:t>
            </a:r>
            <a:r>
              <a:rPr lang="en-US" sz="1900" b="true">
                <a:solidFill>
                  <a:srgbClr val="111111"/>
                </a:solidFill>
                <a:latin typeface="Nunito Bold"/>
                <a:ea typeface="Nunito Bold"/>
                <a:cs typeface="Nunito Bold"/>
                <a:sym typeface="Nunito Bold"/>
              </a:rPr>
              <a:t>static</a:t>
            </a:r>
            <a:r>
              <a:rPr lang="en-US" sz="1900" b="true">
                <a:solidFill>
                  <a:srgbClr val="111111"/>
                </a:solidFill>
                <a:latin typeface="Nunito Semi-Bold"/>
                <a:ea typeface="Nunito Semi-Bold"/>
                <a:cs typeface="Nunito Semi-Bold"/>
                <a:sym typeface="Nunito Semi-Bold"/>
              </a:rPr>
              <a:t>, even though the Beijing data are temporal.</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Surrogate-based SHAP plus representative-instance reporting </a:t>
            </a:r>
            <a:r>
              <a:rPr lang="en-US" sz="1900" b="true">
                <a:solidFill>
                  <a:srgbClr val="111111"/>
                </a:solidFill>
                <a:latin typeface="Nunito Bold"/>
                <a:ea typeface="Nunito Bold"/>
                <a:cs typeface="Nunito Bold"/>
                <a:sym typeface="Nunito Bold"/>
              </a:rPr>
              <a:t>compress observation-level variation</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Confined to </a:t>
            </a:r>
            <a:r>
              <a:rPr lang="en-US" sz="1900" b="true">
                <a:solidFill>
                  <a:srgbClr val="111111"/>
                </a:solidFill>
                <a:latin typeface="Nunito Bold"/>
                <a:ea typeface="Nunito Bold"/>
                <a:cs typeface="Nunito Bold"/>
                <a:sym typeface="Nunito Bold"/>
              </a:rPr>
              <a:t>tabular data</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Still an explanation of a </a:t>
            </a:r>
            <a:r>
              <a:rPr lang="en-US" sz="1900" b="true">
                <a:solidFill>
                  <a:srgbClr val="111111"/>
                </a:solidFill>
                <a:latin typeface="Nunito Bold"/>
                <a:ea typeface="Nunito Bold"/>
                <a:cs typeface="Nunito Bold"/>
                <a:sym typeface="Nunito Bold"/>
              </a:rPr>
              <a:t>pre-computed partition</a:t>
            </a:r>
            <a:r>
              <a:rPr lang="en-US" sz="1900" b="true">
                <a:solidFill>
                  <a:srgbClr val="111111"/>
                </a:solidFill>
                <a:latin typeface="Nunito Semi-Bold"/>
                <a:ea typeface="Nunito Semi-Bold"/>
                <a:cs typeface="Nunito Semi-Bold"/>
                <a:sym typeface="Nunito Semi-Bold"/>
              </a:rPr>
              <a:t> — it does not influence learning.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 MULTI-LEVEL XAI FOR LARGE-SCALE CLUSTERING</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Takeaways — and the Next Step</a:t>
            </a:r>
          </a:p>
        </p:txBody>
      </p:sp>
      <p:pic>
        <p:nvPicPr>
          <p:cNvPr id="8" name="Picture 7" descr="image.png"/>
          <p:cNvPicPr>
            <a:picLocks noChangeAspect="1"/>
          </p:cNvPicPr>
          <p:nvPr/>
        </p:nvPicPr>
        <p:blipFill>
          <a:blip r:embed="rId2"/>
          <a:stretch>
            <a:fillRect/>
          </a:stretch>
        </p:blipFill>
        <p:spPr>
          <a:xfrm>
            <a:off x="9356424" y="1673352"/>
            <a:ext cx="457200" cy="446713"/>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13" name="Rounded Rectangle 12"/>
          <p:cNvSpPr/>
          <p:nvPr/>
        </p:nvSpPr>
        <p:spPr>
          <a:xfrm>
            <a:off x="1028700" y="3455162"/>
            <a:ext cx="5196840" cy="3291840"/>
          </a:xfrm>
          <a:prstGeom prst="roundRect">
            <a:avLst>
              <a:gd name="adj" fmla="val 8333"/>
            </a:avLst>
          </a:prstGeom>
          <a:solidFill>
            <a:srgbClr val="124944"/>
          </a:solidFill>
          <a:ln>
            <a:noFill/>
          </a:ln>
        </p:spPr>
        <p:txBody>
          <a:bodyPr anchor="t" rtlCol="false" lIns="411480" tIns="411480" rIns="36576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Coherent</a:t>
            </a:r>
          </a:p>
          <a:p>
            <a:pPr algn="l">
              <a:lnSpc>
                <a:spcPts val="2500"/>
              </a:lnSpc>
              <a:spcBef>
                <a:spcPts val="1200"/>
              </a:spcBef>
              <a:buNone/>
            </a:pPr>
            <a:r>
              <a:rPr lang="en-US" sz="2000" b="true">
                <a:solidFill>
                  <a:srgbClr val="F7F2EA"/>
                </a:solidFill>
                <a:latin typeface="Nunito Semi-Bold"/>
                <a:ea typeface="Nunito Semi-Bold"/>
                <a:cs typeface="Nunito Semi-Bold"/>
                <a:sym typeface="Nunito Semi-Bold"/>
              </a:rPr>
              <a:t>Shapley attribution stays coherent across granularity — when the hierarchy is explicit.</a:t>
            </a:r>
          </a:p>
        </p:txBody>
      </p:sp>
      <p:sp>
        <p:nvSpPr>
          <p:cNvPr id="14" name="Rounded Rectangle 13"/>
          <p:cNvSpPr/>
          <p:nvPr/>
        </p:nvSpPr>
        <p:spPr>
          <a:xfrm>
            <a:off x="6545580" y="3455162"/>
            <a:ext cx="5196840" cy="3291840"/>
          </a:xfrm>
          <a:prstGeom prst="roundRect">
            <a:avLst>
              <a:gd name="adj" fmla="val 8333"/>
            </a:avLst>
          </a:prstGeom>
          <a:solidFill>
            <a:srgbClr val="1E5F58"/>
          </a:solidFill>
          <a:ln>
            <a:noFill/>
          </a:ln>
        </p:spPr>
        <p:txBody>
          <a:bodyPr anchor="t" rtlCol="false" lIns="411480" tIns="411480" rIns="36576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Against scale</a:t>
            </a:r>
          </a:p>
          <a:p>
            <a:pPr algn="l">
              <a:lnSpc>
                <a:spcPts val="2500"/>
              </a:lnSpc>
              <a:spcBef>
                <a:spcPts val="1200"/>
              </a:spcBef>
              <a:buNone/>
            </a:pPr>
            <a:r>
              <a:rPr lang="en-US" sz="2000" b="true">
                <a:solidFill>
                  <a:srgbClr val="F7F2EA"/>
                </a:solidFill>
                <a:latin typeface="Nunito Semi-Bold"/>
                <a:ea typeface="Nunito Semi-Bold"/>
                <a:cs typeface="Nunito Semi-Bold"/>
                <a:sym typeface="Nunito Semi-Bold"/>
              </a:rPr>
              <a:t>Explanations become interpretable against scale, not just against a single flat partition.</a:t>
            </a:r>
          </a:p>
        </p:txBody>
      </p:sp>
      <p:sp>
        <p:nvSpPr>
          <p:cNvPr id="15" name="Rounded Rectangle 14"/>
          <p:cNvSpPr/>
          <p:nvPr/>
        </p:nvSpPr>
        <p:spPr>
          <a:xfrm>
            <a:off x="12062460" y="3455162"/>
            <a:ext cx="5196840" cy="3291840"/>
          </a:xfrm>
          <a:prstGeom prst="roundRect">
            <a:avLst>
              <a:gd name="adj" fmla="val 8333"/>
            </a:avLst>
          </a:prstGeom>
          <a:solidFill>
            <a:srgbClr val="DF8330"/>
          </a:solidFill>
          <a:ln>
            <a:noFill/>
          </a:ln>
        </p:spPr>
        <p:txBody>
          <a:bodyPr anchor="t" rtlCol="false" lIns="411480" tIns="411480" rIns="36576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Still post-hoc</a:t>
            </a:r>
          </a:p>
          <a:p>
            <a:pPr algn="l">
              <a:lnSpc>
                <a:spcPts val="2500"/>
              </a:lnSpc>
              <a:spcBef>
                <a:spcPts val="1200"/>
              </a:spcBef>
              <a:buNone/>
            </a:pPr>
            <a:r>
              <a:rPr lang="en-US" sz="2000" b="true">
                <a:solidFill>
                  <a:srgbClr val="F7F2EA"/>
                </a:solidFill>
                <a:latin typeface="Nunito Semi-Bold"/>
                <a:ea typeface="Nunito Semi-Bold"/>
                <a:cs typeface="Nunito Semi-Bold"/>
                <a:sym typeface="Nunito Semi-Bold"/>
              </a:rPr>
              <a:t>The attribution explains a partition that was already computed.</a:t>
            </a:r>
          </a:p>
        </p:txBody>
      </p:sp>
      <p:sp>
        <p:nvSpPr>
          <p:cNvPr id="16" name="Rounded Rectangle 15"/>
          <p:cNvSpPr/>
          <p:nvPr/>
        </p:nvSpPr>
        <p:spPr>
          <a:xfrm>
            <a:off x="1028700" y="7204202"/>
            <a:ext cx="16230600" cy="2150110"/>
          </a:xfrm>
          <a:prstGeom prst="roundRect">
            <a:avLst>
              <a:gd name="adj" fmla="val 12758"/>
            </a:avLst>
          </a:prstGeom>
          <a:noFill/>
          <a:ln w="31750">
            <a:solidFill>
              <a:srgbClr val="124944"/>
            </a:solidFill>
          </a:ln>
        </p:spPr>
        <p:txBody>
          <a:bodyPr anchor="ctr" rtlCol="false" lIns="457200" tIns="91440" rIns="457200" bIns="91440" wrap="square"/>
          <a:lstStyle/>
          <a:p>
            <a:pPr algn="ctr">
              <a:lnSpc>
                <a:spcPts val="1800"/>
              </a:lnSpc>
              <a:spcBef>
                <a:spcPts val="0"/>
              </a:spcBef>
              <a:buNone/>
            </a:pPr>
            <a:r>
              <a:rPr lang="en-US" sz="1400" b="true" spc="180">
                <a:solidFill>
                  <a:srgbClr val="DF8330"/>
                </a:solidFill>
                <a:latin typeface="Nunito Ultra-Bold"/>
                <a:ea typeface="Nunito Ultra-Bold"/>
                <a:cs typeface="Nunito Ultra-Bold"/>
                <a:sym typeface="Nunito Ultra-Bold"/>
              </a:rPr>
              <a:t>NEXT</a:t>
            </a:r>
          </a:p>
          <a:p>
            <a:pPr algn="ctr">
              <a:lnSpc>
                <a:spcPts val="3200"/>
              </a:lnSpc>
              <a:spcBef>
                <a:spcPts val="800"/>
              </a:spcBef>
              <a:buNone/>
            </a:pPr>
            <a:r>
              <a:rPr lang="en-US" sz="2600" b="true">
                <a:solidFill>
                  <a:srgbClr val="111111"/>
                </a:solidFill>
                <a:latin typeface="Nunito Bold"/>
                <a:ea typeface="Nunito Bold"/>
                <a:cs typeface="Nunito Bold"/>
                <a:sym typeface="Nunito Bold"/>
              </a:rPr>
              <a:t>So the next step is to let attribution </a:t>
            </a:r>
            <a:r>
              <a:rPr lang="en-US" sz="2600" b="true">
                <a:solidFill>
                  <a:srgbClr val="111111"/>
                </a:solidFill>
                <a:latin typeface="Nunito Bold"/>
                <a:ea typeface="Nunito Bold"/>
                <a:cs typeface="Nunito Bold"/>
                <a:sym typeface="Nunito Bold"/>
              </a:rPr>
              <a:t>shape the learning itself</a:t>
            </a:r>
            <a:r>
              <a:rPr lang="en-US" sz="2600" b="true">
                <a:solidFill>
                  <a:srgbClr val="111111"/>
                </a:solidFill>
                <a:latin typeface="Nunito Bold"/>
                <a:ea typeface="Nunito Bold"/>
                <a:cs typeface="Nunito Bold"/>
                <a:sym typeface="Nunito Bold"/>
              </a:rPr>
              <a:t> — Contribution III.</a:t>
            </a:r>
          </a:p>
        </p:txBody>
      </p:sp>
      <p:pic>
        <p:nvPicPr>
          <p:cNvPr id="17" name="Picture 16" descr="image.png"/>
          <p:cNvPicPr>
            <a:picLocks noChangeAspect="1"/>
          </p:cNvPicPr>
          <p:nvPr/>
        </p:nvPicPr>
        <p:blipFill>
          <a:blip r:embed="rId4"/>
          <a:stretch>
            <a:fillRect/>
          </a:stretch>
        </p:blipFill>
        <p:spPr>
          <a:xfrm>
            <a:off x="15979140" y="7432802"/>
            <a:ext cx="256032" cy="842772"/>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6" name="TextBox 5"/>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7" name="Oval 6"/>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8" name="TextBox 7"/>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DyHuCoG — a Dynamic Hypergraph Cooperative Game for recommendation  ·  answers RQ3 &amp; RQ4</a:t>
            </a:r>
          </a:p>
        </p:txBody>
      </p:sp>
      <p:sp>
        <p:nvSpPr>
          <p:cNvPr id="10" name="Rectangle 9"/>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1" name="TextBox 10"/>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2" name="Connector 11"/>
          <p:cNvCxnSpPr/>
          <p:nvPr/>
        </p:nvCxnSpPr>
        <p:spPr>
          <a:xfrm>
            <a:off x="1028700" y="6464808"/>
            <a:ext cx="640080" cy="0"/>
          </a:xfrm>
          <a:prstGeom prst="line">
            <a:avLst/>
          </a:prstGeom>
          <a:ln w="31750">
            <a:solidFill>
              <a:srgbClr val="ECC665"/>
            </a:solidFill>
          </a:ln>
        </p:spPr>
      </p:cxnSp>
      <p:sp>
        <p:nvSpPr>
          <p:cNvPr id="13" name="TextBox 12"/>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4" name="TextBox 13"/>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5" name="Connector 14"/>
          <p:cNvCxnSpPr/>
          <p:nvPr/>
        </p:nvCxnSpPr>
        <p:spPr>
          <a:xfrm>
            <a:off x="6576060" y="6464808"/>
            <a:ext cx="640080" cy="0"/>
          </a:xfrm>
          <a:prstGeom prst="line">
            <a:avLst/>
          </a:prstGeom>
          <a:ln w="31750">
            <a:solidFill>
              <a:srgbClr val="ECC665"/>
            </a:solidFill>
          </a:ln>
        </p:spPr>
      </p:cxnSp>
      <p:sp>
        <p:nvSpPr>
          <p:cNvPr id="16" name="TextBox 15"/>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7" name="TextBox 16"/>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8" name="Connector 17"/>
          <p:cNvCxnSpPr/>
          <p:nvPr/>
        </p:nvCxnSpPr>
        <p:spPr>
          <a:xfrm>
            <a:off x="12123420" y="6464808"/>
            <a:ext cx="640080" cy="0"/>
          </a:xfrm>
          <a:prstGeom prst="line">
            <a:avLst/>
          </a:prstGeom>
          <a:ln w="31750">
            <a:solidFill>
              <a:srgbClr val="ECC665"/>
            </a:solidFill>
          </a:ln>
        </p:spPr>
      </p:cxnSp>
      <p:sp>
        <p:nvSpPr>
          <p:cNvPr id="19" name="TextBox 18"/>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Gap and Objectives</a:t>
            </a:r>
          </a:p>
        </p:txBody>
      </p:sp>
      <p:pic>
        <p:nvPicPr>
          <p:cNvPr id="8" name="Picture 7" descr="image.png"/>
          <p:cNvPicPr>
            <a:picLocks noChangeAspect="1"/>
          </p:cNvPicPr>
          <p:nvPr/>
        </p:nvPicPr>
        <p:blipFill>
          <a:blip r:embed="rId2"/>
          <a:stretch>
            <a:fillRect/>
          </a:stretch>
        </p:blipFill>
        <p:spPr>
          <a:xfrm>
            <a:off x="6247896" y="1673352"/>
            <a:ext cx="457200" cy="452148"/>
          </a:xfrm>
          <a:prstGeom prst="rect">
            <a:avLst/>
          </a:prstGeom>
        </p:spPr>
      </p:pic>
      <p:sp>
        <p:nvSpPr>
          <p:cNvPr id="9" name="Rounded Rectangle 8"/>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120026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Gap</a:t>
            </a:r>
          </a:p>
        </p:txBody>
      </p:sp>
      <p:sp>
        <p:nvSpPr>
          <p:cNvPr id="15" name="TextBox 14"/>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Graph and hypergraph recommenders treat message importance as </a:t>
            </a:r>
            <a:r>
              <a:rPr lang="en-US" sz="2000" b="true">
                <a:solidFill>
                  <a:srgbClr val="FFFFFF"/>
                </a:solidFill>
                <a:latin typeface="Nunito Bold"/>
                <a:ea typeface="Nunito Bold"/>
                <a:cs typeface="Nunito Bold"/>
                <a:sym typeface="Nunito Bold"/>
              </a:rPr>
              <a:t>uniform or attention-weighted</a:t>
            </a:r>
            <a:r>
              <a:rPr lang="en-US" sz="2000" b="true">
                <a:solidFill>
                  <a:srgbClr val="FFFFFF"/>
                </a:solidFill>
                <a:latin typeface="Nunito Semi-Bold"/>
                <a:ea typeface="Nunito Semi-Bold"/>
                <a:cs typeface="Nunito Semi-Bold"/>
                <a:sym typeface="Nunito Semi-Bold"/>
              </a:rPr>
              <a:t>, without a principled </a:t>
            </a:r>
            <a:r>
              <a:rPr lang="en-US" sz="2000" b="true">
                <a:solidFill>
                  <a:srgbClr val="FFFFFF"/>
                </a:solidFill>
                <a:latin typeface="Nunito Bold"/>
                <a:ea typeface="Nunito Bold"/>
                <a:cs typeface="Nunito Bold"/>
                <a:sym typeface="Nunito Bold"/>
              </a:rPr>
              <a:t>marginal-contribution</a:t>
            </a:r>
            <a:r>
              <a:rPr lang="en-US" sz="2000" b="true">
                <a:solidFill>
                  <a:srgbClr val="FFFFFF"/>
                </a:solidFill>
                <a:latin typeface="Nunito Semi-Bold"/>
                <a:ea typeface="Nunito Semi-Bold"/>
                <a:cs typeface="Nunito Semi-Bold"/>
                <a:sym typeface="Nunito Semi-Bold"/>
              </a:rPr>
              <a:t> account.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Diversity is often a secondary objective or a </a:t>
            </a:r>
            <a:r>
              <a:rPr lang="en-US" sz="2000" b="true">
                <a:solidFill>
                  <a:srgbClr val="FFFFFF"/>
                </a:solidFill>
                <a:latin typeface="Nunito Bold"/>
                <a:ea typeface="Nunito Bold"/>
                <a:cs typeface="Nunito Bold"/>
                <a:sym typeface="Nunito Bold"/>
              </a:rPr>
              <a:t>re-ranking heuristic</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Interpretability is </a:t>
            </a:r>
            <a:r>
              <a:rPr lang="en-US" sz="2000" b="true">
                <a:solidFill>
                  <a:srgbClr val="FFFFFF"/>
                </a:solidFill>
                <a:latin typeface="Nunito Bold"/>
                <a:ea typeface="Nunito Bold"/>
                <a:cs typeface="Nunito Bold"/>
                <a:sym typeface="Nunito Bold"/>
              </a:rPr>
              <a:t>added after prediction</a:t>
            </a:r>
            <a:r>
              <a:rPr lang="en-US" sz="2000" b="true">
                <a:solidFill>
                  <a:srgbClr val="FFFFFF"/>
                </a:solidFill>
                <a:latin typeface="Nunito Semi-Bold"/>
                <a:ea typeface="Nunito Semi-Bold"/>
                <a:cs typeface="Nunito Semi-Bold"/>
                <a:sym typeface="Nunito Semi-Bold"/>
              </a:rPr>
              <a:t>, not integrated into the learning objective.</a:t>
            </a:r>
          </a:p>
        </p:txBody>
      </p:sp>
      <p:sp>
        <p:nvSpPr>
          <p:cNvPr id="16" name="Rounded Rectangle 15"/>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3871710" cy="438912"/>
          </a:xfrm>
          <a:prstGeom prst="roundRect">
            <a:avLst>
              <a:gd name="adj" fmla="val 50000"/>
            </a:avLst>
          </a:prstGeom>
          <a:solidFill>
            <a:srgbClr val="124944"/>
          </a:solidFill>
          <a:ln>
            <a:no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RQ3 · RQ4 </a:t>
            </a:r>
            <a:r>
              <a:rPr lang="en-US" sz="2200" b="true">
                <a:solidFill>
                  <a:srgbClr val="FFFFFF"/>
                </a:solidFill>
                <a:latin typeface="Calibri"/>
                <a:ea typeface="Calibri"/>
                <a:cs typeface="Calibri"/>
                <a:sym typeface="Calibri"/>
              </a:rPr>
              <a:t>→ </a:t>
            </a:r>
            <a:r>
              <a:rPr lang="en-US" sz="2200" b="true">
                <a:solidFill>
                  <a:srgbClr val="FFFFFF"/>
                </a:solidFill>
                <a:latin typeface="Nunito Bold"/>
                <a:ea typeface="Nunito Bold"/>
                <a:cs typeface="Nunito Bold"/>
                <a:sym typeface="Nunito Bold"/>
              </a:rPr>
              <a:t>Objectives</a:t>
            </a:r>
          </a:p>
        </p:txBody>
      </p:sp>
      <p:sp>
        <p:nvSpPr>
          <p:cNvPr id="18" name="TextBox 17"/>
          <p:cNvSpPr txBox="1"/>
          <p:nvPr/>
        </p:nvSpPr>
        <p:spPr>
          <a:xfrm>
            <a:off x="9784080" y="4140962"/>
            <a:ext cx="7018020" cy="1417320"/>
          </a:xfrm>
          <a:prstGeom prst="rect">
            <a:avLst/>
          </a:prstGeom>
          <a:noFill/>
        </p:spPr>
        <p:txBody>
          <a:bodyPr anchor="t" rtlCol="false" lIns="0" tIns="0" rIns="0" bIns="0" wrap="square"/>
          <a:lstStyle/>
          <a:p>
            <a:pPr algn="l">
              <a:lnSpc>
                <a:spcPts val="2218"/>
              </a:lnSpc>
              <a:spcBef>
                <a:spcPts val="0"/>
              </a:spcBef>
              <a:buNone/>
            </a:pPr>
            <a:r>
              <a:rPr lang="en-US" sz="1584" b="true">
                <a:solidFill>
                  <a:srgbClr val="124944"/>
                </a:solidFill>
                <a:latin typeface="Nunito Bold"/>
                <a:ea typeface="Nunito Bold"/>
                <a:cs typeface="Nunito Bold"/>
                <a:sym typeface="Nunito Bold"/>
              </a:rPr>
              <a:t>RQ3 ·</a:t>
            </a:r>
            <a:r>
              <a:rPr lang="en-US" sz="1584" b="true">
                <a:solidFill>
                  <a:srgbClr val="124944"/>
                </a:solidFill>
                <a:latin typeface="Nunito Semi-Bold"/>
                <a:ea typeface="Nunito Semi-Bold"/>
                <a:cs typeface="Nunito Semi-Bold"/>
                <a:sym typeface="Nunito Semi-Bold"/>
              </a:rPr>
              <a:t> Can cooperative attribution move beyond post-hoc and enter the learning dynamics of graph recommenders?</a:t>
            </a:r>
          </a:p>
          <a:p>
            <a:pPr algn="l">
              <a:lnSpc>
                <a:spcPts val="2218"/>
              </a:lnSpc>
              <a:spcBef>
                <a:spcPts val="528"/>
              </a:spcBef>
              <a:buNone/>
            </a:pPr>
            <a:r>
              <a:rPr lang="en-US" sz="1584" b="true">
                <a:solidFill>
                  <a:srgbClr val="124944"/>
                </a:solidFill>
                <a:latin typeface="Nunito Bold"/>
                <a:ea typeface="Nunito Bold"/>
                <a:cs typeface="Nunito Bold"/>
                <a:sym typeface="Nunito Bold"/>
              </a:rPr>
              <a:t>RQ4 ·</a:t>
            </a:r>
            <a:r>
              <a:rPr lang="en-US" sz="1584" b="true">
                <a:solidFill>
                  <a:srgbClr val="124944"/>
                </a:solidFill>
                <a:latin typeface="Nunito Semi-Bold"/>
                <a:ea typeface="Nunito Semi-Bold"/>
                <a:cs typeface="Nunito Semi-Bold"/>
                <a:sym typeface="Nunito Semi-Bold"/>
              </a:rPr>
              <a:t> Can a recommender jointly optimise ranking accuracy, context and diversity when importance is estimated by a cooperative-game utility?</a:t>
            </a:r>
          </a:p>
        </p:txBody>
      </p:sp>
      <p:sp>
        <p:nvSpPr>
          <p:cNvPr id="19" name="Oval 18"/>
          <p:cNvSpPr/>
          <p:nvPr/>
        </p:nvSpPr>
        <p:spPr>
          <a:xfrm>
            <a:off x="9784080" y="5878322"/>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O1</a:t>
            </a:r>
          </a:p>
        </p:txBody>
      </p:sp>
      <p:sp>
        <p:nvSpPr>
          <p:cNvPr id="20" name="TextBox 19"/>
          <p:cNvSpPr txBox="1"/>
          <p:nvPr/>
        </p:nvSpPr>
        <p:spPr>
          <a:xfrm>
            <a:off x="10515600" y="5741162"/>
            <a:ext cx="6240780" cy="731520"/>
          </a:xfrm>
          <a:prstGeom prst="rect">
            <a:avLst/>
          </a:prstGeom>
          <a:noFill/>
        </p:spPr>
        <p:txBody>
          <a:bodyPr anchor="ctr"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Formulate recommendation as a </a:t>
            </a:r>
            <a:r>
              <a:rPr lang="en-US" sz="1800" b="true">
                <a:solidFill>
                  <a:srgbClr val="111111"/>
                </a:solidFill>
                <a:latin typeface="Nunito Bold"/>
                <a:ea typeface="Nunito Bold"/>
                <a:cs typeface="Nunito Bold"/>
                <a:sym typeface="Nunito Bold"/>
              </a:rPr>
              <a:t>cooperative game</a:t>
            </a:r>
            <a:r>
              <a:rPr lang="en-US" sz="1800" b="true">
                <a:solidFill>
                  <a:srgbClr val="111111"/>
                </a:solidFill>
                <a:latin typeface="Nunito Semi-Bold"/>
                <a:ea typeface="Nunito Semi-Bold"/>
                <a:cs typeface="Nunito Semi-Bold"/>
                <a:sym typeface="Nunito Semi-Bold"/>
              </a:rPr>
              <a:t> with users, items and contexts as players.</a:t>
            </a:r>
          </a:p>
        </p:txBody>
      </p:sp>
      <p:sp>
        <p:nvSpPr>
          <p:cNvPr id="21" name="Oval 20"/>
          <p:cNvSpPr/>
          <p:nvPr/>
        </p:nvSpPr>
        <p:spPr>
          <a:xfrm>
            <a:off x="9784080" y="6719570"/>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O2</a:t>
            </a:r>
          </a:p>
        </p:txBody>
      </p:sp>
      <p:sp>
        <p:nvSpPr>
          <p:cNvPr id="22" name="TextBox 21"/>
          <p:cNvSpPr txBox="1"/>
          <p:nvPr/>
        </p:nvSpPr>
        <p:spPr>
          <a:xfrm>
            <a:off x="10515600" y="6582410"/>
            <a:ext cx="6240780" cy="731520"/>
          </a:xfrm>
          <a:prstGeom prst="rect">
            <a:avLst/>
          </a:prstGeom>
          <a:noFill/>
        </p:spPr>
        <p:txBody>
          <a:bodyPr anchor="ctr"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Embed </a:t>
            </a: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into hypergraph message passing.</a:t>
            </a:r>
          </a:p>
        </p:txBody>
      </p:sp>
      <p:sp>
        <p:nvSpPr>
          <p:cNvPr id="23" name="Oval 22"/>
          <p:cNvSpPr/>
          <p:nvPr/>
        </p:nvSpPr>
        <p:spPr>
          <a:xfrm>
            <a:off x="9784080" y="7560818"/>
            <a:ext cx="457200" cy="457200"/>
          </a:xfrm>
          <a:prstGeom prst="ellipse">
            <a:avLst/>
          </a:prstGeom>
          <a:solidFill>
            <a:srgbClr val="ECC665"/>
          </a:solidFill>
          <a:ln>
            <a:noFill/>
          </a:ln>
        </p:spPr>
        <p:txBody>
          <a:bodyPr anchor="ctr" rtlCol="false" lIns="0" tIns="0" rIns="0" bIns="0" wrap="square"/>
          <a:lstStyle/>
          <a:p>
            <a:pPr algn="ctr">
              <a:lnSpc>
                <a:spcPts val="1870"/>
              </a:lnSpc>
              <a:spcBef>
                <a:spcPts val="0"/>
              </a:spcBef>
              <a:buNone/>
            </a:pPr>
            <a:r>
              <a:rPr lang="en-US" sz="1700" b="true">
                <a:solidFill>
                  <a:srgbClr val="111111"/>
                </a:solidFill>
                <a:latin typeface="Nunito Bold"/>
                <a:ea typeface="Nunito Bold"/>
                <a:cs typeface="Nunito Bold"/>
                <a:sym typeface="Nunito Bold"/>
              </a:rPr>
              <a:t>O3</a:t>
            </a:r>
          </a:p>
        </p:txBody>
      </p:sp>
      <p:sp>
        <p:nvSpPr>
          <p:cNvPr id="24" name="TextBox 23"/>
          <p:cNvSpPr txBox="1"/>
          <p:nvPr/>
        </p:nvSpPr>
        <p:spPr>
          <a:xfrm>
            <a:off x="10515600" y="7423658"/>
            <a:ext cx="6240780" cy="731520"/>
          </a:xfrm>
          <a:prstGeom prst="rect">
            <a:avLst/>
          </a:prstGeom>
          <a:noFill/>
        </p:spPr>
        <p:txBody>
          <a:bodyPr anchor="ctr"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Improve </a:t>
            </a:r>
            <a:r>
              <a:rPr lang="en-US" sz="1800" b="true">
                <a:solidFill>
                  <a:srgbClr val="111111"/>
                </a:solidFill>
                <a:latin typeface="Nunito Bold"/>
                <a:ea typeface="Nunito Bold"/>
                <a:cs typeface="Nunito Bold"/>
                <a:sym typeface="Nunito Bold"/>
              </a:rPr>
              <a:t>ranking, coverage and diversity jointly</a:t>
            </a:r>
            <a:r>
              <a:rPr lang="en-US" sz="18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8" name="Picture 7" descr="image.png"/>
          <p:cNvPicPr>
            <a:picLocks noChangeAspect="1"/>
          </p:cNvPicPr>
          <p:nvPr/>
        </p:nvPicPr>
        <p:blipFill>
          <a:blip r:embed="rId2"/>
          <a:stretch>
            <a:fillRect/>
          </a:stretch>
        </p:blipFill>
        <p:spPr>
          <a:xfrm>
            <a:off x="11933734" y="1673352"/>
            <a:ext cx="457200" cy="415247"/>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TextBox 12"/>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C</a:t>
            </a:r>
            <a:r>
              <a:rPr lang="en-US" sz="2100" b="true">
                <a:solidFill>
                  <a:srgbClr val="111111"/>
                </a:solidFill>
                <a:latin typeface="Nunito Semi-Bold"/>
                <a:ea typeface="Nunito Semi-Bold"/>
                <a:cs typeface="Nunito Semi-Bold"/>
                <a:sym typeface="Nunito Semi-Bold"/>
              </a:rPr>
              <a:t> (users, items, contexts).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 H = (V, E, W)</a:t>
            </a:r>
            <a:r>
              <a:rPr lang="en-US" sz="2100" b="true">
                <a:solidFill>
                  <a:srgbClr val="111111"/>
                </a:solidFill>
                <a:latin typeface="Nunito Semi-Bold"/>
                <a:ea typeface="Nunito Semi-Bold"/>
                <a:cs typeface="Nunito Semi-Bold"/>
                <a:sym typeface="Nunito Semi-Bold"/>
              </a:rPr>
              <a:t>; V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C; </a:t>
            </a:r>
            <a:r>
              <a:rPr lang="en-US" sz="2100" b="true">
                <a:solidFill>
                  <a:srgbClr val="111111"/>
                </a:solidFill>
                <a:latin typeface="Nunito Bold"/>
                <a:ea typeface="Nunito Bold"/>
                <a:cs typeface="Nunito Bold"/>
                <a:sym typeface="Nunito Bold"/>
              </a:rPr>
              <a:t>W = dynamic edge weights</a:t>
            </a:r>
            <a:r>
              <a:rPr lang="en-US" sz="2100" b="true">
                <a:solidFill>
                  <a:srgbClr val="111111"/>
                </a:solidFill>
                <a:latin typeface="Nunito Semi-Bold"/>
                <a:ea typeface="Nunito Semi-Bold"/>
                <a:cs typeface="Nunito Semi-Bold"/>
                <a:sym typeface="Nunito Semi-Bold"/>
              </a:rPr>
              <a:t> from Shapley estimates.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a:t>
            </a:r>
            <a:r>
              <a:rPr lang="en-US" sz="2100" b="true">
                <a:solidFill>
                  <a:srgbClr val="111111"/>
                </a:solidFill>
                <a:latin typeface="Nunito Bold"/>
                <a:ea typeface="Nunito Bold"/>
                <a:cs typeface="Nunito Bold"/>
                <a:sym typeface="Nunito Bold"/>
              </a:rPr>
              <a:t>coalition S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N</a:t>
            </a:r>
            <a:r>
              <a:rPr lang="en-US" sz="2100" b="true">
                <a:solidFill>
                  <a:srgbClr val="111111"/>
                </a:solidFill>
                <a:latin typeface="Nunito Semi-Bold"/>
                <a:ea typeface="Nunito Semi-Bold"/>
                <a:cs typeface="Nunito Semi-Bold"/>
                <a:sym typeface="Nunito Semi-Bold"/>
              </a:rPr>
              <a:t> represents the entities participating in a recommendation episode.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Coalition value v(S)</a:t>
            </a:r>
            <a:r>
              <a:rPr lang="en-US" sz="2100" b="true">
                <a:solidFill>
                  <a:srgbClr val="111111"/>
                </a:solidFill>
                <a:latin typeface="Nunito Semi-Bold"/>
                <a:ea typeface="Nunito Semi-Bold"/>
                <a:cs typeface="Nunito Semi-Bold"/>
                <a:sym typeface="Nunito Semi-Bold"/>
              </a:rPr>
              <a:t> measures the quality of the recommendation outcome achievable by S.</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Top-N task:</a:t>
            </a:r>
            <a:r>
              <a:rPr lang="en-US" sz="2100" b="true">
                <a:solidFill>
                  <a:srgbClr val="111111"/>
                </a:solidFill>
                <a:latin typeface="Nunito Semi-Bold"/>
                <a:ea typeface="Nunito Semi-Bold"/>
                <a:cs typeface="Nunito Semi-Bold"/>
                <a:sym typeface="Nunito Semi-Bold"/>
              </a:rPr>
              <a:t> produce a ranked list L</a:t>
            </a:r>
            <a:r>
              <a:rPr lang="en-US" sz="2100" b="true" baseline="-25000">
                <a:solidFill>
                  <a:srgbClr val="111111"/>
                </a:solidFill>
                <a:latin typeface="Nunito Semi-Bold"/>
                <a:ea typeface="Nunito Semi-Bold"/>
                <a:cs typeface="Nunito Semi-Bold"/>
                <a:sym typeface="Nunito Semi-Bold"/>
              </a:rPr>
              <a:t>u</a:t>
            </a:r>
            <a:r>
              <a:rPr lang="en-US" sz="2100" b="true">
                <a:solidFill>
                  <a:srgbClr val="111111"/>
                </a:solidFill>
                <a:latin typeface="Nunito Semi-Bold"/>
                <a:ea typeface="Nunito Semi-Bold"/>
                <a:cs typeface="Nunito Semi-Bold"/>
                <a:sym typeface="Nunito Semi-Bold"/>
              </a:rPr>
              <a:t> balancing relevance, diversity and contextual fit.</a:t>
            </a:r>
          </a:p>
        </p:txBody>
      </p:sp>
      <p:sp>
        <p:nvSpPr>
          <p:cNvPr id="14" name="TextBox 13"/>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PLAYERS AND COALITIONS</a:t>
            </a:r>
          </a:p>
        </p:txBody>
      </p:sp>
      <p:sp>
        <p:nvSpPr>
          <p:cNvPr id="15" name="Rounded Rectangle 14"/>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16" name="TextBox 15"/>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17" name="Oval 16"/>
          <p:cNvSpPr/>
          <p:nvPr/>
        </p:nvSpPr>
        <p:spPr>
          <a:xfrm>
            <a:off x="10165080" y="4598162"/>
            <a:ext cx="1737360" cy="1737360"/>
          </a:xfrm>
          <a:prstGeom prst="ellipse">
            <a:avLst/>
          </a:prstGeom>
          <a:solidFill>
            <a:srgbClr val="12494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18" name="Oval 17"/>
          <p:cNvSpPr/>
          <p:nvPr/>
        </p:nvSpPr>
        <p:spPr>
          <a:xfrm>
            <a:off x="12481560" y="4598162"/>
            <a:ext cx="1737360" cy="1737360"/>
          </a:xfrm>
          <a:prstGeom prst="ellipse">
            <a:avLst/>
          </a:prstGeom>
          <a:solidFill>
            <a:srgbClr val="1E5F58"/>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19" name="Oval 18"/>
          <p:cNvSpPr/>
          <p:nvPr/>
        </p:nvSpPr>
        <p:spPr>
          <a:xfrm>
            <a:off x="14798040" y="4598162"/>
            <a:ext cx="1737360" cy="1737360"/>
          </a:xfrm>
          <a:prstGeom prst="ellipse">
            <a:avLst/>
          </a:prstGeom>
          <a:solidFill>
            <a:srgbClr val="DF8330"/>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20" name="Rounded Rectangle 19"/>
          <p:cNvSpPr/>
          <p:nvPr/>
        </p:nvSpPr>
        <p:spPr>
          <a:xfrm>
            <a:off x="9441180" y="7067042"/>
            <a:ext cx="7818120" cy="2241550"/>
          </a:xfrm>
          <a:prstGeom prst="roundRect">
            <a:avLst>
              <a:gd name="adj" fmla="val 10198"/>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1"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21" name="Equation"/>
              <p:cNvSpPr txBox="1"/>
              <p:nvPr/>
            </p:nvSpPr>
            <p:spPr>
              <a:xfrm>
                <a:off x="9715500" y="7112762"/>
                <a:ext cx="1828800" cy="1120775"/>
              </a:xfrm>
              <a:prstGeom prst="rect">
                <a:avLst/>
              </a:prstGeom>
              <a:blipFill>
                <a:blip r:embed="rId4"/>
                <a:stretch>
                  <a:fillRect/>
                </a:stretch>
              </a:blipFill>
            </p:spPr>
            <p:txBody>
              <a:bodyPr/>
              <a:lstStyle/>
              <a:p>
                <a:endParaRPr lang="en-US"/>
              </a:p>
            </p:txBody>
          </p:sp>
        </mc:Fallback>
      </mc:AlternateContent>
      <p:sp>
        <p:nvSpPr>
          <p:cNvPr id="22" name="TextBox 21"/>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outcome achievable by coalition S</a:t>
            </a:r>
          </a:p>
        </p:txBody>
      </p:sp>
      <mc:AlternateContent xmlns:mc="http://schemas.openxmlformats.org/markup-compatibility/2006">
        <mc:Choice xmlns:a14="http://schemas.microsoft.com/office/drawing/2010/main" Requires="a14">
          <p:sp>
            <p:nvSpPr>
              <p:cNvPr id="23"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23" name="Equation"/>
              <p:cNvSpPr txBox="1"/>
              <p:nvPr/>
            </p:nvSpPr>
            <p:spPr>
              <a:xfrm>
                <a:off x="9715500" y="8142097"/>
                <a:ext cx="1828800" cy="1120775"/>
              </a:xfrm>
              <a:prstGeom prst="rect">
                <a:avLst/>
              </a:prstGeom>
              <a:blipFill>
                <a:blip r:embed="rId5"/>
                <a:stretch>
                  <a:fillRect/>
                </a:stretch>
              </a:blipFill>
            </p:spPr>
            <p:txBody>
              <a:bodyPr/>
              <a:lstStyle/>
              <a:p>
                <a:endParaRPr lang="en-US"/>
              </a:p>
            </p:txBody>
          </p:sp>
        </mc:Fallback>
      </mc:AlternateContent>
      <p:sp>
        <p:nvSpPr>
          <p:cNvPr id="24" name="TextBox 23"/>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Coalition Value Aligned with the Objective</a:t>
            </a:r>
          </a:p>
        </p:txBody>
      </p:sp>
      <p:pic>
        <p:nvPicPr>
          <p:cNvPr id="8" name="Picture 7" descr="image.png"/>
          <p:cNvPicPr>
            <a:picLocks noChangeAspect="1"/>
          </p:cNvPicPr>
          <p:nvPr/>
        </p:nvPicPr>
        <p:blipFill>
          <a:blip r:embed="rId2"/>
          <a:stretch>
            <a:fillRect/>
          </a:stretch>
        </p:blipFill>
        <p:spPr>
          <a:xfrm>
            <a:off x="12053319" y="1673352"/>
            <a:ext cx="457200" cy="250983"/>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363722"/>
            <a:ext cx="16230600" cy="1600200"/>
          </a:xfrm>
          <a:prstGeom prst="roundRect">
            <a:avLst>
              <a:gd name="adj" fmla="val 17142"/>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14" name="Equation"/>
              <p:cNvSpPr txBox="1"/>
              <p:nvPr/>
            </p:nvSpPr>
            <p:spPr>
              <a:xfrm>
                <a:off x="1394460" y="35008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400" i="1">
                          <a:solidFill>
                            <a:srgbClr val="FFFFFF"/>
                          </a:solidFill>
                          <a:latin typeface="Cambria Math" panose="02040503050406030204" pitchFamily="18" charset="0"/>
                        </a:rPr>
                        <m:t xml:space="preserve">v</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·NDCG@20(</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·Diversity(</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·ContextScore(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),  </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=1</m:t>
                      </m:r>
                    </m:oMath>
                  </m:oMathPara>
                </a14:m>
                <a:endParaRPr lang="en-US" sz="2400"/>
              </a:p>
            </p:txBody>
          </p:sp>
        </mc:Choice>
        <mc:Fallback>
          <p:sp>
            <p:nvSpPr>
              <p:cNvPr id="14" name="Equation"/>
              <p:cNvSpPr txBox="1"/>
              <p:nvPr/>
            </p:nvSpPr>
            <p:spPr>
              <a:xfrm>
                <a:off x="1394460" y="3500882"/>
                <a:ext cx="15499080" cy="6400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15" name="Equation"/>
              <p:cNvSpPr txBox="1"/>
              <p:nvPr/>
            </p:nvSpPr>
            <p:spPr>
              <a:xfrm>
                <a:off x="1394460" y="41866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v</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v</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λ</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 </m:t>
                      </m:r>
                      <m:nary>
                        <m:naryPr>
                          <m:chr m:val="∑"/>
                          <m:limLoc m:val="subSup"/>
                          <m:supHide m:val="1"/>
                          <m:ctrlPr>
                            <a:rPr lang="en-US" sz="2200" i="1">
                              <a:solidFill>
                                <a:srgbClr val="ECC665"/>
                              </a:solidFill>
                              <a:latin typeface="Cambria Math" panose="02040503050406030204" pitchFamily="18" charset="0"/>
                            </a:rPr>
                          </m:ctrlPr>
                        </m:naryPr>
                        <m: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sub>
                        <m:sup/>
                        <m:e>
                          <m:r>
                            <m:rPr>
                              <m:sty m:val="p"/>
                            </m:rPr>
                            <a:rPr lang="en-US" sz="2200">
                              <a:solidFill>
                                <a:srgbClr val="ECC665"/>
                              </a:solidFill>
                              <a:latin typeface="Cambria Math" panose="02040503050406030204" pitchFamily="18" charset="0"/>
                            </a:rPr>
                            <m:t xml:space="preserve">sim</m:t>
                          </m:r>
                        </m:e>
                      </m:nary>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oMath>
                  </m:oMathPara>
                </a14:m>
                <a:endParaRPr lang="en-US" sz="2200"/>
              </a:p>
            </p:txBody>
          </p:sp>
        </mc:Choice>
        <mc:Fallback>
          <p:sp>
            <p:nvSpPr>
              <p:cNvPr id="15" name="Equation"/>
              <p:cNvSpPr txBox="1"/>
              <p:nvPr/>
            </p:nvSpPr>
            <p:spPr>
              <a:xfrm>
                <a:off x="1394460" y="4186682"/>
                <a:ext cx="15499080" cy="640080"/>
              </a:xfrm>
              <a:prstGeom prst="rect">
                <a:avLst/>
              </a:prstGeom>
              <a:blipFill>
                <a:blip r:embed="rId5"/>
                <a:stretch>
                  <a:fillRect/>
                </a:stretch>
              </a:blipFill>
            </p:spPr>
            <p:txBody>
              <a:bodyPr/>
              <a:lstStyle/>
              <a:p>
                <a:endParaRPr lang="en-US"/>
              </a:p>
            </p:txBody>
          </p:sp>
        </mc:Fallback>
      </mc:AlternateContent>
      <p:sp>
        <p:nvSpPr>
          <p:cNvPr id="16" name="Rounded Rectangle 15"/>
          <p:cNvSpPr/>
          <p:nvPr/>
        </p:nvSpPr>
        <p:spPr>
          <a:xfrm>
            <a:off x="102870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17" name="Equation"/>
              <p:cNvSpPr txBox="1"/>
              <p:nvPr/>
            </p:nvSpPr>
            <p:spPr>
              <a:xfrm>
                <a:off x="116586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α</m:t>
                      </m:r>
                      <m:r>
                        <m:rPr>
                          <m:sty m:val="p"/>
                        </m:rPr>
                        <a:rPr lang="en-US" sz="2600">
                          <a:solidFill>
                            <a:srgbClr val="124944"/>
                          </a:solidFill>
                          <a:latin typeface="Cambria Math" panose="02040503050406030204" pitchFamily="18" charset="0"/>
                        </a:rPr>
                        <m:t xml:space="preserve">=0.60</m:t>
                      </m:r>
                    </m:oMath>
                  </m:oMathPara>
                </a14:m>
                <a:endParaRPr lang="en-US" sz="2600"/>
              </a:p>
            </p:txBody>
          </p:sp>
        </mc:Choice>
        <mc:Fallback>
          <p:sp>
            <p:nvSpPr>
              <p:cNvPr id="17" name="Equation"/>
              <p:cNvSpPr txBox="1"/>
              <p:nvPr/>
            </p:nvSpPr>
            <p:spPr>
              <a:xfrm>
                <a:off x="1165860" y="5311394"/>
                <a:ext cx="3577590" cy="621792"/>
              </a:xfrm>
              <a:prstGeom prst="rect">
                <a:avLst/>
              </a:prstGeom>
              <a:blipFill>
                <a:blip r:embed="rId6"/>
                <a:stretch>
                  <a:fillRect/>
                </a:stretch>
              </a:blipFill>
            </p:spPr>
            <p:txBody>
              <a:bodyPr/>
              <a:lstStyle/>
              <a:p>
                <a:endParaRPr lang="en-US"/>
              </a:p>
            </p:txBody>
          </p:sp>
        </mc:Fallback>
      </mc:AlternateContent>
      <p:sp>
        <p:nvSpPr>
          <p:cNvPr id="18" name="TextBox 17"/>
          <p:cNvSpPr txBox="1"/>
          <p:nvPr/>
        </p:nvSpPr>
        <p:spPr>
          <a:xfrm>
            <a:off x="102870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ranking accuracy</a:t>
            </a:r>
          </a:p>
        </p:txBody>
      </p:sp>
      <p:sp>
        <p:nvSpPr>
          <p:cNvPr id="19" name="Rounded Rectangle 18"/>
          <p:cNvSpPr/>
          <p:nvPr/>
        </p:nvSpPr>
        <p:spPr>
          <a:xfrm>
            <a:off x="515493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0" name="Equation"/>
              <p:cNvSpPr txBox="1"/>
              <p:nvPr/>
            </p:nvSpPr>
            <p:spPr>
              <a:xfrm>
                <a:off x="529209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β</m:t>
                      </m:r>
                      <m:r>
                        <m:rPr>
                          <m:sty m:val="p"/>
                        </m:rPr>
                        <a:rPr lang="en-US" sz="2600">
                          <a:solidFill>
                            <a:srgbClr val="124944"/>
                          </a:solidFill>
                          <a:latin typeface="Cambria Math" panose="02040503050406030204" pitchFamily="18" charset="0"/>
                        </a:rPr>
                        <m:t xml:space="preserve">=0.25</m:t>
                      </m:r>
                    </m:oMath>
                  </m:oMathPara>
                </a14:m>
                <a:endParaRPr lang="en-US" sz="2600"/>
              </a:p>
            </p:txBody>
          </p:sp>
        </mc:Choice>
        <mc:Fallback>
          <p:sp>
            <p:nvSpPr>
              <p:cNvPr id="20" name="Equation"/>
              <p:cNvSpPr txBox="1"/>
              <p:nvPr/>
            </p:nvSpPr>
            <p:spPr>
              <a:xfrm>
                <a:off x="5292090" y="5311394"/>
                <a:ext cx="3577590" cy="621792"/>
              </a:xfrm>
              <a:prstGeom prst="rect">
                <a:avLst/>
              </a:prstGeom>
              <a:blipFill>
                <a:blip r:embed="rId7"/>
                <a:stretch>
                  <a:fillRect/>
                </a:stretch>
              </a:blipFill>
            </p:spPr>
            <p:txBody>
              <a:bodyPr/>
              <a:lstStyle/>
              <a:p>
                <a:endParaRPr lang="en-US"/>
              </a:p>
            </p:txBody>
          </p:sp>
        </mc:Fallback>
      </mc:AlternateContent>
      <p:sp>
        <p:nvSpPr>
          <p:cNvPr id="21" name="TextBox 20"/>
          <p:cNvSpPr txBox="1"/>
          <p:nvPr/>
        </p:nvSpPr>
        <p:spPr>
          <a:xfrm>
            <a:off x="515493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diversity</a:t>
            </a:r>
          </a:p>
        </p:txBody>
      </p:sp>
      <p:sp>
        <p:nvSpPr>
          <p:cNvPr id="22" name="Rounded Rectangle 21"/>
          <p:cNvSpPr/>
          <p:nvPr/>
        </p:nvSpPr>
        <p:spPr>
          <a:xfrm>
            <a:off x="928116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3" name="Equation"/>
              <p:cNvSpPr txBox="1"/>
              <p:nvPr/>
            </p:nvSpPr>
            <p:spPr>
              <a:xfrm>
                <a:off x="941832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γ</m:t>
                      </m:r>
                      <m:r>
                        <m:rPr>
                          <m:sty m:val="p"/>
                        </m:rPr>
                        <a:rPr lang="en-US" sz="2600">
                          <a:solidFill>
                            <a:srgbClr val="124944"/>
                          </a:solidFill>
                          <a:latin typeface="Cambria Math" panose="02040503050406030204" pitchFamily="18" charset="0"/>
                        </a:rPr>
                        <m:t xml:space="preserve">=0.15</m:t>
                      </m:r>
                    </m:oMath>
                  </m:oMathPara>
                </a14:m>
                <a:endParaRPr lang="en-US" sz="2600"/>
              </a:p>
            </p:txBody>
          </p:sp>
        </mc:Choice>
        <mc:Fallback>
          <p:sp>
            <p:nvSpPr>
              <p:cNvPr id="23" name="Equation"/>
              <p:cNvSpPr txBox="1"/>
              <p:nvPr/>
            </p:nvSpPr>
            <p:spPr>
              <a:xfrm>
                <a:off x="9418320" y="5311394"/>
                <a:ext cx="3577590" cy="621792"/>
              </a:xfrm>
              <a:prstGeom prst="rect">
                <a:avLst/>
              </a:prstGeom>
              <a:blipFill>
                <a:blip r:embed="rId8"/>
                <a:stretch>
                  <a:fillRect/>
                </a:stretch>
              </a:blipFill>
            </p:spPr>
            <p:txBody>
              <a:bodyPr/>
              <a:lstStyle/>
              <a:p>
                <a:endParaRPr lang="en-US"/>
              </a:p>
            </p:txBody>
          </p:sp>
        </mc:Fallback>
      </mc:AlternateContent>
      <p:sp>
        <p:nvSpPr>
          <p:cNvPr id="24" name="TextBox 23"/>
          <p:cNvSpPr txBox="1"/>
          <p:nvPr/>
        </p:nvSpPr>
        <p:spPr>
          <a:xfrm>
            <a:off x="928116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context</a:t>
            </a:r>
          </a:p>
        </p:txBody>
      </p:sp>
      <p:sp>
        <p:nvSpPr>
          <p:cNvPr id="25" name="Rounded Rectangle 24"/>
          <p:cNvSpPr/>
          <p:nvPr/>
        </p:nvSpPr>
        <p:spPr>
          <a:xfrm>
            <a:off x="1340739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354455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500" i="1">
                              <a:solidFill>
                                <a:srgbClr val="DF8330"/>
                              </a:solidFill>
                              <a:latin typeface="Cambria Math" panose="02040503050406030204" pitchFamily="18" charset="0"/>
                            </a:rPr>
                          </m:ctrlPr>
                        </m:sSubPr>
                        <m:e>
                          <m:r>
                            <a:rPr lang="en-US" sz="2500" i="1">
                              <a:solidFill>
                                <a:srgbClr val="DF8330"/>
                              </a:solidFill>
                              <a:latin typeface="Cambria Math" panose="02040503050406030204" pitchFamily="18" charset="0"/>
                            </a:rPr>
                            <m:t xml:space="preserve">λ</m:t>
                          </m:r>
                        </m:e>
                        <m:sub>
                          <m:r>
                            <m:rPr>
                              <m:sty m:val="p"/>
                            </m:rPr>
                            <a:rPr lang="en-US" sz="2500">
                              <a:solidFill>
                                <a:srgbClr val="DF8330"/>
                              </a:solidFill>
                              <a:latin typeface="Cambria Math" panose="02040503050406030204" pitchFamily="18" charset="0"/>
                            </a:rPr>
                            <m:t xml:space="preserve">pref</m:t>
                          </m:r>
                        </m:sub>
                      </m:sSub>
                      <m:r>
                        <m:rPr>
                          <m:sty m:val="p"/>
                        </m:rPr>
                        <a:rPr lang="en-US" sz="2500">
                          <a:solidFill>
                            <a:srgbClr val="DF8330"/>
                          </a:solidFill>
                          <a:latin typeface="Cambria Math" panose="02040503050406030204" pitchFamily="18" charset="0"/>
                        </a:rPr>
                        <m:t xml:space="preserve">=0.20</m:t>
                      </m:r>
                    </m:oMath>
                  </m:oMathPara>
                </a14:m>
                <a:endParaRPr lang="en-US" sz="2500"/>
              </a:p>
            </p:txBody>
          </p:sp>
        </mc:Choice>
        <mc:Fallback>
          <p:sp>
            <p:nvSpPr>
              <p:cNvPr id="26" name="Equation"/>
              <p:cNvSpPr txBox="1"/>
              <p:nvPr/>
            </p:nvSpPr>
            <p:spPr>
              <a:xfrm>
                <a:off x="13544550" y="5311394"/>
                <a:ext cx="3577590" cy="621792"/>
              </a:xfrm>
              <a:prstGeom prst="rect">
                <a:avLst/>
              </a:prstGeom>
              <a:blipFill>
                <a:blip r:embed="rId9"/>
                <a:stretch>
                  <a:fillRect/>
                </a:stretch>
              </a:blipFill>
            </p:spPr>
            <p:txBody>
              <a:bodyPr/>
              <a:lstStyle/>
              <a:p>
                <a:endParaRPr lang="en-US"/>
              </a:p>
            </p:txBody>
          </p:sp>
        </mc:Fallback>
      </mc:AlternateContent>
      <p:sp>
        <p:nvSpPr>
          <p:cNvPr id="27" name="TextBox 26"/>
          <p:cNvSpPr txBox="1"/>
          <p:nvPr/>
        </p:nvSpPr>
        <p:spPr>
          <a:xfrm>
            <a:off x="1340739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preference weighting</a:t>
            </a:r>
          </a:p>
        </p:txBody>
      </p:sp>
      <p:sp>
        <p:nvSpPr>
          <p:cNvPr id="28" name="Rounded Rectangle 27"/>
          <p:cNvSpPr/>
          <p:nvPr/>
        </p:nvSpPr>
        <p:spPr>
          <a:xfrm>
            <a:off x="1028700" y="6884162"/>
            <a:ext cx="7932420" cy="2470150"/>
          </a:xfrm>
          <a:prstGeom prst="roundRect">
            <a:avLst>
              <a:gd name="adj" fmla="val 12586"/>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485900" y="6646418"/>
            <a:ext cx="343172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Alignment by design</a:t>
            </a:r>
          </a:p>
        </p:txBody>
      </p:sp>
      <p:sp>
        <p:nvSpPr>
          <p:cNvPr id="30" name="TextBox 29"/>
          <p:cNvSpPr txBox="1"/>
          <p:nvPr/>
        </p:nvSpPr>
        <p:spPr>
          <a:xfrm>
            <a:off x="153162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The </a:t>
            </a:r>
            <a:r>
              <a:rPr lang="en-US" sz="1880" b="true">
                <a:solidFill>
                  <a:srgbClr val="111111"/>
                </a:solidFill>
                <a:latin typeface="Nunito Bold"/>
                <a:ea typeface="Nunito Bold"/>
                <a:cs typeface="Nunito Bold"/>
                <a:sym typeface="Nunito Bold"/>
              </a:rPr>
              <a:t>same trade-off</a:t>
            </a:r>
            <a:r>
              <a:rPr lang="en-US" sz="1880" b="true">
                <a:solidFill>
                  <a:srgbClr val="111111"/>
                </a:solidFill>
                <a:latin typeface="Nunito Semi-Bold"/>
                <a:ea typeface="Nunito Semi-Bold"/>
                <a:cs typeface="Nunito Semi-Bold"/>
                <a:sym typeface="Nunito Semi-Bold"/>
              </a:rPr>
              <a:t> the recommender must satisfy is the one from which attribution is computed.</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Explanatory game and predictive objective are </a:t>
            </a:r>
            <a:r>
              <a:rPr lang="en-US" sz="1880" b="true">
                <a:solidFill>
                  <a:srgbClr val="111111"/>
                </a:solidFill>
                <a:latin typeface="Nunito Bold"/>
                <a:ea typeface="Nunito Bold"/>
                <a:cs typeface="Nunito Bold"/>
                <a:sym typeface="Nunito Bold"/>
              </a:rPr>
              <a:t>aligned by design</a:t>
            </a:r>
            <a:r>
              <a:rPr lang="en-US" sz="188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9326880" y="6884162"/>
            <a:ext cx="7932420" cy="2470150"/>
          </a:xfrm>
          <a:prstGeom prst="roundRect">
            <a:avLst>
              <a:gd name="adj" fmla="val 12586"/>
            </a:avLst>
          </a:prstGeom>
          <a:solidFill>
            <a:srgbClr val="124944"/>
          </a:solidFill>
          <a:ln>
            <a:noFill/>
          </a:ln>
        </p:spPr>
        <p:txBody>
          <a:bodyPr anchor="ctr" rtlCol="false" lIns="0" tIns="0" rIns="0" bIns="0" wrap="square"/>
          <a:lstStyle/>
          <a:p>
            <a:endParaRPr lang="en-US" sz="1800"/>
          </a:p>
        </p:txBody>
      </p:sp>
      <p:sp>
        <p:nvSpPr>
          <p:cNvPr id="32" name="Rounded Rectangle 31"/>
          <p:cNvSpPr/>
          <p:nvPr/>
        </p:nvSpPr>
        <p:spPr>
          <a:xfrm>
            <a:off x="9784080" y="6646418"/>
            <a:ext cx="272320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Tuning &amp; scope</a:t>
            </a:r>
          </a:p>
        </p:txBody>
      </p:sp>
      <p:sp>
        <p:nvSpPr>
          <p:cNvPr id="33" name="TextBox 32"/>
          <p:cNvSpPr txBox="1"/>
          <p:nvPr/>
        </p:nvSpPr>
        <p:spPr>
          <a:xfrm>
            <a:off x="982980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Weights </a:t>
            </a:r>
            <a:r>
              <a:rPr lang="en-US" sz="1880" b="true">
                <a:solidFill>
                  <a:srgbClr val="FFFFFF"/>
                </a:solidFill>
                <a:latin typeface="Nunito Bold"/>
                <a:ea typeface="Nunito Bold"/>
                <a:cs typeface="Nunito Bold"/>
                <a:sym typeface="Nunito Bold"/>
              </a:rPr>
              <a:t>grid-searched</a:t>
            </a:r>
            <a:r>
              <a:rPr lang="en-US" sz="1880" b="true">
                <a:solidFill>
                  <a:srgbClr val="FFFFFF"/>
                </a:solidFill>
                <a:latin typeface="Nunito Semi-Bold"/>
                <a:ea typeface="Nunito Semi-Bold"/>
                <a:cs typeface="Nunito Semi-Bold"/>
                <a:sym typeface="Nunito Semi-Bold"/>
              </a:rPr>
              <a:t>; stable — </a:t>
            </a:r>
            <a:r>
              <a:rPr lang="en-US" sz="1880" b="true">
                <a:solidFill>
                  <a:srgbClr val="FFFFFF"/>
                </a:solidFill>
                <a:latin typeface="Nunito Bold"/>
                <a:ea typeface="Nunito Bold"/>
                <a:cs typeface="Nunito Bold"/>
                <a:sym typeface="Nunito Bold"/>
              </a:rPr>
              <a:t>&lt; 1.5 % variance</a:t>
            </a:r>
            <a:r>
              <a:rPr lang="en-US" sz="1880" b="true">
                <a:solidFill>
                  <a:srgbClr val="FFFFFF"/>
                </a:solidFill>
                <a:latin typeface="Nunito Semi-Bold"/>
                <a:ea typeface="Nunito Semi-Bold"/>
                <a:cs typeface="Nunito Semi-Bold"/>
                <a:sym typeface="Nunito Semi-Bold"/>
              </a:rPr>
              <a:t> in NDCG@20 around the optimum.</a:t>
            </a:r>
          </a:p>
          <a:p>
            <a:pPr algn="l" marL="274320" indent="-274320">
              <a:lnSpc>
                <a:spcPts val="2632"/>
              </a:lnSpc>
              <a:spcBef>
                <a:spcPts val="94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Coalition evaluation scoped to the </a:t>
            </a:r>
            <a:r>
              <a:rPr lang="en-US" sz="1880" b="true">
                <a:solidFill>
                  <a:srgbClr val="FFFFFF"/>
                </a:solidFill>
                <a:latin typeface="Nunito Bold"/>
                <a:ea typeface="Nunito Bold"/>
                <a:cs typeface="Nunito Bold"/>
                <a:sym typeface="Nunito Bold"/>
              </a:rPr>
              <a:t>interaction episode</a:t>
            </a:r>
            <a:r>
              <a:rPr lang="en-US" sz="1880" b="true">
                <a:solidFill>
                  <a:srgbClr val="FFFFFF"/>
                </a:solidFill>
                <a:latin typeface="Nunito Semi-Bold"/>
                <a:ea typeface="Nunito Semi-Bold"/>
                <a:cs typeface="Nunito Semi-Bold"/>
                <a:sym typeface="Nunito Semi-Bold"/>
              </a:rPr>
              <a:t> (a few dozen players), not the full catalogue.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8" name="Picture 7" descr="image.png"/>
          <p:cNvPicPr>
            <a:picLocks noChangeAspect="1"/>
          </p:cNvPicPr>
          <p:nvPr/>
        </p:nvPicPr>
        <p:blipFill>
          <a:blip r:embed="rId2"/>
          <a:stretch>
            <a:fillRect/>
          </a:stretch>
        </p:blipFill>
        <p:spPr>
          <a:xfrm>
            <a:off x="11509517" y="1673352"/>
            <a:ext cx="457200" cy="415247"/>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TextBox 12"/>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infeasible</a:t>
            </a:r>
            <a:r>
              <a:rPr lang="en-US" sz="2100" b="true">
                <a:solidFill>
                  <a:srgbClr val="111111"/>
                </a:solidFill>
                <a:latin typeface="Nunito Semi-Bold"/>
                <a:ea typeface="Nunito Semi-Bold"/>
                <a:cs typeface="Nunito Semi-Bold"/>
                <a:sym typeface="Nunito Semi-Bold"/>
              </a:rPr>
              <a:t> for realistic systems.</a:t>
            </a:r>
          </a:p>
        </p:txBody>
      </p:sp>
      <p:sp>
        <p:nvSpPr>
          <p:cNvPr id="14" name="Rounded Rectangle 13"/>
          <p:cNvSpPr/>
          <p:nvPr/>
        </p:nvSpPr>
        <p:spPr>
          <a:xfrm>
            <a:off x="1028700" y="3866642"/>
            <a:ext cx="8595360" cy="2834640"/>
          </a:xfrm>
          <a:prstGeom prst="roundRect">
            <a:avLst>
              <a:gd name="adj" fmla="val 645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15"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124944"/>
                              </a:solidFill>
                              <a:latin typeface="Cambria Math" panose="02040503050406030204" pitchFamily="18" charset="0"/>
                            </a:rPr>
                          </m:ctrlPr>
                        </m:sSubPr>
                        <m:e>
                          <m:acc>
                            <m:accPr>
                              <m:chr m:val="̂"/>
                              <m:ctrlPr>
                                <a:rPr lang="en-US" sz="2350" i="1">
                                  <a:solidFill>
                                    <a:srgbClr val="124944"/>
                                  </a:solidFill>
                                  <a:latin typeface="Cambria Math" panose="02040503050406030204" pitchFamily="18" charset="0"/>
                                </a:rPr>
                              </m:ctrlPr>
                            </m:accPr>
                            <m:e>
                              <m:r>
                                <a:rPr lang="en-US" sz="2350" i="1">
                                  <a:solidFill>
                                    <a:srgbClr val="124944"/>
                                  </a:solidFill>
                                  <a:latin typeface="Cambria Math" panose="02040503050406030204" pitchFamily="18" charset="0"/>
                                </a:rPr>
                                <m:t xml:space="preserve">φ</m:t>
                              </m:r>
                            </m:e>
                          </m:acc>
                        </m:e>
                        <m:sub>
                          <m:r>
                            <a:rPr lang="en-US" sz="2350" i="1">
                              <a:solidFill>
                                <a:srgbClr val="124944"/>
                              </a:solidFill>
                              <a:latin typeface="Cambria Math" panose="02040503050406030204" pitchFamily="18" charset="0"/>
                            </a:rPr>
                            <m:t xml:space="preserve">j</m:t>
                          </m:r>
                        </m:sub>
                      </m:sSub>
                      <m:r>
                        <m:rPr>
                          <m:sty m:val="p"/>
                        </m:rPr>
                        <a:rPr lang="en-US" sz="2350">
                          <a:solidFill>
                            <a:srgbClr val="124944"/>
                          </a:solidFill>
                          <a:latin typeface="Cambria Math" panose="02040503050406030204" pitchFamily="18" charset="0"/>
                        </a:rPr>
                        <m:t xml:space="preserve">=</m:t>
                      </m:r>
                      <m:f>
                        <m:fPr>
                          <m:ctrlPr>
                            <a:rPr lang="en-US" sz="2350" i="1">
                              <a:solidFill>
                                <a:srgbClr val="124944"/>
                              </a:solidFill>
                              <a:latin typeface="Cambria Math" panose="02040503050406030204" pitchFamily="18" charset="0"/>
                            </a:rPr>
                          </m:ctrlPr>
                        </m:fPr>
                        <m:num>
                          <m:r>
                            <m:rPr>
                              <m:sty m:val="p"/>
                            </m:rPr>
                            <a:rPr lang="en-US" sz="2350">
                              <a:solidFill>
                                <a:srgbClr val="124944"/>
                              </a:solidFill>
                              <a:latin typeface="Cambria Math" panose="02040503050406030204" pitchFamily="18" charset="0"/>
                            </a:rPr>
                            <m:t xml:space="preserve">1</m:t>
                          </m:r>
                        </m:num>
                        <m:den>
                          <m:r>
                            <a:rPr lang="en-US" sz="2350" i="1">
                              <a:solidFill>
                                <a:srgbClr val="124944"/>
                              </a:solidFill>
                              <a:latin typeface="Cambria Math" panose="02040503050406030204" pitchFamily="18" charset="0"/>
                            </a:rPr>
                            <m:t xml:space="preserve">M</m:t>
                          </m:r>
                        </m:den>
                      </m:f>
                      <m:nary>
                        <m:naryPr>
                          <m:chr m:val="∑"/>
                          <m:limLoc m:val="undOvr"/>
                          <m:ctrlPr>
                            <a:rPr lang="en-US" sz="2350" i="1">
                              <a:solidFill>
                                <a:srgbClr val="124944"/>
                              </a:solidFill>
                              <a:latin typeface="Cambria Math" panose="02040503050406030204" pitchFamily="18" charset="0"/>
                            </a:rPr>
                          </m:ctrlPr>
                        </m:naryPr>
                        <m:sub>
                          <m:r>
                            <a:rPr lang="en-US" sz="2350" i="1">
                              <a:solidFill>
                                <a:srgbClr val="124944"/>
                              </a:solidFill>
                              <a:latin typeface="Cambria Math" panose="02040503050406030204" pitchFamily="18" charset="0"/>
                            </a:rPr>
                            <m:t xml:space="preserve">m</m:t>
                          </m:r>
                          <m:r>
                            <m:rPr>
                              <m:sty m:val="p"/>
                            </m:rPr>
                            <a:rPr lang="en-US" sz="2350">
                              <a:solidFill>
                                <a:srgbClr val="124944"/>
                              </a:solidFill>
                              <a:latin typeface="Cambria Math" panose="02040503050406030204" pitchFamily="18" charset="0"/>
                            </a:rPr>
                            <m:t xml:space="preserve">=1</m:t>
                          </m:r>
                        </m:sub>
                        <m:sup>
                          <m:r>
                            <a:rPr lang="en-US" sz="2350" i="1">
                              <a:solidFill>
                                <a:srgbClr val="124944"/>
                              </a:solidFill>
                              <a:latin typeface="Cambria Math" panose="02040503050406030204" pitchFamily="18" charset="0"/>
                            </a:rPr>
                            <m:t xml:space="preserve">M</m:t>
                          </m:r>
                        </m:sup>
                        <m:e>
                          <m:d>
                            <m:dPr>
                              <m:begChr m:val="["/>
                              <m:endChr m:val="]"/>
                              <m:ctrlPr>
                                <a:rPr lang="en-US" sz="2350" i="1">
                                  <a:solidFill>
                                    <a:srgbClr val="124944"/>
                                  </a:solidFill>
                                  <a:latin typeface="Cambria Math" panose="02040503050406030204" pitchFamily="18" charset="0"/>
                                </a:rPr>
                              </m:ctrlPr>
                            </m:dPr>
                            <m:e>
                              <m:r>
                                <m:rPr>
                                  <m:sty m:val="p"/>
                                </m:rPr>
                                <a:rPr lang="en-US" sz="2350">
                                  <a:solidFill>
                                    <a:srgbClr val="124944"/>
                                  </a:solidFill>
                                  <a:latin typeface="Cambria Math" panose="02040503050406030204" pitchFamily="18" charset="0"/>
                                </a:rPr>
                                <m:t xml:space="preserve"> </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j</m:t>
                              </m:r>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 </m:t>
                              </m:r>
                            </m:e>
                          </m:d>
                        </m:e>
                      </m:nary>
                    </m:oMath>
                  </m:oMathPara>
                </a14:m>
                <a:endParaRPr lang="en-US" sz="2350"/>
              </a:p>
            </p:txBody>
          </p:sp>
        </mc:Choice>
        <mc:Fallback>
          <p:sp>
            <p:nvSpPr>
              <p:cNvPr id="15"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16"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DF8330"/>
                              </a:solidFill>
                              <a:latin typeface="Cambria Math" panose="02040503050406030204" pitchFamily="18" charset="0"/>
                            </a:rPr>
                          </m:ctrlPr>
                        </m:sSubSupPr>
                        <m:e>
                          <m:acc>
                            <m:accPr>
                              <m:chr m:val="̂"/>
                              <m:ctrlPr>
                                <a:rPr lang="en-US" sz="2350" i="1">
                                  <a:solidFill>
                                    <a:srgbClr val="DF8330"/>
                                  </a:solidFill>
                                  <a:latin typeface="Cambria Math" panose="02040503050406030204" pitchFamily="18" charset="0"/>
                                </a:rPr>
                              </m:ctrlPr>
                            </m:accPr>
                            <m:e>
                              <m:r>
                                <a:rPr lang="en-US" sz="2350" i="1">
                                  <a:solidFill>
                                    <a:srgbClr val="DF8330"/>
                                  </a:solidFill>
                                  <a:latin typeface="Cambria Math" panose="02040503050406030204" pitchFamily="18" charset="0"/>
                                </a:rPr>
                                <m:t xml:space="preserve">φ</m:t>
                              </m:r>
                            </m:e>
                          </m:acc>
                        </m:e>
                        <m:sub>
                          <m:r>
                            <a:rPr lang="en-US" sz="2350" i="1">
                              <a:solidFill>
                                <a:srgbClr val="DF8330"/>
                              </a:solidFill>
                              <a:latin typeface="Cambria Math" panose="02040503050406030204" pitchFamily="18" charset="0"/>
                            </a:rPr>
                            <m:t xml:space="preserve">j</m:t>
                          </m:r>
                        </m:sub>
                        <m:sup>
                          <m:r>
                            <m:rPr>
                              <m:sty m:val="p"/>
                            </m:rPr>
                            <a:rPr lang="en-US" sz="2350">
                              <a:solidFill>
                                <a:srgbClr val="DF8330"/>
                              </a:solidFill>
                              <a:latin typeface="Cambria Math" panose="02040503050406030204" pitchFamily="18" charset="0"/>
                            </a:rPr>
                            <m:t xml:space="preserve"> pref</m:t>
                          </m:r>
                        </m:sup>
                      </m:sSubSup>
                      <m:r>
                        <m:rPr>
                          <m:sty m:val="p"/>
                        </m:rPr>
                        <a:rPr lang="en-US" sz="2350">
                          <a:solidFill>
                            <a:srgbClr val="DF8330"/>
                          </a:solidFill>
                          <a:latin typeface="Cambria Math" panose="02040503050406030204" pitchFamily="18" charset="0"/>
                        </a:rPr>
                        <m:t xml:space="preserve">=</m:t>
                      </m:r>
                      <m:f>
                        <m:fPr>
                          <m:ctrlPr>
                            <a:rPr lang="en-US" sz="2350" i="1">
                              <a:solidFill>
                                <a:srgbClr val="DF8330"/>
                              </a:solidFill>
                              <a:latin typeface="Cambria Math" panose="02040503050406030204" pitchFamily="18" charset="0"/>
                            </a:rPr>
                          </m:ctrlPr>
                        </m:fPr>
                        <m:num>
                          <m:r>
                            <m:rPr>
                              <m:sty m:val="p"/>
                            </m:rPr>
                            <a:rPr lang="en-US" sz="2350">
                              <a:solidFill>
                                <a:srgbClr val="DF8330"/>
                              </a:solidFill>
                              <a:latin typeface="Cambria Math" panose="02040503050406030204" pitchFamily="18" charset="0"/>
                            </a:rPr>
                            <m:t xml:space="preserve">1</m:t>
                          </m:r>
                        </m:num>
                        <m:den>
                          <m:r>
                            <a:rPr lang="en-US" sz="2350" i="1">
                              <a:solidFill>
                                <a:srgbClr val="DF8330"/>
                              </a:solidFill>
                              <a:latin typeface="Cambria Math" panose="02040503050406030204" pitchFamily="18" charset="0"/>
                            </a:rPr>
                            <m:t xml:space="preserve">M</m:t>
                          </m:r>
                        </m:den>
                      </m:f>
                      <m:nary>
                        <m:naryPr>
                          <m:chr m:val="∑"/>
                          <m:limLoc m:val="undOvr"/>
                          <m:ctrlPr>
                            <a:rPr lang="en-US" sz="2350" i="1">
                              <a:solidFill>
                                <a:srgbClr val="DF8330"/>
                              </a:solidFill>
                              <a:latin typeface="Cambria Math" panose="02040503050406030204" pitchFamily="18" charset="0"/>
                            </a:rPr>
                          </m:ctrlPr>
                        </m:naryPr>
                        <m:sub>
                          <m:r>
                            <a:rPr lang="en-US" sz="2350" i="1">
                              <a:solidFill>
                                <a:srgbClr val="DF8330"/>
                              </a:solidFill>
                              <a:latin typeface="Cambria Math" panose="02040503050406030204" pitchFamily="18" charset="0"/>
                            </a:rPr>
                            <m:t xml:space="preserve">m</m:t>
                          </m:r>
                          <m:r>
                            <m:rPr>
                              <m:sty m:val="p"/>
                            </m:rPr>
                            <a:rPr lang="en-US" sz="2350">
                              <a:solidFill>
                                <a:srgbClr val="DF8330"/>
                              </a:solidFill>
                              <a:latin typeface="Cambria Math" panose="02040503050406030204" pitchFamily="18" charset="0"/>
                            </a:rPr>
                            <m:t xml:space="preserve">=1</m:t>
                          </m:r>
                        </m:sub>
                        <m:sup>
                          <m:r>
                            <a:rPr lang="en-US" sz="2350" i="1">
                              <a:solidFill>
                                <a:srgbClr val="DF8330"/>
                              </a:solidFill>
                              <a:latin typeface="Cambria Math" panose="02040503050406030204" pitchFamily="18" charset="0"/>
                            </a:rPr>
                            <m:t xml:space="preserve">M</m:t>
                          </m:r>
                        </m:sup>
                        <m:e>
                          <m:d>
                            <m:dPr>
                              <m:begChr m:val="["/>
                              <m:endChr m:val="]"/>
                              <m:ctrlPr>
                                <a:rPr lang="en-US" sz="2350" i="1">
                                  <a:solidFill>
                                    <a:srgbClr val="DF8330"/>
                                  </a:solidFill>
                                  <a:latin typeface="Cambria Math" panose="02040503050406030204" pitchFamily="18" charset="0"/>
                                </a:rPr>
                              </m:ctrlPr>
                            </m:dPr>
                            <m:e>
                              <m:r>
                                <m:rPr>
                                  <m:sty m:val="p"/>
                                </m:rPr>
                                <a:rPr lang="en-US" sz="2350">
                                  <a:solidFill>
                                    <a:srgbClr val="DF8330"/>
                                  </a:solidFill>
                                  <a:latin typeface="Cambria Math" panose="02040503050406030204" pitchFamily="18" charset="0"/>
                                </a:rPr>
                                <m:t xml:space="preserve"> </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m:t>
                              </m:r>
                              <m:r>
                                <a:rPr lang="en-US" sz="2350" i="1">
                                  <a:solidFill>
                                    <a:srgbClr val="DF8330"/>
                                  </a:solidFill>
                                  <a:latin typeface="Cambria Math" panose="02040503050406030204" pitchFamily="18" charset="0"/>
                                </a:rPr>
                                <m:t xml:space="preserve">j</m:t>
                              </m:r>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 </m:t>
                              </m:r>
                            </m:e>
                          </m:d>
                        </m:e>
                      </m:nary>
                    </m:oMath>
                  </m:oMathPara>
                </a14:m>
                <a:endParaRPr lang="en-US" sz="2350"/>
              </a:p>
            </p:txBody>
          </p:sp>
        </mc:Choice>
        <mc:Fallback>
          <p:sp>
            <p:nvSpPr>
              <p:cNvPr id="16"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17"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17" name="Equation"/>
              <p:cNvSpPr txBox="1"/>
              <p:nvPr/>
            </p:nvSpPr>
            <p:spPr>
              <a:xfrm>
                <a:off x="1211580" y="6838442"/>
                <a:ext cx="8229600" cy="548640"/>
              </a:xfrm>
              <a:prstGeom prst="rect">
                <a:avLst/>
              </a:prstGeom>
              <a:blipFill>
                <a:blip r:embed="rId6"/>
                <a:stretch>
                  <a:fillRect/>
                </a:stretch>
              </a:blipFill>
            </p:spPr>
            <p:txBody>
              <a:bodyPr/>
              <a:lstStyle/>
              <a:p>
                <a:endParaRPr lang="en-US"/>
              </a:p>
            </p:txBody>
          </p:sp>
        </mc:Fallback>
      </mc:AlternateContent>
      <p:sp>
        <p:nvSpPr>
          <p:cNvPr id="18" name="TextBox 17"/>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DF8330"/>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 error shrinks with the number of sampled permutations M.</a:t>
            </a:r>
          </a:p>
          <a:p>
            <a:pPr algn="l" marL="274320" indent="-274320">
              <a:lnSpc>
                <a:spcPts val="2475"/>
              </a:lnSpc>
              <a:spcBef>
                <a:spcPts val="704"/>
              </a:spcBef>
              <a:buClr>
                <a:srgbClr val="DF8330"/>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DF8330"/>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19" name="Table 18"/>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0" name="TextBox 19"/>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illustrate the O(1/M) trend.</a:t>
            </a:r>
          </a:p>
        </p:txBody>
      </p:sp>
      <p:sp>
        <p:nvSpPr>
          <p:cNvPr id="21" name="Rounded Rectangle 20"/>
          <p:cNvSpPr/>
          <p:nvPr/>
        </p:nvSpPr>
        <p:spPr>
          <a:xfrm>
            <a:off x="10172700" y="6362954"/>
            <a:ext cx="7086600" cy="2945638"/>
          </a:xfrm>
          <a:prstGeom prst="roundRect">
            <a:avLst>
              <a:gd name="adj" fmla="val 10554"/>
            </a:avLst>
          </a:prstGeom>
          <a:solidFill>
            <a:srgbClr val="124944"/>
          </a:solidFill>
          <a:ln>
            <a:noFill/>
          </a:ln>
        </p:spPr>
        <p:txBody>
          <a:bodyPr anchor="ctr" rtlCol="false" lIns="0" tIns="0" rIns="0" bIns="0" wrap="square"/>
          <a:lstStyle/>
          <a:p>
            <a:endParaRPr lang="en-US" sz="1800"/>
          </a:p>
        </p:txBody>
      </p:sp>
      <p:sp>
        <p:nvSpPr>
          <p:cNvPr id="22" name="Rounded Rectangle 21"/>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In the training loop</a:t>
            </a:r>
          </a:p>
        </p:txBody>
      </p:sp>
      <p:sp>
        <p:nvSpPr>
          <p:cNvPr id="23" name="TextBox 22"/>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24"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24" name="Equation"/>
              <p:cNvSpPr txBox="1"/>
              <p:nvPr/>
            </p:nvSpPr>
            <p:spPr>
              <a:xfrm>
                <a:off x="10629900" y="8531352"/>
                <a:ext cx="6172200" cy="594360"/>
              </a:xfrm>
              <a:prstGeom prst="rect">
                <a:avLst/>
              </a:prstGeom>
              <a:blipFill>
                <a:blip r:embed="rId7"/>
                <a:stretch>
                  <a:fillRect/>
                </a:stretch>
              </a:blipFill>
            </p:spPr>
            <p:txBody>
              <a:bodyPr/>
              <a:lstStyle/>
              <a:p>
                <a:endParaRPr lang="en-US"/>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8" name="Picture 7" descr="image.png"/>
          <p:cNvPicPr>
            <a:picLocks noChangeAspect="1"/>
          </p:cNvPicPr>
          <p:nvPr/>
        </p:nvPicPr>
        <p:blipFill>
          <a:blip r:embed="rId2"/>
          <a:stretch>
            <a:fillRect/>
          </a:stretch>
        </p:blipFill>
        <p:spPr>
          <a:xfrm>
            <a:off x="13838915" y="1673352"/>
            <a:ext cx="457200" cy="452148"/>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363722"/>
            <a:ext cx="16230600" cy="2011680"/>
          </a:xfrm>
          <a:prstGeom prst="roundRect">
            <a:avLst>
              <a:gd name="adj" fmla="val 11363"/>
            </a:avLst>
          </a:prstGeom>
          <a:solidFill>
            <a:srgbClr val="FFFFFF"/>
          </a:solidFill>
          <a:ln w="15875">
            <a:solidFill>
              <a:srgbClr val="E3D6C4"/>
            </a:solidFill>
          </a:ln>
        </p:spPr>
        <p:txBody>
          <a:bodyPr anchor="ctr" rtlCol="false" lIns="0" tIns="0" rIns="0" bIns="0" wrap="square"/>
          <a:lstStyle/>
          <a:p>
            <a:endParaRPr lang="en-US" sz="1800"/>
          </a:p>
        </p:txBody>
      </p:sp>
      <p:pic>
        <p:nvPicPr>
          <p:cNvPr id="14" name="Picture 13" descr="dyhucog_arch.png"/>
          <p:cNvPicPr>
            <a:picLocks noChangeAspect="1"/>
          </p:cNvPicPr>
          <p:nvPr/>
        </p:nvPicPr>
        <p:blipFill>
          <a:blip r:embed="rId4"/>
          <a:stretch>
            <a:fillRect/>
          </a:stretch>
        </p:blipFill>
        <p:spPr>
          <a:xfrm>
            <a:off x="5541403" y="3500882"/>
            <a:ext cx="7205193" cy="1737360"/>
          </a:xfrm>
          <a:prstGeom prst="rect">
            <a:avLst/>
          </a:prstGeom>
        </p:spPr>
      </p:pic>
      <p:sp>
        <p:nvSpPr>
          <p:cNvPr id="15" name="Rounded Rectangle 14"/>
          <p:cNvSpPr/>
          <p:nvPr/>
        </p:nvSpPr>
        <p:spPr>
          <a:xfrm>
            <a:off x="1028700" y="5604002"/>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16" name="TextBox 15"/>
          <p:cNvSpPr txBox="1"/>
          <p:nvPr/>
        </p:nvSpPr>
        <p:spPr>
          <a:xfrm>
            <a:off x="1348740" y="5604002"/>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17" name="Equation"/>
              <p:cNvSpPr txBox="1"/>
              <p:nvPr/>
            </p:nvSpPr>
            <p:spPr>
              <a:xfrm>
                <a:off x="4686300" y="5604002"/>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17" name="Equation"/>
              <p:cNvSpPr txBox="1"/>
              <p:nvPr/>
            </p:nvSpPr>
            <p:spPr>
              <a:xfrm>
                <a:off x="4686300" y="5604002"/>
                <a:ext cx="12298680" cy="686054"/>
              </a:xfrm>
              <a:prstGeom prst="rect">
                <a:avLst/>
              </a:prstGeom>
              <a:blipFill>
                <a:blip r:embed="rId5"/>
                <a:stretch>
                  <a:fillRect/>
                </a:stretch>
              </a:blipFill>
            </p:spPr>
            <p:txBody>
              <a:bodyPr/>
              <a:lstStyle/>
              <a:p>
                <a:endParaRPr lang="en-US"/>
              </a:p>
            </p:txBody>
          </p:sp>
        </mc:Fallback>
      </mc:AlternateContent>
      <p:sp>
        <p:nvSpPr>
          <p:cNvPr id="18" name="Rounded Rectangle 17"/>
          <p:cNvSpPr/>
          <p:nvPr/>
        </p:nvSpPr>
        <p:spPr>
          <a:xfrm>
            <a:off x="1028700" y="6381496"/>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19" name="TextBox 18"/>
          <p:cNvSpPr txBox="1"/>
          <p:nvPr/>
        </p:nvSpPr>
        <p:spPr>
          <a:xfrm>
            <a:off x="1348740" y="6381496"/>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20" name="Equation"/>
              <p:cNvSpPr txBox="1"/>
              <p:nvPr/>
            </p:nvSpPr>
            <p:spPr>
              <a:xfrm>
                <a:off x="4686300" y="6381496"/>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+1)</m:t>
                          </m:r>
                        </m:sup>
                      </m:sSub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σ</m:t>
                      </m:r>
                      <m:d>
                        <m:dPr>
                          <m:ctrlPr>
                            <a:rPr lang="en-US" sz="1950" i="1">
                              <a:solidFill>
                                <a:srgbClr val="111111"/>
                              </a:solidFill>
                              <a:latin typeface="Cambria Math" panose="02040503050406030204" pitchFamily="18" charset="0"/>
                            </a:rPr>
                          </m:ctrlPr>
                        </m:dPr>
                        <m:e>
                          <m:sSup>
                            <m:sSupPr>
                              <m:ctrlPr>
                                <a:rPr lang="en-US" sz="1950" i="1">
                                  <a:solidFill>
                                    <a:srgbClr val="111111"/>
                                  </a:solidFill>
                                  <a:latin typeface="Cambria Math" panose="02040503050406030204" pitchFamily="18" charset="0"/>
                                </a:rPr>
                              </m:ctrlPr>
                            </m:sSupPr>
                            <m:e>
                              <m:r>
                                <a:rPr lang="en-US" sz="1950" i="1">
                                  <a:solidFill>
                                    <a:srgbClr val="111111"/>
                                  </a:solidFill>
                                  <a:latin typeface="Cambria Math" panose="02040503050406030204" pitchFamily="18" charset="0"/>
                                </a:rPr>
                                <m:t xml:space="preserve">W</m:t>
                              </m:r>
                            </m:e>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p>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r>
                            <m:rPr>
                              <m:sty m:val="p"/>
                            </m:rPr>
                            <a:rPr lang="en-US" sz="1950">
                              <a:solidFill>
                                <a:srgbClr val="111111"/>
                              </a:solidFill>
                              <a:latin typeface="Cambria Math" panose="02040503050406030204" pitchFamily="18" charset="0"/>
                            </a:rPr>
                            <m:t xml:space="preserve">+</m:t>
                          </m:r>
                          <m:nary>
                            <m:naryPr>
                              <m:chr m:val="∑"/>
                              <m:limLoc m:val="subSup"/>
                              <m:supHide m:val="1"/>
                              <m:ctrlPr>
                                <a:rPr lang="en-US" sz="1950" i="1">
                                  <a:solidFill>
                                    <a:srgbClr val="111111"/>
                                  </a:solidFill>
                                  <a:latin typeface="Cambria Math" panose="02040503050406030204" pitchFamily="18" charset="0"/>
                                </a:rPr>
                              </m:ctrlPr>
                            </m:naryPr>
                            <m:sub>
                              <m:r>
                                <a:rPr lang="en-US" sz="1950" i="1">
                                  <a:solidFill>
                                    <a:srgbClr val="111111"/>
                                  </a:solidFill>
                                  <a:latin typeface="Cambria Math" panose="02040503050406030204" pitchFamily="18" charset="0"/>
                                </a:rPr>
                                <m:t xml:space="preserve">k</m:t>
                              </m:r>
                              <m:r>
                                <m:rPr>
                                  <m:sty m:val="p"/>
                                </m:rPr>
                                <a:rPr lang="en-US" sz="1950">
                                  <a:solidFill>
                                    <a:srgbClr val="111111"/>
                                  </a:solidFill>
                                  <a:latin typeface="Cambria Math" panose="02040503050406030204" pitchFamily="18" charset="0"/>
                                </a:rPr>
                                <m:t xml:space="preserve">∈</m:t>
                              </m:r>
                              <m:r>
                                <m:rPr>
                                  <m:scr m:val="script"/>
                                  <m:sty m:val="p"/>
                                </m:rPr>
                                <a:rPr lang="en-US" sz="1950">
                                  <a:solidFill>
                                    <a:srgbClr val="111111"/>
                                  </a:solidFill>
                                  <a:latin typeface="Cambria Math" panose="02040503050406030204" pitchFamily="18" charset="0"/>
                                </a:rPr>
                                <m:t xml:space="preserve">N</m:t>
                              </m:r>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j</m:t>
                              </m:r>
                              <m:r>
                                <m:rPr>
                                  <m:sty m:val="p"/>
                                </m:rPr>
                                <a:rPr lang="en-US" sz="1950">
                                  <a:solidFill>
                                    <a:srgbClr val="111111"/>
                                  </a:solidFill>
                                  <a:latin typeface="Cambria Math" panose="02040503050406030204" pitchFamily="18" charset="0"/>
                                </a:rPr>
                                <m:t xml:space="preserve">)</m:t>
                              </m:r>
                            </m:sub>
                            <m:sup/>
                            <m:e>
                              <m:sSub>
                                <m:sSubPr>
                                  <m:ctrlPr>
                                    <a:rPr lang="en-US" sz="1950" i="1">
                                      <a:solidFill>
                                        <a:srgbClr val="111111"/>
                                      </a:solidFill>
                                      <a:latin typeface="Cambria Math" panose="02040503050406030204" pitchFamily="18" charset="0"/>
                                    </a:rPr>
                                  </m:ctrlPr>
                                </m:sSubPr>
                                <m:e>
                                  <m:r>
                                    <a:rPr lang="en-US" sz="1950" i="1">
                                      <a:solidFill>
                                        <a:srgbClr val="111111"/>
                                      </a:solidFill>
                                      <a:latin typeface="Cambria Math" panose="02040503050406030204" pitchFamily="18" charset="0"/>
                                    </a:rPr>
                                    <m:t xml:space="preserve">w</m:t>
                                  </m:r>
                                </m:e>
                                <m:sub>
                                  <m:r>
                                    <a:rPr lang="en-US" sz="1950" i="1">
                                      <a:solidFill>
                                        <a:srgbClr val="111111"/>
                                      </a:solidFill>
                                      <a:latin typeface="Cambria Math" panose="02040503050406030204" pitchFamily="18" charset="0"/>
                                    </a:rPr>
                                    <m:t xml:space="preserve">jk</m:t>
                                  </m:r>
                                </m:sub>
                              </m:sSub>
                            </m:e>
                          </m:nary>
                          <m:r>
                            <m:rPr>
                              <m:sty m:val="p"/>
                            </m:rPr>
                            <a:rPr lang="en-US" sz="1950">
                              <a:solidFill>
                                <a:srgbClr val="111111"/>
                              </a:solidFill>
                              <a:latin typeface="Cambria Math" panose="02040503050406030204" pitchFamily="18" charset="0"/>
                            </a:rPr>
                            <m:t xml:space="preserve"> </m:t>
                          </m:r>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k</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e>
                      </m:d>
                    </m:oMath>
                  </m:oMathPara>
                </a14:m>
                <a:endParaRPr lang="en-US" sz="1950"/>
              </a:p>
            </p:txBody>
          </p:sp>
        </mc:Choice>
        <mc:Fallback>
          <p:sp>
            <p:nvSpPr>
              <p:cNvPr id="20" name="Equation"/>
              <p:cNvSpPr txBox="1"/>
              <p:nvPr/>
            </p:nvSpPr>
            <p:spPr>
              <a:xfrm>
                <a:off x="4686300" y="6381496"/>
                <a:ext cx="12298680" cy="686054"/>
              </a:xfrm>
              <a:prstGeom prst="rect">
                <a:avLst/>
              </a:prstGeom>
              <a:blipFill>
                <a:blip r:embed="rId6"/>
                <a:stretch>
                  <a:fillRect/>
                </a:stretch>
              </a:blipFill>
            </p:spPr>
            <p:txBody>
              <a:bodyPr/>
              <a:lstStyle/>
              <a:p>
                <a:endParaRPr lang="en-US"/>
              </a:p>
            </p:txBody>
          </p:sp>
        </mc:Fallback>
      </mc:AlternateContent>
      <p:sp>
        <p:nvSpPr>
          <p:cNvPr id="21" name="Rounded Rectangle 20"/>
          <p:cNvSpPr/>
          <p:nvPr/>
        </p:nvSpPr>
        <p:spPr>
          <a:xfrm>
            <a:off x="1028700" y="7158990"/>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22" name="TextBox 21"/>
          <p:cNvSpPr txBox="1"/>
          <p:nvPr/>
        </p:nvSpPr>
        <p:spPr>
          <a:xfrm>
            <a:off x="1348740" y="7158990"/>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23" name="Equation"/>
              <p:cNvSpPr txBox="1"/>
              <p:nvPr/>
            </p:nvSpPr>
            <p:spPr>
              <a:xfrm>
                <a:off x="4686300" y="7158990"/>
                <a:ext cx="937260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 / </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e>
                      </m:nary>
                    </m:oMath>
                  </m:oMathPara>
                </a14:m>
                <a:endParaRPr lang="en-US" sz="2200"/>
              </a:p>
            </p:txBody>
          </p:sp>
        </mc:Choice>
        <mc:Fallback>
          <p:sp>
            <p:nvSpPr>
              <p:cNvPr id="23" name="Equation"/>
              <p:cNvSpPr txBox="1"/>
              <p:nvPr/>
            </p:nvSpPr>
            <p:spPr>
              <a:xfrm>
                <a:off x="4686300" y="7158990"/>
                <a:ext cx="9372600" cy="686054"/>
              </a:xfrm>
              <a:prstGeom prst="rect">
                <a:avLst/>
              </a:prstGeom>
              <a:blipFill>
                <a:blip r:embed="rId7"/>
                <a:stretch>
                  <a:fillRect/>
                </a:stretch>
              </a:blipFill>
            </p:spPr>
            <p:txBody>
              <a:bodyPr/>
              <a:lstStyle/>
              <a:p>
                <a:endParaRPr lang="en-US"/>
              </a:p>
            </p:txBody>
          </p:sp>
        </mc:Fallback>
      </mc:AlternateContent>
      <p:sp>
        <p:nvSpPr>
          <p:cNvPr id="24" name="TextBox 23"/>
          <p:cNvSpPr txBox="1"/>
          <p:nvPr/>
        </p:nvSpPr>
        <p:spPr>
          <a:xfrm>
            <a:off x="14241780" y="7158990"/>
            <a:ext cx="2743200" cy="686054"/>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25" name="Rounded Rectangle 24"/>
          <p:cNvSpPr/>
          <p:nvPr/>
        </p:nvSpPr>
        <p:spPr>
          <a:xfrm>
            <a:off x="1028700" y="7936484"/>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26" name="TextBox 25"/>
          <p:cNvSpPr txBox="1"/>
          <p:nvPr/>
        </p:nvSpPr>
        <p:spPr>
          <a:xfrm>
            <a:off x="1348740" y="7936484"/>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27" name="Equation"/>
              <p:cNvSpPr txBox="1"/>
              <p:nvPr/>
            </p:nvSpPr>
            <p:spPr>
              <a:xfrm>
                <a:off x="4686300" y="7936484"/>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27" name="Equation"/>
              <p:cNvSpPr txBox="1"/>
              <p:nvPr/>
            </p:nvSpPr>
            <p:spPr>
              <a:xfrm>
                <a:off x="4686300" y="7936484"/>
                <a:ext cx="12298680" cy="686054"/>
              </a:xfrm>
              <a:prstGeom prst="rect">
                <a:avLst/>
              </a:prstGeom>
              <a:blipFill>
                <a:blip r:embed="rId8"/>
                <a:stretch>
                  <a:fillRect/>
                </a:stretch>
              </a:blipFill>
            </p:spPr>
            <p:txBody>
              <a:bodyPr/>
              <a:lstStyle/>
              <a:p>
                <a:endParaRPr lang="en-US"/>
              </a:p>
            </p:txBody>
          </p:sp>
        </mc:Fallback>
      </mc:AlternateContent>
      <p:sp>
        <p:nvSpPr>
          <p:cNvPr id="28" name="Rounded Rectangle 27"/>
          <p:cNvSpPr/>
          <p:nvPr/>
        </p:nvSpPr>
        <p:spPr>
          <a:xfrm>
            <a:off x="1028700" y="8713978"/>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29" name="TextBox 28"/>
          <p:cNvSpPr txBox="1"/>
          <p:nvPr/>
        </p:nvSpPr>
        <p:spPr>
          <a:xfrm>
            <a:off x="1348740" y="8713978"/>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30" name="Equation"/>
              <p:cNvSpPr txBox="1"/>
              <p:nvPr/>
            </p:nvSpPr>
            <p:spPr>
              <a:xfrm>
                <a:off x="4686300" y="8713978"/>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30" name="Equation"/>
              <p:cNvSpPr txBox="1"/>
              <p:nvPr/>
            </p:nvSpPr>
            <p:spPr>
              <a:xfrm>
                <a:off x="4686300" y="8713978"/>
                <a:ext cx="12298680" cy="686054"/>
              </a:xfrm>
              <a:prstGeom prst="rect">
                <a:avLst/>
              </a:prstGeom>
              <a:blipFill>
                <a:blip r:embed="rId9"/>
                <a:stretch>
                  <a:fillRect/>
                </a:stretch>
              </a:blipFill>
            </p:spPr>
            <p:txBody>
              <a:bodyPr/>
              <a:lstStyle/>
              <a:p>
                <a:endParaRPr lang="en-US"/>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Multi-Objective Learning</a:t>
            </a:r>
          </a:p>
        </p:txBody>
      </p:sp>
      <p:pic>
        <p:nvPicPr>
          <p:cNvPr id="8" name="Picture 7" descr="image.png"/>
          <p:cNvPicPr>
            <a:picLocks noChangeAspect="1"/>
          </p:cNvPicPr>
          <p:nvPr/>
        </p:nvPicPr>
        <p:blipFill>
          <a:blip r:embed="rId2"/>
          <a:stretch>
            <a:fillRect/>
          </a:stretch>
        </p:blipFill>
        <p:spPr>
          <a:xfrm>
            <a:off x="7693686" y="1673352"/>
            <a:ext cx="457200" cy="617115"/>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363722"/>
            <a:ext cx="16230600" cy="1188720"/>
          </a:xfrm>
          <a:prstGeom prst="roundRect">
            <a:avLst>
              <a:gd name="adj" fmla="val 23076"/>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14" name="Equation"/>
              <p:cNvSpPr txBox="1"/>
              <p:nvPr/>
            </p:nvSpPr>
            <p:spPr>
              <a:xfrm>
                <a:off x="1394460" y="3363722"/>
                <a:ext cx="1549908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cr m:val="script"/>
                          <m:sty m:val="p"/>
                        </m:rPr>
                        <a:rPr lang="en-US" sz="3000">
                          <a:solidFill>
                            <a:srgbClr val="FFFFFF"/>
                          </a:solidFill>
                          <a:latin typeface="Cambria Math" panose="02040503050406030204" pitchFamily="18" charset="0"/>
                        </a:rPr>
                        <m:t xml:space="preserve">L</m:t>
                      </m:r>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rec</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reg</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reg</m:t>
                          </m:r>
                        </m:sub>
                      </m:sSub>
                    </m:oMath>
                  </m:oMathPara>
                </a14:m>
                <a:endParaRPr lang="en-US" sz="3000"/>
              </a:p>
            </p:txBody>
          </p:sp>
        </mc:Choice>
        <mc:Fallback>
          <p:sp>
            <p:nvSpPr>
              <p:cNvPr id="14" name="Equation"/>
              <p:cNvSpPr txBox="1"/>
              <p:nvPr/>
            </p:nvSpPr>
            <p:spPr>
              <a:xfrm>
                <a:off x="1394460" y="3363722"/>
                <a:ext cx="15499080" cy="1188720"/>
              </a:xfrm>
              <a:prstGeom prst="rect">
                <a:avLst/>
              </a:prstGeom>
              <a:blipFill>
                <a:blip r:embed="rId4"/>
                <a:stretch>
                  <a:fillRect/>
                </a:stretch>
              </a:blipFill>
            </p:spPr>
            <p:txBody>
              <a:bodyPr/>
              <a:lstStyle/>
              <a:p>
                <a:endParaRPr lang="en-US"/>
              </a:p>
            </p:txBody>
          </p:sp>
        </mc:Fallback>
      </mc:AlternateContent>
      <p:sp>
        <p:nvSpPr>
          <p:cNvPr id="15" name="Rounded Rectangle 14"/>
          <p:cNvSpPr/>
          <p:nvPr/>
        </p:nvSpPr>
        <p:spPr>
          <a:xfrm>
            <a:off x="1028700" y="4918202"/>
            <a:ext cx="3851910" cy="3200400"/>
          </a:xfrm>
          <a:prstGeom prst="roundRect">
            <a:avLst>
              <a:gd name="adj" fmla="val 8571"/>
            </a:avLst>
          </a:prstGeom>
          <a:solidFill>
            <a:srgbClr val="124944"/>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Bayesian Personalised Ranking</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pairwise loss for implicit feedback</a:t>
            </a:r>
          </a:p>
        </p:txBody>
      </p:sp>
      <mc:AlternateContent xmlns:mc="http://schemas.openxmlformats.org/markup-compatibility/2006">
        <mc:Choice xmlns:a14="http://schemas.microsoft.com/office/drawing/2010/main" Requires="a14">
          <p:sp>
            <p:nvSpPr>
              <p:cNvPr id="16" name="Equation"/>
              <p:cNvSpPr txBox="1"/>
              <p:nvPr/>
            </p:nvSpPr>
            <p:spPr>
              <a:xfrm>
                <a:off x="139446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rec</m:t>
                          </m:r>
                        </m:sub>
                      </m:sSub>
                    </m:oMath>
                  </m:oMathPara>
                </a14:m>
                <a:endParaRPr lang="en-US" sz="3200"/>
              </a:p>
            </p:txBody>
          </p:sp>
        </mc:Choice>
        <mc:Fallback>
          <p:sp>
            <p:nvSpPr>
              <p:cNvPr id="16" name="Equation"/>
              <p:cNvSpPr txBox="1"/>
              <p:nvPr/>
            </p:nvSpPr>
            <p:spPr>
              <a:xfrm>
                <a:off x="1394460" y="5192522"/>
                <a:ext cx="1828800" cy="777240"/>
              </a:xfrm>
              <a:prstGeom prst="rect">
                <a:avLst/>
              </a:prstGeom>
              <a:blipFill>
                <a:blip r:embed="rId5"/>
                <a:stretch>
                  <a:fillRect/>
                </a:stretch>
              </a:blipFill>
            </p:spPr>
            <p:txBody>
              <a:bodyPr/>
              <a:lstStyle/>
              <a:p>
                <a:endParaRPr lang="en-US"/>
              </a:p>
            </p:txBody>
          </p:sp>
        </mc:Fallback>
      </mc:AlternateContent>
      <p:sp>
        <p:nvSpPr>
          <p:cNvPr id="17" name="Rounded Rectangle 16"/>
          <p:cNvSpPr/>
          <p:nvPr/>
        </p:nvSpPr>
        <p:spPr>
          <a:xfrm>
            <a:off x="5154930" y="4918202"/>
            <a:ext cx="3851910" cy="3200400"/>
          </a:xfrm>
          <a:prstGeom prst="roundRect">
            <a:avLst>
              <a:gd name="adj" fmla="val 8571"/>
            </a:avLst>
          </a:prstGeom>
          <a:solidFill>
            <a:srgbClr val="1E5F58"/>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Intra-List Diversity regulariser</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penalises redundant ranked lists</a:t>
            </a:r>
          </a:p>
        </p:txBody>
      </p:sp>
      <mc:AlternateContent xmlns:mc="http://schemas.openxmlformats.org/markup-compatibility/2006">
        <mc:Choice xmlns:a14="http://schemas.microsoft.com/office/drawing/2010/main" Requires="a14">
          <p:sp>
            <p:nvSpPr>
              <p:cNvPr id="18" name="Equation"/>
              <p:cNvSpPr txBox="1"/>
              <p:nvPr/>
            </p:nvSpPr>
            <p:spPr>
              <a:xfrm>
                <a:off x="552069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div</m:t>
                          </m:r>
                        </m:sub>
                      </m:sSub>
                    </m:oMath>
                  </m:oMathPara>
                </a14:m>
                <a:endParaRPr lang="en-US" sz="3200"/>
              </a:p>
            </p:txBody>
          </p:sp>
        </mc:Choice>
        <mc:Fallback>
          <p:sp>
            <p:nvSpPr>
              <p:cNvPr id="18" name="Equation"/>
              <p:cNvSpPr txBox="1"/>
              <p:nvPr/>
            </p:nvSpPr>
            <p:spPr>
              <a:xfrm>
                <a:off x="5520690" y="5192522"/>
                <a:ext cx="1828800" cy="777240"/>
              </a:xfrm>
              <a:prstGeom prst="rect">
                <a:avLst/>
              </a:prstGeom>
              <a:blipFill>
                <a:blip r:embed="rId6"/>
                <a:stretch>
                  <a:fillRect/>
                </a:stretch>
              </a:blipFill>
            </p:spPr>
            <p:txBody>
              <a:bodyPr/>
              <a:lstStyle/>
              <a:p>
                <a:endParaRPr lang="en-US"/>
              </a:p>
            </p:txBody>
          </p:sp>
        </mc:Fallback>
      </mc:AlternateContent>
      <p:sp>
        <p:nvSpPr>
          <p:cNvPr id="19" name="Rounded Rectangle 18"/>
          <p:cNvSpPr/>
          <p:nvPr/>
        </p:nvSpPr>
        <p:spPr>
          <a:xfrm>
            <a:off x="9281160" y="4918202"/>
            <a:ext cx="3851910" cy="3200400"/>
          </a:xfrm>
          <a:prstGeom prst="roundRect">
            <a:avLst>
              <a:gd name="adj" fmla="val 8571"/>
            </a:avLst>
          </a:prstGeom>
          <a:solidFill>
            <a:srgbClr val="DF8330"/>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Context alignment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match context embedding to context-node representation</a:t>
            </a:r>
          </a:p>
        </p:txBody>
      </p:sp>
      <mc:AlternateContent xmlns:mc="http://schemas.openxmlformats.org/markup-compatibility/2006">
        <mc:Choice xmlns:a14="http://schemas.microsoft.com/office/drawing/2010/main" Requires="a14">
          <p:sp>
            <p:nvSpPr>
              <p:cNvPr id="20" name="Equation"/>
              <p:cNvSpPr txBox="1"/>
              <p:nvPr/>
            </p:nvSpPr>
            <p:spPr>
              <a:xfrm>
                <a:off x="964692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FFFFFF"/>
                              </a:solidFill>
                              <a:latin typeface="Cambria Math" panose="02040503050406030204" pitchFamily="18" charset="0"/>
                            </a:rPr>
                          </m:ctrlPr>
                        </m:sSubPr>
                        <m:e>
                          <m:r>
                            <m:rPr>
                              <m:scr m:val="script"/>
                              <m:sty m:val="p"/>
                            </m:rPr>
                            <a:rPr lang="en-US" sz="3200">
                              <a:solidFill>
                                <a:srgbClr val="FFFFFF"/>
                              </a:solidFill>
                              <a:latin typeface="Cambria Math" panose="02040503050406030204" pitchFamily="18" charset="0"/>
                            </a:rPr>
                            <m:t xml:space="preserve">L</m:t>
                          </m:r>
                        </m:e>
                        <m:sub>
                          <m:r>
                            <m:rPr>
                              <m:sty m:val="p"/>
                            </m:rPr>
                            <a:rPr lang="en-US" sz="3200">
                              <a:solidFill>
                                <a:srgbClr val="FFFFFF"/>
                              </a:solidFill>
                              <a:latin typeface="Cambria Math" panose="02040503050406030204" pitchFamily="18" charset="0"/>
                            </a:rPr>
                            <m:t xml:space="preserve">ctx</m:t>
                          </m:r>
                        </m:sub>
                      </m:sSub>
                    </m:oMath>
                  </m:oMathPara>
                </a14:m>
                <a:endParaRPr lang="en-US" sz="3200"/>
              </a:p>
            </p:txBody>
          </p:sp>
        </mc:Choice>
        <mc:Fallback>
          <p:sp>
            <p:nvSpPr>
              <p:cNvPr id="20" name="Equation"/>
              <p:cNvSpPr txBox="1"/>
              <p:nvPr/>
            </p:nvSpPr>
            <p:spPr>
              <a:xfrm>
                <a:off x="9646920" y="5192522"/>
                <a:ext cx="1828800" cy="777240"/>
              </a:xfrm>
              <a:prstGeom prst="rect">
                <a:avLst/>
              </a:prstGeom>
              <a:blipFill>
                <a:blip r:embed="rId7"/>
                <a:stretch>
                  <a:fillRect/>
                </a:stretch>
              </a:blipFill>
            </p:spPr>
            <p:txBody>
              <a:bodyPr/>
              <a:lstStyle/>
              <a:p>
                <a:endParaRPr lang="en-US"/>
              </a:p>
            </p:txBody>
          </p:sp>
        </mc:Fallback>
      </mc:AlternateContent>
      <p:sp>
        <p:nvSpPr>
          <p:cNvPr id="21" name="Rounded Rectangle 20"/>
          <p:cNvSpPr/>
          <p:nvPr/>
        </p:nvSpPr>
        <p:spPr>
          <a:xfrm>
            <a:off x="13407390" y="4918202"/>
            <a:ext cx="3851910" cy="3200400"/>
          </a:xfrm>
          <a:prstGeom prst="roundRect">
            <a:avLst>
              <a:gd name="adj" fmla="val 8571"/>
            </a:avLst>
          </a:prstGeom>
          <a:solidFill>
            <a:srgbClr val="111111"/>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L2 weight decay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regularisation</a:t>
            </a:r>
          </a:p>
        </p:txBody>
      </p:sp>
      <mc:AlternateContent xmlns:mc="http://schemas.openxmlformats.org/markup-compatibility/2006">
        <mc:Choice xmlns:a14="http://schemas.microsoft.com/office/drawing/2010/main" Requires="a14">
          <p:sp>
            <p:nvSpPr>
              <p:cNvPr id="22" name="Equation"/>
              <p:cNvSpPr txBox="1"/>
              <p:nvPr/>
            </p:nvSpPr>
            <p:spPr>
              <a:xfrm>
                <a:off x="1377315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reg</m:t>
                          </m:r>
                        </m:sub>
                      </m:sSub>
                    </m:oMath>
                  </m:oMathPara>
                </a14:m>
                <a:endParaRPr lang="en-US" sz="3200"/>
              </a:p>
            </p:txBody>
          </p:sp>
        </mc:Choice>
        <mc:Fallback>
          <p:sp>
            <p:nvSpPr>
              <p:cNvPr id="22" name="Equation"/>
              <p:cNvSpPr txBox="1"/>
              <p:nvPr/>
            </p:nvSpPr>
            <p:spPr>
              <a:xfrm>
                <a:off x="13773150" y="5192522"/>
                <a:ext cx="1828800" cy="777240"/>
              </a:xfrm>
              <a:prstGeom prst="rect">
                <a:avLst/>
              </a:prstGeom>
              <a:blipFill>
                <a:blip r:embed="rId8"/>
                <a:stretch>
                  <a:fillRect/>
                </a:stretch>
              </a:blipFill>
            </p:spPr>
            <p:txBody>
              <a:bodyPr/>
              <a:lstStyle/>
              <a:p>
                <a:endParaRPr lang="en-US"/>
              </a:p>
            </p:txBody>
          </p:sp>
        </mc:Fallback>
      </mc:AlternateContent>
      <p:sp>
        <p:nvSpPr>
          <p:cNvPr id="23" name="Rounded Rectangle 22"/>
          <p:cNvSpPr/>
          <p:nvPr/>
        </p:nvSpPr>
        <p:spPr>
          <a:xfrm>
            <a:off x="1028700" y="8530082"/>
            <a:ext cx="16230600" cy="824230"/>
          </a:xfrm>
          <a:prstGeom prst="roundRect">
            <a:avLst>
              <a:gd name="adj" fmla="val 27734"/>
            </a:avLst>
          </a:prstGeom>
          <a:solidFill>
            <a:srgbClr val="F6ECDF"/>
          </a:solidFill>
          <a:ln>
            <a:noFill/>
          </a:ln>
        </p:spPr>
        <p:txBody>
          <a:bodyPr anchor="ctr" rtlCol="false" lIns="457200" tIns="91440" rIns="457200" bIns="91440" wrap="square"/>
          <a:lstStyle/>
          <a:p>
            <a:pPr algn="ctr">
              <a:lnSpc>
                <a:spcPts val="2800"/>
              </a:lnSpc>
              <a:spcBef>
                <a:spcPts val="0"/>
              </a:spcBef>
              <a:buNone/>
            </a:pPr>
            <a:r>
              <a:rPr lang="en-US" sz="2200" b="true">
                <a:solidFill>
                  <a:srgbClr val="111111"/>
                </a:solidFill>
                <a:latin typeface="Nunito Semi-Bold"/>
                <a:ea typeface="Nunito Semi-Bold"/>
                <a:cs typeface="Nunito Semi-Bold"/>
                <a:sym typeface="Nunito Semi-Bold"/>
              </a:rPr>
              <a:t>The learning objective and the coalition value are </a:t>
            </a:r>
            <a:r>
              <a:rPr lang="en-US" sz="2200" b="true">
                <a:solidFill>
                  <a:srgbClr val="111111"/>
                </a:solidFill>
                <a:latin typeface="Nunito Bold"/>
                <a:ea typeface="Nunito Bold"/>
                <a:cs typeface="Nunito Bold"/>
                <a:sym typeface="Nunito Bold"/>
              </a:rPr>
              <a:t>aligned</a:t>
            </a:r>
            <a:r>
              <a:rPr lang="en-US" sz="2200" b="true">
                <a:solidFill>
                  <a:srgbClr val="111111"/>
                </a:solidFill>
                <a:latin typeface="Nunito Semi-Bold"/>
                <a:ea typeface="Nunito Semi-Bold"/>
                <a:cs typeface="Nunito Semi-Bold"/>
                <a:sym typeface="Nunito Semi-Bold"/>
              </a:rPr>
              <a:t>: DyHuCoG trains to optimise the </a:t>
            </a:r>
            <a:r>
              <a:rPr lang="en-US" sz="2200" b="true">
                <a:solidFill>
                  <a:srgbClr val="111111"/>
                </a:solidFill>
                <a:latin typeface="Nunito Bold"/>
                <a:ea typeface="Nunito Bold"/>
                <a:cs typeface="Nunito Bold"/>
                <a:sym typeface="Nunito Bold"/>
              </a:rPr>
              <a:t>same balance</a:t>
            </a:r>
            <a:r>
              <a:rPr lang="en-US" sz="2200" b="true">
                <a:solidFill>
                  <a:srgbClr val="111111"/>
                </a:solidFill>
                <a:latin typeface="Nunito Semi-Bold"/>
                <a:ea typeface="Nunito Semi-Bold"/>
                <a:cs typeface="Nunito Semi-Bold"/>
                <a:sym typeface="Nunito Semi-Bold"/>
              </a:rPr>
              <a:t> that later determines attribution.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vs the Strongest Baseline (HPCF)</a:t>
            </a:r>
          </a:p>
        </p:txBody>
      </p:sp>
      <p:pic>
        <p:nvPicPr>
          <p:cNvPr id="8" name="Picture 7" descr="image.png"/>
          <p:cNvPicPr>
            <a:picLocks noChangeAspect="1"/>
          </p:cNvPicPr>
          <p:nvPr/>
        </p:nvPicPr>
        <p:blipFill>
          <a:blip r:embed="rId2"/>
          <a:stretch>
            <a:fillRect/>
          </a:stretch>
        </p:blipFill>
        <p:spPr>
          <a:xfrm>
            <a:off x="13133038" y="1673352"/>
            <a:ext cx="457200" cy="250983"/>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13" name="Table 12"/>
          <p:cNvGraphicFramePr>
            <a:graphicFrameLocks noGrp="1"/>
          </p:cNvGraphicFramePr>
          <p:nvPr/>
        </p:nvGraphicFramePr>
        <p:xfrm>
          <a:off x="1028700" y="3363722"/>
          <a:ext cx="16230598" cy="3566160"/>
        </p:xfrm>
        <a:graphic>
          <a:graphicData uri="http://schemas.openxmlformats.org/drawingml/2006/table">
            <a:tbl>
              <a:tblPr firstRow="0" bandRow="0" firstCol="0" lastRow="0" lastCol="0" bandCol="0">
                <a:tableStyleId>{2D5ABB26-0587-4C30-8999-92F81FD0307C}</a:tableStyleId>
              </a:tblPr>
              <a:tblGrid>
                <a:gridCol w="3301138"/>
                <a:gridCol w="2750949"/>
                <a:gridCol w="2475854"/>
                <a:gridCol w="2475854"/>
                <a:gridCol w="2475854"/>
                <a:gridCol w="2750949"/>
              </a:tblGrid>
              <a:tr h="713232">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Dataset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Model</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470"/>
                        </a:lnSpc>
                        <a:spcBef>
                          <a:spcPts val="0"/>
                        </a:spcBef>
                        <a:buNone/>
                      </a:pPr>
                      <a:r>
                        <a:rPr lang="en-US" sz="1900" b="true">
                          <a:solidFill>
                            <a:srgbClr val="FFFFFF"/>
                          </a:solidFill>
                          <a:latin typeface="Nunito Bold"/>
                          <a:ea typeface="Nunito Bold"/>
                          <a:cs typeface="Nunito Bold"/>
                          <a:sym typeface="Nunito Bold"/>
                        </a:rPr>
                        <a:t>NDCG@20</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470"/>
                        </a:lnSpc>
                        <a:spcBef>
                          <a:spcPts val="0"/>
                        </a:spcBef>
                        <a:buNone/>
                      </a:pPr>
                      <a:r>
                        <a:rPr lang="en-US" sz="1900" b="true">
                          <a:solidFill>
                            <a:srgbClr val="FFFFFF"/>
                          </a:solidFill>
                          <a:latin typeface="Nunito Bold"/>
                          <a:ea typeface="Nunito Bold"/>
                          <a:cs typeface="Nunito Bold"/>
                          <a:sym typeface="Nunito Bold"/>
                        </a:rPr>
                        <a:t>Recall@20</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470"/>
                        </a:lnSpc>
                        <a:spcBef>
                          <a:spcPts val="0"/>
                        </a:spcBef>
                        <a:buNone/>
                      </a:pPr>
                      <a:r>
                        <a:rPr lang="en-US" sz="1900" b="true">
                          <a:solidFill>
                            <a:srgbClr val="FFFFFF"/>
                          </a:solidFill>
                          <a:latin typeface="Nunito Bold"/>
                          <a:ea typeface="Nunito Bold"/>
                          <a:cs typeface="Nunito Bold"/>
                          <a:sym typeface="Nunito Bold"/>
                        </a:rPr>
                        <a:t>Coverage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470"/>
                        </a:lnSpc>
                        <a:spcBef>
                          <a:spcPts val="0"/>
                        </a:spcBef>
                        <a:buNone/>
                      </a:pPr>
                      <a:r>
                        <a:rPr lang="en-US" sz="1900" b="true">
                          <a:solidFill>
                            <a:srgbClr val="FFFFFF"/>
                          </a:solidFill>
                          <a:latin typeface="Nunito Bold"/>
                          <a:ea typeface="Nunito Bold"/>
                          <a:cs typeface="Nunito Bold"/>
                          <a:sym typeface="Nunito Bold"/>
                        </a:rPr>
                        <a:t>Diversity (ILD)</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13232">
                <a:tc>
                  <a:txBody>
                    <a:bodyPr anchor="ctr" rtlCol="false" lIns="0" tIns="0" rIns="0" bIns="0" wrap="square"/>
                    <a:lstStyle/>
                    <a:p>
                      <a:pPr algn="l">
                        <a:lnSpc>
                          <a:spcPts val="2600"/>
                        </a:lnSpc>
                        <a:spcBef>
                          <a:spcPts val="0"/>
                        </a:spcBef>
                        <a:buNone/>
                      </a:pPr>
                      <a:r>
                        <a:rPr lang="en-US" sz="2000" b="true">
                          <a:solidFill>
                            <a:srgbClr val="111111"/>
                          </a:solidFill>
                          <a:latin typeface="Nunito Bold"/>
                          <a:ea typeface="Nunito Bold"/>
                          <a:cs typeface="Nunito Bold"/>
                          <a:sym typeface="Nunito Bold"/>
                        </a:rPr>
                        <a:t>MovieLens-1M</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600"/>
                        </a:lnSpc>
                        <a:spcBef>
                          <a:spcPts val="0"/>
                        </a:spcBef>
                        <a:buNone/>
                      </a:pPr>
                      <a:r>
                        <a:rPr lang="en-US" sz="2000" b="true">
                          <a:solidFill>
                            <a:srgbClr val="111111"/>
                          </a:solidFill>
                          <a:latin typeface="Nunito Semi-Bold"/>
                          <a:ea typeface="Nunito Semi-Bold"/>
                          <a:cs typeface="Nunito Semi-Bold"/>
                          <a:sym typeface="Nunito Semi-Bold"/>
                        </a:rPr>
                        <a:t>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0.2528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0.2098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0.342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0.461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13232">
                <a:tc>
                  <a:txBody>
                    <a:bodyPr anchor="ctr" rtlCol="false" lIns="0" tIns="0" rIns="0" bIns="0" wrap="square"/>
                    <a:lstStyle/>
                    <a:p>
                      <a:pPr algn="l">
                        <a:lnSpc>
                          <a:spcPts val="2600"/>
                        </a:lnSpc>
                        <a:spcBef>
                          <a:spcPts val="0"/>
                        </a:spcBef>
                        <a:buNone/>
                      </a:pPr>
                      <a:r>
                        <a:rPr lang="en-US" sz="2000" b="true">
                          <a:solidFill>
                            <a:srgbClr val="111111"/>
                          </a:solidFill>
                          <a:latin typeface="Nunito Bold"/>
                          <a:ea typeface="Nunito Bold"/>
                          <a:cs typeface="Nunito Bold"/>
                          <a:sym typeface="Nunito Bold"/>
                        </a:rPr>
                        <a:t>MovieLens-1M</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l">
                        <a:lnSpc>
                          <a:spcPts val="2600"/>
                        </a:lnSpc>
                        <a:spcBef>
                          <a:spcPts val="0"/>
                        </a:spcBef>
                        <a:buNone/>
                      </a:pPr>
                      <a:r>
                        <a:rPr lang="en-US" sz="2000" b="true">
                          <a:solidFill>
                            <a:srgbClr val="111111"/>
                          </a:solidFill>
                          <a:latin typeface="Nunito Semi-Bold"/>
                          <a:ea typeface="Nunito Semi-Bold"/>
                          <a:cs typeface="Nunito Semi-Bold"/>
                          <a:sym typeface="Nunito Semi-Bold"/>
                        </a:rPr>
                        <a:t>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0.2775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0.2362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0.397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0.516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713232">
                <a:tc>
                  <a:txBody>
                    <a:bodyPr anchor="ctr" rtlCol="false" lIns="0" tIns="0" rIns="0" bIns="0" wrap="square"/>
                    <a:lstStyle/>
                    <a:p>
                      <a:pPr algn="l">
                        <a:lnSpc>
                          <a:spcPts val="2600"/>
                        </a:lnSpc>
                        <a:spcBef>
                          <a:spcPts val="0"/>
                        </a:spcBef>
                        <a:buNone/>
                      </a:pPr>
                      <a:r>
                        <a:rPr lang="en-US" sz="2000" b="true">
                          <a:solidFill>
                            <a:srgbClr val="111111"/>
                          </a:solidFill>
                          <a:latin typeface="Nunito Bold"/>
                          <a:ea typeface="Nunito Bold"/>
                          <a:cs typeface="Nunito Bold"/>
                          <a:sym typeface="Nunito Bold"/>
                        </a:rPr>
                        <a:t>Amazon-Book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600"/>
                        </a:lnSpc>
                        <a:spcBef>
                          <a:spcPts val="0"/>
                        </a:spcBef>
                        <a:buNone/>
                      </a:pPr>
                      <a:r>
                        <a:rPr lang="en-US" sz="2000" b="true">
                          <a:solidFill>
                            <a:srgbClr val="111111"/>
                          </a:solidFill>
                          <a:latin typeface="Nunito Semi-Bold"/>
                          <a:ea typeface="Nunito Semi-Bold"/>
                          <a:cs typeface="Nunito Semi-Bold"/>
                          <a:sym typeface="Nunito Semi-Bold"/>
                        </a:rPr>
                        <a:t>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0.0270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0.0359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0.259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0.535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13232">
                <a:tc>
                  <a:txBody>
                    <a:bodyPr anchor="ctr" rtlCol="false" lIns="0" tIns="0" rIns="0" bIns="0" wrap="square"/>
                    <a:lstStyle/>
                    <a:p>
                      <a:pPr algn="l">
                        <a:lnSpc>
                          <a:spcPts val="2600"/>
                        </a:lnSpc>
                        <a:spcBef>
                          <a:spcPts val="0"/>
                        </a:spcBef>
                        <a:buNone/>
                      </a:pPr>
                      <a:r>
                        <a:rPr lang="en-US" sz="2000" b="true">
                          <a:solidFill>
                            <a:srgbClr val="111111"/>
                          </a:solidFill>
                          <a:latin typeface="Nunito Bold"/>
                          <a:ea typeface="Nunito Bold"/>
                          <a:cs typeface="Nunito Bold"/>
                          <a:sym typeface="Nunito Bold"/>
                        </a:rPr>
                        <a:t>Amazon-Book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l">
                        <a:lnSpc>
                          <a:spcPts val="2600"/>
                        </a:lnSpc>
                        <a:spcBef>
                          <a:spcPts val="0"/>
                        </a:spcBef>
                        <a:buNone/>
                      </a:pPr>
                      <a:r>
                        <a:rPr lang="en-US" sz="2000" b="true">
                          <a:solidFill>
                            <a:srgbClr val="111111"/>
                          </a:solidFill>
                          <a:latin typeface="Nunito Semi-Bold"/>
                          <a:ea typeface="Nunito Semi-Bold"/>
                          <a:cs typeface="Nunito Semi-Bold"/>
                          <a:sym typeface="Nunito Semi-Bold"/>
                        </a:rPr>
                        <a:t>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0.0306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0.0417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0.336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600"/>
                        </a:lnSpc>
                        <a:spcBef>
                          <a:spcPts val="0"/>
                        </a:spcBef>
                        <a:buNone/>
                      </a:pPr>
                      <a:r>
                        <a:rPr lang="en-US" sz="2000" b="true">
                          <a:solidFill>
                            <a:srgbClr val="111111"/>
                          </a:solidFill>
                          <a:latin typeface="Nunito Semi-Bold"/>
                          <a:ea typeface="Nunito Semi-Bold"/>
                          <a:cs typeface="Nunito Semi-Bold"/>
                          <a:sym typeface="Nunito Semi-Bold"/>
                        </a:rPr>
                        <a:t>0.602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4" name="TextBox 13"/>
          <p:cNvSpPr txBox="1"/>
          <p:nvPr/>
        </p:nvSpPr>
        <p:spPr>
          <a:xfrm>
            <a:off x="1028700" y="734136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RELATIVE IMPROVEMENT OVER HPCF</a:t>
            </a:r>
          </a:p>
        </p:txBody>
      </p:sp>
      <p:sp>
        <p:nvSpPr>
          <p:cNvPr id="15" name="Rounded Rectangle 14"/>
          <p:cNvSpPr/>
          <p:nvPr/>
        </p:nvSpPr>
        <p:spPr>
          <a:xfrm>
            <a:off x="1028700" y="7798562"/>
            <a:ext cx="3851910" cy="1555750"/>
          </a:xfrm>
          <a:prstGeom prst="roundRect">
            <a:avLst>
              <a:gd name="adj" fmla="val 14693"/>
            </a:avLst>
          </a:prstGeom>
          <a:solidFill>
            <a:srgbClr val="124944"/>
          </a:solidFill>
          <a:ln>
            <a:noFill/>
          </a:ln>
        </p:spPr>
        <p:txBody>
          <a:bodyPr anchor="ctr" rtlCol="false" lIns="91440" tIns="91440" rIns="91440" bIns="91440" wrap="square"/>
          <a:lstStyle/>
          <a:p>
            <a:pPr algn="ctr">
              <a:lnSpc>
                <a:spcPts val="1600"/>
              </a:lnSpc>
              <a:spcBef>
                <a:spcPts val="0"/>
              </a:spcBef>
              <a:buNone/>
            </a:pPr>
            <a:r>
              <a:rPr lang="en-US" sz="1300" b="true" spc="140">
                <a:solidFill>
                  <a:srgbClr val="ECC665"/>
                </a:solidFill>
                <a:latin typeface="Nunito Ultra-Bold"/>
                <a:ea typeface="Nunito Ultra-Bold"/>
                <a:cs typeface="Nunito Ultra-Bold"/>
                <a:sym typeface="Nunito Ultra-Bold"/>
              </a:rPr>
              <a:t>NDCG@20</a:t>
            </a:r>
          </a:p>
          <a:p>
            <a:pPr algn="ctr">
              <a:lnSpc>
                <a:spcPts val="3000"/>
              </a:lnSpc>
              <a:spcBef>
                <a:spcPts val="600"/>
              </a:spcBef>
              <a:buNone/>
            </a:pPr>
            <a:r>
              <a:rPr lang="en-US" sz="2600" b="true">
                <a:solidFill>
                  <a:srgbClr val="FFFFFF"/>
                </a:solidFill>
                <a:latin typeface="Nunito Ultra-Bold"/>
                <a:ea typeface="Nunito Ultra-Bold"/>
                <a:cs typeface="Nunito Ultra-Bold"/>
                <a:sym typeface="Nunito Ultra-Bold"/>
              </a:rPr>
              <a:t>+9.77 %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MovieLens-1M</a:t>
            </a:r>
          </a:p>
          <a:p>
            <a:pPr algn="ctr">
              <a:lnSpc>
                <a:spcPts val="3000"/>
              </a:lnSpc>
              <a:spcBef>
                <a:spcPts val="600"/>
              </a:spcBef>
              <a:buNone/>
            </a:pPr>
            <a:r>
              <a:rPr lang="en-US" sz="2600" b="true">
                <a:solidFill>
                  <a:srgbClr val="ECC665"/>
                </a:solidFill>
                <a:latin typeface="Nunito Ultra-Bold"/>
                <a:ea typeface="Nunito Ultra-Bold"/>
                <a:cs typeface="Nunito Ultra-Bold"/>
                <a:sym typeface="Nunito Ultra-Bold"/>
              </a:rPr>
              <a:t>+13.33 %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Amazon-Book</a:t>
            </a:r>
          </a:p>
        </p:txBody>
      </p:sp>
      <p:sp>
        <p:nvSpPr>
          <p:cNvPr id="16" name="Rounded Rectangle 15"/>
          <p:cNvSpPr/>
          <p:nvPr/>
        </p:nvSpPr>
        <p:spPr>
          <a:xfrm>
            <a:off x="5154930" y="7798562"/>
            <a:ext cx="3851910" cy="1555750"/>
          </a:xfrm>
          <a:prstGeom prst="roundRect">
            <a:avLst>
              <a:gd name="adj" fmla="val 14693"/>
            </a:avLst>
          </a:prstGeom>
          <a:solidFill>
            <a:srgbClr val="1E5F58"/>
          </a:solidFill>
          <a:ln>
            <a:noFill/>
          </a:ln>
        </p:spPr>
        <p:txBody>
          <a:bodyPr anchor="ctr" rtlCol="false" lIns="91440" tIns="91440" rIns="91440" bIns="91440" wrap="square"/>
          <a:lstStyle/>
          <a:p>
            <a:pPr algn="ctr">
              <a:lnSpc>
                <a:spcPts val="1600"/>
              </a:lnSpc>
              <a:spcBef>
                <a:spcPts val="0"/>
              </a:spcBef>
              <a:buNone/>
            </a:pPr>
            <a:r>
              <a:rPr lang="en-US" sz="1300" b="true" spc="140">
                <a:solidFill>
                  <a:srgbClr val="ECC665"/>
                </a:solidFill>
                <a:latin typeface="Nunito Ultra-Bold"/>
                <a:ea typeface="Nunito Ultra-Bold"/>
                <a:cs typeface="Nunito Ultra-Bold"/>
                <a:sym typeface="Nunito Ultra-Bold"/>
              </a:rPr>
              <a:t>RECALL@20</a:t>
            </a:r>
          </a:p>
          <a:p>
            <a:pPr algn="ctr">
              <a:lnSpc>
                <a:spcPts val="3000"/>
              </a:lnSpc>
              <a:spcBef>
                <a:spcPts val="600"/>
              </a:spcBef>
              <a:buNone/>
            </a:pPr>
            <a:r>
              <a:rPr lang="en-US" sz="2600" b="true">
                <a:solidFill>
                  <a:srgbClr val="FFFFFF"/>
                </a:solidFill>
                <a:latin typeface="Nunito Ultra-Bold"/>
                <a:ea typeface="Nunito Ultra-Bold"/>
                <a:cs typeface="Nunito Ultra-Bold"/>
                <a:sym typeface="Nunito Ultra-Bold"/>
              </a:rPr>
              <a:t>+12.58 %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MovieLens-1M</a:t>
            </a:r>
          </a:p>
          <a:p>
            <a:pPr algn="ctr">
              <a:lnSpc>
                <a:spcPts val="3000"/>
              </a:lnSpc>
              <a:spcBef>
                <a:spcPts val="600"/>
              </a:spcBef>
              <a:buNone/>
            </a:pPr>
            <a:r>
              <a:rPr lang="en-US" sz="2600" b="true">
                <a:solidFill>
                  <a:srgbClr val="ECC665"/>
                </a:solidFill>
                <a:latin typeface="Nunito Ultra-Bold"/>
                <a:ea typeface="Nunito Ultra-Bold"/>
                <a:cs typeface="Nunito Ultra-Bold"/>
                <a:sym typeface="Nunito Ultra-Bold"/>
              </a:rPr>
              <a:t>+16.16 %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Amazon-Book</a:t>
            </a:r>
          </a:p>
        </p:txBody>
      </p:sp>
      <p:sp>
        <p:nvSpPr>
          <p:cNvPr id="17" name="Rounded Rectangle 16"/>
          <p:cNvSpPr/>
          <p:nvPr/>
        </p:nvSpPr>
        <p:spPr>
          <a:xfrm>
            <a:off x="9281160" y="7798562"/>
            <a:ext cx="3851910" cy="1555750"/>
          </a:xfrm>
          <a:prstGeom prst="roundRect">
            <a:avLst>
              <a:gd name="adj" fmla="val 14693"/>
            </a:avLst>
          </a:prstGeom>
          <a:solidFill>
            <a:srgbClr val="124944"/>
          </a:solidFill>
          <a:ln>
            <a:noFill/>
          </a:ln>
        </p:spPr>
        <p:txBody>
          <a:bodyPr anchor="ctr" rtlCol="false" lIns="91440" tIns="91440" rIns="91440" bIns="91440" wrap="square"/>
          <a:lstStyle/>
          <a:p>
            <a:pPr algn="ctr">
              <a:lnSpc>
                <a:spcPts val="1600"/>
              </a:lnSpc>
              <a:spcBef>
                <a:spcPts val="0"/>
              </a:spcBef>
              <a:buNone/>
            </a:pPr>
            <a:r>
              <a:rPr lang="en-US" sz="1300" b="true" spc="140">
                <a:solidFill>
                  <a:srgbClr val="ECC665"/>
                </a:solidFill>
                <a:latin typeface="Nunito Ultra-Bold"/>
                <a:ea typeface="Nunito Ultra-Bold"/>
                <a:cs typeface="Nunito Ultra-Bold"/>
                <a:sym typeface="Nunito Ultra-Bold"/>
              </a:rPr>
              <a:t>COVERAGE</a:t>
            </a:r>
          </a:p>
          <a:p>
            <a:pPr algn="ctr">
              <a:lnSpc>
                <a:spcPts val="3000"/>
              </a:lnSpc>
              <a:spcBef>
                <a:spcPts val="600"/>
              </a:spcBef>
              <a:buNone/>
            </a:pPr>
            <a:r>
              <a:rPr lang="en-US" sz="2600" b="true">
                <a:solidFill>
                  <a:srgbClr val="FFFFFF"/>
                </a:solidFill>
                <a:latin typeface="Nunito Ultra-Bold"/>
                <a:ea typeface="Nunito Ultra-Bold"/>
                <a:cs typeface="Nunito Ultra-Bold"/>
                <a:sym typeface="Nunito Ultra-Bold"/>
              </a:rPr>
              <a:t>+16.1 %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MovieLens-1M</a:t>
            </a:r>
          </a:p>
          <a:p>
            <a:pPr algn="ctr">
              <a:lnSpc>
                <a:spcPts val="3000"/>
              </a:lnSpc>
              <a:spcBef>
                <a:spcPts val="600"/>
              </a:spcBef>
              <a:buNone/>
            </a:pPr>
            <a:r>
              <a:rPr lang="en-US" sz="2600" b="true">
                <a:solidFill>
                  <a:srgbClr val="ECC665"/>
                </a:solidFill>
                <a:latin typeface="Nunito Ultra-Bold"/>
                <a:ea typeface="Nunito Ultra-Bold"/>
                <a:cs typeface="Nunito Ultra-Bold"/>
                <a:sym typeface="Nunito Ultra-Bold"/>
              </a:rPr>
              <a:t>+29.7 %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Amazon-Book</a:t>
            </a:r>
          </a:p>
        </p:txBody>
      </p:sp>
      <p:sp>
        <p:nvSpPr>
          <p:cNvPr id="18" name="Rounded Rectangle 17"/>
          <p:cNvSpPr/>
          <p:nvPr/>
        </p:nvSpPr>
        <p:spPr>
          <a:xfrm>
            <a:off x="13407390" y="7798562"/>
            <a:ext cx="3851910" cy="1555750"/>
          </a:xfrm>
          <a:prstGeom prst="roundRect">
            <a:avLst>
              <a:gd name="adj" fmla="val 14693"/>
            </a:avLst>
          </a:prstGeom>
          <a:solidFill>
            <a:srgbClr val="1E5F58"/>
          </a:solidFill>
          <a:ln>
            <a:noFill/>
          </a:ln>
        </p:spPr>
        <p:txBody>
          <a:bodyPr anchor="ctr" rtlCol="false" lIns="91440" tIns="91440" rIns="91440" bIns="91440" wrap="square"/>
          <a:lstStyle/>
          <a:p>
            <a:pPr algn="ctr">
              <a:lnSpc>
                <a:spcPts val="1600"/>
              </a:lnSpc>
              <a:spcBef>
                <a:spcPts val="0"/>
              </a:spcBef>
              <a:buNone/>
            </a:pPr>
            <a:r>
              <a:rPr lang="en-US" sz="1300" b="true" spc="140">
                <a:solidFill>
                  <a:srgbClr val="ECC665"/>
                </a:solidFill>
                <a:latin typeface="Nunito Ultra-Bold"/>
                <a:ea typeface="Nunito Ultra-Bold"/>
                <a:cs typeface="Nunito Ultra-Bold"/>
                <a:sym typeface="Nunito Ultra-Bold"/>
              </a:rPr>
              <a:t>INTRA-LIST DIVERSITY</a:t>
            </a:r>
          </a:p>
          <a:p>
            <a:pPr algn="ctr">
              <a:lnSpc>
                <a:spcPts val="3000"/>
              </a:lnSpc>
              <a:spcBef>
                <a:spcPts val="600"/>
              </a:spcBef>
              <a:buNone/>
            </a:pPr>
            <a:r>
              <a:rPr lang="en-US" sz="2600" b="true">
                <a:solidFill>
                  <a:srgbClr val="FFFFFF"/>
                </a:solidFill>
                <a:latin typeface="Nunito Ultra-Bold"/>
                <a:ea typeface="Nunito Ultra-Bold"/>
                <a:cs typeface="Nunito Ultra-Bold"/>
                <a:sym typeface="Nunito Ultra-Bold"/>
              </a:rPr>
              <a:t>+11.9 %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MovieLens-1M</a:t>
            </a:r>
          </a:p>
          <a:p>
            <a:pPr algn="ctr">
              <a:lnSpc>
                <a:spcPts val="3000"/>
              </a:lnSpc>
              <a:spcBef>
                <a:spcPts val="600"/>
              </a:spcBef>
              <a:buNone/>
            </a:pPr>
            <a:r>
              <a:rPr lang="en-US" sz="2600" b="true">
                <a:solidFill>
                  <a:srgbClr val="ECC665"/>
                </a:solidFill>
                <a:latin typeface="Nunito Ultra-Bold"/>
                <a:ea typeface="Nunito Ultra-Bold"/>
                <a:cs typeface="Nunito Ultra-Bold"/>
                <a:sym typeface="Nunito Ultra-Bold"/>
              </a:rPr>
              <a:t>+12.5 %</a:t>
            </a:r>
          </a:p>
          <a:p>
            <a:pPr algn="ctr">
              <a:lnSpc>
                <a:spcPts val="1500"/>
              </a:lnSpc>
              <a:spcBef>
                <a:spcPts val="0"/>
              </a:spcBef>
              <a:buNone/>
            </a:pPr>
            <a:r>
              <a:rPr lang="en-US" sz="1300" b="true">
                <a:solidFill>
                  <a:srgbClr val="DCE7E3"/>
                </a:solidFill>
                <a:latin typeface="Nunito Semi-Bold"/>
                <a:ea typeface="Nunito Semi-Bold"/>
                <a:cs typeface="Nunito Semi-Bold"/>
                <a:sym typeface="Nunito Semi-Bold"/>
              </a:rPr>
              <a:t>Amazon-Book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Coverage &amp; Diversity — No Accuracy Trade-Off</a:t>
            </a:r>
          </a:p>
        </p:txBody>
      </p:sp>
      <p:pic>
        <p:nvPicPr>
          <p:cNvPr id="8" name="Picture 7" descr="image.png"/>
          <p:cNvPicPr>
            <a:picLocks noChangeAspect="1"/>
          </p:cNvPicPr>
          <p:nvPr/>
        </p:nvPicPr>
        <p:blipFill>
          <a:blip r:embed="rId2"/>
          <a:stretch>
            <a:fillRect/>
          </a:stretch>
        </p:blipFill>
        <p:spPr>
          <a:xfrm>
            <a:off x="13344571" y="1673352"/>
            <a:ext cx="457200" cy="539881"/>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455162"/>
            <a:ext cx="3851910" cy="3931920"/>
          </a:xfrm>
          <a:prstGeom prst="roundRect">
            <a:avLst>
              <a:gd name="adj" fmla="val 5934"/>
            </a:avLst>
          </a:prstGeom>
          <a:solidFill>
            <a:srgbClr val="F6ECDF"/>
          </a:solidFill>
          <a:ln>
            <a:noFill/>
          </a:ln>
        </p:spPr>
        <p:txBody>
          <a:bodyPr anchor="ctr" rtlCol="false" lIns="0" tIns="0" rIns="0" bIns="0" wrap="square"/>
          <a:lstStyle/>
          <a:p>
            <a:endParaRPr lang="en-US" sz="1800"/>
          </a:p>
        </p:txBody>
      </p:sp>
      <p:sp>
        <p:nvSpPr>
          <p:cNvPr id="14" name="TextBox 13"/>
          <p:cNvSpPr txBox="1"/>
          <p:nvPr/>
        </p:nvSpPr>
        <p:spPr>
          <a:xfrm>
            <a:off x="1028700" y="3592322"/>
            <a:ext cx="385191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111111"/>
                </a:solidFill>
                <a:latin typeface="Nunito Ultra-Bold"/>
                <a:ea typeface="Nunito Ultra-Bold"/>
                <a:cs typeface="Nunito Ultra-Bold"/>
                <a:sym typeface="Nunito Ultra-Bold"/>
              </a:rPr>
              <a:t>Coverage · MovieLens-1M</a:t>
            </a:r>
          </a:p>
        </p:txBody>
      </p:sp>
      <p:sp>
        <p:nvSpPr>
          <p:cNvPr id="15" name="Rounded Rectangle 14"/>
          <p:cNvSpPr/>
          <p:nvPr/>
        </p:nvSpPr>
        <p:spPr>
          <a:xfrm>
            <a:off x="1971675" y="5472720"/>
            <a:ext cx="822960" cy="1228561"/>
          </a:xfrm>
          <a:prstGeom prst="roundRect">
            <a:avLst>
              <a:gd name="adj" fmla="val 5555"/>
            </a:avLst>
          </a:prstGeom>
          <a:solidFill>
            <a:srgbClr val="B9B2A6"/>
          </a:solidFill>
          <a:ln>
            <a:noFill/>
          </a:ln>
        </p:spPr>
        <p:txBody>
          <a:bodyPr anchor="ctr" rtlCol="false" lIns="0" tIns="0" rIns="0" bIns="0" wrap="square"/>
          <a:lstStyle/>
          <a:p>
            <a:endParaRPr lang="en-US" sz="1800"/>
          </a:p>
        </p:txBody>
      </p:sp>
      <p:sp>
        <p:nvSpPr>
          <p:cNvPr id="16" name="Rounded Rectangle 15"/>
          <p:cNvSpPr/>
          <p:nvPr/>
        </p:nvSpPr>
        <p:spPr>
          <a:xfrm>
            <a:off x="3114675" y="5275144"/>
            <a:ext cx="822960" cy="1426137"/>
          </a:xfrm>
          <a:prstGeom prst="roundRect">
            <a:avLst>
              <a:gd name="adj" fmla="val 5555"/>
            </a:avLst>
          </a:prstGeom>
          <a:solidFill>
            <a:srgbClr val="124944"/>
          </a:solidFill>
          <a:ln>
            <a:noFill/>
          </a:ln>
        </p:spPr>
        <p:txBody>
          <a:bodyPr anchor="ctr" rtlCol="false" lIns="0" tIns="0" rIns="0" bIns="0" wrap="square"/>
          <a:lstStyle/>
          <a:p>
            <a:endParaRPr lang="en-US" sz="1800"/>
          </a:p>
        </p:txBody>
      </p:sp>
      <p:sp>
        <p:nvSpPr>
          <p:cNvPr id="17" name="TextBox 16"/>
          <p:cNvSpPr txBox="1"/>
          <p:nvPr/>
        </p:nvSpPr>
        <p:spPr>
          <a:xfrm>
            <a:off x="1788795" y="5106960"/>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0.342</a:t>
            </a:r>
          </a:p>
        </p:txBody>
      </p:sp>
      <p:sp>
        <p:nvSpPr>
          <p:cNvPr id="18" name="TextBox 17"/>
          <p:cNvSpPr txBox="1"/>
          <p:nvPr/>
        </p:nvSpPr>
        <p:spPr>
          <a:xfrm>
            <a:off x="2931795" y="4909384"/>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124944"/>
                </a:solidFill>
                <a:latin typeface="Nunito Ultra-Bold"/>
                <a:ea typeface="Nunito Ultra-Bold"/>
                <a:cs typeface="Nunito Ultra-Bold"/>
                <a:sym typeface="Nunito Ultra-Bold"/>
              </a:rPr>
              <a:t>0.397</a:t>
            </a:r>
          </a:p>
        </p:txBody>
      </p:sp>
      <p:sp>
        <p:nvSpPr>
          <p:cNvPr id="19" name="TextBox 18"/>
          <p:cNvSpPr txBox="1"/>
          <p:nvPr/>
        </p:nvSpPr>
        <p:spPr>
          <a:xfrm>
            <a:off x="178879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8A8378"/>
                </a:solidFill>
                <a:latin typeface="Nunito Semi-Bold"/>
                <a:ea typeface="Nunito Semi-Bold"/>
                <a:cs typeface="Nunito Semi-Bold"/>
                <a:sym typeface="Nunito Semi-Bold"/>
              </a:rPr>
              <a:t>HPCF</a:t>
            </a:r>
          </a:p>
        </p:txBody>
      </p:sp>
      <p:sp>
        <p:nvSpPr>
          <p:cNvPr id="20" name="TextBox 19"/>
          <p:cNvSpPr txBox="1"/>
          <p:nvPr/>
        </p:nvSpPr>
        <p:spPr>
          <a:xfrm>
            <a:off x="293179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124944"/>
                </a:solidFill>
                <a:latin typeface="Nunito Bold"/>
                <a:ea typeface="Nunito Bold"/>
                <a:cs typeface="Nunito Bold"/>
                <a:sym typeface="Nunito Bold"/>
              </a:rPr>
              <a:t>DyHuCoG</a:t>
            </a:r>
          </a:p>
        </p:txBody>
      </p:sp>
      <p:sp>
        <p:nvSpPr>
          <p:cNvPr id="21" name="Rounded Rectangle 20"/>
          <p:cNvSpPr/>
          <p:nvPr/>
        </p:nvSpPr>
        <p:spPr>
          <a:xfrm>
            <a:off x="2268855" y="7021322"/>
            <a:ext cx="1371600" cy="310896"/>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+16.1 %</a:t>
            </a:r>
          </a:p>
        </p:txBody>
      </p:sp>
      <p:sp>
        <p:nvSpPr>
          <p:cNvPr id="22" name="Rounded Rectangle 21"/>
          <p:cNvSpPr/>
          <p:nvPr/>
        </p:nvSpPr>
        <p:spPr>
          <a:xfrm>
            <a:off x="5154930" y="3455162"/>
            <a:ext cx="3851910" cy="3931920"/>
          </a:xfrm>
          <a:prstGeom prst="roundRect">
            <a:avLst>
              <a:gd name="adj" fmla="val 5934"/>
            </a:avLst>
          </a:prstGeom>
          <a:solidFill>
            <a:srgbClr val="F6ECDF"/>
          </a:solidFill>
          <a:ln>
            <a:noFill/>
          </a:ln>
        </p:spPr>
        <p:txBody>
          <a:bodyPr anchor="ctr" rtlCol="false" lIns="0" tIns="0" rIns="0" bIns="0" wrap="square"/>
          <a:lstStyle/>
          <a:p>
            <a:endParaRPr lang="en-US" sz="1800"/>
          </a:p>
        </p:txBody>
      </p:sp>
      <p:sp>
        <p:nvSpPr>
          <p:cNvPr id="23" name="TextBox 22"/>
          <p:cNvSpPr txBox="1"/>
          <p:nvPr/>
        </p:nvSpPr>
        <p:spPr>
          <a:xfrm>
            <a:off x="5154930" y="3592322"/>
            <a:ext cx="385191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111111"/>
                </a:solidFill>
                <a:latin typeface="Nunito Ultra-Bold"/>
                <a:ea typeface="Nunito Ultra-Bold"/>
                <a:cs typeface="Nunito Ultra-Bold"/>
                <a:sym typeface="Nunito Ultra-Bold"/>
              </a:rPr>
              <a:t>ILD · MovieLens-1M</a:t>
            </a:r>
          </a:p>
        </p:txBody>
      </p:sp>
      <p:sp>
        <p:nvSpPr>
          <p:cNvPr id="24" name="Rounded Rectangle 23"/>
          <p:cNvSpPr/>
          <p:nvPr/>
        </p:nvSpPr>
        <p:spPr>
          <a:xfrm>
            <a:off x="6097905" y="5045238"/>
            <a:ext cx="822960" cy="1656043"/>
          </a:xfrm>
          <a:prstGeom prst="roundRect">
            <a:avLst>
              <a:gd name="adj" fmla="val 5555"/>
            </a:avLst>
          </a:prstGeom>
          <a:solidFill>
            <a:srgbClr val="B9B2A6"/>
          </a:solidFill>
          <a:ln>
            <a:noFill/>
          </a:ln>
        </p:spPr>
        <p:txBody>
          <a:bodyPr anchor="ctr" rtlCol="false" lIns="0" tIns="0" rIns="0" bIns="0" wrap="square"/>
          <a:lstStyle/>
          <a:p>
            <a:endParaRPr lang="en-US" sz="1800"/>
          </a:p>
        </p:txBody>
      </p:sp>
      <p:sp>
        <p:nvSpPr>
          <p:cNvPr id="25" name="Rounded Rectangle 24"/>
          <p:cNvSpPr/>
          <p:nvPr/>
        </p:nvSpPr>
        <p:spPr>
          <a:xfrm>
            <a:off x="7240905" y="4847662"/>
            <a:ext cx="822960" cy="1853619"/>
          </a:xfrm>
          <a:prstGeom prst="roundRect">
            <a:avLst>
              <a:gd name="adj" fmla="val 5555"/>
            </a:avLst>
          </a:prstGeom>
          <a:solidFill>
            <a:srgbClr val="124944"/>
          </a:solidFill>
          <a:ln>
            <a:noFill/>
          </a:ln>
        </p:spPr>
        <p:txBody>
          <a:bodyPr anchor="ctr" rtlCol="false" lIns="0" tIns="0" rIns="0" bIns="0" wrap="square"/>
          <a:lstStyle/>
          <a:p>
            <a:endParaRPr lang="en-US" sz="1800"/>
          </a:p>
        </p:txBody>
      </p:sp>
      <p:sp>
        <p:nvSpPr>
          <p:cNvPr id="26" name="TextBox 25"/>
          <p:cNvSpPr txBox="1"/>
          <p:nvPr/>
        </p:nvSpPr>
        <p:spPr>
          <a:xfrm>
            <a:off x="5915025" y="4679478"/>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0.461</a:t>
            </a:r>
          </a:p>
        </p:txBody>
      </p:sp>
      <p:sp>
        <p:nvSpPr>
          <p:cNvPr id="27" name="TextBox 26"/>
          <p:cNvSpPr txBox="1"/>
          <p:nvPr/>
        </p:nvSpPr>
        <p:spPr>
          <a:xfrm>
            <a:off x="7058025" y="4481902"/>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124944"/>
                </a:solidFill>
                <a:latin typeface="Nunito Ultra-Bold"/>
                <a:ea typeface="Nunito Ultra-Bold"/>
                <a:cs typeface="Nunito Ultra-Bold"/>
                <a:sym typeface="Nunito Ultra-Bold"/>
              </a:rPr>
              <a:t>0.516</a:t>
            </a:r>
          </a:p>
        </p:txBody>
      </p:sp>
      <p:sp>
        <p:nvSpPr>
          <p:cNvPr id="28" name="TextBox 27"/>
          <p:cNvSpPr txBox="1"/>
          <p:nvPr/>
        </p:nvSpPr>
        <p:spPr>
          <a:xfrm>
            <a:off x="591502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8A8378"/>
                </a:solidFill>
                <a:latin typeface="Nunito Semi-Bold"/>
                <a:ea typeface="Nunito Semi-Bold"/>
                <a:cs typeface="Nunito Semi-Bold"/>
                <a:sym typeface="Nunito Semi-Bold"/>
              </a:rPr>
              <a:t>HPCF</a:t>
            </a:r>
          </a:p>
        </p:txBody>
      </p:sp>
      <p:sp>
        <p:nvSpPr>
          <p:cNvPr id="29" name="TextBox 28"/>
          <p:cNvSpPr txBox="1"/>
          <p:nvPr/>
        </p:nvSpPr>
        <p:spPr>
          <a:xfrm>
            <a:off x="705802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124944"/>
                </a:solidFill>
                <a:latin typeface="Nunito Bold"/>
                <a:ea typeface="Nunito Bold"/>
                <a:cs typeface="Nunito Bold"/>
                <a:sym typeface="Nunito Bold"/>
              </a:rPr>
              <a:t>DyHuCoG</a:t>
            </a:r>
          </a:p>
        </p:txBody>
      </p:sp>
      <p:sp>
        <p:nvSpPr>
          <p:cNvPr id="30" name="Rounded Rectangle 29"/>
          <p:cNvSpPr/>
          <p:nvPr/>
        </p:nvSpPr>
        <p:spPr>
          <a:xfrm>
            <a:off x="6395085" y="7021322"/>
            <a:ext cx="1371600" cy="310896"/>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+11.9 %</a:t>
            </a:r>
          </a:p>
        </p:txBody>
      </p:sp>
      <p:sp>
        <p:nvSpPr>
          <p:cNvPr id="31" name="Rounded Rectangle 30"/>
          <p:cNvSpPr/>
          <p:nvPr/>
        </p:nvSpPr>
        <p:spPr>
          <a:xfrm>
            <a:off x="9281160" y="3455162"/>
            <a:ext cx="3851910" cy="3931920"/>
          </a:xfrm>
          <a:prstGeom prst="roundRect">
            <a:avLst>
              <a:gd name="adj" fmla="val 5934"/>
            </a:avLst>
          </a:prstGeom>
          <a:solidFill>
            <a:srgbClr val="F6ECDF"/>
          </a:solidFill>
          <a:ln>
            <a:noFill/>
          </a:ln>
        </p:spPr>
        <p:txBody>
          <a:bodyPr anchor="ctr" rtlCol="false" lIns="0" tIns="0" rIns="0" bIns="0" wrap="square"/>
          <a:lstStyle/>
          <a:p>
            <a:endParaRPr lang="en-US" sz="1800"/>
          </a:p>
        </p:txBody>
      </p:sp>
      <p:sp>
        <p:nvSpPr>
          <p:cNvPr id="32" name="TextBox 31"/>
          <p:cNvSpPr txBox="1"/>
          <p:nvPr/>
        </p:nvSpPr>
        <p:spPr>
          <a:xfrm>
            <a:off x="9281160" y="3592322"/>
            <a:ext cx="385191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111111"/>
                </a:solidFill>
                <a:latin typeface="Nunito Ultra-Bold"/>
                <a:ea typeface="Nunito Ultra-Bold"/>
                <a:cs typeface="Nunito Ultra-Bold"/>
                <a:sym typeface="Nunito Ultra-Bold"/>
              </a:rPr>
              <a:t>Coverage · Amazon-Book</a:t>
            </a:r>
          </a:p>
        </p:txBody>
      </p:sp>
      <p:sp>
        <p:nvSpPr>
          <p:cNvPr id="33" name="Rounded Rectangle 32"/>
          <p:cNvSpPr/>
          <p:nvPr/>
        </p:nvSpPr>
        <p:spPr>
          <a:xfrm>
            <a:off x="10224135" y="5770880"/>
            <a:ext cx="822960" cy="930402"/>
          </a:xfrm>
          <a:prstGeom prst="roundRect">
            <a:avLst>
              <a:gd name="adj" fmla="val 5555"/>
            </a:avLst>
          </a:prstGeom>
          <a:solidFill>
            <a:srgbClr val="B9B2A6"/>
          </a:solidFill>
          <a:ln>
            <a:noFill/>
          </a:ln>
        </p:spPr>
        <p:txBody>
          <a:bodyPr anchor="ctr" rtlCol="false" lIns="0" tIns="0" rIns="0" bIns="0" wrap="square"/>
          <a:lstStyle/>
          <a:p>
            <a:endParaRPr lang="en-US" sz="1800"/>
          </a:p>
        </p:txBody>
      </p:sp>
      <p:sp>
        <p:nvSpPr>
          <p:cNvPr id="34" name="Rounded Rectangle 33"/>
          <p:cNvSpPr/>
          <p:nvPr/>
        </p:nvSpPr>
        <p:spPr>
          <a:xfrm>
            <a:off x="11367135" y="5494274"/>
            <a:ext cx="822960" cy="1207008"/>
          </a:xfrm>
          <a:prstGeom prst="roundRect">
            <a:avLst>
              <a:gd name="adj" fmla="val 5555"/>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10041255" y="5405120"/>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0.259</a:t>
            </a:r>
          </a:p>
        </p:txBody>
      </p:sp>
      <p:sp>
        <p:nvSpPr>
          <p:cNvPr id="36" name="TextBox 35"/>
          <p:cNvSpPr txBox="1"/>
          <p:nvPr/>
        </p:nvSpPr>
        <p:spPr>
          <a:xfrm>
            <a:off x="11184255" y="5128514"/>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124944"/>
                </a:solidFill>
                <a:latin typeface="Nunito Ultra-Bold"/>
                <a:ea typeface="Nunito Ultra-Bold"/>
                <a:cs typeface="Nunito Ultra-Bold"/>
                <a:sym typeface="Nunito Ultra-Bold"/>
              </a:rPr>
              <a:t>0.336</a:t>
            </a:r>
          </a:p>
        </p:txBody>
      </p:sp>
      <p:sp>
        <p:nvSpPr>
          <p:cNvPr id="37" name="TextBox 36"/>
          <p:cNvSpPr txBox="1"/>
          <p:nvPr/>
        </p:nvSpPr>
        <p:spPr>
          <a:xfrm>
            <a:off x="1004125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8A8378"/>
                </a:solidFill>
                <a:latin typeface="Nunito Semi-Bold"/>
                <a:ea typeface="Nunito Semi-Bold"/>
                <a:cs typeface="Nunito Semi-Bold"/>
                <a:sym typeface="Nunito Semi-Bold"/>
              </a:rPr>
              <a:t>HPCF</a:t>
            </a:r>
          </a:p>
        </p:txBody>
      </p:sp>
      <p:sp>
        <p:nvSpPr>
          <p:cNvPr id="38" name="TextBox 37"/>
          <p:cNvSpPr txBox="1"/>
          <p:nvPr/>
        </p:nvSpPr>
        <p:spPr>
          <a:xfrm>
            <a:off x="1118425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124944"/>
                </a:solidFill>
                <a:latin typeface="Nunito Bold"/>
                <a:ea typeface="Nunito Bold"/>
                <a:cs typeface="Nunito Bold"/>
                <a:sym typeface="Nunito Bold"/>
              </a:rPr>
              <a:t>DyHuCoG</a:t>
            </a:r>
          </a:p>
        </p:txBody>
      </p:sp>
      <p:sp>
        <p:nvSpPr>
          <p:cNvPr id="39" name="Rounded Rectangle 38"/>
          <p:cNvSpPr/>
          <p:nvPr/>
        </p:nvSpPr>
        <p:spPr>
          <a:xfrm>
            <a:off x="10521315" y="7021322"/>
            <a:ext cx="1371600" cy="310896"/>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+29.7 %</a:t>
            </a:r>
          </a:p>
        </p:txBody>
      </p:sp>
      <p:sp>
        <p:nvSpPr>
          <p:cNvPr id="40" name="Rounded Rectangle 39"/>
          <p:cNvSpPr/>
          <p:nvPr/>
        </p:nvSpPr>
        <p:spPr>
          <a:xfrm>
            <a:off x="13407390" y="3455162"/>
            <a:ext cx="3851910" cy="3931920"/>
          </a:xfrm>
          <a:prstGeom prst="roundRect">
            <a:avLst>
              <a:gd name="adj" fmla="val 5934"/>
            </a:avLst>
          </a:prstGeom>
          <a:solidFill>
            <a:srgbClr val="F6ECDF"/>
          </a:solidFill>
          <a:ln>
            <a:noFill/>
          </a:ln>
        </p:spPr>
        <p:txBody>
          <a:bodyPr anchor="ctr" rtlCol="false" lIns="0" tIns="0" rIns="0" bIns="0" wrap="square"/>
          <a:lstStyle/>
          <a:p>
            <a:endParaRPr lang="en-US" sz="1800"/>
          </a:p>
        </p:txBody>
      </p:sp>
      <p:sp>
        <p:nvSpPr>
          <p:cNvPr id="41" name="TextBox 40"/>
          <p:cNvSpPr txBox="1"/>
          <p:nvPr/>
        </p:nvSpPr>
        <p:spPr>
          <a:xfrm>
            <a:off x="13407390" y="3592322"/>
            <a:ext cx="385191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111111"/>
                </a:solidFill>
                <a:latin typeface="Nunito Ultra-Bold"/>
                <a:ea typeface="Nunito Ultra-Bold"/>
                <a:cs typeface="Nunito Ultra-Bold"/>
                <a:sym typeface="Nunito Ultra-Bold"/>
              </a:rPr>
              <a:t>ILD · Amazon-Book</a:t>
            </a:r>
          </a:p>
        </p:txBody>
      </p:sp>
      <p:sp>
        <p:nvSpPr>
          <p:cNvPr id="42" name="Rounded Rectangle 41"/>
          <p:cNvSpPr/>
          <p:nvPr/>
        </p:nvSpPr>
        <p:spPr>
          <a:xfrm>
            <a:off x="14350365" y="4779409"/>
            <a:ext cx="822960" cy="1921872"/>
          </a:xfrm>
          <a:prstGeom prst="roundRect">
            <a:avLst>
              <a:gd name="adj" fmla="val 5555"/>
            </a:avLst>
          </a:prstGeom>
          <a:solidFill>
            <a:srgbClr val="B9B2A6"/>
          </a:solidFill>
          <a:ln>
            <a:noFill/>
          </a:ln>
        </p:spPr>
        <p:txBody>
          <a:bodyPr anchor="ctr" rtlCol="false" lIns="0" tIns="0" rIns="0" bIns="0" wrap="square"/>
          <a:lstStyle/>
          <a:p>
            <a:endParaRPr lang="en-US" sz="1800"/>
          </a:p>
        </p:txBody>
      </p:sp>
      <p:sp>
        <p:nvSpPr>
          <p:cNvPr id="43" name="Rounded Rectangle 42"/>
          <p:cNvSpPr/>
          <p:nvPr/>
        </p:nvSpPr>
        <p:spPr>
          <a:xfrm>
            <a:off x="15493365" y="4538726"/>
            <a:ext cx="822960" cy="2162556"/>
          </a:xfrm>
          <a:prstGeom prst="roundRect">
            <a:avLst>
              <a:gd name="adj" fmla="val 5555"/>
            </a:avLst>
          </a:prstGeom>
          <a:solidFill>
            <a:srgbClr val="124944"/>
          </a:solidFill>
          <a:ln>
            <a:noFill/>
          </a:ln>
        </p:spPr>
        <p:txBody>
          <a:bodyPr anchor="ctr" rtlCol="false" lIns="0" tIns="0" rIns="0" bIns="0" wrap="square"/>
          <a:lstStyle/>
          <a:p>
            <a:endParaRPr lang="en-US" sz="1800"/>
          </a:p>
        </p:txBody>
      </p:sp>
      <p:sp>
        <p:nvSpPr>
          <p:cNvPr id="44" name="TextBox 43"/>
          <p:cNvSpPr txBox="1"/>
          <p:nvPr/>
        </p:nvSpPr>
        <p:spPr>
          <a:xfrm>
            <a:off x="14167485" y="4413649"/>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0.535</a:t>
            </a:r>
          </a:p>
        </p:txBody>
      </p:sp>
      <p:sp>
        <p:nvSpPr>
          <p:cNvPr id="45" name="TextBox 44"/>
          <p:cNvSpPr txBox="1"/>
          <p:nvPr/>
        </p:nvSpPr>
        <p:spPr>
          <a:xfrm>
            <a:off x="15310485" y="4172966"/>
            <a:ext cx="1188720" cy="32004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124944"/>
                </a:solidFill>
                <a:latin typeface="Nunito Ultra-Bold"/>
                <a:ea typeface="Nunito Ultra-Bold"/>
                <a:cs typeface="Nunito Ultra-Bold"/>
                <a:sym typeface="Nunito Ultra-Bold"/>
              </a:rPr>
              <a:t>0.602</a:t>
            </a:r>
          </a:p>
        </p:txBody>
      </p:sp>
      <p:sp>
        <p:nvSpPr>
          <p:cNvPr id="46" name="TextBox 45"/>
          <p:cNvSpPr txBox="1"/>
          <p:nvPr/>
        </p:nvSpPr>
        <p:spPr>
          <a:xfrm>
            <a:off x="1416748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8A8378"/>
                </a:solidFill>
                <a:latin typeface="Nunito Semi-Bold"/>
                <a:ea typeface="Nunito Semi-Bold"/>
                <a:cs typeface="Nunito Semi-Bold"/>
                <a:sym typeface="Nunito Semi-Bold"/>
              </a:rPr>
              <a:t>HPCF</a:t>
            </a:r>
          </a:p>
        </p:txBody>
      </p:sp>
      <p:sp>
        <p:nvSpPr>
          <p:cNvPr id="47" name="TextBox 46"/>
          <p:cNvSpPr txBox="1"/>
          <p:nvPr/>
        </p:nvSpPr>
        <p:spPr>
          <a:xfrm>
            <a:off x="15310485" y="6747002"/>
            <a:ext cx="1188720" cy="274320"/>
          </a:xfrm>
          <a:prstGeom prst="rect">
            <a:avLst/>
          </a:prstGeom>
          <a:noFill/>
        </p:spPr>
        <p:txBody>
          <a:bodyPr anchor="t" rtlCol="false" lIns="0" tIns="0" rIns="0" bIns="0" wrap="square"/>
          <a:lstStyle/>
          <a:p>
            <a:pPr algn="ctr">
              <a:lnSpc>
                <a:spcPts val="1500"/>
              </a:lnSpc>
              <a:spcBef>
                <a:spcPts val="0"/>
              </a:spcBef>
              <a:buNone/>
            </a:pPr>
            <a:r>
              <a:rPr lang="en-US" sz="1300" b="true">
                <a:solidFill>
                  <a:srgbClr val="124944"/>
                </a:solidFill>
                <a:latin typeface="Nunito Bold"/>
                <a:ea typeface="Nunito Bold"/>
                <a:cs typeface="Nunito Bold"/>
                <a:sym typeface="Nunito Bold"/>
              </a:rPr>
              <a:t>DyHuCoG</a:t>
            </a:r>
          </a:p>
        </p:txBody>
      </p:sp>
      <p:sp>
        <p:nvSpPr>
          <p:cNvPr id="48" name="Rounded Rectangle 47"/>
          <p:cNvSpPr/>
          <p:nvPr/>
        </p:nvSpPr>
        <p:spPr>
          <a:xfrm>
            <a:off x="14647545" y="7021322"/>
            <a:ext cx="1371600" cy="310896"/>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+12.5 %</a:t>
            </a:r>
          </a:p>
        </p:txBody>
      </p:sp>
      <p:sp>
        <p:nvSpPr>
          <p:cNvPr id="49" name="Rounded Rectangle 48"/>
          <p:cNvSpPr/>
          <p:nvPr/>
        </p:nvSpPr>
        <p:spPr>
          <a:xfrm>
            <a:off x="1028700" y="7798562"/>
            <a:ext cx="16230600" cy="1555750"/>
          </a:xfrm>
          <a:prstGeom prst="roundRect">
            <a:avLst>
              <a:gd name="adj" fmla="val 14693"/>
            </a:avLst>
          </a:prstGeom>
          <a:solidFill>
            <a:srgbClr val="124944"/>
          </a:solidFill>
          <a:ln>
            <a:noFill/>
          </a:ln>
        </p:spPr>
        <p:txBody>
          <a:bodyPr anchor="ctr" rtlCol="false" lIns="457200" tIns="91440" rIns="457200" bIns="91440" wrap="square"/>
          <a:lstStyle/>
          <a:p>
            <a:pPr algn="ctr">
              <a:lnSpc>
                <a:spcPts val="2800"/>
              </a:lnSpc>
              <a:spcBef>
                <a:spcPts val="0"/>
              </a:spcBef>
              <a:buNone/>
            </a:pPr>
            <a:r>
              <a:rPr lang="en-US" sz="2200" b="true">
                <a:solidFill>
                  <a:srgbClr val="FFFFFF"/>
                </a:solidFill>
                <a:latin typeface="Nunito Bold"/>
                <a:ea typeface="Nunito Bold"/>
                <a:cs typeface="Nunito Bold"/>
                <a:sym typeface="Nunito Bold"/>
              </a:rPr>
              <a:t>Reduced filter-bubble effect and greater discovery opportunity</a:t>
            </a:r>
            <a:r>
              <a:rPr lang="en-US" sz="2200" b="true">
                <a:solidFill>
                  <a:srgbClr val="FFFFFF"/>
                </a:solidFill>
                <a:latin typeface="Nunito Semi-Bold"/>
                <a:ea typeface="Nunito Semi-Bold"/>
                <a:cs typeface="Nunito Semi-Bold"/>
                <a:sym typeface="Nunito Semi-Bold"/>
              </a:rPr>
              <a:t> — while NDCG and Recall also improve, so </a:t>
            </a:r>
            <a:r>
              <a:rPr lang="en-US" sz="2200" b="true">
                <a:solidFill>
                  <a:srgbClr val="FFFFFF"/>
                </a:solidFill>
                <a:latin typeface="Nunito Bold"/>
                <a:ea typeface="Nunito Bold"/>
                <a:cs typeface="Nunito Bold"/>
                <a:sym typeface="Nunito Bold"/>
              </a:rPr>
              <a:t>accuracy is not traded off for diversity</a:t>
            </a:r>
            <a:r>
              <a:rPr lang="en-US" sz="22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 Every Component Contributes</a:t>
            </a:r>
          </a:p>
        </p:txBody>
      </p:sp>
      <p:pic>
        <p:nvPicPr>
          <p:cNvPr id="8" name="Picture 7" descr="image.png"/>
          <p:cNvPicPr>
            <a:picLocks noChangeAspect="1"/>
          </p:cNvPicPr>
          <p:nvPr/>
        </p:nvPicPr>
        <p:blipFill>
          <a:blip r:embed="rId2"/>
          <a:stretch>
            <a:fillRect/>
          </a:stretch>
        </p:blipFill>
        <p:spPr>
          <a:xfrm>
            <a:off x="11955343" y="1673352"/>
            <a:ext cx="457200" cy="373212"/>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13" name="Table 12"/>
          <p:cNvGraphicFramePr>
            <a:graphicFrameLocks noGrp="1"/>
          </p:cNvGraphicFramePr>
          <p:nvPr/>
        </p:nvGraphicFramePr>
        <p:xfrm>
          <a:off x="1028700" y="3363722"/>
          <a:ext cx="9692640" cy="4650232"/>
        </p:xfrm>
        <a:graphic>
          <a:graphicData uri="http://schemas.openxmlformats.org/drawingml/2006/table">
            <a:tbl>
              <a:tblPr firstRow="0" bandRow="0" firstCol="0" lastRow="0" lastCol="0" bandCol="0">
                <a:tableStyleId>{2D5ABB26-0587-4C30-8999-92F81FD0307C}</a:tableStyleId>
              </a:tblPr>
              <a:tblGrid>
                <a:gridCol w="2743200"/>
                <a:gridCol w="2011680"/>
                <a:gridCol w="1371600"/>
                <a:gridCol w="2194560"/>
                <a:gridCol w="1371600"/>
              </a:tblGrid>
              <a:tr h="809752">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Variant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ML-1M NDCG@20</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 drop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Amazon NDCG@20</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 drop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40080">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Full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0.2775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0.0306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640080">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w/o Shapley value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0.2647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4.6 %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0.0287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6.1 %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40080">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w/o 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0.2586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6.8 %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0.0279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8.9 %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40080">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w/o Attention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0.2678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3.5 %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0.0295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3.5 %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40080">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w/o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0.2547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8.2 %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0.0272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11.0 %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40080">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w/o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0.2614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5.8 %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0.0288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470"/>
                        </a:lnSpc>
                        <a:spcBef>
                          <a:spcPts val="0"/>
                        </a:spcBef>
                        <a:buNone/>
                      </a:pPr>
                      <a:r>
                        <a:rPr lang="en-US" sz="1900" b="true">
                          <a:solidFill>
                            <a:srgbClr val="111111"/>
                          </a:solidFill>
                          <a:latin typeface="Nunito Semi-Bold"/>
                          <a:ea typeface="Nunito Semi-Bold"/>
                          <a:cs typeface="Nunito Semi-Bold"/>
                          <a:sym typeface="Nunito Semi-Bold"/>
                        </a:rPr>
                        <a:t>5.8 %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4" name="Rounded Rectangle 13"/>
          <p:cNvSpPr/>
          <p:nvPr/>
        </p:nvSpPr>
        <p:spPr>
          <a:xfrm>
            <a:off x="11178540" y="3592322"/>
            <a:ext cx="608076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5" name="Rounded Rectangle 14"/>
          <p:cNvSpPr/>
          <p:nvPr/>
        </p:nvSpPr>
        <p:spPr>
          <a:xfrm>
            <a:off x="11635740" y="3354578"/>
            <a:ext cx="175740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Reading</a:t>
            </a:r>
          </a:p>
        </p:txBody>
      </p:sp>
      <p:sp>
        <p:nvSpPr>
          <p:cNvPr id="16" name="TextBox 15"/>
          <p:cNvSpPr txBox="1"/>
          <p:nvPr/>
        </p:nvSpPr>
        <p:spPr>
          <a:xfrm>
            <a:off x="11635740" y="4232402"/>
            <a:ext cx="5212080" cy="480187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Context</a:t>
            </a:r>
            <a:r>
              <a:rPr lang="en-US" sz="1800" b="true">
                <a:solidFill>
                  <a:srgbClr val="FFFFFF"/>
                </a:solidFill>
                <a:latin typeface="Nunito Semi-Bold"/>
                <a:ea typeface="Nunito Semi-Bold"/>
                <a:cs typeface="Nunito Semi-Bold"/>
                <a:sym typeface="Nunito Semi-Bold"/>
              </a:rPr>
              <a:t> is the most influential component (−8.2 % / −11.0 %).</a:t>
            </a:r>
          </a:p>
          <a:p>
            <a:pPr algn="l" marL="274320" indent="-274320">
              <a:lnSpc>
                <a:spcPts val="2520"/>
              </a:lnSpc>
              <a:spcBef>
                <a:spcPts val="80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Hypergraph</a:t>
            </a:r>
            <a:r>
              <a:rPr lang="en-US" sz="1800" b="true">
                <a:solidFill>
                  <a:srgbClr val="FFFFFF"/>
                </a:solidFill>
                <a:latin typeface="Nunito Semi-Bold"/>
                <a:ea typeface="Nunito Semi-Bold"/>
                <a:cs typeface="Nunito Semi-Bold"/>
                <a:sym typeface="Nunito Semi-Bold"/>
              </a:rPr>
              <a:t> structure second (−6.8 % / −8.9 %).</a:t>
            </a:r>
          </a:p>
          <a:p>
            <a:pPr algn="l" marL="274320" indent="-274320">
              <a:lnSpc>
                <a:spcPts val="2520"/>
              </a:lnSpc>
              <a:spcBef>
                <a:spcPts val="8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Removing </a:t>
            </a:r>
            <a:r>
              <a:rPr lang="en-US" sz="1800" b="true">
                <a:solidFill>
                  <a:srgbClr val="FFFFFF"/>
                </a:solidFill>
                <a:latin typeface="Nunito Bold"/>
                <a:ea typeface="Nunito Bold"/>
                <a:cs typeface="Nunito Bold"/>
                <a:sym typeface="Nunito Bold"/>
              </a:rPr>
              <a:t>Shapley</a:t>
            </a:r>
            <a:r>
              <a:rPr lang="en-US" sz="1800" b="true">
                <a:solidFill>
                  <a:srgbClr val="FFFFFF"/>
                </a:solidFill>
                <a:latin typeface="Nunito Semi-Bold"/>
                <a:ea typeface="Nunito Semi-Bold"/>
                <a:cs typeface="Nunito Semi-Bold"/>
                <a:sym typeface="Nunito Semi-Bold"/>
              </a:rPr>
              <a:t> weighting costs 4.6 % / 6.1 % — larger on the sparser dataset.</a:t>
            </a:r>
          </a:p>
          <a:p>
            <a:pPr algn="l" marL="274320" indent="-274320">
              <a:lnSpc>
                <a:spcPts val="2520"/>
              </a:lnSpc>
              <a:spcBef>
                <a:spcPts val="8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Ablation is component-wise; it does not test factorial interactions.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8" name="Picture 7" descr="image.png"/>
          <p:cNvPicPr>
            <a:picLocks noChangeAspect="1"/>
          </p:cNvPicPr>
          <p:nvPr/>
        </p:nvPicPr>
        <p:blipFill>
          <a:blip r:embed="rId2"/>
          <a:stretch>
            <a:fillRect/>
          </a:stretch>
        </p:blipFill>
        <p:spPr>
          <a:xfrm>
            <a:off x="10646093" y="1673352"/>
            <a:ext cx="457200" cy="427074"/>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455162"/>
            <a:ext cx="385191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14" name="Rounded Rectangle 13"/>
          <p:cNvSpPr/>
          <p:nvPr/>
        </p:nvSpPr>
        <p:spPr>
          <a:xfrm>
            <a:off x="5154930" y="3455162"/>
            <a:ext cx="385191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15" name="Rounded Rectangle 14"/>
          <p:cNvSpPr/>
          <p:nvPr/>
        </p:nvSpPr>
        <p:spPr>
          <a:xfrm>
            <a:off x="9281160" y="3455162"/>
            <a:ext cx="385191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16" name="Rounded Rectangle 15"/>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17" name="Rounded Rectangle 16"/>
          <p:cNvSpPr/>
          <p:nvPr/>
        </p:nvSpPr>
        <p:spPr>
          <a:xfrm>
            <a:off x="1028700" y="6198362"/>
            <a:ext cx="7932420" cy="3155950"/>
          </a:xfrm>
          <a:prstGeom prst="roundRect">
            <a:avLst>
              <a:gd name="adj" fmla="val 9851"/>
            </a:avLst>
          </a:prstGeom>
          <a:solidFill>
            <a:srgbClr val="F6ECDF"/>
          </a:solidFill>
          <a:ln>
            <a:noFill/>
          </a:ln>
        </p:spPr>
        <p:txBody>
          <a:bodyPr anchor="ctr" rtlCol="false" lIns="0" tIns="0" rIns="0" bIns="0" wrap="square"/>
          <a:lstStyle/>
          <a:p>
            <a:endParaRPr lang="en-US" sz="1800"/>
          </a:p>
        </p:txBody>
      </p:sp>
      <p:sp>
        <p:nvSpPr>
          <p:cNvPr id="18" name="Rounded Rectangle 17"/>
          <p:cNvSpPr/>
          <p:nvPr/>
        </p:nvSpPr>
        <p:spPr>
          <a:xfrm>
            <a:off x="1485900" y="5960618"/>
            <a:ext cx="218505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19" name="TextBox 18"/>
          <p:cNvSpPr txBox="1"/>
          <p:nvPr/>
        </p:nvSpPr>
        <p:spPr>
          <a:xfrm>
            <a:off x="1531620" y="6838442"/>
            <a:ext cx="6972300" cy="160147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Per-epoch cost — propagation plus periodic Shapley refresh:</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Refresh every f = 10 batches keeps the overhead bounded.</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deployment</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20"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L</m:t>
                          </m:r>
                          <m:r>
                            <m:rPr>
                              <m:sty m:val="p"/>
                            </m:rPr>
                            <a:rPr lang="en-US" sz="2000">
                              <a:solidFill>
                                <a:srgbClr val="124944"/>
                              </a:solidFill>
                              <a:latin typeface="Cambria Math" panose="02040503050406030204" pitchFamily="18" charset="0"/>
                            </a:rPr>
                            <m:t xml:space="preserve">+1) </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d</m:t>
                          </m:r>
                        </m:e>
                      </m:d>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f</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m</m:t>
                          </m:r>
                        </m:e>
                      </m:d>
                    </m:oMath>
                  </m:oMathPara>
                </a14:m>
                <a:endParaRPr lang="en-US" sz="2000"/>
              </a:p>
            </p:txBody>
          </p:sp>
        </mc:Choice>
        <mc:Fallback>
          <p:sp>
            <p:nvSpPr>
              <p:cNvPr id="20" name="Equation"/>
              <p:cNvSpPr txBox="1"/>
              <p:nvPr/>
            </p:nvSpPr>
            <p:spPr>
              <a:xfrm>
                <a:off x="1531620" y="8485632"/>
                <a:ext cx="6926580" cy="640080"/>
              </a:xfrm>
              <a:prstGeom prst="rect">
                <a:avLst/>
              </a:prstGeom>
              <a:blipFill>
                <a:blip r:embed="rId4"/>
                <a:stretch>
                  <a:fillRect/>
                </a:stretch>
              </a:blipFill>
            </p:spPr>
            <p:txBody>
              <a:bodyPr/>
              <a:lstStyle/>
              <a:p>
                <a:endParaRPr lang="en-US"/>
              </a:p>
            </p:txBody>
          </p:sp>
        </mc:Fallback>
      </mc:AlternateContent>
      <p:sp>
        <p:nvSpPr>
          <p:cNvPr id="21" name="Rounded Rectangle 20"/>
          <p:cNvSpPr/>
          <p:nvPr/>
        </p:nvSpPr>
        <p:spPr>
          <a:xfrm>
            <a:off x="9326880" y="6198362"/>
            <a:ext cx="7932420" cy="3155950"/>
          </a:xfrm>
          <a:prstGeom prst="roundRect">
            <a:avLst>
              <a:gd name="adj" fmla="val 9851"/>
            </a:avLst>
          </a:prstGeom>
          <a:solidFill>
            <a:srgbClr val="124944"/>
          </a:solidFill>
          <a:ln>
            <a:noFill/>
          </a:ln>
        </p:spPr>
        <p:txBody>
          <a:bodyPr anchor="ctr" rtlCol="false" lIns="0" tIns="0" rIns="0" bIns="0" wrap="square"/>
          <a:lstStyle/>
          <a:p>
            <a:endParaRPr lang="en-US" sz="1800"/>
          </a:p>
        </p:txBody>
      </p:sp>
      <p:sp>
        <p:nvSpPr>
          <p:cNvPr id="22" name="Rounded Rectangle 21"/>
          <p:cNvSpPr/>
          <p:nvPr/>
        </p:nvSpPr>
        <p:spPr>
          <a:xfrm>
            <a:off x="9784080" y="596061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Convergence</a:t>
            </a:r>
          </a:p>
        </p:txBody>
      </p:sp>
      <p:sp>
        <p:nvSpPr>
          <p:cNvPr id="23" name="TextBox 22"/>
          <p:cNvSpPr txBox="1"/>
          <p:nvPr/>
        </p:nvSpPr>
        <p:spPr>
          <a:xfrm>
            <a:off x="9829800" y="6838442"/>
            <a:ext cx="6972300" cy="224155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 measurable, but modest.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8" name="Picture 7" descr="image.png"/>
          <p:cNvPicPr>
            <a:picLocks noChangeAspect="1"/>
          </p:cNvPicPr>
          <p:nvPr/>
        </p:nvPicPr>
        <p:blipFill>
          <a:blip r:embed="rId2"/>
          <a:stretch>
            <a:fillRect/>
          </a:stretch>
        </p:blipFill>
        <p:spPr>
          <a:xfrm>
            <a:off x="7141903" y="1673352"/>
            <a:ext cx="457200" cy="399005"/>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455162"/>
            <a:ext cx="5196840" cy="2194560"/>
          </a:xfrm>
          <a:prstGeom prst="roundRect">
            <a:avLst>
              <a:gd name="adj" fmla="val 12500"/>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14"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14"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15" name="TextBox 14"/>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16" name="Rounded Rectangle 15"/>
          <p:cNvSpPr/>
          <p:nvPr/>
        </p:nvSpPr>
        <p:spPr>
          <a:xfrm>
            <a:off x="6545580" y="3455162"/>
            <a:ext cx="5196840" cy="2194560"/>
          </a:xfrm>
          <a:prstGeom prst="roundRect">
            <a:avLst>
              <a:gd name="adj" fmla="val 12500"/>
            </a:avLst>
          </a:prstGeom>
          <a:solidFill>
            <a:srgbClr val="1E5F58"/>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17"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17"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18" name="TextBox 17"/>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19" name="Rounded Rectangle 18"/>
          <p:cNvSpPr/>
          <p:nvPr/>
        </p:nvSpPr>
        <p:spPr>
          <a:xfrm>
            <a:off x="12062460" y="3455162"/>
            <a:ext cx="5196840" cy="2194560"/>
          </a:xfrm>
          <a:prstGeom prst="roundRect">
            <a:avLst>
              <a:gd name="adj" fmla="val 12500"/>
            </a:avLst>
          </a:prstGeom>
          <a:solidFill>
            <a:srgbClr val="DF8330"/>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0"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20"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21" name="TextBox 20"/>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22" name="Rounded Rectangle 21"/>
          <p:cNvSpPr/>
          <p:nvPr/>
        </p:nvSpPr>
        <p:spPr>
          <a:xfrm>
            <a:off x="1028700" y="6289802"/>
            <a:ext cx="16230600" cy="3018790"/>
          </a:xfrm>
          <a:prstGeom prst="roundRect">
            <a:avLst>
              <a:gd name="adj" fmla="val 10298"/>
            </a:avLst>
          </a:prstGeom>
          <a:solidFill>
            <a:srgbClr val="F6ECDF"/>
          </a:solidFill>
          <a:ln>
            <a:noFill/>
          </a:ln>
        </p:spPr>
        <p:txBody>
          <a:bodyPr anchor="ctr" rtlCol="false" lIns="0" tIns="0" rIns="0" bIns="0" wrap="square"/>
          <a:lstStyle/>
          <a:p>
            <a:endParaRPr lang="en-US" sz="1800"/>
          </a:p>
        </p:txBody>
      </p:sp>
      <p:sp>
        <p:nvSpPr>
          <p:cNvPr id="23" name="Rounded Rectangle 22"/>
          <p:cNvSpPr/>
          <p:nvPr/>
        </p:nvSpPr>
        <p:spPr>
          <a:xfrm>
            <a:off x="1485900" y="6052058"/>
            <a:ext cx="179424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24" name="TextBox 23"/>
          <p:cNvSpPr txBox="1"/>
          <p:nvPr/>
        </p:nvSpPr>
        <p:spPr>
          <a:xfrm>
            <a:off x="1531620" y="6929882"/>
            <a:ext cx="15270480" cy="2104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DyHuCoG outperforms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extremely small p-values after Holm–Bonferroni correction.</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 the result does not depend on normality.</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 improvements are substantively meaningful, not merely statistically visible.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Cold-Start, Cross-Dataset Robustness and Interpretability</a:t>
            </a:r>
          </a:p>
        </p:txBody>
      </p:sp>
      <p:pic>
        <p:nvPicPr>
          <p:cNvPr id="8" name="Picture 7" descr="image.png"/>
          <p:cNvPicPr>
            <a:picLocks noChangeAspect="1"/>
          </p:cNvPicPr>
          <p:nvPr/>
        </p:nvPicPr>
        <p:blipFill>
          <a:blip r:embed="rId2"/>
          <a:stretch>
            <a:fillRect/>
          </a:stretch>
        </p:blipFill>
        <p:spPr>
          <a:xfrm>
            <a:off x="16119690" y="1673352"/>
            <a:ext cx="457200" cy="446713"/>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13" name="Rounded Rectangle 12"/>
          <p:cNvSpPr/>
          <p:nvPr/>
        </p:nvSpPr>
        <p:spPr>
          <a:xfrm>
            <a:off x="1028700" y="3592322"/>
            <a:ext cx="7932420" cy="2926080"/>
          </a:xfrm>
          <a:prstGeom prst="roundRect">
            <a:avLst>
              <a:gd name="adj" fmla="val 10625"/>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4398958"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Cold-start (≤ 5 interactions)</a:t>
            </a:r>
          </a:p>
        </p:txBody>
      </p:sp>
      <p:sp>
        <p:nvSpPr>
          <p:cNvPr id="15" name="TextBox 14"/>
          <p:cNvSpPr txBox="1"/>
          <p:nvPr/>
        </p:nvSpPr>
        <p:spPr>
          <a:xfrm>
            <a:off x="1531620" y="4232402"/>
            <a:ext cx="6972300" cy="201168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NDCG@20 ≈ </a:t>
            </a:r>
            <a:r>
              <a:rPr lang="en-US" sz="2000" b="true">
                <a:solidFill>
                  <a:srgbClr val="FFFFFF"/>
                </a:solidFill>
                <a:latin typeface="Nunito Bold"/>
                <a:ea typeface="Nunito Bold"/>
                <a:cs typeface="Nunito Bold"/>
                <a:sym typeface="Nunito Bold"/>
              </a:rPr>
              <a:t>0.061</a:t>
            </a:r>
            <a:r>
              <a:rPr lang="en-US" sz="2000" b="true">
                <a:solidFill>
                  <a:srgbClr val="FFFFFF"/>
                </a:solidFill>
                <a:latin typeface="Nunito Semi-Bold"/>
                <a:ea typeface="Nunito Semi-Bold"/>
                <a:cs typeface="Nunito Semi-Bold"/>
                <a:sym typeface="Nunito Semi-Bold"/>
              </a:rPr>
              <a:t> (user) and </a:t>
            </a:r>
            <a:r>
              <a:rPr lang="en-US" sz="2000" b="true">
                <a:solidFill>
                  <a:srgbClr val="FFFFFF"/>
                </a:solidFill>
                <a:latin typeface="Nunito Bold"/>
                <a:ea typeface="Nunito Bold"/>
                <a:cs typeface="Nunito Bold"/>
                <a:sym typeface="Nunito Bold"/>
              </a:rPr>
              <a:t>0.057</a:t>
            </a:r>
            <a:r>
              <a:rPr lang="en-US" sz="2000" b="true">
                <a:solidFill>
                  <a:srgbClr val="FFFFFF"/>
                </a:solidFill>
                <a:latin typeface="Nunito Semi-Bold"/>
                <a:ea typeface="Nunito Semi-Bold"/>
                <a:cs typeface="Nunito Semi-Bold"/>
                <a:sym typeface="Nunito Semi-Bold"/>
              </a:rPr>
              <a:t> (item).</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Improving over HPCF by </a:t>
            </a:r>
            <a:r>
              <a:rPr lang="en-US" sz="2000" b="true">
                <a:solidFill>
                  <a:srgbClr val="FFFFFF"/>
                </a:solidFill>
                <a:latin typeface="Nunito Bold"/>
                <a:ea typeface="Nunito Bold"/>
                <a:cs typeface="Nunito Bold"/>
                <a:sym typeface="Nunito Bold"/>
              </a:rPr>
              <a:t>≈ 10 %</a:t>
            </a:r>
            <a:r>
              <a:rPr lang="en-US" sz="2000" b="true">
                <a:solidFill>
                  <a:srgbClr val="FFFFFF"/>
                </a:solidFill>
                <a:latin typeface="Nunito Semi-Bold"/>
                <a:ea typeface="Nunito Semi-Bold"/>
                <a:cs typeface="Nunito Semi-Bold"/>
                <a:sym typeface="Nunito Semi-Bold"/>
              </a:rPr>
              <a:t> — Shapley weighting helps exactly where the signal is weakest.</a:t>
            </a:r>
          </a:p>
        </p:txBody>
      </p:sp>
      <p:sp>
        <p:nvSpPr>
          <p:cNvPr id="16" name="Rounded Rectangle 15"/>
          <p:cNvSpPr/>
          <p:nvPr/>
        </p:nvSpPr>
        <p:spPr>
          <a:xfrm>
            <a:off x="9326880" y="3592322"/>
            <a:ext cx="7932420" cy="2926080"/>
          </a:xfrm>
          <a:prstGeom prst="roundRect">
            <a:avLst>
              <a:gd name="adj" fmla="val 10625"/>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4733073" cy="438912"/>
          </a:xfrm>
          <a:prstGeom prst="roundRect">
            <a:avLst>
              <a:gd name="adj" fmla="val 50000"/>
            </a:avLst>
          </a:prstGeom>
          <a:solidFill>
            <a:srgbClr val="124944"/>
          </a:solidFill>
          <a:ln>
            <a:no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Cross-dataset NDCG@20 gain</a:t>
            </a:r>
          </a:p>
        </p:txBody>
      </p:sp>
      <p:sp>
        <p:nvSpPr>
          <p:cNvPr id="18" name="Rounded Rectangle 17"/>
          <p:cNvSpPr/>
          <p:nvPr/>
        </p:nvSpPr>
        <p:spPr>
          <a:xfrm>
            <a:off x="978408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+9.9 %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MovieLens-1M</a:t>
            </a:r>
          </a:p>
        </p:txBody>
      </p:sp>
      <p:sp>
        <p:nvSpPr>
          <p:cNvPr id="19" name="Rounded Rectangle 18"/>
          <p:cNvSpPr/>
          <p:nvPr/>
        </p:nvSpPr>
        <p:spPr>
          <a:xfrm>
            <a:off x="1219962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+14.8 %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Amazon-Book</a:t>
            </a:r>
          </a:p>
        </p:txBody>
      </p:sp>
      <p:sp>
        <p:nvSpPr>
          <p:cNvPr id="20" name="Rounded Rectangle 19"/>
          <p:cNvSpPr/>
          <p:nvPr/>
        </p:nvSpPr>
        <p:spPr>
          <a:xfrm>
            <a:off x="1461516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+11.8 %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Yelp2018</a:t>
            </a:r>
          </a:p>
        </p:txBody>
      </p:sp>
      <p:sp>
        <p:nvSpPr>
          <p:cNvPr id="21" name="Rounded Rectangle 20"/>
          <p:cNvSpPr/>
          <p:nvPr/>
        </p:nvSpPr>
        <p:spPr>
          <a:xfrm>
            <a:off x="1028700" y="7112762"/>
            <a:ext cx="16230600" cy="2195830"/>
          </a:xfrm>
          <a:prstGeom prst="roundRect">
            <a:avLst>
              <a:gd name="adj" fmla="val 14158"/>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485900" y="6875018"/>
            <a:ext cx="503150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Interpretability &amp; popularity bias</a:t>
            </a:r>
          </a:p>
        </p:txBody>
      </p:sp>
      <p:sp>
        <p:nvSpPr>
          <p:cNvPr id="23" name="TextBox 22"/>
          <p:cNvSpPr txBox="1"/>
          <p:nvPr/>
        </p:nvSpPr>
        <p:spPr>
          <a:xfrm>
            <a:off x="1531620" y="7752842"/>
            <a:ext cx="15270480" cy="1281430"/>
          </a:xfrm>
          <a:prstGeom prst="rect">
            <a:avLst/>
          </a:prstGeom>
          <a:noFill/>
        </p:spPr>
        <p:txBody>
          <a:bodyPr anchor="t" rtlCol="false" lIns="0" tIns="0" rIns="0" bIns="0" wrap="square"/>
          <a:lstStyle/>
          <a:p>
            <a:pPr algn="l" marL="274320" indent="-274320">
              <a:lnSpc>
                <a:spcPts val="2852"/>
              </a:lnSpc>
              <a:spcBef>
                <a:spcPts val="0"/>
              </a:spcBef>
              <a:buClr>
                <a:srgbClr val="DF8330"/>
              </a:buClr>
              <a:buSzPct val="100000"/>
              <a:buFont typeface="Arial"/>
              <a:buChar char="•"/>
            </a:pPr>
            <a:r>
              <a:rPr lang="en-US" sz="2037" b="true">
                <a:solidFill>
                  <a:srgbClr val="111111"/>
                </a:solidFill>
                <a:latin typeface="Nunito Semi-Bold"/>
                <a:ea typeface="Nunito Semi-Bold"/>
                <a:cs typeface="Nunito Semi-Bold"/>
                <a:sym typeface="Nunito Semi-Bold"/>
              </a:rPr>
              <a:t>A </a:t>
            </a:r>
            <a:r>
              <a:rPr lang="en-US" sz="2037" b="true">
                <a:solidFill>
                  <a:srgbClr val="111111"/>
                </a:solidFill>
                <a:latin typeface="Nunito Bold"/>
                <a:ea typeface="Nunito Bold"/>
                <a:cs typeface="Nunito Bold"/>
                <a:sym typeface="Nunito Bold"/>
              </a:rPr>
              <a:t>SHAP waterfall</a:t>
            </a:r>
            <a:r>
              <a:rPr lang="en-US" sz="2037" b="true">
                <a:solidFill>
                  <a:srgbClr val="111111"/>
                </a:solidFill>
                <a:latin typeface="Nunito Semi-Bold"/>
                <a:ea typeface="Nunito Semi-Bold"/>
                <a:cs typeface="Nunito Semi-Bold"/>
                <a:sym typeface="Nunito Semi-Bold"/>
              </a:rPr>
              <a:t> decomposes a recommendation into ranking, diversity, context and preference contributions.</a:t>
            </a:r>
          </a:p>
          <a:p>
            <a:pPr algn="l" marL="274320" indent="-274320">
              <a:lnSpc>
                <a:spcPts val="2852"/>
              </a:lnSpc>
              <a:spcBef>
                <a:spcPts val="873"/>
              </a:spcBef>
              <a:buClr>
                <a:srgbClr val="DF8330"/>
              </a:buClr>
              <a:buSzPct val="100000"/>
              <a:buFont typeface="Arial"/>
              <a:buChar char="•"/>
            </a:pPr>
            <a:r>
              <a:rPr lang="en-US" sz="2037" b="true">
                <a:solidFill>
                  <a:srgbClr val="111111"/>
                </a:solidFill>
                <a:latin typeface="Nunito Semi-Bold"/>
                <a:ea typeface="Nunito Semi-Bold"/>
                <a:cs typeface="Nunito Semi-Bold"/>
                <a:sym typeface="Nunito Semi-Bold"/>
              </a:rPr>
              <a:t>Shapley measures </a:t>
            </a:r>
            <a:r>
              <a:rPr lang="en-US" sz="2037" b="true">
                <a:solidFill>
                  <a:srgbClr val="111111"/>
                </a:solidFill>
                <a:latin typeface="Nunito Bold"/>
                <a:ea typeface="Nunito Bold"/>
                <a:cs typeface="Nunito Bold"/>
                <a:sym typeface="Nunito Bold"/>
              </a:rPr>
              <a:t>marginal utility, not raw frequency</a:t>
            </a:r>
            <a:r>
              <a:rPr lang="en-US" sz="2037" b="true">
                <a:solidFill>
                  <a:srgbClr val="111111"/>
                </a:solidFill>
                <a:latin typeface="Nunito Semi-Bold"/>
                <a:ea typeface="Nunito Semi-Bold"/>
                <a:cs typeface="Nunito Semi-Bold"/>
                <a:sym typeface="Nunito Semi-Bold"/>
              </a:rPr>
              <a:t> — weak but informative interactions retain influence, which counters popularity bias.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Key Findings and Limitations</a:t>
            </a:r>
          </a:p>
        </p:txBody>
      </p:sp>
      <p:pic>
        <p:nvPicPr>
          <p:cNvPr id="8" name="Picture 7" descr="image.png"/>
          <p:cNvPicPr>
            <a:picLocks noChangeAspect="1"/>
          </p:cNvPicPr>
          <p:nvPr/>
        </p:nvPicPr>
        <p:blipFill>
          <a:blip r:embed="rId2"/>
          <a:stretch>
            <a:fillRect/>
          </a:stretch>
        </p:blipFill>
        <p:spPr>
          <a:xfrm>
            <a:off x="11313629" y="1673352"/>
            <a:ext cx="457200" cy="452148"/>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13" name="Rounded Rectangle 12"/>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14" name="Rounded Rectangle 13"/>
          <p:cNvSpPr/>
          <p:nvPr/>
        </p:nvSpPr>
        <p:spPr>
          <a:xfrm>
            <a:off x="1485900" y="3354578"/>
            <a:ext cx="5763332"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RQ3 &amp; RQ4 answered · objectives met</a:t>
            </a:r>
          </a:p>
        </p:txBody>
      </p:sp>
      <p:sp>
        <p:nvSpPr>
          <p:cNvPr id="15" name="TextBox 14"/>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RQ3 — yes:</a:t>
            </a:r>
            <a:r>
              <a:rPr lang="en-US" sz="1800" b="true">
                <a:solidFill>
                  <a:srgbClr val="FFFFFF"/>
                </a:solidFill>
                <a:latin typeface="Nunito Semi-Bold"/>
                <a:ea typeface="Nunito Semi-Bold"/>
                <a:cs typeface="Nunito Semi-Bold"/>
                <a:sym typeface="Nunito Semi-Bold"/>
              </a:rPr>
              <a:t> attribution becomes an </a:t>
            </a:r>
            <a:r>
              <a:rPr lang="en-US" sz="1800" b="true">
                <a:solidFill>
                  <a:srgbClr val="FFFFFF"/>
                </a:solidFill>
                <a:latin typeface="Nunito Bold"/>
                <a:ea typeface="Nunito Bold"/>
                <a:cs typeface="Nunito Bold"/>
                <a:sym typeface="Nunito Bold"/>
              </a:rPr>
              <a:t>in-training signal</a:t>
            </a:r>
            <a:r>
              <a:rPr lang="en-US" sz="1800" b="true">
                <a:solidFill>
                  <a:srgbClr val="FFFFFF"/>
                </a:solidFill>
                <a:latin typeface="Nunito Semi-Bold"/>
                <a:ea typeface="Nunito Semi-Bold"/>
                <a:cs typeface="Nunito Semi-Bold"/>
                <a:sym typeface="Nunito Semi-Bold"/>
              </a:rPr>
              <a:t>, not a post-hoc diagnostic.</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RQ4 — yes:</a:t>
            </a:r>
            <a:r>
              <a:rPr lang="en-US" sz="1800" b="true">
                <a:solidFill>
                  <a:srgbClr val="FFFFFF"/>
                </a:solidFill>
                <a:latin typeface="Nunito Semi-Bold"/>
                <a:ea typeface="Nunito Semi-Bold"/>
                <a:cs typeface="Nunito Semi-Bold"/>
                <a:sym typeface="Nunito Semi-Bold"/>
              </a:rPr>
              <a:t> ranking, coverage and diversity </a:t>
            </a:r>
            <a:r>
              <a:rPr lang="en-US" sz="1800" b="true">
                <a:solidFill>
                  <a:srgbClr val="FFFFFF"/>
                </a:solidFill>
                <a:latin typeface="Nunito Bold"/>
                <a:ea typeface="Nunito Bold"/>
                <a:cs typeface="Nunito Bold"/>
                <a:sym typeface="Nunito Bold"/>
              </a:rPr>
              <a:t>improve together</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O1 met</a:t>
            </a:r>
            <a:r>
              <a:rPr lang="en-US" sz="1800" b="true">
                <a:solidFill>
                  <a:srgbClr val="FFFFFF"/>
                </a:solidFill>
                <a:latin typeface="Nunito Semi-Bold"/>
                <a:ea typeface="Nunito Semi-Bold"/>
                <a:cs typeface="Nunito Semi-Bold"/>
                <a:sym typeface="Nunito Semi-Bold"/>
              </a:rPr>
              <a:t> · recommendation formulated as a cooperative game over users, items and contexts.</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O2 met</a:t>
            </a:r>
            <a:r>
              <a:rPr lang="en-US" sz="1800" b="true">
                <a:solidFill>
                  <a:srgbClr val="FFFFFF"/>
                </a:solidFill>
                <a:latin typeface="Nunito Semi-Bold"/>
                <a:ea typeface="Nunito Semi-Bold"/>
                <a:cs typeface="Nunito Semi-Bold"/>
                <a:sym typeface="Nunito Semi-Bold"/>
              </a:rPr>
              <a:t> · preference-aware Monte Carlo Shapley embedded in message passing.</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O3 met</a:t>
            </a:r>
            <a:r>
              <a:rPr lang="en-US" sz="1800" b="true">
                <a:solidFill>
                  <a:srgbClr val="FFFFFF"/>
                </a:solidFill>
                <a:latin typeface="Nunito Semi-Bold"/>
                <a:ea typeface="Nunito Semi-Bold"/>
                <a:cs typeface="Nunito Semi-Bold"/>
                <a:sym typeface="Nunito Semi-Bold"/>
              </a:rPr>
              <a:t> · +9.9 % (MovieLens) / +14.8 % (Amazon) NDCG with higher coverage and diversity.</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The accuracy–diversity–context trade-off is </a:t>
            </a:r>
            <a:r>
              <a:rPr lang="en-US" sz="1800" b="true">
                <a:solidFill>
                  <a:srgbClr val="FFFFFF"/>
                </a:solidFill>
                <a:latin typeface="Nunito Bold"/>
                <a:ea typeface="Nunito Bold"/>
                <a:cs typeface="Nunito Bold"/>
                <a:sym typeface="Nunito Bold"/>
              </a:rPr>
              <a:t>not structurally fixed</a:t>
            </a:r>
            <a:r>
              <a:rPr lang="en-US" sz="1800" b="true">
                <a:solidFill>
                  <a:srgbClr val="FFFFFF"/>
                </a:solidFill>
                <a:latin typeface="Nunito Semi-Bold"/>
                <a:ea typeface="Nunito Semi-Bold"/>
                <a:cs typeface="Nunito Semi-Bold"/>
                <a:sym typeface="Nunito Semi-Bold"/>
              </a:rPr>
              <a:t>; largest gains on the sparsest data.</a:t>
            </a:r>
          </a:p>
        </p:txBody>
      </p:sp>
      <p:sp>
        <p:nvSpPr>
          <p:cNvPr id="16" name="Rounded Rectangle 15"/>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17" name="Rounded Rectangle 16"/>
          <p:cNvSpPr/>
          <p:nvPr/>
        </p:nvSpPr>
        <p:spPr>
          <a:xfrm>
            <a:off x="9784080" y="3354578"/>
            <a:ext cx="214562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Limitations</a:t>
            </a:r>
          </a:p>
        </p:txBody>
      </p:sp>
      <p:sp>
        <p:nvSpPr>
          <p:cNvPr id="18" name="TextBox 17"/>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520"/>
              </a:lnSpc>
              <a:spcBef>
                <a:spcPts val="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Measurable computational overhead — roughly </a:t>
            </a:r>
            <a:r>
              <a:rPr lang="en-US" sz="1800" b="true">
                <a:solidFill>
                  <a:srgbClr val="111111"/>
                </a:solidFill>
                <a:latin typeface="Nunito Bold"/>
                <a:ea typeface="Nunito Bold"/>
                <a:cs typeface="Nunito Bold"/>
                <a:sym typeface="Nunito Bold"/>
              </a:rPr>
              <a:t>1.78× training time</a:t>
            </a:r>
            <a:r>
              <a:rPr lang="en-US" sz="1800" b="true">
                <a:solidFill>
                  <a:srgbClr val="111111"/>
                </a:solidFill>
                <a:latin typeface="Nunito Semi-Bold"/>
                <a:ea typeface="Nunito Semi-Bold"/>
                <a:cs typeface="Nunito Semi-Bold"/>
                <a:sym typeface="Nunito Semi-Bold"/>
              </a:rPr>
              <a:t> over HPCF.</a:t>
            </a:r>
          </a:p>
          <a:p>
            <a:pPr algn="l" marL="274320" indent="-274320">
              <a:lnSpc>
                <a:spcPts val="2520"/>
              </a:lnSpc>
              <a:spcBef>
                <a:spcPts val="7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Depends on the availability of </a:t>
            </a:r>
            <a:r>
              <a:rPr lang="en-US" sz="1800" b="true">
                <a:solidFill>
                  <a:srgbClr val="111111"/>
                </a:solidFill>
                <a:latin typeface="Nunito Bold"/>
                <a:ea typeface="Nunito Bold"/>
                <a:cs typeface="Nunito Bold"/>
                <a:sym typeface="Nunito Bold"/>
              </a:rPr>
              <a:t>meaningful context</a:t>
            </a:r>
            <a:r>
              <a:rPr lang="en-US" sz="1800" b="true">
                <a:solidFill>
                  <a:srgbClr val="111111"/>
                </a:solidFill>
                <a:latin typeface="Nunito Semi-Bold"/>
                <a:ea typeface="Nunito Semi-Bold"/>
                <a:cs typeface="Nunito Semi-Bold"/>
                <a:sym typeface="Nunito Semi-Bold"/>
              </a:rPr>
              <a:t>.</a:t>
            </a:r>
          </a:p>
          <a:p>
            <a:pPr algn="l" marL="274320" indent="-274320">
              <a:lnSpc>
                <a:spcPts val="2520"/>
              </a:lnSpc>
              <a:spcBef>
                <a:spcPts val="7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Monte Carlo Shapley could be improved by </a:t>
            </a:r>
            <a:r>
              <a:rPr lang="en-US" sz="1800" b="true">
                <a:solidFill>
                  <a:srgbClr val="111111"/>
                </a:solidFill>
                <a:latin typeface="Nunito Bold"/>
                <a:ea typeface="Nunito Bold"/>
                <a:cs typeface="Nunito Bold"/>
                <a:sym typeface="Nunito Bold"/>
              </a:rPr>
              <a:t>variance reduction</a:t>
            </a:r>
            <a:r>
              <a:rPr lang="en-US" sz="1800" b="true">
                <a:solidFill>
                  <a:srgbClr val="111111"/>
                </a:solidFill>
                <a:latin typeface="Nunito Semi-Bold"/>
                <a:ea typeface="Nunito Semi-Bold"/>
                <a:cs typeface="Nunito Semi-Bold"/>
                <a:sym typeface="Nunito Semi-Bold"/>
              </a:rPr>
              <a:t>.</a:t>
            </a:r>
          </a:p>
          <a:p>
            <a:pPr algn="l" marL="274320" indent="-274320">
              <a:lnSpc>
                <a:spcPts val="2520"/>
              </a:lnSpc>
              <a:spcBef>
                <a:spcPts val="7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Ablation is component-wise, so it does not test factorial interactions.</a:t>
            </a:r>
          </a:p>
          <a:p>
            <a:pPr algn="l" marL="274320" indent="-274320">
              <a:lnSpc>
                <a:spcPts val="2520"/>
              </a:lnSpc>
              <a:spcBef>
                <a:spcPts val="7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Baselines finalised through early 2026 — superiority is claimed </a:t>
            </a:r>
            <a:r>
              <a:rPr lang="en-US" sz="1800" b="true">
                <a:solidFill>
                  <a:srgbClr val="111111"/>
                </a:solidFill>
                <a:latin typeface="Nunito Bold"/>
                <a:ea typeface="Nunito Bold"/>
                <a:cs typeface="Nunito Bold"/>
                <a:sym typeface="Nunito Bold"/>
              </a:rPr>
              <a:t>only against the tested baselines</a:t>
            </a:r>
            <a:r>
              <a:rPr lang="en-US" sz="18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 DYHUCOG: A DYNAMIC HYPERGRAPH COOPERATIVE GAME</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Takeaways</a:t>
            </a:r>
          </a:p>
        </p:txBody>
      </p:sp>
      <p:pic>
        <p:nvPicPr>
          <p:cNvPr id="8" name="Picture 7" descr="image.png"/>
          <p:cNvPicPr>
            <a:picLocks noChangeAspect="1"/>
          </p:cNvPicPr>
          <p:nvPr/>
        </p:nvPicPr>
        <p:blipFill>
          <a:blip r:embed="rId2"/>
          <a:stretch>
            <a:fillRect/>
          </a:stretch>
        </p:blipFill>
        <p:spPr>
          <a:xfrm>
            <a:off x="4275374" y="1673352"/>
            <a:ext cx="457200" cy="415247"/>
          </a:xfrm>
          <a:prstGeom prst="rect">
            <a:avLst/>
          </a:prstGeom>
        </p:spPr>
      </p:pic>
      <p:sp>
        <p:nvSpPr>
          <p:cNvPr id="9" name="Rounded Rectangle 8"/>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10" name="Rounded Rectangle 9"/>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11" name="Rounded Rectangle 10"/>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12" name="Rounded Rectangle 11"/>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13" name="Rounded Rectangle 12"/>
          <p:cNvSpPr/>
          <p:nvPr/>
        </p:nvSpPr>
        <p:spPr>
          <a:xfrm>
            <a:off x="1028700" y="3455162"/>
            <a:ext cx="3851910" cy="3840480"/>
          </a:xfrm>
          <a:prstGeom prst="roundRect">
            <a:avLst>
              <a:gd name="adj" fmla="val 7142"/>
            </a:avLst>
          </a:prstGeom>
          <a:solidFill>
            <a:srgbClr val="124944"/>
          </a:solidFill>
          <a:ln>
            <a:noFill/>
          </a:ln>
        </p:spPr>
        <p:txBody>
          <a:bodyPr anchor="t" rtlCol="false" lIns="365760" tIns="365760" rIns="320040" bIns="27432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200"/>
              </a:spcBef>
              <a:buNone/>
            </a:pPr>
            <a:r>
              <a:rPr lang="en-US" sz="1900" b="true">
                <a:solidFill>
                  <a:srgbClr val="F7F2EA"/>
                </a:solidFill>
                <a:latin typeface="Nunito Semi-Bold"/>
                <a:ea typeface="Nunito Semi-Bold"/>
                <a:cs typeface="Nunito Semi-Bold"/>
                <a:sym typeface="Nunito Semi-Bold"/>
              </a:rPr>
              <a:t>Attribution is a first-class part of the learning objective, not a post-hoc diagnostic.</a:t>
            </a:r>
          </a:p>
        </p:txBody>
      </p:sp>
      <p:sp>
        <p:nvSpPr>
          <p:cNvPr id="14" name="Rounded Rectangle 13"/>
          <p:cNvSpPr/>
          <p:nvPr/>
        </p:nvSpPr>
        <p:spPr>
          <a:xfrm>
            <a:off x="5154930" y="3455162"/>
            <a:ext cx="3851910" cy="3840480"/>
          </a:xfrm>
          <a:prstGeom prst="roundRect">
            <a:avLst>
              <a:gd name="adj" fmla="val 7142"/>
            </a:avLst>
          </a:prstGeom>
          <a:solidFill>
            <a:srgbClr val="1E5F58"/>
          </a:solidFill>
          <a:ln>
            <a:noFill/>
          </a:ln>
        </p:spPr>
        <p:txBody>
          <a:bodyPr anchor="t" rtlCol="false" lIns="365760" tIns="365760" rIns="320040" bIns="27432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200"/>
              </a:spcBef>
              <a:buNone/>
            </a:pPr>
            <a:r>
              <a:rPr lang="en-US" sz="1900" b="true">
                <a:solidFill>
                  <a:srgbClr val="F7F2EA"/>
                </a:solidFill>
                <a:latin typeface="Nunito Semi-Bold"/>
                <a:ea typeface="Nunito Semi-Bold"/>
                <a:cs typeface="Nunito Semi-Bold"/>
                <a:sym typeface="Nunito Semi-Bold"/>
              </a:rPr>
              <a:t>The explanation is a direct read-out of the objective the model already optimises.</a:t>
            </a:r>
          </a:p>
        </p:txBody>
      </p:sp>
      <p:sp>
        <p:nvSpPr>
          <p:cNvPr id="15" name="Rounded Rectangle 14"/>
          <p:cNvSpPr/>
          <p:nvPr/>
        </p:nvSpPr>
        <p:spPr>
          <a:xfrm>
            <a:off x="9281160" y="3455162"/>
            <a:ext cx="3851910" cy="3840480"/>
          </a:xfrm>
          <a:prstGeom prst="roundRect">
            <a:avLst>
              <a:gd name="adj" fmla="val 7142"/>
            </a:avLst>
          </a:prstGeom>
          <a:solidFill>
            <a:srgbClr val="DF8330"/>
          </a:solidFill>
          <a:ln>
            <a:noFill/>
          </a:ln>
        </p:spPr>
        <p:txBody>
          <a:bodyPr anchor="t" rtlCol="false" lIns="365760" tIns="365760" rIns="320040" bIns="27432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Faithful</a:t>
            </a:r>
          </a:p>
          <a:p>
            <a:pPr algn="l">
              <a:lnSpc>
                <a:spcPts val="2400"/>
              </a:lnSpc>
              <a:spcBef>
                <a:spcPts val="1200"/>
              </a:spcBef>
              <a:buNone/>
            </a:pPr>
            <a:r>
              <a:rPr lang="en-US" sz="1900" b="true">
                <a:solidFill>
                  <a:srgbClr val="F7F2EA"/>
                </a:solidFill>
                <a:latin typeface="Nunito Semi-Bold"/>
                <a:ea typeface="Nunito Semi-Bold"/>
                <a:cs typeface="Nunito Semi-Bold"/>
                <a:sym typeface="Nunito Semi-Bold"/>
              </a:rPr>
              <a:t>This makes the explanation structurally faithful rather than an external approximation.</a:t>
            </a:r>
          </a:p>
        </p:txBody>
      </p:sp>
      <p:sp>
        <p:nvSpPr>
          <p:cNvPr id="16" name="Rounded Rectangle 15"/>
          <p:cNvSpPr/>
          <p:nvPr/>
        </p:nvSpPr>
        <p:spPr>
          <a:xfrm>
            <a:off x="13407390" y="3455162"/>
            <a:ext cx="3851910" cy="3840480"/>
          </a:xfrm>
          <a:prstGeom prst="roundRect">
            <a:avLst>
              <a:gd name="adj" fmla="val 7142"/>
            </a:avLst>
          </a:prstGeom>
          <a:solidFill>
            <a:srgbClr val="111111"/>
          </a:solidFill>
          <a:ln>
            <a:noFill/>
          </a:ln>
        </p:spPr>
        <p:txBody>
          <a:bodyPr anchor="t" rtlCol="false" lIns="365760" tIns="365760" rIns="320040" bIns="27432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Axiomatic</a:t>
            </a:r>
          </a:p>
          <a:p>
            <a:pPr algn="l">
              <a:lnSpc>
                <a:spcPts val="2400"/>
              </a:lnSpc>
              <a:spcBef>
                <a:spcPts val="1200"/>
              </a:spcBef>
              <a:buNone/>
            </a:pPr>
            <a:r>
              <a:rPr lang="en-US" sz="1900" b="true">
                <a:solidFill>
                  <a:srgbClr val="F7F2EA"/>
                </a:solidFill>
                <a:latin typeface="Nunito Semi-Bold"/>
                <a:ea typeface="Nunito Semi-Bold"/>
                <a:cs typeface="Nunito Semi-Bold"/>
                <a:sym typeface="Nunito Semi-Bold"/>
              </a:rPr>
              <a:t>Built on a principled, axiomatic basis — aligned with trustworthy-AI expectations.</a:t>
            </a:r>
          </a:p>
        </p:txBody>
      </p:sp>
      <p:sp>
        <p:nvSpPr>
          <p:cNvPr id="17" name="Rounded Rectangle 16"/>
          <p:cNvSpPr/>
          <p:nvPr/>
        </p:nvSpPr>
        <p:spPr>
          <a:xfrm>
            <a:off x="1028700" y="7752842"/>
            <a:ext cx="16230600" cy="1601470"/>
          </a:xfrm>
          <a:prstGeom prst="roundRect">
            <a:avLst>
              <a:gd name="adj" fmla="val 17129"/>
            </a:avLst>
          </a:prstGeom>
          <a:noFill/>
          <a:ln w="31750">
            <a:solidFill>
              <a:srgbClr val="124944"/>
            </a:solidFill>
          </a:ln>
        </p:spPr>
        <p:txBody>
          <a:bodyPr anchor="ctr" rtlCol="false" lIns="457200" tIns="91440" rIns="457200" bIns="91440" wrap="square"/>
          <a:lstStyle/>
          <a:p>
            <a:pPr algn="ctr">
              <a:lnSpc>
                <a:spcPts val="3200"/>
              </a:lnSpc>
              <a:spcBef>
                <a:spcPts val="0"/>
              </a:spcBef>
              <a:buNone/>
            </a:pPr>
            <a:r>
              <a:rPr lang="en-US" sz="2600" b="true">
                <a:solidFill>
                  <a:srgbClr val="111111"/>
                </a:solidFill>
                <a:latin typeface="Nunito Bold"/>
                <a:ea typeface="Nunito Bold"/>
                <a:cs typeface="Nunito Bold"/>
                <a:sym typeface="Nunito Bold"/>
              </a:rPr>
              <a:t>From </a:t>
            </a:r>
            <a:r>
              <a:rPr lang="en-US" sz="2600" b="true">
                <a:solidFill>
                  <a:srgbClr val="111111"/>
                </a:solidFill>
                <a:latin typeface="Nunito Bold"/>
                <a:ea typeface="Nunito Bold"/>
                <a:cs typeface="Nunito Bold"/>
                <a:sym typeface="Nunito Bold"/>
              </a:rPr>
              <a:t>post-hoc description</a:t>
            </a:r>
            <a:r>
              <a:rPr lang="en-US" sz="2600" b="true">
                <a:solidFill>
                  <a:srgbClr val="111111"/>
                </a:solidFill>
                <a:latin typeface="Nunito Bold"/>
                <a:ea typeface="Nunito Bold"/>
                <a:cs typeface="Nunito Bold"/>
                <a:sym typeface="Nunito Bold"/>
              </a:rPr>
              <a:t> (C1, C2) to </a:t>
            </a:r>
            <a:r>
              <a:rPr lang="en-US" sz="2600" b="true">
                <a:solidFill>
                  <a:srgbClr val="111111"/>
                </a:solidFill>
                <a:latin typeface="Nunito Bold"/>
                <a:ea typeface="Nunito Bold"/>
                <a:cs typeface="Nunito Bold"/>
                <a:sym typeface="Nunito Bold"/>
              </a:rPr>
              <a:t>in-training guidance</a:t>
            </a:r>
            <a:r>
              <a:rPr lang="en-US" sz="2600" b="true">
                <a:solidFill>
                  <a:srgbClr val="111111"/>
                </a:solidFill>
                <a:latin typeface="Nunito Bold"/>
                <a:ea typeface="Nunito Bold"/>
                <a:cs typeface="Nunito Bold"/>
                <a:sym typeface="Nunito Bold"/>
              </a:rPr>
              <a:t> (C3) — the strongest claim of the thesis.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6" name="TextBox 5"/>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7" name="Oval 6"/>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8" name="TextBox 7"/>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Synthesis, publications, limitations and perspectives</a:t>
            </a:r>
          </a:p>
        </p:txBody>
      </p:sp>
      <p:sp>
        <p:nvSpPr>
          <p:cNvPr id="10" name="Rectangle 9"/>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1" name="TextBox 10"/>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2" name="Connector 11"/>
          <p:cNvCxnSpPr/>
          <p:nvPr/>
        </p:nvCxnSpPr>
        <p:spPr>
          <a:xfrm>
            <a:off x="1028700" y="6464808"/>
            <a:ext cx="640080" cy="0"/>
          </a:xfrm>
          <a:prstGeom prst="line">
            <a:avLst/>
          </a:prstGeom>
          <a:ln w="31750">
            <a:solidFill>
              <a:srgbClr val="ECC665"/>
            </a:solidFill>
          </a:ln>
        </p:spPr>
      </p:cxnSp>
      <p:sp>
        <p:nvSpPr>
          <p:cNvPr id="13" name="TextBox 12"/>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hierarchical coherence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4" name="TextBox 13"/>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5" name="Connector 14"/>
          <p:cNvCxnSpPr/>
          <p:nvPr/>
        </p:nvCxnSpPr>
        <p:spPr>
          <a:xfrm>
            <a:off x="6576060" y="6464808"/>
            <a:ext cx="640080" cy="0"/>
          </a:xfrm>
          <a:prstGeom prst="line">
            <a:avLst/>
          </a:prstGeom>
          <a:ln w="31750">
            <a:solidFill>
              <a:srgbClr val="ECC665"/>
            </a:solidFill>
          </a:ln>
        </p:spPr>
      </p:cxnSp>
      <p:sp>
        <p:nvSpPr>
          <p:cNvPr id="16" name="TextBox 15"/>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human-subject actionability study yet.</a:t>
            </a:r>
          </a:p>
        </p:txBody>
      </p:sp>
      <p:sp>
        <p:nvSpPr>
          <p:cNvPr id="17" name="TextBox 16"/>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8" name="Connector 17"/>
          <p:cNvCxnSpPr/>
          <p:nvPr/>
        </p:nvCxnSpPr>
        <p:spPr>
          <a:xfrm>
            <a:off x="12123420" y="6464808"/>
            <a:ext cx="640080" cy="0"/>
          </a:xfrm>
          <a:prstGeom prst="line">
            <a:avLst/>
          </a:prstGeom>
          <a:ln w="31750">
            <a:solidFill>
              <a:srgbClr val="ECC665"/>
            </a:solidFill>
          </a:ln>
        </p:spPr>
      </p:cxnSp>
      <p:sp>
        <p:nvSpPr>
          <p:cNvPr id="19" name="TextBox 18"/>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online/streaming recommendation, human-centred and trustworthy-AI evaluation.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8" name="Picture 7" descr="image.png"/>
          <p:cNvPicPr>
            <a:picLocks noChangeAspect="1"/>
          </p:cNvPicPr>
          <p:nvPr/>
        </p:nvPicPr>
        <p:blipFill>
          <a:blip r:embed="rId2"/>
          <a:stretch>
            <a:fillRect/>
          </a:stretch>
        </p:blipFill>
        <p:spPr>
          <a:xfrm>
            <a:off x="10723663" y="1673352"/>
            <a:ext cx="457200" cy="250983"/>
          </a:xfrm>
          <a:prstGeom prst="rect">
            <a:avLst/>
          </a:prstGeom>
        </p:spPr>
      </p:pic>
      <p:sp>
        <p:nvSpPr>
          <p:cNvPr id="9" name="Rounded Rectangle 8"/>
          <p:cNvSpPr/>
          <p:nvPr/>
        </p:nvSpPr>
        <p:spPr>
          <a:xfrm>
            <a:off x="1028700" y="2559050"/>
            <a:ext cx="160443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10" name="Rounded Rectangle 9"/>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11" name="Rounded Rectangle 10"/>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12" name="Rounded Rectangle 11"/>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13" name="Rounded Rectangle 12"/>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14" name="Table 13"/>
          <p:cNvGraphicFramePr>
            <a:graphicFrameLocks noGrp="1"/>
          </p:cNvGraphicFramePr>
          <p:nvPr/>
        </p:nvGraphicFramePr>
        <p:xfrm>
          <a:off x="1028700" y="3363722"/>
          <a:ext cx="16230598" cy="3840480"/>
        </p:xfrm>
        <a:graphic>
          <a:graphicData uri="http://schemas.openxmlformats.org/drawingml/2006/table">
            <a:tbl>
              <a:tblPr firstRow="0" bandRow="0" firstCol="0" lastRow="0" lastCol="0" bandCol="0">
                <a:tableStyleId>{2D5ABB26-0587-4C30-8999-92F81FD0307C}</a:tableStyleId>
              </a:tblPr>
              <a:tblGrid>
                <a:gridCol w="1288142"/>
                <a:gridCol w="4637314"/>
                <a:gridCol w="4894942"/>
                <a:gridCol w="5410200"/>
              </a:tblGrid>
              <a:tr h="960120">
                <a:tc>
                  <a:txBody>
                    <a:bodyPr anchor="ctr" rtlCol="false" lIns="0" tIns="0" rIns="0" bIns="0" wrap="square"/>
                    <a:lstStyle/>
                    <a:p>
                      <a:pPr algn="ctr">
                        <a:lnSpc>
                          <a:spcPts val="2340"/>
                        </a:lnSpc>
                        <a:spcBef>
                          <a:spcPts val="0"/>
                        </a:spcBef>
                        <a:buNone/>
                      </a:pP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Main idea</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Achievement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Key finding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960120">
                <a:tc>
                  <a:txBody>
                    <a:bodyPr anchor="ctr" rtlCol="false" lIns="0" tIns="0" rIns="0" bIns="0" wrap="square"/>
                    <a:lstStyle/>
                    <a:p>
                      <a:pPr algn="ctr">
                        <a:lnSpc>
                          <a:spcPts val="3000"/>
                        </a:lnSpc>
                        <a:spcBef>
                          <a:spcPts val="0"/>
                        </a:spcBef>
                        <a:buNone/>
                      </a:pPr>
                      <a:r>
                        <a:rPr lang="en-US" sz="2600" b="true" spc="-130">
                          <a:solidFill>
                            <a:srgbClr val="FFFFFF"/>
                          </a:solidFill>
                          <a:latin typeface="Roca Two Bold"/>
                          <a:ea typeface="Roca Two Bold"/>
                          <a:cs typeface="Roca Two Bold"/>
                          <a:sym typeface="Roca Two Bold"/>
                        </a:rPr>
                        <a:t>C1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Explain black-box clustering via Shapley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PCA–K-Means–LightGBM–TreeSHAP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Faithful, chemistry-consistent cluster attribution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960120">
                <a:tc>
                  <a:txBody>
                    <a:bodyPr anchor="ctr" rtlCol="false" lIns="0" tIns="0" rIns="0" bIns="0" wrap="square"/>
                    <a:lstStyle/>
                    <a:p>
                      <a:pPr algn="ctr">
                        <a:lnSpc>
                          <a:spcPts val="3000"/>
                        </a:lnSpc>
                        <a:spcBef>
                          <a:spcPts val="0"/>
                        </a:spcBef>
                        <a:buNone/>
                      </a:pPr>
                      <a:r>
                        <a:rPr lang="en-US" sz="2600" b="true" spc="-130">
                          <a:solidFill>
                            <a:srgbClr val="FFFFFF"/>
                          </a:solidFill>
                          <a:latin typeface="Roca Two Bold"/>
                          <a:ea typeface="Roca Two Bold"/>
                          <a:cs typeface="Roca Two Bold"/>
                          <a:sym typeface="Roca Two Bold"/>
                        </a:rPr>
                        <a:t>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Multi-level, large-scale clustering XAI</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Cross-level SHAP aggregation +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Coherent under hierarchy; interprets differences across levels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960120">
                <a:tc>
                  <a:txBody>
                    <a:bodyPr anchor="ctr" rtlCol="false" lIns="0" tIns="0" rIns="0" bIns="0" wrap="square"/>
                    <a:lstStyle/>
                    <a:p>
                      <a:pPr algn="ctr">
                        <a:lnSpc>
                          <a:spcPts val="3000"/>
                        </a:lnSpc>
                        <a:spcBef>
                          <a:spcPts val="0"/>
                        </a:spcBef>
                        <a:buNone/>
                      </a:pPr>
                      <a:r>
                        <a:rPr lang="en-US" sz="2600" b="true" spc="-130">
                          <a:solidFill>
                            <a:srgbClr val="FFFFFF"/>
                          </a:solidFill>
                          <a:latin typeface="Roca Two Bold"/>
                          <a:ea typeface="Roca Two Bold"/>
                          <a:cs typeface="Roca Two Bold"/>
                          <a:sym typeface="Roca Two 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DyHuCoG hypergraph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Preference-aware Shapley as an in-training signal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Accuracy + coverage + diversity improve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Rounded Rectangle 14"/>
          <p:cNvSpPr/>
          <p:nvPr/>
        </p:nvSpPr>
        <p:spPr>
          <a:xfrm>
            <a:off x="1028700" y="7615682"/>
            <a:ext cx="4023360" cy="1234440"/>
          </a:xfrm>
          <a:prstGeom prst="roundRect">
            <a:avLst>
              <a:gd name="adj" fmla="val 18518"/>
            </a:avLst>
          </a:prstGeom>
          <a:solidFill>
            <a:srgbClr val="124944"/>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Explain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post-hoc, single level</a:t>
            </a:r>
          </a:p>
        </p:txBody>
      </p:sp>
      <p:cxnSp>
        <p:nvCxnSpPr>
          <p:cNvPr id="16" name="Connector 15"/>
          <p:cNvCxnSpPr/>
          <p:nvPr/>
        </p:nvCxnSpPr>
        <p:spPr>
          <a:xfrm>
            <a:off x="5143500" y="8232902"/>
            <a:ext cx="1897380" cy="0"/>
          </a:xfrm>
          <a:prstGeom prst="line">
            <a:avLst/>
          </a:prstGeom>
          <a:ln w="38100">
            <a:solidFill>
              <a:srgbClr val="124944"/>
            </a:solidFill>
            <a:tailEnd type="triangle" w="med" len="med"/>
          </a:ln>
        </p:spPr>
      </p:cxnSp>
      <p:sp>
        <p:nvSpPr>
          <p:cNvPr id="17" name="Rounded Rectangle 16"/>
          <p:cNvSpPr/>
          <p:nvPr/>
        </p:nvSpPr>
        <p:spPr>
          <a:xfrm>
            <a:off x="7132320" y="7615682"/>
            <a:ext cx="4023360" cy="1234440"/>
          </a:xfrm>
          <a:prstGeom prst="roundRect">
            <a:avLst>
              <a:gd name="adj" fmla="val 18518"/>
            </a:avLst>
          </a:prstGeom>
          <a:solidFill>
            <a:srgbClr val="1E5F58"/>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Scale</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post-hoc, hierarchical</a:t>
            </a:r>
          </a:p>
        </p:txBody>
      </p:sp>
      <p:cxnSp>
        <p:nvCxnSpPr>
          <p:cNvPr id="18" name="Connector 17"/>
          <p:cNvCxnSpPr/>
          <p:nvPr/>
        </p:nvCxnSpPr>
        <p:spPr>
          <a:xfrm>
            <a:off x="11247120" y="8232902"/>
            <a:ext cx="1897380" cy="0"/>
          </a:xfrm>
          <a:prstGeom prst="line">
            <a:avLst/>
          </a:prstGeom>
          <a:ln w="38100">
            <a:solidFill>
              <a:srgbClr val="124944"/>
            </a:solidFill>
            <a:tailEnd type="triangle" w="med" len="med"/>
          </a:ln>
        </p:spPr>
      </p:cxnSp>
      <p:sp>
        <p:nvSpPr>
          <p:cNvPr id="19" name="Rounded Rectangle 18"/>
          <p:cNvSpPr/>
          <p:nvPr/>
        </p:nvSpPr>
        <p:spPr>
          <a:xfrm>
            <a:off x="13235940" y="7615682"/>
            <a:ext cx="4023360" cy="1234440"/>
          </a:xfrm>
          <a:prstGeom prst="roundRect">
            <a:avLst>
              <a:gd name="adj" fmla="val 18518"/>
            </a:avLst>
          </a:prstGeom>
          <a:solidFill>
            <a:srgbClr val="DF8330"/>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Guide</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in-training signal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8" name="Picture 7" descr="image.png"/>
          <p:cNvPicPr>
            <a:picLocks noChangeAspect="1"/>
          </p:cNvPicPr>
          <p:nvPr/>
        </p:nvPicPr>
        <p:blipFill>
          <a:blip r:embed="rId2"/>
          <a:stretch>
            <a:fillRect/>
          </a:stretch>
        </p:blipFill>
        <p:spPr>
          <a:xfrm>
            <a:off x="10279040" y="1673352"/>
            <a:ext cx="457200" cy="415247"/>
          </a:xfrm>
          <a:prstGeom prst="rect">
            <a:avLst/>
          </a:prstGeom>
        </p:spPr>
      </p:pic>
      <p:sp>
        <p:nvSpPr>
          <p:cNvPr id="9" name="Rounded Rectangle 8"/>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10" name="Rounded Rectangle 9"/>
          <p:cNvSpPr/>
          <p:nvPr/>
        </p:nvSpPr>
        <p:spPr>
          <a:xfrm>
            <a:off x="2761149" y="2559050"/>
            <a:ext cx="189357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11" name="Rounded Rectangle 10"/>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12" name="Rounded Rectangle 11"/>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13" name="Rounded Rectangle 12"/>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14" name="Rounded Rectangle 13"/>
          <p:cNvSpPr/>
          <p:nvPr/>
        </p:nvSpPr>
        <p:spPr>
          <a:xfrm>
            <a:off x="1028700" y="3363722"/>
            <a:ext cx="16230600" cy="1798743"/>
          </a:xfrm>
          <a:prstGeom prst="roundRect">
            <a:avLst>
              <a:gd name="adj" fmla="val 15250"/>
            </a:avLst>
          </a:prstGeom>
          <a:solidFill>
            <a:srgbClr val="F6ECDF"/>
          </a:solidFill>
          <a:ln>
            <a:noFill/>
          </a:ln>
        </p:spPr>
        <p:txBody>
          <a:bodyPr anchor="ctr" rtlCol="false" lIns="0" tIns="0" rIns="0" bIns="0" wrap="square"/>
          <a:lstStyle/>
          <a:p>
            <a:endParaRPr lang="en-US" sz="1800"/>
          </a:p>
        </p:txBody>
      </p:sp>
      <p:sp>
        <p:nvSpPr>
          <p:cNvPr id="15" name="Rounded Rectangle 14"/>
          <p:cNvSpPr/>
          <p:nvPr/>
        </p:nvSpPr>
        <p:spPr>
          <a:xfrm>
            <a:off x="1028700" y="3363722"/>
            <a:ext cx="1554480" cy="1798743"/>
          </a:xfrm>
          <a:prstGeom prst="roundRect">
            <a:avLst>
              <a:gd name="adj" fmla="val 17647"/>
            </a:avLst>
          </a:prstGeom>
          <a:solidFill>
            <a:srgbClr val="124944"/>
          </a:solidFill>
          <a:ln>
            <a:noFill/>
          </a:ln>
        </p:spPr>
        <p:txBody>
          <a:bodyPr anchor="ctr" rtlCol="false" lIns="0" tIns="0" rIns="0" bIns="0" wrap="square"/>
          <a:lstStyle/>
          <a:p>
            <a:endParaRPr lang="en-US" sz="1800"/>
          </a:p>
        </p:txBody>
      </p:sp>
      <p:sp>
        <p:nvSpPr>
          <p:cNvPr id="16" name="Rectangle 15"/>
          <p:cNvSpPr/>
          <p:nvPr/>
        </p:nvSpPr>
        <p:spPr>
          <a:xfrm>
            <a:off x="2125980" y="3363722"/>
            <a:ext cx="457200" cy="1798743"/>
          </a:xfrm>
          <a:prstGeom prst="rect">
            <a:avLst/>
          </a:prstGeom>
          <a:solidFill>
            <a:srgbClr val="124944"/>
          </a:solidFill>
          <a:ln>
            <a:noFill/>
          </a:ln>
        </p:spPr>
        <p:txBody>
          <a:bodyPr anchor="ctr" rtlCol="false" lIns="0" tIns="0" rIns="0" bIns="0" wrap="square"/>
          <a:lstStyle/>
          <a:p>
            <a:endParaRPr lang="en-US" sz="1800"/>
          </a:p>
        </p:txBody>
      </p:sp>
      <p:sp>
        <p:nvSpPr>
          <p:cNvPr id="17" name="TextBox 16"/>
          <p:cNvSpPr txBox="1"/>
          <p:nvPr/>
        </p:nvSpPr>
        <p:spPr>
          <a:xfrm>
            <a:off x="1028700" y="3363722"/>
            <a:ext cx="1554480" cy="1798743"/>
          </a:xfrm>
          <a:prstGeom prst="rect">
            <a:avLst/>
          </a:prstGeom>
          <a:noFill/>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I</a:t>
            </a:r>
          </a:p>
        </p:txBody>
      </p:sp>
      <p:sp>
        <p:nvSpPr>
          <p:cNvPr id="18" name="TextBox 17"/>
          <p:cNvSpPr txBox="1"/>
          <p:nvPr/>
        </p:nvSpPr>
        <p:spPr>
          <a:xfrm>
            <a:off x="2948940" y="3546602"/>
            <a:ext cx="11109960" cy="1432983"/>
          </a:xfrm>
          <a:prstGeom prst="rect">
            <a:avLst/>
          </a:prstGeom>
          <a:noFill/>
        </p:spPr>
        <p:txBody>
          <a:bodyPr anchor="ctr" rtlCol="false" lIns="0" tIns="0" rIns="0" bIns="0" wrap="square"/>
          <a:lstStyle/>
          <a:p>
            <a:pPr algn="l">
              <a:lnSpc>
                <a:spcPts val="1900"/>
              </a:lnSpc>
              <a:spcBef>
                <a:spcPts val="0"/>
              </a:spcBef>
              <a:buNone/>
            </a:pPr>
            <a:r>
              <a:rPr lang="en-US" sz="1500" b="true">
                <a:solidFill>
                  <a:srgbClr val="DF8330"/>
                </a:solidFill>
                <a:latin typeface="Nunito Ultra-Bold"/>
                <a:ea typeface="Nunito Ultra-Bold"/>
                <a:cs typeface="Nunito Ultra-Bold"/>
                <a:sym typeface="Nunito Ultra-Bold"/>
              </a:rPr>
              <a:t>Louhichi, M. &amp; Lazaar, M.</a:t>
            </a:r>
          </a:p>
          <a:p>
            <a:pPr algn="l">
              <a:lnSpc>
                <a:spcPts val="2940"/>
              </a:lnSpc>
              <a:spcBef>
                <a:spcPts val="400"/>
              </a:spcBef>
              <a:buNone/>
            </a:pPr>
            <a:r>
              <a:rPr lang="en-US" sz="2100" b="true">
                <a:solidFill>
                  <a:srgbClr val="111111"/>
                </a:solidFill>
                <a:latin typeface="Nunito Bold"/>
                <a:ea typeface="Nunito Bold"/>
                <a:cs typeface="Nunito Bold"/>
                <a:sym typeface="Nunito Bold"/>
              </a:rPr>
              <a:t>Shapley Values for Explaining the Black Box Nature of ML Model Clustering</a:t>
            </a:r>
          </a:p>
          <a:p>
            <a:pPr algn="l">
              <a:lnSpc>
                <a:spcPts val="2100"/>
              </a:lnSpc>
              <a:spcBef>
                <a:spcPts val="400"/>
              </a:spcBef>
              <a:buNone/>
            </a:pPr>
            <a:r>
              <a:rPr lang="en-US" sz="1700" b="true">
                <a:solidFill>
                  <a:srgbClr val="8A8378"/>
                </a:solidFill>
                <a:latin typeface="Nunito Semi-Bold"/>
                <a:ea typeface="Nunito Semi-Bold"/>
                <a:cs typeface="Nunito Semi-Bold"/>
                <a:sym typeface="Nunito Semi-Bold"/>
              </a:rPr>
              <a:t>Procedia Computer Science 220, 806–811</a:t>
            </a:r>
          </a:p>
        </p:txBody>
      </p:sp>
      <p:sp>
        <p:nvSpPr>
          <p:cNvPr id="19" name="Rounded Rectangle 18"/>
          <p:cNvSpPr/>
          <p:nvPr/>
        </p:nvSpPr>
        <p:spPr>
          <a:xfrm>
            <a:off x="14241780" y="4043637"/>
            <a:ext cx="2743200"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920"/>
              </a:lnSpc>
              <a:spcBef>
                <a:spcPts val="0"/>
              </a:spcBef>
              <a:buNone/>
            </a:pPr>
            <a:r>
              <a:rPr lang="en-US" sz="1600" b="true">
                <a:solidFill>
                  <a:srgbClr val="FFFFFF"/>
                </a:solidFill>
                <a:latin typeface="Nunito Bold"/>
                <a:ea typeface="Nunito Bold"/>
                <a:cs typeface="Nunito Bold"/>
                <a:sym typeface="Nunito Bold"/>
              </a:rPr>
              <a:t>Published · 2023</a:t>
            </a:r>
          </a:p>
        </p:txBody>
      </p:sp>
      <p:sp>
        <p:nvSpPr>
          <p:cNvPr id="20" name="Rounded Rectangle 19"/>
          <p:cNvSpPr/>
          <p:nvPr/>
        </p:nvSpPr>
        <p:spPr>
          <a:xfrm>
            <a:off x="1028700" y="5436785"/>
            <a:ext cx="16230600" cy="1798743"/>
          </a:xfrm>
          <a:prstGeom prst="roundRect">
            <a:avLst>
              <a:gd name="adj" fmla="val 15250"/>
            </a:avLst>
          </a:prstGeom>
          <a:solidFill>
            <a:srgbClr val="F6ECDF"/>
          </a:solidFill>
          <a:ln>
            <a:noFill/>
          </a:ln>
        </p:spPr>
        <p:txBody>
          <a:bodyPr anchor="ctr" rtlCol="false" lIns="0" tIns="0" rIns="0" bIns="0" wrap="square"/>
          <a:lstStyle/>
          <a:p>
            <a:endParaRPr lang="en-US" sz="1800"/>
          </a:p>
        </p:txBody>
      </p:sp>
      <p:sp>
        <p:nvSpPr>
          <p:cNvPr id="21" name="Rounded Rectangle 20"/>
          <p:cNvSpPr/>
          <p:nvPr/>
        </p:nvSpPr>
        <p:spPr>
          <a:xfrm>
            <a:off x="1028700" y="5436785"/>
            <a:ext cx="1554480" cy="1798743"/>
          </a:xfrm>
          <a:prstGeom prst="roundRect">
            <a:avLst>
              <a:gd name="adj" fmla="val 17647"/>
            </a:avLst>
          </a:prstGeom>
          <a:solidFill>
            <a:srgbClr val="1E5F58"/>
          </a:solidFill>
          <a:ln>
            <a:noFill/>
          </a:ln>
        </p:spPr>
        <p:txBody>
          <a:bodyPr anchor="ctr" rtlCol="false" lIns="0" tIns="0" rIns="0" bIns="0" wrap="square"/>
          <a:lstStyle/>
          <a:p>
            <a:endParaRPr lang="en-US" sz="1800"/>
          </a:p>
        </p:txBody>
      </p:sp>
      <p:sp>
        <p:nvSpPr>
          <p:cNvPr id="22" name="Rectangle 21"/>
          <p:cNvSpPr/>
          <p:nvPr/>
        </p:nvSpPr>
        <p:spPr>
          <a:xfrm>
            <a:off x="2125980" y="5436785"/>
            <a:ext cx="457200" cy="1798743"/>
          </a:xfrm>
          <a:prstGeom prst="rect">
            <a:avLst/>
          </a:prstGeom>
          <a:solidFill>
            <a:srgbClr val="1E5F58"/>
          </a:solidFill>
          <a:ln>
            <a:noFill/>
          </a:ln>
        </p:spPr>
        <p:txBody>
          <a:bodyPr anchor="ctr" rtlCol="false" lIns="0" tIns="0" rIns="0" bIns="0" wrap="square"/>
          <a:lstStyle/>
          <a:p>
            <a:endParaRPr lang="en-US" sz="1800"/>
          </a:p>
        </p:txBody>
      </p:sp>
      <p:sp>
        <p:nvSpPr>
          <p:cNvPr id="23" name="TextBox 22"/>
          <p:cNvSpPr txBox="1"/>
          <p:nvPr/>
        </p:nvSpPr>
        <p:spPr>
          <a:xfrm>
            <a:off x="1028700" y="5436785"/>
            <a:ext cx="1554480" cy="1798743"/>
          </a:xfrm>
          <a:prstGeom prst="rect">
            <a:avLst/>
          </a:prstGeom>
          <a:noFill/>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II</a:t>
            </a:r>
          </a:p>
        </p:txBody>
      </p:sp>
      <p:sp>
        <p:nvSpPr>
          <p:cNvPr id="24" name="TextBox 23"/>
          <p:cNvSpPr txBox="1"/>
          <p:nvPr/>
        </p:nvSpPr>
        <p:spPr>
          <a:xfrm>
            <a:off x="2948940" y="5619665"/>
            <a:ext cx="11109960" cy="1432983"/>
          </a:xfrm>
          <a:prstGeom prst="rect">
            <a:avLst/>
          </a:prstGeom>
          <a:noFill/>
        </p:spPr>
        <p:txBody>
          <a:bodyPr anchor="ctr" rtlCol="false" lIns="0" tIns="0" rIns="0" bIns="0" wrap="square"/>
          <a:lstStyle/>
          <a:p>
            <a:pPr algn="l">
              <a:lnSpc>
                <a:spcPts val="1900"/>
              </a:lnSpc>
              <a:spcBef>
                <a:spcPts val="0"/>
              </a:spcBef>
              <a:buNone/>
            </a:pPr>
            <a:r>
              <a:rPr lang="en-US" sz="1500" b="true">
                <a:solidFill>
                  <a:srgbClr val="DF8330"/>
                </a:solidFill>
                <a:latin typeface="Nunito Ultra-Bold"/>
                <a:ea typeface="Nunito Ultra-Bold"/>
                <a:cs typeface="Nunito Ultra-Bold"/>
                <a:sym typeface="Nunito Ultra-Bold"/>
              </a:rPr>
              <a:t>Louhichi, M. &amp; Lazaar, M.</a:t>
            </a:r>
          </a:p>
          <a:p>
            <a:pPr algn="l">
              <a:lnSpc>
                <a:spcPts val="2940"/>
              </a:lnSpc>
              <a:spcBef>
                <a:spcPts val="400"/>
              </a:spcBef>
              <a:buNone/>
            </a:pPr>
            <a:r>
              <a:rPr lang="en-US" sz="2100" b="true">
                <a:solidFill>
                  <a:srgbClr val="111111"/>
                </a:solidFill>
                <a:latin typeface="Nunito Bold"/>
                <a:ea typeface="Nunito Bold"/>
                <a:cs typeface="Nunito Bold"/>
                <a:sym typeface="Nunito Bold"/>
              </a:rPr>
              <a:t>Game Theory Meets Explainable AI: An Enhanced Approach to Understanding Black Box Models Through Shapley Values</a:t>
            </a:r>
          </a:p>
          <a:p>
            <a:pPr algn="l">
              <a:lnSpc>
                <a:spcPts val="2100"/>
              </a:lnSpc>
              <a:spcBef>
                <a:spcPts val="400"/>
              </a:spcBef>
              <a:buNone/>
            </a:pPr>
            <a:r>
              <a:rPr lang="en-US" sz="1700" b="true">
                <a:solidFill>
                  <a:srgbClr val="8A8378"/>
                </a:solidFill>
                <a:latin typeface="Nunito Semi-Bold"/>
                <a:ea typeface="Nunito Semi-Bold"/>
                <a:cs typeface="Nunito Semi-Bold"/>
                <a:sym typeface="Nunito Semi-Bold"/>
              </a:rPr>
              <a:t>IJACSA 16(7), 716–725</a:t>
            </a:r>
          </a:p>
        </p:txBody>
      </p:sp>
      <p:sp>
        <p:nvSpPr>
          <p:cNvPr id="25" name="Rounded Rectangle 24"/>
          <p:cNvSpPr/>
          <p:nvPr/>
        </p:nvSpPr>
        <p:spPr>
          <a:xfrm>
            <a:off x="14241780" y="6116701"/>
            <a:ext cx="2743200" cy="438912"/>
          </a:xfrm>
          <a:prstGeom prst="roundRect">
            <a:avLst>
              <a:gd name="adj" fmla="val 50000"/>
            </a:avLst>
          </a:prstGeom>
          <a:solidFill>
            <a:srgbClr val="1E5F58"/>
          </a:solidFill>
          <a:ln w="28575">
            <a:solidFill>
              <a:srgbClr val="1E5F58"/>
            </a:solidFill>
          </a:ln>
        </p:spPr>
        <p:txBody>
          <a:bodyPr anchor="ctr" rtlCol="false" lIns="45720" tIns="0" rIns="45720" bIns="0" wrap="square"/>
          <a:lstStyle/>
          <a:p>
            <a:pPr algn="ctr">
              <a:lnSpc>
                <a:spcPts val="1920"/>
              </a:lnSpc>
              <a:spcBef>
                <a:spcPts val="0"/>
              </a:spcBef>
              <a:buNone/>
            </a:pPr>
            <a:r>
              <a:rPr lang="en-US" sz="1600" b="true">
                <a:solidFill>
                  <a:srgbClr val="FFFFFF"/>
                </a:solidFill>
                <a:latin typeface="Nunito Bold"/>
                <a:ea typeface="Nunito Bold"/>
                <a:cs typeface="Nunito Bold"/>
                <a:sym typeface="Nunito Bold"/>
              </a:rPr>
              <a:t>Published · 2025</a:t>
            </a:r>
          </a:p>
        </p:txBody>
      </p:sp>
      <p:sp>
        <p:nvSpPr>
          <p:cNvPr id="26" name="Rounded Rectangle 25"/>
          <p:cNvSpPr/>
          <p:nvPr/>
        </p:nvSpPr>
        <p:spPr>
          <a:xfrm>
            <a:off x="1028700" y="7509848"/>
            <a:ext cx="16230600" cy="1798743"/>
          </a:xfrm>
          <a:prstGeom prst="roundRect">
            <a:avLst>
              <a:gd name="adj" fmla="val 15250"/>
            </a:avLst>
          </a:prstGeom>
          <a:solidFill>
            <a:srgbClr val="F6ECDF"/>
          </a:solidFill>
          <a:ln>
            <a:noFill/>
          </a:ln>
        </p:spPr>
        <p:txBody>
          <a:bodyPr anchor="ctr" rtlCol="false" lIns="0" tIns="0" rIns="0" bIns="0" wrap="square"/>
          <a:lstStyle/>
          <a:p>
            <a:endParaRPr lang="en-US" sz="1800"/>
          </a:p>
        </p:txBody>
      </p:sp>
      <p:sp>
        <p:nvSpPr>
          <p:cNvPr id="27" name="Rounded Rectangle 26"/>
          <p:cNvSpPr/>
          <p:nvPr/>
        </p:nvSpPr>
        <p:spPr>
          <a:xfrm>
            <a:off x="1028700" y="7509848"/>
            <a:ext cx="1554480" cy="1798743"/>
          </a:xfrm>
          <a:prstGeom prst="roundRect">
            <a:avLst>
              <a:gd name="adj" fmla="val 17647"/>
            </a:avLst>
          </a:prstGeom>
          <a:solidFill>
            <a:srgbClr val="DF8330"/>
          </a:solidFill>
          <a:ln>
            <a:noFill/>
          </a:ln>
        </p:spPr>
        <p:txBody>
          <a:bodyPr anchor="ctr" rtlCol="false" lIns="0" tIns="0" rIns="0" bIns="0" wrap="square"/>
          <a:lstStyle/>
          <a:p>
            <a:endParaRPr lang="en-US" sz="1800"/>
          </a:p>
        </p:txBody>
      </p:sp>
      <p:sp>
        <p:nvSpPr>
          <p:cNvPr id="28" name="Rectangle 27"/>
          <p:cNvSpPr/>
          <p:nvPr/>
        </p:nvSpPr>
        <p:spPr>
          <a:xfrm>
            <a:off x="2125980" y="7509848"/>
            <a:ext cx="457200" cy="1798743"/>
          </a:xfrm>
          <a:prstGeom prst="rect">
            <a:avLst/>
          </a:prstGeom>
          <a:solidFill>
            <a:srgbClr val="DF8330"/>
          </a:solidFill>
          <a:ln>
            <a:noFill/>
          </a:ln>
        </p:spPr>
        <p:txBody>
          <a:bodyPr anchor="ctr" rtlCol="false" lIns="0" tIns="0" rIns="0" bIns="0" wrap="square"/>
          <a:lstStyle/>
          <a:p>
            <a:endParaRPr lang="en-US" sz="1800"/>
          </a:p>
        </p:txBody>
      </p:sp>
      <p:sp>
        <p:nvSpPr>
          <p:cNvPr id="29" name="TextBox 28"/>
          <p:cNvSpPr txBox="1"/>
          <p:nvPr/>
        </p:nvSpPr>
        <p:spPr>
          <a:xfrm>
            <a:off x="1028700" y="7509848"/>
            <a:ext cx="1554480" cy="1798743"/>
          </a:xfrm>
          <a:prstGeom prst="rect">
            <a:avLst/>
          </a:prstGeom>
          <a:noFill/>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III</a:t>
            </a:r>
          </a:p>
        </p:txBody>
      </p:sp>
      <p:sp>
        <p:nvSpPr>
          <p:cNvPr id="30" name="TextBox 29"/>
          <p:cNvSpPr txBox="1"/>
          <p:nvPr/>
        </p:nvSpPr>
        <p:spPr>
          <a:xfrm>
            <a:off x="2948940" y="7692728"/>
            <a:ext cx="11109960" cy="1432983"/>
          </a:xfrm>
          <a:prstGeom prst="rect">
            <a:avLst/>
          </a:prstGeom>
          <a:noFill/>
        </p:spPr>
        <p:txBody>
          <a:bodyPr anchor="ctr" rtlCol="false" lIns="0" tIns="0" rIns="0" bIns="0" wrap="square"/>
          <a:lstStyle/>
          <a:p>
            <a:pPr algn="l">
              <a:lnSpc>
                <a:spcPts val="1900"/>
              </a:lnSpc>
              <a:spcBef>
                <a:spcPts val="0"/>
              </a:spcBef>
              <a:buNone/>
            </a:pPr>
            <a:r>
              <a:rPr lang="en-US" sz="1500" b="true">
                <a:solidFill>
                  <a:srgbClr val="DF8330"/>
                </a:solidFill>
                <a:latin typeface="Nunito Ultra-Bold"/>
                <a:ea typeface="Nunito Ultra-Bold"/>
                <a:cs typeface="Nunito Ultra-Bold"/>
                <a:sym typeface="Nunito Ultra-Bold"/>
              </a:rPr>
              <a:t>Louhichi, M. &amp; Lazaar, M.</a:t>
            </a:r>
          </a:p>
          <a:p>
            <a:pPr algn="l">
              <a:lnSpc>
                <a:spcPts val="2940"/>
              </a:lnSpc>
              <a:spcBef>
                <a:spcPts val="400"/>
              </a:spcBef>
              <a:buNone/>
            </a:pPr>
            <a:r>
              <a:rPr lang="en-US" sz="2100" b="true">
                <a:solidFill>
                  <a:srgbClr val="111111"/>
                </a:solidFill>
                <a:latin typeface="Nunito Bold"/>
                <a:ea typeface="Nunito Bold"/>
                <a:cs typeface="Nunito Bold"/>
                <a:sym typeface="Nunito Bold"/>
              </a:rPr>
              <a:t>DyHuCoG: A Dynamic Hypergraph Cooperative Game for Preference-aware Recommendation</a:t>
            </a:r>
          </a:p>
          <a:p>
            <a:pPr algn="l">
              <a:lnSpc>
                <a:spcPts val="2100"/>
              </a:lnSpc>
              <a:spcBef>
                <a:spcPts val="400"/>
              </a:spcBef>
              <a:buNone/>
            </a:pPr>
            <a:r>
              <a:rPr lang="en-US" sz="1700" b="true">
                <a:solidFill>
                  <a:srgbClr val="8A8378"/>
                </a:solidFill>
                <a:latin typeface="Nunito Semi-Bold"/>
                <a:ea typeface="Nunito Semi-Bold"/>
                <a:cs typeface="Nunito Semi-Bold"/>
                <a:sym typeface="Nunito Semi-Bold"/>
              </a:rPr>
              <a:t>IJIES 19(2), 887–902</a:t>
            </a:r>
          </a:p>
        </p:txBody>
      </p:sp>
      <p:sp>
        <p:nvSpPr>
          <p:cNvPr id="31" name="Rounded Rectangle 30"/>
          <p:cNvSpPr/>
          <p:nvPr/>
        </p:nvSpPr>
        <p:spPr>
          <a:xfrm>
            <a:off x="14241780" y="8189764"/>
            <a:ext cx="2743200" cy="438912"/>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920"/>
              </a:lnSpc>
              <a:spcBef>
                <a:spcPts val="0"/>
              </a:spcBef>
              <a:buNone/>
            </a:pPr>
            <a:r>
              <a:rPr lang="en-US" sz="1600" b="true">
                <a:solidFill>
                  <a:srgbClr val="FFFFFF"/>
                </a:solidFill>
                <a:latin typeface="Nunito Bold"/>
                <a:ea typeface="Nunito Bold"/>
                <a:cs typeface="Nunito Bold"/>
                <a:sym typeface="Nunito Bold"/>
              </a:rPr>
              <a:t>Published · 2026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 Stated Honestly</a:t>
            </a:r>
          </a:p>
        </p:txBody>
      </p:sp>
      <p:pic>
        <p:nvPicPr>
          <p:cNvPr id="8" name="Picture 7" descr="image.png"/>
          <p:cNvPicPr>
            <a:picLocks noChangeAspect="1"/>
          </p:cNvPicPr>
          <p:nvPr/>
        </p:nvPicPr>
        <p:blipFill>
          <a:blip r:embed="rId2"/>
          <a:stretch>
            <a:fillRect/>
          </a:stretch>
        </p:blipFill>
        <p:spPr>
          <a:xfrm>
            <a:off x="8939428" y="1673352"/>
            <a:ext cx="457200" cy="452148"/>
          </a:xfrm>
          <a:prstGeom prst="rect">
            <a:avLst/>
          </a:prstGeom>
        </p:spPr>
      </p:pic>
      <p:sp>
        <p:nvSpPr>
          <p:cNvPr id="9" name="Rounded Rectangle 8"/>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10" name="Rounded Rectangle 9"/>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11" name="Rounded Rectangle 10"/>
          <p:cNvSpPr/>
          <p:nvPr/>
        </p:nvSpPr>
        <p:spPr>
          <a:xfrm>
            <a:off x="4782741" y="2559050"/>
            <a:ext cx="176548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12" name="Rounded Rectangle 11"/>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13" name="Rounded Rectangle 12"/>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14" name="Rounded Rectangle 13"/>
          <p:cNvSpPr/>
          <p:nvPr/>
        </p:nvSpPr>
        <p:spPr>
          <a:xfrm>
            <a:off x="1028700" y="3455162"/>
            <a:ext cx="7978140" cy="2789555"/>
          </a:xfrm>
          <a:prstGeom prst="roundRect">
            <a:avLst>
              <a:gd name="adj" fmla="val 9833"/>
            </a:avLst>
          </a:prstGeom>
          <a:solidFill>
            <a:srgbClr val="12494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intractable; every contribution relies on approximation, surrogates or restricted reporting.</a:t>
            </a:r>
          </a:p>
        </p:txBody>
      </p:sp>
      <p:sp>
        <p:nvSpPr>
          <p:cNvPr id="15" name="Rounded Rectangle 14"/>
          <p:cNvSpPr/>
          <p:nvPr/>
        </p:nvSpPr>
        <p:spPr>
          <a:xfrm>
            <a:off x="9281160" y="3455162"/>
            <a:ext cx="7978140" cy="2789555"/>
          </a:xfrm>
          <a:prstGeom prst="roundRect">
            <a:avLst>
              <a:gd name="adj" fmla="val 9833"/>
            </a:avLst>
          </a:prstGeom>
          <a:solidFill>
            <a:srgbClr val="1E5F58"/>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adequate context.</a:t>
            </a:r>
          </a:p>
        </p:txBody>
      </p:sp>
      <p:sp>
        <p:nvSpPr>
          <p:cNvPr id="16" name="Rounded Rectangle 15"/>
          <p:cNvSpPr/>
          <p:nvPr/>
        </p:nvSpPr>
        <p:spPr>
          <a:xfrm>
            <a:off x="1028700" y="6519037"/>
            <a:ext cx="7978140" cy="2789555"/>
          </a:xfrm>
          <a:prstGeom prst="roundRect">
            <a:avLst>
              <a:gd name="adj" fmla="val 9833"/>
            </a:avLst>
          </a:prstGeom>
          <a:solidFill>
            <a:srgbClr val="DF8330"/>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deployment; no dedicated human-subject actionability study.</a:t>
            </a:r>
          </a:p>
        </p:txBody>
      </p:sp>
      <p:sp>
        <p:nvSpPr>
          <p:cNvPr id="17" name="Rounded Rectangle 16"/>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coherent and productive perspective — not one fully unified framework eliminating all tension.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 Turning Limitations into an Agenda</a:t>
            </a:r>
          </a:p>
        </p:txBody>
      </p:sp>
      <p:pic>
        <p:nvPicPr>
          <p:cNvPr id="8" name="Picture 7" descr="image.png"/>
          <p:cNvPicPr>
            <a:picLocks noChangeAspect="1"/>
          </p:cNvPicPr>
          <p:nvPr/>
        </p:nvPicPr>
        <p:blipFill>
          <a:blip r:embed="rId2"/>
          <a:stretch>
            <a:fillRect/>
          </a:stretch>
        </p:blipFill>
        <p:spPr>
          <a:xfrm>
            <a:off x="14280424" y="1673352"/>
            <a:ext cx="457200" cy="617115"/>
          </a:xfrm>
          <a:prstGeom prst="rect">
            <a:avLst/>
          </a:prstGeom>
        </p:spPr>
      </p:pic>
      <p:sp>
        <p:nvSpPr>
          <p:cNvPr id="9" name="Rounded Rectangle 8"/>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10" name="Rounded Rectangle 9"/>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11" name="Rounded Rectangle 10"/>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12" name="Rounded Rectangle 11"/>
          <p:cNvSpPr/>
          <p:nvPr/>
        </p:nvSpPr>
        <p:spPr>
          <a:xfrm>
            <a:off x="6676243" y="2559050"/>
            <a:ext cx="1934074"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13" name="Rounded Rectangle 12"/>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14" name="Rounded Rectangle 13"/>
          <p:cNvSpPr/>
          <p:nvPr/>
        </p:nvSpPr>
        <p:spPr>
          <a:xfrm>
            <a:off x="1028700" y="3455162"/>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15" name="Oval 14"/>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16" name="TextBox 15"/>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policies.</a:t>
            </a:r>
          </a:p>
        </p:txBody>
      </p:sp>
      <p:sp>
        <p:nvSpPr>
          <p:cNvPr id="17" name="Rounded Rectangle 16"/>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18" name="Oval 17"/>
          <p:cNvSpPr/>
          <p:nvPr/>
        </p:nvSpPr>
        <p:spPr>
          <a:xfrm>
            <a:off x="9646920" y="3820922"/>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19" name="TextBox 18"/>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evolving graphs and delayed feedback — also addresses the static-graph limitation.</a:t>
            </a:r>
          </a:p>
        </p:txBody>
      </p:sp>
      <p:sp>
        <p:nvSpPr>
          <p:cNvPr id="20" name="Rounded Rectangle 19"/>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21" name="Oval 20"/>
          <p:cNvSpPr/>
          <p:nvPr/>
        </p:nvSpPr>
        <p:spPr>
          <a:xfrm>
            <a:off x="1394460" y="6884797"/>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22" name="TextBox 21"/>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human-centred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intervention quality or perceived fairness?</a:t>
            </a:r>
          </a:p>
        </p:txBody>
      </p:sp>
      <p:sp>
        <p:nvSpPr>
          <p:cNvPr id="23" name="Rounded Rectangle 22"/>
          <p:cNvSpPr/>
          <p:nvPr/>
        </p:nvSpPr>
        <p:spPr>
          <a:xfrm>
            <a:off x="9281160" y="6519037"/>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24" name="Oval 23"/>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25" name="TextBox 24"/>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governance-oriented auditing.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8" name="Picture 7" descr="image.png"/>
          <p:cNvPicPr>
            <a:picLocks noChangeAspect="1"/>
          </p:cNvPicPr>
          <p:nvPr/>
        </p:nvPicPr>
        <p:blipFill>
          <a:blip r:embed="rId2"/>
          <a:stretch>
            <a:fillRect/>
          </a:stretch>
        </p:blipFill>
        <p:spPr>
          <a:xfrm>
            <a:off x="4224502" y="1673352"/>
            <a:ext cx="457200" cy="250983"/>
          </a:xfrm>
          <a:prstGeom prst="rect">
            <a:avLst/>
          </a:prstGeom>
        </p:spPr>
      </p:pic>
      <p:sp>
        <p:nvSpPr>
          <p:cNvPr id="9" name="Rounded Rectangle 8"/>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10" name="Rounded Rectangle 9"/>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11" name="Rounded Rectangle 10"/>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12" name="Rounded Rectangle 11"/>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13" name="Rounded Rectangle 12"/>
          <p:cNvSpPr/>
          <p:nvPr/>
        </p:nvSpPr>
        <p:spPr>
          <a:xfrm>
            <a:off x="8738333" y="2559050"/>
            <a:ext cx="17530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14" name="Rounded Rectangle 13"/>
          <p:cNvSpPr/>
          <p:nvPr/>
        </p:nvSpPr>
        <p:spPr>
          <a:xfrm>
            <a:off x="1028700" y="3363722"/>
            <a:ext cx="16230600" cy="1463040"/>
          </a:xfrm>
          <a:prstGeom prst="roundRect">
            <a:avLst>
              <a:gd name="adj" fmla="val 18750"/>
            </a:avLst>
          </a:prstGeom>
          <a:solidFill>
            <a:srgbClr val="124944"/>
          </a:solidFill>
          <a:ln>
            <a:noFill/>
          </a:ln>
        </p:spPr>
        <p:txBody>
          <a:bodyPr anchor="ctr" rtlCol="false" lIns="457200" tIns="91440" rIns="457200" bIns="91440" wrap="square"/>
          <a:lstStyle/>
          <a:p>
            <a:pPr algn="ctr">
              <a:lnSpc>
                <a:spcPts val="1800"/>
              </a:lnSpc>
              <a:spcBef>
                <a:spcPts val="0"/>
              </a:spcBef>
              <a:buNone/>
            </a:pPr>
            <a:r>
              <a:rPr lang="en-US" sz="1400" b="true" spc="180">
                <a:solidFill>
                  <a:srgbClr val="ECC665"/>
                </a:solidFill>
                <a:latin typeface="Nunito Ultra-Bold"/>
                <a:ea typeface="Nunito Ultra-Bold"/>
                <a:cs typeface="Nunito Ultra-Bold"/>
                <a:sym typeface="Nunito Ultra-Bold"/>
              </a:rPr>
              <a:t>THESIS ANSWER</a:t>
            </a:r>
          </a:p>
          <a:p>
            <a:pPr algn="ctr">
              <a:lnSpc>
                <a:spcPts val="3000"/>
              </a:lnSpc>
              <a:spcBef>
                <a:spcPts val="800"/>
              </a:spcBef>
              <a:buNone/>
            </a:pPr>
            <a:r>
              <a:rPr lang="en-US" sz="2400" b="true">
                <a:solidFill>
                  <a:srgbClr val="FFFFFF"/>
                </a:solidFill>
                <a:latin typeface="Nunito Bold"/>
                <a:ea typeface="Nunito Bold"/>
                <a:cs typeface="Nunito Bold"/>
                <a:sym typeface="Nunito Bold"/>
              </a:rPr>
              <a:t>Cooperative game theory can function as a </a:t>
            </a:r>
            <a:r>
              <a:rPr lang="en-US" sz="2400" b="true">
                <a:solidFill>
                  <a:srgbClr val="FFFFFF"/>
                </a:solidFill>
                <a:latin typeface="Nunito Ultra-Bold"/>
                <a:ea typeface="Nunito Ultra-Bold"/>
                <a:cs typeface="Nunito Ultra-Bold"/>
                <a:sym typeface="Nunito Ultra-Bold"/>
              </a:rPr>
              <a:t>shared methodological perspective for actionable explanation</a:t>
            </a:r>
            <a:r>
              <a:rPr lang="en-US" sz="2400" b="true">
                <a:solidFill>
                  <a:srgbClr val="FFFFFF"/>
                </a:solidFill>
                <a:latin typeface="Nunito Bold"/>
                <a:ea typeface="Nunito Bold"/>
                <a:cs typeface="Nunito Bold"/>
                <a:sym typeface="Nunito Bold"/>
              </a:rPr>
              <a:t> across clustering and recommendation.</a:t>
            </a:r>
          </a:p>
        </p:txBody>
      </p:sp>
      <p:sp>
        <p:nvSpPr>
          <p:cNvPr id="15" name="Rounded Rectangle 14"/>
          <p:cNvSpPr/>
          <p:nvPr/>
        </p:nvSpPr>
        <p:spPr>
          <a:xfrm>
            <a:off x="1028700" y="5192522"/>
            <a:ext cx="3851910" cy="4116070"/>
          </a:xfrm>
          <a:prstGeom prst="roundRect">
            <a:avLst>
              <a:gd name="adj" fmla="val 7121"/>
            </a:avLst>
          </a:prstGeom>
          <a:solidFill>
            <a:srgbClr val="F6ECDF"/>
          </a:solidFill>
          <a:ln>
            <a:noFill/>
          </a:ln>
        </p:spPr>
        <p:txBody>
          <a:bodyPr anchor="ctr" rtlCol="false" lIns="0" tIns="0" rIns="0" bIns="0" wrap="square"/>
          <a:lstStyle/>
          <a:p>
            <a:endParaRPr lang="en-US" sz="1800"/>
          </a:p>
        </p:txBody>
      </p:sp>
      <p:sp>
        <p:nvSpPr>
          <p:cNvPr id="16" name="Oval 15"/>
          <p:cNvSpPr/>
          <p:nvPr/>
        </p:nvSpPr>
        <p:spPr>
          <a:xfrm>
            <a:off x="1348740" y="5512562"/>
            <a:ext cx="548640" cy="548640"/>
          </a:xfrm>
          <a:prstGeom prst="ellipse">
            <a:avLst/>
          </a:prstGeom>
          <a:solidFill>
            <a:srgbClr val="DF8330"/>
          </a:solidFill>
          <a:ln>
            <a:noFill/>
          </a:ln>
        </p:spPr>
        <p:txBody>
          <a:bodyPr anchor="ctr" rtlCol="false" lIns="0" tIns="0" rIns="0" bIns="0" wrap="square"/>
          <a:lstStyle/>
          <a:p>
            <a:pPr algn="ctr">
              <a:lnSpc>
                <a:spcPts val="1980"/>
              </a:lnSpc>
              <a:spcBef>
                <a:spcPts val="0"/>
              </a:spcBef>
              <a:buNone/>
            </a:pPr>
            <a:r>
              <a:rPr lang="en-US" sz="1800" b="true">
                <a:solidFill>
                  <a:srgbClr val="FFFFFF"/>
                </a:solidFill>
                <a:latin typeface="Nunito Ultra-Bold"/>
                <a:ea typeface="Nunito Ultra-Bold"/>
                <a:cs typeface="Nunito Ultra-Bold"/>
                <a:sym typeface="Nunito Ultra-Bold"/>
              </a:rPr>
              <a:t>1</a:t>
            </a:r>
          </a:p>
        </p:txBody>
      </p:sp>
      <p:sp>
        <p:nvSpPr>
          <p:cNvPr id="17" name="TextBox 16"/>
          <p:cNvSpPr txBox="1"/>
          <p:nvPr/>
        </p:nvSpPr>
        <p:spPr>
          <a:xfrm>
            <a:off x="1348740" y="6244082"/>
            <a:ext cx="3211830" cy="28816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Common language</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Shapley attribution as a common formal language for feature, interaction and context importance allocation.</a:t>
            </a:r>
          </a:p>
        </p:txBody>
      </p:sp>
      <p:sp>
        <p:nvSpPr>
          <p:cNvPr id="18" name="Rounded Rectangle 17"/>
          <p:cNvSpPr/>
          <p:nvPr/>
        </p:nvSpPr>
        <p:spPr>
          <a:xfrm>
            <a:off x="5154930" y="5192522"/>
            <a:ext cx="3851910" cy="4116070"/>
          </a:xfrm>
          <a:prstGeom prst="roundRect">
            <a:avLst>
              <a:gd name="adj" fmla="val 7121"/>
            </a:avLst>
          </a:prstGeom>
          <a:solidFill>
            <a:srgbClr val="FBF4EB"/>
          </a:solidFill>
          <a:ln>
            <a:noFill/>
          </a:ln>
        </p:spPr>
        <p:txBody>
          <a:bodyPr anchor="ctr" rtlCol="false" lIns="0" tIns="0" rIns="0" bIns="0" wrap="square"/>
          <a:lstStyle/>
          <a:p>
            <a:endParaRPr lang="en-US" sz="1800"/>
          </a:p>
        </p:txBody>
      </p:sp>
      <p:sp>
        <p:nvSpPr>
          <p:cNvPr id="19" name="Oval 18"/>
          <p:cNvSpPr/>
          <p:nvPr/>
        </p:nvSpPr>
        <p:spPr>
          <a:xfrm>
            <a:off x="5474970" y="5512562"/>
            <a:ext cx="548640" cy="548640"/>
          </a:xfrm>
          <a:prstGeom prst="ellipse">
            <a:avLst/>
          </a:prstGeom>
          <a:solidFill>
            <a:srgbClr val="DF8330"/>
          </a:solidFill>
          <a:ln>
            <a:noFill/>
          </a:ln>
        </p:spPr>
        <p:txBody>
          <a:bodyPr anchor="ctr" rtlCol="false" lIns="0" tIns="0" rIns="0" bIns="0" wrap="square"/>
          <a:lstStyle/>
          <a:p>
            <a:pPr algn="ctr">
              <a:lnSpc>
                <a:spcPts val="1980"/>
              </a:lnSpc>
              <a:spcBef>
                <a:spcPts val="0"/>
              </a:spcBef>
              <a:buNone/>
            </a:pPr>
            <a:r>
              <a:rPr lang="en-US" sz="1800" b="true">
                <a:solidFill>
                  <a:srgbClr val="FFFFFF"/>
                </a:solidFill>
                <a:latin typeface="Nunito Ultra-Bold"/>
                <a:ea typeface="Nunito Ultra-Bold"/>
                <a:cs typeface="Nunito Ultra-Bold"/>
                <a:sym typeface="Nunito Ultra-Bold"/>
              </a:rPr>
              <a:t>2</a:t>
            </a:r>
          </a:p>
        </p:txBody>
      </p:sp>
      <p:sp>
        <p:nvSpPr>
          <p:cNvPr id="20" name="TextBox 19"/>
          <p:cNvSpPr txBox="1"/>
          <p:nvPr/>
        </p:nvSpPr>
        <p:spPr>
          <a:xfrm>
            <a:off x="5474970" y="6244082"/>
            <a:ext cx="3211830" cy="28816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Three achievements</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Faithful clustering explanation, hierarchical explanatory coherence, contribution-aware recommendation learning.</a:t>
            </a:r>
          </a:p>
        </p:txBody>
      </p:sp>
      <p:sp>
        <p:nvSpPr>
          <p:cNvPr id="21" name="Rounded Rectangle 20"/>
          <p:cNvSpPr/>
          <p:nvPr/>
        </p:nvSpPr>
        <p:spPr>
          <a:xfrm>
            <a:off x="9281160" y="5192522"/>
            <a:ext cx="3851910" cy="4116070"/>
          </a:xfrm>
          <a:prstGeom prst="roundRect">
            <a:avLst>
              <a:gd name="adj" fmla="val 7121"/>
            </a:avLst>
          </a:prstGeom>
          <a:solidFill>
            <a:srgbClr val="F6ECDF"/>
          </a:solidFill>
          <a:ln>
            <a:noFill/>
          </a:ln>
        </p:spPr>
        <p:txBody>
          <a:bodyPr anchor="ctr" rtlCol="false" lIns="0" tIns="0" rIns="0" bIns="0" wrap="square"/>
          <a:lstStyle/>
          <a:p>
            <a:endParaRPr lang="en-US" sz="1800"/>
          </a:p>
        </p:txBody>
      </p:sp>
      <p:sp>
        <p:nvSpPr>
          <p:cNvPr id="22" name="Oval 21"/>
          <p:cNvSpPr/>
          <p:nvPr/>
        </p:nvSpPr>
        <p:spPr>
          <a:xfrm>
            <a:off x="9601200" y="5512562"/>
            <a:ext cx="548640" cy="548640"/>
          </a:xfrm>
          <a:prstGeom prst="ellipse">
            <a:avLst/>
          </a:prstGeom>
          <a:solidFill>
            <a:srgbClr val="DF8330"/>
          </a:solidFill>
          <a:ln>
            <a:noFill/>
          </a:ln>
        </p:spPr>
        <p:txBody>
          <a:bodyPr anchor="ctr" rtlCol="false" lIns="0" tIns="0" rIns="0" bIns="0" wrap="square"/>
          <a:lstStyle/>
          <a:p>
            <a:pPr algn="ctr">
              <a:lnSpc>
                <a:spcPts val="1980"/>
              </a:lnSpc>
              <a:spcBef>
                <a:spcPts val="0"/>
              </a:spcBef>
              <a:buNone/>
            </a:pPr>
            <a:r>
              <a:rPr lang="en-US" sz="1800" b="true">
                <a:solidFill>
                  <a:srgbClr val="FFFFFF"/>
                </a:solidFill>
                <a:latin typeface="Nunito Ultra-Bold"/>
                <a:ea typeface="Nunito Ultra-Bold"/>
                <a:cs typeface="Nunito Ultra-Bold"/>
                <a:sym typeface="Nunito Ultra-Bold"/>
              </a:rPr>
              <a:t>3</a:t>
            </a:r>
          </a:p>
        </p:txBody>
      </p:sp>
      <p:sp>
        <p:nvSpPr>
          <p:cNvPr id="23" name="TextBox 22"/>
          <p:cNvSpPr txBox="1"/>
          <p:nvPr/>
        </p:nvSpPr>
        <p:spPr>
          <a:xfrm>
            <a:off x="9601200" y="6244082"/>
            <a:ext cx="3211830" cy="28816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Explanation as method</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Not commentary — from post-hoc description to in-training guidance.</a:t>
            </a:r>
          </a:p>
        </p:txBody>
      </p:sp>
      <p:sp>
        <p:nvSpPr>
          <p:cNvPr id="24" name="Rounded Rectangle 23"/>
          <p:cNvSpPr/>
          <p:nvPr/>
        </p:nvSpPr>
        <p:spPr>
          <a:xfrm>
            <a:off x="13407390" y="5192522"/>
            <a:ext cx="3851910" cy="4116070"/>
          </a:xfrm>
          <a:prstGeom prst="roundRect">
            <a:avLst>
              <a:gd name="adj" fmla="val 7121"/>
            </a:avLst>
          </a:prstGeom>
          <a:solidFill>
            <a:srgbClr val="FBF4EB"/>
          </a:solidFill>
          <a:ln>
            <a:noFill/>
          </a:ln>
        </p:spPr>
        <p:txBody>
          <a:bodyPr anchor="ctr" rtlCol="false" lIns="0" tIns="0" rIns="0" bIns="0" wrap="square"/>
          <a:lstStyle/>
          <a:p>
            <a:endParaRPr lang="en-US" sz="1800"/>
          </a:p>
        </p:txBody>
      </p:sp>
      <p:sp>
        <p:nvSpPr>
          <p:cNvPr id="25" name="Oval 24"/>
          <p:cNvSpPr/>
          <p:nvPr/>
        </p:nvSpPr>
        <p:spPr>
          <a:xfrm>
            <a:off x="13727430" y="5512562"/>
            <a:ext cx="548640" cy="548640"/>
          </a:xfrm>
          <a:prstGeom prst="ellipse">
            <a:avLst/>
          </a:prstGeom>
          <a:solidFill>
            <a:srgbClr val="DF8330"/>
          </a:solidFill>
          <a:ln>
            <a:noFill/>
          </a:ln>
        </p:spPr>
        <p:txBody>
          <a:bodyPr anchor="ctr" rtlCol="false" lIns="0" tIns="0" rIns="0" bIns="0" wrap="square"/>
          <a:lstStyle/>
          <a:p>
            <a:pPr algn="ctr">
              <a:lnSpc>
                <a:spcPts val="1980"/>
              </a:lnSpc>
              <a:spcBef>
                <a:spcPts val="0"/>
              </a:spcBef>
              <a:buNone/>
            </a:pPr>
            <a:r>
              <a:rPr lang="en-US" sz="1800" b="true">
                <a:solidFill>
                  <a:srgbClr val="FFFFFF"/>
                </a:solidFill>
                <a:latin typeface="Nunito Ultra-Bold"/>
                <a:ea typeface="Nunito Ultra-Bold"/>
                <a:cs typeface="Nunito Ultra-Bold"/>
                <a:sym typeface="Nunito Ultra-Bold"/>
              </a:rPr>
              <a:t>4</a:t>
            </a:r>
          </a:p>
        </p:txBody>
      </p:sp>
      <p:sp>
        <p:nvSpPr>
          <p:cNvPr id="26" name="TextBox 25"/>
          <p:cNvSpPr txBox="1"/>
          <p:nvPr/>
        </p:nvSpPr>
        <p:spPr>
          <a:xfrm>
            <a:off x="13727430" y="6244082"/>
            <a:ext cx="3211830" cy="28816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Trustworthy AI</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4" name="TextBox 3"/>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5" name="TextBox 4"/>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6" name="TextBox 5"/>
          <p:cNvSpPr txBox="1"/>
          <p:nvPr/>
        </p:nvSpPr>
        <p:spPr>
          <a:xfrm>
            <a:off x="1028700" y="1389888"/>
            <a:ext cx="1623060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7" name="TextBox 6"/>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a:t>
            </a:r>
          </a:p>
        </p:txBody>
      </p:sp>
      <p:pic>
        <p:nvPicPr>
          <p:cNvPr id="8" name="Picture 7" descr="image.png"/>
          <p:cNvPicPr>
            <a:picLocks noChangeAspect="1"/>
          </p:cNvPicPr>
          <p:nvPr/>
        </p:nvPicPr>
        <p:blipFill>
          <a:blip r:embed="rId2"/>
          <a:stretch>
            <a:fillRect/>
          </a:stretch>
        </p:blipFill>
        <p:spPr>
          <a:xfrm>
            <a:off x="4189602" y="1673352"/>
            <a:ext cx="457200" cy="539881"/>
          </a:xfrm>
          <a:prstGeom prst="rect">
            <a:avLst/>
          </a:prstGeom>
        </p:spPr>
      </p:pic>
      <p:sp>
        <p:nvSpPr>
          <p:cNvPr id="9" name="Rounded Rectangle 8"/>
          <p:cNvSpPr/>
          <p:nvPr/>
        </p:nvSpPr>
        <p:spPr>
          <a:xfrm>
            <a:off x="1028700" y="2760218"/>
            <a:ext cx="16230600" cy="656477"/>
          </a:xfrm>
          <a:prstGeom prst="roundRect">
            <a:avLst>
              <a:gd name="adj" fmla="val 19500"/>
            </a:avLst>
          </a:prstGeom>
          <a:solidFill>
            <a:srgbClr val="F6ECDF"/>
          </a:solidFill>
          <a:ln>
            <a:noFill/>
          </a:ln>
        </p:spPr>
        <p:txBody>
          <a:bodyPr anchor="ctr" rtlCol="false" lIns="0" tIns="0" rIns="0" bIns="0" wrap="square"/>
          <a:lstStyle/>
          <a:p>
            <a:endParaRPr lang="en-US" sz="1800"/>
          </a:p>
        </p:txBody>
      </p:sp>
      <p:sp>
        <p:nvSpPr>
          <p:cNvPr id="10" name="Rounded Rectangle 9"/>
          <p:cNvSpPr/>
          <p:nvPr/>
        </p:nvSpPr>
        <p:spPr>
          <a:xfrm>
            <a:off x="1165860" y="2851658"/>
            <a:ext cx="822960" cy="473597"/>
          </a:xfrm>
          <a:prstGeom prst="roundRect">
            <a:avLst>
              <a:gd name="adj" fmla="val 19307"/>
            </a:avLst>
          </a:prstGeom>
          <a:solidFill>
            <a:srgbClr val="124944"/>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R1</a:t>
            </a:r>
          </a:p>
        </p:txBody>
      </p:sp>
      <p:sp>
        <p:nvSpPr>
          <p:cNvPr id="11" name="TextBox 10"/>
          <p:cNvSpPr txBox="1"/>
          <p:nvPr/>
        </p:nvSpPr>
        <p:spPr>
          <a:xfrm>
            <a:off x="2217420" y="2760218"/>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Louhichi, M. &amp; Lazaar, M. Shapley Values for Explaining the Black Box Nature of ML Model Clustering. Procedia Computer Science 220, 806–811 (2023).</a:t>
            </a:r>
          </a:p>
        </p:txBody>
      </p:sp>
      <p:sp>
        <p:nvSpPr>
          <p:cNvPr id="12" name="Rounded Rectangle 11"/>
          <p:cNvSpPr/>
          <p:nvPr/>
        </p:nvSpPr>
        <p:spPr>
          <a:xfrm>
            <a:off x="1028700" y="3508135"/>
            <a:ext cx="16230600" cy="656477"/>
          </a:xfrm>
          <a:prstGeom prst="roundRect">
            <a:avLst>
              <a:gd name="adj" fmla="val 19500"/>
            </a:avLst>
          </a:prstGeom>
          <a:solidFill>
            <a:srgbClr val="FBF4EB"/>
          </a:solidFill>
          <a:ln>
            <a:noFill/>
          </a:ln>
        </p:spPr>
        <p:txBody>
          <a:bodyPr anchor="ctr" rtlCol="false" lIns="0" tIns="0" rIns="0" bIns="0" wrap="square"/>
          <a:lstStyle/>
          <a:p>
            <a:endParaRPr lang="en-US" sz="1800"/>
          </a:p>
        </p:txBody>
      </p:sp>
      <p:sp>
        <p:nvSpPr>
          <p:cNvPr id="13" name="Rounded Rectangle 12"/>
          <p:cNvSpPr/>
          <p:nvPr/>
        </p:nvSpPr>
        <p:spPr>
          <a:xfrm>
            <a:off x="1165860" y="3599575"/>
            <a:ext cx="822960" cy="473597"/>
          </a:xfrm>
          <a:prstGeom prst="roundRect">
            <a:avLst>
              <a:gd name="adj" fmla="val 19307"/>
            </a:avLst>
          </a:prstGeom>
          <a:solidFill>
            <a:srgbClr val="124944"/>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R2</a:t>
            </a:r>
          </a:p>
        </p:txBody>
      </p:sp>
      <p:sp>
        <p:nvSpPr>
          <p:cNvPr id="14" name="TextBox 13"/>
          <p:cNvSpPr txBox="1"/>
          <p:nvPr/>
        </p:nvSpPr>
        <p:spPr>
          <a:xfrm>
            <a:off x="2217420" y="3508135"/>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Louhichi, M. &amp; Lazaar, M. Game Theory Meets Explainable AI: An Enhanced Approach to Understanding Black Box Models Through Shapley Values. IJACSA 16(7), 716–725 (2025).</a:t>
            </a:r>
          </a:p>
        </p:txBody>
      </p:sp>
      <p:sp>
        <p:nvSpPr>
          <p:cNvPr id="15" name="Rounded Rectangle 14"/>
          <p:cNvSpPr/>
          <p:nvPr/>
        </p:nvSpPr>
        <p:spPr>
          <a:xfrm>
            <a:off x="1028700" y="4256052"/>
            <a:ext cx="16230600" cy="656477"/>
          </a:xfrm>
          <a:prstGeom prst="roundRect">
            <a:avLst>
              <a:gd name="adj" fmla="val 19500"/>
            </a:avLst>
          </a:prstGeom>
          <a:solidFill>
            <a:srgbClr val="F6ECDF"/>
          </a:solidFill>
          <a:ln>
            <a:noFill/>
          </a:ln>
        </p:spPr>
        <p:txBody>
          <a:bodyPr anchor="ctr" rtlCol="false" lIns="0" tIns="0" rIns="0" bIns="0" wrap="square"/>
          <a:lstStyle/>
          <a:p>
            <a:endParaRPr lang="en-US" sz="1800"/>
          </a:p>
        </p:txBody>
      </p:sp>
      <p:sp>
        <p:nvSpPr>
          <p:cNvPr id="16" name="Rounded Rectangle 15"/>
          <p:cNvSpPr/>
          <p:nvPr/>
        </p:nvSpPr>
        <p:spPr>
          <a:xfrm>
            <a:off x="1165860" y="4347492"/>
            <a:ext cx="822960" cy="473597"/>
          </a:xfrm>
          <a:prstGeom prst="roundRect">
            <a:avLst>
              <a:gd name="adj" fmla="val 19307"/>
            </a:avLst>
          </a:prstGeom>
          <a:solidFill>
            <a:srgbClr val="124944"/>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R3</a:t>
            </a:r>
          </a:p>
        </p:txBody>
      </p:sp>
      <p:sp>
        <p:nvSpPr>
          <p:cNvPr id="17" name="TextBox 16"/>
          <p:cNvSpPr txBox="1"/>
          <p:nvPr/>
        </p:nvSpPr>
        <p:spPr>
          <a:xfrm>
            <a:off x="2217420" y="4256052"/>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Louhichi, M. &amp; Lazaar, M. DyHuCoG: A Dynamic Hypergraph Cooperative Game for Preference-aware Recommendation. IJIES 19(2), 887–902 (2026).</a:t>
            </a:r>
          </a:p>
        </p:txBody>
      </p:sp>
      <p:sp>
        <p:nvSpPr>
          <p:cNvPr id="18" name="Rounded Rectangle 17"/>
          <p:cNvSpPr/>
          <p:nvPr/>
        </p:nvSpPr>
        <p:spPr>
          <a:xfrm>
            <a:off x="1028700" y="5003969"/>
            <a:ext cx="16230600" cy="656477"/>
          </a:xfrm>
          <a:prstGeom prst="roundRect">
            <a:avLst>
              <a:gd name="adj" fmla="val 19500"/>
            </a:avLst>
          </a:prstGeom>
          <a:solidFill>
            <a:srgbClr val="FBF4EB"/>
          </a:solidFill>
          <a:ln>
            <a:noFill/>
          </a:ln>
        </p:spPr>
        <p:txBody>
          <a:bodyPr anchor="ctr" rtlCol="false" lIns="0" tIns="0" rIns="0" bIns="0" wrap="square"/>
          <a:lstStyle/>
          <a:p>
            <a:endParaRPr lang="en-US" sz="1800"/>
          </a:p>
        </p:txBody>
      </p:sp>
      <p:sp>
        <p:nvSpPr>
          <p:cNvPr id="19" name="Rounded Rectangle 18"/>
          <p:cNvSpPr/>
          <p:nvPr/>
        </p:nvSpPr>
        <p:spPr>
          <a:xfrm>
            <a:off x="1165860" y="5095409"/>
            <a:ext cx="822960" cy="473597"/>
          </a:xfrm>
          <a:prstGeom prst="roundRect">
            <a:avLst>
              <a:gd name="adj" fmla="val 19307"/>
            </a:avLst>
          </a:prstGeom>
          <a:solidFill>
            <a:srgbClr val="DF8330"/>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R4</a:t>
            </a:r>
          </a:p>
        </p:txBody>
      </p:sp>
      <p:sp>
        <p:nvSpPr>
          <p:cNvPr id="20" name="TextBox 19"/>
          <p:cNvSpPr txBox="1"/>
          <p:nvPr/>
        </p:nvSpPr>
        <p:spPr>
          <a:xfrm>
            <a:off x="2217420" y="5003969"/>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Lundberg, S.M. &amp; Lee, S.-I. A Unified Approach to Interpreting Model Predictions (SHAP). NeurIPS 30, 4765–4774 (2017).</a:t>
            </a:r>
          </a:p>
        </p:txBody>
      </p:sp>
      <p:sp>
        <p:nvSpPr>
          <p:cNvPr id="21" name="Rounded Rectangle 20"/>
          <p:cNvSpPr/>
          <p:nvPr/>
        </p:nvSpPr>
        <p:spPr>
          <a:xfrm>
            <a:off x="1028700" y="5751886"/>
            <a:ext cx="16230600" cy="656477"/>
          </a:xfrm>
          <a:prstGeom prst="roundRect">
            <a:avLst>
              <a:gd name="adj" fmla="val 19500"/>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165860" y="5843326"/>
            <a:ext cx="822960" cy="473597"/>
          </a:xfrm>
          <a:prstGeom prst="roundRect">
            <a:avLst>
              <a:gd name="adj" fmla="val 19307"/>
            </a:avLst>
          </a:prstGeom>
          <a:solidFill>
            <a:srgbClr val="DF8330"/>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R5</a:t>
            </a:r>
          </a:p>
        </p:txBody>
      </p:sp>
      <p:sp>
        <p:nvSpPr>
          <p:cNvPr id="23" name="TextBox 22"/>
          <p:cNvSpPr txBox="1"/>
          <p:nvPr/>
        </p:nvSpPr>
        <p:spPr>
          <a:xfrm>
            <a:off x="2217420" y="5751886"/>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Lundberg, S.M. et al. Consistent Individualized Feature Attribution for Tree Ensembles. KDD 2018, 2713–2723 (2018).</a:t>
            </a:r>
          </a:p>
        </p:txBody>
      </p:sp>
      <p:sp>
        <p:nvSpPr>
          <p:cNvPr id="24" name="Rounded Rectangle 23"/>
          <p:cNvSpPr/>
          <p:nvPr/>
        </p:nvSpPr>
        <p:spPr>
          <a:xfrm>
            <a:off x="1028700" y="6499803"/>
            <a:ext cx="16230600" cy="656477"/>
          </a:xfrm>
          <a:prstGeom prst="roundRect">
            <a:avLst>
              <a:gd name="adj" fmla="val 19500"/>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65860" y="6591243"/>
            <a:ext cx="822960" cy="473597"/>
          </a:xfrm>
          <a:prstGeom prst="roundRect">
            <a:avLst>
              <a:gd name="adj" fmla="val 19307"/>
            </a:avLst>
          </a:prstGeom>
          <a:solidFill>
            <a:srgbClr val="DF8330"/>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R6</a:t>
            </a:r>
          </a:p>
        </p:txBody>
      </p:sp>
      <p:sp>
        <p:nvSpPr>
          <p:cNvPr id="26" name="TextBox 25"/>
          <p:cNvSpPr txBox="1"/>
          <p:nvPr/>
        </p:nvSpPr>
        <p:spPr>
          <a:xfrm>
            <a:off x="2217420" y="6499803"/>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Shapley, L.S. A Value for n-Person Games. Contributions to the Theory of Games II, 307–317 (1953).</a:t>
            </a:r>
          </a:p>
        </p:txBody>
      </p:sp>
      <p:sp>
        <p:nvSpPr>
          <p:cNvPr id="27" name="Rounded Rectangle 26"/>
          <p:cNvSpPr/>
          <p:nvPr/>
        </p:nvSpPr>
        <p:spPr>
          <a:xfrm>
            <a:off x="1028700" y="7247720"/>
            <a:ext cx="16230600" cy="656477"/>
          </a:xfrm>
          <a:prstGeom prst="roundRect">
            <a:avLst>
              <a:gd name="adj" fmla="val 19500"/>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165860" y="7339160"/>
            <a:ext cx="822960" cy="473597"/>
          </a:xfrm>
          <a:prstGeom prst="roundRect">
            <a:avLst>
              <a:gd name="adj" fmla="val 19307"/>
            </a:avLst>
          </a:prstGeom>
          <a:solidFill>
            <a:srgbClr val="DF8330"/>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R7</a:t>
            </a:r>
          </a:p>
        </p:txBody>
      </p:sp>
      <p:sp>
        <p:nvSpPr>
          <p:cNvPr id="29" name="TextBox 28"/>
          <p:cNvSpPr txBox="1"/>
          <p:nvPr/>
        </p:nvSpPr>
        <p:spPr>
          <a:xfrm>
            <a:off x="2217420" y="7247720"/>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Gramegna, A. &amp; Giudici, P. SHAP-based Clustering Explanations. Stats 4(4), 938–959 (2021).</a:t>
            </a:r>
          </a:p>
        </p:txBody>
      </p:sp>
      <p:sp>
        <p:nvSpPr>
          <p:cNvPr id="30" name="Rounded Rectangle 29"/>
          <p:cNvSpPr/>
          <p:nvPr/>
        </p:nvSpPr>
        <p:spPr>
          <a:xfrm>
            <a:off x="1028700" y="7995637"/>
            <a:ext cx="16230600" cy="656477"/>
          </a:xfrm>
          <a:prstGeom prst="roundRect">
            <a:avLst>
              <a:gd name="adj" fmla="val 19500"/>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65860" y="8087077"/>
            <a:ext cx="822960" cy="473597"/>
          </a:xfrm>
          <a:prstGeom prst="roundRect">
            <a:avLst>
              <a:gd name="adj" fmla="val 19307"/>
            </a:avLst>
          </a:prstGeom>
          <a:solidFill>
            <a:srgbClr val="DF8330"/>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R8</a:t>
            </a:r>
          </a:p>
        </p:txBody>
      </p:sp>
      <p:sp>
        <p:nvSpPr>
          <p:cNvPr id="32" name="TextBox 31"/>
          <p:cNvSpPr txBox="1"/>
          <p:nvPr/>
        </p:nvSpPr>
        <p:spPr>
          <a:xfrm>
            <a:off x="2217420" y="7995637"/>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Wang, X. et al. Hypergraph Learning: Methods and Practices. IEEE TPAMI 44(5), 2543–2563 (2022).</a:t>
            </a:r>
          </a:p>
        </p:txBody>
      </p:sp>
      <p:sp>
        <p:nvSpPr>
          <p:cNvPr id="33" name="Rounded Rectangle 32"/>
          <p:cNvSpPr/>
          <p:nvPr/>
        </p:nvSpPr>
        <p:spPr>
          <a:xfrm>
            <a:off x="1028700" y="8743554"/>
            <a:ext cx="16230600" cy="656477"/>
          </a:xfrm>
          <a:prstGeom prst="roundRect">
            <a:avLst>
              <a:gd name="adj" fmla="val 19500"/>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165860" y="8834994"/>
            <a:ext cx="822960" cy="473597"/>
          </a:xfrm>
          <a:prstGeom prst="roundRect">
            <a:avLst>
              <a:gd name="adj" fmla="val 19307"/>
            </a:avLst>
          </a:prstGeom>
          <a:solidFill>
            <a:srgbClr val="DF8330"/>
          </a:solidFill>
          <a:ln>
            <a:noFill/>
          </a:ln>
        </p:spPr>
        <p:txBody>
          <a:bodyPr anchor="ctr" rtlCol="false" lIns="91440" tIns="45720" rIns="91440" bIns="45720" wrap="square"/>
          <a:lstStyle/>
          <a:p>
            <a:pPr algn="ctr">
              <a:lnSpc>
                <a:spcPts val="1725"/>
              </a:lnSpc>
              <a:spcBef>
                <a:spcPts val="0"/>
              </a:spcBef>
              <a:buNone/>
            </a:pPr>
            <a:r>
              <a:rPr lang="en-US" sz="1500" b="true">
                <a:solidFill>
                  <a:srgbClr val="FFFFFF"/>
                </a:solidFill>
                <a:latin typeface="Nunito Bold"/>
                <a:ea typeface="Nunito Bold"/>
                <a:cs typeface="Nunito Bold"/>
                <a:sym typeface="Nunito Bold"/>
              </a:rPr>
              <a:t>R9</a:t>
            </a:r>
          </a:p>
        </p:txBody>
      </p:sp>
      <p:sp>
        <p:nvSpPr>
          <p:cNvPr id="35" name="TextBox 34"/>
          <p:cNvSpPr txBox="1"/>
          <p:nvPr/>
        </p:nvSpPr>
        <p:spPr>
          <a:xfrm>
            <a:off x="2217420" y="8743554"/>
            <a:ext cx="14859000" cy="656477"/>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European Commission. Proposal for a Regulation on Artificial Intelligence (EU AI Act). COM(2021) 206 final (2021).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sp>
        <p:nvSpPr>
          <p:cNvPr id="6" name="TextBox 5"/>
          <p:cNvSpPr txBox="1"/>
          <p:nvPr/>
        </p:nvSpPr>
        <p:spPr>
          <a:xfrm>
            <a:off x="102870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7" name="TextBox 6"/>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8" name="TextBox 7"/>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9" name="Picture 8" descr="image.png"/>
          <p:cNvPicPr>
            <a:picLocks noChangeAspect="1"/>
          </p:cNvPicPr>
          <p:nvPr/>
        </p:nvPicPr>
        <p:blipFill>
          <a:blip r:embed="rId3"/>
          <a:stretch>
            <a:fillRect/>
          </a:stretch>
        </p:blipFill>
        <p:spPr>
          <a:xfrm>
            <a:off x="13350240" y="2468880"/>
            <a:ext cx="822960" cy="747445"/>
          </a:xfrm>
          <a:prstGeom prst="rect">
            <a:avLst/>
          </a:prstGeom>
        </p:spPr>
      </p:pic>
      <p:pic>
        <p:nvPicPr>
          <p:cNvPr id="10" name="Picture 9" descr="image.png"/>
          <p:cNvPicPr>
            <a:picLocks noChangeAspect="1"/>
          </p:cNvPicPr>
          <p:nvPr/>
        </p:nvPicPr>
        <p:blipFill>
          <a:blip r:embed="rId4"/>
          <a:stretch>
            <a:fillRect/>
          </a:stretch>
        </p:blipFill>
        <p:spPr>
          <a:xfrm rot="20700000">
            <a:off x="3291840" y="4846320"/>
            <a:ext cx="685800" cy="925673"/>
          </a:xfrm>
          <a:prstGeom prst="rect">
            <a:avLst/>
          </a:prstGeom>
        </p:spPr>
      </p:pic>
      <p:sp>
        <p:nvSpPr>
          <p:cNvPr id="11" name="Oval 10"/>
          <p:cNvSpPr/>
          <p:nvPr/>
        </p:nvSpPr>
        <p:spPr>
          <a:xfrm>
            <a:off x="15613380" y="5760720"/>
            <a:ext cx="1005840" cy="1005840"/>
          </a:xfrm>
          <a:prstGeom prst="ellipse">
            <a:avLst/>
          </a:prstGeom>
          <a:solidFill>
            <a:srgbClr val="12494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2" name="TextBox 11"/>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124944"/>
                </a:solidFill>
                <a:latin typeface="Nunito Bold"/>
                <a:ea typeface="Nunito Bold"/>
                <a:cs typeface="Nunito Bold"/>
                <a:sym typeface="Nunito Bold"/>
              </a:rPr>
              <a:t>Questions &amp; Discussion — I welcome your questions and comments.</a:t>
            </a:r>
          </a:p>
        </p:txBody>
      </p:sp>
      <p:sp>
        <p:nvSpPr>
          <p:cNvPr id="13" name="Rounded Rectangle 12"/>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4" name="Rounded Rectangle 13"/>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5" name="Rounded Rectangle 14"/>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6" name="Rounded Rectangle 15"/>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